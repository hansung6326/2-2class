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</p:sldIdLst>
  <p:sldSz cx="10680700" cy="7556500"/>
  <p:notesSz cx="106807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2443" y="556976"/>
            <a:ext cx="8242414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1797" y="1680125"/>
            <a:ext cx="8542655" cy="2472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460982" y="6944864"/>
            <a:ext cx="18097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37469" y="6941690"/>
            <a:ext cx="135508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0104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hyperlink" Target="https://en.wikipedia.org/wiki/Minimum_spanning_tree" TargetMode="External"/><Relationship Id="rId5" Type="http://schemas.openxmlformats.org/officeDocument/2006/relationships/image" Target="../media/image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Kruskal" TargetMode="External"/><Relationship Id="rId3" Type="http://schemas.openxmlformats.org/officeDocument/2006/relationships/image" Target="../media/image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Disjoint-set_data_structure" TargetMode="External"/><Relationship Id="rId3" Type="http://schemas.openxmlformats.org/officeDocument/2006/relationships/image" Target="../media/image1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10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image" Target="../media/image31.jpg"/><Relationship Id="rId5" Type="http://schemas.openxmlformats.org/officeDocument/2006/relationships/image" Target="../media/image32.png"/><Relationship Id="rId6" Type="http://schemas.openxmlformats.org/officeDocument/2006/relationships/image" Target="../media/image33.jpg"/><Relationship Id="rId7" Type="http://schemas.openxmlformats.org/officeDocument/2006/relationships/image" Target="../media/image34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image" Target="../media/image31.jpg"/><Relationship Id="rId5" Type="http://schemas.openxmlformats.org/officeDocument/2006/relationships/image" Target="../media/image32.png"/><Relationship Id="rId6" Type="http://schemas.openxmlformats.org/officeDocument/2006/relationships/image" Target="../media/image36.jpg"/><Relationship Id="rId7" Type="http://schemas.openxmlformats.org/officeDocument/2006/relationships/image" Target="../media/image34.jpg"/><Relationship Id="rId8" Type="http://schemas.openxmlformats.org/officeDocument/2006/relationships/image" Target="../media/image37.jpg"/><Relationship Id="rId9" Type="http://schemas.openxmlformats.org/officeDocument/2006/relationships/image" Target="../media/image38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Relationship Id="rId3" Type="http://schemas.openxmlformats.org/officeDocument/2006/relationships/image" Target="../media/image32.png"/><Relationship Id="rId4" Type="http://schemas.openxmlformats.org/officeDocument/2006/relationships/image" Target="../media/image34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42.jpg"/><Relationship Id="rId4" Type="http://schemas.openxmlformats.org/officeDocument/2006/relationships/image" Target="../media/image34.jpg"/><Relationship Id="rId5" Type="http://schemas.openxmlformats.org/officeDocument/2006/relationships/image" Target="../media/image43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Prim" TargetMode="External"/><Relationship Id="rId3" Type="http://schemas.openxmlformats.org/officeDocument/2006/relationships/image" Target="../media/image47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jpg"/><Relationship Id="rId4" Type="http://schemas.openxmlformats.org/officeDocument/2006/relationships/image" Target="../media/image52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56.jpg"/><Relationship Id="rId6" Type="http://schemas.openxmlformats.org/officeDocument/2006/relationships/image" Target="../media/image57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Relationship Id="rId3" Type="http://schemas.openxmlformats.org/officeDocument/2006/relationships/image" Target="../media/image59.jpg"/><Relationship Id="rId4" Type="http://schemas.openxmlformats.org/officeDocument/2006/relationships/image" Target="../media/image60.jpg"/><Relationship Id="rId5" Type="http://schemas.openxmlformats.org/officeDocument/2006/relationships/image" Target="../media/image61.png"/><Relationship Id="rId6" Type="http://schemas.openxmlformats.org/officeDocument/2006/relationships/image" Target="../media/image62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2.jpg"/><Relationship Id="rId7" Type="http://schemas.openxmlformats.org/officeDocument/2006/relationships/image" Target="../media/image59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66.jpg"/><Relationship Id="rId6" Type="http://schemas.openxmlformats.org/officeDocument/2006/relationships/image" Target="../media/image67.jpg"/><Relationship Id="rId7" Type="http://schemas.openxmlformats.org/officeDocument/2006/relationships/image" Target="../media/image68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7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jpg"/><Relationship Id="rId3" Type="http://schemas.openxmlformats.org/officeDocument/2006/relationships/image" Target="../media/image45.jpg"/><Relationship Id="rId4" Type="http://schemas.openxmlformats.org/officeDocument/2006/relationships/image" Target="../media/image74.png"/><Relationship Id="rId5" Type="http://schemas.openxmlformats.org/officeDocument/2006/relationships/image" Target="../media/image69.jpg"/><Relationship Id="rId6" Type="http://schemas.openxmlformats.org/officeDocument/2006/relationships/image" Target="../media/image70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Relationship Id="rId3" Type="http://schemas.openxmlformats.org/officeDocument/2006/relationships/image" Target="../media/image46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Shortest_path_problem" TargetMode="External"/><Relationship Id="rId3" Type="http://schemas.openxmlformats.org/officeDocument/2006/relationships/image" Target="../media/image76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7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Dijkstra%27s_algorithm" TargetMode="External"/><Relationship Id="rId3" Type="http://schemas.openxmlformats.org/officeDocument/2006/relationships/hyperlink" Target="https://en.wikipedia.org/wiki/Dijkstra%27s_algorithm#Proof_of_correctness" TargetMode="External"/><Relationship Id="rId4" Type="http://schemas.openxmlformats.org/officeDocument/2006/relationships/image" Target="../media/image78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Relationship Id="rId4" Type="http://schemas.openxmlformats.org/officeDocument/2006/relationships/image" Target="../media/image82.jpg"/><Relationship Id="rId5" Type="http://schemas.openxmlformats.org/officeDocument/2006/relationships/image" Target="../media/image83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4.jpg"/><Relationship Id="rId3" Type="http://schemas.openxmlformats.org/officeDocument/2006/relationships/image" Target="../media/image85.jpg"/><Relationship Id="rId4" Type="http://schemas.openxmlformats.org/officeDocument/2006/relationships/image" Target="../media/image86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jpg"/><Relationship Id="rId3" Type="http://schemas.openxmlformats.org/officeDocument/2006/relationships/image" Target="../media/image23.jpg"/><Relationship Id="rId4" Type="http://schemas.openxmlformats.org/officeDocument/2006/relationships/image" Target="../media/image57.png"/><Relationship Id="rId5" Type="http://schemas.openxmlformats.org/officeDocument/2006/relationships/image" Target="../media/image89.jpg"/><Relationship Id="rId6" Type="http://schemas.openxmlformats.org/officeDocument/2006/relationships/image" Target="../media/image90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jpg"/><Relationship Id="rId3" Type="http://schemas.openxmlformats.org/officeDocument/2006/relationships/image" Target="../media/image95.jpg"/><Relationship Id="rId4" Type="http://schemas.openxmlformats.org/officeDocument/2006/relationships/image" Target="../media/image91.jpg"/><Relationship Id="rId5" Type="http://schemas.openxmlformats.org/officeDocument/2006/relationships/image" Target="../media/image92.jpg"/><Relationship Id="rId6" Type="http://schemas.openxmlformats.org/officeDocument/2006/relationships/image" Target="../media/image93.jpg"/><Relationship Id="rId7" Type="http://schemas.openxmlformats.org/officeDocument/2006/relationships/image" Target="../media/image96.jpg"/><Relationship Id="rId8" Type="http://schemas.openxmlformats.org/officeDocument/2006/relationships/image" Target="../media/image97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Relationship Id="rId4" Type="http://schemas.openxmlformats.org/officeDocument/2006/relationships/image" Target="../media/image100.jp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96.jpg"/><Relationship Id="rId4" Type="http://schemas.openxmlformats.org/officeDocument/2006/relationships/image" Target="../media/image95.jpg"/><Relationship Id="rId5" Type="http://schemas.openxmlformats.org/officeDocument/2006/relationships/image" Target="../media/image94.jpg"/><Relationship Id="rId6" Type="http://schemas.openxmlformats.org/officeDocument/2006/relationships/image" Target="../media/image97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jpg"/><Relationship Id="rId3" Type="http://schemas.openxmlformats.org/officeDocument/2006/relationships/image" Target="../media/image103.jp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jpg"/><Relationship Id="rId3" Type="http://schemas.openxmlformats.org/officeDocument/2006/relationships/image" Target="../media/image105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Floyd-Warshall_algorithm" TargetMode="Externa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jp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jpg"/><Relationship Id="rId3" Type="http://schemas.openxmlformats.org/officeDocument/2006/relationships/image" Target="../media/image106.jp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jpg"/><Relationship Id="rId3" Type="http://schemas.openxmlformats.org/officeDocument/2006/relationships/image" Target="../media/image109.jpg"/><Relationship Id="rId4" Type="http://schemas.openxmlformats.org/officeDocument/2006/relationships/image" Target="../media/image110.jpg"/><Relationship Id="rId5" Type="http://schemas.openxmlformats.org/officeDocument/2006/relationships/image" Target="../media/image106.jp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1.jpg"/><Relationship Id="rId3" Type="http://schemas.openxmlformats.org/officeDocument/2006/relationships/image" Target="../media/image112.jp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jp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57.png"/><Relationship Id="rId4" Type="http://schemas.openxmlformats.org/officeDocument/2006/relationships/image" Target="../media/image90.jpg"/><Relationship Id="rId5" Type="http://schemas.openxmlformats.org/officeDocument/2006/relationships/image" Target="../media/image109.jpg"/><Relationship Id="rId6" Type="http://schemas.openxmlformats.org/officeDocument/2006/relationships/image" Target="../media/image113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jpg"/><Relationship Id="rId3" Type="http://schemas.openxmlformats.org/officeDocument/2006/relationships/image" Target="../media/image109.jpg"/><Relationship Id="rId4" Type="http://schemas.openxmlformats.org/officeDocument/2006/relationships/image" Target="../media/image115.png"/><Relationship Id="rId5" Type="http://schemas.openxmlformats.org/officeDocument/2006/relationships/image" Target="../media/image116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09.jpg"/><Relationship Id="rId5" Type="http://schemas.openxmlformats.org/officeDocument/2006/relationships/image" Target="../media/image118.jpg"/><Relationship Id="rId6" Type="http://schemas.openxmlformats.org/officeDocument/2006/relationships/image" Target="../media/image119.jp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jpg"/><Relationship Id="rId3" Type="http://schemas.openxmlformats.org/officeDocument/2006/relationships/image" Target="../media/image115.png"/><Relationship Id="rId4" Type="http://schemas.openxmlformats.org/officeDocument/2006/relationships/image" Target="../media/image120.png"/><Relationship Id="rId5" Type="http://schemas.openxmlformats.org/officeDocument/2006/relationships/image" Target="../media/image119.jpg"/><Relationship Id="rId6" Type="http://schemas.openxmlformats.org/officeDocument/2006/relationships/image" Target="../media/image121.jp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jpg"/><Relationship Id="rId3" Type="http://schemas.openxmlformats.org/officeDocument/2006/relationships/image" Target="../media/image122.png"/><Relationship Id="rId4" Type="http://schemas.openxmlformats.org/officeDocument/2006/relationships/image" Target="../media/image123.jp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01.png"/><Relationship Id="rId4" Type="http://schemas.openxmlformats.org/officeDocument/2006/relationships/image" Target="../media/image109.jpg"/><Relationship Id="rId5" Type="http://schemas.openxmlformats.org/officeDocument/2006/relationships/image" Target="../media/image119.jpg"/><Relationship Id="rId6" Type="http://schemas.openxmlformats.org/officeDocument/2006/relationships/image" Target="../media/image118.jp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jpg"/><Relationship Id="rId3" Type="http://schemas.openxmlformats.org/officeDocument/2006/relationships/image" Target="../media/image125.jp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jpg"/><Relationship Id="rId3" Type="http://schemas.openxmlformats.org/officeDocument/2006/relationships/image" Target="../media/image122.png"/><Relationship Id="rId4" Type="http://schemas.openxmlformats.org/officeDocument/2006/relationships/image" Target="../media/image109.jp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jpg"/><Relationship Id="rId3" Type="http://schemas.openxmlformats.org/officeDocument/2006/relationships/image" Target="../media/image126.jp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jp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7.jp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jpg"/><Relationship Id="rId3" Type="http://schemas.openxmlformats.org/officeDocument/2006/relationships/image" Target="../media/image129.jp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0.jpg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jp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jpg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34.jpg"/><Relationship Id="rId4" Type="http://schemas.openxmlformats.org/officeDocument/2006/relationships/image" Target="../media/image135.jpg"/><Relationship Id="rId5" Type="http://schemas.openxmlformats.org/officeDocument/2006/relationships/image" Target="../media/image136.jp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7.jpg"/><Relationship Id="rId3" Type="http://schemas.openxmlformats.org/officeDocument/2006/relationships/image" Target="../media/image138.jpg"/><Relationship Id="rId4" Type="http://schemas.openxmlformats.org/officeDocument/2006/relationships/image" Target="../media/image139.jpg"/><Relationship Id="rId5" Type="http://schemas.openxmlformats.org/officeDocument/2006/relationships/image" Target="../media/image140.jp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jpg"/><Relationship Id="rId3" Type="http://schemas.openxmlformats.org/officeDocument/2006/relationships/image" Target="../media/image139.jpg"/><Relationship Id="rId4" Type="http://schemas.openxmlformats.org/officeDocument/2006/relationships/image" Target="../media/image141.jpg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jpg"/><Relationship Id="rId3" Type="http://schemas.openxmlformats.org/officeDocument/2006/relationships/image" Target="../media/image139.jpg"/><Relationship Id="rId4" Type="http://schemas.openxmlformats.org/officeDocument/2006/relationships/image" Target="../media/image142.jpg"/><Relationship Id="rId5" Type="http://schemas.openxmlformats.org/officeDocument/2006/relationships/image" Target="../media/image143.jpg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jpg"/><Relationship Id="rId3" Type="http://schemas.openxmlformats.org/officeDocument/2006/relationships/image" Target="../media/image144.jpg"/><Relationship Id="rId4" Type="http://schemas.openxmlformats.org/officeDocument/2006/relationships/image" Target="../media/image145.jpg"/><Relationship Id="rId5" Type="http://schemas.openxmlformats.org/officeDocument/2006/relationships/image" Target="../media/image146.jpg"/><Relationship Id="rId6" Type="http://schemas.openxmlformats.org/officeDocument/2006/relationships/image" Target="../media/image147.jpg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jpg"/><Relationship Id="rId3" Type="http://schemas.openxmlformats.org/officeDocument/2006/relationships/image" Target="../media/image148.jpg"/><Relationship Id="rId4" Type="http://schemas.openxmlformats.org/officeDocument/2006/relationships/image" Target="../media/image137.jpg"/><Relationship Id="rId5" Type="http://schemas.openxmlformats.org/officeDocument/2006/relationships/image" Target="../media/image139.jpg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1829" y="350329"/>
            <a:ext cx="9134475" cy="6854825"/>
            <a:chOff x="771829" y="350329"/>
            <a:chExt cx="9134475" cy="6854825"/>
          </a:xfrm>
        </p:grpSpPr>
        <p:sp>
          <p:nvSpPr>
            <p:cNvPr id="3" name="object 3"/>
            <p:cNvSpPr/>
            <p:nvPr/>
          </p:nvSpPr>
          <p:spPr>
            <a:xfrm>
              <a:off x="771829" y="350329"/>
              <a:ext cx="9134475" cy="5968365"/>
            </a:xfrm>
            <a:custGeom>
              <a:avLst/>
              <a:gdLst/>
              <a:ahLst/>
              <a:cxnLst/>
              <a:rect l="l" t="t" r="r" b="b"/>
              <a:pathLst>
                <a:path w="9134475" h="5968365">
                  <a:moveTo>
                    <a:pt x="0" y="5967831"/>
                  </a:moveTo>
                  <a:lnTo>
                    <a:pt x="9134005" y="5967831"/>
                  </a:lnTo>
                  <a:lnTo>
                    <a:pt x="9134005" y="0"/>
                  </a:lnTo>
                  <a:lnTo>
                    <a:pt x="0" y="0"/>
                  </a:lnTo>
                  <a:lnTo>
                    <a:pt x="0" y="5967831"/>
                  </a:lnTo>
                  <a:close/>
                </a:path>
              </a:pathLst>
            </a:custGeom>
            <a:solidFill>
              <a:srgbClr val="775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1829" y="6318160"/>
              <a:ext cx="9134475" cy="887094"/>
            </a:xfrm>
            <a:custGeom>
              <a:avLst/>
              <a:gdLst/>
              <a:ahLst/>
              <a:cxnLst/>
              <a:rect l="l" t="t" r="r" b="b"/>
              <a:pathLst>
                <a:path w="9134475" h="887095">
                  <a:moveTo>
                    <a:pt x="9134005" y="0"/>
                  </a:moveTo>
                  <a:lnTo>
                    <a:pt x="0" y="0"/>
                  </a:lnTo>
                  <a:lnTo>
                    <a:pt x="0" y="886485"/>
                  </a:lnTo>
                  <a:lnTo>
                    <a:pt x="9134005" y="886485"/>
                  </a:lnTo>
                  <a:lnTo>
                    <a:pt x="91340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71829" y="6400406"/>
              <a:ext cx="2238375" cy="713105"/>
            </a:xfrm>
            <a:custGeom>
              <a:avLst/>
              <a:gdLst/>
              <a:ahLst/>
              <a:cxnLst/>
              <a:rect l="l" t="t" r="r" b="b"/>
              <a:pathLst>
                <a:path w="2238375" h="713104">
                  <a:moveTo>
                    <a:pt x="2237816" y="0"/>
                  </a:moveTo>
                  <a:lnTo>
                    <a:pt x="0" y="0"/>
                  </a:lnTo>
                  <a:lnTo>
                    <a:pt x="0" y="712851"/>
                  </a:lnTo>
                  <a:lnTo>
                    <a:pt x="2237816" y="712851"/>
                  </a:lnTo>
                  <a:lnTo>
                    <a:pt x="2237816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28403" y="6391262"/>
              <a:ext cx="6777990" cy="713105"/>
            </a:xfrm>
            <a:custGeom>
              <a:avLst/>
              <a:gdLst/>
              <a:ahLst/>
              <a:cxnLst/>
              <a:rect l="l" t="t" r="r" b="b"/>
              <a:pathLst>
                <a:path w="6777990" h="713104">
                  <a:moveTo>
                    <a:pt x="6777431" y="0"/>
                  </a:moveTo>
                  <a:lnTo>
                    <a:pt x="0" y="0"/>
                  </a:lnTo>
                  <a:lnTo>
                    <a:pt x="0" y="712850"/>
                  </a:lnTo>
                  <a:lnTo>
                    <a:pt x="6777431" y="712850"/>
                  </a:lnTo>
                  <a:lnTo>
                    <a:pt x="6777431" y="0"/>
                  </a:lnTo>
                  <a:close/>
                </a:path>
              </a:pathLst>
            </a:custGeom>
            <a:solidFill>
              <a:srgbClr val="94B5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210077" y="5502743"/>
            <a:ext cx="19183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35">
                <a:solidFill>
                  <a:srgbClr val="EBDDC2"/>
                </a:solidFill>
              </a:rPr>
              <a:t>11장</a:t>
            </a:r>
            <a:r>
              <a:rPr dirty="0" spc="-10">
                <a:solidFill>
                  <a:srgbClr val="EBDDC2"/>
                </a:solidFill>
              </a:rPr>
              <a:t> </a:t>
            </a:r>
            <a:r>
              <a:rPr dirty="0" spc="-1620">
                <a:solidFill>
                  <a:srgbClr val="EBDDC2"/>
                </a:solidFill>
              </a:rPr>
              <a:t>그래프II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1653" rIns="0" bIns="0" rtlCol="0" vert="horz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dirty="0" sz="4800">
                <a:latin typeface="Tw Cen MT"/>
                <a:cs typeface="Tw Cen MT"/>
              </a:rPr>
              <a:t>Q</a:t>
            </a:r>
            <a:r>
              <a:rPr dirty="0" sz="4800" spc="-35">
                <a:latin typeface="Tw Cen MT"/>
                <a:cs typeface="Tw Cen MT"/>
              </a:rPr>
              <a:t> </a:t>
            </a:r>
            <a:r>
              <a:rPr dirty="0" sz="4800">
                <a:latin typeface="Tw Cen MT"/>
                <a:cs typeface="Tw Cen MT"/>
              </a:rPr>
              <a:t>&amp;</a:t>
            </a:r>
            <a:r>
              <a:rPr dirty="0" sz="4800" spc="-40">
                <a:latin typeface="Tw Cen MT"/>
                <a:cs typeface="Tw Cen MT"/>
              </a:rPr>
              <a:t> </a:t>
            </a:r>
            <a:r>
              <a:rPr dirty="0" sz="4800" spc="-50">
                <a:latin typeface="Tw Cen MT"/>
                <a:cs typeface="Tw Cen MT"/>
              </a:rPr>
              <a:t>A</a:t>
            </a:r>
            <a:endParaRPr sz="4800">
              <a:latin typeface="Tw Cen MT"/>
              <a:cs typeface="Tw Cen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191" y="4866563"/>
            <a:ext cx="1895297" cy="18141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01708" y="1960588"/>
            <a:ext cx="6025515" cy="2307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ts val="288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언제라도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질문하세요</a:t>
            </a:r>
            <a:endParaRPr sz="2400">
              <a:latin typeface="Gulim"/>
              <a:cs typeface="Gulim"/>
            </a:endParaRPr>
          </a:p>
          <a:p>
            <a:pPr marL="332105">
              <a:lnSpc>
                <a:spcPts val="2880"/>
              </a:lnSpc>
            </a:pPr>
            <a:r>
              <a:rPr dirty="0" sz="2400" spc="-10">
                <a:latin typeface="Gulim"/>
                <a:cs typeface="Gulim"/>
              </a:rPr>
              <a:t>모르면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외우면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되지만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코딩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안되면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꼭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  <a:p>
            <a:pPr lvl="1" marL="668655" indent="-336550">
              <a:lnSpc>
                <a:spcPts val="2880"/>
              </a:lnSpc>
              <a:buFont typeface="Arial"/>
              <a:buAutoNum type="arabicPeriod"/>
              <a:tabLst>
                <a:tab pos="668655" algn="l"/>
              </a:tabLst>
            </a:pPr>
            <a:r>
              <a:rPr dirty="0" sz="2400" spc="-20">
                <a:latin typeface="Gulim"/>
                <a:cs typeface="Gulim"/>
              </a:rPr>
              <a:t>대면수업</a:t>
            </a:r>
            <a:endParaRPr sz="2400">
              <a:latin typeface="Gulim"/>
              <a:cs typeface="Gulim"/>
            </a:endParaRPr>
          </a:p>
          <a:p>
            <a:pPr lvl="1" marL="668655" indent="-336550">
              <a:lnSpc>
                <a:spcPct val="100000"/>
              </a:lnSpc>
              <a:buFont typeface="Arial"/>
              <a:buAutoNum type="arabicPeriod"/>
              <a:tabLst>
                <a:tab pos="668655" algn="l"/>
              </a:tabLst>
            </a:pPr>
            <a:r>
              <a:rPr dirty="0" sz="2400" spc="-25">
                <a:latin typeface="Gulim"/>
                <a:cs typeface="Gulim"/>
              </a:rPr>
              <a:t>한성</a:t>
            </a:r>
            <a:r>
              <a:rPr dirty="0" sz="2400" spc="-25">
                <a:latin typeface="Arial"/>
                <a:cs typeface="Arial"/>
              </a:rPr>
              <a:t>e-</a:t>
            </a:r>
            <a:r>
              <a:rPr dirty="0" sz="2400">
                <a:latin typeface="Arial"/>
                <a:cs typeface="Arial"/>
              </a:rPr>
              <a:t>class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질의응답게시판</a:t>
            </a:r>
            <a:endParaRPr sz="2400">
              <a:latin typeface="Gulim"/>
              <a:cs typeface="Gulim"/>
            </a:endParaRPr>
          </a:p>
          <a:p>
            <a:pPr lvl="1">
              <a:lnSpc>
                <a:spcPct val="100000"/>
              </a:lnSpc>
              <a:spcBef>
                <a:spcPts val="455"/>
              </a:spcBef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Font typeface="Wingdings"/>
              <a:buChar char=""/>
              <a:tabLst>
                <a:tab pos="332105" algn="l"/>
                <a:tab pos="3274695" algn="l"/>
              </a:tabLst>
            </a:pPr>
            <a:r>
              <a:rPr dirty="0" sz="2400" spc="-10">
                <a:latin typeface="Gulim"/>
                <a:cs typeface="Gulim"/>
              </a:rPr>
              <a:t>강사의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>
                <a:latin typeface="Gulim"/>
                <a:cs typeface="Gulim"/>
              </a:rPr>
              <a:t>번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선생님은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여러분들의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pc="-2010"/>
              <a:t>목차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0895"/>
            <a:ext cx="4077970" cy="252539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28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200" spc="-10">
                <a:latin typeface="Gulim"/>
                <a:cs typeface="Gulim"/>
              </a:rPr>
              <a:t>최소비용신장트리</a:t>
            </a:r>
            <a:endParaRPr sz="22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17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200" spc="-10">
                <a:latin typeface="Arial"/>
                <a:cs typeface="Arial"/>
              </a:rPr>
              <a:t>Kruskal</a:t>
            </a:r>
            <a:r>
              <a:rPr dirty="0" sz="2200" spc="-10">
                <a:latin typeface="Gulim"/>
                <a:cs typeface="Gulim"/>
              </a:rPr>
              <a:t>의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MST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 spc="-20">
                <a:latin typeface="Gulim"/>
                <a:cs typeface="Gulim"/>
              </a:rPr>
              <a:t>알고리즘</a:t>
            </a:r>
            <a:endParaRPr sz="22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170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200">
                <a:latin typeface="Arial"/>
                <a:cs typeface="Arial"/>
              </a:rPr>
              <a:t>Prim</a:t>
            </a:r>
            <a:r>
              <a:rPr dirty="0" sz="2200">
                <a:latin typeface="Gulim"/>
                <a:cs typeface="Gulim"/>
              </a:rPr>
              <a:t>의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MST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 spc="-20">
                <a:latin typeface="Gulim"/>
                <a:cs typeface="Gulim"/>
              </a:rPr>
              <a:t>알고리즘</a:t>
            </a:r>
            <a:endParaRPr sz="22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16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200" spc="-20">
                <a:latin typeface="Gulim"/>
                <a:cs typeface="Gulim"/>
              </a:rPr>
              <a:t>최단경로</a:t>
            </a:r>
            <a:endParaRPr sz="22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180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200" spc="-10">
                <a:latin typeface="Arial"/>
                <a:cs typeface="Arial"/>
              </a:rPr>
              <a:t>Dijkstra</a:t>
            </a:r>
            <a:r>
              <a:rPr dirty="0" sz="2200" spc="-10">
                <a:latin typeface="Gulim"/>
                <a:cs typeface="Gulim"/>
              </a:rPr>
              <a:t>의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최단경로</a:t>
            </a:r>
            <a:r>
              <a:rPr dirty="0" sz="2200" spc="-135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알고리즘</a:t>
            </a:r>
            <a:endParaRPr sz="22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16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200" spc="-10">
                <a:latin typeface="Arial"/>
                <a:cs typeface="Arial"/>
              </a:rPr>
              <a:t>Floyd</a:t>
            </a:r>
            <a:r>
              <a:rPr dirty="0" sz="2200" spc="-10">
                <a:latin typeface="Gulim"/>
                <a:cs typeface="Gulim"/>
              </a:rPr>
              <a:t>의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최단경로</a:t>
            </a:r>
            <a:r>
              <a:rPr dirty="0" sz="2200" spc="-135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알고리즘</a:t>
            </a:r>
            <a:endParaRPr sz="22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16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200" spc="-20">
                <a:latin typeface="Gulim"/>
                <a:cs typeface="Gulim"/>
              </a:rPr>
              <a:t>위상정렬</a:t>
            </a:r>
            <a:endParaRPr sz="22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신장</a:t>
            </a:r>
            <a:r>
              <a:rPr dirty="0" spc="-240"/>
              <a:t> </a:t>
            </a:r>
            <a:r>
              <a:rPr dirty="0" spc="-415"/>
              <a:t>트리</a:t>
            </a:r>
            <a:r>
              <a:rPr dirty="0" spc="-415">
                <a:latin typeface="Trebuchet MS"/>
                <a:cs typeface="Trebuchet MS"/>
              </a:rPr>
              <a:t>(spanning</a:t>
            </a:r>
            <a:r>
              <a:rPr dirty="0" spc="-1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tree)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89752"/>
            <a:ext cx="7853680" cy="129921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그래프내의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정점을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포함하는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트리</a:t>
            </a:r>
            <a:endParaRPr sz="2400">
              <a:latin typeface="Gulim"/>
              <a:cs typeface="Gulim"/>
            </a:endParaRPr>
          </a:p>
          <a:p>
            <a:pPr marL="332105" marR="5080" indent="-320040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n</a:t>
            </a:r>
            <a:r>
              <a:rPr dirty="0" sz="2400">
                <a:latin typeface="Gulim"/>
                <a:cs typeface="Gulim"/>
              </a:rPr>
              <a:t>개의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정점을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가지는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그래프의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신장트리는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n-</a:t>
            </a:r>
            <a:r>
              <a:rPr dirty="0" sz="2400" spc="-10">
                <a:latin typeface="Arial"/>
                <a:cs typeface="Arial"/>
              </a:rPr>
              <a:t>1</a:t>
            </a:r>
            <a:r>
              <a:rPr dirty="0" sz="2400" spc="-10">
                <a:latin typeface="Gulim"/>
                <a:cs typeface="Gulim"/>
              </a:rPr>
              <a:t>개의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간선 </a:t>
            </a:r>
            <a:r>
              <a:rPr dirty="0" sz="2400">
                <a:latin typeface="Gulim"/>
                <a:cs typeface="Gulim"/>
              </a:rPr>
              <a:t>을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가짐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915" y="3643452"/>
            <a:ext cx="7605338" cy="184457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신장</a:t>
            </a:r>
            <a:r>
              <a:rPr dirty="0" spc="-260"/>
              <a:t> </a:t>
            </a:r>
            <a:r>
              <a:rPr dirty="0" spc="-2225"/>
              <a:t>트리</a:t>
            </a:r>
            <a:r>
              <a:rPr dirty="0" spc="-140"/>
              <a:t> </a:t>
            </a:r>
            <a:r>
              <a:rPr dirty="0" spc="-2125"/>
              <a:t>알고리즘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36141" y="2056295"/>
            <a:ext cx="7936230" cy="1625600"/>
            <a:chOff x="1236141" y="2056295"/>
            <a:chExt cx="7936230" cy="1625600"/>
          </a:xfrm>
        </p:grpSpPr>
        <p:sp>
          <p:nvSpPr>
            <p:cNvPr id="4" name="object 4"/>
            <p:cNvSpPr/>
            <p:nvPr/>
          </p:nvSpPr>
          <p:spPr>
            <a:xfrm>
              <a:off x="1248308" y="2068487"/>
              <a:ext cx="7912100" cy="1599565"/>
            </a:xfrm>
            <a:custGeom>
              <a:avLst/>
              <a:gdLst/>
              <a:ahLst/>
              <a:cxnLst/>
              <a:rect l="l" t="t" r="r" b="b"/>
              <a:pathLst>
                <a:path w="7912100" h="1599564">
                  <a:moveTo>
                    <a:pt x="7911566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7911566" y="159933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36141" y="2056295"/>
              <a:ext cx="7936230" cy="1625600"/>
            </a:xfrm>
            <a:custGeom>
              <a:avLst/>
              <a:gdLst/>
              <a:ahLst/>
              <a:cxnLst/>
              <a:rect l="l" t="t" r="r" b="b"/>
              <a:pathLst>
                <a:path w="7936230" h="1625600">
                  <a:moveTo>
                    <a:pt x="7935925" y="0"/>
                  </a:moveTo>
                  <a:lnTo>
                    <a:pt x="0" y="0"/>
                  </a:lnTo>
                  <a:lnTo>
                    <a:pt x="0" y="1625231"/>
                  </a:lnTo>
                  <a:lnTo>
                    <a:pt x="7935925" y="1625231"/>
                  </a:lnTo>
                  <a:lnTo>
                    <a:pt x="7935925" y="1611528"/>
                  </a:lnTo>
                  <a:lnTo>
                    <a:pt x="24345" y="1611528"/>
                  </a:lnTo>
                  <a:lnTo>
                    <a:pt x="12166" y="1599336"/>
                  </a:lnTo>
                  <a:lnTo>
                    <a:pt x="24345" y="1599336"/>
                  </a:lnTo>
                  <a:lnTo>
                    <a:pt x="24345" y="25895"/>
                  </a:lnTo>
                  <a:lnTo>
                    <a:pt x="12166" y="25895"/>
                  </a:lnTo>
                  <a:lnTo>
                    <a:pt x="24345" y="12179"/>
                  </a:lnTo>
                  <a:lnTo>
                    <a:pt x="7935925" y="12179"/>
                  </a:lnTo>
                  <a:lnTo>
                    <a:pt x="7935925" y="0"/>
                  </a:lnTo>
                  <a:close/>
                </a:path>
                <a:path w="7936230" h="1625600">
                  <a:moveTo>
                    <a:pt x="24345" y="1599336"/>
                  </a:moveTo>
                  <a:lnTo>
                    <a:pt x="12166" y="1599336"/>
                  </a:lnTo>
                  <a:lnTo>
                    <a:pt x="24345" y="1611528"/>
                  </a:lnTo>
                  <a:lnTo>
                    <a:pt x="24345" y="1599336"/>
                  </a:lnTo>
                  <a:close/>
                </a:path>
                <a:path w="7936230" h="1625600">
                  <a:moveTo>
                    <a:pt x="7911566" y="1599336"/>
                  </a:moveTo>
                  <a:lnTo>
                    <a:pt x="24345" y="1599336"/>
                  </a:lnTo>
                  <a:lnTo>
                    <a:pt x="24345" y="1611528"/>
                  </a:lnTo>
                  <a:lnTo>
                    <a:pt x="7911566" y="1611528"/>
                  </a:lnTo>
                  <a:lnTo>
                    <a:pt x="7911566" y="1599336"/>
                  </a:lnTo>
                  <a:close/>
                </a:path>
                <a:path w="7936230" h="1625600">
                  <a:moveTo>
                    <a:pt x="7911566" y="12179"/>
                  </a:moveTo>
                  <a:lnTo>
                    <a:pt x="7911566" y="1611528"/>
                  </a:lnTo>
                  <a:lnTo>
                    <a:pt x="7923745" y="1599336"/>
                  </a:lnTo>
                  <a:lnTo>
                    <a:pt x="7935925" y="1599336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79"/>
                  </a:lnTo>
                  <a:close/>
                </a:path>
                <a:path w="7936230" h="1625600">
                  <a:moveTo>
                    <a:pt x="7935925" y="1599336"/>
                  </a:moveTo>
                  <a:lnTo>
                    <a:pt x="7923745" y="1599336"/>
                  </a:lnTo>
                  <a:lnTo>
                    <a:pt x="7911566" y="1611528"/>
                  </a:lnTo>
                  <a:lnTo>
                    <a:pt x="7935925" y="1611528"/>
                  </a:lnTo>
                  <a:lnTo>
                    <a:pt x="7935925" y="1599336"/>
                  </a:lnTo>
                  <a:close/>
                </a:path>
                <a:path w="7936230" h="1625600">
                  <a:moveTo>
                    <a:pt x="24345" y="12179"/>
                  </a:moveTo>
                  <a:lnTo>
                    <a:pt x="12166" y="25895"/>
                  </a:lnTo>
                  <a:lnTo>
                    <a:pt x="24345" y="25895"/>
                  </a:lnTo>
                  <a:lnTo>
                    <a:pt x="24345" y="12179"/>
                  </a:lnTo>
                  <a:close/>
                </a:path>
                <a:path w="7936230" h="1625600">
                  <a:moveTo>
                    <a:pt x="7911566" y="12179"/>
                  </a:moveTo>
                  <a:lnTo>
                    <a:pt x="24345" y="12179"/>
                  </a:lnTo>
                  <a:lnTo>
                    <a:pt x="24345" y="25895"/>
                  </a:lnTo>
                  <a:lnTo>
                    <a:pt x="7911566" y="25895"/>
                  </a:lnTo>
                  <a:lnTo>
                    <a:pt x="7911566" y="12179"/>
                  </a:lnTo>
                  <a:close/>
                </a:path>
                <a:path w="7936230" h="1625600">
                  <a:moveTo>
                    <a:pt x="7935925" y="12179"/>
                  </a:moveTo>
                  <a:lnTo>
                    <a:pt x="7911566" y="12179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01089" y="2063743"/>
            <a:ext cx="4418330" cy="101854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</a:pPr>
            <a:r>
              <a:rPr dirty="0" sz="1400" spc="-10">
                <a:latin typeface="Trebuchet MS"/>
                <a:cs typeface="Trebuchet MS"/>
              </a:rPr>
              <a:t>depth_first_search(v):</a:t>
            </a:r>
            <a:endParaRPr sz="1400">
              <a:latin typeface="Trebuchet MS"/>
              <a:cs typeface="Trebuchet MS"/>
            </a:endParaRPr>
          </a:p>
          <a:p>
            <a:pPr marL="951230">
              <a:lnSpc>
                <a:spcPct val="100000"/>
              </a:lnSpc>
              <a:spcBef>
                <a:spcPts val="215"/>
              </a:spcBef>
            </a:pPr>
            <a:r>
              <a:rPr dirty="0" baseline="-3968" sz="2100">
                <a:latin typeface="Trebuchet MS"/>
                <a:cs typeface="Trebuchet MS"/>
              </a:rPr>
              <a:t>v</a:t>
            </a:r>
            <a:r>
              <a:rPr dirty="0" sz="1400">
                <a:latin typeface="Gulim"/>
                <a:cs typeface="Gulim"/>
              </a:rPr>
              <a:t>를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방문되었다고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표시</a:t>
            </a:r>
            <a:r>
              <a:rPr dirty="0" baseline="-3968" sz="2100" spc="-37">
                <a:latin typeface="Trebuchet MS"/>
                <a:cs typeface="Trebuchet MS"/>
              </a:rPr>
              <a:t>;</a:t>
            </a:r>
            <a:endParaRPr baseline="-3968" sz="2100">
              <a:latin typeface="Trebuchet MS"/>
              <a:cs typeface="Trebuchet MS"/>
            </a:endParaRPr>
          </a:p>
          <a:p>
            <a:pPr marL="951230">
              <a:lnSpc>
                <a:spcPct val="100000"/>
              </a:lnSpc>
              <a:spcBef>
                <a:spcPts val="455"/>
              </a:spcBef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all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baseline="-7936" sz="2100">
                <a:latin typeface="Malgun Gothic"/>
                <a:cs typeface="Malgun Gothic"/>
              </a:rPr>
              <a:t>∈</a:t>
            </a:r>
            <a:r>
              <a:rPr dirty="0" baseline="-7936" sz="2100" spc="-120">
                <a:latin typeface="Malgun Gothic"/>
                <a:cs typeface="Malgun Gothic"/>
              </a:rPr>
              <a:t> </a:t>
            </a:r>
            <a:r>
              <a:rPr dirty="0" sz="1400">
                <a:latin typeface="Trebuchet MS"/>
                <a:cs typeface="Trebuchet MS"/>
              </a:rPr>
              <a:t>(v</a:t>
            </a:r>
            <a:r>
              <a:rPr dirty="0" baseline="3968" sz="2100">
                <a:latin typeface="Gulim"/>
                <a:cs typeface="Gulim"/>
              </a:rPr>
              <a:t>에</a:t>
            </a:r>
            <a:r>
              <a:rPr dirty="0" baseline="3968" sz="2100" spc="-82">
                <a:latin typeface="Gulim"/>
                <a:cs typeface="Gulim"/>
              </a:rPr>
              <a:t> </a:t>
            </a:r>
            <a:r>
              <a:rPr dirty="0" baseline="3968" sz="2100">
                <a:latin typeface="Gulim"/>
                <a:cs typeface="Gulim"/>
              </a:rPr>
              <a:t>인접한</a:t>
            </a:r>
            <a:r>
              <a:rPr dirty="0" baseline="3968" sz="2100" spc="-97">
                <a:latin typeface="Gulim"/>
                <a:cs typeface="Gulim"/>
              </a:rPr>
              <a:t> </a:t>
            </a:r>
            <a:r>
              <a:rPr dirty="0" baseline="3968" sz="2100">
                <a:latin typeface="Gulim"/>
                <a:cs typeface="Gulim"/>
              </a:rPr>
              <a:t>정점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do</a:t>
            </a:r>
            <a:endParaRPr sz="1400">
              <a:latin typeface="Trebuchet MS"/>
              <a:cs typeface="Trebuchet MS"/>
            </a:endParaRPr>
          </a:p>
          <a:p>
            <a:pPr marL="1864360">
              <a:lnSpc>
                <a:spcPct val="100000"/>
              </a:lnSpc>
              <a:spcBef>
                <a:spcPts val="215"/>
              </a:spcBef>
            </a:pPr>
            <a:r>
              <a:rPr dirty="0" baseline="-3968" sz="2100">
                <a:latin typeface="Trebuchet MS"/>
                <a:cs typeface="Trebuchet MS"/>
              </a:rPr>
              <a:t>if</a:t>
            </a:r>
            <a:r>
              <a:rPr dirty="0" baseline="-3968" sz="2100" spc="-22">
                <a:latin typeface="Trebuchet MS"/>
                <a:cs typeface="Trebuchet MS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(u</a:t>
            </a:r>
            <a:r>
              <a:rPr dirty="0" sz="1400">
                <a:latin typeface="Gulim"/>
                <a:cs typeface="Gulim"/>
              </a:rPr>
              <a:t>가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아직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방문되지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않았으면</a:t>
            </a:r>
            <a:r>
              <a:rPr dirty="0" baseline="-3968" sz="2100" spc="-15">
                <a:latin typeface="Trebuchet MS"/>
                <a:cs typeface="Trebuchet MS"/>
              </a:rPr>
              <a:t>)</a:t>
            </a:r>
            <a:endParaRPr baseline="-3968"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6692" y="3114124"/>
            <a:ext cx="3879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Trebuchet MS"/>
                <a:cs typeface="Trebuchet MS"/>
              </a:rPr>
              <a:t>then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80089" y="3041618"/>
            <a:ext cx="2794635" cy="567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7099"/>
              </a:lnSpc>
              <a:spcBef>
                <a:spcPts val="95"/>
              </a:spcBef>
            </a:pPr>
            <a:r>
              <a:rPr dirty="0" baseline="-3968" sz="2100" spc="-52">
                <a:latin typeface="Trebuchet MS"/>
                <a:cs typeface="Trebuchet MS"/>
              </a:rPr>
              <a:t>(v,u)</a:t>
            </a:r>
            <a:r>
              <a:rPr dirty="0" sz="1400" spc="-35">
                <a:latin typeface="Gulim"/>
                <a:cs typeface="Gulim"/>
              </a:rPr>
              <a:t>를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신장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간선이라고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표시</a:t>
            </a:r>
            <a:r>
              <a:rPr dirty="0" baseline="-3968" sz="2100" spc="-37">
                <a:latin typeface="Trebuchet MS"/>
                <a:cs typeface="Trebuchet MS"/>
              </a:rPr>
              <a:t>; </a:t>
            </a:r>
            <a:r>
              <a:rPr dirty="0" sz="1400" spc="-10">
                <a:latin typeface="Trebuchet MS"/>
                <a:cs typeface="Trebuchet MS"/>
              </a:rPr>
              <a:t>depth_first_search(u)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485" y="4192200"/>
            <a:ext cx="3817033" cy="211618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981" rIns="0" bIns="0" rtlCol="0" vert="horz">
            <a:spAutoFit/>
          </a:bodyPr>
          <a:lstStyle/>
          <a:p>
            <a:pPr marL="378460" marR="5080">
              <a:lnSpc>
                <a:spcPts val="2850"/>
              </a:lnSpc>
              <a:spcBef>
                <a:spcPts val="215"/>
              </a:spcBef>
            </a:pPr>
            <a:r>
              <a:rPr dirty="0" sz="2400" spc="-1215"/>
              <a:t>최소비용</a:t>
            </a:r>
            <a:r>
              <a:rPr dirty="0" sz="2400" spc="-145"/>
              <a:t> </a:t>
            </a:r>
            <a:r>
              <a:rPr dirty="0" sz="2400" spc="-1025"/>
              <a:t>신장트리</a:t>
            </a:r>
            <a:r>
              <a:rPr dirty="0" sz="2400" spc="-125"/>
              <a:t> </a:t>
            </a:r>
            <a:r>
              <a:rPr dirty="0" sz="2400">
                <a:latin typeface="Trebuchet MS"/>
                <a:cs typeface="Trebuchet MS"/>
              </a:rPr>
              <a:t>(minimum</a:t>
            </a:r>
            <a:r>
              <a:rPr dirty="0" sz="2400" spc="-14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spanning</a:t>
            </a:r>
            <a:r>
              <a:rPr dirty="0" sz="2400" spc="-4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tree) </a:t>
            </a:r>
            <a:r>
              <a:rPr dirty="0" sz="2400" spc="-10">
                <a:latin typeface="Trebuchet MS"/>
                <a:cs typeface="Trebuchet MS"/>
                <a:hlinkClick r:id="rId4"/>
              </a:rPr>
              <a:t>https://en.wikipedia.org/wiki/Minimum_spanning_tree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7518" y="2009354"/>
            <a:ext cx="7870190" cy="222186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50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네트워크에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모든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정점들을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가중치의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합이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최소로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연결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455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Arial"/>
                <a:cs typeface="Arial"/>
              </a:rPr>
              <a:t>MST</a:t>
            </a:r>
            <a:r>
              <a:rPr dirty="0" sz="2000">
                <a:latin typeface="Gulim"/>
                <a:cs typeface="Gulim"/>
              </a:rPr>
              <a:t>의</a:t>
            </a:r>
            <a:r>
              <a:rPr dirty="0" sz="2000" spc="-16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응용</a:t>
            </a:r>
            <a:endParaRPr sz="2000">
              <a:latin typeface="Gulim"/>
              <a:cs typeface="Gulim"/>
            </a:endParaRPr>
          </a:p>
          <a:p>
            <a:pPr marL="651510" marR="5080" indent="-274320">
              <a:lnSpc>
                <a:spcPts val="1839"/>
              </a:lnSpc>
              <a:spcBef>
                <a:spcPts val="635"/>
              </a:spcBef>
              <a:tabLst>
                <a:tab pos="651510" algn="l"/>
              </a:tabLst>
            </a:pPr>
            <a:r>
              <a:rPr dirty="0" sz="1150" spc="-59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1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latin typeface="Gulim"/>
                <a:cs typeface="Gulim"/>
              </a:rPr>
              <a:t>도로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건설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-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도시들을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모두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연결하면서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도로의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길이를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최소가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되도록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하는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50">
                <a:latin typeface="Gulim"/>
                <a:cs typeface="Gulim"/>
              </a:rPr>
              <a:t>문 제</a:t>
            </a:r>
            <a:endParaRPr sz="17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365"/>
              </a:spcBef>
              <a:tabLst>
                <a:tab pos="651510" algn="l"/>
              </a:tabLst>
            </a:pPr>
            <a:r>
              <a:rPr dirty="0" sz="1150" spc="-59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1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latin typeface="Gulim"/>
                <a:cs typeface="Gulim"/>
              </a:rPr>
              <a:t>전기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회로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-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단자들을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모두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연결하면서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전선의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길이를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가장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최소로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하는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문제</a:t>
            </a:r>
            <a:endParaRPr sz="17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395"/>
              </a:spcBef>
              <a:tabLst>
                <a:tab pos="651510" algn="l"/>
              </a:tabLst>
            </a:pPr>
            <a:r>
              <a:rPr dirty="0" sz="1150" spc="-59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1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latin typeface="Gulim"/>
                <a:cs typeface="Gulim"/>
              </a:rPr>
              <a:t>통신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-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전화선의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길이가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최소가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되도록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전화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케이블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망을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구성하는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문제</a:t>
            </a:r>
            <a:endParaRPr sz="17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395"/>
              </a:spcBef>
              <a:tabLst>
                <a:tab pos="651510" algn="l"/>
              </a:tabLst>
            </a:pPr>
            <a:r>
              <a:rPr dirty="0" sz="1150" spc="-59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1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700">
                <a:latin typeface="Gulim"/>
                <a:cs typeface="Gulim"/>
              </a:rPr>
              <a:t>배관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-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파이프를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모두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연결하면서</a:t>
            </a:r>
            <a:r>
              <a:rPr dirty="0" sz="1700" spc="-12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파이프의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총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길이를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최소로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하는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문제</a:t>
            </a:r>
            <a:endParaRPr sz="1700">
              <a:latin typeface="Gulim"/>
              <a:cs typeface="Gulim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8714" y="4309084"/>
            <a:ext cx="2778349" cy="230609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33689" y="703197"/>
            <a:ext cx="392366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70">
                <a:latin typeface="Tw Cen MT"/>
                <a:cs typeface="Tw Cen MT"/>
              </a:rPr>
              <a:t>MST</a:t>
            </a:r>
            <a:r>
              <a:rPr dirty="0" spc="-470"/>
              <a:t>의</a:t>
            </a:r>
            <a:r>
              <a:rPr dirty="0" spc="-275"/>
              <a:t> </a:t>
            </a:r>
            <a:r>
              <a:rPr dirty="0" spc="-1365"/>
              <a:t>예</a:t>
            </a:r>
            <a:r>
              <a:rPr dirty="0" spc="-250"/>
              <a:t> </a:t>
            </a:r>
            <a:r>
              <a:rPr dirty="0" spc="-350">
                <a:latin typeface="Tw Cen MT"/>
                <a:cs typeface="Tw Cen MT"/>
              </a:rPr>
              <a:t>(ST</a:t>
            </a:r>
            <a:r>
              <a:rPr dirty="0" spc="-350"/>
              <a:t>와</a:t>
            </a:r>
            <a:r>
              <a:rPr dirty="0" spc="-265"/>
              <a:t> </a:t>
            </a:r>
            <a:r>
              <a:rPr dirty="0" spc="-1525"/>
              <a:t>비교</a:t>
            </a:r>
            <a:r>
              <a:rPr dirty="0" spc="-1525">
                <a:latin typeface="Tw Cen MT"/>
                <a:cs typeface="Tw Cen MT"/>
              </a:rPr>
              <a:t>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9601" y="2158352"/>
            <a:ext cx="8008032" cy="2423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032" rIns="0" bIns="0" rtlCol="0" vert="horz">
            <a:spAutoFit/>
          </a:bodyPr>
          <a:lstStyle/>
          <a:p>
            <a:pPr marL="138430">
              <a:lnSpc>
                <a:spcPts val="3335"/>
              </a:lnSpc>
              <a:spcBef>
                <a:spcPts val="95"/>
              </a:spcBef>
            </a:pPr>
            <a:r>
              <a:rPr dirty="0" sz="2800" spc="-155">
                <a:latin typeface="Tw Cen MT"/>
                <a:cs typeface="Tw Cen MT"/>
              </a:rPr>
              <a:t>Kruskal</a:t>
            </a:r>
            <a:r>
              <a:rPr dirty="0" sz="2800" spc="-155"/>
              <a:t>의</a:t>
            </a:r>
            <a:r>
              <a:rPr dirty="0" sz="2800" spc="-145"/>
              <a:t> </a:t>
            </a:r>
            <a:r>
              <a:rPr dirty="0" sz="2800">
                <a:latin typeface="Tw Cen MT"/>
                <a:cs typeface="Tw Cen MT"/>
              </a:rPr>
              <a:t>MST</a:t>
            </a:r>
            <a:r>
              <a:rPr dirty="0" sz="2800" spc="-10">
                <a:latin typeface="Tw Cen MT"/>
                <a:cs typeface="Tw Cen MT"/>
              </a:rPr>
              <a:t> </a:t>
            </a:r>
            <a:r>
              <a:rPr dirty="0" sz="2800" spc="-1370"/>
              <a:t>알고리즘</a:t>
            </a:r>
            <a:endParaRPr sz="2800">
              <a:latin typeface="Tw Cen MT"/>
              <a:cs typeface="Tw Cen MT"/>
            </a:endParaRPr>
          </a:p>
          <a:p>
            <a:pPr marL="138430">
              <a:lnSpc>
                <a:spcPts val="3335"/>
              </a:lnSpc>
            </a:pPr>
            <a:r>
              <a:rPr dirty="0" sz="2800" spc="-10">
                <a:latin typeface="Tw Cen MT"/>
                <a:cs typeface="Tw Cen MT"/>
                <a:hlinkClick r:id="rId2"/>
              </a:rPr>
              <a:t>https://en.wikipedia.org/wiki/Kruskal</a:t>
            </a:r>
            <a:r>
              <a:rPr dirty="0" sz="2800" spc="-10">
                <a:latin typeface="Tw Cen MT"/>
                <a:cs typeface="Tw Cen MT"/>
              </a:rPr>
              <a:t>’s_algorithm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840" y="1893985"/>
            <a:ext cx="8585835" cy="2088514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65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탐욕적인</a:t>
            </a:r>
            <a:r>
              <a:rPr dirty="0" sz="2000" spc="-10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방법</a:t>
            </a:r>
            <a:r>
              <a:rPr dirty="0" sz="2000">
                <a:latin typeface="Trebuchet MS"/>
                <a:cs typeface="Trebuchet MS"/>
              </a:rPr>
              <a:t>(greedy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method)</a:t>
            </a:r>
            <a:endParaRPr sz="2000">
              <a:latin typeface="Trebuchet MS"/>
              <a:cs typeface="Trebuchet MS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dirty="0" sz="1250" spc="-65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2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latin typeface="Gulim"/>
                <a:cs typeface="Gulim"/>
              </a:rPr>
              <a:t>주요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알고리즘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설계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기법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dirty="0" sz="1250" spc="-65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2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latin typeface="Gulim"/>
                <a:cs typeface="Gulim"/>
              </a:rPr>
              <a:t>각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단계에서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최선의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답을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선택하는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과정을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반복함으로써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최종적인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해답에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도달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  <a:tabLst>
                <a:tab pos="651510" algn="l"/>
              </a:tabLst>
            </a:pPr>
            <a:r>
              <a:rPr dirty="0" sz="1250" spc="-65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2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latin typeface="Gulim"/>
                <a:cs typeface="Gulim"/>
              </a:rPr>
              <a:t>탐욕적인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방법은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항상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최적의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해답을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주는지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검증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필요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ts val="2155"/>
              </a:lnSpc>
              <a:spcBef>
                <a:spcPts val="600"/>
              </a:spcBef>
              <a:tabLst>
                <a:tab pos="651510" algn="l"/>
              </a:tabLst>
            </a:pPr>
            <a:r>
              <a:rPr dirty="0" sz="1250" spc="-65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2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latin typeface="Trebuchet MS"/>
                <a:cs typeface="Trebuchet MS"/>
              </a:rPr>
              <a:t>Kruskal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MST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Gulim"/>
                <a:cs typeface="Gulim"/>
              </a:rPr>
              <a:t>알고리즘은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최적의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해답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임이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증명됨</a:t>
            </a:r>
            <a:endParaRPr sz="1800">
              <a:latin typeface="Gulim"/>
              <a:cs typeface="Gulim"/>
            </a:endParaRPr>
          </a:p>
          <a:p>
            <a:pPr marL="651510">
              <a:lnSpc>
                <a:spcPts val="2155"/>
              </a:lnSpc>
            </a:pPr>
            <a:r>
              <a:rPr dirty="0" sz="1800" spc="-10">
                <a:latin typeface="Trebuchet MS"/>
                <a:cs typeface="Trebuchet MS"/>
                <a:hlinkClick r:id="rId2"/>
              </a:rPr>
              <a:t>https://en.wikipedia.org/wiki/Kruskal</a:t>
            </a:r>
            <a:r>
              <a:rPr dirty="0" sz="1800" spc="-10">
                <a:latin typeface="Trebuchet MS"/>
                <a:cs typeface="Trebuchet MS"/>
              </a:rPr>
              <a:t>’s_algorithm#Proof_of_correctness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9433" y="4883589"/>
            <a:ext cx="2546371" cy="1925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5">
                <a:latin typeface="Tw Cen MT"/>
                <a:cs typeface="Tw Cen MT"/>
              </a:rPr>
              <a:t> </a:t>
            </a:r>
            <a:r>
              <a:rPr dirty="0" spc="-2125"/>
              <a:t>알고리즘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93214" y="2149208"/>
            <a:ext cx="5772785" cy="4219575"/>
            <a:chOff x="2093214" y="2149208"/>
            <a:chExt cx="5772785" cy="4219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2345" y="2158352"/>
              <a:ext cx="5555992" cy="41551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93214" y="2149208"/>
              <a:ext cx="5772785" cy="4219575"/>
            </a:xfrm>
            <a:custGeom>
              <a:avLst/>
              <a:gdLst/>
              <a:ahLst/>
              <a:cxnLst/>
              <a:rect l="l" t="t" r="r" b="b"/>
              <a:pathLst>
                <a:path w="5772784" h="4219575">
                  <a:moveTo>
                    <a:pt x="5772683" y="0"/>
                  </a:moveTo>
                  <a:lnTo>
                    <a:pt x="0" y="0"/>
                  </a:lnTo>
                  <a:lnTo>
                    <a:pt x="0" y="4219206"/>
                  </a:lnTo>
                  <a:lnTo>
                    <a:pt x="5772683" y="4219206"/>
                  </a:lnTo>
                  <a:lnTo>
                    <a:pt x="5772683" y="4214647"/>
                  </a:lnTo>
                  <a:lnTo>
                    <a:pt x="9131" y="4214647"/>
                  </a:lnTo>
                  <a:lnTo>
                    <a:pt x="4559" y="4210075"/>
                  </a:lnTo>
                  <a:lnTo>
                    <a:pt x="9131" y="4210075"/>
                  </a:lnTo>
                  <a:lnTo>
                    <a:pt x="9131" y="9144"/>
                  </a:lnTo>
                  <a:lnTo>
                    <a:pt x="4559" y="9144"/>
                  </a:lnTo>
                  <a:lnTo>
                    <a:pt x="9131" y="4572"/>
                  </a:lnTo>
                  <a:lnTo>
                    <a:pt x="5772683" y="4572"/>
                  </a:lnTo>
                  <a:lnTo>
                    <a:pt x="5772683" y="0"/>
                  </a:lnTo>
                  <a:close/>
                </a:path>
                <a:path w="5772784" h="4219575">
                  <a:moveTo>
                    <a:pt x="9131" y="4210075"/>
                  </a:moveTo>
                  <a:lnTo>
                    <a:pt x="4559" y="4210075"/>
                  </a:lnTo>
                  <a:lnTo>
                    <a:pt x="9131" y="4214647"/>
                  </a:lnTo>
                  <a:lnTo>
                    <a:pt x="9131" y="4210075"/>
                  </a:lnTo>
                  <a:close/>
                </a:path>
                <a:path w="5772784" h="4219575">
                  <a:moveTo>
                    <a:pt x="5763552" y="4210075"/>
                  </a:moveTo>
                  <a:lnTo>
                    <a:pt x="9131" y="4210075"/>
                  </a:lnTo>
                  <a:lnTo>
                    <a:pt x="9131" y="4214647"/>
                  </a:lnTo>
                  <a:lnTo>
                    <a:pt x="5763552" y="4214647"/>
                  </a:lnTo>
                  <a:lnTo>
                    <a:pt x="5763552" y="4210075"/>
                  </a:lnTo>
                  <a:close/>
                </a:path>
                <a:path w="5772784" h="4219575">
                  <a:moveTo>
                    <a:pt x="5763552" y="4572"/>
                  </a:moveTo>
                  <a:lnTo>
                    <a:pt x="5763552" y="4214647"/>
                  </a:lnTo>
                  <a:lnTo>
                    <a:pt x="5768124" y="4210075"/>
                  </a:lnTo>
                  <a:lnTo>
                    <a:pt x="5772683" y="4210075"/>
                  </a:lnTo>
                  <a:lnTo>
                    <a:pt x="5772683" y="9144"/>
                  </a:lnTo>
                  <a:lnTo>
                    <a:pt x="5768124" y="9144"/>
                  </a:lnTo>
                  <a:lnTo>
                    <a:pt x="5763552" y="4572"/>
                  </a:lnTo>
                  <a:close/>
                </a:path>
                <a:path w="5772784" h="4219575">
                  <a:moveTo>
                    <a:pt x="5772683" y="4210075"/>
                  </a:moveTo>
                  <a:lnTo>
                    <a:pt x="5768124" y="4210075"/>
                  </a:lnTo>
                  <a:lnTo>
                    <a:pt x="5763552" y="4214647"/>
                  </a:lnTo>
                  <a:lnTo>
                    <a:pt x="5772683" y="4214647"/>
                  </a:lnTo>
                  <a:lnTo>
                    <a:pt x="5772683" y="4210075"/>
                  </a:lnTo>
                  <a:close/>
                </a:path>
                <a:path w="5772784" h="4219575">
                  <a:moveTo>
                    <a:pt x="9131" y="4572"/>
                  </a:moveTo>
                  <a:lnTo>
                    <a:pt x="4559" y="9144"/>
                  </a:lnTo>
                  <a:lnTo>
                    <a:pt x="9131" y="9144"/>
                  </a:lnTo>
                  <a:lnTo>
                    <a:pt x="9131" y="4572"/>
                  </a:lnTo>
                  <a:close/>
                </a:path>
                <a:path w="5772784" h="4219575">
                  <a:moveTo>
                    <a:pt x="5763552" y="4572"/>
                  </a:moveTo>
                  <a:lnTo>
                    <a:pt x="9131" y="4572"/>
                  </a:lnTo>
                  <a:lnTo>
                    <a:pt x="9131" y="9144"/>
                  </a:lnTo>
                  <a:lnTo>
                    <a:pt x="5763552" y="9144"/>
                  </a:lnTo>
                  <a:lnTo>
                    <a:pt x="5763552" y="4572"/>
                  </a:lnTo>
                  <a:close/>
                </a:path>
                <a:path w="5772784" h="4219575">
                  <a:moveTo>
                    <a:pt x="5772683" y="4572"/>
                  </a:moveTo>
                  <a:lnTo>
                    <a:pt x="5763552" y="4572"/>
                  </a:lnTo>
                  <a:lnTo>
                    <a:pt x="5768124" y="9144"/>
                  </a:lnTo>
                  <a:lnTo>
                    <a:pt x="5772683" y="9144"/>
                  </a:lnTo>
                  <a:lnTo>
                    <a:pt x="5772683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0995" y="959611"/>
            <a:ext cx="3818015" cy="56342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1528" y="1002258"/>
            <a:ext cx="3819525" cy="55504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5">
                <a:latin typeface="Tw Cen MT"/>
                <a:cs typeface="Tw Cen MT"/>
              </a:rPr>
              <a:t> </a:t>
            </a:r>
            <a:r>
              <a:rPr dirty="0" spc="-2105"/>
              <a:t>알고리즘</a:t>
            </a:r>
            <a:r>
              <a:rPr dirty="0" spc="-229"/>
              <a:t> </a:t>
            </a:r>
            <a:r>
              <a:rPr dirty="0" spc="-10">
                <a:latin typeface="Tw Cen MT"/>
                <a:cs typeface="Tw Cen MT"/>
              </a:rPr>
              <a:t>(union-find)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89653"/>
            <a:ext cx="4954905" cy="214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indent="-319405">
              <a:lnSpc>
                <a:spcPts val="1670"/>
              </a:lnSpc>
              <a:spcBef>
                <a:spcPts val="100"/>
              </a:spcBef>
              <a:buClr>
                <a:srgbClr val="DD8046"/>
              </a:buClr>
              <a:buSzPct val="57142"/>
              <a:buFont typeface="Wingdings"/>
              <a:buChar char=""/>
              <a:tabLst>
                <a:tab pos="332105" algn="l"/>
              </a:tabLst>
            </a:pPr>
            <a:r>
              <a:rPr dirty="0" sz="1400" spc="-10">
                <a:latin typeface="Trebuchet MS"/>
                <a:cs typeface="Trebuchet MS"/>
              </a:rPr>
              <a:t>union-</a:t>
            </a:r>
            <a:r>
              <a:rPr dirty="0" sz="1400">
                <a:latin typeface="Trebuchet MS"/>
                <a:cs typeface="Trebuchet MS"/>
              </a:rPr>
              <a:t>find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20">
                <a:latin typeface="Gulim"/>
                <a:cs typeface="Gulim"/>
              </a:rPr>
              <a:t>알고리즘</a:t>
            </a:r>
            <a:endParaRPr sz="1400">
              <a:latin typeface="Gulim"/>
              <a:cs typeface="Gulim"/>
            </a:endParaRPr>
          </a:p>
          <a:p>
            <a:pPr marL="332105">
              <a:lnSpc>
                <a:spcPts val="1430"/>
              </a:lnSpc>
            </a:pPr>
            <a:r>
              <a:rPr dirty="0" sz="1200" spc="-10">
                <a:latin typeface="Trebuchet MS"/>
                <a:cs typeface="Trebuchet MS"/>
                <a:hlinkClick r:id="rId2"/>
              </a:rPr>
              <a:t>https://en.wikipedia.org/wiki/Disjoint-set_data_structure</a:t>
            </a:r>
            <a:endParaRPr sz="1200">
              <a:latin typeface="Trebuchet MS"/>
              <a:cs typeface="Trebuchet MS"/>
            </a:endParaRPr>
          </a:p>
          <a:p>
            <a:pPr marL="377825">
              <a:lnSpc>
                <a:spcPct val="100000"/>
              </a:lnSpc>
              <a:spcBef>
                <a:spcPts val="615"/>
              </a:spcBef>
              <a:tabLst>
                <a:tab pos="651510" algn="l"/>
              </a:tabLst>
            </a:pPr>
            <a:r>
              <a:rPr dirty="0" sz="800" spc="-41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80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200">
                <a:latin typeface="Gulim"/>
                <a:cs typeface="Gulim"/>
              </a:rPr>
              <a:t>원소가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같은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집합에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속하는지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알아냄</a:t>
            </a:r>
            <a:endParaRPr sz="12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dirty="0" sz="800" spc="-41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80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200">
                <a:latin typeface="Trebuchet MS"/>
                <a:cs typeface="Trebuchet MS"/>
              </a:rPr>
              <a:t>Kruskal</a:t>
            </a:r>
            <a:r>
              <a:rPr dirty="0" sz="1200">
                <a:latin typeface="Gulim"/>
                <a:cs typeface="Gulim"/>
              </a:rPr>
              <a:t>의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>
                <a:latin typeface="Trebuchet MS"/>
                <a:cs typeface="Trebuchet MS"/>
              </a:rPr>
              <a:t>MST</a:t>
            </a:r>
            <a:r>
              <a:rPr dirty="0" sz="1200" spc="-45">
                <a:latin typeface="Trebuchet MS"/>
                <a:cs typeface="Trebuchet MS"/>
              </a:rPr>
              <a:t> </a:t>
            </a:r>
            <a:r>
              <a:rPr dirty="0" sz="1200" spc="-10">
                <a:latin typeface="Gulim"/>
                <a:cs typeface="Gulim"/>
              </a:rPr>
              <a:t>알고리즘에서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사이클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검사에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35">
                <a:latin typeface="Gulim"/>
                <a:cs typeface="Gulim"/>
              </a:rPr>
              <a:t>사용</a:t>
            </a:r>
            <a:endParaRPr sz="1200">
              <a:latin typeface="Gulim"/>
              <a:cs typeface="Gulim"/>
            </a:endParaRPr>
          </a:p>
          <a:p>
            <a:pPr marL="12700" marR="5080">
              <a:lnSpc>
                <a:spcPct val="141400"/>
              </a:lnSpc>
              <a:spcBef>
                <a:spcPts val="5"/>
              </a:spcBef>
            </a:pPr>
            <a:r>
              <a:rPr dirty="0" sz="1400">
                <a:latin typeface="Gulim"/>
                <a:cs typeface="Gulim"/>
              </a:rPr>
              <a:t>학생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원소가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속하는지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판정은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어떻게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하나요</a:t>
            </a:r>
            <a:r>
              <a:rPr dirty="0" sz="1400" spc="-20">
                <a:latin typeface="Trebuchet MS"/>
                <a:cs typeface="Trebuchet MS"/>
              </a:rPr>
              <a:t>? </a:t>
            </a: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>
                <a:latin typeface="Gulim"/>
                <a:cs typeface="Gulim"/>
              </a:rPr>
              <a:t>원소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>
                <a:latin typeface="Gulim"/>
                <a:cs typeface="Gulim"/>
              </a:rPr>
              <a:t>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b</a:t>
            </a:r>
            <a:r>
              <a:rPr dirty="0" sz="1400">
                <a:latin typeface="Gulim"/>
                <a:cs typeface="Gulim"/>
              </a:rPr>
              <a:t>원소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집합의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>
                <a:latin typeface="Gulim"/>
                <a:cs typeface="Gulim"/>
              </a:rPr>
              <a:t>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동일한지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판정</a:t>
            </a:r>
            <a:endParaRPr sz="1400">
              <a:latin typeface="Gulim"/>
              <a:cs typeface="Gulim"/>
            </a:endParaRPr>
          </a:p>
          <a:p>
            <a:pPr marL="12700" marR="1918335">
              <a:lnSpc>
                <a:spcPct val="141400"/>
              </a:lnSpc>
              <a:spcBef>
                <a:spcPts val="10"/>
              </a:spcBef>
            </a:pPr>
            <a:r>
              <a:rPr dirty="0" sz="1400">
                <a:latin typeface="Gulim"/>
                <a:cs typeface="Gulim"/>
              </a:rPr>
              <a:t>학생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집합의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root</a:t>
            </a:r>
            <a:r>
              <a:rPr dirty="0" sz="1400">
                <a:latin typeface="Gulim"/>
                <a:cs typeface="Gulim"/>
              </a:rPr>
              <a:t>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어떻게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정하나요</a:t>
            </a:r>
            <a:r>
              <a:rPr dirty="0" sz="1400" spc="-10">
                <a:latin typeface="Trebuchet MS"/>
                <a:cs typeface="Trebuchet MS"/>
              </a:rPr>
              <a:t>? </a:t>
            </a: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다음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페이지처럼</a:t>
            </a:r>
            <a:endParaRPr sz="14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1715" y="4129919"/>
            <a:ext cx="1794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3300"/>
                </a:solidFill>
                <a:latin typeface="Dotum"/>
                <a:cs typeface="Dotum"/>
              </a:rPr>
              <a:t>a와 b가 같은 집합에 </a:t>
            </a:r>
            <a:r>
              <a:rPr dirty="0" sz="1200" spc="-25">
                <a:solidFill>
                  <a:srgbClr val="FF3300"/>
                </a:solidFill>
                <a:latin typeface="Dotum"/>
                <a:cs typeface="Dotum"/>
              </a:rPr>
              <a:t>속함</a:t>
            </a:r>
            <a:endParaRPr sz="1200">
              <a:latin typeface="Dotum"/>
              <a:cs typeface="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42241" y="4170292"/>
            <a:ext cx="1794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3300"/>
                </a:solidFill>
                <a:latin typeface="Dotum"/>
                <a:cs typeface="Dotum"/>
              </a:rPr>
              <a:t>a와 b가 다른 집합에 </a:t>
            </a:r>
            <a:r>
              <a:rPr dirty="0" sz="1200" spc="-25">
                <a:solidFill>
                  <a:srgbClr val="FF3300"/>
                </a:solidFill>
                <a:latin typeface="Dotum"/>
                <a:cs typeface="Dotum"/>
              </a:rPr>
              <a:t>속함</a:t>
            </a:r>
            <a:endParaRPr sz="1200">
              <a:latin typeface="Dotum"/>
              <a:cs typeface="Dotu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3075" y="4350207"/>
            <a:ext cx="6687616" cy="275695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10">
                <a:latin typeface="Tw Cen MT"/>
                <a:cs typeface="Tw Cen MT"/>
              </a:rPr>
              <a:t> </a:t>
            </a:r>
            <a:r>
              <a:rPr dirty="0" spc="-770"/>
              <a:t>알고리즘</a:t>
            </a:r>
            <a:r>
              <a:rPr dirty="0" spc="-770">
                <a:latin typeface="Tw Cen MT"/>
                <a:cs typeface="Tw Cen MT"/>
              </a:rPr>
              <a:t>(union-</a:t>
            </a:r>
            <a:r>
              <a:rPr dirty="0" spc="-10">
                <a:latin typeface="Tw Cen MT"/>
                <a:cs typeface="Tw Cen MT"/>
              </a:rPr>
              <a:t>find)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9372" y="2973167"/>
            <a:ext cx="6241206" cy="12940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9368" y="4504106"/>
            <a:ext cx="6240853" cy="2285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24720" y="4787276"/>
            <a:ext cx="5738495" cy="7810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7894"/>
              <a:buFont typeface="Wingdings"/>
              <a:buChar char=""/>
              <a:tabLst>
                <a:tab pos="332105" algn="l"/>
              </a:tabLst>
            </a:pPr>
            <a:r>
              <a:rPr dirty="0" sz="1900">
                <a:latin typeface="Arial"/>
                <a:cs typeface="Arial"/>
              </a:rPr>
              <a:t>union(A,B)</a:t>
            </a:r>
            <a:r>
              <a:rPr dirty="0" sz="1900" spc="-20">
                <a:latin typeface="Arial"/>
                <a:cs typeface="Arial"/>
              </a:rPr>
              <a:t> </a:t>
            </a:r>
            <a:r>
              <a:rPr dirty="0" sz="1900">
                <a:latin typeface="Gulim"/>
                <a:cs typeface="Gulim"/>
              </a:rPr>
              <a:t>과정은</a:t>
            </a:r>
            <a:r>
              <a:rPr dirty="0" sz="1900" spc="-145">
                <a:latin typeface="Gulim"/>
                <a:cs typeface="Gulim"/>
              </a:rPr>
              <a:t> </a:t>
            </a:r>
            <a:r>
              <a:rPr dirty="0" sz="1900" spc="-10">
                <a:latin typeface="Arial"/>
                <a:cs typeface="Arial"/>
              </a:rPr>
              <a:t>kruskal_change.c</a:t>
            </a:r>
            <a:r>
              <a:rPr dirty="0" sz="1900" spc="-10">
                <a:latin typeface="Gulim"/>
                <a:cs typeface="Gulim"/>
              </a:rPr>
              <a:t>의</a:t>
            </a:r>
            <a:r>
              <a:rPr dirty="0" sz="1900" spc="-105">
                <a:latin typeface="Gulim"/>
                <a:cs typeface="Gulim"/>
              </a:rPr>
              <a:t> </a:t>
            </a:r>
            <a:r>
              <a:rPr dirty="0" sz="1900" spc="-10">
                <a:latin typeface="Arial"/>
                <a:cs typeface="Arial"/>
              </a:rPr>
              <a:t>set_union()</a:t>
            </a:r>
            <a:endParaRPr sz="19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7894"/>
              <a:buFont typeface="Wingdings"/>
              <a:buChar char=""/>
              <a:tabLst>
                <a:tab pos="332105" algn="l"/>
              </a:tabLst>
            </a:pPr>
            <a:r>
              <a:rPr dirty="0" sz="1900">
                <a:latin typeface="Arial"/>
                <a:cs typeface="Arial"/>
              </a:rPr>
              <a:t>{A,B}</a:t>
            </a:r>
            <a:r>
              <a:rPr dirty="0" sz="1900" spc="-25">
                <a:latin typeface="Arial"/>
                <a:cs typeface="Arial"/>
              </a:rPr>
              <a:t> </a:t>
            </a:r>
            <a:r>
              <a:rPr dirty="0" sz="1900">
                <a:latin typeface="Gulim"/>
                <a:cs typeface="Gulim"/>
              </a:rPr>
              <a:t>집합의</a:t>
            </a:r>
            <a:r>
              <a:rPr dirty="0" sz="1900" spc="-105">
                <a:latin typeface="Gulim"/>
                <a:cs typeface="Gulim"/>
              </a:rPr>
              <a:t> </a:t>
            </a:r>
            <a:r>
              <a:rPr dirty="0" sz="1900" spc="-20">
                <a:latin typeface="Arial"/>
                <a:cs typeface="Arial"/>
              </a:rPr>
              <a:t>root</a:t>
            </a:r>
            <a:r>
              <a:rPr dirty="0" sz="1900" spc="-20">
                <a:latin typeface="Gulim"/>
                <a:cs typeface="Gulim"/>
              </a:rPr>
              <a:t>는</a:t>
            </a:r>
            <a:r>
              <a:rPr dirty="0" sz="1900" spc="-204">
                <a:latin typeface="Gulim"/>
                <a:cs typeface="Gulim"/>
              </a:rPr>
              <a:t> </a:t>
            </a:r>
            <a:r>
              <a:rPr dirty="0" sz="1900" spc="-50">
                <a:latin typeface="Arial"/>
                <a:cs typeface="Arial"/>
              </a:rPr>
              <a:t>A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2443" y="1801907"/>
            <a:ext cx="4361180" cy="930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37894">
              <a:lnSpc>
                <a:spcPct val="141400"/>
              </a:lnSpc>
              <a:spcBef>
                <a:spcPts val="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kruskal.c</a:t>
            </a:r>
            <a:r>
              <a:rPr dirty="0" sz="1400">
                <a:latin typeface="Gulim"/>
                <a:cs typeface="Gulim"/>
              </a:rPr>
              <a:t>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kruskal_change.c</a:t>
            </a:r>
            <a:r>
              <a:rPr dirty="0" sz="1400" spc="-10">
                <a:latin typeface="Gulim"/>
                <a:cs typeface="Gulim"/>
              </a:rPr>
              <a:t>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변경 </a:t>
            </a:r>
            <a:r>
              <a:rPr dirty="0" sz="1400">
                <a:latin typeface="Gulim"/>
                <a:cs typeface="Gulim"/>
              </a:rPr>
              <a:t>학생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바꾸었나요</a:t>
            </a:r>
            <a:r>
              <a:rPr dirty="0" sz="1400" spc="-10">
                <a:latin typeface="Trebuchet MS"/>
                <a:cs typeface="Trebuchet MS"/>
              </a:rPr>
              <a:t>?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set_union()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아래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같이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동작하도록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변경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10">
                <a:latin typeface="Tw Cen MT"/>
                <a:cs typeface="Tw Cen MT"/>
              </a:rPr>
              <a:t> </a:t>
            </a:r>
            <a:r>
              <a:rPr dirty="0" spc="-770"/>
              <a:t>알고리즘</a:t>
            </a:r>
            <a:r>
              <a:rPr dirty="0" spc="-770">
                <a:latin typeface="Tw Cen MT"/>
                <a:cs typeface="Tw Cen MT"/>
              </a:rPr>
              <a:t>(union-</a:t>
            </a:r>
            <a:r>
              <a:rPr dirty="0" spc="-10">
                <a:latin typeface="Tw Cen MT"/>
                <a:cs typeface="Tw Cen MT"/>
              </a:rPr>
              <a:t>find)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502" y="2176645"/>
            <a:ext cx="6165813" cy="22851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24720" y="2548978"/>
            <a:ext cx="5767070" cy="78105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7894"/>
              <a:buFont typeface="Wingdings"/>
              <a:buChar char=""/>
              <a:tabLst>
                <a:tab pos="332105" algn="l"/>
              </a:tabLst>
            </a:pPr>
            <a:r>
              <a:rPr dirty="0" sz="1900">
                <a:latin typeface="Arial"/>
                <a:cs typeface="Arial"/>
              </a:rPr>
              <a:t>union(C,H)</a:t>
            </a:r>
            <a:r>
              <a:rPr dirty="0" sz="1900" spc="-20">
                <a:latin typeface="Arial"/>
                <a:cs typeface="Arial"/>
              </a:rPr>
              <a:t> </a:t>
            </a:r>
            <a:r>
              <a:rPr dirty="0" sz="1900">
                <a:latin typeface="Gulim"/>
                <a:cs typeface="Gulim"/>
              </a:rPr>
              <a:t>과정은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 spc="-10">
                <a:latin typeface="Arial"/>
                <a:cs typeface="Arial"/>
              </a:rPr>
              <a:t>kruskal_change.c</a:t>
            </a:r>
            <a:r>
              <a:rPr dirty="0" sz="1900" spc="-10">
                <a:latin typeface="Gulim"/>
                <a:cs typeface="Gulim"/>
              </a:rPr>
              <a:t>의</a:t>
            </a:r>
            <a:r>
              <a:rPr dirty="0" sz="1900" spc="-110">
                <a:latin typeface="Gulim"/>
                <a:cs typeface="Gulim"/>
              </a:rPr>
              <a:t> </a:t>
            </a:r>
            <a:r>
              <a:rPr dirty="0" sz="1900" spc="-10">
                <a:latin typeface="Arial"/>
                <a:cs typeface="Arial"/>
              </a:rPr>
              <a:t>set_union()</a:t>
            </a:r>
            <a:endParaRPr sz="19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7894"/>
              <a:buFont typeface="Wingdings"/>
              <a:buChar char=""/>
              <a:tabLst>
                <a:tab pos="332105" algn="l"/>
              </a:tabLst>
            </a:pPr>
            <a:r>
              <a:rPr dirty="0" sz="1900">
                <a:latin typeface="Arial"/>
                <a:cs typeface="Arial"/>
              </a:rPr>
              <a:t>{C,H}</a:t>
            </a:r>
            <a:r>
              <a:rPr dirty="0" sz="1900" spc="-45">
                <a:latin typeface="Arial"/>
                <a:cs typeface="Arial"/>
              </a:rPr>
              <a:t> </a:t>
            </a:r>
            <a:r>
              <a:rPr dirty="0" sz="1900">
                <a:latin typeface="Gulim"/>
                <a:cs typeface="Gulim"/>
              </a:rPr>
              <a:t>집합의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>
                <a:latin typeface="Arial"/>
                <a:cs typeface="Arial"/>
              </a:rPr>
              <a:t>root</a:t>
            </a:r>
            <a:r>
              <a:rPr dirty="0" sz="1900">
                <a:latin typeface="Gulim"/>
                <a:cs typeface="Gulim"/>
              </a:rPr>
              <a:t>는</a:t>
            </a:r>
            <a:r>
              <a:rPr dirty="0" sz="1900" spc="-150">
                <a:latin typeface="Gulim"/>
                <a:cs typeface="Gulim"/>
              </a:rPr>
              <a:t> </a:t>
            </a:r>
            <a:r>
              <a:rPr dirty="0" sz="1900" spc="-50">
                <a:latin typeface="Arial"/>
                <a:cs typeface="Arial"/>
              </a:rPr>
              <a:t>C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62443" y="4619326"/>
            <a:ext cx="4781550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>
                <a:latin typeface="Gulim"/>
                <a:cs typeface="Gulim"/>
              </a:rPr>
              <a:t>학생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10">
                <a:latin typeface="Trebuchet MS"/>
                <a:cs typeface="Trebuchet MS"/>
              </a:rPr>
              <a:t> union-</a:t>
            </a:r>
            <a:r>
              <a:rPr dirty="0" sz="1400">
                <a:latin typeface="Trebuchet MS"/>
                <a:cs typeface="Trebuchet MS"/>
              </a:rPr>
              <a:t>find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연산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>
                <a:latin typeface="Gulim"/>
                <a:cs typeface="Gulim"/>
              </a:rPr>
              <a:t>또는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알고리즘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>
                <a:latin typeface="Gulim"/>
                <a:cs typeface="Gulim"/>
              </a:rPr>
              <a:t>인데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find</a:t>
            </a:r>
            <a:r>
              <a:rPr dirty="0" sz="1400">
                <a:latin typeface="Gulim"/>
                <a:cs typeface="Gulim"/>
              </a:rPr>
              <a:t>는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없나요</a:t>
            </a:r>
            <a:r>
              <a:rPr dirty="0" sz="1400" spc="-20">
                <a:latin typeface="Trebuchet MS"/>
                <a:cs typeface="Trebuchet MS"/>
              </a:rPr>
              <a:t>? </a:t>
            </a: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다음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슬라이드에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나옵니다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0645" y="2056295"/>
            <a:ext cx="8409940" cy="5150485"/>
            <a:chOff x="1100645" y="2056295"/>
            <a:chExt cx="8409940" cy="5150485"/>
          </a:xfrm>
        </p:grpSpPr>
        <p:sp>
          <p:nvSpPr>
            <p:cNvPr id="3" name="object 3"/>
            <p:cNvSpPr/>
            <p:nvPr/>
          </p:nvSpPr>
          <p:spPr>
            <a:xfrm>
              <a:off x="1114348" y="2068487"/>
              <a:ext cx="7910195" cy="4830445"/>
            </a:xfrm>
            <a:custGeom>
              <a:avLst/>
              <a:gdLst/>
              <a:ahLst/>
              <a:cxnLst/>
              <a:rect l="l" t="t" r="r" b="b"/>
              <a:pathLst>
                <a:path w="7910195" h="4830445">
                  <a:moveTo>
                    <a:pt x="7910055" y="0"/>
                  </a:moveTo>
                  <a:lnTo>
                    <a:pt x="0" y="0"/>
                  </a:lnTo>
                  <a:lnTo>
                    <a:pt x="0" y="4830000"/>
                  </a:lnTo>
                  <a:lnTo>
                    <a:pt x="7910055" y="4830000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100645" y="2056295"/>
              <a:ext cx="7937500" cy="4854575"/>
            </a:xfrm>
            <a:custGeom>
              <a:avLst/>
              <a:gdLst/>
              <a:ahLst/>
              <a:cxnLst/>
              <a:rect l="l" t="t" r="r" b="b"/>
              <a:pathLst>
                <a:path w="7937500" h="4854575">
                  <a:moveTo>
                    <a:pt x="7937449" y="0"/>
                  </a:moveTo>
                  <a:lnTo>
                    <a:pt x="0" y="0"/>
                  </a:lnTo>
                  <a:lnTo>
                    <a:pt x="0" y="4854371"/>
                  </a:lnTo>
                  <a:lnTo>
                    <a:pt x="7937449" y="4854371"/>
                  </a:lnTo>
                  <a:lnTo>
                    <a:pt x="7937449" y="4842192"/>
                  </a:lnTo>
                  <a:lnTo>
                    <a:pt x="25882" y="4842192"/>
                  </a:lnTo>
                  <a:lnTo>
                    <a:pt x="13703" y="4830000"/>
                  </a:lnTo>
                  <a:lnTo>
                    <a:pt x="25882" y="4830000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79"/>
                  </a:lnTo>
                  <a:lnTo>
                    <a:pt x="7937449" y="12179"/>
                  </a:lnTo>
                  <a:lnTo>
                    <a:pt x="7937449" y="0"/>
                  </a:lnTo>
                  <a:close/>
                </a:path>
                <a:path w="7937500" h="4854575">
                  <a:moveTo>
                    <a:pt x="25882" y="4830000"/>
                  </a:moveTo>
                  <a:lnTo>
                    <a:pt x="13703" y="4830000"/>
                  </a:lnTo>
                  <a:lnTo>
                    <a:pt x="25882" y="4842192"/>
                  </a:lnTo>
                  <a:lnTo>
                    <a:pt x="25882" y="4830000"/>
                  </a:lnTo>
                  <a:close/>
                </a:path>
                <a:path w="7937500" h="4854575">
                  <a:moveTo>
                    <a:pt x="7911579" y="4830000"/>
                  </a:moveTo>
                  <a:lnTo>
                    <a:pt x="25882" y="4830000"/>
                  </a:lnTo>
                  <a:lnTo>
                    <a:pt x="25882" y="4842192"/>
                  </a:lnTo>
                  <a:lnTo>
                    <a:pt x="7911579" y="4842192"/>
                  </a:lnTo>
                  <a:lnTo>
                    <a:pt x="7911579" y="4830000"/>
                  </a:lnTo>
                  <a:close/>
                </a:path>
                <a:path w="7937500" h="4854575">
                  <a:moveTo>
                    <a:pt x="7911579" y="12179"/>
                  </a:moveTo>
                  <a:lnTo>
                    <a:pt x="7911579" y="4842192"/>
                  </a:lnTo>
                  <a:lnTo>
                    <a:pt x="7923758" y="4830000"/>
                  </a:lnTo>
                  <a:lnTo>
                    <a:pt x="7937449" y="4830000"/>
                  </a:lnTo>
                  <a:lnTo>
                    <a:pt x="7937449" y="25895"/>
                  </a:lnTo>
                  <a:lnTo>
                    <a:pt x="7923758" y="25895"/>
                  </a:lnTo>
                  <a:lnTo>
                    <a:pt x="7911579" y="12179"/>
                  </a:lnTo>
                  <a:close/>
                </a:path>
                <a:path w="7937500" h="4854575">
                  <a:moveTo>
                    <a:pt x="7937449" y="4830000"/>
                  </a:moveTo>
                  <a:lnTo>
                    <a:pt x="7923758" y="4830000"/>
                  </a:lnTo>
                  <a:lnTo>
                    <a:pt x="7911579" y="4842192"/>
                  </a:lnTo>
                  <a:lnTo>
                    <a:pt x="7937449" y="4842192"/>
                  </a:lnTo>
                  <a:lnTo>
                    <a:pt x="7937449" y="4830000"/>
                  </a:lnTo>
                  <a:close/>
                </a:path>
                <a:path w="7937500" h="4854575">
                  <a:moveTo>
                    <a:pt x="25882" y="12179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7500" h="4854575">
                  <a:moveTo>
                    <a:pt x="7911579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79"/>
                  </a:lnTo>
                  <a:close/>
                </a:path>
                <a:path w="7937500" h="4854575">
                  <a:moveTo>
                    <a:pt x="7937449" y="12179"/>
                  </a:moveTo>
                  <a:lnTo>
                    <a:pt x="7911579" y="12179"/>
                  </a:lnTo>
                  <a:lnTo>
                    <a:pt x="7923758" y="25895"/>
                  </a:lnTo>
                  <a:lnTo>
                    <a:pt x="7937449" y="25895"/>
                  </a:lnTo>
                  <a:lnTo>
                    <a:pt x="793744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052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90"/>
              </a:spcBef>
            </a:pPr>
            <a:r>
              <a:rPr dirty="0" sz="4000" spc="-20">
                <a:latin typeface="Tw Cen MT"/>
                <a:cs typeface="Tw Cen MT"/>
              </a:rPr>
              <a:t>union-</a:t>
            </a:r>
            <a:r>
              <a:rPr dirty="0" sz="4000">
                <a:latin typeface="Tw Cen MT"/>
                <a:cs typeface="Tw Cen MT"/>
              </a:rPr>
              <a:t>find</a:t>
            </a:r>
            <a:r>
              <a:rPr dirty="0" sz="4000" spc="-25">
                <a:latin typeface="Tw Cen MT"/>
                <a:cs typeface="Tw Cen MT"/>
              </a:rPr>
              <a:t> </a:t>
            </a:r>
            <a:r>
              <a:rPr dirty="0" sz="4000" spc="-1430"/>
              <a:t>연산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1620" y="2098162"/>
            <a:ext cx="4577715" cy="3648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parent[MAX_VERTICES];//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부모</a:t>
            </a:r>
            <a:r>
              <a:rPr dirty="0" sz="1400" spc="-3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노드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set_init(int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i&lt;n; </a:t>
            </a:r>
            <a:r>
              <a:rPr dirty="0" sz="1400" spc="-2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parent[i]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 marR="1808480">
              <a:lnSpc>
                <a:spcPts val="1660"/>
              </a:lnSpc>
              <a:spcBef>
                <a:spcPts val="9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</a:t>
            </a:r>
            <a:r>
              <a:rPr dirty="0" sz="1400">
                <a:latin typeface="Gulim"/>
                <a:cs typeface="Gulim"/>
              </a:rPr>
              <a:t>가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속하는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집합을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반환한다</a:t>
            </a:r>
            <a:r>
              <a:rPr dirty="0" sz="1400" spc="-1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set_find(int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curr)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(parent[curr]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1)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35">
                <a:latin typeface="Gulim"/>
                <a:cs typeface="Gulim"/>
              </a:rPr>
              <a:t>루트</a:t>
            </a:r>
            <a:endParaRPr sz="1400">
              <a:latin typeface="Gulim"/>
              <a:cs typeface="Gulim"/>
            </a:endParaRPr>
          </a:p>
          <a:p>
            <a:pPr marL="925830" marR="5080">
              <a:lnSpc>
                <a:spcPts val="1680"/>
              </a:lnSpc>
              <a:spcBef>
                <a:spcPts val="45"/>
              </a:spcBef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(parent[curr]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-1)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parent[curr];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curr;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 marR="1546860">
              <a:lnSpc>
                <a:spcPts val="1660"/>
              </a:lnSpc>
              <a:spcBef>
                <a:spcPts val="9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두개의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원소가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집합을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합친다</a:t>
            </a:r>
            <a:r>
              <a:rPr dirty="0" sz="1400" spc="-2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set_union(int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b)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025" y="5723338"/>
            <a:ext cx="18618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root1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set_find(a);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root2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set_find(b);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45227" y="5723338"/>
            <a:ext cx="21920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노드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루트를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찾는다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노드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b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찾는다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1620" y="6149828"/>
            <a:ext cx="3621404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0320">
              <a:lnSpc>
                <a:spcPts val="1670"/>
              </a:lnSpc>
              <a:spcBef>
                <a:spcPts val="100"/>
              </a:spcBef>
              <a:tabLst>
                <a:tab pos="1826260" algn="l"/>
              </a:tabLst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(root1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root2)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Gulim"/>
                <a:cs typeface="Gulim"/>
              </a:rPr>
              <a:t>합한다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algn="r" marR="508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parent[root1]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root2;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5596" y="2068474"/>
            <a:ext cx="4944541" cy="187199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36141" y="1556689"/>
            <a:ext cx="8274050" cy="5649595"/>
            <a:chOff x="1236141" y="1556689"/>
            <a:chExt cx="8274050" cy="5649595"/>
          </a:xfrm>
        </p:grpSpPr>
        <p:sp>
          <p:nvSpPr>
            <p:cNvPr id="3" name="object 3"/>
            <p:cNvSpPr/>
            <p:nvPr/>
          </p:nvSpPr>
          <p:spPr>
            <a:xfrm>
              <a:off x="1248308" y="1568881"/>
              <a:ext cx="7912100" cy="5046345"/>
            </a:xfrm>
            <a:custGeom>
              <a:avLst/>
              <a:gdLst/>
              <a:ahLst/>
              <a:cxnLst/>
              <a:rect l="l" t="t" r="r" b="b"/>
              <a:pathLst>
                <a:path w="7912100" h="5046345">
                  <a:moveTo>
                    <a:pt x="7911566" y="0"/>
                  </a:moveTo>
                  <a:lnTo>
                    <a:pt x="0" y="0"/>
                  </a:lnTo>
                  <a:lnTo>
                    <a:pt x="0" y="5046294"/>
                  </a:lnTo>
                  <a:lnTo>
                    <a:pt x="7911566" y="5046294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36141" y="1556689"/>
              <a:ext cx="7936230" cy="5071110"/>
            </a:xfrm>
            <a:custGeom>
              <a:avLst/>
              <a:gdLst/>
              <a:ahLst/>
              <a:cxnLst/>
              <a:rect l="l" t="t" r="r" b="b"/>
              <a:pathLst>
                <a:path w="7936230" h="5071109">
                  <a:moveTo>
                    <a:pt x="7935925" y="0"/>
                  </a:moveTo>
                  <a:lnTo>
                    <a:pt x="0" y="0"/>
                  </a:lnTo>
                  <a:lnTo>
                    <a:pt x="0" y="5070665"/>
                  </a:lnTo>
                  <a:lnTo>
                    <a:pt x="7935925" y="5070665"/>
                  </a:lnTo>
                  <a:lnTo>
                    <a:pt x="7935925" y="5058486"/>
                  </a:lnTo>
                  <a:lnTo>
                    <a:pt x="24345" y="5058486"/>
                  </a:lnTo>
                  <a:lnTo>
                    <a:pt x="12166" y="5044770"/>
                  </a:lnTo>
                  <a:lnTo>
                    <a:pt x="24345" y="5044770"/>
                  </a:lnTo>
                  <a:lnTo>
                    <a:pt x="24345" y="25895"/>
                  </a:lnTo>
                  <a:lnTo>
                    <a:pt x="12166" y="25895"/>
                  </a:lnTo>
                  <a:lnTo>
                    <a:pt x="24345" y="12191"/>
                  </a:lnTo>
                  <a:lnTo>
                    <a:pt x="7935925" y="12191"/>
                  </a:lnTo>
                  <a:lnTo>
                    <a:pt x="7935925" y="0"/>
                  </a:lnTo>
                  <a:close/>
                </a:path>
                <a:path w="7936230" h="5071109">
                  <a:moveTo>
                    <a:pt x="24345" y="5044770"/>
                  </a:moveTo>
                  <a:lnTo>
                    <a:pt x="12166" y="5044770"/>
                  </a:lnTo>
                  <a:lnTo>
                    <a:pt x="24345" y="5058486"/>
                  </a:lnTo>
                  <a:lnTo>
                    <a:pt x="24345" y="5044770"/>
                  </a:lnTo>
                  <a:close/>
                </a:path>
                <a:path w="7936230" h="5071109">
                  <a:moveTo>
                    <a:pt x="7911566" y="5044770"/>
                  </a:moveTo>
                  <a:lnTo>
                    <a:pt x="24345" y="5044770"/>
                  </a:lnTo>
                  <a:lnTo>
                    <a:pt x="24345" y="5058486"/>
                  </a:lnTo>
                  <a:lnTo>
                    <a:pt x="7911566" y="5058486"/>
                  </a:lnTo>
                  <a:lnTo>
                    <a:pt x="7911566" y="5044770"/>
                  </a:lnTo>
                  <a:close/>
                </a:path>
                <a:path w="7936230" h="5071109">
                  <a:moveTo>
                    <a:pt x="7911566" y="12191"/>
                  </a:moveTo>
                  <a:lnTo>
                    <a:pt x="7911566" y="5058486"/>
                  </a:lnTo>
                  <a:lnTo>
                    <a:pt x="7923745" y="5044770"/>
                  </a:lnTo>
                  <a:lnTo>
                    <a:pt x="7935925" y="5044770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91"/>
                  </a:lnTo>
                  <a:close/>
                </a:path>
                <a:path w="7936230" h="5071109">
                  <a:moveTo>
                    <a:pt x="7935925" y="5044770"/>
                  </a:moveTo>
                  <a:lnTo>
                    <a:pt x="7923745" y="5044770"/>
                  </a:lnTo>
                  <a:lnTo>
                    <a:pt x="7911566" y="5058486"/>
                  </a:lnTo>
                  <a:lnTo>
                    <a:pt x="7935925" y="5058486"/>
                  </a:lnTo>
                  <a:lnTo>
                    <a:pt x="7935925" y="5044770"/>
                  </a:lnTo>
                  <a:close/>
                </a:path>
                <a:path w="7936230" h="5071109">
                  <a:moveTo>
                    <a:pt x="24345" y="12191"/>
                  </a:moveTo>
                  <a:lnTo>
                    <a:pt x="12166" y="25895"/>
                  </a:lnTo>
                  <a:lnTo>
                    <a:pt x="24345" y="25895"/>
                  </a:lnTo>
                  <a:lnTo>
                    <a:pt x="24345" y="12191"/>
                  </a:lnTo>
                  <a:close/>
                </a:path>
                <a:path w="7936230" h="5071109">
                  <a:moveTo>
                    <a:pt x="7911566" y="12191"/>
                  </a:moveTo>
                  <a:lnTo>
                    <a:pt x="24345" y="12191"/>
                  </a:lnTo>
                  <a:lnTo>
                    <a:pt x="24345" y="25895"/>
                  </a:lnTo>
                  <a:lnTo>
                    <a:pt x="7911566" y="25895"/>
                  </a:lnTo>
                  <a:lnTo>
                    <a:pt x="7911566" y="12191"/>
                  </a:lnTo>
                  <a:close/>
                </a:path>
                <a:path w="7936230" h="5071109">
                  <a:moveTo>
                    <a:pt x="7935925" y="12191"/>
                  </a:moveTo>
                  <a:lnTo>
                    <a:pt x="7911566" y="12191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11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000" spc="-220">
                <a:latin typeface="Tw Cen MT"/>
                <a:cs typeface="Tw Cen MT"/>
              </a:rPr>
              <a:t>Kruskal</a:t>
            </a:r>
            <a:r>
              <a:rPr dirty="0" sz="4000" spc="-220"/>
              <a:t>의</a:t>
            </a:r>
            <a:r>
              <a:rPr dirty="0" sz="4000" spc="-229"/>
              <a:t> </a:t>
            </a:r>
            <a:r>
              <a:rPr dirty="0" sz="4000">
                <a:latin typeface="Tw Cen MT"/>
                <a:cs typeface="Tw Cen MT"/>
              </a:rPr>
              <a:t>MST</a:t>
            </a:r>
            <a:r>
              <a:rPr dirty="0" sz="4000" spc="-5">
                <a:latin typeface="Tw Cen MT"/>
                <a:cs typeface="Tw Cen MT"/>
              </a:rPr>
              <a:t> </a:t>
            </a:r>
            <a:r>
              <a:rPr dirty="0" sz="4000" spc="-2095"/>
              <a:t>프로그램</a:t>
            </a:r>
            <a:r>
              <a:rPr dirty="0" sz="4000" spc="-220"/>
              <a:t> </a:t>
            </a:r>
            <a:r>
              <a:rPr dirty="0" sz="4000" spc="-10">
                <a:latin typeface="Tw Cen MT"/>
                <a:cs typeface="Tw Cen MT"/>
              </a:rPr>
              <a:t>(kruskal_change.c)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26489" y="1595775"/>
            <a:ext cx="4577715" cy="493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3847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&lt;stdio.h&gt; </a:t>
            </a: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&lt;stdlib.h&gt;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TRUE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FALSE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MAX_VERTICES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100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1000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parent[MAX_VERTICES];//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부모</a:t>
            </a:r>
            <a:r>
              <a:rPr dirty="0" sz="1400" spc="-3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노드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set_init(int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i&lt;n; </a:t>
            </a:r>
            <a:r>
              <a:rPr dirty="0" sz="1400" spc="-2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parent[i]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 marR="1808480">
              <a:lnSpc>
                <a:spcPts val="1660"/>
              </a:lnSpc>
              <a:spcBef>
                <a:spcPts val="9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</a:t>
            </a:r>
            <a:r>
              <a:rPr dirty="0" sz="1400">
                <a:latin typeface="Gulim"/>
                <a:cs typeface="Gulim"/>
              </a:rPr>
              <a:t>가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속하는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집합을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반환한다</a:t>
            </a:r>
            <a:r>
              <a:rPr dirty="0" sz="1400" spc="-1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set_find(int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curr)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(parent[curr]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1)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35">
                <a:latin typeface="Gulim"/>
                <a:cs typeface="Gulim"/>
              </a:rPr>
              <a:t>루트</a:t>
            </a:r>
            <a:endParaRPr sz="1400">
              <a:latin typeface="Gulim"/>
              <a:cs typeface="Gulim"/>
            </a:endParaRPr>
          </a:p>
          <a:p>
            <a:pPr marL="925830" marR="5080">
              <a:lnSpc>
                <a:spcPts val="1680"/>
              </a:lnSpc>
              <a:spcBef>
                <a:spcPts val="45"/>
              </a:spcBef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(parent[curr]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-1)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curr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parent[curr];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curr;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5">
                <a:latin typeface="Tw Cen MT"/>
                <a:cs typeface="Tw Cen MT"/>
              </a:rPr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0286" y="2146160"/>
            <a:ext cx="7937500" cy="3779520"/>
            <a:chOff x="1280286" y="2146160"/>
            <a:chExt cx="7937500" cy="3779520"/>
          </a:xfrm>
        </p:grpSpPr>
        <p:sp>
          <p:nvSpPr>
            <p:cNvPr id="4" name="object 4"/>
            <p:cNvSpPr/>
            <p:nvPr/>
          </p:nvSpPr>
          <p:spPr>
            <a:xfrm>
              <a:off x="1293990" y="2158352"/>
              <a:ext cx="7912100" cy="3753485"/>
            </a:xfrm>
            <a:custGeom>
              <a:avLst/>
              <a:gdLst/>
              <a:ahLst/>
              <a:cxnLst/>
              <a:rect l="l" t="t" r="r" b="b"/>
              <a:pathLst>
                <a:path w="7912100" h="3753485">
                  <a:moveTo>
                    <a:pt x="7911566" y="0"/>
                  </a:moveTo>
                  <a:lnTo>
                    <a:pt x="0" y="0"/>
                  </a:lnTo>
                  <a:lnTo>
                    <a:pt x="0" y="3753116"/>
                  </a:lnTo>
                  <a:lnTo>
                    <a:pt x="7911566" y="375311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80286" y="2146160"/>
              <a:ext cx="7937500" cy="3779520"/>
            </a:xfrm>
            <a:custGeom>
              <a:avLst/>
              <a:gdLst/>
              <a:ahLst/>
              <a:cxnLst/>
              <a:rect l="l" t="t" r="r" b="b"/>
              <a:pathLst>
                <a:path w="7937500" h="3779520">
                  <a:moveTo>
                    <a:pt x="7937449" y="0"/>
                  </a:moveTo>
                  <a:lnTo>
                    <a:pt x="0" y="0"/>
                  </a:lnTo>
                  <a:lnTo>
                    <a:pt x="0" y="3779012"/>
                  </a:lnTo>
                  <a:lnTo>
                    <a:pt x="7937449" y="3779012"/>
                  </a:lnTo>
                  <a:lnTo>
                    <a:pt x="7937449" y="3765308"/>
                  </a:lnTo>
                  <a:lnTo>
                    <a:pt x="25869" y="3765308"/>
                  </a:lnTo>
                  <a:lnTo>
                    <a:pt x="13703" y="3753116"/>
                  </a:lnTo>
                  <a:lnTo>
                    <a:pt x="25869" y="3753116"/>
                  </a:lnTo>
                  <a:lnTo>
                    <a:pt x="25869" y="25895"/>
                  </a:lnTo>
                  <a:lnTo>
                    <a:pt x="13703" y="25895"/>
                  </a:lnTo>
                  <a:lnTo>
                    <a:pt x="25869" y="12192"/>
                  </a:lnTo>
                  <a:lnTo>
                    <a:pt x="7937449" y="12192"/>
                  </a:lnTo>
                  <a:lnTo>
                    <a:pt x="7937449" y="0"/>
                  </a:lnTo>
                  <a:close/>
                </a:path>
                <a:path w="7937500" h="3779520">
                  <a:moveTo>
                    <a:pt x="25869" y="3753116"/>
                  </a:moveTo>
                  <a:lnTo>
                    <a:pt x="13703" y="3753116"/>
                  </a:lnTo>
                  <a:lnTo>
                    <a:pt x="25869" y="3765308"/>
                  </a:lnTo>
                  <a:lnTo>
                    <a:pt x="25869" y="3753116"/>
                  </a:lnTo>
                  <a:close/>
                </a:path>
                <a:path w="7937500" h="3779520">
                  <a:moveTo>
                    <a:pt x="7911566" y="3753116"/>
                  </a:moveTo>
                  <a:lnTo>
                    <a:pt x="25869" y="3753116"/>
                  </a:lnTo>
                  <a:lnTo>
                    <a:pt x="25869" y="3765308"/>
                  </a:lnTo>
                  <a:lnTo>
                    <a:pt x="7911566" y="3765308"/>
                  </a:lnTo>
                  <a:lnTo>
                    <a:pt x="7911566" y="3753116"/>
                  </a:lnTo>
                  <a:close/>
                </a:path>
                <a:path w="7937500" h="3779520">
                  <a:moveTo>
                    <a:pt x="7911566" y="12192"/>
                  </a:moveTo>
                  <a:lnTo>
                    <a:pt x="7911566" y="3765308"/>
                  </a:lnTo>
                  <a:lnTo>
                    <a:pt x="7925269" y="3753116"/>
                  </a:lnTo>
                  <a:lnTo>
                    <a:pt x="7937449" y="3753116"/>
                  </a:lnTo>
                  <a:lnTo>
                    <a:pt x="7937449" y="25895"/>
                  </a:lnTo>
                  <a:lnTo>
                    <a:pt x="7925269" y="25895"/>
                  </a:lnTo>
                  <a:lnTo>
                    <a:pt x="7911566" y="12192"/>
                  </a:lnTo>
                  <a:close/>
                </a:path>
                <a:path w="7937500" h="3779520">
                  <a:moveTo>
                    <a:pt x="7937449" y="3753116"/>
                  </a:moveTo>
                  <a:lnTo>
                    <a:pt x="7925269" y="3753116"/>
                  </a:lnTo>
                  <a:lnTo>
                    <a:pt x="7911566" y="3765308"/>
                  </a:lnTo>
                  <a:lnTo>
                    <a:pt x="7937449" y="3765308"/>
                  </a:lnTo>
                  <a:lnTo>
                    <a:pt x="7937449" y="3753116"/>
                  </a:lnTo>
                  <a:close/>
                </a:path>
                <a:path w="7937500" h="3779520">
                  <a:moveTo>
                    <a:pt x="25869" y="12192"/>
                  </a:moveTo>
                  <a:lnTo>
                    <a:pt x="13703" y="25895"/>
                  </a:lnTo>
                  <a:lnTo>
                    <a:pt x="25869" y="25895"/>
                  </a:lnTo>
                  <a:lnTo>
                    <a:pt x="25869" y="12192"/>
                  </a:lnTo>
                  <a:close/>
                </a:path>
                <a:path w="7937500" h="3779520">
                  <a:moveTo>
                    <a:pt x="7911566" y="12192"/>
                  </a:moveTo>
                  <a:lnTo>
                    <a:pt x="25869" y="12192"/>
                  </a:lnTo>
                  <a:lnTo>
                    <a:pt x="25869" y="25895"/>
                  </a:lnTo>
                  <a:lnTo>
                    <a:pt x="7911566" y="25895"/>
                  </a:lnTo>
                  <a:lnTo>
                    <a:pt x="7911566" y="12192"/>
                  </a:lnTo>
                  <a:close/>
                </a:path>
                <a:path w="7937500" h="3779520">
                  <a:moveTo>
                    <a:pt x="7937449" y="12192"/>
                  </a:moveTo>
                  <a:lnTo>
                    <a:pt x="7911566" y="12192"/>
                  </a:lnTo>
                  <a:lnTo>
                    <a:pt x="7925269" y="25895"/>
                  </a:lnTo>
                  <a:lnTo>
                    <a:pt x="7937449" y="25895"/>
                  </a:lnTo>
                  <a:lnTo>
                    <a:pt x="7937449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71447" y="2188128"/>
            <a:ext cx="3035300" cy="109283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660"/>
              </a:lnSpc>
              <a:spcBef>
                <a:spcPts val="17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두개의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원소가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집합을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합친다</a:t>
            </a:r>
            <a:r>
              <a:rPr dirty="0" sz="1400" spc="-2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set_union(int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b)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264795">
              <a:lnSpc>
                <a:spcPct val="10000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root1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set_find(a);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root2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set_find(b);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25047" y="2827865"/>
            <a:ext cx="21920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노드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a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루트를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찾는다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노드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b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루트를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찾는다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1447" y="3254357"/>
            <a:ext cx="3621404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0320">
              <a:lnSpc>
                <a:spcPts val="1670"/>
              </a:lnSpc>
              <a:spcBef>
                <a:spcPts val="100"/>
              </a:spcBef>
              <a:tabLst>
                <a:tab pos="1826260" algn="l"/>
              </a:tabLst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(root1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root2)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Gulim"/>
                <a:cs typeface="Gulim"/>
              </a:rPr>
              <a:t>합한다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algn="r" marR="508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parent[root2]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root1;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5047" y="4107339"/>
            <a:ext cx="21526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간선을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나타내는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구조체</a:t>
            </a:r>
            <a:endParaRPr sz="14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447" y="4107339"/>
            <a:ext cx="2717165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start,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end,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weight;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1447" y="4957274"/>
            <a:ext cx="396557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5"/>
              </a:spcBef>
              <a:tabLst>
                <a:tab pos="1838960" algn="l"/>
              </a:tabLst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n;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간선의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개수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edges[2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MAX_VERTICES];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GraphType;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73682" y="6954390"/>
            <a:ext cx="430657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624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36141" y="1573441"/>
            <a:ext cx="8274050" cy="5633085"/>
            <a:chOff x="1236141" y="1573441"/>
            <a:chExt cx="8274050" cy="56330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48308" y="1585633"/>
              <a:ext cx="7912100" cy="5476240"/>
            </a:xfrm>
            <a:custGeom>
              <a:avLst/>
              <a:gdLst/>
              <a:ahLst/>
              <a:cxnLst/>
              <a:rect l="l" t="t" r="r" b="b"/>
              <a:pathLst>
                <a:path w="7912100" h="5476240">
                  <a:moveTo>
                    <a:pt x="7911566" y="0"/>
                  </a:moveTo>
                  <a:lnTo>
                    <a:pt x="0" y="0"/>
                  </a:lnTo>
                  <a:lnTo>
                    <a:pt x="0" y="5475833"/>
                  </a:lnTo>
                  <a:lnTo>
                    <a:pt x="7911566" y="5475833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36141" y="1573441"/>
              <a:ext cx="7936230" cy="5500370"/>
            </a:xfrm>
            <a:custGeom>
              <a:avLst/>
              <a:gdLst/>
              <a:ahLst/>
              <a:cxnLst/>
              <a:rect l="l" t="t" r="r" b="b"/>
              <a:pathLst>
                <a:path w="7936230" h="5500370">
                  <a:moveTo>
                    <a:pt x="7935925" y="0"/>
                  </a:moveTo>
                  <a:lnTo>
                    <a:pt x="0" y="0"/>
                  </a:lnTo>
                  <a:lnTo>
                    <a:pt x="0" y="5500204"/>
                  </a:lnTo>
                  <a:lnTo>
                    <a:pt x="7935925" y="5500204"/>
                  </a:lnTo>
                  <a:lnTo>
                    <a:pt x="7935925" y="5488025"/>
                  </a:lnTo>
                  <a:lnTo>
                    <a:pt x="24345" y="5488025"/>
                  </a:lnTo>
                  <a:lnTo>
                    <a:pt x="12166" y="5475833"/>
                  </a:lnTo>
                  <a:lnTo>
                    <a:pt x="24345" y="5475833"/>
                  </a:lnTo>
                  <a:lnTo>
                    <a:pt x="24345" y="24371"/>
                  </a:lnTo>
                  <a:lnTo>
                    <a:pt x="12166" y="24371"/>
                  </a:lnTo>
                  <a:lnTo>
                    <a:pt x="24345" y="12192"/>
                  </a:lnTo>
                  <a:lnTo>
                    <a:pt x="7935925" y="12192"/>
                  </a:lnTo>
                  <a:lnTo>
                    <a:pt x="7935925" y="0"/>
                  </a:lnTo>
                  <a:close/>
                </a:path>
                <a:path w="7936230" h="5500370">
                  <a:moveTo>
                    <a:pt x="24345" y="5475833"/>
                  </a:moveTo>
                  <a:lnTo>
                    <a:pt x="12166" y="5475833"/>
                  </a:lnTo>
                  <a:lnTo>
                    <a:pt x="24345" y="5488025"/>
                  </a:lnTo>
                  <a:lnTo>
                    <a:pt x="24345" y="5475833"/>
                  </a:lnTo>
                  <a:close/>
                </a:path>
                <a:path w="7936230" h="5500370">
                  <a:moveTo>
                    <a:pt x="7911566" y="5475833"/>
                  </a:moveTo>
                  <a:lnTo>
                    <a:pt x="24345" y="5475833"/>
                  </a:lnTo>
                  <a:lnTo>
                    <a:pt x="24345" y="5488025"/>
                  </a:lnTo>
                  <a:lnTo>
                    <a:pt x="7911566" y="5488025"/>
                  </a:lnTo>
                  <a:lnTo>
                    <a:pt x="7911566" y="5475833"/>
                  </a:lnTo>
                  <a:close/>
                </a:path>
                <a:path w="7936230" h="5500370">
                  <a:moveTo>
                    <a:pt x="7911566" y="12192"/>
                  </a:moveTo>
                  <a:lnTo>
                    <a:pt x="7911566" y="5488025"/>
                  </a:lnTo>
                  <a:lnTo>
                    <a:pt x="7923745" y="5475833"/>
                  </a:lnTo>
                  <a:lnTo>
                    <a:pt x="7935925" y="5475833"/>
                  </a:lnTo>
                  <a:lnTo>
                    <a:pt x="7935925" y="24371"/>
                  </a:lnTo>
                  <a:lnTo>
                    <a:pt x="7923745" y="24371"/>
                  </a:lnTo>
                  <a:lnTo>
                    <a:pt x="7911566" y="12192"/>
                  </a:lnTo>
                  <a:close/>
                </a:path>
                <a:path w="7936230" h="5500370">
                  <a:moveTo>
                    <a:pt x="7935925" y="5475833"/>
                  </a:moveTo>
                  <a:lnTo>
                    <a:pt x="7923745" y="5475833"/>
                  </a:lnTo>
                  <a:lnTo>
                    <a:pt x="7911566" y="5488025"/>
                  </a:lnTo>
                  <a:lnTo>
                    <a:pt x="7935925" y="5488025"/>
                  </a:lnTo>
                  <a:lnTo>
                    <a:pt x="7935925" y="5475833"/>
                  </a:lnTo>
                  <a:close/>
                </a:path>
                <a:path w="7936230" h="5500370">
                  <a:moveTo>
                    <a:pt x="24345" y="12192"/>
                  </a:moveTo>
                  <a:lnTo>
                    <a:pt x="12166" y="24371"/>
                  </a:lnTo>
                  <a:lnTo>
                    <a:pt x="24345" y="24371"/>
                  </a:lnTo>
                  <a:lnTo>
                    <a:pt x="24345" y="12192"/>
                  </a:lnTo>
                  <a:close/>
                </a:path>
                <a:path w="7936230" h="5500370">
                  <a:moveTo>
                    <a:pt x="7911566" y="12192"/>
                  </a:moveTo>
                  <a:lnTo>
                    <a:pt x="24345" y="12192"/>
                  </a:lnTo>
                  <a:lnTo>
                    <a:pt x="24345" y="24371"/>
                  </a:lnTo>
                  <a:lnTo>
                    <a:pt x="7911566" y="24371"/>
                  </a:lnTo>
                  <a:lnTo>
                    <a:pt x="7911566" y="12192"/>
                  </a:lnTo>
                  <a:close/>
                </a:path>
                <a:path w="7936230" h="5500370">
                  <a:moveTo>
                    <a:pt x="7935925" y="12192"/>
                  </a:moveTo>
                  <a:lnTo>
                    <a:pt x="7911566" y="12192"/>
                  </a:lnTo>
                  <a:lnTo>
                    <a:pt x="7923745" y="24371"/>
                  </a:lnTo>
                  <a:lnTo>
                    <a:pt x="7935925" y="24371"/>
                  </a:lnTo>
                  <a:lnTo>
                    <a:pt x="7935925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5">
                <a:latin typeface="Tw Cen MT"/>
                <a:cs typeface="Tw Cen MT"/>
              </a:rPr>
              <a:t> </a:t>
            </a:r>
            <a:r>
              <a:rPr dirty="0" spc="-2315"/>
              <a:t>프로그램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26489" y="1615053"/>
            <a:ext cx="4490720" cy="5354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그래프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graph_init(GraphType*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g)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g-&gt;n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1838960" marR="255904" indent="-9137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 = 0;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 &lt; 2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</a:t>
            </a:r>
            <a:r>
              <a:rPr dirty="0" sz="1400" spc="-10">
                <a:latin typeface="Trebuchet MS"/>
                <a:cs typeface="Trebuchet MS"/>
              </a:rPr>
              <a:t> MAX_VERTICES;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i++)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 </a:t>
            </a:r>
            <a:r>
              <a:rPr dirty="0" sz="1400">
                <a:latin typeface="Trebuchet MS"/>
                <a:cs typeface="Trebuchet MS"/>
              </a:rPr>
              <a:t>g-&gt;edges[i].start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g-&gt;edges[i].end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g-&gt;edges[i].weight</a:t>
            </a:r>
            <a:r>
              <a:rPr dirty="0" sz="1400" spc="-8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간선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삽입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연산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insert_edge(GraphType*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start, int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end,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5">
                <a:latin typeface="Trebuchet MS"/>
                <a:cs typeface="Trebuchet MS"/>
              </a:rPr>
              <a:t> w)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13030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&gt;edges[g-</a:t>
            </a:r>
            <a:r>
              <a:rPr dirty="0" sz="1400">
                <a:latin typeface="Trebuchet MS"/>
                <a:cs typeface="Trebuchet MS"/>
              </a:rPr>
              <a:t>&gt;n].start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start;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&gt;edges[g-</a:t>
            </a:r>
            <a:r>
              <a:rPr dirty="0" sz="1400">
                <a:latin typeface="Trebuchet MS"/>
                <a:cs typeface="Trebuchet MS"/>
              </a:rPr>
              <a:t>&gt;n].end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end;</a:t>
            </a:r>
            <a:endParaRPr sz="1400">
              <a:latin typeface="Trebuchet MS"/>
              <a:cs typeface="Trebuchet MS"/>
            </a:endParaRPr>
          </a:p>
          <a:p>
            <a:pPr marL="925830" marR="138430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&gt;edges[g-</a:t>
            </a:r>
            <a:r>
              <a:rPr dirty="0" sz="1400">
                <a:latin typeface="Trebuchet MS"/>
                <a:cs typeface="Trebuchet MS"/>
              </a:rPr>
              <a:t>&gt;n].weight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w;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&gt;n++;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qsort()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사용되는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compare(const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void*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const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void*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b)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algn="just" marL="925830" marR="9899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Edge*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x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(struct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Edge*)a;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Edge*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y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(struct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Edge*)b;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(x-&gt;weight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y-</a:t>
            </a:r>
            <a:r>
              <a:rPr dirty="0" sz="1400" spc="-10">
                <a:latin typeface="Trebuchet MS"/>
                <a:cs typeface="Trebuchet MS"/>
              </a:rPr>
              <a:t>&gt;weight);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5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73682" y="6954390"/>
            <a:ext cx="430657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624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80286" y="1546034"/>
            <a:ext cx="8230234" cy="5660390"/>
            <a:chOff x="1280286" y="1546034"/>
            <a:chExt cx="8230234" cy="566039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93990" y="1558213"/>
              <a:ext cx="7912100" cy="5476240"/>
            </a:xfrm>
            <a:custGeom>
              <a:avLst/>
              <a:gdLst/>
              <a:ahLst/>
              <a:cxnLst/>
              <a:rect l="l" t="t" r="r" b="b"/>
              <a:pathLst>
                <a:path w="7912100" h="5476240">
                  <a:moveTo>
                    <a:pt x="7911566" y="0"/>
                  </a:moveTo>
                  <a:lnTo>
                    <a:pt x="0" y="0"/>
                  </a:lnTo>
                  <a:lnTo>
                    <a:pt x="0" y="5475833"/>
                  </a:lnTo>
                  <a:lnTo>
                    <a:pt x="7911566" y="5475833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80286" y="1546034"/>
              <a:ext cx="7937500" cy="5500370"/>
            </a:xfrm>
            <a:custGeom>
              <a:avLst/>
              <a:gdLst/>
              <a:ahLst/>
              <a:cxnLst/>
              <a:rect l="l" t="t" r="r" b="b"/>
              <a:pathLst>
                <a:path w="7937500" h="5500370">
                  <a:moveTo>
                    <a:pt x="7937449" y="0"/>
                  </a:moveTo>
                  <a:lnTo>
                    <a:pt x="0" y="0"/>
                  </a:lnTo>
                  <a:lnTo>
                    <a:pt x="0" y="5500204"/>
                  </a:lnTo>
                  <a:lnTo>
                    <a:pt x="7937449" y="5500204"/>
                  </a:lnTo>
                  <a:lnTo>
                    <a:pt x="7937449" y="5488012"/>
                  </a:lnTo>
                  <a:lnTo>
                    <a:pt x="25869" y="5488012"/>
                  </a:lnTo>
                  <a:lnTo>
                    <a:pt x="13703" y="5475833"/>
                  </a:lnTo>
                  <a:lnTo>
                    <a:pt x="25869" y="5475833"/>
                  </a:lnTo>
                  <a:lnTo>
                    <a:pt x="25869" y="24371"/>
                  </a:lnTo>
                  <a:lnTo>
                    <a:pt x="13703" y="24371"/>
                  </a:lnTo>
                  <a:lnTo>
                    <a:pt x="25869" y="12179"/>
                  </a:lnTo>
                  <a:lnTo>
                    <a:pt x="7937449" y="12179"/>
                  </a:lnTo>
                  <a:lnTo>
                    <a:pt x="7937449" y="0"/>
                  </a:lnTo>
                  <a:close/>
                </a:path>
                <a:path w="7937500" h="5500370">
                  <a:moveTo>
                    <a:pt x="25869" y="5475833"/>
                  </a:moveTo>
                  <a:lnTo>
                    <a:pt x="13703" y="5475833"/>
                  </a:lnTo>
                  <a:lnTo>
                    <a:pt x="25869" y="5488012"/>
                  </a:lnTo>
                  <a:lnTo>
                    <a:pt x="25869" y="5475833"/>
                  </a:lnTo>
                  <a:close/>
                </a:path>
                <a:path w="7937500" h="5500370">
                  <a:moveTo>
                    <a:pt x="7911566" y="5475833"/>
                  </a:moveTo>
                  <a:lnTo>
                    <a:pt x="25869" y="5475833"/>
                  </a:lnTo>
                  <a:lnTo>
                    <a:pt x="25869" y="5488012"/>
                  </a:lnTo>
                  <a:lnTo>
                    <a:pt x="7911566" y="5488012"/>
                  </a:lnTo>
                  <a:lnTo>
                    <a:pt x="7911566" y="5475833"/>
                  </a:lnTo>
                  <a:close/>
                </a:path>
                <a:path w="7937500" h="5500370">
                  <a:moveTo>
                    <a:pt x="7911566" y="12179"/>
                  </a:moveTo>
                  <a:lnTo>
                    <a:pt x="7911566" y="5488012"/>
                  </a:lnTo>
                  <a:lnTo>
                    <a:pt x="7925269" y="5475833"/>
                  </a:lnTo>
                  <a:lnTo>
                    <a:pt x="7937449" y="5475833"/>
                  </a:lnTo>
                  <a:lnTo>
                    <a:pt x="7937449" y="24371"/>
                  </a:lnTo>
                  <a:lnTo>
                    <a:pt x="7925269" y="24371"/>
                  </a:lnTo>
                  <a:lnTo>
                    <a:pt x="7911566" y="12179"/>
                  </a:lnTo>
                  <a:close/>
                </a:path>
                <a:path w="7937500" h="5500370">
                  <a:moveTo>
                    <a:pt x="7937449" y="5475833"/>
                  </a:moveTo>
                  <a:lnTo>
                    <a:pt x="7925269" y="5475833"/>
                  </a:lnTo>
                  <a:lnTo>
                    <a:pt x="7911566" y="5488012"/>
                  </a:lnTo>
                  <a:lnTo>
                    <a:pt x="7937449" y="5488012"/>
                  </a:lnTo>
                  <a:lnTo>
                    <a:pt x="7937449" y="5475833"/>
                  </a:lnTo>
                  <a:close/>
                </a:path>
                <a:path w="7937500" h="5500370">
                  <a:moveTo>
                    <a:pt x="25869" y="12179"/>
                  </a:moveTo>
                  <a:lnTo>
                    <a:pt x="13703" y="24371"/>
                  </a:lnTo>
                  <a:lnTo>
                    <a:pt x="25869" y="24371"/>
                  </a:lnTo>
                  <a:lnTo>
                    <a:pt x="25869" y="12179"/>
                  </a:lnTo>
                  <a:close/>
                </a:path>
                <a:path w="7937500" h="5500370">
                  <a:moveTo>
                    <a:pt x="7911566" y="12179"/>
                  </a:moveTo>
                  <a:lnTo>
                    <a:pt x="25869" y="12179"/>
                  </a:lnTo>
                  <a:lnTo>
                    <a:pt x="25869" y="24371"/>
                  </a:lnTo>
                  <a:lnTo>
                    <a:pt x="7911566" y="24371"/>
                  </a:lnTo>
                  <a:lnTo>
                    <a:pt x="7911566" y="12179"/>
                  </a:lnTo>
                  <a:close/>
                </a:path>
                <a:path w="7937500" h="5500370">
                  <a:moveTo>
                    <a:pt x="7937449" y="12179"/>
                  </a:moveTo>
                  <a:lnTo>
                    <a:pt x="7911566" y="12179"/>
                  </a:lnTo>
                  <a:lnTo>
                    <a:pt x="7925269" y="24371"/>
                  </a:lnTo>
                  <a:lnTo>
                    <a:pt x="7937449" y="24371"/>
                  </a:lnTo>
                  <a:lnTo>
                    <a:pt x="793744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5">
                <a:latin typeface="Tw Cen MT"/>
                <a:cs typeface="Tw Cen MT"/>
              </a:rPr>
              <a:t> </a:t>
            </a:r>
            <a:r>
              <a:rPr dirty="0" spc="-2315"/>
              <a:t>프로그램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71447" y="1587647"/>
            <a:ext cx="3408045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kruskal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비용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신장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프로그램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kruskal(GraphType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*g)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25047" y="2227384"/>
            <a:ext cx="341122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현재까지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선택된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간선의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수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u</a:t>
            </a:r>
            <a:r>
              <a:rPr dirty="0" sz="1400">
                <a:latin typeface="Gulim"/>
                <a:cs typeface="Gulim"/>
              </a:rPr>
              <a:t>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4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번호</a:t>
            </a:r>
            <a:endParaRPr sz="14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4844" y="2227384"/>
            <a:ext cx="1858645" cy="662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edge_accepted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uset,</a:t>
            </a:r>
            <a:r>
              <a:rPr dirty="0" sz="1400" spc="-20">
                <a:latin typeface="Trebuchet MS"/>
                <a:cs typeface="Trebuchet MS"/>
              </a:rPr>
              <a:t> vset;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55"/>
              </a:lnSpc>
            </a:pP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1853" y="3080367"/>
            <a:ext cx="12103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4844" y="3080367"/>
            <a:ext cx="4206240" cy="449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 spc="-10">
                <a:latin typeface="Trebuchet MS"/>
                <a:cs typeface="Trebuchet MS"/>
              </a:rPr>
              <a:t>set_init(g-</a:t>
            </a:r>
            <a:r>
              <a:rPr dirty="0" sz="1400" spc="-20">
                <a:latin typeface="Trebuchet MS"/>
                <a:cs typeface="Trebuchet MS"/>
              </a:rPr>
              <a:t>&gt;n);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</a:pPr>
            <a:r>
              <a:rPr dirty="0" sz="1400" spc="-10">
                <a:latin typeface="Trebuchet MS"/>
                <a:cs typeface="Trebuchet MS"/>
              </a:rPr>
              <a:t>qsort(g-</a:t>
            </a:r>
            <a:r>
              <a:rPr dirty="0" sz="1400">
                <a:latin typeface="Trebuchet MS"/>
                <a:cs typeface="Trebuchet MS"/>
              </a:rPr>
              <a:t>&gt;edges,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g-&gt;n,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sizeof(struct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Edge),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compare);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4844" y="3720091"/>
            <a:ext cx="3703320" cy="44958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660"/>
              </a:lnSpc>
              <a:spcBef>
                <a:spcPts val="175"/>
              </a:spcBef>
            </a:pP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>
                <a:latin typeface="Gulim"/>
                <a:cs typeface="Gulim"/>
              </a:rPr>
              <a:t>크루스칼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신장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알고리즘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\n");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 =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38443" y="4146582"/>
            <a:ext cx="16192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간선의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&lt; (n-</a:t>
            </a:r>
            <a:r>
              <a:rPr dirty="0" sz="1400" spc="-25">
                <a:latin typeface="Trebuchet MS"/>
                <a:cs typeface="Trebuchet MS"/>
              </a:rPr>
              <a:t>1)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4844" y="4146582"/>
            <a:ext cx="285115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(edge_accepted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(g-&gt;n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1))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g-</a:t>
            </a:r>
            <a:r>
              <a:rPr dirty="0" sz="1400" spc="-10">
                <a:latin typeface="Trebuchet MS"/>
                <a:cs typeface="Trebuchet MS"/>
              </a:rPr>
              <a:t>&gt;edges[i];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uset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set_find(e.start); </a:t>
            </a:r>
            <a:r>
              <a:rPr dirty="0" sz="1400">
                <a:latin typeface="Trebuchet MS"/>
                <a:cs typeface="Trebuchet MS"/>
              </a:rPr>
              <a:t>vset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set_find(e.end);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(uset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vset)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38443" y="4786320"/>
            <a:ext cx="311912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583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u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35">
                <a:latin typeface="Gulim"/>
                <a:cs typeface="Gulim"/>
              </a:rPr>
              <a:t>번호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번호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서로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다르면</a:t>
            </a:r>
            <a:endParaRPr sz="14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1447" y="5426057"/>
            <a:ext cx="7413625" cy="1515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2752725" marR="5080">
              <a:lnSpc>
                <a:spcPts val="1660"/>
              </a:lnSpc>
              <a:spcBef>
                <a:spcPts val="175"/>
              </a:spcBef>
            </a:pP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>
                <a:latin typeface="Gulim"/>
                <a:cs typeface="Gulim"/>
              </a:rPr>
              <a:t>간선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(%d,%d)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선택</a:t>
            </a:r>
            <a:r>
              <a:rPr dirty="0" sz="1400">
                <a:latin typeface="Trebuchet MS"/>
                <a:cs typeface="Trebuchet MS"/>
              </a:rPr>
              <a:t>\n",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e.start,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e.end,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e.weight); edge_accepted++;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ts val="1635"/>
              </a:lnSpc>
            </a:pPr>
            <a:r>
              <a:rPr dirty="0" sz="1400">
                <a:latin typeface="Trebuchet MS"/>
                <a:cs typeface="Trebuchet MS"/>
              </a:rPr>
              <a:t>set_union(uset,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vset);</a:t>
            </a:r>
            <a:r>
              <a:rPr dirty="0" sz="1400" spc="19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두개의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집합을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합친다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838960" marR="5264150">
              <a:lnSpc>
                <a:spcPts val="1680"/>
              </a:lnSpc>
              <a:spcBef>
                <a:spcPts val="40"/>
              </a:spcBef>
            </a:pPr>
            <a:r>
              <a:rPr dirty="0" sz="1400" spc="-50">
                <a:latin typeface="Trebuchet MS"/>
                <a:cs typeface="Trebuchet MS"/>
              </a:rPr>
              <a:t>} </a:t>
            </a:r>
            <a:r>
              <a:rPr dirty="0" sz="1400" spc="-20">
                <a:latin typeface="Trebuchet MS"/>
                <a:cs typeface="Trebuchet MS"/>
              </a:rPr>
              <a:t>i++;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25956" y="2056295"/>
            <a:ext cx="8184515" cy="5150485"/>
            <a:chOff x="1325956" y="2056295"/>
            <a:chExt cx="8184515" cy="515048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38135" y="2068474"/>
              <a:ext cx="7912100" cy="4399280"/>
            </a:xfrm>
            <a:custGeom>
              <a:avLst/>
              <a:gdLst/>
              <a:ahLst/>
              <a:cxnLst/>
              <a:rect l="l" t="t" r="r" b="b"/>
              <a:pathLst>
                <a:path w="7912100" h="4399280">
                  <a:moveTo>
                    <a:pt x="7911566" y="0"/>
                  </a:moveTo>
                  <a:lnTo>
                    <a:pt x="0" y="0"/>
                  </a:lnTo>
                  <a:lnTo>
                    <a:pt x="0" y="4398949"/>
                  </a:lnTo>
                  <a:lnTo>
                    <a:pt x="7911566" y="4398949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25956" y="2056295"/>
              <a:ext cx="7936230" cy="4425315"/>
            </a:xfrm>
            <a:custGeom>
              <a:avLst/>
              <a:gdLst/>
              <a:ahLst/>
              <a:cxnLst/>
              <a:rect l="l" t="t" r="r" b="b"/>
              <a:pathLst>
                <a:path w="7936230" h="4425315">
                  <a:moveTo>
                    <a:pt x="7935925" y="0"/>
                  </a:moveTo>
                  <a:lnTo>
                    <a:pt x="0" y="0"/>
                  </a:lnTo>
                  <a:lnTo>
                    <a:pt x="0" y="4424845"/>
                  </a:lnTo>
                  <a:lnTo>
                    <a:pt x="7935925" y="4424845"/>
                  </a:lnTo>
                  <a:lnTo>
                    <a:pt x="7935925" y="4411129"/>
                  </a:lnTo>
                  <a:lnTo>
                    <a:pt x="25882" y="4411129"/>
                  </a:lnTo>
                  <a:lnTo>
                    <a:pt x="12179" y="4398949"/>
                  </a:lnTo>
                  <a:lnTo>
                    <a:pt x="25882" y="4398949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2179"/>
                  </a:lnTo>
                  <a:lnTo>
                    <a:pt x="7935925" y="12179"/>
                  </a:lnTo>
                  <a:lnTo>
                    <a:pt x="7935925" y="0"/>
                  </a:lnTo>
                  <a:close/>
                </a:path>
                <a:path w="7936230" h="4425315">
                  <a:moveTo>
                    <a:pt x="25882" y="4398949"/>
                  </a:moveTo>
                  <a:lnTo>
                    <a:pt x="12179" y="4398949"/>
                  </a:lnTo>
                  <a:lnTo>
                    <a:pt x="25882" y="4411129"/>
                  </a:lnTo>
                  <a:lnTo>
                    <a:pt x="25882" y="4398949"/>
                  </a:lnTo>
                  <a:close/>
                </a:path>
                <a:path w="7936230" h="4425315">
                  <a:moveTo>
                    <a:pt x="7911566" y="4398949"/>
                  </a:moveTo>
                  <a:lnTo>
                    <a:pt x="25882" y="4398949"/>
                  </a:lnTo>
                  <a:lnTo>
                    <a:pt x="25882" y="4411129"/>
                  </a:lnTo>
                  <a:lnTo>
                    <a:pt x="7911566" y="4411129"/>
                  </a:lnTo>
                  <a:lnTo>
                    <a:pt x="7911566" y="4398949"/>
                  </a:lnTo>
                  <a:close/>
                </a:path>
                <a:path w="7936230" h="4425315">
                  <a:moveTo>
                    <a:pt x="7911566" y="12179"/>
                  </a:moveTo>
                  <a:lnTo>
                    <a:pt x="7911566" y="4411129"/>
                  </a:lnTo>
                  <a:lnTo>
                    <a:pt x="7923745" y="4398949"/>
                  </a:lnTo>
                  <a:lnTo>
                    <a:pt x="7935925" y="4398949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79"/>
                  </a:lnTo>
                  <a:close/>
                </a:path>
                <a:path w="7936230" h="4425315">
                  <a:moveTo>
                    <a:pt x="7935925" y="4398949"/>
                  </a:moveTo>
                  <a:lnTo>
                    <a:pt x="7923745" y="4398949"/>
                  </a:lnTo>
                  <a:lnTo>
                    <a:pt x="7911566" y="4411129"/>
                  </a:lnTo>
                  <a:lnTo>
                    <a:pt x="7935925" y="4411129"/>
                  </a:lnTo>
                  <a:lnTo>
                    <a:pt x="7935925" y="4398949"/>
                  </a:lnTo>
                  <a:close/>
                </a:path>
                <a:path w="7936230" h="4425315">
                  <a:moveTo>
                    <a:pt x="25882" y="12179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6230" h="4425315">
                  <a:moveTo>
                    <a:pt x="7911566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2179"/>
                  </a:lnTo>
                  <a:close/>
                </a:path>
                <a:path w="7936230" h="4425315">
                  <a:moveTo>
                    <a:pt x="7935925" y="12179"/>
                  </a:moveTo>
                  <a:lnTo>
                    <a:pt x="7911566" y="12179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Tw Cen MT"/>
                <a:cs typeface="Tw Cen MT"/>
              </a:rPr>
              <a:t>Kruskal</a:t>
            </a:r>
            <a:r>
              <a:rPr dirty="0" spc="-235"/>
              <a:t>의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5">
                <a:latin typeface="Tw Cen MT"/>
                <a:cs typeface="Tw Cen MT"/>
              </a:rPr>
              <a:t> </a:t>
            </a:r>
            <a:r>
              <a:rPr dirty="0" spc="-2315"/>
              <a:t>프로그램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16405" y="2095126"/>
            <a:ext cx="4487545" cy="4291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*g;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g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20">
                <a:latin typeface="Trebuchet MS"/>
                <a:cs typeface="Trebuchet MS"/>
              </a:rPr>
              <a:t>(GraphType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*)malloc(sizeof(GraphType)); graph_init(g);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29);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16);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12);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4,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22);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4,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5,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27);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5,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10);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6,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15);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6,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18);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insert_edge(g,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6,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4,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25);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270383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kruskal(g); free(g);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5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5956" y="2056295"/>
            <a:ext cx="7936230" cy="1625600"/>
            <a:chOff x="1325956" y="2056295"/>
            <a:chExt cx="7936230" cy="1625600"/>
          </a:xfrm>
        </p:grpSpPr>
        <p:sp>
          <p:nvSpPr>
            <p:cNvPr id="4" name="object 4"/>
            <p:cNvSpPr/>
            <p:nvPr/>
          </p:nvSpPr>
          <p:spPr>
            <a:xfrm>
              <a:off x="1338135" y="2068487"/>
              <a:ext cx="7912100" cy="1599565"/>
            </a:xfrm>
            <a:custGeom>
              <a:avLst/>
              <a:gdLst/>
              <a:ahLst/>
              <a:cxnLst/>
              <a:rect l="l" t="t" r="r" b="b"/>
              <a:pathLst>
                <a:path w="7912100" h="1599564">
                  <a:moveTo>
                    <a:pt x="7911566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7911566" y="159933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5956" y="2056295"/>
              <a:ext cx="7936230" cy="1625600"/>
            </a:xfrm>
            <a:custGeom>
              <a:avLst/>
              <a:gdLst/>
              <a:ahLst/>
              <a:cxnLst/>
              <a:rect l="l" t="t" r="r" b="b"/>
              <a:pathLst>
                <a:path w="7936230" h="1625600">
                  <a:moveTo>
                    <a:pt x="7935925" y="0"/>
                  </a:moveTo>
                  <a:lnTo>
                    <a:pt x="0" y="0"/>
                  </a:lnTo>
                  <a:lnTo>
                    <a:pt x="0" y="1625231"/>
                  </a:lnTo>
                  <a:lnTo>
                    <a:pt x="7935925" y="1625231"/>
                  </a:lnTo>
                  <a:lnTo>
                    <a:pt x="7935925" y="1611528"/>
                  </a:lnTo>
                  <a:lnTo>
                    <a:pt x="25882" y="1611528"/>
                  </a:lnTo>
                  <a:lnTo>
                    <a:pt x="12179" y="1599336"/>
                  </a:lnTo>
                  <a:lnTo>
                    <a:pt x="25882" y="1599336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2179"/>
                  </a:lnTo>
                  <a:lnTo>
                    <a:pt x="7935925" y="12179"/>
                  </a:lnTo>
                  <a:lnTo>
                    <a:pt x="7935925" y="0"/>
                  </a:lnTo>
                  <a:close/>
                </a:path>
                <a:path w="7936230" h="1625600">
                  <a:moveTo>
                    <a:pt x="25882" y="1599336"/>
                  </a:moveTo>
                  <a:lnTo>
                    <a:pt x="12179" y="1599336"/>
                  </a:lnTo>
                  <a:lnTo>
                    <a:pt x="25882" y="1611528"/>
                  </a:lnTo>
                  <a:lnTo>
                    <a:pt x="25882" y="1599336"/>
                  </a:lnTo>
                  <a:close/>
                </a:path>
                <a:path w="7936230" h="1625600">
                  <a:moveTo>
                    <a:pt x="7911566" y="1599336"/>
                  </a:moveTo>
                  <a:lnTo>
                    <a:pt x="25882" y="1599336"/>
                  </a:lnTo>
                  <a:lnTo>
                    <a:pt x="25882" y="1611528"/>
                  </a:lnTo>
                  <a:lnTo>
                    <a:pt x="7911566" y="1611528"/>
                  </a:lnTo>
                  <a:lnTo>
                    <a:pt x="7911566" y="1599336"/>
                  </a:lnTo>
                  <a:close/>
                </a:path>
                <a:path w="7936230" h="1625600">
                  <a:moveTo>
                    <a:pt x="7911566" y="12179"/>
                  </a:moveTo>
                  <a:lnTo>
                    <a:pt x="7911566" y="1611528"/>
                  </a:lnTo>
                  <a:lnTo>
                    <a:pt x="7923745" y="1599336"/>
                  </a:lnTo>
                  <a:lnTo>
                    <a:pt x="7935925" y="1599336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79"/>
                  </a:lnTo>
                  <a:close/>
                </a:path>
                <a:path w="7936230" h="1625600">
                  <a:moveTo>
                    <a:pt x="7935925" y="1599336"/>
                  </a:moveTo>
                  <a:lnTo>
                    <a:pt x="7923745" y="1599336"/>
                  </a:lnTo>
                  <a:lnTo>
                    <a:pt x="7911566" y="1611528"/>
                  </a:lnTo>
                  <a:lnTo>
                    <a:pt x="7935925" y="1611528"/>
                  </a:lnTo>
                  <a:lnTo>
                    <a:pt x="7935925" y="1599336"/>
                  </a:lnTo>
                  <a:close/>
                </a:path>
                <a:path w="7936230" h="1625600">
                  <a:moveTo>
                    <a:pt x="25882" y="12179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6230" h="1625600">
                  <a:moveTo>
                    <a:pt x="7911566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2179"/>
                  </a:lnTo>
                  <a:close/>
                </a:path>
                <a:path w="7936230" h="1625600">
                  <a:moveTo>
                    <a:pt x="7935925" y="12179"/>
                  </a:moveTo>
                  <a:lnTo>
                    <a:pt x="7911566" y="12179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416405" y="2098162"/>
            <a:ext cx="2729230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크루스칼</a:t>
            </a:r>
            <a:r>
              <a:rPr dirty="0" sz="1400" spc="-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최소</a:t>
            </a:r>
            <a:r>
              <a:rPr dirty="0" sz="1400" spc="-5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신장</a:t>
            </a:r>
            <a:r>
              <a:rPr dirty="0" sz="1400" spc="-5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트리</a:t>
            </a:r>
            <a:r>
              <a:rPr dirty="0" sz="1400" spc="-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알고리즘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간선</a:t>
            </a:r>
            <a:r>
              <a:rPr dirty="0" sz="14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(5,0)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10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8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간선</a:t>
            </a:r>
            <a:r>
              <a:rPr dirty="0" sz="14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(2,3)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12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간선</a:t>
            </a:r>
            <a:r>
              <a:rPr dirty="0" sz="14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(6,1)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15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간선</a:t>
            </a:r>
            <a:r>
              <a:rPr dirty="0" sz="14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(1,2)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16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간선</a:t>
            </a:r>
            <a:r>
              <a:rPr dirty="0" sz="14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(3,4)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22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간선</a:t>
            </a:r>
            <a:r>
              <a:rPr dirty="0" sz="1400" spc="-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(4,5)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27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7563" y="4263377"/>
            <a:ext cx="1861807" cy="20425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42388" y="4267742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97430" y="5752106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1678" y="5977010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1510" y="4312726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1943" y="5077393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6779" y="4197904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9468" y="4521530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7573" y="5457363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67128" y="530095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19363" y="6042109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96514" y="543588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1027" y="5167360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07867" y="4716191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1737" y="462623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37254" y="3997369"/>
            <a:ext cx="984885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 spc="-10">
                <a:latin typeface="Trebuchet MS"/>
                <a:cs typeface="Trebuchet MS"/>
              </a:rPr>
              <a:t>Vertex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</a:t>
            </a:r>
            <a:r>
              <a:rPr dirty="0" sz="1400" spc="-25">
                <a:latin typeface="Gulim"/>
                <a:cs typeface="Gulim"/>
              </a:rPr>
              <a:t>개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9</a:t>
            </a:r>
            <a:r>
              <a:rPr dirty="0" sz="1400" spc="-25">
                <a:latin typeface="Gulim"/>
                <a:cs typeface="Gulim"/>
              </a:rPr>
              <a:t>개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Kruskal</a:t>
            </a:r>
            <a:r>
              <a:rPr dirty="0" spc="30">
                <a:latin typeface="Tw Cen MT"/>
                <a:cs typeface="Tw Cen MT"/>
              </a:rPr>
              <a:t> </a:t>
            </a:r>
            <a:r>
              <a:rPr dirty="0" spc="-1775"/>
              <a:t>가상실습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>
                <a:latin typeface="Arial"/>
                <a:cs typeface="Arial"/>
              </a:rPr>
              <a:t>Kruskal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 spc="-20"/>
              <a:t>가상실습을</a:t>
            </a:r>
            <a:r>
              <a:rPr dirty="0" spc="-180"/>
              <a:t> </a:t>
            </a:r>
            <a:r>
              <a:rPr dirty="0" spc="-20">
                <a:latin typeface="Arial"/>
                <a:cs typeface="Arial"/>
              </a:rPr>
              <a:t>29-</a:t>
            </a:r>
            <a:r>
              <a:rPr dirty="0" spc="-10">
                <a:latin typeface="Arial"/>
                <a:cs typeface="Arial"/>
              </a:rPr>
              <a:t>&gt;MST</a:t>
            </a:r>
            <a:r>
              <a:rPr dirty="0" spc="-10"/>
              <a:t>로</a:t>
            </a:r>
            <a:r>
              <a:rPr dirty="0" spc="-180"/>
              <a:t> </a:t>
            </a:r>
            <a:r>
              <a:rPr dirty="0" spc="-25"/>
              <a:t>알아봄</a:t>
            </a:r>
          </a:p>
          <a:p>
            <a:pPr marL="4643120">
              <a:lnSpc>
                <a:spcPct val="100000"/>
              </a:lnSpc>
              <a:spcBef>
                <a:spcPts val="680"/>
              </a:spcBef>
            </a:pPr>
            <a:r>
              <a:rPr dirty="0" sz="1400"/>
              <a:t>연산의</a:t>
            </a:r>
            <a:r>
              <a:rPr dirty="0" sz="1400" spc="-95"/>
              <a:t> </a:t>
            </a:r>
            <a:r>
              <a:rPr dirty="0" sz="1400"/>
              <a:t>종류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Kruskal</a:t>
            </a:r>
            <a:endParaRPr sz="1400">
              <a:latin typeface="Arial"/>
              <a:cs typeface="Arial"/>
            </a:endParaRPr>
          </a:p>
          <a:p>
            <a:pPr marL="4643120">
              <a:lnSpc>
                <a:spcPct val="100000"/>
              </a:lnSpc>
              <a:spcBef>
                <a:spcPts val="695"/>
              </a:spcBef>
            </a:pPr>
            <a:r>
              <a:rPr dirty="0" sz="1400"/>
              <a:t>정점의</a:t>
            </a:r>
            <a:r>
              <a:rPr dirty="0" sz="1400" spc="-95"/>
              <a:t> </a:t>
            </a:r>
            <a:r>
              <a:rPr dirty="0" sz="1400"/>
              <a:t>개수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더블클릭하면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만들어진다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70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정점들을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드래그하여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만든다</a:t>
            </a:r>
            <a:endParaRPr sz="1400">
              <a:latin typeface="Gulim"/>
              <a:cs typeface="Gulim"/>
            </a:endParaRPr>
          </a:p>
          <a:p>
            <a:pPr lvl="1" marL="4643120" marR="5080" indent="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이동하고자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하는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경우에는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ctrl</a:t>
            </a:r>
            <a:r>
              <a:rPr dirty="0" sz="1400">
                <a:latin typeface="Gulim"/>
                <a:cs typeface="Gulim"/>
              </a:rPr>
              <a:t>키를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누른 </a:t>
            </a:r>
            <a:r>
              <a:rPr dirty="0" sz="1400">
                <a:latin typeface="Gulim"/>
                <a:cs typeface="Gulim"/>
              </a:rPr>
              <a:t>채로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원하는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드래그한다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886" y="2281720"/>
            <a:ext cx="4187939" cy="31849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70395" y="1619135"/>
            <a:ext cx="3174365" cy="5587365"/>
            <a:chOff x="6570395" y="1619135"/>
            <a:chExt cx="3174365" cy="5587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0451" y="4010532"/>
              <a:ext cx="3034017" cy="31407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0395" y="1619135"/>
              <a:ext cx="3129915" cy="6854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8658" y="2338082"/>
              <a:ext cx="2741339" cy="166635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60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45"/>
              <a:t> </a:t>
            </a:r>
            <a:r>
              <a:rPr dirty="0" sz="3200" spc="-1445"/>
              <a:t>한줄</a:t>
            </a:r>
            <a:r>
              <a:rPr dirty="0" sz="3200" spc="-165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75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0"/>
              <a:t> </a:t>
            </a:r>
            <a:r>
              <a:rPr dirty="0" sz="3200" spc="-1370"/>
              <a:t>그림과</a:t>
            </a:r>
            <a:r>
              <a:rPr dirty="0" sz="3200" spc="-175"/>
              <a:t> </a:t>
            </a:r>
            <a:r>
              <a:rPr dirty="0" sz="3200" spc="-350">
                <a:latin typeface="Tw Cen MT"/>
                <a:cs typeface="Tw Cen MT"/>
              </a:rPr>
              <a:t>VS</a:t>
            </a:r>
            <a:r>
              <a:rPr dirty="0" sz="3200" spc="-350"/>
              <a:t>같이</a:t>
            </a:r>
            <a:r>
              <a:rPr dirty="0" sz="3200" spc="-350">
                <a:latin typeface="Tw Cen MT"/>
                <a:cs typeface="Tw Cen MT"/>
              </a:rPr>
              <a:t>(1/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6751" y="1917758"/>
            <a:ext cx="4993005" cy="1088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10">
                <a:latin typeface="Arial"/>
                <a:cs typeface="Arial"/>
              </a:rPr>
              <a:t> kruskal_change.c</a:t>
            </a:r>
            <a:r>
              <a:rPr dirty="0" sz="1600" spc="-10">
                <a:latin typeface="Gulim"/>
                <a:cs typeface="Gulim"/>
              </a:rPr>
              <a:t>의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그래프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자료구조가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처음보는 </a:t>
            </a:r>
            <a:r>
              <a:rPr dirty="0" sz="1600">
                <a:latin typeface="Gulim"/>
                <a:cs typeface="Gulim"/>
              </a:rPr>
              <a:t>구조입니다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10</a:t>
            </a:r>
            <a:r>
              <a:rPr dirty="0" sz="1600">
                <a:latin typeface="Gulim"/>
                <a:cs typeface="Gulim"/>
              </a:rPr>
              <a:t>장의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adj_mat</a:t>
            </a:r>
            <a:r>
              <a:rPr dirty="0" sz="1600" spc="-10">
                <a:latin typeface="Gulim"/>
                <a:cs typeface="Gulim"/>
              </a:rPr>
              <a:t>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아니고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adj_list</a:t>
            </a:r>
            <a:r>
              <a:rPr dirty="0" sz="1600" spc="-10">
                <a:latin typeface="Gulim"/>
                <a:cs typeface="Gulim"/>
              </a:rPr>
              <a:t>구조도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아 </a:t>
            </a:r>
            <a:r>
              <a:rPr dirty="0" sz="1600" spc="-20">
                <a:latin typeface="Gulim"/>
                <a:cs typeface="Gulim"/>
              </a:rPr>
              <a:t>닙니다</a:t>
            </a:r>
            <a:r>
              <a:rPr dirty="0" sz="1600" spc="-2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9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그래프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자료구조는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edge</a:t>
            </a:r>
            <a:r>
              <a:rPr dirty="0" sz="1600" spc="-10">
                <a:latin typeface="Gulim"/>
                <a:cs typeface="Gulim"/>
              </a:rPr>
              <a:t>로만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구성되어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있습니다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4487" y="4781270"/>
            <a:ext cx="1861807" cy="20441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69325" y="478602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4367" y="6270400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88615" y="6495305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8447" y="4831013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8880" y="5595692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53716" y="4716191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6405" y="5039805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44510" y="597565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94065" y="581923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6300" y="656040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23451" y="595418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17964" y="5685647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34804" y="523449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98674" y="5144523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74275" y="4807044"/>
            <a:ext cx="984885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 spc="-10">
                <a:latin typeface="Trebuchet MS"/>
                <a:cs typeface="Trebuchet MS"/>
              </a:rPr>
              <a:t>Vertex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</a:t>
            </a:r>
            <a:r>
              <a:rPr dirty="0" sz="1400" spc="-25">
                <a:latin typeface="Gulim"/>
                <a:cs typeface="Gulim"/>
              </a:rPr>
              <a:t>개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9</a:t>
            </a:r>
            <a:r>
              <a:rPr dirty="0" sz="1400" spc="-25">
                <a:latin typeface="Gulim"/>
                <a:cs typeface="Gulim"/>
              </a:rPr>
              <a:t>개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2880" y="3249010"/>
            <a:ext cx="2615401" cy="562648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8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1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(2/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73258"/>
            <a:ext cx="5314315" cy="2176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교재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그림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60">
                <a:latin typeface="Arial"/>
                <a:cs typeface="Arial"/>
              </a:rPr>
              <a:t>11-</a:t>
            </a:r>
            <a:r>
              <a:rPr dirty="0" sz="1600">
                <a:latin typeface="Arial"/>
                <a:cs typeface="Arial"/>
              </a:rPr>
              <a:t>4 </a:t>
            </a:r>
            <a:r>
              <a:rPr dirty="0" sz="1600" spc="-10">
                <a:latin typeface="Arial"/>
                <a:cs typeface="Arial"/>
              </a:rPr>
              <a:t>8</a:t>
            </a:r>
            <a:r>
              <a:rPr dirty="0" sz="1600" spc="-10">
                <a:latin typeface="Gulim"/>
                <a:cs typeface="Gulim"/>
              </a:rPr>
              <a:t>단계를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VS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한줄씩수행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및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변수보기와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비교 </a:t>
            </a:r>
            <a:r>
              <a:rPr dirty="0" sz="1600" spc="-20">
                <a:latin typeface="Gulim"/>
                <a:cs typeface="Gulim"/>
              </a:rPr>
              <a:t>합니다</a:t>
            </a:r>
            <a:r>
              <a:rPr dirty="0" sz="1600" spc="-2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r>
              <a:rPr dirty="0" sz="1600">
                <a:latin typeface="Gulim"/>
                <a:cs typeface="Gulim"/>
              </a:rPr>
              <a:t>단계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edge</a:t>
            </a:r>
            <a:r>
              <a:rPr dirty="0" sz="1600" spc="-10">
                <a:latin typeface="Gulim"/>
                <a:cs typeface="Gulim"/>
              </a:rPr>
              <a:t>들을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오름차순으로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정렬한다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3533775">
              <a:lnSpc>
                <a:spcPct val="136200"/>
              </a:lnSpc>
              <a:spcBef>
                <a:spcPts val="15"/>
              </a:spcBef>
            </a:pPr>
            <a:r>
              <a:rPr dirty="0" sz="1600">
                <a:latin typeface="Arial"/>
                <a:cs typeface="Arial"/>
              </a:rPr>
              <a:t>78</a:t>
            </a:r>
            <a:r>
              <a:rPr dirty="0" sz="1600">
                <a:latin typeface="Gulim"/>
                <a:cs typeface="Gulim"/>
              </a:rPr>
              <a:t>번줄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중단점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설정 </a:t>
            </a:r>
            <a:r>
              <a:rPr dirty="0" sz="1600">
                <a:latin typeface="Gulim"/>
                <a:cs typeface="Gulim"/>
              </a:rPr>
              <a:t>디버깅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시작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600">
                <a:latin typeface="Arial"/>
                <a:cs typeface="Arial"/>
              </a:rPr>
              <a:t>Step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over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00" spc="-10">
                <a:latin typeface="Arial"/>
                <a:cs typeface="Arial"/>
              </a:rPr>
              <a:t>qsort()</a:t>
            </a:r>
            <a:r>
              <a:rPr dirty="0" sz="1600" spc="-10">
                <a:latin typeface="Gulim"/>
                <a:cs typeface="Gulim"/>
              </a:rPr>
              <a:t>로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edge</a:t>
            </a:r>
            <a:r>
              <a:rPr dirty="0" sz="1600" spc="-10">
                <a:latin typeface="Gulim"/>
                <a:cs typeface="Gulim"/>
              </a:rPr>
              <a:t>들이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오름차순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정렬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확인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9796" y="1888744"/>
            <a:ext cx="3044672" cy="11241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78865" y="3114903"/>
            <a:ext cx="8776335" cy="3992879"/>
            <a:chOff x="978865" y="3114903"/>
            <a:chExt cx="8776335" cy="399287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9076" y="3124047"/>
              <a:ext cx="3645206" cy="27268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959944" y="3114903"/>
              <a:ext cx="3795395" cy="2775585"/>
            </a:xfrm>
            <a:custGeom>
              <a:avLst/>
              <a:gdLst/>
              <a:ahLst/>
              <a:cxnLst/>
              <a:rect l="l" t="t" r="r" b="b"/>
              <a:pathLst>
                <a:path w="3795395" h="2775585">
                  <a:moveTo>
                    <a:pt x="3795179" y="0"/>
                  </a:moveTo>
                  <a:lnTo>
                    <a:pt x="0" y="0"/>
                  </a:lnTo>
                  <a:lnTo>
                    <a:pt x="0" y="2775242"/>
                  </a:lnTo>
                  <a:lnTo>
                    <a:pt x="3795179" y="2775242"/>
                  </a:lnTo>
                  <a:lnTo>
                    <a:pt x="3795179" y="2770670"/>
                  </a:lnTo>
                  <a:lnTo>
                    <a:pt x="9131" y="2770670"/>
                  </a:lnTo>
                  <a:lnTo>
                    <a:pt x="4559" y="2766098"/>
                  </a:lnTo>
                  <a:lnTo>
                    <a:pt x="9131" y="2766098"/>
                  </a:lnTo>
                  <a:lnTo>
                    <a:pt x="9131" y="9144"/>
                  </a:lnTo>
                  <a:lnTo>
                    <a:pt x="4559" y="9144"/>
                  </a:lnTo>
                  <a:lnTo>
                    <a:pt x="9131" y="4572"/>
                  </a:lnTo>
                  <a:lnTo>
                    <a:pt x="3795179" y="4572"/>
                  </a:lnTo>
                  <a:lnTo>
                    <a:pt x="3795179" y="0"/>
                  </a:lnTo>
                  <a:close/>
                </a:path>
                <a:path w="3795395" h="2775585">
                  <a:moveTo>
                    <a:pt x="9131" y="2766098"/>
                  </a:moveTo>
                  <a:lnTo>
                    <a:pt x="4559" y="2766098"/>
                  </a:lnTo>
                  <a:lnTo>
                    <a:pt x="9131" y="2770670"/>
                  </a:lnTo>
                  <a:lnTo>
                    <a:pt x="9131" y="2766098"/>
                  </a:lnTo>
                  <a:close/>
                </a:path>
                <a:path w="3795395" h="2775585">
                  <a:moveTo>
                    <a:pt x="3784523" y="2766098"/>
                  </a:moveTo>
                  <a:lnTo>
                    <a:pt x="9131" y="2766098"/>
                  </a:lnTo>
                  <a:lnTo>
                    <a:pt x="9131" y="2770670"/>
                  </a:lnTo>
                  <a:lnTo>
                    <a:pt x="3784523" y="2770670"/>
                  </a:lnTo>
                  <a:lnTo>
                    <a:pt x="3784523" y="2766098"/>
                  </a:lnTo>
                  <a:close/>
                </a:path>
                <a:path w="3795395" h="2775585">
                  <a:moveTo>
                    <a:pt x="3784523" y="4572"/>
                  </a:moveTo>
                  <a:lnTo>
                    <a:pt x="3784523" y="2770670"/>
                  </a:lnTo>
                  <a:lnTo>
                    <a:pt x="3790607" y="2766098"/>
                  </a:lnTo>
                  <a:lnTo>
                    <a:pt x="3795179" y="2766098"/>
                  </a:lnTo>
                  <a:lnTo>
                    <a:pt x="3795179" y="9144"/>
                  </a:lnTo>
                  <a:lnTo>
                    <a:pt x="3790607" y="9144"/>
                  </a:lnTo>
                  <a:lnTo>
                    <a:pt x="3784523" y="4572"/>
                  </a:lnTo>
                  <a:close/>
                </a:path>
                <a:path w="3795395" h="2775585">
                  <a:moveTo>
                    <a:pt x="3795179" y="2766098"/>
                  </a:moveTo>
                  <a:lnTo>
                    <a:pt x="3790607" y="2766098"/>
                  </a:lnTo>
                  <a:lnTo>
                    <a:pt x="3784523" y="2770670"/>
                  </a:lnTo>
                  <a:lnTo>
                    <a:pt x="3795179" y="2770670"/>
                  </a:lnTo>
                  <a:lnTo>
                    <a:pt x="3795179" y="2766098"/>
                  </a:lnTo>
                  <a:close/>
                </a:path>
                <a:path w="3795395" h="2775585">
                  <a:moveTo>
                    <a:pt x="9131" y="4572"/>
                  </a:moveTo>
                  <a:lnTo>
                    <a:pt x="4559" y="9144"/>
                  </a:lnTo>
                  <a:lnTo>
                    <a:pt x="9131" y="9144"/>
                  </a:lnTo>
                  <a:lnTo>
                    <a:pt x="9131" y="4572"/>
                  </a:lnTo>
                  <a:close/>
                </a:path>
                <a:path w="3795395" h="2775585">
                  <a:moveTo>
                    <a:pt x="3784523" y="4572"/>
                  </a:moveTo>
                  <a:lnTo>
                    <a:pt x="9131" y="4572"/>
                  </a:lnTo>
                  <a:lnTo>
                    <a:pt x="9131" y="9144"/>
                  </a:lnTo>
                  <a:lnTo>
                    <a:pt x="3784523" y="9144"/>
                  </a:lnTo>
                  <a:lnTo>
                    <a:pt x="3784523" y="4572"/>
                  </a:lnTo>
                  <a:close/>
                </a:path>
                <a:path w="3795395" h="2775585">
                  <a:moveTo>
                    <a:pt x="3795179" y="4572"/>
                  </a:moveTo>
                  <a:lnTo>
                    <a:pt x="3784523" y="4572"/>
                  </a:lnTo>
                  <a:lnTo>
                    <a:pt x="3790607" y="9144"/>
                  </a:lnTo>
                  <a:lnTo>
                    <a:pt x="3795179" y="9144"/>
                  </a:lnTo>
                  <a:lnTo>
                    <a:pt x="3795179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865" y="4165904"/>
              <a:ext cx="3035541" cy="29412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5704" y="5385968"/>
              <a:ext cx="2122131" cy="167549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8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1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(3/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784302"/>
            <a:ext cx="6171565" cy="10236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94100">
              <a:lnSpc>
                <a:spcPct val="136200"/>
              </a:lnSpc>
              <a:spcBef>
                <a:spcPts val="100"/>
              </a:spcBef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qsort()</a:t>
            </a:r>
            <a:r>
              <a:rPr dirty="0" sz="1600" spc="-10">
                <a:latin typeface="Gulim"/>
                <a:cs typeface="Gulim"/>
              </a:rPr>
              <a:t>가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무었인가요</a:t>
            </a:r>
            <a:r>
              <a:rPr dirty="0" sz="1600" spc="-10">
                <a:latin typeface="Arial"/>
                <a:cs typeface="Arial"/>
              </a:rPr>
              <a:t>? </a:t>
            </a: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qsort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클릭후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25">
                <a:latin typeface="Arial"/>
                <a:cs typeface="Arial"/>
              </a:rPr>
              <a:t>F1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VS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세계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최고네요</a:t>
            </a:r>
            <a:r>
              <a:rPr dirty="0" sz="1600">
                <a:latin typeface="Arial"/>
                <a:cs typeface="Arial"/>
              </a:rPr>
              <a:t>. </a:t>
            </a:r>
            <a:r>
              <a:rPr dirty="0" sz="1600">
                <a:latin typeface="Gulim"/>
                <a:cs typeface="Gulim"/>
              </a:rPr>
              <a:t>함수에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설명도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쉽게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있어서요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8865" y="4165904"/>
            <a:ext cx="5179060" cy="2941320"/>
            <a:chOff x="978865" y="4165904"/>
            <a:chExt cx="5179060" cy="2941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865" y="4165904"/>
              <a:ext cx="3035541" cy="29412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5704" y="5385968"/>
              <a:ext cx="2122131" cy="167549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28077" y="6954390"/>
            <a:ext cx="55181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사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267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</a:pPr>
            <a:r>
              <a:rPr dirty="0" sz="2400" spc="-520">
                <a:latin typeface="Tw Cen MT"/>
                <a:cs typeface="Tw Cen MT"/>
              </a:rPr>
              <a:t>8</a:t>
            </a:r>
            <a:r>
              <a:rPr dirty="0" sz="2400" spc="-520"/>
              <a:t>단계</a:t>
            </a:r>
            <a:r>
              <a:rPr dirty="0" sz="2400" spc="-114"/>
              <a:t> </a:t>
            </a:r>
            <a:r>
              <a:rPr dirty="0" sz="2400" spc="-1420"/>
              <a:t>중</a:t>
            </a:r>
            <a:r>
              <a:rPr dirty="0" sz="2400" spc="-135"/>
              <a:t> </a:t>
            </a:r>
            <a:r>
              <a:rPr dirty="0" sz="2400" spc="-520">
                <a:latin typeface="Tw Cen MT"/>
                <a:cs typeface="Tw Cen MT"/>
              </a:rPr>
              <a:t>4</a:t>
            </a:r>
            <a:r>
              <a:rPr dirty="0" sz="2400" spc="-520"/>
              <a:t>단계</a:t>
            </a:r>
            <a:r>
              <a:rPr dirty="0" sz="2400" spc="-110"/>
              <a:t> </a:t>
            </a:r>
            <a:r>
              <a:rPr dirty="0" sz="2400" spc="-430">
                <a:latin typeface="Tw Cen MT"/>
                <a:cs typeface="Tw Cen MT"/>
              </a:rPr>
              <a:t>bc</a:t>
            </a:r>
            <a:r>
              <a:rPr dirty="0" sz="2400" spc="-430"/>
              <a:t>간선</a:t>
            </a:r>
            <a:r>
              <a:rPr dirty="0" sz="2400" spc="-114"/>
              <a:t> </a:t>
            </a:r>
            <a:r>
              <a:rPr dirty="0" sz="2400" spc="-590">
                <a:latin typeface="Tw Cen MT"/>
                <a:cs typeface="Tw Cen MT"/>
              </a:rPr>
              <a:t>(1</a:t>
            </a:r>
            <a:r>
              <a:rPr dirty="0" sz="2400" spc="-590"/>
              <a:t>번정점과</a:t>
            </a:r>
            <a:r>
              <a:rPr dirty="0" sz="2400" spc="-110"/>
              <a:t> </a:t>
            </a:r>
            <a:r>
              <a:rPr dirty="0" sz="2400" spc="-630">
                <a:latin typeface="Tw Cen MT"/>
                <a:cs typeface="Tw Cen MT"/>
              </a:rPr>
              <a:t>2</a:t>
            </a:r>
            <a:r>
              <a:rPr dirty="0" sz="2400" spc="-630"/>
              <a:t>번정점</a:t>
            </a:r>
            <a:r>
              <a:rPr dirty="0" sz="2400" spc="-630">
                <a:latin typeface="Tw Cen MT"/>
                <a:cs typeface="Tw Cen MT"/>
              </a:rPr>
              <a:t>)</a:t>
            </a:r>
            <a:r>
              <a:rPr dirty="0" sz="2400" spc="-630"/>
              <a:t>이</a:t>
            </a:r>
            <a:r>
              <a:rPr dirty="0" sz="2400" spc="-125"/>
              <a:t> </a:t>
            </a:r>
            <a:r>
              <a:rPr dirty="0" sz="2400" spc="-210">
                <a:latin typeface="Tw Cen MT"/>
                <a:cs typeface="Tw Cen MT"/>
              </a:rPr>
              <a:t>MST</a:t>
            </a:r>
            <a:r>
              <a:rPr dirty="0" sz="2400" spc="-210"/>
              <a:t>에</a:t>
            </a:r>
            <a:r>
              <a:rPr dirty="0" sz="2400" spc="-120"/>
              <a:t> </a:t>
            </a:r>
            <a:r>
              <a:rPr dirty="0" sz="2400" spc="-1155"/>
              <a:t>포함되는</a:t>
            </a:r>
            <a:r>
              <a:rPr dirty="0" sz="2400" spc="-130"/>
              <a:t> </a:t>
            </a:r>
            <a:r>
              <a:rPr dirty="0" sz="2400" spc="-844"/>
              <a:t>과정</a:t>
            </a:r>
            <a:r>
              <a:rPr dirty="0" sz="2400" spc="-114"/>
              <a:t> </a:t>
            </a:r>
            <a:r>
              <a:rPr dirty="0" sz="2400" spc="-25">
                <a:latin typeface="Tw Cen MT"/>
                <a:cs typeface="Tw Cen MT"/>
              </a:rPr>
              <a:t>(4/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1797" y="1785511"/>
            <a:ext cx="7762875" cy="1837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>
                <a:latin typeface="Gulim"/>
                <a:cs typeface="Gulim"/>
              </a:rPr>
              <a:t>교재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45">
                <a:latin typeface="Arial"/>
                <a:cs typeface="Arial"/>
              </a:rPr>
              <a:t>11-</a:t>
            </a:r>
            <a:r>
              <a:rPr dirty="0" sz="1400">
                <a:latin typeface="Arial"/>
                <a:cs typeface="Arial"/>
              </a:rPr>
              <a:t>4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8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중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4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bc</a:t>
            </a:r>
            <a:r>
              <a:rPr dirty="0" sz="1400">
                <a:latin typeface="Gulim"/>
                <a:cs typeface="Gulim"/>
              </a:rPr>
              <a:t>간선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(1</a:t>
            </a:r>
            <a:r>
              <a:rPr dirty="0" sz="1400">
                <a:latin typeface="Gulim"/>
                <a:cs typeface="Gulim"/>
              </a:rPr>
              <a:t>번정점과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>
                <a:latin typeface="Arial"/>
                <a:cs typeface="Arial"/>
              </a:rPr>
              <a:t>)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포함되는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과정을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보겠습니다</a:t>
            </a:r>
            <a:r>
              <a:rPr dirty="0" sz="1400" spc="-10">
                <a:latin typeface="Arial"/>
                <a:cs typeface="Arial"/>
              </a:rPr>
              <a:t>. </a:t>
            </a:r>
            <a:r>
              <a:rPr dirty="0" sz="1400">
                <a:latin typeface="Arial"/>
                <a:cs typeface="Arial"/>
              </a:rPr>
              <a:t>87</a:t>
            </a:r>
            <a:r>
              <a:rPr dirty="0" sz="1400">
                <a:latin typeface="Gulim"/>
                <a:cs typeface="Gulim"/>
              </a:rPr>
              <a:t>번줄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중단점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계속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클릭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e.start=1,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e.end=2</a:t>
            </a:r>
            <a:r>
              <a:rPr dirty="0" sz="1400" spc="-10">
                <a:latin typeface="Gulim"/>
                <a:cs typeface="Gulim"/>
              </a:rPr>
              <a:t>가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나올때까지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 spc="-10">
                <a:latin typeface="Arial"/>
                <a:cs typeface="Arial"/>
              </a:rPr>
              <a:t>union-</a:t>
            </a:r>
            <a:r>
              <a:rPr dirty="0" sz="1400">
                <a:latin typeface="Arial"/>
                <a:cs typeface="Arial"/>
              </a:rPr>
              <a:t>find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연산을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통해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번정점과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Gulim"/>
                <a:cs typeface="Gulim"/>
              </a:rPr>
              <a:t>번정점이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같은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집합에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속하는지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판단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집합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집합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Gulim"/>
                <a:cs typeface="Gulim"/>
              </a:rPr>
              <a:t>학생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집합을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볼수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있는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parent</a:t>
            </a:r>
            <a:r>
              <a:rPr dirty="0" sz="1400" spc="-10">
                <a:latin typeface="Gulim"/>
                <a:cs typeface="Gulim"/>
              </a:rPr>
              <a:t>배열이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로컬창에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없어요</a:t>
            </a:r>
            <a:r>
              <a:rPr dirty="0" sz="1400" spc="-20"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797" y="3598119"/>
            <a:ext cx="4430395" cy="930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parent</a:t>
            </a:r>
            <a:r>
              <a:rPr dirty="0" sz="1400" spc="-10">
                <a:latin typeface="Gulim"/>
                <a:cs typeface="Gulim"/>
              </a:rPr>
              <a:t>배열변수는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전역변수라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자동창에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있습니다</a:t>
            </a:r>
            <a:r>
              <a:rPr dirty="0" sz="1400" spc="-10">
                <a:latin typeface="Arial"/>
                <a:cs typeface="Arial"/>
              </a:rPr>
              <a:t>. </a:t>
            </a:r>
            <a:r>
              <a:rPr dirty="0" sz="1400">
                <a:latin typeface="Gulim"/>
                <a:cs typeface="Gulim"/>
              </a:rPr>
              <a:t>학생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자동창에도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없는데요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 spc="-10">
                <a:latin typeface="Gulim"/>
                <a:cs typeface="Gulim"/>
              </a:rPr>
              <a:t>조사식</a:t>
            </a:r>
            <a:r>
              <a:rPr dirty="0" sz="1400" spc="-10">
                <a:latin typeface="Arial"/>
                <a:cs typeface="Arial"/>
              </a:rPr>
              <a:t>(watch)1</a:t>
            </a:r>
            <a:r>
              <a:rPr dirty="0" sz="1400" spc="-10">
                <a:latin typeface="Gulim"/>
                <a:cs typeface="Gulim"/>
              </a:rPr>
              <a:t>창에서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parent</a:t>
            </a:r>
            <a:r>
              <a:rPr dirty="0" sz="1400" spc="-10">
                <a:latin typeface="Gulim"/>
                <a:cs typeface="Gulim"/>
              </a:rPr>
              <a:t>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검색합니다</a:t>
            </a:r>
            <a:endParaRPr sz="1400">
              <a:latin typeface="Gulim"/>
              <a:cs typeface="Gulim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38826" y="3612984"/>
            <a:ext cx="4481830" cy="3584575"/>
            <a:chOff x="5338826" y="3612984"/>
            <a:chExt cx="4481830" cy="35845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8826" y="5559602"/>
              <a:ext cx="4481753" cy="16374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7820" y="3612984"/>
              <a:ext cx="1861807" cy="20425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63141" y="361653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8182" y="5100901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2430" y="5325805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62263" y="3661508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12695" y="442618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7531" y="354668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10208" y="3870325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38326" y="480615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87880" y="464973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40115" y="5390904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17267" y="478468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11779" y="4516154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28619" y="4064985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92489" y="397503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16036" y="2164448"/>
            <a:ext cx="1504061" cy="129470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2879" y="5157497"/>
            <a:ext cx="4387177" cy="1768597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437469" y="6941690"/>
            <a:ext cx="80391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생능출판</a:t>
            </a:r>
            <a:endParaRPr sz="12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267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30">
                <a:latin typeface="Tw Cen MT"/>
                <a:cs typeface="Tw Cen MT"/>
              </a:rPr>
              <a:t> </a:t>
            </a:r>
            <a:r>
              <a:rPr dirty="0" sz="2400" spc="-819"/>
              <a:t>조사식창</a:t>
            </a:r>
            <a:r>
              <a:rPr dirty="0" sz="2400" spc="-819">
                <a:latin typeface="Tw Cen MT"/>
                <a:cs typeface="Tw Cen MT"/>
              </a:rPr>
              <a:t>1</a:t>
            </a:r>
            <a:r>
              <a:rPr dirty="0" sz="2400" spc="-819"/>
              <a:t>이</a:t>
            </a:r>
            <a:r>
              <a:rPr dirty="0" sz="2400" spc="-110"/>
              <a:t> </a:t>
            </a:r>
            <a:r>
              <a:rPr dirty="0" sz="2400" spc="-880"/>
              <a:t>없는데요</a:t>
            </a:r>
            <a:r>
              <a:rPr dirty="0" sz="2400" spc="-880">
                <a:latin typeface="Tw Cen MT"/>
                <a:cs typeface="Tw Cen MT"/>
              </a:rPr>
              <a:t>?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1797" y="1785511"/>
            <a:ext cx="3883025" cy="930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디버그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창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>
                <a:latin typeface="Gulim"/>
                <a:cs typeface="Gulim"/>
              </a:rPr>
              <a:t>조사식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조사식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25">
                <a:latin typeface="Gulim"/>
                <a:cs typeface="Gulim"/>
              </a:rPr>
              <a:t>선택 </a:t>
            </a:r>
            <a:r>
              <a:rPr dirty="0" sz="1400">
                <a:latin typeface="Gulim"/>
                <a:cs typeface="Gulim"/>
              </a:rPr>
              <a:t>자동창이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없을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때는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VS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디버그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창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자동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선택 </a:t>
            </a:r>
            <a:r>
              <a:rPr dirty="0" sz="1400">
                <a:latin typeface="Gulim"/>
                <a:cs typeface="Gulim"/>
              </a:rPr>
              <a:t>로컬창이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없을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때는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VS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디버그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창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지역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803" y="4002913"/>
            <a:ext cx="8318042" cy="31042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28077" y="6954390"/>
            <a:ext cx="55181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사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267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</a:pPr>
            <a:r>
              <a:rPr dirty="0" sz="2400" spc="-520">
                <a:latin typeface="Tw Cen MT"/>
                <a:cs typeface="Tw Cen MT"/>
              </a:rPr>
              <a:t>8</a:t>
            </a:r>
            <a:r>
              <a:rPr dirty="0" sz="2400" spc="-520"/>
              <a:t>단계</a:t>
            </a:r>
            <a:r>
              <a:rPr dirty="0" sz="2400" spc="-114"/>
              <a:t> </a:t>
            </a:r>
            <a:r>
              <a:rPr dirty="0" sz="2400" spc="-1420"/>
              <a:t>중</a:t>
            </a:r>
            <a:r>
              <a:rPr dirty="0" sz="2400" spc="-135"/>
              <a:t> </a:t>
            </a:r>
            <a:r>
              <a:rPr dirty="0" sz="2400" spc="-520">
                <a:latin typeface="Tw Cen MT"/>
                <a:cs typeface="Tw Cen MT"/>
              </a:rPr>
              <a:t>4</a:t>
            </a:r>
            <a:r>
              <a:rPr dirty="0" sz="2400" spc="-520"/>
              <a:t>단계</a:t>
            </a:r>
            <a:r>
              <a:rPr dirty="0" sz="2400" spc="-110"/>
              <a:t> </a:t>
            </a:r>
            <a:r>
              <a:rPr dirty="0" sz="2400" spc="-430">
                <a:latin typeface="Tw Cen MT"/>
                <a:cs typeface="Tw Cen MT"/>
              </a:rPr>
              <a:t>bc</a:t>
            </a:r>
            <a:r>
              <a:rPr dirty="0" sz="2400" spc="-430"/>
              <a:t>간선</a:t>
            </a:r>
            <a:r>
              <a:rPr dirty="0" sz="2400" spc="-114"/>
              <a:t> </a:t>
            </a:r>
            <a:r>
              <a:rPr dirty="0" sz="2400" spc="-590">
                <a:latin typeface="Tw Cen MT"/>
                <a:cs typeface="Tw Cen MT"/>
              </a:rPr>
              <a:t>(1</a:t>
            </a:r>
            <a:r>
              <a:rPr dirty="0" sz="2400" spc="-590"/>
              <a:t>번정점과</a:t>
            </a:r>
            <a:r>
              <a:rPr dirty="0" sz="2400" spc="-110"/>
              <a:t> </a:t>
            </a:r>
            <a:r>
              <a:rPr dirty="0" sz="2400" spc="-630">
                <a:latin typeface="Tw Cen MT"/>
                <a:cs typeface="Tw Cen MT"/>
              </a:rPr>
              <a:t>2</a:t>
            </a:r>
            <a:r>
              <a:rPr dirty="0" sz="2400" spc="-630"/>
              <a:t>번정점</a:t>
            </a:r>
            <a:r>
              <a:rPr dirty="0" sz="2400" spc="-630">
                <a:latin typeface="Tw Cen MT"/>
                <a:cs typeface="Tw Cen MT"/>
              </a:rPr>
              <a:t>)</a:t>
            </a:r>
            <a:r>
              <a:rPr dirty="0" sz="2400" spc="-630"/>
              <a:t>이</a:t>
            </a:r>
            <a:r>
              <a:rPr dirty="0" sz="2400" spc="-125"/>
              <a:t> </a:t>
            </a:r>
            <a:r>
              <a:rPr dirty="0" sz="2400" spc="-210">
                <a:latin typeface="Tw Cen MT"/>
                <a:cs typeface="Tw Cen MT"/>
              </a:rPr>
              <a:t>MST</a:t>
            </a:r>
            <a:r>
              <a:rPr dirty="0" sz="2400" spc="-210"/>
              <a:t>에</a:t>
            </a:r>
            <a:r>
              <a:rPr dirty="0" sz="2400" spc="-120"/>
              <a:t> </a:t>
            </a:r>
            <a:r>
              <a:rPr dirty="0" sz="2400" spc="-1155"/>
              <a:t>포함되는</a:t>
            </a:r>
            <a:r>
              <a:rPr dirty="0" sz="2400" spc="-130"/>
              <a:t> </a:t>
            </a:r>
            <a:r>
              <a:rPr dirty="0" sz="2400" spc="-844"/>
              <a:t>과정</a:t>
            </a:r>
            <a:r>
              <a:rPr dirty="0" sz="2400" spc="-114"/>
              <a:t> </a:t>
            </a:r>
            <a:r>
              <a:rPr dirty="0" sz="2400" spc="-25">
                <a:latin typeface="Tw Cen MT"/>
                <a:cs typeface="Tw Cen MT"/>
              </a:rPr>
              <a:t>(5/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1797" y="1785511"/>
            <a:ext cx="5387340" cy="204978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 spc="-10">
                <a:latin typeface="Gulim"/>
                <a:cs typeface="Gulim"/>
              </a:rPr>
              <a:t>조사식</a:t>
            </a:r>
            <a:r>
              <a:rPr dirty="0" sz="1400" spc="-10">
                <a:latin typeface="Arial"/>
                <a:cs typeface="Arial"/>
              </a:rPr>
              <a:t>(watch)1</a:t>
            </a:r>
            <a:r>
              <a:rPr dirty="0" sz="1400" spc="-10">
                <a:latin typeface="Gulim"/>
                <a:cs typeface="Gulim"/>
              </a:rPr>
              <a:t>창에서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parent</a:t>
            </a:r>
            <a:r>
              <a:rPr dirty="0" sz="1400" spc="-10">
                <a:latin typeface="Gulim"/>
                <a:cs typeface="Gulim"/>
              </a:rPr>
              <a:t>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항목추가합니다</a:t>
            </a:r>
            <a:endParaRPr sz="14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Gulim"/>
                <a:cs typeface="Gulim"/>
              </a:rPr>
              <a:t>학생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이걸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보고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집합과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어떻게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알수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있나요 </a:t>
            </a: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{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6,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1}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root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Gulim"/>
                <a:cs typeface="Gulim"/>
              </a:rPr>
              <a:t>번정점집합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{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2}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root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vset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  <a:p>
            <a:pPr marL="12700" marR="841375">
              <a:lnSpc>
                <a:spcPct val="141400"/>
              </a:lnSpc>
              <a:spcBef>
                <a:spcPts val="10"/>
              </a:spcBef>
            </a:pPr>
            <a:r>
              <a:rPr dirty="0" sz="1400">
                <a:latin typeface="Arial"/>
                <a:cs typeface="Arial"/>
              </a:rPr>
              <a:t>uset</a:t>
            </a:r>
            <a:r>
              <a:rPr dirty="0" sz="1400">
                <a:latin typeface="Gulim"/>
                <a:cs typeface="Gulim"/>
              </a:rPr>
              <a:t>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vset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다르므로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90</a:t>
            </a:r>
            <a:r>
              <a:rPr dirty="0" sz="1400">
                <a:latin typeface="Gulim"/>
                <a:cs typeface="Gulim"/>
              </a:rPr>
              <a:t>번줄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set_union()</a:t>
            </a:r>
            <a:r>
              <a:rPr dirty="0" sz="1400" spc="-10">
                <a:latin typeface="Gulim"/>
                <a:cs typeface="Gulim"/>
              </a:rPr>
              <a:t>을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수행합니다</a:t>
            </a:r>
            <a:r>
              <a:rPr dirty="0" sz="1400" spc="-10">
                <a:latin typeface="Arial"/>
                <a:cs typeface="Arial"/>
              </a:rPr>
              <a:t>.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번정점집합과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Gulim"/>
                <a:cs typeface="Gulim"/>
              </a:rPr>
              <a:t>번정점집합이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합쳐저서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 spc="-10">
                <a:latin typeface="Arial"/>
                <a:cs typeface="Arial"/>
              </a:rPr>
              <a:t>parent[2]</a:t>
            </a:r>
            <a:r>
              <a:rPr dirty="0" sz="1400" spc="-10">
                <a:latin typeface="Gulim"/>
                <a:cs typeface="Gulim"/>
              </a:rPr>
              <a:t>의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root</a:t>
            </a:r>
            <a:r>
              <a:rPr dirty="0" sz="1400">
                <a:latin typeface="Gulim"/>
                <a:cs typeface="Gulim"/>
              </a:rPr>
              <a:t>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6</a:t>
            </a:r>
            <a:r>
              <a:rPr dirty="0" sz="1400">
                <a:latin typeface="Gulim"/>
                <a:cs typeface="Gulim"/>
              </a:rPr>
              <a:t>으로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변경된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것을</a:t>
            </a:r>
            <a:endParaRPr sz="1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797" y="3811365"/>
            <a:ext cx="2947035" cy="9302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>
                <a:latin typeface="Gulim"/>
                <a:cs typeface="Gulim"/>
              </a:rPr>
              <a:t>알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있습니다</a:t>
            </a:r>
            <a:r>
              <a:rPr dirty="0" sz="1400">
                <a:latin typeface="Arial"/>
                <a:cs typeface="Arial"/>
              </a:rPr>
              <a:t>.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{6,1,2}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Gulim"/>
                <a:cs typeface="Gulim"/>
              </a:rPr>
              <a:t>즉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bc</a:t>
            </a:r>
            <a:r>
              <a:rPr dirty="0" sz="1400">
                <a:latin typeface="Gulim"/>
                <a:cs typeface="Gulim"/>
              </a:rPr>
              <a:t>간선이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cycle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형성하지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않기에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포함됩니다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38826" y="3612984"/>
            <a:ext cx="4481830" cy="3584575"/>
            <a:chOff x="5338826" y="3612984"/>
            <a:chExt cx="4481830" cy="35845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8826" y="5559602"/>
              <a:ext cx="4481753" cy="16374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7820" y="3612984"/>
              <a:ext cx="1861807" cy="20425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63141" y="361653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8182" y="5100901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2430" y="5325805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62263" y="3661508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12695" y="442618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7531" y="354668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10208" y="3870325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38326" y="480615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87880" y="464973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40115" y="5390904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17267" y="478468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11779" y="4516154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28619" y="4064985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92489" y="397503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71421" y="1733384"/>
            <a:ext cx="1712620" cy="180801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812879" y="2526957"/>
            <a:ext cx="6820534" cy="4399280"/>
            <a:chOff x="812879" y="2526957"/>
            <a:chExt cx="6820534" cy="439928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2879" y="5157497"/>
              <a:ext cx="4387177" cy="176859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52807" y="2526957"/>
              <a:ext cx="1580184" cy="21316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1339" y="3373843"/>
              <a:ext cx="1636509" cy="1798878"/>
            </a:xfrm>
            <a:prstGeom prst="rect">
              <a:avLst/>
            </a:prstGeom>
          </p:spPr>
        </p:pic>
      </p:grp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437469" y="6941690"/>
            <a:ext cx="80391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생능출판</a:t>
            </a:r>
            <a:endParaRPr sz="12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8346" y="5842927"/>
            <a:ext cx="3330867" cy="12185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267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</a:pPr>
            <a:r>
              <a:rPr dirty="0" sz="2400" spc="-520">
                <a:latin typeface="Tw Cen MT"/>
                <a:cs typeface="Tw Cen MT"/>
              </a:rPr>
              <a:t>8</a:t>
            </a:r>
            <a:r>
              <a:rPr dirty="0" sz="2400" spc="-520"/>
              <a:t>단계</a:t>
            </a:r>
            <a:r>
              <a:rPr dirty="0" sz="2400" spc="-110"/>
              <a:t> </a:t>
            </a:r>
            <a:r>
              <a:rPr dirty="0" sz="2400" spc="-1420"/>
              <a:t>중</a:t>
            </a:r>
            <a:r>
              <a:rPr dirty="0" sz="2400" spc="-135"/>
              <a:t> </a:t>
            </a:r>
            <a:r>
              <a:rPr dirty="0" sz="2400" spc="-520">
                <a:latin typeface="Tw Cen MT"/>
                <a:cs typeface="Tw Cen MT"/>
              </a:rPr>
              <a:t>5</a:t>
            </a:r>
            <a:r>
              <a:rPr dirty="0" sz="2400" spc="-520"/>
              <a:t>단계</a:t>
            </a:r>
            <a:r>
              <a:rPr dirty="0" sz="2400" spc="-110"/>
              <a:t> </a:t>
            </a:r>
            <a:r>
              <a:rPr dirty="0" sz="2400" spc="-434">
                <a:latin typeface="Tw Cen MT"/>
                <a:cs typeface="Tw Cen MT"/>
              </a:rPr>
              <a:t>gd</a:t>
            </a:r>
            <a:r>
              <a:rPr dirty="0" sz="2400" spc="-434"/>
              <a:t>간선</a:t>
            </a:r>
            <a:r>
              <a:rPr dirty="0" sz="2400" spc="-95"/>
              <a:t> </a:t>
            </a:r>
            <a:r>
              <a:rPr dirty="0" sz="2400" spc="-590">
                <a:latin typeface="Tw Cen MT"/>
                <a:cs typeface="Tw Cen MT"/>
              </a:rPr>
              <a:t>(6</a:t>
            </a:r>
            <a:r>
              <a:rPr dirty="0" sz="2400" spc="-590"/>
              <a:t>번정점과</a:t>
            </a:r>
            <a:r>
              <a:rPr dirty="0" sz="2400" spc="-120"/>
              <a:t> </a:t>
            </a:r>
            <a:r>
              <a:rPr dirty="0" sz="2400" spc="-630">
                <a:latin typeface="Tw Cen MT"/>
                <a:cs typeface="Tw Cen MT"/>
              </a:rPr>
              <a:t>3</a:t>
            </a:r>
            <a:r>
              <a:rPr dirty="0" sz="2400" spc="-630"/>
              <a:t>번정점</a:t>
            </a:r>
            <a:r>
              <a:rPr dirty="0" sz="2400" spc="-630">
                <a:latin typeface="Tw Cen MT"/>
                <a:cs typeface="Tw Cen MT"/>
              </a:rPr>
              <a:t>)</a:t>
            </a:r>
            <a:r>
              <a:rPr dirty="0" sz="2400" spc="-630"/>
              <a:t>이</a:t>
            </a:r>
            <a:r>
              <a:rPr dirty="0" sz="2400" spc="-114"/>
              <a:t> </a:t>
            </a:r>
            <a:r>
              <a:rPr dirty="0" sz="2400" spc="-210">
                <a:latin typeface="Tw Cen MT"/>
                <a:cs typeface="Tw Cen MT"/>
              </a:rPr>
              <a:t>MST</a:t>
            </a:r>
            <a:r>
              <a:rPr dirty="0" sz="2400" spc="-210"/>
              <a:t>에</a:t>
            </a:r>
            <a:r>
              <a:rPr dirty="0" sz="2400" spc="-135"/>
              <a:t> </a:t>
            </a:r>
            <a:r>
              <a:rPr dirty="0" sz="2400" spc="-1050"/>
              <a:t>제외되는</a:t>
            </a:r>
            <a:r>
              <a:rPr dirty="0" sz="2400" spc="-120"/>
              <a:t> </a:t>
            </a:r>
            <a:r>
              <a:rPr dirty="0" sz="2400" spc="-844"/>
              <a:t>과정</a:t>
            </a:r>
            <a:r>
              <a:rPr dirty="0" sz="2400" spc="-125"/>
              <a:t> </a:t>
            </a:r>
            <a:r>
              <a:rPr dirty="0" sz="2400" spc="-25">
                <a:latin typeface="Tw Cen MT"/>
                <a:cs typeface="Tw Cen MT"/>
              </a:rPr>
              <a:t>(6/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797" y="1785511"/>
            <a:ext cx="7773670" cy="1837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>
                <a:latin typeface="Gulim"/>
                <a:cs typeface="Gulim"/>
              </a:rPr>
              <a:t>교재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45">
                <a:latin typeface="Arial"/>
                <a:cs typeface="Arial"/>
              </a:rPr>
              <a:t>11-</a:t>
            </a:r>
            <a:r>
              <a:rPr dirty="0" sz="1400">
                <a:latin typeface="Arial"/>
                <a:cs typeface="Arial"/>
              </a:rPr>
              <a:t>4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8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중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5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gd</a:t>
            </a:r>
            <a:r>
              <a:rPr dirty="0" sz="1400" spc="-10">
                <a:latin typeface="Gulim"/>
                <a:cs typeface="Gulim"/>
              </a:rPr>
              <a:t>간선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(6</a:t>
            </a:r>
            <a:r>
              <a:rPr dirty="0" sz="1400">
                <a:latin typeface="Gulim"/>
                <a:cs typeface="Gulim"/>
              </a:rPr>
              <a:t>번정점과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3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>
                <a:latin typeface="Arial"/>
                <a:cs typeface="Arial"/>
              </a:rPr>
              <a:t>)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제외되는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과정을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보겠습니다</a:t>
            </a:r>
            <a:r>
              <a:rPr dirty="0" sz="1400" spc="-10">
                <a:latin typeface="Arial"/>
                <a:cs typeface="Arial"/>
              </a:rPr>
              <a:t>. </a:t>
            </a:r>
            <a:r>
              <a:rPr dirty="0" sz="1400">
                <a:latin typeface="Arial"/>
                <a:cs typeface="Arial"/>
              </a:rPr>
              <a:t>87</a:t>
            </a:r>
            <a:r>
              <a:rPr dirty="0" sz="1400">
                <a:latin typeface="Gulim"/>
                <a:cs typeface="Gulim"/>
              </a:rPr>
              <a:t>번줄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중단점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계속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클릭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e.start=6,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e.end=3</a:t>
            </a:r>
            <a:r>
              <a:rPr dirty="0" sz="1400" spc="-10">
                <a:latin typeface="Gulim"/>
                <a:cs typeface="Gulim"/>
              </a:rPr>
              <a:t>가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나올때까지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 spc="-10">
                <a:latin typeface="Arial"/>
                <a:cs typeface="Arial"/>
              </a:rPr>
              <a:t>union-</a:t>
            </a:r>
            <a:r>
              <a:rPr dirty="0" sz="1400">
                <a:latin typeface="Arial"/>
                <a:cs typeface="Arial"/>
              </a:rPr>
              <a:t>find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연산을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통해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6</a:t>
            </a:r>
            <a:r>
              <a:rPr dirty="0" sz="1400">
                <a:latin typeface="Gulim"/>
                <a:cs typeface="Gulim"/>
              </a:rPr>
              <a:t>번정점과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3</a:t>
            </a:r>
            <a:r>
              <a:rPr dirty="0" sz="1400">
                <a:latin typeface="Gulim"/>
                <a:cs typeface="Gulim"/>
              </a:rPr>
              <a:t>번정점이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같은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집합에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속하는지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판단</a:t>
            </a:r>
            <a:endParaRPr sz="1400">
              <a:latin typeface="Gulim"/>
              <a:cs typeface="Gulim"/>
            </a:endParaRPr>
          </a:p>
          <a:p>
            <a:pPr marL="12700" marR="4775200">
              <a:lnSpc>
                <a:spcPct val="141400"/>
              </a:lnSpc>
              <a:spcBef>
                <a:spcPts val="15"/>
              </a:spcBef>
            </a:pPr>
            <a:r>
              <a:rPr dirty="0" sz="1400">
                <a:latin typeface="Arial"/>
                <a:cs typeface="Arial"/>
              </a:rPr>
              <a:t>6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{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6}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root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6 </a:t>
            </a:r>
            <a:r>
              <a:rPr dirty="0" sz="1400">
                <a:latin typeface="Arial"/>
                <a:cs typeface="Arial"/>
              </a:rPr>
              <a:t>3</a:t>
            </a:r>
            <a:r>
              <a:rPr dirty="0" sz="1400">
                <a:latin typeface="Gulim"/>
                <a:cs typeface="Gulim"/>
              </a:rPr>
              <a:t>번정점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{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6,2,3}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root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vset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uset</a:t>
            </a:r>
            <a:r>
              <a:rPr dirty="0" sz="1400">
                <a:latin typeface="Gulim"/>
                <a:cs typeface="Gulim"/>
              </a:rPr>
              <a:t>와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vset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동일하므로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같은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속하기에</a:t>
            </a:r>
            <a:endParaRPr sz="1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1797" y="3685852"/>
            <a:ext cx="40900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Gulim"/>
                <a:cs typeface="Gulim"/>
              </a:rPr>
              <a:t>즉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gd</a:t>
            </a:r>
            <a:r>
              <a:rPr dirty="0" sz="1400" spc="-10">
                <a:latin typeface="Gulim"/>
                <a:cs typeface="Gulim"/>
              </a:rPr>
              <a:t>간선이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cycle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형성하기에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제외됩니다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7820" y="3612984"/>
            <a:ext cx="1861807" cy="20425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163141" y="361653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18182" y="5100901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2430" y="5325805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62263" y="3661508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12695" y="442618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7531" y="354668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10208" y="3870325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38326" y="480615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87880" y="464973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40115" y="5390904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817267" y="478468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11779" y="4516154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28619" y="4064985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92489" y="397503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79" y="5157497"/>
            <a:ext cx="4387177" cy="176859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2566" y="3687622"/>
            <a:ext cx="1674571" cy="184762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14512" y="1413510"/>
            <a:ext cx="1532991" cy="2123313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35586" y="2936697"/>
            <a:ext cx="3855085" cy="4269740"/>
            <a:chOff x="5935586" y="2936697"/>
            <a:chExt cx="3855085" cy="4269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5586" y="2936697"/>
              <a:ext cx="3854551" cy="417046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588731" y="866178"/>
            <a:ext cx="268541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520">
                <a:solidFill>
                  <a:srgbClr val="775E54"/>
                </a:solidFill>
                <a:latin typeface="Tw Cen MT"/>
                <a:cs typeface="Tw Cen MT"/>
              </a:rPr>
              <a:t>8</a:t>
            </a:r>
            <a:r>
              <a:rPr dirty="0" sz="2400" spc="-520">
                <a:solidFill>
                  <a:srgbClr val="775E54"/>
                </a:solidFill>
                <a:latin typeface="Gulim"/>
                <a:cs typeface="Gulim"/>
              </a:rPr>
              <a:t>단계</a:t>
            </a:r>
            <a:r>
              <a:rPr dirty="0" sz="2400" spc="-120">
                <a:solidFill>
                  <a:srgbClr val="775E54"/>
                </a:solidFill>
                <a:latin typeface="Gulim"/>
                <a:cs typeface="Gulim"/>
              </a:rPr>
              <a:t> </a:t>
            </a:r>
            <a:r>
              <a:rPr dirty="0" sz="2400" spc="-1420">
                <a:solidFill>
                  <a:srgbClr val="775E54"/>
                </a:solidFill>
                <a:latin typeface="Gulim"/>
                <a:cs typeface="Gulim"/>
              </a:rPr>
              <a:t>중</a:t>
            </a:r>
            <a:r>
              <a:rPr dirty="0" sz="2400" spc="-145">
                <a:solidFill>
                  <a:srgbClr val="775E54"/>
                </a:solidFill>
                <a:latin typeface="Gulim"/>
                <a:cs typeface="Gulim"/>
              </a:rPr>
              <a:t> </a:t>
            </a:r>
            <a:r>
              <a:rPr dirty="0" sz="2400" spc="-330">
                <a:solidFill>
                  <a:srgbClr val="775E54"/>
                </a:solidFill>
                <a:latin typeface="Tw Cen MT"/>
                <a:cs typeface="Tw Cen MT"/>
              </a:rPr>
              <a:t>6</a:t>
            </a:r>
            <a:r>
              <a:rPr dirty="0" sz="2400" spc="-330">
                <a:solidFill>
                  <a:srgbClr val="775E54"/>
                </a:solidFill>
                <a:latin typeface="Gulim"/>
                <a:cs typeface="Gulim"/>
              </a:rPr>
              <a:t>단계</a:t>
            </a:r>
            <a:r>
              <a:rPr dirty="0" sz="2400" spc="-330">
                <a:solidFill>
                  <a:srgbClr val="775E54"/>
                </a:solidFill>
                <a:latin typeface="Tw Cen MT"/>
                <a:cs typeface="Tw Cen MT"/>
              </a:rPr>
              <a:t>~8</a:t>
            </a:r>
            <a:r>
              <a:rPr dirty="0" sz="2400" spc="-330">
                <a:solidFill>
                  <a:srgbClr val="775E54"/>
                </a:solidFill>
                <a:latin typeface="Gulim"/>
                <a:cs typeface="Gulim"/>
              </a:rPr>
              <a:t>단계</a:t>
            </a:r>
            <a:r>
              <a:rPr dirty="0" sz="2400" spc="-330">
                <a:solidFill>
                  <a:srgbClr val="775E54"/>
                </a:solidFill>
                <a:latin typeface="Tw Cen MT"/>
                <a:cs typeface="Tw Cen MT"/>
              </a:rPr>
              <a:t>(7/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1797" y="1785511"/>
            <a:ext cx="5507355" cy="123380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>
                <a:latin typeface="Arial"/>
                <a:cs typeface="Arial"/>
              </a:rPr>
              <a:t>6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>
                <a:latin typeface="Gulim"/>
                <a:cs typeface="Gulim"/>
              </a:rPr>
              <a:t>간선은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cycle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형성하지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않기에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포함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Arial"/>
                <a:cs typeface="Arial"/>
              </a:rPr>
              <a:t>7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eg</a:t>
            </a:r>
            <a:r>
              <a:rPr dirty="0" sz="1400">
                <a:latin typeface="Gulim"/>
                <a:cs typeface="Gulim"/>
              </a:rPr>
              <a:t>간선은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cycle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형성하므로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제외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8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ef</a:t>
            </a:r>
            <a:r>
              <a:rPr dirty="0" sz="1400">
                <a:latin typeface="Gulim"/>
                <a:cs typeface="Gulim"/>
              </a:rPr>
              <a:t>간선은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cycle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형성하지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않기에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포함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latin typeface="Arial"/>
                <a:cs typeface="Arial"/>
              </a:rPr>
              <a:t>9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ab</a:t>
            </a:r>
            <a:r>
              <a:rPr dirty="0" sz="1400">
                <a:latin typeface="Gulim"/>
                <a:cs typeface="Gulim"/>
              </a:rPr>
              <a:t>간선은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82</a:t>
            </a:r>
            <a:r>
              <a:rPr dirty="0" sz="1400" spc="-10">
                <a:latin typeface="Gulim"/>
                <a:cs typeface="Gulim"/>
              </a:rPr>
              <a:t>번줄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edge_accepted</a:t>
            </a:r>
            <a:r>
              <a:rPr dirty="0" sz="1400" spc="-10">
                <a:latin typeface="Gulim"/>
                <a:cs typeface="Gulim"/>
              </a:rPr>
              <a:t>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(7-1)=6</a:t>
            </a:r>
            <a:r>
              <a:rPr dirty="0" sz="1400" spc="-10">
                <a:latin typeface="Gulim"/>
                <a:cs typeface="Gulim"/>
              </a:rPr>
              <a:t>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되어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MST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제외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79" y="5157497"/>
            <a:ext cx="4387177" cy="17685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36436" y="688479"/>
            <a:ext cx="1863331" cy="20425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42569" y="692781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97623" y="2177145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56384" y="159239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61871" y="240204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41691" y="737764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92137" y="1502432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26960" y="622943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89649" y="946557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17754" y="1882402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67321" y="172598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19543" y="246714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6695" y="186092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91208" y="201325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08061" y="114123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71918" y="105127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47531" y="713783"/>
            <a:ext cx="984885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 spc="-10">
                <a:latin typeface="Trebuchet MS"/>
                <a:cs typeface="Trebuchet MS"/>
              </a:rPr>
              <a:t>Vertex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</a:t>
            </a:r>
            <a:r>
              <a:rPr dirty="0" sz="1400" spc="-25">
                <a:latin typeface="Gulim"/>
                <a:cs typeface="Gulim"/>
              </a:rPr>
              <a:t>개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9</a:t>
            </a:r>
            <a:r>
              <a:rPr dirty="0" sz="1400" spc="-25">
                <a:latin typeface="Gulim"/>
                <a:cs typeface="Gulim"/>
              </a:rPr>
              <a:t>개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9917" y="1555165"/>
            <a:ext cx="3854551" cy="55519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88731" y="683399"/>
            <a:ext cx="6428105" cy="7569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458720" algn="l"/>
              </a:tabLst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20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15">
                <a:latin typeface="Tw Cen MT"/>
                <a:cs typeface="Tw Cen MT"/>
              </a:rPr>
              <a:t> </a:t>
            </a:r>
            <a:r>
              <a:rPr dirty="0" sz="2400" spc="-10">
                <a:latin typeface="Tw Cen MT"/>
                <a:cs typeface="Tw Cen MT"/>
              </a:rPr>
              <a:t>kruskal</a:t>
            </a:r>
            <a:r>
              <a:rPr dirty="0" sz="2400">
                <a:latin typeface="Tw Cen MT"/>
                <a:cs typeface="Tw Cen MT"/>
              </a:rPr>
              <a:t>	</a:t>
            </a:r>
            <a:r>
              <a:rPr dirty="0" sz="2400" spc="-520">
                <a:latin typeface="Tw Cen MT"/>
                <a:cs typeface="Tw Cen MT"/>
              </a:rPr>
              <a:t>8</a:t>
            </a:r>
            <a:r>
              <a:rPr dirty="0" sz="2400" spc="-520"/>
              <a:t>단계</a:t>
            </a:r>
            <a:r>
              <a:rPr dirty="0" sz="2400" spc="-120"/>
              <a:t> </a:t>
            </a:r>
            <a:r>
              <a:rPr dirty="0" sz="2400" spc="-1035"/>
              <a:t>그림과</a:t>
            </a:r>
            <a:r>
              <a:rPr dirty="0" sz="2400" spc="-130"/>
              <a:t> </a:t>
            </a:r>
            <a:r>
              <a:rPr dirty="0" sz="2400">
                <a:latin typeface="Tw Cen MT"/>
                <a:cs typeface="Tw Cen MT"/>
              </a:rPr>
              <a:t>VS</a:t>
            </a:r>
            <a:r>
              <a:rPr dirty="0" sz="2400" spc="-10">
                <a:latin typeface="Tw Cen MT"/>
                <a:cs typeface="Tw Cen MT"/>
              </a:rPr>
              <a:t> </a:t>
            </a:r>
            <a:r>
              <a:rPr dirty="0" sz="2400" spc="-944"/>
              <a:t>한줄씩수행과</a:t>
            </a:r>
            <a:r>
              <a:rPr dirty="0" sz="2400" spc="-110"/>
              <a:t> </a:t>
            </a:r>
            <a:r>
              <a:rPr dirty="0" sz="2400" spc="-1125"/>
              <a:t>변수창을</a:t>
            </a:r>
            <a:r>
              <a:rPr dirty="0" sz="2400" spc="-135"/>
              <a:t> </a:t>
            </a:r>
            <a:r>
              <a:rPr dirty="0" sz="2400" spc="-1245"/>
              <a:t>보니</a:t>
            </a:r>
            <a:r>
              <a:rPr dirty="0" sz="2400" spc="600"/>
              <a:t> </a:t>
            </a:r>
            <a:r>
              <a:rPr dirty="0" sz="2400" spc="-990"/>
              <a:t>복잡해</a:t>
            </a:r>
            <a:r>
              <a:rPr dirty="0" sz="2400" spc="-114"/>
              <a:t> </a:t>
            </a:r>
            <a:r>
              <a:rPr dirty="0" sz="2400" spc="-1285"/>
              <a:t>보이는</a:t>
            </a:r>
            <a:r>
              <a:rPr dirty="0" sz="2400" spc="-140"/>
              <a:t> </a:t>
            </a:r>
            <a:r>
              <a:rPr dirty="0" sz="2400">
                <a:latin typeface="Tw Cen MT"/>
                <a:cs typeface="Tw Cen MT"/>
              </a:rPr>
              <a:t>kruskal.c</a:t>
            </a:r>
            <a:r>
              <a:rPr dirty="0" sz="2400" spc="-25">
                <a:latin typeface="Tw Cen MT"/>
                <a:cs typeface="Tw Cen MT"/>
              </a:rPr>
              <a:t> </a:t>
            </a:r>
            <a:r>
              <a:rPr dirty="0" sz="2400" spc="-1210"/>
              <a:t>코드가</a:t>
            </a:r>
            <a:r>
              <a:rPr dirty="0" sz="2400" spc="-125"/>
              <a:t> </a:t>
            </a:r>
            <a:r>
              <a:rPr dirty="0" sz="2400" spc="-1050"/>
              <a:t>이해되는</a:t>
            </a:r>
            <a:r>
              <a:rPr dirty="0" sz="2400" spc="-125"/>
              <a:t> </a:t>
            </a:r>
            <a:r>
              <a:rPr dirty="0" sz="2400" spc="-915"/>
              <a:t>것</a:t>
            </a:r>
            <a:r>
              <a:rPr dirty="0" sz="2400" spc="-130"/>
              <a:t> </a:t>
            </a:r>
            <a:r>
              <a:rPr dirty="0" sz="2400" spc="-815"/>
              <a:t>같습니다</a:t>
            </a:r>
            <a:r>
              <a:rPr dirty="0" sz="2400" spc="-815">
                <a:latin typeface="Tw Cen MT"/>
                <a:cs typeface="Tw Cen MT"/>
              </a:rPr>
              <a:t>.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797" y="1785511"/>
            <a:ext cx="4958080" cy="265493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코드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+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0">
                <a:latin typeface="Gulim"/>
                <a:cs typeface="Gulim"/>
              </a:rPr>
              <a:t>알고리즘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Arial"/>
                <a:cs typeface="Arial"/>
              </a:rPr>
              <a:t>VS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알고리즘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수행하는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변수창이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latin typeface="Arial"/>
                <a:cs typeface="Arial"/>
              </a:rPr>
              <a:t>8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그리면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cycle</a:t>
            </a:r>
            <a:r>
              <a:rPr dirty="0" sz="1400">
                <a:latin typeface="Gulim"/>
                <a:cs typeface="Gulim"/>
              </a:rPr>
              <a:t>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형성되는지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안되는지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판단이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쉬움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Cycle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형성을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판단하는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union-</a:t>
            </a:r>
            <a:r>
              <a:rPr dirty="0" sz="1400">
                <a:latin typeface="Arial"/>
                <a:cs typeface="Arial"/>
              </a:rPr>
              <a:t>find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0">
                <a:latin typeface="Gulim"/>
                <a:cs typeface="Gulim"/>
              </a:rPr>
              <a:t>코드에서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set_union(),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set_find()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코드만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보아서는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이해하기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어려움</a:t>
            </a:r>
            <a:endParaRPr sz="1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7142"/>
              <a:buFont typeface="Wingdings"/>
              <a:buChar char=""/>
              <a:tabLst>
                <a:tab pos="332105" algn="l"/>
              </a:tabLst>
            </a:pP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그래프에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대해서도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만들어보고</a:t>
            </a:r>
            <a:endParaRPr sz="1400">
              <a:latin typeface="Gulim"/>
              <a:cs typeface="Gulim"/>
            </a:endParaRPr>
          </a:p>
          <a:p>
            <a:pPr marL="33210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>
                <a:latin typeface="Gulim"/>
                <a:cs typeface="Gulim"/>
              </a:rPr>
              <a:t>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수행및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변수창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확인해보세요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4163" y="5088940"/>
            <a:ext cx="1959241" cy="15231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1163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0"/>
              </a:spcBef>
            </a:pPr>
            <a:r>
              <a:rPr dirty="0" sz="4000" spc="-220">
                <a:latin typeface="Tw Cen MT"/>
                <a:cs typeface="Tw Cen MT"/>
              </a:rPr>
              <a:t>Kruskal</a:t>
            </a:r>
            <a:r>
              <a:rPr dirty="0" sz="4000" spc="-220"/>
              <a:t>의</a:t>
            </a:r>
            <a:r>
              <a:rPr dirty="0" sz="4000" spc="-229"/>
              <a:t> </a:t>
            </a:r>
            <a:r>
              <a:rPr dirty="0" sz="4000">
                <a:latin typeface="Tw Cen MT"/>
                <a:cs typeface="Tw Cen MT"/>
              </a:rPr>
              <a:t>MST </a:t>
            </a:r>
            <a:r>
              <a:rPr dirty="0" sz="4000" spc="-1925"/>
              <a:t>알고리즘</a:t>
            </a:r>
            <a:r>
              <a:rPr dirty="0" sz="4000" spc="-229"/>
              <a:t> </a:t>
            </a:r>
            <a:r>
              <a:rPr dirty="0" sz="4000" spc="-2030"/>
              <a:t>복잡도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6197" y="2156038"/>
            <a:ext cx="7826375" cy="217043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Arial"/>
                <a:cs typeface="Arial"/>
              </a:rPr>
              <a:t>Kruskal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알고리즘은</a:t>
            </a:r>
            <a:r>
              <a:rPr dirty="0" sz="2000" spc="-14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대부분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간선들을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정렬하는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시간에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좌우됨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  <a:tabLst>
                <a:tab pos="2384425" algn="l"/>
              </a:tabLst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사이클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테스트</a:t>
            </a:r>
            <a:r>
              <a:rPr dirty="0" sz="2000">
                <a:latin typeface="Gulim"/>
                <a:cs typeface="Gulim"/>
              </a:rPr>
              <a:t>	등의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작업은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정렬에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비해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매우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신속하게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수행됨</a:t>
            </a:r>
            <a:endParaRPr sz="20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000">
              <a:latin typeface="Gulim"/>
              <a:cs typeface="Gulim"/>
            </a:endParaRPr>
          </a:p>
          <a:p>
            <a:pPr marL="332105" marR="5080" indent="-320040">
              <a:lnSpc>
                <a:spcPts val="2400"/>
              </a:lnSpc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네트워크의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간선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-75" i="1">
                <a:latin typeface="Arial"/>
                <a:cs typeface="Arial"/>
              </a:rPr>
              <a:t>e</a:t>
            </a:r>
            <a:r>
              <a:rPr dirty="0" sz="2100" spc="-75" i="1">
                <a:latin typeface="Gulim"/>
                <a:cs typeface="Gulim"/>
              </a:rPr>
              <a:t>개를</a:t>
            </a:r>
            <a:r>
              <a:rPr dirty="0" sz="2100" spc="-150" i="1">
                <a:latin typeface="Gulim"/>
                <a:cs typeface="Gulim"/>
              </a:rPr>
              <a:t> </a:t>
            </a:r>
            <a:r>
              <a:rPr dirty="0" sz="2100" spc="-110" i="1">
                <a:latin typeface="Gulim"/>
                <a:cs typeface="Gulim"/>
              </a:rPr>
              <a:t>퀵정렬과</a:t>
            </a:r>
            <a:r>
              <a:rPr dirty="0" sz="2100" spc="-155" i="1">
                <a:latin typeface="Gulim"/>
                <a:cs typeface="Gulim"/>
              </a:rPr>
              <a:t> </a:t>
            </a:r>
            <a:r>
              <a:rPr dirty="0" sz="2100" spc="-105" i="1">
                <a:latin typeface="Gulim"/>
                <a:cs typeface="Gulim"/>
              </a:rPr>
              <a:t>같은</a:t>
            </a:r>
            <a:r>
              <a:rPr dirty="0" sz="2100" spc="-155" i="1">
                <a:latin typeface="Gulim"/>
                <a:cs typeface="Gulim"/>
              </a:rPr>
              <a:t> </a:t>
            </a:r>
            <a:r>
              <a:rPr dirty="0" sz="2100" spc="-105" i="1">
                <a:latin typeface="Gulim"/>
                <a:cs typeface="Gulim"/>
              </a:rPr>
              <a:t>효율적인</a:t>
            </a:r>
            <a:r>
              <a:rPr dirty="0" sz="2100" spc="-170" i="1">
                <a:latin typeface="Gulim"/>
                <a:cs typeface="Gulim"/>
              </a:rPr>
              <a:t> </a:t>
            </a:r>
            <a:r>
              <a:rPr dirty="0" sz="2100" spc="-105" i="1">
                <a:latin typeface="Gulim"/>
                <a:cs typeface="Gulim"/>
              </a:rPr>
              <a:t>알고리즘으로</a:t>
            </a:r>
            <a:r>
              <a:rPr dirty="0" sz="2100" spc="-170" i="1">
                <a:latin typeface="Gulim"/>
                <a:cs typeface="Gulim"/>
              </a:rPr>
              <a:t> </a:t>
            </a:r>
            <a:r>
              <a:rPr dirty="0" sz="2100" spc="-45" i="1">
                <a:latin typeface="Gulim"/>
                <a:cs typeface="Gulim"/>
              </a:rPr>
              <a:t>정렬 </a:t>
            </a:r>
            <a:r>
              <a:rPr dirty="0" sz="2000">
                <a:latin typeface="Gulim"/>
                <a:cs typeface="Gulim"/>
              </a:rPr>
              <a:t>한다면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Kruskal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알고리즘의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시간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복잡도는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20" i="1">
                <a:latin typeface="Arial"/>
                <a:cs typeface="Arial"/>
              </a:rPr>
              <a:t>O(e*log(e))</a:t>
            </a:r>
            <a:r>
              <a:rPr dirty="0" sz="2100" spc="-20" i="1">
                <a:latin typeface="Gulim"/>
                <a:cs typeface="Gulim"/>
              </a:rPr>
              <a:t>가</a:t>
            </a:r>
            <a:r>
              <a:rPr dirty="0" sz="2100" spc="-190" i="1">
                <a:latin typeface="Gulim"/>
                <a:cs typeface="Gulim"/>
              </a:rPr>
              <a:t> </a:t>
            </a:r>
            <a:r>
              <a:rPr dirty="0" sz="2100" spc="-25" i="1">
                <a:latin typeface="Gulim"/>
                <a:cs typeface="Gulim"/>
              </a:rPr>
              <a:t>된다 </a:t>
            </a:r>
            <a:r>
              <a:rPr dirty="0" sz="2000">
                <a:latin typeface="Gulim"/>
                <a:cs typeface="Gulim"/>
              </a:rPr>
              <a:t>퀵정렬의</a:t>
            </a:r>
            <a:r>
              <a:rPr dirty="0" sz="2000" spc="-15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시간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복잡도는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교재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477</a:t>
            </a:r>
            <a:r>
              <a:rPr dirty="0" sz="2000">
                <a:latin typeface="Gulim"/>
                <a:cs typeface="Gulim"/>
              </a:rPr>
              <a:t>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같이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 i="1">
                <a:latin typeface="Arial"/>
                <a:cs typeface="Arial"/>
              </a:rPr>
              <a:t>O(e*log(e))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2109"/>
            <a:ext cx="5648960" cy="103378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 spc="-10">
                <a:latin typeface="Gulim"/>
                <a:cs typeface="Gulim"/>
              </a:rPr>
              <a:t>최소비용신장트리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ts val="1835"/>
              </a:lnSpc>
              <a:spcBef>
                <a:spcPts val="300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1700" spc="-10">
                <a:latin typeface="Arial"/>
                <a:cs typeface="Arial"/>
              </a:rPr>
              <a:t>Kruskal</a:t>
            </a:r>
            <a:r>
              <a:rPr dirty="0" sz="1700" spc="-10">
                <a:latin typeface="Gulim"/>
                <a:cs typeface="Gulim"/>
              </a:rPr>
              <a:t>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MST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marR="5080">
              <a:lnSpc>
                <a:spcPct val="80000"/>
              </a:lnSpc>
              <a:spcBef>
                <a:spcPts val="204"/>
              </a:spcBef>
            </a:pPr>
            <a:r>
              <a:rPr dirty="0" sz="1700">
                <a:latin typeface="Gulim"/>
                <a:cs typeface="Gulim"/>
              </a:rPr>
              <a:t>나는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천인국교수님의</a:t>
            </a:r>
            <a:r>
              <a:rPr dirty="0" sz="1700" spc="-12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그래프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단계별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그림을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보고 </a:t>
            </a:r>
            <a:r>
              <a:rPr dirty="0" sz="1700">
                <a:latin typeface="Gulim"/>
                <a:cs typeface="Gulim"/>
              </a:rPr>
              <a:t>새로운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그래프에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대해서도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단계별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그림을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그릴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있다</a:t>
            </a:r>
            <a:endParaRPr sz="17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797" y="3137625"/>
            <a:ext cx="3263900" cy="150495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85"/>
              </a:spcBef>
              <a:buClr>
                <a:srgbClr val="DD8046"/>
              </a:buClr>
              <a:buAutoNum type="arabicPeriod" startAt="3"/>
              <a:tabLst>
                <a:tab pos="469265" algn="l"/>
              </a:tabLst>
            </a:pPr>
            <a:r>
              <a:rPr dirty="0" sz="1700">
                <a:latin typeface="Arial"/>
                <a:cs typeface="Arial"/>
              </a:rPr>
              <a:t>Prim</a:t>
            </a:r>
            <a:r>
              <a:rPr dirty="0" sz="1700">
                <a:latin typeface="Gulim"/>
                <a:cs typeface="Gulim"/>
              </a:rPr>
              <a:t>의</a:t>
            </a:r>
            <a:r>
              <a:rPr dirty="0" sz="1700" spc="-135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MST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Arial"/>
              <a:buAutoNum type="arabicPeriod" startAt="3"/>
              <a:tabLst>
                <a:tab pos="469265" algn="l"/>
              </a:tabLst>
            </a:pPr>
            <a:r>
              <a:rPr dirty="0" sz="1700" spc="-20">
                <a:latin typeface="Gulim"/>
                <a:cs typeface="Gulim"/>
              </a:rPr>
              <a:t>최단경로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AutoNum type="arabicPeriod" startAt="3"/>
              <a:tabLst>
                <a:tab pos="469265" algn="l"/>
              </a:tabLst>
            </a:pPr>
            <a:r>
              <a:rPr dirty="0" sz="1700" spc="-10">
                <a:latin typeface="Arial"/>
                <a:cs typeface="Arial"/>
              </a:rPr>
              <a:t>Dijkstra</a:t>
            </a:r>
            <a:r>
              <a:rPr dirty="0" sz="1700" spc="-10">
                <a:latin typeface="Gulim"/>
                <a:cs typeface="Gulim"/>
              </a:rPr>
              <a:t>의</a:t>
            </a:r>
            <a:r>
              <a:rPr dirty="0" sz="1700" spc="-9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최단경로</a:t>
            </a:r>
            <a:r>
              <a:rPr dirty="0" sz="1700" spc="-75">
                <a:latin typeface="Gulim"/>
                <a:cs typeface="Gulim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AutoNum type="arabicPeriod" startAt="3"/>
              <a:tabLst>
                <a:tab pos="469265" algn="l"/>
              </a:tabLst>
            </a:pPr>
            <a:r>
              <a:rPr dirty="0" sz="1700">
                <a:latin typeface="Arial"/>
                <a:cs typeface="Arial"/>
              </a:rPr>
              <a:t>Floyd</a:t>
            </a:r>
            <a:r>
              <a:rPr dirty="0" sz="1700">
                <a:latin typeface="Gulim"/>
                <a:cs typeface="Gulim"/>
              </a:rPr>
              <a:t>의</a:t>
            </a:r>
            <a:r>
              <a:rPr dirty="0" sz="1700" spc="-11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최단경로</a:t>
            </a:r>
            <a:r>
              <a:rPr dirty="0" sz="1700" spc="-135">
                <a:latin typeface="Gulim"/>
                <a:cs typeface="Gulim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90"/>
              </a:spcBef>
              <a:buClr>
                <a:srgbClr val="DD8046"/>
              </a:buClr>
              <a:buFont typeface="Arial"/>
              <a:buAutoNum type="arabicPeriod" startAt="3"/>
              <a:tabLst>
                <a:tab pos="469265" algn="l"/>
              </a:tabLst>
            </a:pPr>
            <a:r>
              <a:rPr dirty="0" sz="1700" spc="-20">
                <a:latin typeface="Gulim"/>
                <a:cs typeface="Gulim"/>
              </a:rPr>
              <a:t>위상정렬</a:t>
            </a:r>
            <a:endParaRPr sz="17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5771" y="4188739"/>
            <a:ext cx="1959241" cy="15231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5585" y="1969477"/>
            <a:ext cx="1863331" cy="20425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11426" y="1973716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66468" y="345807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30716" y="3682984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0535" y="201869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60981" y="278336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95817" y="190387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58506" y="2227492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86611" y="316333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36166" y="3006923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88400" y="3748095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65553" y="3141861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0065" y="2873333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76905" y="242217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40775" y="233221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3515">
              <a:lnSpc>
                <a:spcPts val="3815"/>
              </a:lnSpc>
              <a:spcBef>
                <a:spcPts val="100"/>
              </a:spcBef>
            </a:pPr>
            <a:r>
              <a:rPr dirty="0" sz="3200" spc="-275">
                <a:latin typeface="Tw Cen MT"/>
                <a:cs typeface="Tw Cen MT"/>
              </a:rPr>
              <a:t>Prim</a:t>
            </a:r>
            <a:r>
              <a:rPr dirty="0" sz="3200" spc="-275"/>
              <a:t>의</a:t>
            </a:r>
            <a:r>
              <a:rPr dirty="0" sz="3200" spc="-190"/>
              <a:t> </a:t>
            </a:r>
            <a:r>
              <a:rPr dirty="0" sz="3200">
                <a:latin typeface="Tw Cen MT"/>
                <a:cs typeface="Tw Cen MT"/>
              </a:rPr>
              <a:t>MST</a:t>
            </a:r>
            <a:r>
              <a:rPr dirty="0" sz="3200" spc="-10">
                <a:latin typeface="Tw Cen MT"/>
                <a:cs typeface="Tw Cen MT"/>
              </a:rPr>
              <a:t> </a:t>
            </a:r>
            <a:r>
              <a:rPr dirty="0" sz="3200" spc="-1555"/>
              <a:t>알고리즘</a:t>
            </a:r>
            <a:endParaRPr sz="3200">
              <a:latin typeface="Tw Cen MT"/>
              <a:cs typeface="Tw Cen MT"/>
            </a:endParaRPr>
          </a:p>
          <a:p>
            <a:pPr marL="183515">
              <a:lnSpc>
                <a:spcPts val="3815"/>
              </a:lnSpc>
            </a:pPr>
            <a:r>
              <a:rPr dirty="0" sz="3200" spc="-10">
                <a:latin typeface="Tw Cen MT"/>
                <a:cs typeface="Tw Cen MT"/>
                <a:hlinkClick r:id="rId2"/>
              </a:rPr>
              <a:t>https://en.wikipedia.org/wiki/Prim</a:t>
            </a:r>
            <a:r>
              <a:rPr dirty="0" sz="3200" spc="-10">
                <a:latin typeface="Tw Cen MT"/>
                <a:cs typeface="Tw Cen MT"/>
              </a:rPr>
              <a:t>’s_algorithm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6665" y="1878670"/>
            <a:ext cx="8194675" cy="1812289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시작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정점에서부터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출발하여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신장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집합을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단계적으로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확장해나감</a:t>
            </a:r>
            <a:endParaRPr sz="2000">
              <a:latin typeface="Gulim"/>
              <a:cs typeface="Gulim"/>
            </a:endParaRPr>
          </a:p>
          <a:p>
            <a:pPr marL="332105" marR="50165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신장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집합에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인접한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정점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중에서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간선으로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연결된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정점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선택 </a:t>
            </a:r>
            <a:r>
              <a:rPr dirty="0" sz="2000">
                <a:latin typeface="Gulim"/>
                <a:cs typeface="Gulim"/>
              </a:rPr>
              <a:t>하여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신장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집합에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추가함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ts val="2395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Arial"/>
                <a:cs typeface="Arial"/>
              </a:rPr>
              <a:t>Prim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MST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알고리즘은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최적의</a:t>
            </a:r>
            <a:r>
              <a:rPr dirty="0" sz="2000" spc="-15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해답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임이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증명됨</a:t>
            </a:r>
            <a:endParaRPr sz="2000">
              <a:latin typeface="Gulim"/>
              <a:cs typeface="Gulim"/>
            </a:endParaRPr>
          </a:p>
          <a:p>
            <a:pPr marL="332105">
              <a:lnSpc>
                <a:spcPts val="2395"/>
              </a:lnSpc>
            </a:pPr>
            <a:r>
              <a:rPr dirty="0" sz="2000" spc="-10">
                <a:latin typeface="Arial"/>
                <a:cs typeface="Arial"/>
                <a:hlinkClick r:id="rId2"/>
              </a:rPr>
              <a:t>https://en.wikipedia.org/wiki/Prim</a:t>
            </a:r>
            <a:r>
              <a:rPr dirty="0" sz="2000" spc="-10">
                <a:latin typeface="Arial"/>
                <a:cs typeface="Arial"/>
              </a:rPr>
              <a:t>’s_algorithm#Proof_of_correctness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1801" y="4182655"/>
            <a:ext cx="4904955" cy="28011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>
                <a:latin typeface="Tw Cen MT"/>
                <a:cs typeface="Tw Cen MT"/>
              </a:rPr>
              <a:t>Prim</a:t>
            </a:r>
            <a:r>
              <a:rPr dirty="0" spc="-385"/>
              <a:t>의</a:t>
            </a:r>
            <a:r>
              <a:rPr dirty="0" spc="-265"/>
              <a:t>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-30">
                <a:latin typeface="Tw Cen MT"/>
                <a:cs typeface="Tw Cen MT"/>
              </a:rPr>
              <a:t> </a:t>
            </a:r>
            <a:r>
              <a:rPr dirty="0" spc="-2125"/>
              <a:t>알고리즘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43075" y="2165337"/>
            <a:ext cx="5716905" cy="3487420"/>
            <a:chOff x="1743075" y="2165337"/>
            <a:chExt cx="5716905" cy="3487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075" y="2604642"/>
              <a:ext cx="2472270" cy="30478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9862" y="2165337"/>
              <a:ext cx="3379571" cy="21209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257825" y="2515077"/>
            <a:ext cx="1548130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79705" marR="17208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간선</a:t>
            </a:r>
            <a:r>
              <a:rPr dirty="0" sz="1400" spc="-1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(a,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0">
                <a:solidFill>
                  <a:srgbClr val="FF0000"/>
                </a:solidFill>
                <a:latin typeface="Gulim"/>
                <a:cs typeface="Gulim"/>
              </a:rPr>
              <a:t>b)=29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간선</a:t>
            </a:r>
            <a:r>
              <a:rPr dirty="0" sz="1400" spc="-1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(f,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0">
                <a:solidFill>
                  <a:srgbClr val="FF0000"/>
                </a:solidFill>
                <a:latin typeface="Gulim"/>
                <a:cs typeface="Gulim"/>
              </a:rPr>
              <a:t>e)=27</a:t>
            </a:r>
            <a:endParaRPr sz="1400">
              <a:latin typeface="Gulim"/>
              <a:cs typeface="Gulim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간선</a:t>
            </a:r>
            <a:r>
              <a:rPr dirty="0" sz="1400" spc="-2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(f,</a:t>
            </a:r>
            <a:r>
              <a:rPr dirty="0" sz="1400" spc="-3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e)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  <a:p>
            <a:pPr algn="ctr" marL="12700" marR="5080">
              <a:lnSpc>
                <a:spcPct val="100000"/>
              </a:lnSpc>
              <a:spcBef>
                <a:spcPts val="1675"/>
              </a:spcBef>
            </a:pP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정점</a:t>
            </a:r>
            <a:r>
              <a:rPr dirty="0" sz="1400" spc="-2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e가</a:t>
            </a:r>
            <a:r>
              <a:rPr dirty="0" sz="1400" spc="-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신장</a:t>
            </a:r>
            <a:r>
              <a:rPr dirty="0" sz="1400" spc="-2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트리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집합에</a:t>
            </a:r>
            <a:r>
              <a:rPr dirty="0" sz="1400" spc="-1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추가됨</a:t>
            </a:r>
            <a:endParaRPr sz="1400">
              <a:latin typeface="Gulim"/>
              <a:cs typeface="Gulim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732595" y="866686"/>
            <a:ext cx="5512435" cy="5701665"/>
            <a:chOff x="2732595" y="866686"/>
            <a:chExt cx="5512435" cy="57016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4764" y="3701326"/>
              <a:ext cx="3008134" cy="1477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2595" y="866686"/>
              <a:ext cx="5512371" cy="570127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5">
                <a:latin typeface="Tw Cen MT"/>
                <a:cs typeface="Tw Cen MT"/>
              </a:rPr>
              <a:t>Prim</a:t>
            </a:r>
            <a:r>
              <a:rPr dirty="0" spc="-385"/>
              <a:t>의</a:t>
            </a:r>
            <a:r>
              <a:rPr dirty="0" spc="-265"/>
              <a:t> </a:t>
            </a:r>
            <a:r>
              <a:rPr dirty="0">
                <a:latin typeface="Tw Cen MT"/>
                <a:cs typeface="Tw Cen MT"/>
              </a:rPr>
              <a:t>MST</a:t>
            </a:r>
            <a:r>
              <a:rPr dirty="0" spc="-30">
                <a:latin typeface="Tw Cen MT"/>
                <a:cs typeface="Tw Cen MT"/>
              </a:rPr>
              <a:t> </a:t>
            </a:r>
            <a:r>
              <a:rPr dirty="0" spc="-2125"/>
              <a:t>알고리즘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62657" y="2059343"/>
            <a:ext cx="5055870" cy="4445000"/>
            <a:chOff x="2362657" y="2059343"/>
            <a:chExt cx="5055870" cy="4445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1801" y="2126812"/>
              <a:ext cx="4723933" cy="43680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62657" y="2059343"/>
              <a:ext cx="5055870" cy="4445000"/>
            </a:xfrm>
            <a:custGeom>
              <a:avLst/>
              <a:gdLst/>
              <a:ahLst/>
              <a:cxnLst/>
              <a:rect l="l" t="t" r="r" b="b"/>
              <a:pathLst>
                <a:path w="5055870" h="4445000">
                  <a:moveTo>
                    <a:pt x="5055679" y="0"/>
                  </a:moveTo>
                  <a:lnTo>
                    <a:pt x="0" y="0"/>
                  </a:lnTo>
                  <a:lnTo>
                    <a:pt x="0" y="4444644"/>
                  </a:lnTo>
                  <a:lnTo>
                    <a:pt x="5055679" y="4444644"/>
                  </a:lnTo>
                  <a:lnTo>
                    <a:pt x="5055679" y="4440072"/>
                  </a:lnTo>
                  <a:lnTo>
                    <a:pt x="9143" y="4440072"/>
                  </a:lnTo>
                  <a:lnTo>
                    <a:pt x="4572" y="4435500"/>
                  </a:lnTo>
                  <a:lnTo>
                    <a:pt x="9143" y="4435500"/>
                  </a:lnTo>
                  <a:lnTo>
                    <a:pt x="9143" y="9131"/>
                  </a:lnTo>
                  <a:lnTo>
                    <a:pt x="4571" y="9131"/>
                  </a:lnTo>
                  <a:lnTo>
                    <a:pt x="9143" y="4571"/>
                  </a:lnTo>
                  <a:lnTo>
                    <a:pt x="5055679" y="4571"/>
                  </a:lnTo>
                  <a:lnTo>
                    <a:pt x="5055679" y="0"/>
                  </a:lnTo>
                  <a:close/>
                </a:path>
                <a:path w="5055870" h="4445000">
                  <a:moveTo>
                    <a:pt x="9143" y="4435500"/>
                  </a:moveTo>
                  <a:lnTo>
                    <a:pt x="4572" y="4435500"/>
                  </a:lnTo>
                  <a:lnTo>
                    <a:pt x="9143" y="4440072"/>
                  </a:lnTo>
                  <a:lnTo>
                    <a:pt x="9143" y="4435500"/>
                  </a:lnTo>
                  <a:close/>
                </a:path>
                <a:path w="5055870" h="4445000">
                  <a:moveTo>
                    <a:pt x="5046548" y="4435500"/>
                  </a:moveTo>
                  <a:lnTo>
                    <a:pt x="9143" y="4435500"/>
                  </a:lnTo>
                  <a:lnTo>
                    <a:pt x="9143" y="4440072"/>
                  </a:lnTo>
                  <a:lnTo>
                    <a:pt x="5046548" y="4440072"/>
                  </a:lnTo>
                  <a:lnTo>
                    <a:pt x="5046548" y="4435500"/>
                  </a:lnTo>
                  <a:close/>
                </a:path>
                <a:path w="5055870" h="4445000">
                  <a:moveTo>
                    <a:pt x="5046548" y="4571"/>
                  </a:moveTo>
                  <a:lnTo>
                    <a:pt x="5046548" y="4440072"/>
                  </a:lnTo>
                  <a:lnTo>
                    <a:pt x="5051107" y="4435500"/>
                  </a:lnTo>
                  <a:lnTo>
                    <a:pt x="5055679" y="4435500"/>
                  </a:lnTo>
                  <a:lnTo>
                    <a:pt x="5055679" y="9131"/>
                  </a:lnTo>
                  <a:lnTo>
                    <a:pt x="5051107" y="9131"/>
                  </a:lnTo>
                  <a:lnTo>
                    <a:pt x="5046548" y="4571"/>
                  </a:lnTo>
                  <a:close/>
                </a:path>
                <a:path w="5055870" h="4445000">
                  <a:moveTo>
                    <a:pt x="5055679" y="4435500"/>
                  </a:moveTo>
                  <a:lnTo>
                    <a:pt x="5051107" y="4435500"/>
                  </a:lnTo>
                  <a:lnTo>
                    <a:pt x="5046548" y="4440072"/>
                  </a:lnTo>
                  <a:lnTo>
                    <a:pt x="5055679" y="4440072"/>
                  </a:lnTo>
                  <a:lnTo>
                    <a:pt x="5055679" y="4435500"/>
                  </a:lnTo>
                  <a:close/>
                </a:path>
                <a:path w="5055870" h="4445000">
                  <a:moveTo>
                    <a:pt x="9143" y="4571"/>
                  </a:moveTo>
                  <a:lnTo>
                    <a:pt x="4571" y="9131"/>
                  </a:lnTo>
                  <a:lnTo>
                    <a:pt x="9143" y="9131"/>
                  </a:lnTo>
                  <a:lnTo>
                    <a:pt x="9143" y="4571"/>
                  </a:lnTo>
                  <a:close/>
                </a:path>
                <a:path w="5055870" h="4445000">
                  <a:moveTo>
                    <a:pt x="5046548" y="4571"/>
                  </a:moveTo>
                  <a:lnTo>
                    <a:pt x="9143" y="4571"/>
                  </a:lnTo>
                  <a:lnTo>
                    <a:pt x="9143" y="9131"/>
                  </a:lnTo>
                  <a:lnTo>
                    <a:pt x="5046548" y="9131"/>
                  </a:lnTo>
                  <a:lnTo>
                    <a:pt x="5046548" y="4571"/>
                  </a:lnTo>
                  <a:close/>
                </a:path>
                <a:path w="5055870" h="4445000">
                  <a:moveTo>
                    <a:pt x="5055679" y="4571"/>
                  </a:moveTo>
                  <a:lnTo>
                    <a:pt x="5046548" y="4571"/>
                  </a:lnTo>
                  <a:lnTo>
                    <a:pt x="5051107" y="9131"/>
                  </a:lnTo>
                  <a:lnTo>
                    <a:pt x="5055679" y="9131"/>
                  </a:lnTo>
                  <a:lnTo>
                    <a:pt x="5055679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7866" y="2146160"/>
            <a:ext cx="7937500" cy="3348354"/>
            <a:chOff x="1217866" y="2146160"/>
            <a:chExt cx="7937500" cy="3348354"/>
          </a:xfrm>
        </p:grpSpPr>
        <p:sp>
          <p:nvSpPr>
            <p:cNvPr id="3" name="object 3"/>
            <p:cNvSpPr/>
            <p:nvPr/>
          </p:nvSpPr>
          <p:spPr>
            <a:xfrm>
              <a:off x="1231569" y="2158352"/>
              <a:ext cx="7910195" cy="3322320"/>
            </a:xfrm>
            <a:custGeom>
              <a:avLst/>
              <a:gdLst/>
              <a:ahLst/>
              <a:cxnLst/>
              <a:rect l="l" t="t" r="r" b="b"/>
              <a:pathLst>
                <a:path w="7910195" h="3322320">
                  <a:moveTo>
                    <a:pt x="7910055" y="0"/>
                  </a:moveTo>
                  <a:lnTo>
                    <a:pt x="0" y="0"/>
                  </a:lnTo>
                  <a:lnTo>
                    <a:pt x="0" y="3322053"/>
                  </a:lnTo>
                  <a:lnTo>
                    <a:pt x="7910055" y="3322053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17866" y="2146160"/>
              <a:ext cx="7937500" cy="3348354"/>
            </a:xfrm>
            <a:custGeom>
              <a:avLst/>
              <a:gdLst/>
              <a:ahLst/>
              <a:cxnLst/>
              <a:rect l="l" t="t" r="r" b="b"/>
              <a:pathLst>
                <a:path w="7937500" h="3348354">
                  <a:moveTo>
                    <a:pt x="7937449" y="0"/>
                  </a:moveTo>
                  <a:lnTo>
                    <a:pt x="0" y="0"/>
                  </a:lnTo>
                  <a:lnTo>
                    <a:pt x="0" y="3347948"/>
                  </a:lnTo>
                  <a:lnTo>
                    <a:pt x="7937449" y="3347948"/>
                  </a:lnTo>
                  <a:lnTo>
                    <a:pt x="7937449" y="3334245"/>
                  </a:lnTo>
                  <a:lnTo>
                    <a:pt x="25882" y="3334245"/>
                  </a:lnTo>
                  <a:lnTo>
                    <a:pt x="13703" y="3322053"/>
                  </a:lnTo>
                  <a:lnTo>
                    <a:pt x="25882" y="3322053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92"/>
                  </a:lnTo>
                  <a:lnTo>
                    <a:pt x="7937449" y="12192"/>
                  </a:lnTo>
                  <a:lnTo>
                    <a:pt x="7937449" y="0"/>
                  </a:lnTo>
                  <a:close/>
                </a:path>
                <a:path w="7937500" h="3348354">
                  <a:moveTo>
                    <a:pt x="25882" y="3322053"/>
                  </a:moveTo>
                  <a:lnTo>
                    <a:pt x="13703" y="3322053"/>
                  </a:lnTo>
                  <a:lnTo>
                    <a:pt x="25882" y="3334245"/>
                  </a:lnTo>
                  <a:lnTo>
                    <a:pt x="25882" y="3322053"/>
                  </a:lnTo>
                  <a:close/>
                </a:path>
                <a:path w="7937500" h="3348354">
                  <a:moveTo>
                    <a:pt x="7911579" y="3322053"/>
                  </a:moveTo>
                  <a:lnTo>
                    <a:pt x="25882" y="3322053"/>
                  </a:lnTo>
                  <a:lnTo>
                    <a:pt x="25882" y="3334245"/>
                  </a:lnTo>
                  <a:lnTo>
                    <a:pt x="7911579" y="3334245"/>
                  </a:lnTo>
                  <a:lnTo>
                    <a:pt x="7911579" y="3322053"/>
                  </a:lnTo>
                  <a:close/>
                </a:path>
                <a:path w="7937500" h="3348354">
                  <a:moveTo>
                    <a:pt x="7911579" y="12192"/>
                  </a:moveTo>
                  <a:lnTo>
                    <a:pt x="7911579" y="3334245"/>
                  </a:lnTo>
                  <a:lnTo>
                    <a:pt x="7923758" y="3322053"/>
                  </a:lnTo>
                  <a:lnTo>
                    <a:pt x="7937449" y="3322053"/>
                  </a:lnTo>
                  <a:lnTo>
                    <a:pt x="7937449" y="25895"/>
                  </a:lnTo>
                  <a:lnTo>
                    <a:pt x="7923758" y="25895"/>
                  </a:lnTo>
                  <a:lnTo>
                    <a:pt x="7911579" y="12192"/>
                  </a:lnTo>
                  <a:close/>
                </a:path>
                <a:path w="7937500" h="3348354">
                  <a:moveTo>
                    <a:pt x="7937449" y="3322053"/>
                  </a:moveTo>
                  <a:lnTo>
                    <a:pt x="7923758" y="3322053"/>
                  </a:lnTo>
                  <a:lnTo>
                    <a:pt x="7911579" y="3334245"/>
                  </a:lnTo>
                  <a:lnTo>
                    <a:pt x="7937449" y="3334245"/>
                  </a:lnTo>
                  <a:lnTo>
                    <a:pt x="7937449" y="3322053"/>
                  </a:lnTo>
                  <a:close/>
                </a:path>
                <a:path w="7937500" h="3348354">
                  <a:moveTo>
                    <a:pt x="25882" y="12192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92"/>
                  </a:lnTo>
                  <a:close/>
                </a:path>
                <a:path w="7937500" h="3348354">
                  <a:moveTo>
                    <a:pt x="7911579" y="12192"/>
                  </a:moveTo>
                  <a:lnTo>
                    <a:pt x="25882" y="12192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92"/>
                  </a:lnTo>
                  <a:close/>
                </a:path>
                <a:path w="7937500" h="3348354">
                  <a:moveTo>
                    <a:pt x="7937449" y="12192"/>
                  </a:moveTo>
                  <a:lnTo>
                    <a:pt x="7911579" y="12192"/>
                  </a:lnTo>
                  <a:lnTo>
                    <a:pt x="7923758" y="25895"/>
                  </a:lnTo>
                  <a:lnTo>
                    <a:pt x="7937449" y="25895"/>
                  </a:lnTo>
                  <a:lnTo>
                    <a:pt x="7937449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308785" y="2185080"/>
            <a:ext cx="4388485" cy="3225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84924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&lt;stdio.h&gt; </a:t>
            </a: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&lt;stdlib.h&gt;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TRUE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FALSE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 marR="222694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MAX_VERTICES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100 </a:t>
            </a: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1000L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0"/>
              </a:spcBef>
              <a:tabLst>
                <a:tab pos="1838960" algn="l"/>
              </a:tabLst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n;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정점의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개수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weight[MAX_VERTICES][MAX_VERTICES];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GraphType;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207073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selected[MAX_VERTICES];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distance[MAX_VERTICES];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489" rIns="0" bIns="0" rtlCol="0" vert="horz">
            <a:spAutoFit/>
          </a:bodyPr>
          <a:lstStyle/>
          <a:p>
            <a:pPr marL="197485">
              <a:lnSpc>
                <a:spcPct val="100000"/>
              </a:lnSpc>
              <a:spcBef>
                <a:spcPts val="90"/>
              </a:spcBef>
            </a:pPr>
            <a:r>
              <a:rPr dirty="0" sz="4000" spc="-350">
                <a:latin typeface="Tw Cen MT"/>
                <a:cs typeface="Tw Cen MT"/>
              </a:rPr>
              <a:t>Prim</a:t>
            </a:r>
            <a:r>
              <a:rPr dirty="0" sz="4000" spc="-350"/>
              <a:t>의</a:t>
            </a:r>
            <a:r>
              <a:rPr dirty="0" sz="4000" spc="-240"/>
              <a:t> </a:t>
            </a:r>
            <a:r>
              <a:rPr dirty="0" sz="4000">
                <a:latin typeface="Tw Cen MT"/>
                <a:cs typeface="Tw Cen MT"/>
              </a:rPr>
              <a:t>MST</a:t>
            </a:r>
            <a:r>
              <a:rPr dirty="0" sz="4000" spc="-55">
                <a:latin typeface="Tw Cen MT"/>
                <a:cs typeface="Tw Cen MT"/>
              </a:rPr>
              <a:t> </a:t>
            </a:r>
            <a:r>
              <a:rPr dirty="0" sz="4000" spc="-2095"/>
              <a:t>프로그램</a:t>
            </a:r>
            <a:r>
              <a:rPr dirty="0" sz="4000" spc="-220"/>
              <a:t> </a:t>
            </a:r>
            <a:r>
              <a:rPr dirty="0" sz="4000" spc="-10">
                <a:latin typeface="Tw Cen MT"/>
                <a:cs typeface="Tw Cen MT"/>
              </a:rPr>
              <a:t>(prim.c)</a:t>
            </a:r>
            <a:endParaRPr sz="40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7866" y="2146160"/>
            <a:ext cx="7937500" cy="2917190"/>
            <a:chOff x="1217866" y="2146160"/>
            <a:chExt cx="7937500" cy="2917190"/>
          </a:xfrm>
        </p:grpSpPr>
        <p:sp>
          <p:nvSpPr>
            <p:cNvPr id="3" name="object 3"/>
            <p:cNvSpPr/>
            <p:nvPr/>
          </p:nvSpPr>
          <p:spPr>
            <a:xfrm>
              <a:off x="1231569" y="2158339"/>
              <a:ext cx="7910195" cy="2893060"/>
            </a:xfrm>
            <a:custGeom>
              <a:avLst/>
              <a:gdLst/>
              <a:ahLst/>
              <a:cxnLst/>
              <a:rect l="l" t="t" r="r" b="b"/>
              <a:pathLst>
                <a:path w="7910195" h="2893060">
                  <a:moveTo>
                    <a:pt x="7910055" y="0"/>
                  </a:moveTo>
                  <a:lnTo>
                    <a:pt x="0" y="0"/>
                  </a:lnTo>
                  <a:lnTo>
                    <a:pt x="0" y="2892526"/>
                  </a:lnTo>
                  <a:lnTo>
                    <a:pt x="7910055" y="2892526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17866" y="2146160"/>
              <a:ext cx="7937500" cy="2917190"/>
            </a:xfrm>
            <a:custGeom>
              <a:avLst/>
              <a:gdLst/>
              <a:ahLst/>
              <a:cxnLst/>
              <a:rect l="l" t="t" r="r" b="b"/>
              <a:pathLst>
                <a:path w="7937500" h="2917190">
                  <a:moveTo>
                    <a:pt x="7937449" y="0"/>
                  </a:moveTo>
                  <a:lnTo>
                    <a:pt x="0" y="0"/>
                  </a:lnTo>
                  <a:lnTo>
                    <a:pt x="0" y="2916897"/>
                  </a:lnTo>
                  <a:lnTo>
                    <a:pt x="7937449" y="2916897"/>
                  </a:lnTo>
                  <a:lnTo>
                    <a:pt x="7937449" y="2904705"/>
                  </a:lnTo>
                  <a:lnTo>
                    <a:pt x="25882" y="2904705"/>
                  </a:lnTo>
                  <a:lnTo>
                    <a:pt x="13703" y="2891002"/>
                  </a:lnTo>
                  <a:lnTo>
                    <a:pt x="25882" y="2891002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92"/>
                  </a:lnTo>
                  <a:lnTo>
                    <a:pt x="7937449" y="12192"/>
                  </a:lnTo>
                  <a:lnTo>
                    <a:pt x="7937449" y="0"/>
                  </a:lnTo>
                  <a:close/>
                </a:path>
                <a:path w="7937500" h="2917190">
                  <a:moveTo>
                    <a:pt x="25882" y="2891002"/>
                  </a:moveTo>
                  <a:lnTo>
                    <a:pt x="13703" y="2891002"/>
                  </a:lnTo>
                  <a:lnTo>
                    <a:pt x="25882" y="2904705"/>
                  </a:lnTo>
                  <a:lnTo>
                    <a:pt x="25882" y="2891002"/>
                  </a:lnTo>
                  <a:close/>
                </a:path>
                <a:path w="7937500" h="2917190">
                  <a:moveTo>
                    <a:pt x="7911579" y="2891002"/>
                  </a:moveTo>
                  <a:lnTo>
                    <a:pt x="25882" y="2891002"/>
                  </a:lnTo>
                  <a:lnTo>
                    <a:pt x="25882" y="2904705"/>
                  </a:lnTo>
                  <a:lnTo>
                    <a:pt x="7911579" y="2904705"/>
                  </a:lnTo>
                  <a:lnTo>
                    <a:pt x="7911579" y="2891002"/>
                  </a:lnTo>
                  <a:close/>
                </a:path>
                <a:path w="7937500" h="2917190">
                  <a:moveTo>
                    <a:pt x="7911579" y="12192"/>
                  </a:moveTo>
                  <a:lnTo>
                    <a:pt x="7911579" y="2904705"/>
                  </a:lnTo>
                  <a:lnTo>
                    <a:pt x="7923758" y="2891002"/>
                  </a:lnTo>
                  <a:lnTo>
                    <a:pt x="7937449" y="2891002"/>
                  </a:lnTo>
                  <a:lnTo>
                    <a:pt x="7937449" y="25895"/>
                  </a:lnTo>
                  <a:lnTo>
                    <a:pt x="7923758" y="25895"/>
                  </a:lnTo>
                  <a:lnTo>
                    <a:pt x="7911579" y="12192"/>
                  </a:lnTo>
                  <a:close/>
                </a:path>
                <a:path w="7937500" h="2917190">
                  <a:moveTo>
                    <a:pt x="7937449" y="2891002"/>
                  </a:moveTo>
                  <a:lnTo>
                    <a:pt x="7923758" y="2891002"/>
                  </a:lnTo>
                  <a:lnTo>
                    <a:pt x="7911579" y="2904705"/>
                  </a:lnTo>
                  <a:lnTo>
                    <a:pt x="7937449" y="2904705"/>
                  </a:lnTo>
                  <a:lnTo>
                    <a:pt x="7937449" y="2891002"/>
                  </a:lnTo>
                  <a:close/>
                </a:path>
                <a:path w="7937500" h="2917190">
                  <a:moveTo>
                    <a:pt x="25882" y="12192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92"/>
                  </a:lnTo>
                  <a:close/>
                </a:path>
                <a:path w="7937500" h="2917190">
                  <a:moveTo>
                    <a:pt x="7911579" y="12192"/>
                  </a:moveTo>
                  <a:lnTo>
                    <a:pt x="25882" y="12192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92"/>
                  </a:lnTo>
                  <a:close/>
                </a:path>
                <a:path w="7937500" h="2917190">
                  <a:moveTo>
                    <a:pt x="7937449" y="12192"/>
                  </a:moveTo>
                  <a:lnTo>
                    <a:pt x="7911579" y="12192"/>
                  </a:lnTo>
                  <a:lnTo>
                    <a:pt x="7923758" y="25895"/>
                  </a:lnTo>
                  <a:lnTo>
                    <a:pt x="7937449" y="25895"/>
                  </a:lnTo>
                  <a:lnTo>
                    <a:pt x="7937449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308785" y="2188128"/>
            <a:ext cx="5941695" cy="279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최소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dist[v]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값을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갖는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반환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get_min_vertex(int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n)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95">
                <a:latin typeface="Trebuchet MS"/>
                <a:cs typeface="Trebuchet MS"/>
              </a:rPr>
              <a:t>v,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i;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0;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 &lt;n;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(!selected[i])</a:t>
            </a:r>
            <a:r>
              <a:rPr dirty="0" sz="1400" spc="-50">
                <a:latin typeface="Trebuchet MS"/>
                <a:cs typeface="Trebuchet MS"/>
              </a:rPr>
              <a:t> {</a:t>
            </a:r>
            <a:endParaRPr sz="1400">
              <a:latin typeface="Trebuchet MS"/>
              <a:cs typeface="Trebuchet MS"/>
            </a:endParaRPr>
          </a:p>
          <a:p>
            <a:pPr marL="2752725" marR="26670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25">
                <a:latin typeface="Trebuchet MS"/>
                <a:cs typeface="Trebuchet MS"/>
              </a:rPr>
              <a:t>i; </a:t>
            </a:r>
            <a:r>
              <a:rPr dirty="0" sz="1400" spc="-10">
                <a:latin typeface="Trebuchet MS"/>
                <a:cs typeface="Trebuchet MS"/>
              </a:rPr>
              <a:t>break;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 = 0;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 &lt; 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(!selected[i]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&amp;&amp;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(distance[i]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distance[v]))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i;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(v);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489" rIns="0" bIns="0" rtlCol="0" vert="horz">
            <a:spAutoFit/>
          </a:bodyPr>
          <a:lstStyle/>
          <a:p>
            <a:pPr marL="172085">
              <a:lnSpc>
                <a:spcPct val="100000"/>
              </a:lnSpc>
              <a:spcBef>
                <a:spcPts val="90"/>
              </a:spcBef>
            </a:pPr>
            <a:r>
              <a:rPr dirty="0" sz="4000" spc="-350">
                <a:latin typeface="Tw Cen MT"/>
                <a:cs typeface="Tw Cen MT"/>
              </a:rPr>
              <a:t>Prim</a:t>
            </a:r>
            <a:r>
              <a:rPr dirty="0" sz="4000" spc="-350"/>
              <a:t>의</a:t>
            </a:r>
            <a:r>
              <a:rPr dirty="0" sz="4000" spc="-240"/>
              <a:t> </a:t>
            </a:r>
            <a:r>
              <a:rPr dirty="0" sz="4000">
                <a:latin typeface="Tw Cen MT"/>
                <a:cs typeface="Tw Cen MT"/>
              </a:rPr>
              <a:t>MST</a:t>
            </a:r>
            <a:r>
              <a:rPr dirty="0" sz="4000" spc="-60">
                <a:latin typeface="Tw Cen MT"/>
                <a:cs typeface="Tw Cen MT"/>
              </a:rPr>
              <a:t> </a:t>
            </a:r>
            <a:r>
              <a:rPr dirty="0" sz="4000" spc="-2115"/>
              <a:t>프로그램</a:t>
            </a:r>
            <a:endParaRPr sz="40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7866" y="2146160"/>
            <a:ext cx="8292465" cy="5060315"/>
            <a:chOff x="1217866" y="2146160"/>
            <a:chExt cx="8292465" cy="5060315"/>
          </a:xfrm>
        </p:grpSpPr>
        <p:sp>
          <p:nvSpPr>
            <p:cNvPr id="3" name="object 3"/>
            <p:cNvSpPr/>
            <p:nvPr/>
          </p:nvSpPr>
          <p:spPr>
            <a:xfrm>
              <a:off x="1231569" y="2158339"/>
              <a:ext cx="7910195" cy="4184650"/>
            </a:xfrm>
            <a:custGeom>
              <a:avLst/>
              <a:gdLst/>
              <a:ahLst/>
              <a:cxnLst/>
              <a:rect l="l" t="t" r="r" b="b"/>
              <a:pathLst>
                <a:path w="7910195" h="4184650">
                  <a:moveTo>
                    <a:pt x="7910055" y="0"/>
                  </a:moveTo>
                  <a:lnTo>
                    <a:pt x="0" y="0"/>
                  </a:lnTo>
                  <a:lnTo>
                    <a:pt x="0" y="4184180"/>
                  </a:lnTo>
                  <a:lnTo>
                    <a:pt x="7910055" y="4184180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17866" y="2146160"/>
              <a:ext cx="7937500" cy="4208780"/>
            </a:xfrm>
            <a:custGeom>
              <a:avLst/>
              <a:gdLst/>
              <a:ahLst/>
              <a:cxnLst/>
              <a:rect l="l" t="t" r="r" b="b"/>
              <a:pathLst>
                <a:path w="7937500" h="4208780">
                  <a:moveTo>
                    <a:pt x="7937449" y="0"/>
                  </a:moveTo>
                  <a:lnTo>
                    <a:pt x="0" y="0"/>
                  </a:lnTo>
                  <a:lnTo>
                    <a:pt x="0" y="4208551"/>
                  </a:lnTo>
                  <a:lnTo>
                    <a:pt x="7937449" y="4208551"/>
                  </a:lnTo>
                  <a:lnTo>
                    <a:pt x="7937449" y="4196359"/>
                  </a:lnTo>
                  <a:lnTo>
                    <a:pt x="25882" y="4196359"/>
                  </a:lnTo>
                  <a:lnTo>
                    <a:pt x="13703" y="4184180"/>
                  </a:lnTo>
                  <a:lnTo>
                    <a:pt x="25882" y="4184180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92"/>
                  </a:lnTo>
                  <a:lnTo>
                    <a:pt x="7937449" y="12192"/>
                  </a:lnTo>
                  <a:lnTo>
                    <a:pt x="7937449" y="0"/>
                  </a:lnTo>
                  <a:close/>
                </a:path>
                <a:path w="7937500" h="4208780">
                  <a:moveTo>
                    <a:pt x="25882" y="4184180"/>
                  </a:moveTo>
                  <a:lnTo>
                    <a:pt x="13703" y="4184180"/>
                  </a:lnTo>
                  <a:lnTo>
                    <a:pt x="25882" y="4196359"/>
                  </a:lnTo>
                  <a:lnTo>
                    <a:pt x="25882" y="4184180"/>
                  </a:lnTo>
                  <a:close/>
                </a:path>
                <a:path w="7937500" h="4208780">
                  <a:moveTo>
                    <a:pt x="7911579" y="4184180"/>
                  </a:moveTo>
                  <a:lnTo>
                    <a:pt x="25882" y="4184180"/>
                  </a:lnTo>
                  <a:lnTo>
                    <a:pt x="25882" y="4196359"/>
                  </a:lnTo>
                  <a:lnTo>
                    <a:pt x="7911579" y="4196359"/>
                  </a:lnTo>
                  <a:lnTo>
                    <a:pt x="7911579" y="4184180"/>
                  </a:lnTo>
                  <a:close/>
                </a:path>
                <a:path w="7937500" h="4208780">
                  <a:moveTo>
                    <a:pt x="7911579" y="12192"/>
                  </a:moveTo>
                  <a:lnTo>
                    <a:pt x="7911579" y="4196359"/>
                  </a:lnTo>
                  <a:lnTo>
                    <a:pt x="7923758" y="4184180"/>
                  </a:lnTo>
                  <a:lnTo>
                    <a:pt x="7937449" y="4184180"/>
                  </a:lnTo>
                  <a:lnTo>
                    <a:pt x="7937449" y="25895"/>
                  </a:lnTo>
                  <a:lnTo>
                    <a:pt x="7923758" y="25895"/>
                  </a:lnTo>
                  <a:lnTo>
                    <a:pt x="7911579" y="12192"/>
                  </a:lnTo>
                  <a:close/>
                </a:path>
                <a:path w="7937500" h="4208780">
                  <a:moveTo>
                    <a:pt x="7937449" y="4184180"/>
                  </a:moveTo>
                  <a:lnTo>
                    <a:pt x="7923758" y="4184180"/>
                  </a:lnTo>
                  <a:lnTo>
                    <a:pt x="7911579" y="4196359"/>
                  </a:lnTo>
                  <a:lnTo>
                    <a:pt x="7937449" y="4196359"/>
                  </a:lnTo>
                  <a:lnTo>
                    <a:pt x="7937449" y="4184180"/>
                  </a:lnTo>
                  <a:close/>
                </a:path>
                <a:path w="7937500" h="4208780">
                  <a:moveTo>
                    <a:pt x="25882" y="12192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92"/>
                  </a:lnTo>
                  <a:close/>
                </a:path>
                <a:path w="7937500" h="4208780">
                  <a:moveTo>
                    <a:pt x="7911579" y="12192"/>
                  </a:moveTo>
                  <a:lnTo>
                    <a:pt x="25882" y="12192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92"/>
                  </a:lnTo>
                  <a:close/>
                </a:path>
                <a:path w="7937500" h="4208780">
                  <a:moveTo>
                    <a:pt x="7937449" y="12192"/>
                  </a:moveTo>
                  <a:lnTo>
                    <a:pt x="7911579" y="12192"/>
                  </a:lnTo>
                  <a:lnTo>
                    <a:pt x="7923758" y="25895"/>
                  </a:lnTo>
                  <a:lnTo>
                    <a:pt x="7937449" y="25895"/>
                  </a:lnTo>
                  <a:lnTo>
                    <a:pt x="7937449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308785" y="2185080"/>
            <a:ext cx="7547609" cy="4077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void </a:t>
            </a:r>
            <a:r>
              <a:rPr dirty="0" sz="1400" spc="-20">
                <a:latin typeface="Trebuchet MS"/>
                <a:cs typeface="Trebuchet MS"/>
              </a:rPr>
              <a:t>prim(GraphType*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s)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i,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v;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(u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0;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u&lt;g-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u++)</a:t>
            </a:r>
            <a:endParaRPr sz="1400">
              <a:latin typeface="Trebuchet MS"/>
              <a:cs typeface="Trebuchet MS"/>
            </a:endParaRPr>
          </a:p>
          <a:p>
            <a:pPr marL="925830" marR="4284345" indent="9131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distance[u]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INF; </a:t>
            </a:r>
            <a:r>
              <a:rPr dirty="0" sz="1400">
                <a:latin typeface="Trebuchet MS"/>
                <a:cs typeface="Trebuchet MS"/>
              </a:rPr>
              <a:t>distance[s]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i++)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361124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u</a:t>
            </a:r>
            <a:r>
              <a:rPr dirty="0" sz="1400" spc="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get_min_vertex(g-</a:t>
            </a:r>
            <a:r>
              <a:rPr dirty="0" sz="1400" spc="-20">
                <a:latin typeface="Trebuchet MS"/>
                <a:cs typeface="Trebuchet MS"/>
              </a:rPr>
              <a:t>&gt;n); </a:t>
            </a:r>
            <a:r>
              <a:rPr dirty="0" sz="1400">
                <a:latin typeface="Trebuchet MS"/>
                <a:cs typeface="Trebuchet MS"/>
              </a:rPr>
              <a:t>selected[u]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TRUE;</a:t>
            </a:r>
            <a:endParaRPr sz="1400">
              <a:latin typeface="Trebuchet MS"/>
              <a:cs typeface="Trebuchet MS"/>
            </a:endParaRPr>
          </a:p>
          <a:p>
            <a:pPr marL="1838960" marR="3340100">
              <a:lnSpc>
                <a:spcPct val="999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(distance[u]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return; </a:t>
            </a: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추가</a:t>
            </a:r>
            <a:r>
              <a:rPr dirty="0" sz="1400">
                <a:latin typeface="Trebuchet MS"/>
                <a:cs typeface="Trebuchet MS"/>
              </a:rPr>
              <a:t>\n",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u);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(v = 0;</a:t>
            </a:r>
            <a:r>
              <a:rPr dirty="0" sz="1400" spc="-10">
                <a:latin typeface="Trebuchet MS"/>
                <a:cs typeface="Trebuchet MS"/>
              </a:rPr>
              <a:t> v&lt;g-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v++)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(g-&gt;weight[u][v]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INF)</a:t>
            </a:r>
            <a:endParaRPr sz="1400">
              <a:latin typeface="Trebuchet MS"/>
              <a:cs typeface="Trebuchet MS"/>
            </a:endParaRPr>
          </a:p>
          <a:p>
            <a:pPr marL="4579620" marR="5080" indent="-9137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(!selected[v]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&amp;&amp;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g-&gt;weight[u][v]&lt;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distance[v]) </a:t>
            </a:r>
            <a:r>
              <a:rPr dirty="0" sz="1400">
                <a:latin typeface="Trebuchet MS"/>
                <a:cs typeface="Trebuchet MS"/>
              </a:rPr>
              <a:t>distance[v]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&gt;weight[u][v];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489" rIns="0" bIns="0" rtlCol="0" vert="horz">
            <a:spAutoFit/>
          </a:bodyPr>
          <a:lstStyle/>
          <a:p>
            <a:pPr marL="325755">
              <a:lnSpc>
                <a:spcPct val="100000"/>
              </a:lnSpc>
              <a:spcBef>
                <a:spcPts val="90"/>
              </a:spcBef>
            </a:pPr>
            <a:r>
              <a:rPr dirty="0" sz="4000" spc="-350">
                <a:latin typeface="Tw Cen MT"/>
                <a:cs typeface="Tw Cen MT"/>
              </a:rPr>
              <a:t>Prim</a:t>
            </a:r>
            <a:r>
              <a:rPr dirty="0" sz="4000" spc="-350"/>
              <a:t>의</a:t>
            </a:r>
            <a:r>
              <a:rPr dirty="0" sz="4000" spc="-240"/>
              <a:t> </a:t>
            </a:r>
            <a:r>
              <a:rPr dirty="0" sz="4000">
                <a:latin typeface="Tw Cen MT"/>
                <a:cs typeface="Tw Cen MT"/>
              </a:rPr>
              <a:t>MST</a:t>
            </a:r>
            <a:r>
              <a:rPr dirty="0" sz="4000" spc="-60">
                <a:latin typeface="Tw Cen MT"/>
                <a:cs typeface="Tw Cen MT"/>
              </a:rPr>
              <a:t> </a:t>
            </a:r>
            <a:r>
              <a:rPr dirty="0" sz="4000" spc="-2115"/>
              <a:t>프로그램</a:t>
            </a:r>
            <a:endParaRPr sz="40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7866" y="2146160"/>
            <a:ext cx="7937500" cy="3131820"/>
            <a:chOff x="1217866" y="2146160"/>
            <a:chExt cx="7937500" cy="3131820"/>
          </a:xfrm>
        </p:grpSpPr>
        <p:sp>
          <p:nvSpPr>
            <p:cNvPr id="3" name="object 3"/>
            <p:cNvSpPr/>
            <p:nvPr/>
          </p:nvSpPr>
          <p:spPr>
            <a:xfrm>
              <a:off x="1231569" y="2158352"/>
              <a:ext cx="7910195" cy="3107690"/>
            </a:xfrm>
            <a:custGeom>
              <a:avLst/>
              <a:gdLst/>
              <a:ahLst/>
              <a:cxnLst/>
              <a:rect l="l" t="t" r="r" b="b"/>
              <a:pathLst>
                <a:path w="7910195" h="3107690">
                  <a:moveTo>
                    <a:pt x="7910055" y="0"/>
                  </a:moveTo>
                  <a:lnTo>
                    <a:pt x="0" y="0"/>
                  </a:lnTo>
                  <a:lnTo>
                    <a:pt x="0" y="3107283"/>
                  </a:lnTo>
                  <a:lnTo>
                    <a:pt x="7910055" y="3107283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17866" y="2146160"/>
              <a:ext cx="7937500" cy="3131820"/>
            </a:xfrm>
            <a:custGeom>
              <a:avLst/>
              <a:gdLst/>
              <a:ahLst/>
              <a:cxnLst/>
              <a:rect l="l" t="t" r="r" b="b"/>
              <a:pathLst>
                <a:path w="7937500" h="3131820">
                  <a:moveTo>
                    <a:pt x="7937449" y="0"/>
                  </a:moveTo>
                  <a:lnTo>
                    <a:pt x="0" y="0"/>
                  </a:lnTo>
                  <a:lnTo>
                    <a:pt x="0" y="3131654"/>
                  </a:lnTo>
                  <a:lnTo>
                    <a:pt x="7937449" y="3131654"/>
                  </a:lnTo>
                  <a:lnTo>
                    <a:pt x="7937449" y="3119475"/>
                  </a:lnTo>
                  <a:lnTo>
                    <a:pt x="25882" y="3119475"/>
                  </a:lnTo>
                  <a:lnTo>
                    <a:pt x="13703" y="3107296"/>
                  </a:lnTo>
                  <a:lnTo>
                    <a:pt x="25882" y="3107296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92"/>
                  </a:lnTo>
                  <a:lnTo>
                    <a:pt x="7937449" y="12192"/>
                  </a:lnTo>
                  <a:lnTo>
                    <a:pt x="7937449" y="0"/>
                  </a:lnTo>
                  <a:close/>
                </a:path>
                <a:path w="7937500" h="3131820">
                  <a:moveTo>
                    <a:pt x="25882" y="3107296"/>
                  </a:moveTo>
                  <a:lnTo>
                    <a:pt x="13703" y="3107296"/>
                  </a:lnTo>
                  <a:lnTo>
                    <a:pt x="25882" y="3119475"/>
                  </a:lnTo>
                  <a:lnTo>
                    <a:pt x="25882" y="3107296"/>
                  </a:lnTo>
                  <a:close/>
                </a:path>
                <a:path w="7937500" h="3131820">
                  <a:moveTo>
                    <a:pt x="7911579" y="3107296"/>
                  </a:moveTo>
                  <a:lnTo>
                    <a:pt x="25882" y="3107296"/>
                  </a:lnTo>
                  <a:lnTo>
                    <a:pt x="25882" y="3119475"/>
                  </a:lnTo>
                  <a:lnTo>
                    <a:pt x="7911579" y="3119475"/>
                  </a:lnTo>
                  <a:lnTo>
                    <a:pt x="7911579" y="3107296"/>
                  </a:lnTo>
                  <a:close/>
                </a:path>
                <a:path w="7937500" h="3131820">
                  <a:moveTo>
                    <a:pt x="7911579" y="12192"/>
                  </a:moveTo>
                  <a:lnTo>
                    <a:pt x="7911579" y="3119475"/>
                  </a:lnTo>
                  <a:lnTo>
                    <a:pt x="7923758" y="3107296"/>
                  </a:lnTo>
                  <a:lnTo>
                    <a:pt x="7937449" y="3107296"/>
                  </a:lnTo>
                  <a:lnTo>
                    <a:pt x="7937449" y="25895"/>
                  </a:lnTo>
                  <a:lnTo>
                    <a:pt x="7923758" y="25895"/>
                  </a:lnTo>
                  <a:lnTo>
                    <a:pt x="7911579" y="12192"/>
                  </a:lnTo>
                  <a:close/>
                </a:path>
                <a:path w="7937500" h="3131820">
                  <a:moveTo>
                    <a:pt x="7937449" y="3107296"/>
                  </a:moveTo>
                  <a:lnTo>
                    <a:pt x="7923758" y="3107296"/>
                  </a:lnTo>
                  <a:lnTo>
                    <a:pt x="7911579" y="3119475"/>
                  </a:lnTo>
                  <a:lnTo>
                    <a:pt x="7937449" y="3119475"/>
                  </a:lnTo>
                  <a:lnTo>
                    <a:pt x="7937449" y="3107296"/>
                  </a:lnTo>
                  <a:close/>
                </a:path>
                <a:path w="7937500" h="3131820">
                  <a:moveTo>
                    <a:pt x="25882" y="12192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92"/>
                  </a:lnTo>
                  <a:close/>
                </a:path>
                <a:path w="7937500" h="3131820">
                  <a:moveTo>
                    <a:pt x="7911579" y="12192"/>
                  </a:moveTo>
                  <a:lnTo>
                    <a:pt x="25882" y="12192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92"/>
                  </a:lnTo>
                  <a:close/>
                </a:path>
                <a:path w="7937500" h="3131820">
                  <a:moveTo>
                    <a:pt x="7937449" y="12192"/>
                  </a:moveTo>
                  <a:lnTo>
                    <a:pt x="7911579" y="12192"/>
                  </a:lnTo>
                  <a:lnTo>
                    <a:pt x="7923758" y="25895"/>
                  </a:lnTo>
                  <a:lnTo>
                    <a:pt x="7937449" y="25895"/>
                  </a:lnTo>
                  <a:lnTo>
                    <a:pt x="7937449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308785" y="2185080"/>
            <a:ext cx="3414395" cy="301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{{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29,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10,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29,</a:t>
            </a:r>
            <a:r>
              <a:rPr dirty="0" sz="1400" spc="409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16,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15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16,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12,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65">
                <a:latin typeface="Trebuchet MS"/>
                <a:cs typeface="Trebuchet MS"/>
              </a:rPr>
              <a:t>INF,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12,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22,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18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22,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27,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25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10,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27,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15,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18,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25,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prim(&amp;g,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489" rIns="0" bIns="0" rtlCol="0" vert="horz">
            <a:spAutoFit/>
          </a:bodyPr>
          <a:lstStyle/>
          <a:p>
            <a:pPr marL="261620">
              <a:lnSpc>
                <a:spcPct val="100000"/>
              </a:lnSpc>
              <a:spcBef>
                <a:spcPts val="90"/>
              </a:spcBef>
            </a:pPr>
            <a:r>
              <a:rPr dirty="0" sz="4000" spc="-350">
                <a:latin typeface="Tw Cen MT"/>
                <a:cs typeface="Tw Cen MT"/>
              </a:rPr>
              <a:t>Prim</a:t>
            </a:r>
            <a:r>
              <a:rPr dirty="0" sz="4000" spc="-350"/>
              <a:t>의</a:t>
            </a:r>
            <a:r>
              <a:rPr dirty="0" sz="4000" spc="-240"/>
              <a:t> </a:t>
            </a:r>
            <a:r>
              <a:rPr dirty="0" sz="4000">
                <a:latin typeface="Tw Cen MT"/>
                <a:cs typeface="Tw Cen MT"/>
              </a:rPr>
              <a:t>MST</a:t>
            </a:r>
            <a:r>
              <a:rPr dirty="0" sz="4000" spc="-60">
                <a:latin typeface="Tw Cen MT"/>
                <a:cs typeface="Tw Cen MT"/>
              </a:rPr>
              <a:t> </a:t>
            </a:r>
            <a:r>
              <a:rPr dirty="0" sz="4000" spc="-2115"/>
              <a:t>프로그램</a:t>
            </a:r>
            <a:endParaRPr sz="40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5956" y="2056295"/>
            <a:ext cx="7936230" cy="1625600"/>
            <a:chOff x="1325956" y="2056295"/>
            <a:chExt cx="7936230" cy="1625600"/>
          </a:xfrm>
        </p:grpSpPr>
        <p:sp>
          <p:nvSpPr>
            <p:cNvPr id="4" name="object 4"/>
            <p:cNvSpPr/>
            <p:nvPr/>
          </p:nvSpPr>
          <p:spPr>
            <a:xfrm>
              <a:off x="1338135" y="2068487"/>
              <a:ext cx="7912100" cy="1599565"/>
            </a:xfrm>
            <a:custGeom>
              <a:avLst/>
              <a:gdLst/>
              <a:ahLst/>
              <a:cxnLst/>
              <a:rect l="l" t="t" r="r" b="b"/>
              <a:pathLst>
                <a:path w="7912100" h="1599564">
                  <a:moveTo>
                    <a:pt x="7911566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7911566" y="159933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5956" y="2056295"/>
              <a:ext cx="7936230" cy="1625600"/>
            </a:xfrm>
            <a:custGeom>
              <a:avLst/>
              <a:gdLst/>
              <a:ahLst/>
              <a:cxnLst/>
              <a:rect l="l" t="t" r="r" b="b"/>
              <a:pathLst>
                <a:path w="7936230" h="1625600">
                  <a:moveTo>
                    <a:pt x="7935925" y="0"/>
                  </a:moveTo>
                  <a:lnTo>
                    <a:pt x="0" y="0"/>
                  </a:lnTo>
                  <a:lnTo>
                    <a:pt x="0" y="1625231"/>
                  </a:lnTo>
                  <a:lnTo>
                    <a:pt x="7935925" y="1625231"/>
                  </a:lnTo>
                  <a:lnTo>
                    <a:pt x="7935925" y="1611528"/>
                  </a:lnTo>
                  <a:lnTo>
                    <a:pt x="25882" y="1611528"/>
                  </a:lnTo>
                  <a:lnTo>
                    <a:pt x="12179" y="1599336"/>
                  </a:lnTo>
                  <a:lnTo>
                    <a:pt x="25882" y="1599336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2179"/>
                  </a:lnTo>
                  <a:lnTo>
                    <a:pt x="7935925" y="12179"/>
                  </a:lnTo>
                  <a:lnTo>
                    <a:pt x="7935925" y="0"/>
                  </a:lnTo>
                  <a:close/>
                </a:path>
                <a:path w="7936230" h="1625600">
                  <a:moveTo>
                    <a:pt x="25882" y="1599336"/>
                  </a:moveTo>
                  <a:lnTo>
                    <a:pt x="12179" y="1599336"/>
                  </a:lnTo>
                  <a:lnTo>
                    <a:pt x="25882" y="1611528"/>
                  </a:lnTo>
                  <a:lnTo>
                    <a:pt x="25882" y="1599336"/>
                  </a:lnTo>
                  <a:close/>
                </a:path>
                <a:path w="7936230" h="1625600">
                  <a:moveTo>
                    <a:pt x="7911566" y="1599336"/>
                  </a:moveTo>
                  <a:lnTo>
                    <a:pt x="25882" y="1599336"/>
                  </a:lnTo>
                  <a:lnTo>
                    <a:pt x="25882" y="1611528"/>
                  </a:lnTo>
                  <a:lnTo>
                    <a:pt x="7911566" y="1611528"/>
                  </a:lnTo>
                  <a:lnTo>
                    <a:pt x="7911566" y="1599336"/>
                  </a:lnTo>
                  <a:close/>
                </a:path>
                <a:path w="7936230" h="1625600">
                  <a:moveTo>
                    <a:pt x="7911566" y="12179"/>
                  </a:moveTo>
                  <a:lnTo>
                    <a:pt x="7911566" y="1611528"/>
                  </a:lnTo>
                  <a:lnTo>
                    <a:pt x="7923745" y="1599336"/>
                  </a:lnTo>
                  <a:lnTo>
                    <a:pt x="7935925" y="1599336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79"/>
                  </a:lnTo>
                  <a:close/>
                </a:path>
                <a:path w="7936230" h="1625600">
                  <a:moveTo>
                    <a:pt x="7935925" y="1599336"/>
                  </a:moveTo>
                  <a:lnTo>
                    <a:pt x="7923745" y="1599336"/>
                  </a:lnTo>
                  <a:lnTo>
                    <a:pt x="7911566" y="1611528"/>
                  </a:lnTo>
                  <a:lnTo>
                    <a:pt x="7935925" y="1611528"/>
                  </a:lnTo>
                  <a:lnTo>
                    <a:pt x="7935925" y="1599336"/>
                  </a:lnTo>
                  <a:close/>
                </a:path>
                <a:path w="7936230" h="1625600">
                  <a:moveTo>
                    <a:pt x="25882" y="12179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6230" h="1625600">
                  <a:moveTo>
                    <a:pt x="7911566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2179"/>
                  </a:lnTo>
                  <a:close/>
                </a:path>
                <a:path w="7936230" h="1625600">
                  <a:moveTo>
                    <a:pt x="7935925" y="12179"/>
                  </a:moveTo>
                  <a:lnTo>
                    <a:pt x="7911566" y="12179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416405" y="2098162"/>
            <a:ext cx="939165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0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5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4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3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2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1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6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8447" y="4242053"/>
            <a:ext cx="1861820" cy="20425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04186" y="424626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59241" y="5730630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3489" y="5955534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3308" y="4291250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53754" y="505591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8577" y="417642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1266" y="4500043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9372" y="543588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28939" y="5279474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81174" y="6020633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58313" y="5414411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52825" y="5145884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69678" y="4694715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33535" y="4604761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Prim</a:t>
            </a:r>
            <a:r>
              <a:rPr dirty="0" spc="-80">
                <a:latin typeface="Tw Cen MT"/>
                <a:cs typeface="Tw Cen MT"/>
              </a:rPr>
              <a:t> </a:t>
            </a:r>
            <a:r>
              <a:rPr dirty="0" spc="-1775"/>
              <a:t>가상실습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>
                <a:latin typeface="Arial"/>
                <a:cs typeface="Arial"/>
              </a:rPr>
              <a:t>Prim</a:t>
            </a:r>
            <a:r>
              <a:rPr dirty="0" spc="-25">
                <a:latin typeface="Arial"/>
                <a:cs typeface="Arial"/>
              </a:rPr>
              <a:t> </a:t>
            </a:r>
            <a:r>
              <a:rPr dirty="0" spc="-20"/>
              <a:t>가상실습을</a:t>
            </a:r>
            <a:r>
              <a:rPr dirty="0" spc="-170"/>
              <a:t> </a:t>
            </a:r>
            <a:r>
              <a:rPr dirty="0" spc="-20">
                <a:latin typeface="Arial"/>
                <a:cs typeface="Arial"/>
              </a:rPr>
              <a:t>29-</a:t>
            </a:r>
            <a:r>
              <a:rPr dirty="0" spc="-10">
                <a:latin typeface="Arial"/>
                <a:cs typeface="Arial"/>
              </a:rPr>
              <a:t>&gt;MST</a:t>
            </a:r>
            <a:r>
              <a:rPr dirty="0" spc="-10"/>
              <a:t>로</a:t>
            </a:r>
            <a:r>
              <a:rPr dirty="0" spc="-170"/>
              <a:t> </a:t>
            </a:r>
            <a:r>
              <a:rPr dirty="0" spc="-25"/>
              <a:t>알아봄</a:t>
            </a:r>
          </a:p>
          <a:p>
            <a:pPr marL="4643120">
              <a:lnSpc>
                <a:spcPct val="100000"/>
              </a:lnSpc>
              <a:spcBef>
                <a:spcPts val="680"/>
              </a:spcBef>
            </a:pPr>
            <a:r>
              <a:rPr dirty="0" sz="1400"/>
              <a:t>연산의</a:t>
            </a:r>
            <a:r>
              <a:rPr dirty="0" sz="1400" spc="-105"/>
              <a:t> </a:t>
            </a:r>
            <a:r>
              <a:rPr dirty="0" sz="1400"/>
              <a:t>종류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Prim</a:t>
            </a:r>
            <a:endParaRPr sz="1400">
              <a:latin typeface="Arial"/>
              <a:cs typeface="Arial"/>
            </a:endParaRPr>
          </a:p>
          <a:p>
            <a:pPr marL="4643120">
              <a:lnSpc>
                <a:spcPct val="100000"/>
              </a:lnSpc>
              <a:spcBef>
                <a:spcPts val="695"/>
              </a:spcBef>
            </a:pPr>
            <a:r>
              <a:rPr dirty="0" sz="1400"/>
              <a:t>정점의</a:t>
            </a:r>
            <a:r>
              <a:rPr dirty="0" sz="1400" spc="-95"/>
              <a:t> </a:t>
            </a:r>
            <a:r>
              <a:rPr dirty="0" sz="1400"/>
              <a:t>개수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더블클릭하면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만들어진다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70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정점들을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드래그하여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만든다</a:t>
            </a:r>
            <a:endParaRPr sz="1400">
              <a:latin typeface="Gulim"/>
              <a:cs typeface="Gulim"/>
            </a:endParaRPr>
          </a:p>
          <a:p>
            <a:pPr lvl="1" marL="4643120" marR="5080" indent="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이동하고자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하는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경우에는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ctrl</a:t>
            </a:r>
            <a:r>
              <a:rPr dirty="0" sz="1400">
                <a:latin typeface="Gulim"/>
                <a:cs typeface="Gulim"/>
              </a:rPr>
              <a:t>키를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누른 </a:t>
            </a:r>
            <a:r>
              <a:rPr dirty="0" sz="1400">
                <a:latin typeface="Gulim"/>
                <a:cs typeface="Gulim"/>
              </a:rPr>
              <a:t>채로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원하는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드래그한다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010" y="2338082"/>
            <a:ext cx="4586795" cy="34667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60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45"/>
              <a:t> </a:t>
            </a:r>
            <a:r>
              <a:rPr dirty="0" sz="3200" spc="-1445"/>
              <a:t>한줄</a:t>
            </a:r>
            <a:r>
              <a:rPr dirty="0" sz="3200" spc="-165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75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0"/>
              <a:t> </a:t>
            </a:r>
            <a:r>
              <a:rPr dirty="0" sz="3200" spc="-1370"/>
              <a:t>그림과</a:t>
            </a:r>
            <a:r>
              <a:rPr dirty="0" sz="3200" spc="-175"/>
              <a:t> </a:t>
            </a:r>
            <a:r>
              <a:rPr dirty="0" sz="3200" spc="-350">
                <a:latin typeface="Tw Cen MT"/>
                <a:cs typeface="Tw Cen MT"/>
              </a:rPr>
              <a:t>VS</a:t>
            </a:r>
            <a:r>
              <a:rPr dirty="0" sz="3200" spc="-350"/>
              <a:t>같이</a:t>
            </a:r>
            <a:r>
              <a:rPr dirty="0" sz="3200" spc="-350">
                <a:latin typeface="Tw Cen MT"/>
                <a:cs typeface="Tw Cen MT"/>
              </a:rPr>
              <a:t>(1/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917758"/>
            <a:ext cx="5096510" cy="1575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prim.c</a:t>
            </a:r>
            <a:r>
              <a:rPr dirty="0" sz="1600">
                <a:latin typeface="Gulim"/>
                <a:cs typeface="Gulim"/>
              </a:rPr>
              <a:t>의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그래프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처음보는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구조입니다</a:t>
            </a:r>
            <a:r>
              <a:rPr dirty="0" sz="1600" spc="-10">
                <a:latin typeface="Arial"/>
                <a:cs typeface="Arial"/>
              </a:rPr>
              <a:t>. </a:t>
            </a:r>
            <a:r>
              <a:rPr dirty="0" sz="1600">
                <a:latin typeface="Arial"/>
                <a:cs typeface="Arial"/>
              </a:rPr>
              <a:t>10</a:t>
            </a:r>
            <a:r>
              <a:rPr dirty="0" sz="1600">
                <a:latin typeface="Gulim"/>
                <a:cs typeface="Gulim"/>
              </a:rPr>
              <a:t>장의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adj_mat</a:t>
            </a:r>
            <a:r>
              <a:rPr dirty="0" sz="1600" spc="-10">
                <a:latin typeface="Gulim"/>
                <a:cs typeface="Gulim"/>
              </a:rPr>
              <a:t>도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아니고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adj_list</a:t>
            </a:r>
            <a:r>
              <a:rPr dirty="0" sz="1600" spc="-10">
                <a:latin typeface="Gulim"/>
                <a:cs typeface="Gulim"/>
              </a:rPr>
              <a:t>구조도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아닙니다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70485">
              <a:lnSpc>
                <a:spcPct val="100000"/>
              </a:lnSpc>
              <a:spcBef>
                <a:spcPts val="69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그래프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자료구조는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adj_mat</a:t>
            </a:r>
            <a:r>
              <a:rPr dirty="0" sz="1600" spc="-10">
                <a:latin typeface="Gulim"/>
                <a:cs typeface="Gulim"/>
              </a:rPr>
              <a:t>에서는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element</a:t>
            </a:r>
            <a:r>
              <a:rPr dirty="0" sz="1600" spc="-10">
                <a:latin typeface="Gulim"/>
                <a:cs typeface="Gulim"/>
              </a:rPr>
              <a:t>값이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50">
                <a:latin typeface="Arial"/>
                <a:cs typeface="Arial"/>
              </a:rPr>
              <a:t>0 </a:t>
            </a:r>
            <a:r>
              <a:rPr dirty="0" sz="1600">
                <a:latin typeface="Gulim"/>
                <a:cs typeface="Gulim"/>
              </a:rPr>
              <a:t>또는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1</a:t>
            </a:r>
            <a:r>
              <a:rPr dirty="0" sz="1600" spc="-10">
                <a:latin typeface="Gulim"/>
                <a:cs typeface="Gulim"/>
              </a:rPr>
              <a:t>이었는데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Prim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자료구조에서는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element</a:t>
            </a:r>
            <a:r>
              <a:rPr dirty="0" sz="1600" spc="-10">
                <a:latin typeface="Gulim"/>
                <a:cs typeface="Gulim"/>
              </a:rPr>
              <a:t>값이 </a:t>
            </a:r>
            <a:r>
              <a:rPr dirty="0" sz="1600" spc="-10">
                <a:latin typeface="Arial"/>
                <a:cs typeface="Arial"/>
              </a:rPr>
              <a:t>weight(</a:t>
            </a:r>
            <a:r>
              <a:rPr dirty="0" sz="1600" spc="-10">
                <a:latin typeface="Gulim"/>
                <a:cs typeface="Gulim"/>
              </a:rPr>
              <a:t>가중치</a:t>
            </a:r>
            <a:r>
              <a:rPr dirty="0" sz="1600" spc="-10">
                <a:latin typeface="Arial"/>
                <a:cs typeface="Arial"/>
              </a:rPr>
              <a:t>)</a:t>
            </a:r>
            <a:r>
              <a:rPr dirty="0" sz="1600" spc="-10">
                <a:latin typeface="Gulim"/>
                <a:cs typeface="Gulim"/>
              </a:rPr>
              <a:t>입니다</a:t>
            </a:r>
            <a:r>
              <a:rPr dirty="0" sz="1600" spc="-10">
                <a:latin typeface="Arial"/>
                <a:cs typeface="Arial"/>
              </a:rPr>
              <a:t>.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연결이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안된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vertex</a:t>
            </a:r>
            <a:r>
              <a:rPr dirty="0" sz="1600" spc="-10">
                <a:latin typeface="Gulim"/>
                <a:cs typeface="Gulim"/>
              </a:rPr>
              <a:t>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가중치가 </a:t>
            </a:r>
            <a:r>
              <a:rPr dirty="0" sz="1600" spc="-10">
                <a:latin typeface="Arial"/>
                <a:cs typeface="Arial"/>
              </a:rPr>
              <a:t>1000</a:t>
            </a:r>
            <a:r>
              <a:rPr dirty="0" sz="1600" spc="-10">
                <a:latin typeface="Gulim"/>
                <a:cs typeface="Gulim"/>
              </a:rPr>
              <a:t>입니다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487" y="4781270"/>
            <a:ext cx="1861807" cy="20441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69325" y="478602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4367" y="6270400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8615" y="6495305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8447" y="4831013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8880" y="5595692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3716" y="4716191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6405" y="5039805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4510" y="597565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4065" y="581923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6300" y="6560408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23451" y="595418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17964" y="5685647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34804" y="523449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98674" y="5144523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74275" y="4807044"/>
            <a:ext cx="984885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 spc="-10">
                <a:latin typeface="Trebuchet MS"/>
                <a:cs typeface="Trebuchet MS"/>
              </a:rPr>
              <a:t>Vertex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</a:t>
            </a:r>
            <a:r>
              <a:rPr dirty="0" sz="1400" spc="-25">
                <a:latin typeface="Gulim"/>
                <a:cs typeface="Gulim"/>
              </a:rPr>
              <a:t>개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9</a:t>
            </a:r>
            <a:r>
              <a:rPr dirty="0" sz="1400" spc="-25">
                <a:latin typeface="Gulim"/>
                <a:cs typeface="Gulim"/>
              </a:rPr>
              <a:t>개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0395" y="1788210"/>
            <a:ext cx="3129915" cy="685431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6142621" y="2519349"/>
            <a:ext cx="3642995" cy="3689350"/>
            <a:chOff x="6142621" y="2519349"/>
            <a:chExt cx="3642995" cy="368935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8658" y="2519349"/>
              <a:ext cx="2741339" cy="166483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2621" y="4208551"/>
              <a:ext cx="3642944" cy="1999932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9682" y="3645276"/>
            <a:ext cx="2817427" cy="560719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79555" y="3597757"/>
            <a:ext cx="4859655" cy="3608704"/>
            <a:chOff x="4979555" y="3597757"/>
            <a:chExt cx="4859655" cy="36087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3407" y="3597757"/>
              <a:ext cx="3915448" cy="34606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9555" y="4549736"/>
              <a:ext cx="1027569" cy="134192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1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(2/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6840" y="1832808"/>
            <a:ext cx="6043295" cy="319849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Gulim"/>
                <a:cs typeface="Gulim"/>
              </a:rPr>
              <a:t>교재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그림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35">
                <a:latin typeface="Arial"/>
                <a:cs typeface="Arial"/>
              </a:rPr>
              <a:t>11-</a:t>
            </a:r>
            <a:r>
              <a:rPr dirty="0" sz="1200">
                <a:latin typeface="Arial"/>
                <a:cs typeface="Arial"/>
              </a:rPr>
              <a:t>6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7</a:t>
            </a:r>
            <a:r>
              <a:rPr dirty="0" sz="1200" spc="-10">
                <a:latin typeface="Gulim"/>
                <a:cs typeface="Gulim"/>
              </a:rPr>
              <a:t>단계를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한줄씩수행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및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변수보기와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비교합니다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32105" marR="508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Prim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정점에서부터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출발하여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중에서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간 </a:t>
            </a:r>
            <a:r>
              <a:rPr dirty="0" sz="1200" spc="-10">
                <a:latin typeface="Gulim"/>
                <a:cs typeface="Gulim"/>
              </a:rPr>
              <a:t>선으로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선택하여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추가함</a:t>
            </a:r>
            <a:endParaRPr sz="1200">
              <a:latin typeface="Gulim"/>
              <a:cs typeface="Gulim"/>
            </a:endParaRPr>
          </a:p>
          <a:p>
            <a:pPr marL="12700" marR="4702810">
              <a:lnSpc>
                <a:spcPct val="148200"/>
              </a:lnSpc>
            </a:pP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중단점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설정 </a:t>
            </a:r>
            <a:r>
              <a:rPr dirty="0" sz="1200" spc="-10">
                <a:latin typeface="Gulim"/>
                <a:cs typeface="Gulim"/>
              </a:rPr>
              <a:t>디버깅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시작</a:t>
            </a:r>
            <a:endParaRPr sz="1200">
              <a:latin typeface="Gulim"/>
              <a:cs typeface="Gulim"/>
            </a:endParaRPr>
          </a:p>
          <a:p>
            <a:pPr marL="12700" marR="3484879">
              <a:lnSpc>
                <a:spcPct val="148200"/>
              </a:lnSpc>
              <a:spcBef>
                <a:spcPts val="15"/>
              </a:spcBef>
            </a:pP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단계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3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전역변수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초기화 계속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0</a:t>
            </a:r>
            <a:r>
              <a:rPr dirty="0" sz="1200">
                <a:latin typeface="Gulim"/>
                <a:cs typeface="Gulim"/>
              </a:rPr>
              <a:t>번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출력됨</a:t>
            </a:r>
            <a:endParaRPr sz="1200">
              <a:latin typeface="Gulim"/>
              <a:cs typeface="Gulim"/>
            </a:endParaRPr>
          </a:p>
          <a:p>
            <a:pPr marL="12700" marR="2125345">
              <a:lnSpc>
                <a:spcPct val="148500"/>
              </a:lnSpc>
              <a:spcBef>
                <a:spcPts val="10"/>
              </a:spcBef>
            </a:pPr>
            <a:r>
              <a:rPr dirty="0" sz="1200" spc="-10">
                <a:latin typeface="Gulim"/>
                <a:cs typeface="Gulim"/>
              </a:rPr>
              <a:t>조사식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창에서</a:t>
            </a:r>
            <a:r>
              <a:rPr dirty="0" sz="1200" spc="-4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selected</a:t>
            </a:r>
            <a:r>
              <a:rPr dirty="0" sz="1200" spc="-10">
                <a:latin typeface="Gulim"/>
                <a:cs typeface="Gulim"/>
              </a:rPr>
              <a:t>배열</a:t>
            </a:r>
            <a:r>
              <a:rPr dirty="0" sz="1200" spc="-10">
                <a:latin typeface="Arial"/>
                <a:cs typeface="Arial"/>
              </a:rPr>
              <a:t>,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update </a:t>
            </a:r>
            <a:r>
              <a:rPr dirty="0" sz="1200" spc="-10">
                <a:latin typeface="Gulim"/>
                <a:cs typeface="Gulim"/>
              </a:rPr>
              <a:t>신장트리집합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{V0}</a:t>
            </a:r>
            <a:r>
              <a:rPr dirty="0" sz="1200">
                <a:latin typeface="Gulim"/>
                <a:cs typeface="Gulim"/>
              </a:rPr>
              <a:t>를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selected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</a:t>
            </a:r>
            <a:r>
              <a:rPr dirty="0" sz="1200" spc="50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신장트리집합에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E0-</a:t>
            </a:r>
            <a:r>
              <a:rPr dirty="0" sz="1200">
                <a:latin typeface="Arial"/>
                <a:cs typeface="Arial"/>
              </a:rPr>
              <a:t>1,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E0-5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 </a:t>
            </a: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4348" y="5127028"/>
            <a:ext cx="1217866" cy="15239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2685" y="5306758"/>
            <a:ext cx="975817" cy="156278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84801" y="5838355"/>
            <a:ext cx="1408163" cy="131297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85008" y="528426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37599" y="535439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04311" y="538869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0388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8350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0455" y="567949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4252" y="590318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0961" y="597179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7659" y="604038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98330" y="612537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25025" y="622827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64968" y="624465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81718" y="634442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14269" y="6486277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10966" y="665777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3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7350" y="6690542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2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(3/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77714"/>
            <a:ext cx="6043295" cy="229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Prim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정점에서부터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출발하여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중에서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간 </a:t>
            </a:r>
            <a:r>
              <a:rPr dirty="0" sz="1200" spc="-10">
                <a:latin typeface="Gulim"/>
                <a:cs typeface="Gulim"/>
              </a:rPr>
              <a:t>선으로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선택하여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25">
                <a:latin typeface="Gulim"/>
                <a:cs typeface="Gulim"/>
              </a:rPr>
              <a:t>계속</a:t>
            </a:r>
            <a:endParaRPr sz="1200">
              <a:latin typeface="Gulim"/>
              <a:cs typeface="Gulim"/>
            </a:endParaRPr>
          </a:p>
          <a:p>
            <a:pPr marL="12700" marR="1830070">
              <a:lnSpc>
                <a:spcPct val="148300"/>
              </a:lnSpc>
            </a:pP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get_min_vertex() 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시작정점</a:t>
            </a:r>
            <a:r>
              <a:rPr dirty="0" sz="1200" spc="-10">
                <a:latin typeface="Arial"/>
                <a:cs typeface="Arial"/>
              </a:rPr>
              <a:t>0</a:t>
            </a:r>
            <a:r>
              <a:rPr dirty="0" sz="1200" spc="-10">
                <a:latin typeface="Gulim"/>
                <a:cs typeface="Gulim"/>
              </a:rPr>
              <a:t>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정점중에서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간선으로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정점이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선택됨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(1</a:t>
            </a:r>
            <a:r>
              <a:rPr dirty="0" sz="1200" spc="-10">
                <a:latin typeface="Gulim"/>
                <a:cs typeface="Gulim"/>
              </a:rPr>
              <a:t>과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5</a:t>
            </a:r>
            <a:r>
              <a:rPr dirty="0" sz="1200">
                <a:latin typeface="Gulim"/>
                <a:cs typeface="Gulim"/>
              </a:rPr>
              <a:t>중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5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25">
                <a:latin typeface="Gulim"/>
                <a:cs typeface="Gulim"/>
              </a:rPr>
              <a:t>선택</a:t>
            </a:r>
            <a:r>
              <a:rPr dirty="0" sz="1200" spc="-25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 marR="2487930">
              <a:lnSpc>
                <a:spcPct val="148500"/>
              </a:lnSpc>
              <a:spcBef>
                <a:spcPts val="5"/>
              </a:spcBef>
            </a:pPr>
            <a:r>
              <a:rPr dirty="0" sz="1200" spc="-10">
                <a:latin typeface="Gulim"/>
                <a:cs typeface="Gulim"/>
              </a:rPr>
              <a:t>조사식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창에서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selected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update </a:t>
            </a:r>
            <a:r>
              <a:rPr dirty="0" sz="1200" spc="-10">
                <a:latin typeface="Gulim"/>
                <a:cs typeface="Gulim"/>
              </a:rPr>
              <a:t>신장트리집합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{V0,V5}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selected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 </a:t>
            </a:r>
            <a:r>
              <a:rPr dirty="0" sz="1200" spc="-10">
                <a:latin typeface="Gulim"/>
                <a:cs typeface="Gulim"/>
              </a:rPr>
              <a:t>신장트리집합에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E5-</a:t>
            </a:r>
            <a:r>
              <a:rPr dirty="0" sz="1200">
                <a:latin typeface="Arial"/>
                <a:cs typeface="Arial"/>
              </a:rPr>
              <a:t>4</a:t>
            </a:r>
            <a:r>
              <a:rPr dirty="0" sz="1200">
                <a:latin typeface="Gulim"/>
                <a:cs typeface="Gulim"/>
              </a:rPr>
              <a:t>를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distance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 </a:t>
            </a: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685" y="5306758"/>
            <a:ext cx="975817" cy="15627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506" y="5197094"/>
            <a:ext cx="1313776" cy="15239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2621" y="3952659"/>
            <a:ext cx="1226997" cy="13601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70497" y="5506300"/>
            <a:ext cx="1226997" cy="12947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94885" y="5442330"/>
            <a:ext cx="1408163" cy="13145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10099" y="3964838"/>
            <a:ext cx="1027569" cy="134344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85008" y="528426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37599" y="535439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04311" y="538869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0388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8350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0455" y="567949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4252" y="590318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0961" y="597179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7659" y="604038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98330" y="612537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25025" y="622827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64968" y="624465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81718" y="634442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14269" y="6486277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10966" y="665777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3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7350" y="6690542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3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(4/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77714"/>
            <a:ext cx="6043295" cy="229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Prim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정점에서부터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출발하여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중에서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간 </a:t>
            </a:r>
            <a:r>
              <a:rPr dirty="0" sz="1200" spc="-10">
                <a:latin typeface="Gulim"/>
                <a:cs typeface="Gulim"/>
              </a:rPr>
              <a:t>선으로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선택하여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25">
                <a:latin typeface="Gulim"/>
                <a:cs typeface="Gulim"/>
              </a:rPr>
              <a:t>계속</a:t>
            </a:r>
            <a:endParaRPr sz="1200">
              <a:latin typeface="Gulim"/>
              <a:cs typeface="Gulim"/>
            </a:endParaRPr>
          </a:p>
          <a:p>
            <a:pPr marL="12700" marR="1245235">
              <a:lnSpc>
                <a:spcPct val="148300"/>
              </a:lnSpc>
            </a:pP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get_min_vertex()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신장트리집합</a:t>
            </a:r>
            <a:r>
              <a:rPr dirty="0" sz="1200" spc="-10">
                <a:latin typeface="Arial"/>
                <a:cs typeface="Arial"/>
              </a:rPr>
              <a:t>{V0,V5}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인접한</a:t>
            </a:r>
            <a:r>
              <a:rPr dirty="0" sz="1200" spc="-4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정점중에서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간선으로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정점이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선택됨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(1</a:t>
            </a:r>
            <a:r>
              <a:rPr dirty="0" sz="1200" spc="-10">
                <a:latin typeface="Gulim"/>
                <a:cs typeface="Gulim"/>
              </a:rPr>
              <a:t>과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4</a:t>
            </a:r>
            <a:r>
              <a:rPr dirty="0" sz="1200">
                <a:latin typeface="Gulim"/>
                <a:cs typeface="Gulim"/>
              </a:rPr>
              <a:t>중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4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25">
                <a:latin typeface="Gulim"/>
                <a:cs typeface="Gulim"/>
              </a:rPr>
              <a:t>선택</a:t>
            </a:r>
            <a:r>
              <a:rPr dirty="0" sz="1200" spc="-25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 marR="2125345">
              <a:lnSpc>
                <a:spcPct val="148500"/>
              </a:lnSpc>
              <a:spcBef>
                <a:spcPts val="5"/>
              </a:spcBef>
            </a:pPr>
            <a:r>
              <a:rPr dirty="0" sz="1200" spc="-10">
                <a:latin typeface="Gulim"/>
                <a:cs typeface="Gulim"/>
              </a:rPr>
              <a:t>조사식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창에서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selected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update </a:t>
            </a:r>
            <a:r>
              <a:rPr dirty="0" sz="1200" spc="-10">
                <a:latin typeface="Gulim"/>
                <a:cs typeface="Gulim"/>
              </a:rPr>
              <a:t>신장트리집합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{V0,V5,V4}</a:t>
            </a:r>
            <a:r>
              <a:rPr dirty="0" sz="1200" spc="-10">
                <a:latin typeface="Gulim"/>
                <a:cs typeface="Gulim"/>
              </a:rPr>
              <a:t>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selected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 </a:t>
            </a:r>
            <a:r>
              <a:rPr dirty="0" sz="1200" spc="-10">
                <a:latin typeface="Gulim"/>
                <a:cs typeface="Gulim"/>
              </a:rPr>
              <a:t>신장트리집합에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E4-</a:t>
            </a:r>
            <a:r>
              <a:rPr dirty="0" sz="1200">
                <a:latin typeface="Arial"/>
                <a:cs typeface="Arial"/>
              </a:rPr>
              <a:t>3,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E4-6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 </a:t>
            </a: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685" y="5306758"/>
            <a:ext cx="975817" cy="15627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038" y="4025772"/>
            <a:ext cx="1226997" cy="13617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8900" y="5555043"/>
            <a:ext cx="1228521" cy="12947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4976" y="5177294"/>
            <a:ext cx="1216779" cy="14759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15113" y="5532183"/>
            <a:ext cx="1217866" cy="13053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10553" y="4057751"/>
            <a:ext cx="951458" cy="129470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885008" y="528426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37599" y="535439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04311" y="538869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0388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08350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0455" y="567949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4252" y="590318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70961" y="597179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7659" y="604038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98330" y="612537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25025" y="622827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64968" y="624465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81718" y="634442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14269" y="6486277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10966" y="665777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3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77350" y="6690542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4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(5/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77714"/>
            <a:ext cx="6043295" cy="229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Prim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정점에서부터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출발하여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중에서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간 </a:t>
            </a:r>
            <a:r>
              <a:rPr dirty="0" sz="1200" spc="-10">
                <a:latin typeface="Gulim"/>
                <a:cs typeface="Gulim"/>
              </a:rPr>
              <a:t>선으로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선택하여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25">
                <a:latin typeface="Gulim"/>
                <a:cs typeface="Gulim"/>
              </a:rPr>
              <a:t>계속</a:t>
            </a:r>
            <a:endParaRPr sz="1200">
              <a:latin typeface="Gulim"/>
              <a:cs typeface="Gulim"/>
            </a:endParaRPr>
          </a:p>
          <a:p>
            <a:pPr marL="12700" marR="1017269">
              <a:lnSpc>
                <a:spcPct val="148300"/>
              </a:lnSpc>
            </a:pP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get_min_vertex()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신장트리집합</a:t>
            </a:r>
            <a:r>
              <a:rPr dirty="0" sz="1200" spc="-10">
                <a:latin typeface="Arial"/>
                <a:cs typeface="Arial"/>
              </a:rPr>
              <a:t>{V0,V5,V4}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인접한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정점중에서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간선으로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정점이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선택됨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(1,3,6</a:t>
            </a:r>
            <a:r>
              <a:rPr dirty="0" sz="1200" spc="-10">
                <a:latin typeface="Gulim"/>
                <a:cs typeface="Gulim"/>
              </a:rPr>
              <a:t>중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3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25">
                <a:latin typeface="Gulim"/>
                <a:cs typeface="Gulim"/>
              </a:rPr>
              <a:t>선택</a:t>
            </a:r>
            <a:r>
              <a:rPr dirty="0" sz="1200" spc="-25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 marR="2125345">
              <a:lnSpc>
                <a:spcPct val="148500"/>
              </a:lnSpc>
              <a:spcBef>
                <a:spcPts val="5"/>
              </a:spcBef>
            </a:pPr>
            <a:r>
              <a:rPr dirty="0" sz="1200" spc="-10">
                <a:latin typeface="Gulim"/>
                <a:cs typeface="Gulim"/>
              </a:rPr>
              <a:t>조사식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창에서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selected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update </a:t>
            </a:r>
            <a:r>
              <a:rPr dirty="0" sz="1200" spc="-10">
                <a:latin typeface="Gulim"/>
                <a:cs typeface="Gulim"/>
              </a:rPr>
              <a:t>신장트리집합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{V0,V5,V4,V3}</a:t>
            </a:r>
            <a:r>
              <a:rPr dirty="0" sz="1200" spc="-10">
                <a:latin typeface="Gulim"/>
                <a:cs typeface="Gulim"/>
              </a:rPr>
              <a:t>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selected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35">
                <a:latin typeface="Gulim"/>
                <a:cs typeface="Gulim"/>
              </a:rPr>
              <a:t>추가 </a:t>
            </a:r>
            <a:r>
              <a:rPr dirty="0" sz="1200" spc="-10">
                <a:latin typeface="Gulim"/>
                <a:cs typeface="Gulim"/>
              </a:rPr>
              <a:t>신장트리집합에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E3-</a:t>
            </a:r>
            <a:r>
              <a:rPr dirty="0" sz="1200">
                <a:latin typeface="Arial"/>
                <a:cs typeface="Arial"/>
              </a:rPr>
              <a:t>2,</a:t>
            </a:r>
            <a:r>
              <a:rPr dirty="0" sz="1200" spc="1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E3-6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 </a:t>
            </a: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2685" y="5306758"/>
            <a:ext cx="975817" cy="156278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338826" y="4193324"/>
            <a:ext cx="1263650" cy="2644775"/>
            <a:chOff x="5338826" y="4193324"/>
            <a:chExt cx="1263650" cy="26447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4495" y="5532183"/>
              <a:ext cx="1217866" cy="13053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8826" y="4193324"/>
              <a:ext cx="951458" cy="1294701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7127" y="5232133"/>
            <a:ext cx="1332039" cy="16267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2927" y="4138485"/>
            <a:ext cx="819010" cy="13038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12927" y="5494108"/>
            <a:ext cx="1047369" cy="134344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85008" y="528426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7599" y="535439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04311" y="538869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50388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08350" y="5610885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0455" y="567949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74252" y="5903188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0961" y="597179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67659" y="6040386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8330" y="612537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25025" y="6228276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64968" y="6244650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81718" y="6344424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14269" y="6486277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10966" y="6657774"/>
            <a:ext cx="99695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15"/>
              </a:lnSpc>
            </a:pPr>
            <a:r>
              <a:rPr dirty="0" sz="1050" spc="-50">
                <a:latin typeface="Tw Cen MT"/>
                <a:cs typeface="Tw Cen MT"/>
              </a:rPr>
              <a:t>3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77350" y="6690542"/>
            <a:ext cx="17145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5"/>
              </a:lnSpc>
            </a:pPr>
            <a:r>
              <a:rPr dirty="0" sz="1000" spc="-25">
                <a:latin typeface="Gulim"/>
                <a:cs typeface="Gulim"/>
              </a:rPr>
              <a:t>22</a:t>
            </a:r>
            <a:endParaRPr sz="1000">
              <a:latin typeface="Gulim"/>
              <a:cs typeface="Gulim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75"/>
              <a:t> </a:t>
            </a:r>
            <a:r>
              <a:rPr dirty="0" sz="3200" spc="-575">
                <a:latin typeface="Tw Cen MT"/>
                <a:cs typeface="Tw Cen MT"/>
              </a:rPr>
              <a:t>5</a:t>
            </a:r>
            <a:r>
              <a:rPr dirty="0" sz="3200" spc="-575"/>
              <a:t>단계</a:t>
            </a:r>
            <a:r>
              <a:rPr dirty="0" sz="3200" spc="-575">
                <a:latin typeface="Tw Cen MT"/>
                <a:cs typeface="Tw Cen MT"/>
              </a:rPr>
              <a:t>~7</a:t>
            </a:r>
            <a:r>
              <a:rPr dirty="0" sz="3200" spc="-57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(6/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77714"/>
            <a:ext cx="6043295" cy="935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Prim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정점에서부터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출발하여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인접한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중에서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간 </a:t>
            </a:r>
            <a:r>
              <a:rPr dirty="0" sz="1200" spc="-10">
                <a:latin typeface="Gulim"/>
                <a:cs typeface="Gulim"/>
              </a:rPr>
              <a:t>선으로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선택하여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신장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트리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Gulim"/>
                <a:cs typeface="Gulim"/>
              </a:rPr>
              <a:t>교재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그림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35">
                <a:latin typeface="Arial"/>
                <a:cs typeface="Arial"/>
              </a:rPr>
              <a:t>11-</a:t>
            </a:r>
            <a:r>
              <a:rPr dirty="0" sz="1200" spc="-10">
                <a:latin typeface="Arial"/>
                <a:cs typeface="Arial"/>
              </a:rPr>
              <a:t>6</a:t>
            </a:r>
            <a:r>
              <a:rPr dirty="0" sz="1200" spc="-10">
                <a:latin typeface="Gulim"/>
                <a:cs typeface="Gulim"/>
              </a:rPr>
              <a:t>의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5</a:t>
            </a:r>
            <a:r>
              <a:rPr dirty="0" sz="1200" spc="-10">
                <a:latin typeface="Gulim"/>
                <a:cs typeface="Gulim"/>
              </a:rPr>
              <a:t>단계</a:t>
            </a:r>
            <a:r>
              <a:rPr dirty="0" sz="1200" spc="-10">
                <a:latin typeface="Arial"/>
                <a:cs typeface="Arial"/>
              </a:rPr>
              <a:t>~7</a:t>
            </a:r>
            <a:r>
              <a:rPr dirty="0" sz="1200" spc="-10">
                <a:latin typeface="Gulim"/>
                <a:cs typeface="Gulim"/>
              </a:rPr>
              <a:t>단계가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Arial"/>
                <a:cs typeface="Arial"/>
              </a:rPr>
              <a:t>selected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배열이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update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되면서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진행함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0931" y="5306758"/>
            <a:ext cx="975817" cy="15627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56011" y="5335088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6071" y="6021078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2663" y="5883881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361" y="5952486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8788" y="5592983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3380" y="6226748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6742" y="6107473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9968" y="6429761"/>
            <a:ext cx="547370" cy="4216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  <a:p>
            <a:pPr marL="18796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Gulim"/>
                <a:cs typeface="Gulim"/>
              </a:rPr>
              <a:t>22</a:t>
            </a:r>
            <a:r>
              <a:rPr dirty="0" sz="1000" spc="345">
                <a:latin typeface="Gulim"/>
                <a:cs typeface="Gulim"/>
              </a:rPr>
              <a:t> </a:t>
            </a:r>
            <a:r>
              <a:rPr dirty="0" baseline="10582" sz="1575" spc="-75">
                <a:latin typeface="Tw Cen MT"/>
                <a:cs typeface="Tw Cen MT"/>
              </a:rPr>
              <a:t>3</a:t>
            </a:r>
            <a:endParaRPr baseline="10582" sz="1575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43437" y="6210374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00129" y="6326522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08867" y="5661588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03420" y="5266364"/>
            <a:ext cx="318770" cy="504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01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  <a:p>
            <a:pPr algn="r" marR="5080">
              <a:lnSpc>
                <a:spcPts val="1070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  <a:p>
            <a:pPr marL="35560">
              <a:lnSpc>
                <a:spcPct val="100000"/>
              </a:lnSpc>
              <a:spcBef>
                <a:spcPts val="490"/>
              </a:spcBef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865" y="4240529"/>
            <a:ext cx="2729547" cy="2866631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6472" y="5494108"/>
            <a:ext cx="1045845" cy="134344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88731" y="683399"/>
            <a:ext cx="6123305" cy="7569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154555" algn="l"/>
              </a:tabLst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20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15">
                <a:latin typeface="Tw Cen MT"/>
                <a:cs typeface="Tw Cen MT"/>
              </a:rPr>
              <a:t> </a:t>
            </a:r>
            <a:r>
              <a:rPr dirty="0" sz="2400" spc="-20">
                <a:latin typeface="Tw Cen MT"/>
                <a:cs typeface="Tw Cen MT"/>
              </a:rPr>
              <a:t>prim</a:t>
            </a:r>
            <a:r>
              <a:rPr dirty="0" sz="2400">
                <a:latin typeface="Tw Cen MT"/>
                <a:cs typeface="Tw Cen MT"/>
              </a:rPr>
              <a:t>	</a:t>
            </a:r>
            <a:r>
              <a:rPr dirty="0" sz="2400" spc="-520">
                <a:latin typeface="Tw Cen MT"/>
                <a:cs typeface="Tw Cen MT"/>
              </a:rPr>
              <a:t>7</a:t>
            </a:r>
            <a:r>
              <a:rPr dirty="0" sz="2400" spc="-520"/>
              <a:t>단계</a:t>
            </a:r>
            <a:r>
              <a:rPr dirty="0" sz="2400" spc="-120"/>
              <a:t> </a:t>
            </a:r>
            <a:r>
              <a:rPr dirty="0" sz="2400" spc="-1035"/>
              <a:t>그림과</a:t>
            </a:r>
            <a:r>
              <a:rPr dirty="0" sz="2400" spc="-130"/>
              <a:t> </a:t>
            </a:r>
            <a:r>
              <a:rPr dirty="0" sz="2400">
                <a:latin typeface="Tw Cen MT"/>
                <a:cs typeface="Tw Cen MT"/>
              </a:rPr>
              <a:t>VS</a:t>
            </a:r>
            <a:r>
              <a:rPr dirty="0" sz="2400" spc="-10">
                <a:latin typeface="Tw Cen MT"/>
                <a:cs typeface="Tw Cen MT"/>
              </a:rPr>
              <a:t> </a:t>
            </a:r>
            <a:r>
              <a:rPr dirty="0" sz="2400" spc="-944"/>
              <a:t>한줄씩수행과</a:t>
            </a:r>
            <a:r>
              <a:rPr dirty="0" sz="2400" spc="-110"/>
              <a:t> </a:t>
            </a:r>
            <a:r>
              <a:rPr dirty="0" sz="2400" spc="-1125"/>
              <a:t>변수창을</a:t>
            </a:r>
            <a:r>
              <a:rPr dirty="0" sz="2400" spc="-135"/>
              <a:t> </a:t>
            </a:r>
            <a:r>
              <a:rPr dirty="0" sz="2400" spc="-1245"/>
              <a:t>보니</a:t>
            </a:r>
            <a:r>
              <a:rPr dirty="0" sz="2400" spc="600"/>
              <a:t> </a:t>
            </a:r>
            <a:r>
              <a:rPr dirty="0" sz="2400" spc="-990"/>
              <a:t>복잡해</a:t>
            </a:r>
            <a:r>
              <a:rPr dirty="0" sz="2400" spc="-120"/>
              <a:t> </a:t>
            </a:r>
            <a:r>
              <a:rPr dirty="0" sz="2400" spc="-1285"/>
              <a:t>보이는</a:t>
            </a:r>
            <a:r>
              <a:rPr dirty="0" sz="2400" spc="-145"/>
              <a:t> </a:t>
            </a:r>
            <a:r>
              <a:rPr dirty="0" sz="2400">
                <a:latin typeface="Tw Cen MT"/>
                <a:cs typeface="Tw Cen MT"/>
              </a:rPr>
              <a:t>prim.c</a:t>
            </a:r>
            <a:r>
              <a:rPr dirty="0" sz="2400" spc="-35">
                <a:latin typeface="Tw Cen MT"/>
                <a:cs typeface="Tw Cen MT"/>
              </a:rPr>
              <a:t> </a:t>
            </a:r>
            <a:r>
              <a:rPr dirty="0" sz="2400" spc="-1210"/>
              <a:t>코드가</a:t>
            </a:r>
            <a:r>
              <a:rPr dirty="0" sz="2400" spc="-120"/>
              <a:t> </a:t>
            </a:r>
            <a:r>
              <a:rPr dirty="0" sz="2400" spc="-1050"/>
              <a:t>이해되는</a:t>
            </a:r>
            <a:r>
              <a:rPr dirty="0" sz="2400" spc="-145"/>
              <a:t> </a:t>
            </a:r>
            <a:r>
              <a:rPr dirty="0" sz="2400" spc="-915"/>
              <a:t>것</a:t>
            </a:r>
            <a:r>
              <a:rPr dirty="0" sz="2400" spc="-135"/>
              <a:t> </a:t>
            </a:r>
            <a:r>
              <a:rPr dirty="0" sz="2400" spc="-815"/>
              <a:t>같습니다</a:t>
            </a:r>
            <a:r>
              <a:rPr dirty="0" sz="2400" spc="-815">
                <a:latin typeface="Tw Cen MT"/>
                <a:cs typeface="Tw Cen MT"/>
              </a:rPr>
              <a:t>.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798" y="1782795"/>
            <a:ext cx="5964555" cy="198628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300">
                <a:latin typeface="Gulim"/>
                <a:cs typeface="Gulim"/>
              </a:rPr>
              <a:t>교수</a:t>
            </a:r>
            <a:r>
              <a:rPr dirty="0" sz="1300">
                <a:latin typeface="Arial"/>
                <a:cs typeface="Arial"/>
              </a:rPr>
              <a:t>&gt;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>
                <a:latin typeface="Gulim"/>
                <a:cs typeface="Gulim"/>
              </a:rPr>
              <a:t>코드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>
                <a:latin typeface="Arial"/>
                <a:cs typeface="Arial"/>
              </a:rPr>
              <a:t>=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Gulim"/>
                <a:cs typeface="Gulim"/>
              </a:rPr>
              <a:t>자료구조</a:t>
            </a:r>
            <a:r>
              <a:rPr dirty="0" sz="1300" spc="-75">
                <a:latin typeface="Gulim"/>
                <a:cs typeface="Gulim"/>
              </a:rPr>
              <a:t> </a:t>
            </a:r>
            <a:r>
              <a:rPr dirty="0" sz="1300">
                <a:latin typeface="Arial"/>
                <a:cs typeface="Arial"/>
              </a:rPr>
              <a:t>+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20">
                <a:latin typeface="Gulim"/>
                <a:cs typeface="Gulim"/>
              </a:rPr>
              <a:t>알고리즘</a:t>
            </a:r>
            <a:endParaRPr sz="13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300">
                <a:latin typeface="Arial"/>
                <a:cs typeface="Arial"/>
              </a:rPr>
              <a:t>VS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Gulim"/>
                <a:cs typeface="Gulim"/>
              </a:rPr>
              <a:t>한줄씩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수행이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알고리즘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한줄씩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수행하는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 spc="-50">
                <a:latin typeface="Gulim"/>
                <a:cs typeface="Gulim"/>
              </a:rPr>
              <a:t>것</a:t>
            </a:r>
            <a:endParaRPr sz="13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300">
                <a:latin typeface="Arial"/>
                <a:cs typeface="Arial"/>
              </a:rPr>
              <a:t>VS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Gulim"/>
                <a:cs typeface="Gulim"/>
              </a:rPr>
              <a:t>변수창이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자료구조</a:t>
            </a:r>
            <a:r>
              <a:rPr dirty="0" sz="1300" spc="-7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보는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 spc="-50">
                <a:latin typeface="Gulim"/>
                <a:cs typeface="Gulim"/>
              </a:rPr>
              <a:t>것</a:t>
            </a:r>
            <a:endParaRPr sz="1300">
              <a:latin typeface="Gulim"/>
              <a:cs typeface="Gulim"/>
            </a:endParaRPr>
          </a:p>
          <a:p>
            <a:pPr marL="332105" marR="42545" indent="-320040">
              <a:lnSpc>
                <a:spcPct val="80000"/>
              </a:lnSpc>
              <a:spcBef>
                <a:spcPts val="695"/>
              </a:spcBef>
              <a:buClr>
                <a:srgbClr val="DD8046"/>
              </a:buClr>
              <a:buSzPct val="57692"/>
              <a:buFont typeface="Wingdings"/>
              <a:buChar char=""/>
              <a:tabLst>
                <a:tab pos="332105" algn="l"/>
              </a:tabLst>
            </a:pPr>
            <a:r>
              <a:rPr dirty="0" sz="1300">
                <a:latin typeface="Arial"/>
                <a:cs typeface="Arial"/>
              </a:rPr>
              <a:t>Prim</a:t>
            </a:r>
            <a:r>
              <a:rPr dirty="0" sz="1300">
                <a:latin typeface="Gulim"/>
                <a:cs typeface="Gulim"/>
              </a:rPr>
              <a:t>방식</a:t>
            </a:r>
            <a:r>
              <a:rPr dirty="0" sz="1300">
                <a:latin typeface="Arial"/>
                <a:cs typeface="Arial"/>
              </a:rPr>
              <a:t>: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Gulim"/>
                <a:cs typeface="Gulim"/>
              </a:rPr>
              <a:t>시작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정점에서부터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출발하여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신장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트리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집합에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인접한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정점들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 spc="-25">
                <a:latin typeface="Gulim"/>
                <a:cs typeface="Gulim"/>
              </a:rPr>
              <a:t>중에 </a:t>
            </a:r>
            <a:r>
              <a:rPr dirty="0" sz="1300">
                <a:latin typeface="Gulim"/>
                <a:cs typeface="Gulim"/>
              </a:rPr>
              <a:t>서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최저</a:t>
            </a:r>
            <a:r>
              <a:rPr dirty="0" sz="1300" spc="-11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간선으로</a:t>
            </a:r>
            <a:r>
              <a:rPr dirty="0" sz="1300" spc="-8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연결된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정점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선택하여</a:t>
            </a:r>
            <a:r>
              <a:rPr dirty="0" sz="1300" spc="-8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신장</a:t>
            </a:r>
            <a:r>
              <a:rPr dirty="0" sz="1300" spc="-11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트리</a:t>
            </a:r>
            <a:r>
              <a:rPr dirty="0" sz="1300" spc="-9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집합에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 spc="-25">
                <a:latin typeface="Gulim"/>
                <a:cs typeface="Gulim"/>
              </a:rPr>
              <a:t>추가함</a:t>
            </a:r>
            <a:endParaRPr sz="1300">
              <a:latin typeface="Gulim"/>
              <a:cs typeface="Gulim"/>
            </a:endParaRPr>
          </a:p>
          <a:p>
            <a:pPr marL="12700">
              <a:lnSpc>
                <a:spcPts val="1405"/>
              </a:lnSpc>
              <a:spcBef>
                <a:spcPts val="395"/>
              </a:spcBef>
            </a:pPr>
            <a:r>
              <a:rPr dirty="0" sz="1300" spc="-10">
                <a:latin typeface="Arial"/>
                <a:cs typeface="Arial"/>
              </a:rPr>
              <a:t>selected</a:t>
            </a:r>
            <a:r>
              <a:rPr dirty="0" sz="1300" spc="-10">
                <a:latin typeface="Gulim"/>
                <a:cs typeface="Gulim"/>
              </a:rPr>
              <a:t>배열이</a:t>
            </a:r>
            <a:r>
              <a:rPr dirty="0" sz="1300" spc="-65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신장트리집합을</a:t>
            </a:r>
            <a:r>
              <a:rPr dirty="0" sz="1300" spc="-60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표현하고</a:t>
            </a:r>
            <a:r>
              <a:rPr dirty="0" sz="1300" spc="-80">
                <a:latin typeface="Gulim"/>
                <a:cs typeface="Gulim"/>
              </a:rPr>
              <a:t> </a:t>
            </a:r>
            <a:r>
              <a:rPr dirty="0" sz="1300" spc="-10">
                <a:latin typeface="Arial"/>
                <a:cs typeface="Arial"/>
              </a:rPr>
              <a:t>distance</a:t>
            </a:r>
            <a:r>
              <a:rPr dirty="0" sz="1300" spc="-10">
                <a:latin typeface="Gulim"/>
                <a:cs typeface="Gulim"/>
              </a:rPr>
              <a:t>배열이</a:t>
            </a:r>
            <a:r>
              <a:rPr dirty="0" sz="1300" spc="-5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인접한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정점들의</a:t>
            </a:r>
            <a:r>
              <a:rPr dirty="0" sz="1300" spc="-70">
                <a:latin typeface="Gulim"/>
                <a:cs typeface="Gulim"/>
              </a:rPr>
              <a:t> </a:t>
            </a:r>
            <a:r>
              <a:rPr dirty="0" sz="1300" spc="-10">
                <a:latin typeface="Arial"/>
                <a:cs typeface="Arial"/>
              </a:rPr>
              <a:t>weight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405"/>
              </a:lnSpc>
            </a:pPr>
            <a:r>
              <a:rPr dirty="0" sz="1300">
                <a:latin typeface="Gulim"/>
                <a:cs typeface="Gulim"/>
              </a:rPr>
              <a:t>를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표현하는</a:t>
            </a:r>
            <a:r>
              <a:rPr dirty="0" sz="1300" spc="-8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것을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알았습니다</a:t>
            </a:r>
            <a:r>
              <a:rPr dirty="0" sz="1300" spc="-10"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405"/>
              </a:lnSpc>
              <a:spcBef>
                <a:spcPts val="385"/>
              </a:spcBef>
            </a:pPr>
            <a:r>
              <a:rPr dirty="0" sz="1300">
                <a:latin typeface="Gulim"/>
                <a:cs typeface="Gulim"/>
              </a:rPr>
              <a:t>오른쪽</a:t>
            </a:r>
            <a:r>
              <a:rPr dirty="0" sz="1300" spc="-11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그림의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경우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신장트리집합은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>
                <a:latin typeface="Arial"/>
                <a:cs typeface="Arial"/>
              </a:rPr>
              <a:t>{V0,V5,V4,V3}</a:t>
            </a:r>
            <a:r>
              <a:rPr dirty="0" sz="1300" spc="-10">
                <a:latin typeface="Arial"/>
                <a:cs typeface="Arial"/>
              </a:rPr>
              <a:t> </a:t>
            </a:r>
            <a:r>
              <a:rPr dirty="0" sz="1300">
                <a:latin typeface="Gulim"/>
                <a:cs typeface="Gulim"/>
              </a:rPr>
              <a:t>인접한</a:t>
            </a:r>
            <a:r>
              <a:rPr dirty="0" sz="1300" spc="-11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정점들은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>
                <a:latin typeface="Arial"/>
                <a:cs typeface="Arial"/>
              </a:rPr>
              <a:t>{V1,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V6,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V2}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405"/>
              </a:lnSpc>
            </a:pPr>
            <a:r>
              <a:rPr dirty="0" sz="1300">
                <a:latin typeface="Gulim"/>
                <a:cs typeface="Gulim"/>
              </a:rPr>
              <a:t>이고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 spc="-10">
                <a:latin typeface="Arial"/>
                <a:cs typeface="Arial"/>
              </a:rPr>
              <a:t>weight</a:t>
            </a:r>
            <a:r>
              <a:rPr dirty="0" sz="1300" spc="-10">
                <a:latin typeface="Gulim"/>
                <a:cs typeface="Gulim"/>
              </a:rPr>
              <a:t>는</a:t>
            </a:r>
            <a:r>
              <a:rPr dirty="0" sz="1300" spc="-70">
                <a:latin typeface="Gulim"/>
                <a:cs typeface="Gulim"/>
              </a:rPr>
              <a:t> </a:t>
            </a:r>
            <a:r>
              <a:rPr dirty="0" sz="1300">
                <a:latin typeface="Arial"/>
                <a:cs typeface="Arial"/>
              </a:rPr>
              <a:t>distance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>
                <a:latin typeface="Gulim"/>
                <a:cs typeface="Gulim"/>
              </a:rPr>
              <a:t>배열에</a:t>
            </a:r>
            <a:r>
              <a:rPr dirty="0" sz="1300" spc="-8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있고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최저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간선은</a:t>
            </a:r>
            <a:r>
              <a:rPr dirty="0" sz="1300" spc="-80">
                <a:latin typeface="Gulim"/>
                <a:cs typeface="Gulim"/>
              </a:rPr>
              <a:t> </a:t>
            </a:r>
            <a:r>
              <a:rPr dirty="0" sz="1300" spc="-10">
                <a:latin typeface="Arial"/>
                <a:cs typeface="Arial"/>
              </a:rPr>
              <a:t>E3-</a:t>
            </a:r>
            <a:r>
              <a:rPr dirty="0" sz="1300">
                <a:latin typeface="Arial"/>
                <a:cs typeface="Arial"/>
              </a:rPr>
              <a:t>2</a:t>
            </a:r>
            <a:r>
              <a:rPr dirty="0" sz="1300">
                <a:latin typeface="Gulim"/>
                <a:cs typeface="Gulim"/>
              </a:rPr>
              <a:t>을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알수</a:t>
            </a:r>
            <a:r>
              <a:rPr dirty="0" sz="1300" spc="-95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있습니다</a:t>
            </a:r>
            <a:r>
              <a:rPr dirty="0" sz="1300" spc="-10"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1798" y="4287507"/>
            <a:ext cx="4201160" cy="381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ts val="1405"/>
              </a:lnSpc>
              <a:spcBef>
                <a:spcPts val="95"/>
              </a:spcBef>
              <a:buClr>
                <a:srgbClr val="DD8046"/>
              </a:buClr>
              <a:buSzPct val="57692"/>
              <a:buFont typeface="Wingdings"/>
              <a:buChar char=""/>
              <a:tabLst>
                <a:tab pos="332105" algn="l"/>
              </a:tabLst>
            </a:pPr>
            <a:r>
              <a:rPr dirty="0" sz="1300">
                <a:latin typeface="Gulim"/>
                <a:cs typeface="Gulim"/>
              </a:rPr>
              <a:t>새로운</a:t>
            </a:r>
            <a:r>
              <a:rPr dirty="0" sz="1300" spc="-105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그래프에</a:t>
            </a:r>
            <a:r>
              <a:rPr dirty="0" sz="1300" spc="-85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대해서도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단계별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그림을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만들어보고</a:t>
            </a:r>
            <a:endParaRPr sz="1300">
              <a:latin typeface="Gulim"/>
              <a:cs typeface="Gulim"/>
            </a:endParaRPr>
          </a:p>
          <a:p>
            <a:pPr marL="332105">
              <a:lnSpc>
                <a:spcPts val="1405"/>
              </a:lnSpc>
            </a:pPr>
            <a:r>
              <a:rPr dirty="0" sz="1300">
                <a:latin typeface="Arial"/>
                <a:cs typeface="Arial"/>
              </a:rPr>
              <a:t>VS</a:t>
            </a:r>
            <a:r>
              <a:rPr dirty="0" sz="1300">
                <a:latin typeface="Gulim"/>
                <a:cs typeface="Gulim"/>
              </a:rPr>
              <a:t>로</a:t>
            </a:r>
            <a:r>
              <a:rPr dirty="0" sz="1300" spc="-12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한줄씩</a:t>
            </a:r>
            <a:r>
              <a:rPr dirty="0" sz="1300" spc="-10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수행및</a:t>
            </a:r>
            <a:r>
              <a:rPr dirty="0" sz="1300" spc="-90">
                <a:latin typeface="Gulim"/>
                <a:cs typeface="Gulim"/>
              </a:rPr>
              <a:t> </a:t>
            </a:r>
            <a:r>
              <a:rPr dirty="0" sz="1300">
                <a:latin typeface="Gulim"/>
                <a:cs typeface="Gulim"/>
              </a:rPr>
              <a:t>변수창</a:t>
            </a:r>
            <a:r>
              <a:rPr dirty="0" sz="1300" spc="-95">
                <a:latin typeface="Gulim"/>
                <a:cs typeface="Gulim"/>
              </a:rPr>
              <a:t> </a:t>
            </a:r>
            <a:r>
              <a:rPr dirty="0" sz="1300" spc="-10">
                <a:latin typeface="Gulim"/>
                <a:cs typeface="Gulim"/>
              </a:rPr>
              <a:t>확인해보세요</a:t>
            </a:r>
            <a:endParaRPr sz="13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3619" y="5088940"/>
            <a:ext cx="1959241" cy="15231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43340" y="2056295"/>
            <a:ext cx="975817" cy="156278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48585" y="2084548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5255" y="3216424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78645" y="2770526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85237" y="2633328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81947" y="2701934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1375" y="2342443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75954" y="2976199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09316" y="2856933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62936" y="3414480"/>
            <a:ext cx="3841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Gulim"/>
                <a:cs typeface="Gulim"/>
              </a:rPr>
              <a:t>22</a:t>
            </a:r>
            <a:r>
              <a:rPr dirty="0" sz="1000" spc="345">
                <a:latin typeface="Gulim"/>
                <a:cs typeface="Gulim"/>
              </a:rPr>
              <a:t> </a:t>
            </a:r>
            <a:r>
              <a:rPr dirty="0" baseline="10582" sz="1575" spc="-75">
                <a:latin typeface="Tw Cen MT"/>
                <a:cs typeface="Tw Cen MT"/>
              </a:rPr>
              <a:t>3</a:t>
            </a:r>
            <a:endParaRPr baseline="10582" sz="1575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36011" y="2959828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92704" y="3075970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01441" y="2411036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95994" y="2015825"/>
            <a:ext cx="318770" cy="504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01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  <a:p>
            <a:pPr algn="r" marR="5080">
              <a:lnSpc>
                <a:spcPts val="1070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  <a:p>
            <a:pPr marL="35560">
              <a:lnSpc>
                <a:spcPct val="100000"/>
              </a:lnSpc>
              <a:spcBef>
                <a:spcPts val="490"/>
              </a:spcBef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7783" y="1981657"/>
            <a:ext cx="1332039" cy="162675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56472" y="4138485"/>
            <a:ext cx="817499" cy="130384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1163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0"/>
              </a:spcBef>
            </a:pPr>
            <a:r>
              <a:rPr dirty="0" sz="4000" spc="-350">
                <a:latin typeface="Tw Cen MT"/>
                <a:cs typeface="Tw Cen MT"/>
              </a:rPr>
              <a:t>Prim</a:t>
            </a:r>
            <a:r>
              <a:rPr dirty="0" sz="4000" spc="-350"/>
              <a:t>의</a:t>
            </a:r>
            <a:r>
              <a:rPr dirty="0" sz="4000" spc="-240"/>
              <a:t> </a:t>
            </a:r>
            <a:r>
              <a:rPr dirty="0" sz="4000">
                <a:latin typeface="Tw Cen MT"/>
                <a:cs typeface="Tw Cen MT"/>
              </a:rPr>
              <a:t>MST</a:t>
            </a:r>
            <a:r>
              <a:rPr dirty="0" sz="4000" spc="-45">
                <a:latin typeface="Tw Cen MT"/>
                <a:cs typeface="Tw Cen MT"/>
              </a:rPr>
              <a:t> </a:t>
            </a:r>
            <a:r>
              <a:rPr dirty="0" sz="4000" spc="-1925"/>
              <a:t>알고리즘</a:t>
            </a:r>
            <a:r>
              <a:rPr dirty="0" sz="4000" spc="-235"/>
              <a:t> </a:t>
            </a:r>
            <a:r>
              <a:rPr dirty="0" sz="4000" spc="-2030"/>
              <a:t>복잡도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7043" y="1965776"/>
            <a:ext cx="7969884" cy="5810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57505" marR="30480" indent="-320040">
              <a:lnSpc>
                <a:spcPts val="2100"/>
              </a:lnSpc>
              <a:spcBef>
                <a:spcPts val="31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>
                <a:latin typeface="Gulim"/>
                <a:cs typeface="Gulim"/>
              </a:rPr>
              <a:t>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반복문</a:t>
            </a:r>
            <a:r>
              <a:rPr dirty="0" sz="1800" spc="-10">
                <a:latin typeface="Arial"/>
                <a:cs typeface="Arial"/>
              </a:rPr>
              <a:t>(38</a:t>
            </a:r>
            <a:r>
              <a:rPr dirty="0" sz="1800" spc="-10">
                <a:latin typeface="Gulim"/>
                <a:cs typeface="Gulim"/>
              </a:rPr>
              <a:t>번줄</a:t>
            </a:r>
            <a:r>
              <a:rPr dirty="0" sz="1800" spc="-10">
                <a:latin typeface="Arial"/>
                <a:cs typeface="Arial"/>
              </a:rPr>
              <a:t>)</a:t>
            </a:r>
            <a:r>
              <a:rPr dirty="0" sz="1800" spc="-10">
                <a:latin typeface="Gulim"/>
                <a:cs typeface="Gulim"/>
              </a:rPr>
              <a:t>이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정점의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85" i="1">
                <a:latin typeface="Arial"/>
                <a:cs typeface="Arial"/>
              </a:rPr>
              <a:t>n</a:t>
            </a:r>
            <a:r>
              <a:rPr dirty="0" sz="1900" spc="-85" i="1">
                <a:latin typeface="Gulim"/>
                <a:cs typeface="Gulim"/>
              </a:rPr>
              <a:t>만큼</a:t>
            </a:r>
            <a:r>
              <a:rPr dirty="0" sz="1900" spc="-130" i="1">
                <a:latin typeface="Gulim"/>
                <a:cs typeface="Gulim"/>
              </a:rPr>
              <a:t> </a:t>
            </a:r>
            <a:r>
              <a:rPr dirty="0" sz="1900" spc="-85" i="1">
                <a:latin typeface="Gulim"/>
                <a:cs typeface="Gulim"/>
              </a:rPr>
              <a:t>반복하고</a:t>
            </a:r>
            <a:r>
              <a:rPr dirty="0" sz="1800" spc="-85" i="1">
                <a:latin typeface="Arial"/>
                <a:cs typeface="Arial"/>
              </a:rPr>
              <a:t>,</a:t>
            </a:r>
            <a:r>
              <a:rPr dirty="0" sz="1800" spc="-5" i="1">
                <a:latin typeface="Arial"/>
                <a:cs typeface="Arial"/>
              </a:rPr>
              <a:t> </a:t>
            </a:r>
            <a:r>
              <a:rPr dirty="0" sz="1900" spc="-114" i="1">
                <a:latin typeface="Gulim"/>
                <a:cs typeface="Gulim"/>
              </a:rPr>
              <a:t>내부</a:t>
            </a:r>
            <a:r>
              <a:rPr dirty="0" sz="1900" spc="-145" i="1">
                <a:latin typeface="Gulim"/>
                <a:cs typeface="Gulim"/>
              </a:rPr>
              <a:t> </a:t>
            </a:r>
            <a:r>
              <a:rPr dirty="0" sz="1900" spc="-75" i="1">
                <a:latin typeface="Gulim"/>
                <a:cs typeface="Gulim"/>
              </a:rPr>
              <a:t>반복문</a:t>
            </a:r>
            <a:r>
              <a:rPr dirty="0" sz="1800" spc="-75" i="1">
                <a:latin typeface="Arial"/>
                <a:cs typeface="Arial"/>
              </a:rPr>
              <a:t>(43</a:t>
            </a:r>
            <a:r>
              <a:rPr dirty="0" sz="1900" spc="-75" i="1">
                <a:latin typeface="Gulim"/>
                <a:cs typeface="Gulim"/>
              </a:rPr>
              <a:t>번줄</a:t>
            </a:r>
            <a:r>
              <a:rPr dirty="0" sz="1800" spc="-75" i="1">
                <a:latin typeface="Arial"/>
                <a:cs typeface="Arial"/>
              </a:rPr>
              <a:t>)</a:t>
            </a:r>
            <a:r>
              <a:rPr dirty="0" sz="1900" spc="-75" i="1">
                <a:latin typeface="Gulim"/>
                <a:cs typeface="Gulim"/>
              </a:rPr>
              <a:t>이</a:t>
            </a:r>
            <a:r>
              <a:rPr dirty="0" sz="1900" spc="-120" i="1">
                <a:latin typeface="Gulim"/>
                <a:cs typeface="Gulim"/>
              </a:rPr>
              <a:t> </a:t>
            </a:r>
            <a:r>
              <a:rPr dirty="0" sz="1800" spc="-25" i="1">
                <a:latin typeface="Arial"/>
                <a:cs typeface="Arial"/>
              </a:rPr>
              <a:t>n</a:t>
            </a:r>
            <a:r>
              <a:rPr dirty="0" sz="1900" spc="-25" i="1">
                <a:latin typeface="Gulim"/>
                <a:cs typeface="Gulim"/>
              </a:rPr>
              <a:t>번 </a:t>
            </a:r>
            <a:r>
              <a:rPr dirty="0" sz="1900" spc="-85" i="1">
                <a:latin typeface="Gulim"/>
                <a:cs typeface="Gulim"/>
              </a:rPr>
              <a:t>반복하</a:t>
            </a:r>
            <a:r>
              <a:rPr dirty="0" sz="1800" spc="-85">
                <a:latin typeface="Gulim"/>
                <a:cs typeface="Gulim"/>
              </a:rPr>
              <a:t>므로</a:t>
            </a:r>
            <a:r>
              <a:rPr dirty="0" sz="1800" spc="-8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Prim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8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알고리즘은</a:t>
            </a:r>
            <a:r>
              <a:rPr dirty="0" sz="1800" spc="-90">
                <a:latin typeface="Gulim"/>
                <a:cs typeface="Gulim"/>
              </a:rPr>
              <a:t> </a:t>
            </a:r>
            <a:r>
              <a:rPr dirty="0" sz="1900" spc="-70" b="1" i="1">
                <a:latin typeface="Gulim"/>
                <a:cs typeface="Gulim"/>
              </a:rPr>
              <a:t>O(n</a:t>
            </a:r>
            <a:r>
              <a:rPr dirty="0" baseline="24444" sz="1875" spc="-104" b="1" i="1">
                <a:latin typeface="Gulim"/>
                <a:cs typeface="Gulim"/>
              </a:rPr>
              <a:t>2</a:t>
            </a:r>
            <a:r>
              <a:rPr dirty="0" sz="1900" spc="-70" b="1" i="1">
                <a:latin typeface="Gulim"/>
                <a:cs typeface="Gulim"/>
              </a:rPr>
              <a:t>)</a:t>
            </a:r>
            <a:r>
              <a:rPr dirty="0" sz="1900" spc="-275" b="1" i="1">
                <a:latin typeface="Gulim"/>
                <a:cs typeface="Gulim"/>
              </a:rPr>
              <a:t> </a:t>
            </a:r>
            <a:r>
              <a:rPr dirty="0" sz="1900" spc="-120" i="1">
                <a:latin typeface="Gulim"/>
                <a:cs typeface="Gulim"/>
              </a:rPr>
              <a:t>의</a:t>
            </a:r>
            <a:r>
              <a:rPr dirty="0" sz="1900" spc="-110" i="1">
                <a:latin typeface="Gulim"/>
                <a:cs typeface="Gulim"/>
              </a:rPr>
              <a:t> </a:t>
            </a:r>
            <a:r>
              <a:rPr dirty="0" sz="1900" spc="-120" i="1">
                <a:latin typeface="Gulim"/>
                <a:cs typeface="Gulim"/>
              </a:rPr>
              <a:t>복잡도를</a:t>
            </a:r>
            <a:r>
              <a:rPr dirty="0" sz="1900" spc="-125" i="1">
                <a:latin typeface="Gulim"/>
                <a:cs typeface="Gulim"/>
              </a:rPr>
              <a:t> </a:t>
            </a:r>
            <a:r>
              <a:rPr dirty="0" sz="1900" spc="-20" i="1">
                <a:latin typeface="Gulim"/>
                <a:cs typeface="Gulim"/>
              </a:rPr>
              <a:t>가진다</a:t>
            </a:r>
            <a:r>
              <a:rPr dirty="0" sz="1800" spc="-20" i="1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7043" y="2902674"/>
            <a:ext cx="4978400" cy="143383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 spc="-10">
                <a:latin typeface="Gulim"/>
                <a:cs typeface="Gulim"/>
              </a:rPr>
              <a:t>희박한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그래프</a:t>
            </a:r>
            <a:endParaRPr sz="1800">
              <a:latin typeface="Gulim"/>
              <a:cs typeface="Gulim"/>
            </a:endParaRPr>
          </a:p>
          <a:p>
            <a:pPr marL="403225">
              <a:lnSpc>
                <a:spcPct val="100000"/>
              </a:lnSpc>
              <a:spcBef>
                <a:spcPts val="600"/>
              </a:spcBef>
              <a:tabLst>
                <a:tab pos="741045" algn="l"/>
              </a:tabLst>
            </a:pPr>
            <a:r>
              <a:rPr dirty="0" sz="1250" spc="-65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2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800" i="1">
                <a:latin typeface="Arial"/>
                <a:cs typeface="Arial"/>
              </a:rPr>
              <a:t>O(e*log(e))</a:t>
            </a:r>
            <a:r>
              <a:rPr dirty="0" sz="1800" spc="-30" i="1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인</a:t>
            </a:r>
            <a:r>
              <a:rPr dirty="0" sz="1800" spc="-14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Kruskal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알고리즘이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유리</a:t>
            </a:r>
            <a:endParaRPr sz="1800">
              <a:latin typeface="Gulim"/>
              <a:cs typeface="Gulim"/>
            </a:endParaRPr>
          </a:p>
          <a:p>
            <a:pPr marL="3575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 spc="-10">
                <a:latin typeface="Gulim"/>
                <a:cs typeface="Gulim"/>
              </a:rPr>
              <a:t>밀집한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그래프</a:t>
            </a:r>
            <a:endParaRPr sz="1800">
              <a:latin typeface="Gulim"/>
              <a:cs typeface="Gulim"/>
            </a:endParaRPr>
          </a:p>
          <a:p>
            <a:pPr marL="403225">
              <a:lnSpc>
                <a:spcPct val="100000"/>
              </a:lnSpc>
              <a:spcBef>
                <a:spcPts val="440"/>
              </a:spcBef>
              <a:tabLst>
                <a:tab pos="676910" algn="l"/>
              </a:tabLst>
            </a:pPr>
            <a:r>
              <a:rPr dirty="0" sz="1250" spc="-65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25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900" spc="-70" b="1" i="1">
                <a:latin typeface="Gulim"/>
                <a:cs typeface="Gulim"/>
              </a:rPr>
              <a:t>O(n</a:t>
            </a:r>
            <a:r>
              <a:rPr dirty="0" baseline="24444" sz="1875" spc="-104" b="1" i="1">
                <a:latin typeface="Gulim"/>
                <a:cs typeface="Gulim"/>
              </a:rPr>
              <a:t>2</a:t>
            </a:r>
            <a:r>
              <a:rPr dirty="0" sz="1900" spc="-70" b="1" i="1">
                <a:latin typeface="Gulim"/>
                <a:cs typeface="Gulim"/>
              </a:rPr>
              <a:t>)</a:t>
            </a:r>
            <a:r>
              <a:rPr dirty="0" sz="1900" spc="-290" b="1" i="1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인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Prim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알고리즘이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유리</a:t>
            </a:r>
            <a:endParaRPr sz="18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2443" y="4756375"/>
            <a:ext cx="7893050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800" spc="-10">
                <a:latin typeface="Arial"/>
                <a:cs typeface="Arial"/>
              </a:rPr>
              <a:t>Kruskal</a:t>
            </a:r>
            <a:r>
              <a:rPr dirty="0" sz="1800" spc="-10">
                <a:latin typeface="Gulim"/>
                <a:cs typeface="Gulim"/>
              </a:rPr>
              <a:t>는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edge</a:t>
            </a:r>
            <a:r>
              <a:rPr dirty="0" sz="1800">
                <a:latin typeface="Gulim"/>
                <a:cs typeface="Gulim"/>
              </a:rPr>
              <a:t>가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많을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수록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시간소요되지만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Prim</a:t>
            </a:r>
            <a:r>
              <a:rPr dirty="0" sz="1800" spc="-10">
                <a:latin typeface="Gulim"/>
                <a:cs typeface="Gulim"/>
              </a:rPr>
              <a:t>은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node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제곱으로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시간 </a:t>
            </a:r>
            <a:r>
              <a:rPr dirty="0" sz="1800">
                <a:latin typeface="Gulim"/>
                <a:cs typeface="Gulim"/>
              </a:rPr>
              <a:t>소요</a:t>
            </a:r>
            <a:r>
              <a:rPr dirty="0" sz="1800" spc="-16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되기에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대부분의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그래프에서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Kruskal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빠름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800" spc="-10">
                <a:latin typeface="Gulim"/>
                <a:cs typeface="Gulim"/>
              </a:rPr>
              <a:t>그래프에서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Kruskal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O(9*log9)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Prim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O(7*7)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686" y="2743250"/>
            <a:ext cx="975817" cy="15612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63448" y="2771187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40105" y="3903061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3507" y="3457177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0101" y="3319979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96797" y="3388572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6225" y="3029081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90817" y="3662837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24179" y="3543572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77798" y="4101118"/>
            <a:ext cx="38417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Gulim"/>
                <a:cs typeface="Gulim"/>
              </a:rPr>
              <a:t>22</a:t>
            </a:r>
            <a:r>
              <a:rPr dirty="0" sz="1000" spc="345">
                <a:latin typeface="Gulim"/>
                <a:cs typeface="Gulim"/>
              </a:rPr>
              <a:t> </a:t>
            </a:r>
            <a:r>
              <a:rPr dirty="0" baseline="10582" sz="1575" spc="-75">
                <a:latin typeface="Tw Cen MT"/>
                <a:cs typeface="Tw Cen MT"/>
              </a:rPr>
              <a:t>3</a:t>
            </a:r>
            <a:endParaRPr baseline="10582" sz="1575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50874" y="3646467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07566" y="3762621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16304" y="3097674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10856" y="2702463"/>
            <a:ext cx="318770" cy="504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01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  <a:p>
            <a:pPr algn="r" marR="5080">
              <a:lnSpc>
                <a:spcPts val="1070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  <a:p>
            <a:pPr marL="35560">
              <a:lnSpc>
                <a:spcPct val="100000"/>
              </a:lnSpc>
              <a:spcBef>
                <a:spcPts val="490"/>
              </a:spcBef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34997" y="2737922"/>
            <a:ext cx="984885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 spc="-10">
                <a:latin typeface="Trebuchet MS"/>
                <a:cs typeface="Trebuchet MS"/>
              </a:rPr>
              <a:t>Vertex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</a:t>
            </a:r>
            <a:r>
              <a:rPr dirty="0" sz="1400" spc="-25">
                <a:latin typeface="Gulim"/>
                <a:cs typeface="Gulim"/>
              </a:rPr>
              <a:t>개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9</a:t>
            </a:r>
            <a:r>
              <a:rPr dirty="0" sz="1400" spc="-25">
                <a:latin typeface="Gulim"/>
                <a:cs typeface="Gulim"/>
              </a:rPr>
              <a:t>개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2109"/>
            <a:ext cx="5648960" cy="132969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700" spc="-10">
                <a:latin typeface="Gulim"/>
                <a:cs typeface="Gulim"/>
              </a:rPr>
              <a:t>최소비용신장트리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1700" spc="-10">
                <a:latin typeface="Arial"/>
                <a:cs typeface="Arial"/>
              </a:rPr>
              <a:t>Kruskal</a:t>
            </a:r>
            <a:r>
              <a:rPr dirty="0" sz="1700" spc="-10">
                <a:latin typeface="Gulim"/>
                <a:cs typeface="Gulim"/>
              </a:rPr>
              <a:t>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MST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ts val="1835"/>
              </a:lnSpc>
              <a:spcBef>
                <a:spcPts val="28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1700">
                <a:latin typeface="Arial"/>
                <a:cs typeface="Arial"/>
              </a:rPr>
              <a:t>Prim</a:t>
            </a:r>
            <a:r>
              <a:rPr dirty="0" sz="1700">
                <a:latin typeface="Gulim"/>
                <a:cs typeface="Gulim"/>
              </a:rPr>
              <a:t>의</a:t>
            </a:r>
            <a:r>
              <a:rPr dirty="0" sz="1700" spc="-135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MST</a:t>
            </a:r>
            <a:r>
              <a:rPr dirty="0" sz="1700" spc="-55">
                <a:latin typeface="Arial"/>
                <a:cs typeface="Arial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marR="5080">
              <a:lnSpc>
                <a:spcPct val="80000"/>
              </a:lnSpc>
              <a:spcBef>
                <a:spcPts val="204"/>
              </a:spcBef>
            </a:pPr>
            <a:r>
              <a:rPr dirty="0" sz="1700">
                <a:latin typeface="Gulim"/>
                <a:cs typeface="Gulim"/>
              </a:rPr>
              <a:t>나는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천인국교수님의</a:t>
            </a:r>
            <a:r>
              <a:rPr dirty="0" sz="1700" spc="-12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그래프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단계별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그림을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보고 </a:t>
            </a:r>
            <a:r>
              <a:rPr dirty="0" sz="1700">
                <a:latin typeface="Gulim"/>
                <a:cs typeface="Gulim"/>
              </a:rPr>
              <a:t>새로운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그래프에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대해서도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단계별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그림을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그릴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수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있다</a:t>
            </a:r>
            <a:endParaRPr sz="17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797" y="3431580"/>
            <a:ext cx="3263900" cy="12109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95"/>
              </a:spcBef>
              <a:buClr>
                <a:srgbClr val="DD8046"/>
              </a:buClr>
              <a:buFont typeface="Arial"/>
              <a:buAutoNum type="arabicPeriod" startAt="4"/>
              <a:tabLst>
                <a:tab pos="469265" algn="l"/>
              </a:tabLst>
            </a:pPr>
            <a:r>
              <a:rPr dirty="0" sz="1700" spc="-20">
                <a:latin typeface="Gulim"/>
                <a:cs typeface="Gulim"/>
              </a:rPr>
              <a:t>최단경로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DD8046"/>
              </a:buClr>
              <a:buAutoNum type="arabicPeriod" startAt="4"/>
              <a:tabLst>
                <a:tab pos="469265" algn="l"/>
              </a:tabLst>
            </a:pPr>
            <a:r>
              <a:rPr dirty="0" sz="1700" spc="-10">
                <a:latin typeface="Arial"/>
                <a:cs typeface="Arial"/>
              </a:rPr>
              <a:t>Dijkstra</a:t>
            </a:r>
            <a:r>
              <a:rPr dirty="0" sz="1700" spc="-10">
                <a:latin typeface="Gulim"/>
                <a:cs typeface="Gulim"/>
              </a:rPr>
              <a:t>의</a:t>
            </a:r>
            <a:r>
              <a:rPr dirty="0" sz="1700" spc="-9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최단경로</a:t>
            </a:r>
            <a:r>
              <a:rPr dirty="0" sz="1700" spc="-75">
                <a:latin typeface="Gulim"/>
                <a:cs typeface="Gulim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AutoNum type="arabicPeriod" startAt="4"/>
              <a:tabLst>
                <a:tab pos="469265" algn="l"/>
              </a:tabLst>
            </a:pPr>
            <a:r>
              <a:rPr dirty="0" sz="1700">
                <a:latin typeface="Arial"/>
                <a:cs typeface="Arial"/>
              </a:rPr>
              <a:t>Floyd</a:t>
            </a:r>
            <a:r>
              <a:rPr dirty="0" sz="1700">
                <a:latin typeface="Gulim"/>
                <a:cs typeface="Gulim"/>
              </a:rPr>
              <a:t>의</a:t>
            </a:r>
            <a:r>
              <a:rPr dirty="0" sz="1700" spc="-11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최단경로</a:t>
            </a:r>
            <a:r>
              <a:rPr dirty="0" sz="1700" spc="-135">
                <a:latin typeface="Gulim"/>
                <a:cs typeface="Gulim"/>
              </a:rPr>
              <a:t> </a:t>
            </a:r>
            <a:r>
              <a:rPr dirty="0" sz="1700" spc="-20">
                <a:latin typeface="Gulim"/>
                <a:cs typeface="Gulim"/>
              </a:rPr>
              <a:t>알고리즘</a:t>
            </a:r>
            <a:endParaRPr sz="17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90"/>
              </a:spcBef>
              <a:buClr>
                <a:srgbClr val="DD8046"/>
              </a:buClr>
              <a:buFont typeface="Arial"/>
              <a:buAutoNum type="arabicPeriod" startAt="4"/>
              <a:tabLst>
                <a:tab pos="469265" algn="l"/>
              </a:tabLst>
            </a:pPr>
            <a:r>
              <a:rPr dirty="0" sz="1700" spc="-20">
                <a:latin typeface="Gulim"/>
                <a:cs typeface="Gulim"/>
              </a:rPr>
              <a:t>위상정렬</a:t>
            </a:r>
            <a:endParaRPr sz="17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5771" y="4188739"/>
            <a:ext cx="1959241" cy="15231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5585" y="1969477"/>
            <a:ext cx="1863331" cy="20425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11426" y="1973716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66468" y="345807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30716" y="3682984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0535" y="2018699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60981" y="2783367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6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95817" y="190387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29</a:t>
            </a:r>
            <a:endParaRPr sz="16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58506" y="2227492"/>
            <a:ext cx="290195" cy="7658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600" spc="-25">
                <a:latin typeface="Gulim"/>
                <a:cs typeface="Gulim"/>
              </a:rPr>
              <a:t>10</a:t>
            </a:r>
            <a:endParaRPr sz="1600">
              <a:latin typeface="Gulim"/>
              <a:cs typeface="Gulim"/>
            </a:endParaRPr>
          </a:p>
          <a:p>
            <a:pPr marL="150495">
              <a:lnSpc>
                <a:spcPct val="100000"/>
              </a:lnSpc>
              <a:spcBef>
                <a:spcPts val="925"/>
              </a:spcBef>
            </a:pPr>
            <a:r>
              <a:rPr dirty="0" sz="1800" spc="-5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86611" y="3163336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27</a:t>
            </a:r>
            <a:endParaRPr sz="16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36166" y="3006923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25</a:t>
            </a:r>
            <a:endParaRPr sz="16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88400" y="3748095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22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65553" y="3141861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18</a:t>
            </a:r>
            <a:endParaRPr sz="16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0065" y="2873333"/>
            <a:ext cx="25781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00" spc="-25">
                <a:latin typeface="Gulim"/>
                <a:cs typeface="Gulim"/>
              </a:rPr>
              <a:t>12</a:t>
            </a:r>
            <a:endParaRPr sz="16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76905" y="2422177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16</a:t>
            </a:r>
            <a:endParaRPr sz="16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40775" y="2332210"/>
            <a:ext cx="2578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15</a:t>
            </a:r>
            <a:endParaRPr sz="16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447" rIns="0" bIns="0" rtlCol="0" vert="horz">
            <a:spAutoFit/>
          </a:bodyPr>
          <a:lstStyle/>
          <a:p>
            <a:pPr marL="183515" marR="5080">
              <a:lnSpc>
                <a:spcPts val="3310"/>
              </a:lnSpc>
              <a:spcBef>
                <a:spcPts val="240"/>
              </a:spcBef>
            </a:pPr>
            <a:r>
              <a:rPr dirty="0" sz="2800" spc="-1040"/>
              <a:t>최단</a:t>
            </a:r>
            <a:r>
              <a:rPr dirty="0" sz="2800" spc="-110"/>
              <a:t> </a:t>
            </a:r>
            <a:r>
              <a:rPr dirty="0" sz="2800" spc="-254"/>
              <a:t>경로</a:t>
            </a:r>
            <a:r>
              <a:rPr dirty="0" sz="2800" spc="-254">
                <a:latin typeface="Tw Cen MT"/>
                <a:cs typeface="Tw Cen MT"/>
              </a:rPr>
              <a:t>(shortest</a:t>
            </a:r>
            <a:r>
              <a:rPr dirty="0" sz="2800" spc="45">
                <a:latin typeface="Tw Cen MT"/>
                <a:cs typeface="Tw Cen MT"/>
              </a:rPr>
              <a:t> </a:t>
            </a:r>
            <a:r>
              <a:rPr dirty="0" sz="2800" spc="-20">
                <a:latin typeface="Tw Cen MT"/>
                <a:cs typeface="Tw Cen MT"/>
              </a:rPr>
              <a:t>path) </a:t>
            </a:r>
            <a:r>
              <a:rPr dirty="0" sz="2800" spc="-10">
                <a:latin typeface="Tw Cen MT"/>
                <a:cs typeface="Tw Cen MT"/>
                <a:hlinkClick r:id="rId2"/>
              </a:rPr>
              <a:t>https://en.wikipedia.org/wiki/Shortest_path_problem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2443" y="1978101"/>
            <a:ext cx="7649845" cy="1210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네트워크에서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정점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u</a:t>
            </a:r>
            <a:r>
              <a:rPr dirty="0" sz="2400">
                <a:latin typeface="Gulim"/>
                <a:cs typeface="Gulim"/>
              </a:rPr>
              <a:t>와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정점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</a:t>
            </a:r>
            <a:r>
              <a:rPr dirty="0" sz="2400">
                <a:latin typeface="Gulim"/>
                <a:cs typeface="Gulim"/>
              </a:rPr>
              <a:t>를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연결하는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경로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중에서 </a:t>
            </a:r>
            <a:r>
              <a:rPr dirty="0" sz="2400" spc="-20">
                <a:latin typeface="Gulim"/>
                <a:cs typeface="Gulim"/>
              </a:rPr>
              <a:t>간선들의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가중치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합이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최소가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경로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간선의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가중치는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비용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거리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시간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등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8014" y="3418014"/>
            <a:ext cx="5440819" cy="28934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가중치</a:t>
            </a:r>
            <a:r>
              <a:rPr dirty="0" spc="-254"/>
              <a:t> </a:t>
            </a:r>
            <a:r>
              <a:rPr dirty="0" spc="-1625"/>
              <a:t>인접행렬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318" y="3069180"/>
            <a:ext cx="6164377" cy="24367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dirty="0" spc="-1875"/>
              <a:t>최단경로</a:t>
            </a:r>
            <a:r>
              <a:rPr dirty="0" spc="-254"/>
              <a:t> </a:t>
            </a:r>
            <a:r>
              <a:rPr dirty="0" spc="-2125"/>
              <a:t>알고리즘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978101"/>
            <a:ext cx="7818755" cy="1576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Dijkstra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알고리즘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하나의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시작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정점에서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다른</a:t>
            </a:r>
            <a:r>
              <a:rPr dirty="0" sz="2400" spc="-19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정점 </a:t>
            </a:r>
            <a:r>
              <a:rPr dirty="0" sz="2400" spc="-10">
                <a:latin typeface="Gulim"/>
                <a:cs typeface="Gulim"/>
              </a:rPr>
              <a:t>까지의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최단경로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계산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(one</a:t>
            </a:r>
            <a:r>
              <a:rPr dirty="0" sz="2400" spc="-3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all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32105" marR="13843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>
                <a:latin typeface="Arial"/>
                <a:cs typeface="Arial"/>
              </a:rPr>
              <a:t>Floyd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알고리즘은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정점에서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다른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정점까지의 </a:t>
            </a:r>
            <a:r>
              <a:rPr dirty="0" sz="2400">
                <a:latin typeface="Gulim"/>
                <a:cs typeface="Gulim"/>
              </a:rPr>
              <a:t>최단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경로를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계산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all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all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032" rIns="0" bIns="0" rtlCol="0" vert="horz">
            <a:spAutoFit/>
          </a:bodyPr>
          <a:lstStyle/>
          <a:p>
            <a:pPr marL="138430">
              <a:lnSpc>
                <a:spcPts val="3335"/>
              </a:lnSpc>
              <a:spcBef>
                <a:spcPts val="95"/>
              </a:spcBef>
            </a:pPr>
            <a:r>
              <a:rPr dirty="0" sz="2800" spc="-150">
                <a:latin typeface="Tw Cen MT"/>
                <a:cs typeface="Tw Cen MT"/>
              </a:rPr>
              <a:t>Dijkstra</a:t>
            </a:r>
            <a:r>
              <a:rPr dirty="0" sz="2800" spc="-150"/>
              <a:t>의</a:t>
            </a:r>
            <a:r>
              <a:rPr dirty="0" sz="2800" spc="-114"/>
              <a:t> </a:t>
            </a:r>
            <a:r>
              <a:rPr dirty="0" sz="2800" spc="-1200"/>
              <a:t>최단경로</a:t>
            </a:r>
            <a:r>
              <a:rPr dirty="0" sz="2800" spc="-114"/>
              <a:t> </a:t>
            </a:r>
            <a:r>
              <a:rPr dirty="0" sz="2800" spc="-1370"/>
              <a:t>알고리즘</a:t>
            </a:r>
            <a:endParaRPr sz="2800">
              <a:latin typeface="Tw Cen MT"/>
              <a:cs typeface="Tw Cen MT"/>
            </a:endParaRPr>
          </a:p>
          <a:p>
            <a:pPr marL="138430">
              <a:lnSpc>
                <a:spcPts val="3335"/>
              </a:lnSpc>
            </a:pPr>
            <a:r>
              <a:rPr dirty="0" sz="2800" spc="-10">
                <a:latin typeface="Tw Cen MT"/>
                <a:cs typeface="Tw Cen MT"/>
                <a:hlinkClick r:id="rId2"/>
              </a:rPr>
              <a:t>https://en.wikipedia.org/wiki/Dijkstra%27s_algorithm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840" y="1888223"/>
            <a:ext cx="8597900" cy="211391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800">
                <a:latin typeface="Gulim"/>
                <a:cs typeface="Gulim"/>
              </a:rPr>
              <a:t>하나의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시작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정점으로부터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모든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다른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정점까지의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최단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찾음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(one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to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all)</a:t>
            </a:r>
            <a:endParaRPr sz="1800">
              <a:latin typeface="Trebuchet MS"/>
              <a:cs typeface="Trebuchet MS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800">
                <a:latin typeface="Gulim"/>
                <a:cs typeface="Gulim"/>
              </a:rPr>
              <a:t>집합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S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(</a:t>
            </a:r>
            <a:r>
              <a:rPr dirty="0" sz="1800" spc="-10">
                <a:latin typeface="Gulim"/>
                <a:cs typeface="Gulim"/>
              </a:rPr>
              <a:t>최단거리정점집합</a:t>
            </a:r>
            <a:r>
              <a:rPr dirty="0" sz="1800" spc="-10">
                <a:latin typeface="Trebuchet MS"/>
                <a:cs typeface="Trebuchet MS"/>
              </a:rPr>
              <a:t>):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시작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v</a:t>
            </a:r>
            <a:r>
              <a:rPr dirty="0" sz="1600">
                <a:latin typeface="Gulim"/>
                <a:cs typeface="Gulim"/>
              </a:rPr>
              <a:t>로부터의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최단경로가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이미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발견된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정점들의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집합</a:t>
            </a:r>
            <a:endParaRPr sz="16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800">
                <a:latin typeface="Trebuchet MS"/>
                <a:cs typeface="Trebuchet MS"/>
              </a:rPr>
              <a:t>distance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Gulim"/>
                <a:cs typeface="Gulim"/>
              </a:rPr>
              <a:t>배열</a:t>
            </a:r>
            <a:r>
              <a:rPr dirty="0" sz="1800">
                <a:latin typeface="Trebuchet MS"/>
                <a:cs typeface="Trebuchet MS"/>
              </a:rPr>
              <a:t>: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최단경로가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알려진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정점들만을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이용한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다른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정점들까지의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최단경로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길이</a:t>
            </a:r>
            <a:endParaRPr sz="16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800">
                <a:latin typeface="Gulim"/>
                <a:cs typeface="Gulim"/>
              </a:rPr>
              <a:t>매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단계에서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가장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distance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Gulim"/>
                <a:cs typeface="Gulim"/>
              </a:rPr>
              <a:t>값이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작은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정점을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S</a:t>
            </a:r>
            <a:r>
              <a:rPr dirty="0" sz="1800">
                <a:latin typeface="Gulim"/>
                <a:cs typeface="Gulim"/>
              </a:rPr>
              <a:t>에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추가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ts val="2145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800">
                <a:latin typeface="Trebuchet MS"/>
                <a:cs typeface="Trebuchet MS"/>
              </a:rPr>
              <a:t>Dijkstra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Gulim"/>
                <a:cs typeface="Gulim"/>
              </a:rPr>
              <a:t>알고리즘이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최단경로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알고리즘임이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증명됨</a:t>
            </a:r>
            <a:endParaRPr sz="1800">
              <a:latin typeface="Gulim"/>
              <a:cs typeface="Gulim"/>
            </a:endParaRPr>
          </a:p>
          <a:p>
            <a:pPr marL="332105">
              <a:lnSpc>
                <a:spcPts val="2145"/>
              </a:lnSpc>
            </a:pPr>
            <a:r>
              <a:rPr dirty="0" sz="1800" spc="-10">
                <a:latin typeface="Trebuchet MS"/>
                <a:cs typeface="Trebuchet MS"/>
                <a:hlinkClick r:id="rId3"/>
              </a:rPr>
              <a:t>https://en.wikipedia.org/wiki/Dijkstra%27s_algorithm#Proof_of_correctness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2318" y="4272521"/>
            <a:ext cx="3374474" cy="21046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Tw Cen MT"/>
                <a:cs typeface="Tw Cen MT"/>
              </a:rPr>
              <a:t>Dijkstra</a:t>
            </a:r>
            <a:r>
              <a:rPr dirty="0" spc="-225"/>
              <a:t>의</a:t>
            </a:r>
            <a:r>
              <a:rPr dirty="0" spc="-229"/>
              <a:t> </a:t>
            </a:r>
            <a:r>
              <a:rPr dirty="0" spc="-1875"/>
              <a:t>최단경로</a:t>
            </a:r>
            <a:r>
              <a:rPr dirty="0" spc="-229"/>
              <a:t> </a:t>
            </a:r>
            <a:r>
              <a:rPr dirty="0" spc="-2125"/>
              <a:t>알고리즘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976577"/>
            <a:ext cx="635889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새로운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정점이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S</a:t>
            </a:r>
            <a:r>
              <a:rPr dirty="0" sz="2400">
                <a:latin typeface="Gulim"/>
                <a:cs typeface="Gulim"/>
              </a:rPr>
              <a:t>에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추가되면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Trebuchet MS"/>
                <a:cs typeface="Trebuchet MS"/>
              </a:rPr>
              <a:t>distance</a:t>
            </a:r>
            <a:r>
              <a:rPr dirty="0" sz="2400">
                <a:latin typeface="Gulim"/>
                <a:cs typeface="Gulim"/>
              </a:rPr>
              <a:t>값</a:t>
            </a:r>
            <a:r>
              <a:rPr dirty="0" sz="2400" spc="-14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갱신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9067" y="3120178"/>
            <a:ext cx="7146286" cy="30202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1163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90"/>
              </a:spcBef>
            </a:pPr>
            <a:r>
              <a:rPr dirty="0" sz="4000" spc="-210">
                <a:latin typeface="Tw Cen MT"/>
                <a:cs typeface="Tw Cen MT"/>
              </a:rPr>
              <a:t>Dijkstra</a:t>
            </a:r>
            <a:r>
              <a:rPr dirty="0" sz="4000" spc="-210"/>
              <a:t>의</a:t>
            </a:r>
            <a:r>
              <a:rPr dirty="0" sz="4000" spc="-185"/>
              <a:t> </a:t>
            </a:r>
            <a:r>
              <a:rPr dirty="0" sz="4000" spc="-1714"/>
              <a:t>최단경로</a:t>
            </a:r>
            <a:r>
              <a:rPr dirty="0" sz="4000" spc="-200"/>
              <a:t> </a:t>
            </a:r>
            <a:r>
              <a:rPr dirty="0" sz="4000" spc="-1945"/>
              <a:t>알고리즘</a:t>
            </a:r>
            <a:endParaRPr sz="4000">
              <a:latin typeface="Tw Cen MT"/>
              <a:cs typeface="Tw Cen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0459" y="1966429"/>
            <a:ext cx="8344534" cy="3433445"/>
            <a:chOff x="1190459" y="1966429"/>
            <a:chExt cx="8344534" cy="3433445"/>
          </a:xfrm>
        </p:grpSpPr>
        <p:sp>
          <p:nvSpPr>
            <p:cNvPr id="4" name="object 4"/>
            <p:cNvSpPr/>
            <p:nvPr/>
          </p:nvSpPr>
          <p:spPr>
            <a:xfrm>
              <a:off x="1204163" y="1978609"/>
              <a:ext cx="8316595" cy="3409315"/>
            </a:xfrm>
            <a:custGeom>
              <a:avLst/>
              <a:gdLst/>
              <a:ahLst/>
              <a:cxnLst/>
              <a:rect l="l" t="t" r="r" b="b"/>
              <a:pathLst>
                <a:path w="8316595" h="3409315">
                  <a:moveTo>
                    <a:pt x="8316518" y="0"/>
                  </a:moveTo>
                  <a:lnTo>
                    <a:pt x="0" y="0"/>
                  </a:lnTo>
                  <a:lnTo>
                    <a:pt x="0" y="3408883"/>
                  </a:lnTo>
                  <a:lnTo>
                    <a:pt x="8316518" y="3408883"/>
                  </a:lnTo>
                  <a:lnTo>
                    <a:pt x="831651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90459" y="1966429"/>
              <a:ext cx="8344534" cy="3433445"/>
            </a:xfrm>
            <a:custGeom>
              <a:avLst/>
              <a:gdLst/>
              <a:ahLst/>
              <a:cxnLst/>
              <a:rect l="l" t="t" r="r" b="b"/>
              <a:pathLst>
                <a:path w="8344534" h="3433445">
                  <a:moveTo>
                    <a:pt x="8343925" y="0"/>
                  </a:moveTo>
                  <a:lnTo>
                    <a:pt x="0" y="0"/>
                  </a:lnTo>
                  <a:lnTo>
                    <a:pt x="0" y="3433241"/>
                  </a:lnTo>
                  <a:lnTo>
                    <a:pt x="8343925" y="3433241"/>
                  </a:lnTo>
                  <a:lnTo>
                    <a:pt x="8343925" y="3421062"/>
                  </a:lnTo>
                  <a:lnTo>
                    <a:pt x="25882" y="3421062"/>
                  </a:lnTo>
                  <a:lnTo>
                    <a:pt x="13703" y="3408870"/>
                  </a:lnTo>
                  <a:lnTo>
                    <a:pt x="25882" y="3408870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79"/>
                  </a:lnTo>
                  <a:lnTo>
                    <a:pt x="8343925" y="12179"/>
                  </a:lnTo>
                  <a:lnTo>
                    <a:pt x="8343925" y="0"/>
                  </a:lnTo>
                  <a:close/>
                </a:path>
                <a:path w="8344534" h="3433445">
                  <a:moveTo>
                    <a:pt x="25882" y="3408870"/>
                  </a:moveTo>
                  <a:lnTo>
                    <a:pt x="13703" y="3408870"/>
                  </a:lnTo>
                  <a:lnTo>
                    <a:pt x="25882" y="3421062"/>
                  </a:lnTo>
                  <a:lnTo>
                    <a:pt x="25882" y="3408870"/>
                  </a:lnTo>
                  <a:close/>
                </a:path>
                <a:path w="8344534" h="3433445">
                  <a:moveTo>
                    <a:pt x="8318042" y="3408870"/>
                  </a:moveTo>
                  <a:lnTo>
                    <a:pt x="25882" y="3408870"/>
                  </a:lnTo>
                  <a:lnTo>
                    <a:pt x="25882" y="3421062"/>
                  </a:lnTo>
                  <a:lnTo>
                    <a:pt x="8318042" y="3421062"/>
                  </a:lnTo>
                  <a:lnTo>
                    <a:pt x="8318042" y="3408870"/>
                  </a:lnTo>
                  <a:close/>
                </a:path>
                <a:path w="8344534" h="3433445">
                  <a:moveTo>
                    <a:pt x="8318042" y="12179"/>
                  </a:moveTo>
                  <a:lnTo>
                    <a:pt x="8318042" y="3421062"/>
                  </a:lnTo>
                  <a:lnTo>
                    <a:pt x="8330222" y="3408870"/>
                  </a:lnTo>
                  <a:lnTo>
                    <a:pt x="8343925" y="3408870"/>
                  </a:lnTo>
                  <a:lnTo>
                    <a:pt x="8343925" y="25895"/>
                  </a:lnTo>
                  <a:lnTo>
                    <a:pt x="8330222" y="25895"/>
                  </a:lnTo>
                  <a:lnTo>
                    <a:pt x="8318042" y="12179"/>
                  </a:lnTo>
                  <a:close/>
                </a:path>
                <a:path w="8344534" h="3433445">
                  <a:moveTo>
                    <a:pt x="8343925" y="3408870"/>
                  </a:moveTo>
                  <a:lnTo>
                    <a:pt x="8330222" y="3408870"/>
                  </a:lnTo>
                  <a:lnTo>
                    <a:pt x="8318042" y="3421062"/>
                  </a:lnTo>
                  <a:lnTo>
                    <a:pt x="8343925" y="3421062"/>
                  </a:lnTo>
                  <a:lnTo>
                    <a:pt x="8343925" y="3408870"/>
                  </a:lnTo>
                  <a:close/>
                </a:path>
                <a:path w="8344534" h="3433445">
                  <a:moveTo>
                    <a:pt x="25882" y="12179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8344534" h="3433445">
                  <a:moveTo>
                    <a:pt x="8318042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8318042" y="25895"/>
                  </a:lnTo>
                  <a:lnTo>
                    <a:pt x="8318042" y="12179"/>
                  </a:lnTo>
                  <a:close/>
                </a:path>
                <a:path w="8344534" h="3433445">
                  <a:moveTo>
                    <a:pt x="8343925" y="12179"/>
                  </a:moveTo>
                  <a:lnTo>
                    <a:pt x="8318042" y="12179"/>
                  </a:lnTo>
                  <a:lnTo>
                    <a:pt x="8330222" y="25895"/>
                  </a:lnTo>
                  <a:lnTo>
                    <a:pt x="8343925" y="25895"/>
                  </a:lnTo>
                  <a:lnTo>
                    <a:pt x="8343925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43685" y="1928069"/>
            <a:ext cx="6332855" cy="338264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55"/>
              </a:spcBef>
            </a:pPr>
            <a:r>
              <a:rPr dirty="0" baseline="-3968" sz="2100">
                <a:latin typeface="Trebuchet MS"/>
                <a:cs typeface="Trebuchet MS"/>
              </a:rPr>
              <a:t>//</a:t>
            </a:r>
            <a:r>
              <a:rPr dirty="0" baseline="-3968" sz="2100" spc="-7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입력</a:t>
            </a:r>
            <a:r>
              <a:rPr dirty="0" baseline="-3968" sz="2100">
                <a:latin typeface="Trebuchet MS"/>
                <a:cs typeface="Trebuchet MS"/>
              </a:rPr>
              <a:t>:</a:t>
            </a:r>
            <a:r>
              <a:rPr dirty="0" baseline="-3968" sz="21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가중치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그래프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G,</a:t>
            </a:r>
            <a:r>
              <a:rPr dirty="0" baseline="-3968" sz="21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가중치는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음수가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아님</a:t>
            </a:r>
            <a:r>
              <a:rPr dirty="0" baseline="-3968" sz="2100" spc="-37">
                <a:latin typeface="Trebuchet MS"/>
                <a:cs typeface="Trebuchet MS"/>
              </a:rPr>
              <a:t>.</a:t>
            </a:r>
            <a:endParaRPr baseline="-3968" sz="2100">
              <a:latin typeface="Trebuchet MS"/>
              <a:cs typeface="Trebuchet MS"/>
            </a:endParaRPr>
          </a:p>
          <a:p>
            <a:pPr marL="50800" marR="876935">
              <a:lnSpc>
                <a:spcPct val="119900"/>
              </a:lnSpc>
              <a:spcBef>
                <a:spcPts val="12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baseline="3968" sz="2100">
                <a:latin typeface="Gulim"/>
                <a:cs typeface="Gulim"/>
              </a:rPr>
              <a:t>출력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distance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baseline="3968" sz="2100">
                <a:latin typeface="Gulim"/>
                <a:cs typeface="Gulim"/>
              </a:rPr>
              <a:t>배열</a:t>
            </a:r>
            <a:r>
              <a:rPr dirty="0" sz="1400">
                <a:latin typeface="Trebuchet MS"/>
                <a:cs typeface="Trebuchet MS"/>
              </a:rPr>
              <a:t>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distance[u]</a:t>
            </a:r>
            <a:r>
              <a:rPr dirty="0" baseline="3968" sz="2100">
                <a:latin typeface="Gulim"/>
                <a:cs typeface="Gulim"/>
              </a:rPr>
              <a:t>는</a:t>
            </a:r>
            <a:r>
              <a:rPr dirty="0" baseline="3968" sz="2100" spc="-127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v</a:t>
            </a:r>
            <a:r>
              <a:rPr dirty="0" baseline="3968" sz="2100">
                <a:latin typeface="Gulim"/>
                <a:cs typeface="Gulim"/>
              </a:rPr>
              <a:t>에서</a:t>
            </a:r>
            <a:r>
              <a:rPr dirty="0" baseline="3968" sz="2100" spc="-89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u</a:t>
            </a:r>
            <a:r>
              <a:rPr dirty="0" baseline="3968" sz="2100">
                <a:latin typeface="Gulim"/>
                <a:cs typeface="Gulim"/>
              </a:rPr>
              <a:t>까지의</a:t>
            </a:r>
            <a:r>
              <a:rPr dirty="0" baseline="3968" sz="2100" spc="-104">
                <a:latin typeface="Gulim"/>
                <a:cs typeface="Gulim"/>
              </a:rPr>
              <a:t> </a:t>
            </a:r>
            <a:r>
              <a:rPr dirty="0" baseline="3968" sz="2100">
                <a:latin typeface="Gulim"/>
                <a:cs typeface="Gulim"/>
              </a:rPr>
              <a:t>최단</a:t>
            </a:r>
            <a:r>
              <a:rPr dirty="0" baseline="3968" sz="2100" spc="-104">
                <a:latin typeface="Gulim"/>
                <a:cs typeface="Gulim"/>
              </a:rPr>
              <a:t> </a:t>
            </a:r>
            <a:r>
              <a:rPr dirty="0" baseline="3968" sz="2100" spc="-15">
                <a:latin typeface="Gulim"/>
                <a:cs typeface="Gulim"/>
              </a:rPr>
              <a:t>거리이다</a:t>
            </a:r>
            <a:r>
              <a:rPr dirty="0" sz="1400" spc="-1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shortest_path(G,</a:t>
            </a:r>
            <a:r>
              <a:rPr dirty="0" sz="1400" spc="-9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v)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4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S</a:t>
            </a:r>
            <a:r>
              <a:rPr dirty="0" baseline="-7936" sz="2100" spc="-15">
                <a:latin typeface="Malgun Gothic"/>
                <a:cs typeface="Malgun Gothic"/>
              </a:rPr>
              <a:t>←</a:t>
            </a:r>
            <a:r>
              <a:rPr dirty="0" sz="1400" spc="-10">
                <a:latin typeface="Trebuchet MS"/>
                <a:cs typeface="Trebuchet MS"/>
              </a:rPr>
              <a:t>{v}</a:t>
            </a:r>
            <a:endParaRPr sz="14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baseline="3968" sz="2100">
                <a:latin typeface="Gulim"/>
                <a:cs typeface="Gulim"/>
              </a:rPr>
              <a:t>각</a:t>
            </a:r>
            <a:r>
              <a:rPr dirty="0" baseline="3968" sz="2100" spc="-60">
                <a:latin typeface="Gulim"/>
                <a:cs typeface="Gulim"/>
              </a:rPr>
              <a:t> </a:t>
            </a:r>
            <a:r>
              <a:rPr dirty="0" baseline="3968" sz="2100">
                <a:latin typeface="Gulim"/>
                <a:cs typeface="Gulim"/>
              </a:rPr>
              <a:t>정점</a:t>
            </a:r>
            <a:r>
              <a:rPr dirty="0" baseline="3968" sz="2100" spc="-97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w</a:t>
            </a:r>
            <a:r>
              <a:rPr dirty="0" baseline="-7936" sz="2100">
                <a:latin typeface="Malgun Gothic"/>
                <a:cs typeface="Malgun Gothic"/>
              </a:rPr>
              <a:t>∈</a:t>
            </a:r>
            <a:r>
              <a:rPr dirty="0" sz="1400">
                <a:latin typeface="Trebuchet MS"/>
                <a:cs typeface="Trebuchet MS"/>
              </a:rPr>
              <a:t>G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do</a:t>
            </a:r>
            <a:endParaRPr sz="1400">
              <a:latin typeface="Trebuchet MS"/>
              <a:cs typeface="Trebuchet MS"/>
            </a:endParaRPr>
          </a:p>
          <a:p>
            <a:pPr marL="50800" marR="2932430" indent="913130">
              <a:lnSpc>
                <a:spcPct val="112799"/>
              </a:lnSpc>
              <a:spcBef>
                <a:spcPts val="120"/>
              </a:spcBef>
            </a:pPr>
            <a:r>
              <a:rPr dirty="0" sz="1400" spc="-10">
                <a:latin typeface="Trebuchet MS"/>
                <a:cs typeface="Trebuchet MS"/>
              </a:rPr>
              <a:t>distance[w]</a:t>
            </a:r>
            <a:r>
              <a:rPr dirty="0" baseline="-7936" sz="2100" spc="-15">
                <a:latin typeface="Malgun Gothic"/>
                <a:cs typeface="Malgun Gothic"/>
              </a:rPr>
              <a:t>←</a:t>
            </a:r>
            <a:r>
              <a:rPr dirty="0" sz="1400" spc="-10">
                <a:latin typeface="Trebuchet MS"/>
                <a:cs typeface="Trebuchet MS"/>
              </a:rPr>
              <a:t>weight[v][w]; </a:t>
            </a:r>
            <a:r>
              <a:rPr dirty="0" baseline="-3968" sz="2100">
                <a:latin typeface="Trebuchet MS"/>
                <a:cs typeface="Trebuchet MS"/>
              </a:rPr>
              <a:t>while</a:t>
            </a:r>
            <a:r>
              <a:rPr dirty="0" baseline="-3968" sz="2100" spc="-3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모든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정점이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S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포함되지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않으면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baseline="-3968" sz="2100" spc="-37">
                <a:latin typeface="Trebuchet MS"/>
                <a:cs typeface="Trebuchet MS"/>
              </a:rPr>
              <a:t>do</a:t>
            </a:r>
            <a:endParaRPr baseline="-3968" sz="2100">
              <a:latin typeface="Trebuchet MS"/>
              <a:cs typeface="Trebuchet MS"/>
            </a:endParaRPr>
          </a:p>
          <a:p>
            <a:pPr marL="963930" marR="828675">
              <a:lnSpc>
                <a:spcPts val="2130"/>
              </a:lnSpc>
              <a:spcBef>
                <a:spcPts val="35"/>
              </a:spcBef>
            </a:pPr>
            <a:r>
              <a:rPr dirty="0" baseline="-3968" sz="2100">
                <a:latin typeface="Trebuchet MS"/>
                <a:cs typeface="Trebuchet MS"/>
              </a:rPr>
              <a:t>u</a:t>
            </a:r>
            <a:r>
              <a:rPr dirty="0" baseline="-11904" sz="2100">
                <a:latin typeface="Malgun Gothic"/>
                <a:cs typeface="Malgun Gothic"/>
              </a:rPr>
              <a:t>←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S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속하지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않는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중에서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최소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distance</a:t>
            </a:r>
            <a:r>
              <a:rPr dirty="0" baseline="-3968" sz="2100" spc="-37">
                <a:latin typeface="Trebuchet MS"/>
                <a:cs typeface="Trebuchet MS"/>
              </a:rPr>
              <a:t> </a:t>
            </a:r>
            <a:r>
              <a:rPr dirty="0" sz="1400" spc="-25">
                <a:latin typeface="Gulim"/>
                <a:cs typeface="Gulim"/>
              </a:rPr>
              <a:t>정점</a:t>
            </a:r>
            <a:r>
              <a:rPr dirty="0" baseline="-3968" sz="2100" spc="-37">
                <a:latin typeface="Trebuchet MS"/>
                <a:cs typeface="Trebuchet MS"/>
              </a:rPr>
              <a:t>; </a:t>
            </a:r>
            <a:r>
              <a:rPr dirty="0" sz="1400" spc="-10">
                <a:latin typeface="Trebuchet MS"/>
                <a:cs typeface="Trebuchet MS"/>
              </a:rPr>
              <a:t>S</a:t>
            </a:r>
            <a:r>
              <a:rPr dirty="0" baseline="-7936" sz="2100" spc="-15">
                <a:latin typeface="Malgun Gothic"/>
                <a:cs typeface="Malgun Gothic"/>
              </a:rPr>
              <a:t>←</a:t>
            </a:r>
            <a:r>
              <a:rPr dirty="0" sz="1400" spc="-10">
                <a:latin typeface="Trebuchet MS"/>
                <a:cs typeface="Trebuchet MS"/>
              </a:rPr>
              <a:t>S</a:t>
            </a:r>
            <a:r>
              <a:rPr dirty="0" baseline="-7936" sz="2100" spc="-15">
                <a:latin typeface="Malgun Gothic"/>
                <a:cs typeface="Malgun Gothic"/>
              </a:rPr>
              <a:t>∪</a:t>
            </a:r>
            <a:r>
              <a:rPr dirty="0" sz="1400" spc="-10">
                <a:latin typeface="Trebuchet MS"/>
                <a:cs typeface="Trebuchet MS"/>
              </a:rPr>
              <a:t>{u}</a:t>
            </a:r>
            <a:endParaRPr sz="1400">
              <a:latin typeface="Trebuchet MS"/>
              <a:cs typeface="Trebuchet MS"/>
            </a:endParaRPr>
          </a:p>
          <a:p>
            <a:pPr marL="963930">
              <a:lnSpc>
                <a:spcPct val="100000"/>
              </a:lnSpc>
              <a:spcBef>
                <a:spcPts val="70"/>
              </a:spcBef>
            </a:pPr>
            <a:r>
              <a:rPr dirty="0" baseline="-3968" sz="2100">
                <a:latin typeface="Trebuchet MS"/>
                <a:cs typeface="Trebuchet MS"/>
              </a:rPr>
              <a:t>for</a:t>
            </a:r>
            <a:r>
              <a:rPr dirty="0" baseline="-3968" sz="2100" spc="-22">
                <a:latin typeface="Trebuchet MS"/>
                <a:cs typeface="Trebuchet MS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u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인접하고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S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3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있는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각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baseline="-3968" sz="2100">
                <a:latin typeface="Trebuchet MS"/>
                <a:cs typeface="Trebuchet MS"/>
              </a:rPr>
              <a:t>z</a:t>
            </a:r>
            <a:r>
              <a:rPr dirty="0" baseline="-3968" sz="2100" spc="-7">
                <a:latin typeface="Trebuchet MS"/>
                <a:cs typeface="Trebuchet MS"/>
              </a:rPr>
              <a:t> </a:t>
            </a:r>
            <a:r>
              <a:rPr dirty="0" baseline="-3968" sz="2100" spc="-37">
                <a:latin typeface="Trebuchet MS"/>
                <a:cs typeface="Trebuchet MS"/>
              </a:rPr>
              <a:t>do</a:t>
            </a:r>
            <a:endParaRPr baseline="-3968" sz="2100">
              <a:latin typeface="Trebuchet MS"/>
              <a:cs typeface="Trebuchet MS"/>
            </a:endParaRPr>
          </a:p>
          <a:p>
            <a:pPr marL="1877060">
              <a:lnSpc>
                <a:spcPct val="100000"/>
              </a:lnSpc>
              <a:spcBef>
                <a:spcPts val="455"/>
              </a:spcBef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distance[u]+weight[u][z]</a:t>
            </a:r>
            <a:r>
              <a:rPr dirty="0" sz="1400">
                <a:latin typeface="Trebuchet MS"/>
                <a:cs typeface="Trebuchet MS"/>
              </a:rPr>
              <a:t> &lt;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distance[z]</a:t>
            </a:r>
            <a:endParaRPr sz="1400">
              <a:latin typeface="Trebuchet MS"/>
              <a:cs typeface="Trebuchet MS"/>
            </a:endParaRPr>
          </a:p>
          <a:p>
            <a:pPr marL="2790825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rebuchet MS"/>
                <a:cs typeface="Trebuchet MS"/>
              </a:rPr>
              <a:t>then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distance[z]</a:t>
            </a:r>
            <a:r>
              <a:rPr dirty="0" baseline="-7936" sz="2100" spc="-15">
                <a:latin typeface="Malgun Gothic"/>
                <a:cs typeface="Malgun Gothic"/>
              </a:rPr>
              <a:t>←</a:t>
            </a:r>
            <a:r>
              <a:rPr dirty="0" sz="1400" spc="-10">
                <a:latin typeface="Trebuchet MS"/>
                <a:cs typeface="Trebuchet MS"/>
              </a:rPr>
              <a:t>distance[u]+weight[u][z];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Tw Cen MT"/>
                <a:cs typeface="Tw Cen MT"/>
              </a:rPr>
              <a:t>Dijkstra</a:t>
            </a:r>
            <a:r>
              <a:rPr dirty="0" spc="-225"/>
              <a:t>의</a:t>
            </a:r>
            <a:r>
              <a:rPr dirty="0" spc="-229"/>
              <a:t> </a:t>
            </a:r>
            <a:r>
              <a:rPr dirty="0" spc="-1875"/>
              <a:t>최단경로</a:t>
            </a:r>
            <a:r>
              <a:rPr dirty="0" spc="-229"/>
              <a:t> </a:t>
            </a:r>
            <a:r>
              <a:rPr dirty="0" spc="-2125"/>
              <a:t>알고리즘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203" y="1978609"/>
            <a:ext cx="2515026" cy="21507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9197" y="2068474"/>
            <a:ext cx="2541834" cy="21456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9455" y="4497959"/>
            <a:ext cx="2501075" cy="21441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71846" y="4476622"/>
            <a:ext cx="2536215" cy="21994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Tw Cen MT"/>
                <a:cs typeface="Tw Cen MT"/>
              </a:rPr>
              <a:t>Dijkstra</a:t>
            </a:r>
            <a:r>
              <a:rPr dirty="0" spc="-225"/>
              <a:t>의</a:t>
            </a:r>
            <a:r>
              <a:rPr dirty="0" spc="-229"/>
              <a:t> </a:t>
            </a:r>
            <a:r>
              <a:rPr dirty="0" spc="-1875"/>
              <a:t>최단경로</a:t>
            </a:r>
            <a:r>
              <a:rPr dirty="0" spc="-229"/>
              <a:t> </a:t>
            </a:r>
            <a:r>
              <a:rPr dirty="0" spc="-2125"/>
              <a:t>알고리즘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2345" y="1934438"/>
            <a:ext cx="2417470" cy="21751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819" y="1934438"/>
            <a:ext cx="2412898" cy="2197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1689" y="4362386"/>
            <a:ext cx="2428125" cy="221470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25" y="2146160"/>
            <a:ext cx="7936230" cy="3562985"/>
            <a:chOff x="1371625" y="2146160"/>
            <a:chExt cx="7936230" cy="3562985"/>
          </a:xfrm>
        </p:grpSpPr>
        <p:sp>
          <p:nvSpPr>
            <p:cNvPr id="3" name="object 3"/>
            <p:cNvSpPr/>
            <p:nvPr/>
          </p:nvSpPr>
          <p:spPr>
            <a:xfrm>
              <a:off x="1383804" y="2158352"/>
              <a:ext cx="7912100" cy="3538854"/>
            </a:xfrm>
            <a:custGeom>
              <a:avLst/>
              <a:gdLst/>
              <a:ahLst/>
              <a:cxnLst/>
              <a:rect l="l" t="t" r="r" b="b"/>
              <a:pathLst>
                <a:path w="7912100" h="3538854">
                  <a:moveTo>
                    <a:pt x="7911566" y="0"/>
                  </a:moveTo>
                  <a:lnTo>
                    <a:pt x="0" y="0"/>
                  </a:lnTo>
                  <a:lnTo>
                    <a:pt x="0" y="3538347"/>
                  </a:lnTo>
                  <a:lnTo>
                    <a:pt x="7911566" y="3538347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1625" y="2146160"/>
              <a:ext cx="7936230" cy="3562985"/>
            </a:xfrm>
            <a:custGeom>
              <a:avLst/>
              <a:gdLst/>
              <a:ahLst/>
              <a:cxnLst/>
              <a:rect l="l" t="t" r="r" b="b"/>
              <a:pathLst>
                <a:path w="7936230" h="3562985">
                  <a:moveTo>
                    <a:pt x="7935925" y="0"/>
                  </a:moveTo>
                  <a:lnTo>
                    <a:pt x="0" y="0"/>
                  </a:lnTo>
                  <a:lnTo>
                    <a:pt x="0" y="3562718"/>
                  </a:lnTo>
                  <a:lnTo>
                    <a:pt x="7935925" y="3562718"/>
                  </a:lnTo>
                  <a:lnTo>
                    <a:pt x="7935925" y="3550539"/>
                  </a:lnTo>
                  <a:lnTo>
                    <a:pt x="24358" y="3550539"/>
                  </a:lnTo>
                  <a:lnTo>
                    <a:pt x="12179" y="3536823"/>
                  </a:lnTo>
                  <a:lnTo>
                    <a:pt x="24358" y="3536823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2192"/>
                  </a:lnTo>
                  <a:lnTo>
                    <a:pt x="7935925" y="12192"/>
                  </a:lnTo>
                  <a:lnTo>
                    <a:pt x="7935925" y="0"/>
                  </a:lnTo>
                  <a:close/>
                </a:path>
                <a:path w="7936230" h="3562985">
                  <a:moveTo>
                    <a:pt x="24358" y="3536823"/>
                  </a:moveTo>
                  <a:lnTo>
                    <a:pt x="12179" y="3536823"/>
                  </a:lnTo>
                  <a:lnTo>
                    <a:pt x="24358" y="3550539"/>
                  </a:lnTo>
                  <a:lnTo>
                    <a:pt x="24358" y="3536823"/>
                  </a:lnTo>
                  <a:close/>
                </a:path>
                <a:path w="7936230" h="3562985">
                  <a:moveTo>
                    <a:pt x="7911566" y="3536823"/>
                  </a:moveTo>
                  <a:lnTo>
                    <a:pt x="24358" y="3536823"/>
                  </a:lnTo>
                  <a:lnTo>
                    <a:pt x="24358" y="3550539"/>
                  </a:lnTo>
                  <a:lnTo>
                    <a:pt x="7911566" y="3550539"/>
                  </a:lnTo>
                  <a:lnTo>
                    <a:pt x="7911566" y="3536823"/>
                  </a:lnTo>
                  <a:close/>
                </a:path>
                <a:path w="7936230" h="3562985">
                  <a:moveTo>
                    <a:pt x="7911566" y="12192"/>
                  </a:moveTo>
                  <a:lnTo>
                    <a:pt x="7911566" y="3550539"/>
                  </a:lnTo>
                  <a:lnTo>
                    <a:pt x="7923745" y="3536823"/>
                  </a:lnTo>
                  <a:lnTo>
                    <a:pt x="7935925" y="3536823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92"/>
                  </a:lnTo>
                  <a:close/>
                </a:path>
                <a:path w="7936230" h="3562985">
                  <a:moveTo>
                    <a:pt x="7935925" y="3536823"/>
                  </a:moveTo>
                  <a:lnTo>
                    <a:pt x="7923745" y="3536823"/>
                  </a:lnTo>
                  <a:lnTo>
                    <a:pt x="7911566" y="3550539"/>
                  </a:lnTo>
                  <a:lnTo>
                    <a:pt x="7935925" y="3550539"/>
                  </a:lnTo>
                  <a:lnTo>
                    <a:pt x="7935925" y="3536823"/>
                  </a:lnTo>
                  <a:close/>
                </a:path>
                <a:path w="7936230" h="3562985">
                  <a:moveTo>
                    <a:pt x="24358" y="12192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2192"/>
                  </a:lnTo>
                  <a:close/>
                </a:path>
                <a:path w="7936230" h="3562985">
                  <a:moveTo>
                    <a:pt x="7911566" y="12192"/>
                  </a:moveTo>
                  <a:lnTo>
                    <a:pt x="24358" y="12192"/>
                  </a:lnTo>
                  <a:lnTo>
                    <a:pt x="24358" y="25895"/>
                  </a:lnTo>
                  <a:lnTo>
                    <a:pt x="7911566" y="25895"/>
                  </a:lnTo>
                  <a:lnTo>
                    <a:pt x="7911566" y="12192"/>
                  </a:lnTo>
                  <a:close/>
                </a:path>
                <a:path w="7936230" h="3562985">
                  <a:moveTo>
                    <a:pt x="7935925" y="12192"/>
                  </a:moveTo>
                  <a:lnTo>
                    <a:pt x="7911566" y="12192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61769" y="2185080"/>
            <a:ext cx="5509895" cy="3441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970654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&lt;stdio.h&gt; </a:t>
            </a: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&lt;stdlib.h&gt; </a:t>
            </a: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&lt;limits.h&gt;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TRUE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FALSE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MAX_VERTICES100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1838960" algn="l"/>
              </a:tabLst>
            </a:pP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INF1000000</a:t>
            </a:r>
            <a:r>
              <a:rPr dirty="0" sz="1400">
                <a:latin typeface="Trebuchet MS"/>
                <a:cs typeface="Trebuchet MS"/>
              </a:rPr>
              <a:t>	/*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무한대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>
                <a:latin typeface="Gulim"/>
                <a:cs typeface="Gulim"/>
              </a:rPr>
              <a:t>연결이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없는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*/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5"/>
              </a:spcBef>
              <a:tabLst>
                <a:tab pos="1838960" algn="l"/>
              </a:tabLst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n;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정점의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개수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weight[MAX_VERTICES][MAX_VERTICES];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GraphType;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tabLst>
                <a:tab pos="3665854" algn="l"/>
              </a:tabLst>
            </a:pPr>
            <a:r>
              <a:rPr dirty="0" sz="1400">
                <a:latin typeface="Trebuchet MS"/>
                <a:cs typeface="Trebuchet MS"/>
              </a:rPr>
              <a:t>int </a:t>
            </a:r>
            <a:r>
              <a:rPr dirty="0" sz="1400" spc="-10">
                <a:latin typeface="Trebuchet MS"/>
                <a:cs typeface="Trebuchet MS"/>
              </a:rPr>
              <a:t>distance[MAX_VERTICES];/*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시작정점으로부터의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최단경로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거리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*/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found[MAX_VERTICES];</a:t>
            </a:r>
            <a:r>
              <a:rPr dirty="0" sz="1400">
                <a:latin typeface="Trebuchet MS"/>
                <a:cs typeface="Trebuchet MS"/>
              </a:rPr>
              <a:t>	/*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방문한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표시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*/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258" rIns="0" bIns="0" rtlCol="0" vert="horz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Tw Cen MT"/>
                <a:cs typeface="Tw Cen MT"/>
              </a:rPr>
              <a:t>Dijkstra</a:t>
            </a:r>
            <a:r>
              <a:rPr dirty="0" spc="-225"/>
              <a:t>의</a:t>
            </a:r>
            <a:r>
              <a:rPr dirty="0" spc="-235"/>
              <a:t> </a:t>
            </a:r>
            <a:r>
              <a:rPr dirty="0" spc="-1875"/>
              <a:t>최단경로</a:t>
            </a:r>
            <a:r>
              <a:rPr dirty="0" spc="-235"/>
              <a:t> </a:t>
            </a:r>
            <a:r>
              <a:rPr dirty="0" spc="-2295"/>
              <a:t>프로그램</a:t>
            </a:r>
            <a:r>
              <a:rPr dirty="0" spc="-240"/>
              <a:t> </a:t>
            </a:r>
            <a:r>
              <a:rPr dirty="0" spc="-10">
                <a:latin typeface="Tw Cen MT"/>
                <a:cs typeface="Tw Cen MT"/>
              </a:rPr>
              <a:t>(dijkstra.c)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25" y="2146160"/>
            <a:ext cx="7936230" cy="2702560"/>
            <a:chOff x="1371625" y="2146160"/>
            <a:chExt cx="7936230" cy="2702560"/>
          </a:xfrm>
        </p:grpSpPr>
        <p:sp>
          <p:nvSpPr>
            <p:cNvPr id="3" name="object 3"/>
            <p:cNvSpPr/>
            <p:nvPr/>
          </p:nvSpPr>
          <p:spPr>
            <a:xfrm>
              <a:off x="1383804" y="2158339"/>
              <a:ext cx="7912100" cy="2676525"/>
            </a:xfrm>
            <a:custGeom>
              <a:avLst/>
              <a:gdLst/>
              <a:ahLst/>
              <a:cxnLst/>
              <a:rect l="l" t="t" r="r" b="b"/>
              <a:pathLst>
                <a:path w="7912100" h="2676525">
                  <a:moveTo>
                    <a:pt x="7911566" y="0"/>
                  </a:moveTo>
                  <a:lnTo>
                    <a:pt x="0" y="0"/>
                  </a:lnTo>
                  <a:lnTo>
                    <a:pt x="0" y="2676232"/>
                  </a:lnTo>
                  <a:lnTo>
                    <a:pt x="7911566" y="2676232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1625" y="2146160"/>
              <a:ext cx="7936230" cy="2702560"/>
            </a:xfrm>
            <a:custGeom>
              <a:avLst/>
              <a:gdLst/>
              <a:ahLst/>
              <a:cxnLst/>
              <a:rect l="l" t="t" r="r" b="b"/>
              <a:pathLst>
                <a:path w="7936230" h="2702560">
                  <a:moveTo>
                    <a:pt x="7935925" y="0"/>
                  </a:moveTo>
                  <a:lnTo>
                    <a:pt x="0" y="0"/>
                  </a:lnTo>
                  <a:lnTo>
                    <a:pt x="0" y="2702128"/>
                  </a:lnTo>
                  <a:lnTo>
                    <a:pt x="7935925" y="2702128"/>
                  </a:lnTo>
                  <a:lnTo>
                    <a:pt x="7935925" y="2688412"/>
                  </a:lnTo>
                  <a:lnTo>
                    <a:pt x="24358" y="2688412"/>
                  </a:lnTo>
                  <a:lnTo>
                    <a:pt x="12179" y="2676232"/>
                  </a:lnTo>
                  <a:lnTo>
                    <a:pt x="24358" y="2676232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2192"/>
                  </a:lnTo>
                  <a:lnTo>
                    <a:pt x="7935925" y="12192"/>
                  </a:lnTo>
                  <a:lnTo>
                    <a:pt x="7935925" y="0"/>
                  </a:lnTo>
                  <a:close/>
                </a:path>
                <a:path w="7936230" h="2702560">
                  <a:moveTo>
                    <a:pt x="24358" y="2676232"/>
                  </a:moveTo>
                  <a:lnTo>
                    <a:pt x="12179" y="2676232"/>
                  </a:lnTo>
                  <a:lnTo>
                    <a:pt x="24358" y="2688412"/>
                  </a:lnTo>
                  <a:lnTo>
                    <a:pt x="24358" y="2676232"/>
                  </a:lnTo>
                  <a:close/>
                </a:path>
                <a:path w="7936230" h="2702560">
                  <a:moveTo>
                    <a:pt x="7911566" y="2676232"/>
                  </a:moveTo>
                  <a:lnTo>
                    <a:pt x="24358" y="2676232"/>
                  </a:lnTo>
                  <a:lnTo>
                    <a:pt x="24358" y="2688412"/>
                  </a:lnTo>
                  <a:lnTo>
                    <a:pt x="7911566" y="2688412"/>
                  </a:lnTo>
                  <a:lnTo>
                    <a:pt x="7911566" y="2676232"/>
                  </a:lnTo>
                  <a:close/>
                </a:path>
                <a:path w="7936230" h="2702560">
                  <a:moveTo>
                    <a:pt x="7911566" y="12192"/>
                  </a:moveTo>
                  <a:lnTo>
                    <a:pt x="7911566" y="2688412"/>
                  </a:lnTo>
                  <a:lnTo>
                    <a:pt x="7923745" y="2676232"/>
                  </a:lnTo>
                  <a:lnTo>
                    <a:pt x="7935925" y="2676232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92"/>
                  </a:lnTo>
                  <a:close/>
                </a:path>
                <a:path w="7936230" h="2702560">
                  <a:moveTo>
                    <a:pt x="7935925" y="2676232"/>
                  </a:moveTo>
                  <a:lnTo>
                    <a:pt x="7923745" y="2676232"/>
                  </a:lnTo>
                  <a:lnTo>
                    <a:pt x="7911566" y="2688412"/>
                  </a:lnTo>
                  <a:lnTo>
                    <a:pt x="7935925" y="2688412"/>
                  </a:lnTo>
                  <a:lnTo>
                    <a:pt x="7935925" y="2676232"/>
                  </a:lnTo>
                  <a:close/>
                </a:path>
                <a:path w="7936230" h="2702560">
                  <a:moveTo>
                    <a:pt x="24358" y="12192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2192"/>
                  </a:lnTo>
                  <a:close/>
                </a:path>
                <a:path w="7936230" h="2702560">
                  <a:moveTo>
                    <a:pt x="7911566" y="12192"/>
                  </a:moveTo>
                  <a:lnTo>
                    <a:pt x="24358" y="12192"/>
                  </a:lnTo>
                  <a:lnTo>
                    <a:pt x="24358" y="25895"/>
                  </a:lnTo>
                  <a:lnTo>
                    <a:pt x="7911566" y="25895"/>
                  </a:lnTo>
                  <a:lnTo>
                    <a:pt x="7911566" y="12192"/>
                  </a:lnTo>
                  <a:close/>
                </a:path>
                <a:path w="7936230" h="2702560">
                  <a:moveTo>
                    <a:pt x="7935925" y="12192"/>
                  </a:moveTo>
                  <a:lnTo>
                    <a:pt x="7911566" y="12192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61769" y="2185080"/>
            <a:ext cx="4615180" cy="2585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choose(int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distance[],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found[])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220027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i, min,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minpos; </a:t>
            </a:r>
            <a:r>
              <a:rPr dirty="0" sz="1400">
                <a:latin typeface="Trebuchet MS"/>
                <a:cs typeface="Trebuchet MS"/>
              </a:rPr>
              <a:t>min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INT_MAX; </a:t>
            </a:r>
            <a:r>
              <a:rPr dirty="0" sz="1400">
                <a:latin typeface="Trebuchet MS"/>
                <a:cs typeface="Trebuchet MS"/>
              </a:rPr>
              <a:t>minpos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5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i&lt;n; </a:t>
            </a:r>
            <a:r>
              <a:rPr dirty="0" sz="1400" spc="-2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(distance[i]&lt;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min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&amp;&amp;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!found[i])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2752725" marR="4445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min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distance[i]; </a:t>
            </a:r>
            <a:r>
              <a:rPr dirty="0" sz="1400">
                <a:latin typeface="Trebuchet MS"/>
                <a:cs typeface="Trebuchet MS"/>
              </a:rPr>
              <a:t>minpos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i;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minpos;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258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Tw Cen MT"/>
                <a:cs typeface="Tw Cen MT"/>
              </a:rPr>
              <a:t>Dijkstra</a:t>
            </a:r>
            <a:r>
              <a:rPr dirty="0" spc="-225"/>
              <a:t>의</a:t>
            </a:r>
            <a:r>
              <a:rPr dirty="0" spc="-229"/>
              <a:t> </a:t>
            </a:r>
            <a:r>
              <a:rPr dirty="0" spc="-1875"/>
              <a:t>최단경로</a:t>
            </a:r>
            <a:r>
              <a:rPr dirty="0" spc="-229"/>
              <a:t> </a:t>
            </a:r>
            <a:r>
              <a:rPr dirty="0" spc="-2315"/>
              <a:t>프로그램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25" y="2146160"/>
            <a:ext cx="8138795" cy="5060315"/>
            <a:chOff x="1371625" y="2146160"/>
            <a:chExt cx="8138795" cy="5060315"/>
          </a:xfrm>
        </p:grpSpPr>
        <p:sp>
          <p:nvSpPr>
            <p:cNvPr id="3" name="object 3"/>
            <p:cNvSpPr/>
            <p:nvPr/>
          </p:nvSpPr>
          <p:spPr>
            <a:xfrm>
              <a:off x="1383804" y="2158352"/>
              <a:ext cx="7912100" cy="4830445"/>
            </a:xfrm>
            <a:custGeom>
              <a:avLst/>
              <a:gdLst/>
              <a:ahLst/>
              <a:cxnLst/>
              <a:rect l="l" t="t" r="r" b="b"/>
              <a:pathLst>
                <a:path w="7912100" h="4830445">
                  <a:moveTo>
                    <a:pt x="7911566" y="0"/>
                  </a:moveTo>
                  <a:lnTo>
                    <a:pt x="0" y="0"/>
                  </a:lnTo>
                  <a:lnTo>
                    <a:pt x="0" y="4830000"/>
                  </a:lnTo>
                  <a:lnTo>
                    <a:pt x="7911566" y="4830000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1625" y="2146160"/>
              <a:ext cx="7936230" cy="4854575"/>
            </a:xfrm>
            <a:custGeom>
              <a:avLst/>
              <a:gdLst/>
              <a:ahLst/>
              <a:cxnLst/>
              <a:rect l="l" t="t" r="r" b="b"/>
              <a:pathLst>
                <a:path w="7936230" h="4854575">
                  <a:moveTo>
                    <a:pt x="7935925" y="0"/>
                  </a:moveTo>
                  <a:lnTo>
                    <a:pt x="0" y="0"/>
                  </a:lnTo>
                  <a:lnTo>
                    <a:pt x="0" y="4854384"/>
                  </a:lnTo>
                  <a:lnTo>
                    <a:pt x="7935925" y="4854384"/>
                  </a:lnTo>
                  <a:lnTo>
                    <a:pt x="7935925" y="4842192"/>
                  </a:lnTo>
                  <a:lnTo>
                    <a:pt x="24358" y="4842192"/>
                  </a:lnTo>
                  <a:lnTo>
                    <a:pt x="12179" y="4830013"/>
                  </a:lnTo>
                  <a:lnTo>
                    <a:pt x="24358" y="4830013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2192"/>
                  </a:lnTo>
                  <a:lnTo>
                    <a:pt x="7935925" y="12192"/>
                  </a:lnTo>
                  <a:lnTo>
                    <a:pt x="7935925" y="0"/>
                  </a:lnTo>
                  <a:close/>
                </a:path>
                <a:path w="7936230" h="4854575">
                  <a:moveTo>
                    <a:pt x="24358" y="4830013"/>
                  </a:moveTo>
                  <a:lnTo>
                    <a:pt x="12179" y="4830013"/>
                  </a:lnTo>
                  <a:lnTo>
                    <a:pt x="24358" y="4842192"/>
                  </a:lnTo>
                  <a:lnTo>
                    <a:pt x="24358" y="4830013"/>
                  </a:lnTo>
                  <a:close/>
                </a:path>
                <a:path w="7936230" h="4854575">
                  <a:moveTo>
                    <a:pt x="7911566" y="4830013"/>
                  </a:moveTo>
                  <a:lnTo>
                    <a:pt x="24358" y="4830013"/>
                  </a:lnTo>
                  <a:lnTo>
                    <a:pt x="24358" y="4842192"/>
                  </a:lnTo>
                  <a:lnTo>
                    <a:pt x="7911566" y="4842192"/>
                  </a:lnTo>
                  <a:lnTo>
                    <a:pt x="7911566" y="4830013"/>
                  </a:lnTo>
                  <a:close/>
                </a:path>
                <a:path w="7936230" h="4854575">
                  <a:moveTo>
                    <a:pt x="7911566" y="12192"/>
                  </a:moveTo>
                  <a:lnTo>
                    <a:pt x="7911566" y="4842192"/>
                  </a:lnTo>
                  <a:lnTo>
                    <a:pt x="7923745" y="4830013"/>
                  </a:lnTo>
                  <a:lnTo>
                    <a:pt x="7935925" y="4830013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92"/>
                  </a:lnTo>
                  <a:close/>
                </a:path>
                <a:path w="7936230" h="4854575">
                  <a:moveTo>
                    <a:pt x="7935925" y="4830013"/>
                  </a:moveTo>
                  <a:lnTo>
                    <a:pt x="7923745" y="4830013"/>
                  </a:lnTo>
                  <a:lnTo>
                    <a:pt x="7911566" y="4842192"/>
                  </a:lnTo>
                  <a:lnTo>
                    <a:pt x="7935925" y="4842192"/>
                  </a:lnTo>
                  <a:lnTo>
                    <a:pt x="7935925" y="4830013"/>
                  </a:lnTo>
                  <a:close/>
                </a:path>
                <a:path w="7936230" h="4854575">
                  <a:moveTo>
                    <a:pt x="24358" y="12192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2192"/>
                  </a:lnTo>
                  <a:close/>
                </a:path>
                <a:path w="7936230" h="4854575">
                  <a:moveTo>
                    <a:pt x="7911566" y="12192"/>
                  </a:moveTo>
                  <a:lnTo>
                    <a:pt x="24358" y="12192"/>
                  </a:lnTo>
                  <a:lnTo>
                    <a:pt x="24358" y="25895"/>
                  </a:lnTo>
                  <a:lnTo>
                    <a:pt x="7911566" y="25895"/>
                  </a:lnTo>
                  <a:lnTo>
                    <a:pt x="7911566" y="12192"/>
                  </a:lnTo>
                  <a:close/>
                </a:path>
                <a:path w="7936230" h="4854575">
                  <a:moveTo>
                    <a:pt x="7935925" y="12192"/>
                  </a:moveTo>
                  <a:lnTo>
                    <a:pt x="7911566" y="12192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61769" y="2185080"/>
            <a:ext cx="7366634" cy="4717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rebuchet MS"/>
                <a:cs typeface="Trebuchet MS"/>
              </a:rPr>
              <a:t>//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shortest_path(GraphType*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0">
                <a:latin typeface="Trebuchet MS"/>
                <a:cs typeface="Trebuchet MS"/>
              </a:rPr>
              <a:t> start)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i,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w;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0">
                <a:latin typeface="Trebuchet MS"/>
                <a:cs typeface="Trebuchet MS"/>
              </a:rPr>
              <a:t> i&lt;g-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i++)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/*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초기화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*/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64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293687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distance[i]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&gt;weight[start][i]; </a:t>
            </a:r>
            <a:r>
              <a:rPr dirty="0" sz="1400">
                <a:latin typeface="Trebuchet MS"/>
                <a:cs typeface="Trebuchet MS"/>
              </a:rPr>
              <a:t>found[i]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FALSE;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 marR="2572385">
              <a:lnSpc>
                <a:spcPts val="1660"/>
              </a:lnSpc>
              <a:spcBef>
                <a:spcPts val="95"/>
              </a:spcBef>
              <a:tabLst>
                <a:tab pos="2778760" algn="l"/>
              </a:tabLst>
            </a:pPr>
            <a:r>
              <a:rPr dirty="0" sz="1400">
                <a:latin typeface="Trebuchet MS"/>
                <a:cs typeface="Trebuchet MS"/>
              </a:rPr>
              <a:t>found[start]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TRUE;</a:t>
            </a:r>
            <a:r>
              <a:rPr dirty="0" sz="1400">
                <a:latin typeface="Trebuchet MS"/>
                <a:cs typeface="Trebuchet MS"/>
              </a:rPr>
              <a:t>	/*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시작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방문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표시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*/ </a:t>
            </a:r>
            <a:r>
              <a:rPr dirty="0" sz="1400">
                <a:latin typeface="Trebuchet MS"/>
                <a:cs typeface="Trebuchet MS"/>
              </a:rPr>
              <a:t>distance[start]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 = 0;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i&lt;g-&gt;n-</a:t>
            </a:r>
            <a:r>
              <a:rPr dirty="0" sz="1400">
                <a:latin typeface="Trebuchet MS"/>
                <a:cs typeface="Trebuchet MS"/>
              </a:rPr>
              <a:t>1;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i++)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print_status(g);</a:t>
            </a:r>
            <a:endParaRPr sz="1400">
              <a:latin typeface="Trebuchet MS"/>
              <a:cs typeface="Trebuchet MS"/>
            </a:endParaRPr>
          </a:p>
          <a:p>
            <a:pPr marL="1838960" marR="27800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u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choose(distance,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g-&gt;n,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found); </a:t>
            </a:r>
            <a:r>
              <a:rPr dirty="0" sz="1400">
                <a:latin typeface="Trebuchet MS"/>
                <a:cs typeface="Trebuchet MS"/>
              </a:rPr>
              <a:t>found[u]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TRUE;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(w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0">
                <a:latin typeface="Trebuchet MS"/>
                <a:cs typeface="Trebuchet MS"/>
              </a:rPr>
              <a:t> w&lt;g-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w++)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(!found[w])</a:t>
            </a:r>
            <a:endParaRPr sz="1400">
              <a:latin typeface="Trebuchet MS"/>
              <a:cs typeface="Trebuchet MS"/>
            </a:endParaRPr>
          </a:p>
          <a:p>
            <a:pPr marL="4579620" marR="5080" indent="-9137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(distance[u]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&gt;weight[u][w]&lt;distance[w]) </a:t>
            </a:r>
            <a:r>
              <a:rPr dirty="0" sz="1400">
                <a:latin typeface="Trebuchet MS"/>
                <a:cs typeface="Trebuchet MS"/>
              </a:rPr>
              <a:t>distance[w]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distance[u]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g-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80"/>
              </a:lnSpc>
            </a:pPr>
            <a:r>
              <a:rPr dirty="0" sz="1400" spc="-10">
                <a:latin typeface="Trebuchet MS"/>
                <a:cs typeface="Trebuchet MS"/>
              </a:rPr>
              <a:t>&gt;weight[u][w];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258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Tw Cen MT"/>
                <a:cs typeface="Tw Cen MT"/>
              </a:rPr>
              <a:t>Dijkstra</a:t>
            </a:r>
            <a:r>
              <a:rPr dirty="0" spc="-225"/>
              <a:t>의</a:t>
            </a:r>
            <a:r>
              <a:rPr dirty="0" spc="-229"/>
              <a:t> </a:t>
            </a:r>
            <a:r>
              <a:rPr dirty="0" spc="-1875"/>
              <a:t>최단경로</a:t>
            </a:r>
            <a:r>
              <a:rPr dirty="0" spc="-229"/>
              <a:t> </a:t>
            </a:r>
            <a:r>
              <a:rPr dirty="0" spc="-2315"/>
              <a:t>프로그램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25" y="2146160"/>
            <a:ext cx="7936230" cy="3131820"/>
            <a:chOff x="1371625" y="2146160"/>
            <a:chExt cx="7936230" cy="3131820"/>
          </a:xfrm>
        </p:grpSpPr>
        <p:sp>
          <p:nvSpPr>
            <p:cNvPr id="3" name="object 3"/>
            <p:cNvSpPr/>
            <p:nvPr/>
          </p:nvSpPr>
          <p:spPr>
            <a:xfrm>
              <a:off x="1383804" y="2158352"/>
              <a:ext cx="7912100" cy="3107690"/>
            </a:xfrm>
            <a:custGeom>
              <a:avLst/>
              <a:gdLst/>
              <a:ahLst/>
              <a:cxnLst/>
              <a:rect l="l" t="t" r="r" b="b"/>
              <a:pathLst>
                <a:path w="7912100" h="3107690">
                  <a:moveTo>
                    <a:pt x="7911566" y="0"/>
                  </a:moveTo>
                  <a:lnTo>
                    <a:pt x="0" y="0"/>
                  </a:lnTo>
                  <a:lnTo>
                    <a:pt x="0" y="3107283"/>
                  </a:lnTo>
                  <a:lnTo>
                    <a:pt x="7911566" y="3107283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1625" y="2146160"/>
              <a:ext cx="7936230" cy="3131820"/>
            </a:xfrm>
            <a:custGeom>
              <a:avLst/>
              <a:gdLst/>
              <a:ahLst/>
              <a:cxnLst/>
              <a:rect l="l" t="t" r="r" b="b"/>
              <a:pathLst>
                <a:path w="7936230" h="3131820">
                  <a:moveTo>
                    <a:pt x="7935925" y="0"/>
                  </a:moveTo>
                  <a:lnTo>
                    <a:pt x="0" y="0"/>
                  </a:lnTo>
                  <a:lnTo>
                    <a:pt x="0" y="3131654"/>
                  </a:lnTo>
                  <a:lnTo>
                    <a:pt x="7935925" y="3131654"/>
                  </a:lnTo>
                  <a:lnTo>
                    <a:pt x="7935925" y="3119475"/>
                  </a:lnTo>
                  <a:lnTo>
                    <a:pt x="24358" y="3119475"/>
                  </a:lnTo>
                  <a:lnTo>
                    <a:pt x="12179" y="3107296"/>
                  </a:lnTo>
                  <a:lnTo>
                    <a:pt x="24358" y="3107296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2192"/>
                  </a:lnTo>
                  <a:lnTo>
                    <a:pt x="7935925" y="12192"/>
                  </a:lnTo>
                  <a:lnTo>
                    <a:pt x="7935925" y="0"/>
                  </a:lnTo>
                  <a:close/>
                </a:path>
                <a:path w="7936230" h="3131820">
                  <a:moveTo>
                    <a:pt x="24358" y="3107296"/>
                  </a:moveTo>
                  <a:lnTo>
                    <a:pt x="12179" y="3107296"/>
                  </a:lnTo>
                  <a:lnTo>
                    <a:pt x="24358" y="3119475"/>
                  </a:lnTo>
                  <a:lnTo>
                    <a:pt x="24358" y="3107296"/>
                  </a:lnTo>
                  <a:close/>
                </a:path>
                <a:path w="7936230" h="3131820">
                  <a:moveTo>
                    <a:pt x="7911566" y="3107296"/>
                  </a:moveTo>
                  <a:lnTo>
                    <a:pt x="24358" y="3107296"/>
                  </a:lnTo>
                  <a:lnTo>
                    <a:pt x="24358" y="3119475"/>
                  </a:lnTo>
                  <a:lnTo>
                    <a:pt x="7911566" y="3119475"/>
                  </a:lnTo>
                  <a:lnTo>
                    <a:pt x="7911566" y="3107296"/>
                  </a:lnTo>
                  <a:close/>
                </a:path>
                <a:path w="7936230" h="3131820">
                  <a:moveTo>
                    <a:pt x="7911566" y="12192"/>
                  </a:moveTo>
                  <a:lnTo>
                    <a:pt x="7911566" y="3119475"/>
                  </a:lnTo>
                  <a:lnTo>
                    <a:pt x="7923745" y="3107296"/>
                  </a:lnTo>
                  <a:lnTo>
                    <a:pt x="7935925" y="3107296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92"/>
                  </a:lnTo>
                  <a:close/>
                </a:path>
                <a:path w="7936230" h="3131820">
                  <a:moveTo>
                    <a:pt x="7935925" y="3107296"/>
                  </a:moveTo>
                  <a:lnTo>
                    <a:pt x="7923745" y="3107296"/>
                  </a:lnTo>
                  <a:lnTo>
                    <a:pt x="7911566" y="3119475"/>
                  </a:lnTo>
                  <a:lnTo>
                    <a:pt x="7935925" y="3119475"/>
                  </a:lnTo>
                  <a:lnTo>
                    <a:pt x="7935925" y="3107296"/>
                  </a:lnTo>
                  <a:close/>
                </a:path>
                <a:path w="7936230" h="3131820">
                  <a:moveTo>
                    <a:pt x="24358" y="12192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2192"/>
                  </a:lnTo>
                  <a:close/>
                </a:path>
                <a:path w="7936230" h="3131820">
                  <a:moveTo>
                    <a:pt x="7911566" y="12192"/>
                  </a:moveTo>
                  <a:lnTo>
                    <a:pt x="24358" y="12192"/>
                  </a:lnTo>
                  <a:lnTo>
                    <a:pt x="24358" y="25895"/>
                  </a:lnTo>
                  <a:lnTo>
                    <a:pt x="7911566" y="25895"/>
                  </a:lnTo>
                  <a:lnTo>
                    <a:pt x="7911566" y="12192"/>
                  </a:lnTo>
                  <a:close/>
                </a:path>
                <a:path w="7936230" h="3131820">
                  <a:moveTo>
                    <a:pt x="7935925" y="12192"/>
                  </a:moveTo>
                  <a:lnTo>
                    <a:pt x="7911566" y="12192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61769" y="2185080"/>
            <a:ext cx="3461385" cy="1092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434590" algn="l"/>
              </a:tabLst>
            </a:pPr>
            <a:r>
              <a:rPr dirty="0" sz="1400">
                <a:latin typeface="Trebuchet MS"/>
                <a:cs typeface="Trebuchet MS"/>
              </a:rPr>
              <a:t>{{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7,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3,</a:t>
            </a:r>
            <a:r>
              <a:rPr dirty="0" sz="1400" spc="409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10, INF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1685289" algn="l"/>
                <a:tab pos="2366010" algn="l"/>
                <a:tab pos="268541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7,</a:t>
            </a:r>
            <a:r>
              <a:rPr dirty="0" sz="1400" spc="4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0,</a:t>
            </a:r>
            <a:r>
              <a:rPr dirty="0" sz="1400">
                <a:latin typeface="Trebuchet MS"/>
                <a:cs typeface="Trebuchet MS"/>
              </a:rPr>
              <a:t>	4,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10,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2,</a:t>
            </a:r>
            <a:r>
              <a:rPr dirty="0" sz="1400">
                <a:latin typeface="Trebuchet MS"/>
                <a:cs typeface="Trebuchet MS"/>
              </a:rPr>
              <a:t>	6, INF</a:t>
            </a:r>
            <a:r>
              <a:rPr dirty="0" sz="1400" spc="-25">
                <a:latin typeface="Trebuchet MS"/>
                <a:cs typeface="Trebuchet MS"/>
              </a:rPr>
              <a:t> 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75179" y="3677800"/>
            <a:ext cx="1990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83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3,</a:t>
            </a:r>
            <a:r>
              <a:rPr dirty="0" sz="1400" spc="3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2,</a:t>
            </a:r>
            <a:r>
              <a:rPr dirty="0" sz="1400" spc="3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INF,</a:t>
            </a:r>
            <a:r>
              <a:rPr dirty="0" sz="1400" spc="32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11,</a:t>
            </a:r>
            <a:r>
              <a:rPr dirty="0" sz="1400">
                <a:latin typeface="Trebuchet MS"/>
                <a:cs typeface="Trebuchet MS"/>
              </a:rPr>
              <a:t>	0,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INF,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5179" y="3251308"/>
            <a:ext cx="257238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065" algn="l"/>
                <a:tab pos="122237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9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INF,</a:t>
            </a:r>
            <a:r>
              <a:rPr dirty="0" sz="1400" spc="229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4,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0,</a:t>
            </a:r>
            <a:r>
              <a:rPr dirty="0" sz="1400">
                <a:latin typeface="Trebuchet MS"/>
                <a:cs typeface="Trebuchet MS"/>
              </a:rPr>
              <a:t>	2,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941069" algn="l"/>
                <a:tab pos="1262380" algn="l"/>
                <a:tab pos="1942464" algn="l"/>
                <a:tab pos="226250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10,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2,</a:t>
            </a:r>
            <a:r>
              <a:rPr dirty="0" sz="1400">
                <a:latin typeface="Trebuchet MS"/>
                <a:cs typeface="Trebuchet MS"/>
              </a:rPr>
              <a:t>	0,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11,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9,</a:t>
            </a:r>
            <a:r>
              <a:rPr dirty="0" sz="1400">
                <a:latin typeface="Trebuchet MS"/>
                <a:cs typeface="Trebuchet MS"/>
              </a:rPr>
              <a:t>	4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213741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5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1769" y="3891046"/>
            <a:ext cx="3507104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5830">
              <a:lnSpc>
                <a:spcPct val="100000"/>
              </a:lnSpc>
              <a:spcBef>
                <a:spcPts val="100"/>
              </a:spcBef>
              <a:tabLst>
                <a:tab pos="2120900" algn="l"/>
                <a:tab pos="278447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10,</a:t>
            </a:r>
            <a:r>
              <a:rPr dirty="0" sz="1400" spc="4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6,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9,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0,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25">
                <a:latin typeface="Trebuchet MS"/>
                <a:cs typeface="Trebuchet MS"/>
              </a:rPr>
              <a:t> 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178685" algn="l"/>
                <a:tab pos="2499995" algn="l"/>
                <a:tab pos="3162300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4,</a:t>
            </a:r>
            <a:r>
              <a:rPr dirty="0" sz="1400">
                <a:latin typeface="Trebuchet MS"/>
                <a:cs typeface="Trebuchet MS"/>
              </a:rPr>
              <a:t>	5,</a:t>
            </a:r>
            <a:r>
              <a:rPr dirty="0" sz="1400" spc="-20">
                <a:latin typeface="Trebuchet MS"/>
                <a:cs typeface="Trebuchet MS"/>
              </a:rPr>
              <a:t> INF,</a:t>
            </a:r>
            <a:r>
              <a:rPr dirty="0" sz="1400">
                <a:latin typeface="Trebuchet MS"/>
                <a:cs typeface="Trebuchet MS"/>
              </a:rPr>
              <a:t>	0 }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shortest_path(&amp;g,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258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pc="-225">
                <a:latin typeface="Tw Cen MT"/>
                <a:cs typeface="Tw Cen MT"/>
              </a:rPr>
              <a:t>Dijkstra</a:t>
            </a:r>
            <a:r>
              <a:rPr dirty="0" spc="-225"/>
              <a:t>의</a:t>
            </a:r>
            <a:r>
              <a:rPr dirty="0" spc="-229"/>
              <a:t> </a:t>
            </a:r>
            <a:r>
              <a:rPr dirty="0" spc="-1875"/>
              <a:t>최단경로</a:t>
            </a:r>
            <a:r>
              <a:rPr dirty="0" spc="-229"/>
              <a:t> </a:t>
            </a:r>
            <a:r>
              <a:rPr dirty="0" spc="-2315"/>
              <a:t>프로그램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5956" y="2056295"/>
            <a:ext cx="7936230" cy="3777615"/>
            <a:chOff x="1325956" y="2056295"/>
            <a:chExt cx="7936230" cy="3777615"/>
          </a:xfrm>
        </p:grpSpPr>
        <p:sp>
          <p:nvSpPr>
            <p:cNvPr id="4" name="object 4"/>
            <p:cNvSpPr/>
            <p:nvPr/>
          </p:nvSpPr>
          <p:spPr>
            <a:xfrm>
              <a:off x="1338135" y="2068474"/>
              <a:ext cx="7912100" cy="3753485"/>
            </a:xfrm>
            <a:custGeom>
              <a:avLst/>
              <a:gdLst/>
              <a:ahLst/>
              <a:cxnLst/>
              <a:rect l="l" t="t" r="r" b="b"/>
              <a:pathLst>
                <a:path w="7912100" h="3753485">
                  <a:moveTo>
                    <a:pt x="7911566" y="0"/>
                  </a:moveTo>
                  <a:lnTo>
                    <a:pt x="0" y="0"/>
                  </a:lnTo>
                  <a:lnTo>
                    <a:pt x="0" y="3753116"/>
                  </a:lnTo>
                  <a:lnTo>
                    <a:pt x="7911566" y="375311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5956" y="2056295"/>
              <a:ext cx="7936230" cy="3777615"/>
            </a:xfrm>
            <a:custGeom>
              <a:avLst/>
              <a:gdLst/>
              <a:ahLst/>
              <a:cxnLst/>
              <a:rect l="l" t="t" r="r" b="b"/>
              <a:pathLst>
                <a:path w="7936230" h="3777615">
                  <a:moveTo>
                    <a:pt x="7935925" y="0"/>
                  </a:moveTo>
                  <a:lnTo>
                    <a:pt x="0" y="0"/>
                  </a:lnTo>
                  <a:lnTo>
                    <a:pt x="0" y="3777488"/>
                  </a:lnTo>
                  <a:lnTo>
                    <a:pt x="7935925" y="3777488"/>
                  </a:lnTo>
                  <a:lnTo>
                    <a:pt x="7935925" y="3765296"/>
                  </a:lnTo>
                  <a:lnTo>
                    <a:pt x="25882" y="3765296"/>
                  </a:lnTo>
                  <a:lnTo>
                    <a:pt x="12179" y="3753116"/>
                  </a:lnTo>
                  <a:lnTo>
                    <a:pt x="25882" y="3753116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2179"/>
                  </a:lnTo>
                  <a:lnTo>
                    <a:pt x="7935925" y="12179"/>
                  </a:lnTo>
                  <a:lnTo>
                    <a:pt x="7935925" y="0"/>
                  </a:lnTo>
                  <a:close/>
                </a:path>
                <a:path w="7936230" h="3777615">
                  <a:moveTo>
                    <a:pt x="25882" y="3753116"/>
                  </a:moveTo>
                  <a:lnTo>
                    <a:pt x="12179" y="3753116"/>
                  </a:lnTo>
                  <a:lnTo>
                    <a:pt x="25882" y="3765296"/>
                  </a:lnTo>
                  <a:lnTo>
                    <a:pt x="25882" y="3753116"/>
                  </a:lnTo>
                  <a:close/>
                </a:path>
                <a:path w="7936230" h="3777615">
                  <a:moveTo>
                    <a:pt x="7911566" y="3753116"/>
                  </a:moveTo>
                  <a:lnTo>
                    <a:pt x="25882" y="3753116"/>
                  </a:lnTo>
                  <a:lnTo>
                    <a:pt x="25882" y="3765296"/>
                  </a:lnTo>
                  <a:lnTo>
                    <a:pt x="7911566" y="3765296"/>
                  </a:lnTo>
                  <a:lnTo>
                    <a:pt x="7911566" y="3753116"/>
                  </a:lnTo>
                  <a:close/>
                </a:path>
                <a:path w="7936230" h="3777615">
                  <a:moveTo>
                    <a:pt x="7911566" y="12179"/>
                  </a:moveTo>
                  <a:lnTo>
                    <a:pt x="7911566" y="3765296"/>
                  </a:lnTo>
                  <a:lnTo>
                    <a:pt x="7923745" y="3753116"/>
                  </a:lnTo>
                  <a:lnTo>
                    <a:pt x="7935925" y="3753116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79"/>
                  </a:lnTo>
                  <a:close/>
                </a:path>
                <a:path w="7936230" h="3777615">
                  <a:moveTo>
                    <a:pt x="7935925" y="3753116"/>
                  </a:moveTo>
                  <a:lnTo>
                    <a:pt x="7923745" y="3753116"/>
                  </a:lnTo>
                  <a:lnTo>
                    <a:pt x="7911566" y="3765296"/>
                  </a:lnTo>
                  <a:lnTo>
                    <a:pt x="7935925" y="3765296"/>
                  </a:lnTo>
                  <a:lnTo>
                    <a:pt x="7935925" y="3753116"/>
                  </a:lnTo>
                  <a:close/>
                </a:path>
                <a:path w="7936230" h="3777615">
                  <a:moveTo>
                    <a:pt x="25882" y="12179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6230" h="3777615">
                  <a:moveTo>
                    <a:pt x="7911566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2179"/>
                  </a:lnTo>
                  <a:close/>
                </a:path>
                <a:path w="7936230" h="3777615">
                  <a:moveTo>
                    <a:pt x="7935925" y="12179"/>
                  </a:moveTo>
                  <a:lnTo>
                    <a:pt x="7911566" y="12179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97355" y="2118703"/>
          <a:ext cx="3004185" cy="3613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5314"/>
                <a:gridCol w="374014"/>
                <a:gridCol w="511810"/>
                <a:gridCol w="155575"/>
              </a:tblGrid>
              <a:tr h="529590">
                <a:tc>
                  <a:txBody>
                    <a:bodyPr/>
                    <a:lstStyle/>
                    <a:p>
                      <a:pPr algn="r" marR="68580">
                        <a:lnSpc>
                          <a:spcPts val="1595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STEP</a:t>
                      </a:r>
                      <a:r>
                        <a:rPr dirty="0" sz="1400" spc="-5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1: distance:</a:t>
                      </a:r>
                      <a:r>
                        <a:rPr dirty="0" sz="1400" spc="38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algn="r" marR="24765">
                        <a:lnSpc>
                          <a:spcPct val="100000"/>
                        </a:lnSpc>
                        <a:tabLst>
                          <a:tab pos="786765" algn="l"/>
                        </a:tabLst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found: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	1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595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75">
                        <a:lnSpc>
                          <a:spcPts val="1595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3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6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9405">
                <a:tc>
                  <a:txBody>
                    <a:bodyPr/>
                    <a:lstStyle/>
                    <a:p>
                      <a:pPr algn="r" marR="6858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STEP</a:t>
                      </a:r>
                      <a:r>
                        <a:rPr dirty="0" sz="1400" spc="-5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2: distance:</a:t>
                      </a:r>
                      <a:r>
                        <a:rPr dirty="0" sz="1400" spc="38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*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 marR="29209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 marR="51435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</a:tr>
              <a:tr h="319405">
                <a:tc>
                  <a:txBody>
                    <a:bodyPr/>
                    <a:lstStyle/>
                    <a:p>
                      <a:pPr algn="r" marR="24765">
                        <a:lnSpc>
                          <a:spcPts val="1620"/>
                        </a:lnSpc>
                        <a:tabLst>
                          <a:tab pos="786765" algn="l"/>
                        </a:tabLst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found: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	1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3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6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9405">
                <a:tc>
                  <a:txBody>
                    <a:bodyPr/>
                    <a:lstStyle/>
                    <a:p>
                      <a:pPr algn="r" marR="6858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STEP</a:t>
                      </a:r>
                      <a:r>
                        <a:rPr dirty="0" sz="1400" spc="-5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3: distance:</a:t>
                      </a:r>
                      <a:r>
                        <a:rPr dirty="0" sz="1400" spc="38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14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</a:tr>
              <a:tr h="319405">
                <a:tc>
                  <a:txBody>
                    <a:bodyPr/>
                    <a:lstStyle/>
                    <a:p>
                      <a:pPr algn="r" marR="24765">
                        <a:lnSpc>
                          <a:spcPts val="1620"/>
                        </a:lnSpc>
                        <a:tabLst>
                          <a:tab pos="786765" algn="l"/>
                        </a:tabLst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found: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	1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3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6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9405">
                <a:tc>
                  <a:txBody>
                    <a:bodyPr/>
                    <a:lstStyle/>
                    <a:p>
                      <a:pPr algn="r" marR="6858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STEP</a:t>
                      </a:r>
                      <a:r>
                        <a:rPr dirty="0" sz="1400" spc="-5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4: distance:</a:t>
                      </a:r>
                      <a:r>
                        <a:rPr dirty="0" sz="1400" spc="38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12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</a:tr>
              <a:tr h="319405">
                <a:tc>
                  <a:txBody>
                    <a:bodyPr/>
                    <a:lstStyle/>
                    <a:p>
                      <a:pPr algn="r" marR="24765">
                        <a:lnSpc>
                          <a:spcPts val="1620"/>
                        </a:lnSpc>
                        <a:tabLst>
                          <a:tab pos="786765" algn="l"/>
                        </a:tabLst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found: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	1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3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6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9405">
                <a:tc>
                  <a:txBody>
                    <a:bodyPr/>
                    <a:lstStyle/>
                    <a:p>
                      <a:pPr algn="r" marR="6858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STEP</a:t>
                      </a:r>
                      <a:r>
                        <a:rPr dirty="0" sz="1400" spc="-5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5: distance:</a:t>
                      </a:r>
                      <a:r>
                        <a:rPr dirty="0" sz="1400" spc="38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</a:tr>
              <a:tr h="319405">
                <a:tc>
                  <a:txBody>
                    <a:bodyPr/>
                    <a:lstStyle/>
                    <a:p>
                      <a:pPr algn="r" marR="24765">
                        <a:lnSpc>
                          <a:spcPts val="1620"/>
                        </a:lnSpc>
                        <a:tabLst>
                          <a:tab pos="786765" algn="l"/>
                        </a:tabLst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found: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	1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620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3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6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9405">
                <a:tc>
                  <a:txBody>
                    <a:bodyPr/>
                    <a:lstStyle/>
                    <a:p>
                      <a:pPr algn="r" marR="6858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STEP</a:t>
                      </a:r>
                      <a:r>
                        <a:rPr dirty="0" sz="1400" spc="-5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6: distance:</a:t>
                      </a:r>
                      <a:r>
                        <a:rPr dirty="0" sz="1400" spc="38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r" marR="1905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 marL="20320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78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99060"/>
                </a:tc>
              </a:tr>
              <a:tr h="209550">
                <a:tc>
                  <a:txBody>
                    <a:bodyPr/>
                    <a:lstStyle/>
                    <a:p>
                      <a:pPr algn="r" marR="24765">
                        <a:lnSpc>
                          <a:spcPts val="1555"/>
                        </a:lnSpc>
                        <a:tabLst>
                          <a:tab pos="786765" algn="l"/>
                        </a:tabLst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found: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	1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400" spc="42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55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r>
                        <a:rPr dirty="0" sz="1400" spc="41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555"/>
                        </a:lnSpc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dirty="0" sz="1400" spc="43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00" spc="-6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4201" y="2699080"/>
            <a:ext cx="2586443" cy="24568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Dijkstra</a:t>
            </a:r>
            <a:r>
              <a:rPr dirty="0" spc="-130">
                <a:latin typeface="Tw Cen MT"/>
                <a:cs typeface="Tw Cen MT"/>
              </a:rPr>
              <a:t> </a:t>
            </a:r>
            <a:r>
              <a:rPr dirty="0" spc="-1775"/>
              <a:t>가상실습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>
                <a:latin typeface="Arial"/>
                <a:cs typeface="Arial"/>
              </a:rPr>
              <a:t>Dijkstra</a:t>
            </a:r>
            <a:r>
              <a:rPr dirty="0" spc="-30">
                <a:latin typeface="Arial"/>
                <a:cs typeface="Arial"/>
              </a:rPr>
              <a:t> </a:t>
            </a:r>
            <a:r>
              <a:rPr dirty="0" spc="-20"/>
              <a:t>가상실습을</a:t>
            </a:r>
            <a:r>
              <a:rPr dirty="0" spc="-165"/>
              <a:t> </a:t>
            </a:r>
            <a:r>
              <a:rPr dirty="0" spc="-20">
                <a:latin typeface="Arial"/>
                <a:cs typeface="Arial"/>
              </a:rPr>
              <a:t>30-</a:t>
            </a:r>
            <a:r>
              <a:rPr dirty="0" spc="-10">
                <a:latin typeface="Arial"/>
                <a:cs typeface="Arial"/>
              </a:rPr>
              <a:t>&gt;ShortestPath</a:t>
            </a:r>
            <a:r>
              <a:rPr dirty="0" spc="-10"/>
              <a:t>로</a:t>
            </a:r>
            <a:r>
              <a:rPr dirty="0" spc="-165"/>
              <a:t> </a:t>
            </a:r>
            <a:r>
              <a:rPr dirty="0" spc="-25"/>
              <a:t>알아봄</a:t>
            </a:r>
          </a:p>
          <a:p>
            <a:pPr marL="4643120">
              <a:lnSpc>
                <a:spcPct val="100000"/>
              </a:lnSpc>
              <a:spcBef>
                <a:spcPts val="680"/>
              </a:spcBef>
            </a:pPr>
            <a:r>
              <a:rPr dirty="0" sz="1400"/>
              <a:t>연산의</a:t>
            </a:r>
            <a:r>
              <a:rPr dirty="0" sz="1400" spc="-95"/>
              <a:t> </a:t>
            </a:r>
            <a:r>
              <a:rPr dirty="0" sz="1400"/>
              <a:t>종류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Dijkstra</a:t>
            </a:r>
            <a:endParaRPr sz="1400">
              <a:latin typeface="Arial"/>
              <a:cs typeface="Arial"/>
            </a:endParaRPr>
          </a:p>
          <a:p>
            <a:pPr marL="4643120">
              <a:lnSpc>
                <a:spcPct val="100000"/>
              </a:lnSpc>
              <a:spcBef>
                <a:spcPts val="695"/>
              </a:spcBef>
            </a:pPr>
            <a:r>
              <a:rPr dirty="0" sz="1400"/>
              <a:t>정점의</a:t>
            </a:r>
            <a:r>
              <a:rPr dirty="0" sz="1400" spc="-95"/>
              <a:t> </a:t>
            </a:r>
            <a:r>
              <a:rPr dirty="0" sz="1400"/>
              <a:t>개수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더블클릭하면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만들어진다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70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정점들을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드래그하여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만든다</a:t>
            </a:r>
            <a:endParaRPr sz="1400">
              <a:latin typeface="Gulim"/>
              <a:cs typeface="Gulim"/>
            </a:endParaRPr>
          </a:p>
          <a:p>
            <a:pPr lvl="1" marL="4643120" marR="5080" indent="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이동하고자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하는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경우에는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ctrl</a:t>
            </a:r>
            <a:r>
              <a:rPr dirty="0" sz="1400">
                <a:latin typeface="Gulim"/>
                <a:cs typeface="Gulim"/>
              </a:rPr>
              <a:t>키를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누른 </a:t>
            </a:r>
            <a:r>
              <a:rPr dirty="0" sz="1400">
                <a:latin typeface="Gulim"/>
                <a:cs typeface="Gulim"/>
              </a:rPr>
              <a:t>채로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원하는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드래그한다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375" y="2289340"/>
            <a:ext cx="4632464" cy="35124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837" y="4514710"/>
            <a:ext cx="2587967" cy="245689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60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45"/>
              <a:t> </a:t>
            </a:r>
            <a:r>
              <a:rPr dirty="0" sz="3200" spc="-1445"/>
              <a:t>한줄</a:t>
            </a:r>
            <a:r>
              <a:rPr dirty="0" sz="3200" spc="-165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75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0"/>
              <a:t> </a:t>
            </a:r>
            <a:r>
              <a:rPr dirty="0" sz="3200" spc="-1370"/>
              <a:t>그림과</a:t>
            </a:r>
            <a:r>
              <a:rPr dirty="0" sz="3200" spc="-175"/>
              <a:t> </a:t>
            </a:r>
            <a:r>
              <a:rPr dirty="0" sz="3200" spc="-350">
                <a:latin typeface="Tw Cen MT"/>
                <a:cs typeface="Tw Cen MT"/>
              </a:rPr>
              <a:t>VS</a:t>
            </a:r>
            <a:r>
              <a:rPr dirty="0" sz="3200" spc="-350"/>
              <a:t>같이</a:t>
            </a:r>
            <a:r>
              <a:rPr dirty="0" sz="3200" spc="-350">
                <a:latin typeface="Tw Cen MT"/>
                <a:cs typeface="Tw Cen MT"/>
              </a:rPr>
              <a:t>(1/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1" y="1828803"/>
            <a:ext cx="5031105" cy="175450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4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dijkstra.c</a:t>
            </a:r>
            <a:r>
              <a:rPr dirty="0" sz="1600" spc="-10">
                <a:latin typeface="Gulim"/>
                <a:cs typeface="Gulim"/>
              </a:rPr>
              <a:t>를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dijkstra_change.c</a:t>
            </a:r>
            <a:r>
              <a:rPr dirty="0" sz="1600" spc="-10">
                <a:latin typeface="Gulim"/>
                <a:cs typeface="Gulim"/>
              </a:rPr>
              <a:t>로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변경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600" spc="-10">
                <a:latin typeface="Arial"/>
                <a:cs typeface="Arial"/>
              </a:rPr>
              <a:t>step7</a:t>
            </a:r>
            <a:r>
              <a:rPr dirty="0" sz="1600" spc="-10">
                <a:latin typeface="Gulim"/>
                <a:cs typeface="Gulim"/>
              </a:rPr>
              <a:t>까지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출력하게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함</a:t>
            </a:r>
            <a:endParaRPr sz="16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70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그래프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자료구조는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adj_mat</a:t>
            </a:r>
            <a:r>
              <a:rPr dirty="0" sz="1600" spc="-10">
                <a:latin typeface="Gulim"/>
                <a:cs typeface="Gulim"/>
              </a:rPr>
              <a:t>에서는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element</a:t>
            </a:r>
            <a:r>
              <a:rPr dirty="0" sz="1600" spc="-10">
                <a:latin typeface="Gulim"/>
                <a:cs typeface="Gulim"/>
              </a:rPr>
              <a:t>값이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50">
                <a:latin typeface="Arial"/>
                <a:cs typeface="Arial"/>
              </a:rPr>
              <a:t>0 </a:t>
            </a:r>
            <a:r>
              <a:rPr dirty="0" sz="1600">
                <a:latin typeface="Gulim"/>
                <a:cs typeface="Gulim"/>
              </a:rPr>
              <a:t>또는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1</a:t>
            </a:r>
            <a:r>
              <a:rPr dirty="0" sz="1600" spc="-10">
                <a:latin typeface="Gulim"/>
                <a:cs typeface="Gulim"/>
              </a:rPr>
              <a:t>이었는데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dijkstra.c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자료구조에서는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element</a:t>
            </a:r>
            <a:r>
              <a:rPr dirty="0" sz="1600" spc="-10">
                <a:latin typeface="Gulim"/>
                <a:cs typeface="Gulim"/>
              </a:rPr>
              <a:t>값이 </a:t>
            </a:r>
            <a:r>
              <a:rPr dirty="0" sz="1600" spc="-10">
                <a:latin typeface="Arial"/>
                <a:cs typeface="Arial"/>
              </a:rPr>
              <a:t>weight(</a:t>
            </a:r>
            <a:r>
              <a:rPr dirty="0" sz="1600" spc="-10">
                <a:latin typeface="Gulim"/>
                <a:cs typeface="Gulim"/>
              </a:rPr>
              <a:t>가중치</a:t>
            </a:r>
            <a:r>
              <a:rPr dirty="0" sz="1600" spc="-10">
                <a:latin typeface="Arial"/>
                <a:cs typeface="Arial"/>
              </a:rPr>
              <a:t>)</a:t>
            </a:r>
            <a:r>
              <a:rPr dirty="0" sz="1600" spc="-10">
                <a:latin typeface="Gulim"/>
                <a:cs typeface="Gulim"/>
              </a:rPr>
              <a:t>입니다</a:t>
            </a:r>
            <a:r>
              <a:rPr dirty="0" sz="1600" spc="-10">
                <a:latin typeface="Arial"/>
                <a:cs typeface="Arial"/>
              </a:rPr>
              <a:t>.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연결이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안된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vertex</a:t>
            </a:r>
            <a:r>
              <a:rPr dirty="0" sz="1600" spc="-10">
                <a:latin typeface="Gulim"/>
                <a:cs typeface="Gulim"/>
              </a:rPr>
              <a:t>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가중치가 </a:t>
            </a:r>
            <a:r>
              <a:rPr dirty="0" sz="1600" spc="-10">
                <a:latin typeface="Arial"/>
                <a:cs typeface="Arial"/>
              </a:rPr>
              <a:t>1000000</a:t>
            </a:r>
            <a:r>
              <a:rPr dirty="0" sz="1600" spc="-10">
                <a:latin typeface="Gulim"/>
                <a:cs typeface="Gulim"/>
              </a:rPr>
              <a:t>입니다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8284" y="4404886"/>
            <a:ext cx="984885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 spc="-10">
                <a:latin typeface="Trebuchet MS"/>
                <a:cs typeface="Trebuchet MS"/>
              </a:rPr>
              <a:t>Vertex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</a:t>
            </a:r>
            <a:r>
              <a:rPr dirty="0" sz="1400" spc="-25">
                <a:latin typeface="Gulim"/>
                <a:cs typeface="Gulim"/>
              </a:rPr>
              <a:t>개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12</a:t>
            </a:r>
            <a:r>
              <a:rPr dirty="0" sz="1400" spc="-25">
                <a:latin typeface="Gulim"/>
                <a:cs typeface="Gulim"/>
              </a:rPr>
              <a:t>개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0395" y="1788210"/>
            <a:ext cx="3129915" cy="6854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1584" y="2598954"/>
            <a:ext cx="2817427" cy="56198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125531" y="3344900"/>
            <a:ext cx="5710555" cy="3762375"/>
            <a:chOff x="4125531" y="3344900"/>
            <a:chExt cx="5710555" cy="37623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25531" y="4929009"/>
              <a:ext cx="1898345" cy="21781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0461" y="3344900"/>
              <a:ext cx="4215345" cy="182782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1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(2/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840" y="1832808"/>
            <a:ext cx="5956935" cy="256667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Gulim"/>
                <a:cs typeface="Gulim"/>
              </a:rPr>
              <a:t>교재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418P~421P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그림</a:t>
            </a:r>
            <a:r>
              <a:rPr dirty="0" sz="1200" spc="2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7</a:t>
            </a:r>
            <a:r>
              <a:rPr dirty="0" sz="1200" spc="-10">
                <a:latin typeface="Gulim"/>
                <a:cs typeface="Gulim"/>
              </a:rPr>
              <a:t>단계를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한줄씩수행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및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변수보기와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비교합니다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32105" marR="508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Dijkstra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v</a:t>
            </a:r>
            <a:r>
              <a:rPr dirty="0" sz="1200" spc="-10">
                <a:latin typeface="Gulim"/>
                <a:cs typeface="Gulim"/>
              </a:rPr>
              <a:t>로부터의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최단경로가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이미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발견된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정점들의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집합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대해 </a:t>
            </a:r>
            <a:r>
              <a:rPr dirty="0" sz="1200">
                <a:latin typeface="Gulim"/>
                <a:cs typeface="Gulim"/>
              </a:rPr>
              <a:t>매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단계에서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가장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distance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값이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작은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</a:t>
            </a:r>
            <a:endParaRPr sz="1200">
              <a:latin typeface="Gulim"/>
              <a:cs typeface="Gulim"/>
            </a:endParaRPr>
          </a:p>
          <a:p>
            <a:pPr marL="332105">
              <a:lnSpc>
                <a:spcPts val="1440"/>
              </a:lnSpc>
            </a:pPr>
            <a:r>
              <a:rPr dirty="0" sz="1200" spc="-10">
                <a:latin typeface="Gulim"/>
                <a:cs typeface="Gulim"/>
              </a:rPr>
              <a:t>집합</a:t>
            </a:r>
            <a:r>
              <a:rPr dirty="0" sz="1200" spc="-10">
                <a:latin typeface="Arial"/>
                <a:cs typeface="Arial"/>
              </a:rPr>
              <a:t>S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found</a:t>
            </a:r>
            <a:r>
              <a:rPr dirty="0" sz="1200" spc="-10">
                <a:latin typeface="Gulim"/>
                <a:cs typeface="Gulim"/>
              </a:rPr>
              <a:t>배열로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구현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값은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구현</a:t>
            </a:r>
            <a:endParaRPr sz="1200">
              <a:latin typeface="Gulim"/>
              <a:cs typeface="Gulim"/>
            </a:endParaRPr>
          </a:p>
          <a:p>
            <a:pPr marL="12700" marR="4615815">
              <a:lnSpc>
                <a:spcPct val="148200"/>
              </a:lnSpc>
              <a:spcBef>
                <a:spcPts val="5"/>
              </a:spcBef>
            </a:pPr>
            <a:r>
              <a:rPr dirty="0" sz="1200" spc="-10">
                <a:latin typeface="Arial"/>
                <a:cs typeface="Arial"/>
              </a:rPr>
              <a:t>60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중단점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설정 </a:t>
            </a:r>
            <a:r>
              <a:rPr dirty="0" sz="1200" spc="-10">
                <a:latin typeface="Gulim"/>
                <a:cs typeface="Gulim"/>
              </a:rPr>
              <a:t>디버깅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시작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10">
                <a:latin typeface="Arial"/>
                <a:cs typeface="Arial"/>
              </a:rPr>
              <a:t>60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10">
                <a:latin typeface="Gulim"/>
                <a:cs typeface="Gulim"/>
              </a:rPr>
              <a:t>조사식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창에서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found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집합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{V0}</a:t>
            </a:r>
            <a:r>
              <a:rPr dirty="0" sz="1200" spc="-10">
                <a:latin typeface="Gulim"/>
                <a:cs typeface="Gulim"/>
              </a:rPr>
              <a:t>이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found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갱신됨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10">
                <a:latin typeface="Arial"/>
                <a:cs typeface="Arial"/>
              </a:rPr>
              <a:t>S</a:t>
            </a:r>
            <a:r>
              <a:rPr dirty="0" sz="1200" spc="-10">
                <a:latin typeface="Gulim"/>
                <a:cs typeface="Gulim"/>
              </a:rPr>
              <a:t>집합과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나머지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정점들의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가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새로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계산되어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갱신됨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04163" y="4408093"/>
            <a:ext cx="3737610" cy="2725420"/>
            <a:chOff x="1204163" y="4408093"/>
            <a:chExt cx="3737610" cy="27254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4163" y="5172722"/>
              <a:ext cx="2339822" cy="19603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4199" y="4408093"/>
              <a:ext cx="960589" cy="13419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76434" y="5774372"/>
              <a:ext cx="1265059" cy="133278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1854" y="5757621"/>
            <a:ext cx="1188948" cy="12855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6563" y="409727"/>
            <a:ext cx="4719231" cy="170444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2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(3/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6840" y="2147589"/>
            <a:ext cx="7256780" cy="2204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1304925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Dijkstra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v</a:t>
            </a:r>
            <a:r>
              <a:rPr dirty="0" sz="1200" spc="-10">
                <a:latin typeface="Gulim"/>
                <a:cs typeface="Gulim"/>
              </a:rPr>
              <a:t>로부터의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최단경로가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이미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발견된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정점들의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집합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대해 </a:t>
            </a:r>
            <a:r>
              <a:rPr dirty="0" sz="1200">
                <a:latin typeface="Gulim"/>
                <a:cs typeface="Gulim"/>
              </a:rPr>
              <a:t>매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단계에서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가장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distance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값이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작은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</a:t>
            </a:r>
            <a:endParaRPr sz="1200">
              <a:latin typeface="Gulim"/>
              <a:cs typeface="Gulim"/>
            </a:endParaRPr>
          </a:p>
          <a:p>
            <a:pPr marL="332105">
              <a:lnSpc>
                <a:spcPts val="1440"/>
              </a:lnSpc>
            </a:pPr>
            <a:r>
              <a:rPr dirty="0" sz="1200" spc="-10">
                <a:latin typeface="Gulim"/>
                <a:cs typeface="Gulim"/>
              </a:rPr>
              <a:t>집합</a:t>
            </a:r>
            <a:r>
              <a:rPr dirty="0" sz="1200" spc="-10">
                <a:latin typeface="Arial"/>
                <a:cs typeface="Arial"/>
              </a:rPr>
              <a:t>S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found</a:t>
            </a:r>
            <a:r>
              <a:rPr dirty="0" sz="1200" spc="-10">
                <a:latin typeface="Gulim"/>
                <a:cs typeface="Gulim"/>
              </a:rPr>
              <a:t>배열로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구현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값은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구현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25">
                <a:latin typeface="Gulim"/>
                <a:cs typeface="Gulim"/>
              </a:rPr>
              <a:t>계속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10">
                <a:latin typeface="Arial"/>
                <a:cs typeface="Arial"/>
              </a:rPr>
              <a:t>39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Gulim"/>
                <a:cs typeface="Gulim"/>
              </a:rPr>
              <a:t>가장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값이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작은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V4</a:t>
            </a:r>
            <a:r>
              <a:rPr dirty="0" sz="1200">
                <a:latin typeface="Gulim"/>
                <a:cs typeface="Gulim"/>
              </a:rPr>
              <a:t>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S</a:t>
            </a:r>
            <a:r>
              <a:rPr dirty="0" sz="1200" spc="-10">
                <a:latin typeface="Gulim"/>
                <a:cs typeface="Gulim"/>
              </a:rPr>
              <a:t>집합에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추가되고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found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갱신됨</a:t>
            </a:r>
            <a:endParaRPr sz="1200">
              <a:latin typeface="Gulim"/>
              <a:cs typeface="Gulim"/>
            </a:endParaRPr>
          </a:p>
          <a:p>
            <a:pPr marL="12700" marR="2204720">
              <a:lnSpc>
                <a:spcPct val="148200"/>
              </a:lnSpc>
              <a:spcBef>
                <a:spcPts val="10"/>
              </a:spcBef>
            </a:pPr>
            <a:r>
              <a:rPr dirty="0" sz="1200" spc="-10">
                <a:latin typeface="Arial"/>
                <a:cs typeface="Arial"/>
              </a:rPr>
              <a:t>S</a:t>
            </a:r>
            <a:r>
              <a:rPr dirty="0" sz="1200" spc="-10">
                <a:latin typeface="Gulim"/>
                <a:cs typeface="Gulim"/>
              </a:rPr>
              <a:t>집합과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나머지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정점들의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가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새로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계산되어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배열에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추가됨 </a:t>
            </a:r>
            <a:r>
              <a:rPr dirty="0" sz="1200">
                <a:latin typeface="Arial"/>
                <a:cs typeface="Arial"/>
              </a:rPr>
              <a:t>distance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값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구하는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수식도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교재에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단계별로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있음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10">
                <a:latin typeface="Gulim"/>
                <a:cs typeface="Gulim"/>
              </a:rPr>
              <a:t>교재</a:t>
            </a:r>
            <a:r>
              <a:rPr dirty="0" sz="1200" spc="-10">
                <a:latin typeface="Arial"/>
                <a:cs typeface="Arial"/>
              </a:rPr>
              <a:t>419P</a:t>
            </a:r>
            <a:r>
              <a:rPr dirty="0" sz="1200" spc="-10">
                <a:latin typeface="Gulim"/>
                <a:cs typeface="Gulim"/>
              </a:rPr>
              <a:t>의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distance[6]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=</a:t>
            </a:r>
            <a:r>
              <a:rPr dirty="0" sz="1200" spc="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min(distance[6], distance[4]+distance[4][6])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=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min(</a:t>
            </a:r>
            <a:r>
              <a:rPr dirty="0" sz="1200">
                <a:latin typeface="Gulim"/>
                <a:cs typeface="Gulim"/>
              </a:rPr>
              <a:t>무한대</a:t>
            </a:r>
            <a:r>
              <a:rPr dirty="0" sz="1200">
                <a:latin typeface="Arial"/>
                <a:cs typeface="Arial"/>
              </a:rPr>
              <a:t>, 3+5) =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8 </a:t>
            </a:r>
            <a:r>
              <a:rPr dirty="0" sz="1200">
                <a:latin typeface="Gulim"/>
                <a:cs typeface="Gulim"/>
              </a:rPr>
              <a:t>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수정해야함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04163" y="4452264"/>
            <a:ext cx="3648075" cy="2680970"/>
            <a:chOff x="1204163" y="4452264"/>
            <a:chExt cx="3648075" cy="26809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4163" y="5172722"/>
              <a:ext cx="2339822" cy="19603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4199" y="4452264"/>
              <a:ext cx="960589" cy="13434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6619" y="5774372"/>
              <a:ext cx="1265059" cy="133278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5225" y="4956428"/>
            <a:ext cx="2350490" cy="19710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15771" y="4427880"/>
            <a:ext cx="971245" cy="128404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8704" y="4223778"/>
            <a:ext cx="3585095" cy="286815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7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75"/>
              <a:t> </a:t>
            </a:r>
            <a:r>
              <a:rPr dirty="0" sz="3200" spc="-575">
                <a:latin typeface="Tw Cen MT"/>
                <a:cs typeface="Tw Cen MT"/>
              </a:rPr>
              <a:t>3</a:t>
            </a:r>
            <a:r>
              <a:rPr dirty="0" sz="3200" spc="-575"/>
              <a:t>단계</a:t>
            </a:r>
            <a:r>
              <a:rPr dirty="0" sz="3200" spc="-575">
                <a:latin typeface="Tw Cen MT"/>
                <a:cs typeface="Tw Cen MT"/>
              </a:rPr>
              <a:t>~7</a:t>
            </a:r>
            <a:r>
              <a:rPr dirty="0" sz="3200" spc="-57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(4/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6840" y="1918239"/>
            <a:ext cx="5956935" cy="1388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>
                <a:latin typeface="Arial"/>
                <a:cs typeface="Arial"/>
              </a:rPr>
              <a:t>Dijkstra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시작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v</a:t>
            </a:r>
            <a:r>
              <a:rPr dirty="0" sz="1200" spc="-10">
                <a:latin typeface="Gulim"/>
                <a:cs typeface="Gulim"/>
              </a:rPr>
              <a:t>로부터의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최단경로가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이미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발견된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정점들의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집합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대해 </a:t>
            </a:r>
            <a:r>
              <a:rPr dirty="0" sz="1200">
                <a:latin typeface="Gulim"/>
                <a:cs typeface="Gulim"/>
              </a:rPr>
              <a:t>매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단계에서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가장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distance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값이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작은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</a:t>
            </a:r>
            <a:endParaRPr sz="1200">
              <a:latin typeface="Gulim"/>
              <a:cs typeface="Gulim"/>
            </a:endParaRPr>
          </a:p>
          <a:p>
            <a:pPr marL="332105">
              <a:lnSpc>
                <a:spcPts val="1440"/>
              </a:lnSpc>
            </a:pPr>
            <a:r>
              <a:rPr dirty="0" sz="1200" spc="-10">
                <a:latin typeface="Gulim"/>
                <a:cs typeface="Gulim"/>
              </a:rPr>
              <a:t>집합</a:t>
            </a:r>
            <a:r>
              <a:rPr dirty="0" sz="1200" spc="-10">
                <a:latin typeface="Arial"/>
                <a:cs typeface="Arial"/>
              </a:rPr>
              <a:t>S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found</a:t>
            </a:r>
            <a:r>
              <a:rPr dirty="0" sz="1200" spc="-10">
                <a:latin typeface="Gulim"/>
                <a:cs typeface="Gulim"/>
              </a:rPr>
              <a:t>배열로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구현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값은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구현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Gulim"/>
                <a:cs typeface="Gulim"/>
              </a:rPr>
              <a:t>교재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418P~421P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그림</a:t>
            </a:r>
            <a:r>
              <a:rPr dirty="0" sz="1200" spc="28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3</a:t>
            </a:r>
            <a:r>
              <a:rPr dirty="0" sz="1200" spc="-10">
                <a:latin typeface="Gulim"/>
                <a:cs typeface="Gulim"/>
              </a:rPr>
              <a:t>단계</a:t>
            </a:r>
            <a:r>
              <a:rPr dirty="0" sz="1200" spc="-10">
                <a:latin typeface="Arial"/>
                <a:cs typeface="Arial"/>
              </a:rPr>
              <a:t>~7</a:t>
            </a:r>
            <a:r>
              <a:rPr dirty="0" sz="1200" spc="-10">
                <a:latin typeface="Gulim"/>
                <a:cs typeface="Gulim"/>
              </a:rPr>
              <a:t>단계가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Arial"/>
                <a:cs typeface="Arial"/>
              </a:rPr>
              <a:t>found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distance</a:t>
            </a:r>
            <a:r>
              <a:rPr dirty="0" sz="1200" spc="-10">
                <a:latin typeface="Gulim"/>
                <a:cs typeface="Gulim"/>
              </a:rPr>
              <a:t>배열이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update</a:t>
            </a:r>
            <a:r>
              <a:rPr dirty="0" sz="1200" spc="-10">
                <a:latin typeface="Gulim"/>
                <a:cs typeface="Gulim"/>
              </a:rPr>
              <a:t>되면서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진행함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Arial"/>
                <a:cs typeface="Arial"/>
              </a:rPr>
              <a:t>distance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값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구하는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수식도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교재에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단계별로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있음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4163" y="5123980"/>
            <a:ext cx="4564213" cy="1803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4866" y="2577223"/>
            <a:ext cx="4585271" cy="156126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88731" y="683399"/>
            <a:ext cx="6469380" cy="7569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501265" algn="l"/>
              </a:tabLst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20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15">
                <a:latin typeface="Tw Cen MT"/>
                <a:cs typeface="Tw Cen MT"/>
              </a:rPr>
              <a:t> </a:t>
            </a:r>
            <a:r>
              <a:rPr dirty="0" sz="2400" spc="-10">
                <a:latin typeface="Tw Cen MT"/>
                <a:cs typeface="Tw Cen MT"/>
              </a:rPr>
              <a:t>dijkstra</a:t>
            </a:r>
            <a:r>
              <a:rPr dirty="0" sz="2400">
                <a:latin typeface="Tw Cen MT"/>
                <a:cs typeface="Tw Cen MT"/>
              </a:rPr>
              <a:t>	</a:t>
            </a:r>
            <a:r>
              <a:rPr dirty="0" sz="2400" spc="-520">
                <a:latin typeface="Tw Cen MT"/>
                <a:cs typeface="Tw Cen MT"/>
              </a:rPr>
              <a:t>7</a:t>
            </a:r>
            <a:r>
              <a:rPr dirty="0" sz="2400" spc="-520"/>
              <a:t>단계</a:t>
            </a:r>
            <a:r>
              <a:rPr dirty="0" sz="2400" spc="-130"/>
              <a:t> </a:t>
            </a:r>
            <a:r>
              <a:rPr dirty="0" sz="2400" spc="-1035"/>
              <a:t>그림과</a:t>
            </a:r>
            <a:r>
              <a:rPr dirty="0" sz="2400" spc="-130"/>
              <a:t> </a:t>
            </a:r>
            <a:r>
              <a:rPr dirty="0" sz="2400">
                <a:latin typeface="Tw Cen MT"/>
                <a:cs typeface="Tw Cen MT"/>
              </a:rPr>
              <a:t>VS</a:t>
            </a:r>
            <a:r>
              <a:rPr dirty="0" sz="2400" spc="-10">
                <a:latin typeface="Tw Cen MT"/>
                <a:cs typeface="Tw Cen MT"/>
              </a:rPr>
              <a:t> </a:t>
            </a:r>
            <a:r>
              <a:rPr dirty="0" sz="2400" spc="-944"/>
              <a:t>한줄씩수행과</a:t>
            </a:r>
            <a:r>
              <a:rPr dirty="0" sz="2400" spc="-110"/>
              <a:t> </a:t>
            </a:r>
            <a:r>
              <a:rPr dirty="0" sz="2400" spc="-1125"/>
              <a:t>변수창을</a:t>
            </a:r>
            <a:r>
              <a:rPr dirty="0" sz="2400" spc="-135"/>
              <a:t> </a:t>
            </a:r>
            <a:r>
              <a:rPr dirty="0" sz="2400" spc="-1245"/>
              <a:t>보니</a:t>
            </a:r>
            <a:r>
              <a:rPr dirty="0" sz="2400" spc="600"/>
              <a:t> </a:t>
            </a:r>
            <a:r>
              <a:rPr dirty="0" sz="2400" spc="-990"/>
              <a:t>복잡해</a:t>
            </a:r>
            <a:r>
              <a:rPr dirty="0" sz="2400" spc="-120"/>
              <a:t> </a:t>
            </a:r>
            <a:r>
              <a:rPr dirty="0" sz="2400" spc="-1285"/>
              <a:t>보이는</a:t>
            </a:r>
            <a:r>
              <a:rPr dirty="0" sz="2400" spc="-145"/>
              <a:t> </a:t>
            </a:r>
            <a:r>
              <a:rPr dirty="0" sz="2400">
                <a:latin typeface="Tw Cen MT"/>
                <a:cs typeface="Tw Cen MT"/>
              </a:rPr>
              <a:t>dijkstra.c</a:t>
            </a:r>
            <a:r>
              <a:rPr dirty="0" sz="2400" spc="-65">
                <a:latin typeface="Tw Cen MT"/>
                <a:cs typeface="Tw Cen MT"/>
              </a:rPr>
              <a:t> </a:t>
            </a:r>
            <a:r>
              <a:rPr dirty="0" sz="2400" spc="-1210"/>
              <a:t>코드가</a:t>
            </a:r>
            <a:r>
              <a:rPr dirty="0" sz="2400" spc="-130"/>
              <a:t> </a:t>
            </a:r>
            <a:r>
              <a:rPr dirty="0" sz="2400" spc="-1050"/>
              <a:t>이해되는</a:t>
            </a:r>
            <a:r>
              <a:rPr dirty="0" sz="2400" spc="-145"/>
              <a:t> </a:t>
            </a:r>
            <a:r>
              <a:rPr dirty="0" sz="2400" spc="-915"/>
              <a:t>것</a:t>
            </a:r>
            <a:r>
              <a:rPr dirty="0" sz="2400" spc="-125"/>
              <a:t> </a:t>
            </a:r>
            <a:r>
              <a:rPr dirty="0" sz="2400" spc="-815"/>
              <a:t>같습니다</a:t>
            </a:r>
            <a:r>
              <a:rPr dirty="0" sz="2400" spc="-815">
                <a:latin typeface="Tw Cen MT"/>
                <a:cs typeface="Tw Cen MT"/>
              </a:rPr>
              <a:t>.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1798" y="1785511"/>
            <a:ext cx="5958205" cy="299275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코드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+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0">
                <a:latin typeface="Gulim"/>
                <a:cs typeface="Gulim"/>
              </a:rPr>
              <a:t>알고리즘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Arial"/>
                <a:cs typeface="Arial"/>
              </a:rPr>
              <a:t>VS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알고리즘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수행하는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변수창이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332105" marR="508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7142"/>
              <a:buFont typeface="Wingdings"/>
              <a:buChar char=""/>
              <a:tabLst>
                <a:tab pos="332105" algn="l"/>
              </a:tabLst>
            </a:pPr>
            <a:r>
              <a:rPr dirty="0" sz="1400">
                <a:latin typeface="Arial"/>
                <a:cs typeface="Arial"/>
              </a:rPr>
              <a:t>Dijkstra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방식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시작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v</a:t>
            </a:r>
            <a:r>
              <a:rPr dirty="0" sz="1400">
                <a:latin typeface="Gulim"/>
                <a:cs typeface="Gulim"/>
              </a:rPr>
              <a:t>로부터의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최단경로가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이미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발견된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정점들의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집 </a:t>
            </a:r>
            <a:r>
              <a:rPr dirty="0" sz="1400">
                <a:latin typeface="Gulim"/>
                <a:cs typeface="Gulim"/>
              </a:rPr>
              <a:t>합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S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>
                <a:latin typeface="Gulim"/>
                <a:cs typeface="Gulim"/>
              </a:rPr>
              <a:t>최단거리정점들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매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단계에서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가장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distance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값이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작 </a:t>
            </a:r>
            <a:r>
              <a:rPr dirty="0" sz="1400">
                <a:latin typeface="Gulim"/>
                <a:cs typeface="Gulim"/>
              </a:rPr>
              <a:t>은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S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332105">
              <a:lnSpc>
                <a:spcPts val="1675"/>
              </a:lnSpc>
            </a:pP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>
                <a:latin typeface="Arial"/>
                <a:cs typeface="Arial"/>
              </a:rPr>
              <a:t>S</a:t>
            </a:r>
            <a:r>
              <a:rPr dirty="0" sz="1400">
                <a:latin typeface="Gulim"/>
                <a:cs typeface="Gulim"/>
              </a:rPr>
              <a:t>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found</a:t>
            </a:r>
            <a:r>
              <a:rPr dirty="0" sz="1400" spc="-10">
                <a:latin typeface="Gulim"/>
                <a:cs typeface="Gulim"/>
              </a:rPr>
              <a:t>배열로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구현</a:t>
            </a:r>
            <a:r>
              <a:rPr dirty="0" sz="1400" spc="-3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distance</a:t>
            </a:r>
            <a:r>
              <a:rPr dirty="0" sz="1400" spc="-10">
                <a:latin typeface="Gulim"/>
                <a:cs typeface="Gulim"/>
              </a:rPr>
              <a:t>값은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distance</a:t>
            </a:r>
            <a:r>
              <a:rPr dirty="0" sz="1400" spc="-10">
                <a:latin typeface="Gulim"/>
                <a:cs typeface="Gulim"/>
              </a:rPr>
              <a:t>배열로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구현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Gulim"/>
                <a:cs typeface="Gulim"/>
              </a:rPr>
              <a:t>오른쪽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그림의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집합</a:t>
            </a:r>
            <a:r>
              <a:rPr dirty="0" sz="1400">
                <a:latin typeface="Arial"/>
                <a:cs typeface="Arial"/>
              </a:rPr>
              <a:t>S</a:t>
            </a:r>
            <a:r>
              <a:rPr dirty="0" sz="1400">
                <a:latin typeface="Gulim"/>
                <a:cs typeface="Gulim"/>
              </a:rPr>
              <a:t>은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{V0,V4}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distance</a:t>
            </a:r>
            <a:r>
              <a:rPr dirty="0" sz="1400" spc="-10">
                <a:latin typeface="Gulim"/>
                <a:cs typeface="Gulim"/>
              </a:rPr>
              <a:t>값은</a:t>
            </a:r>
            <a:r>
              <a:rPr dirty="0" sz="1400" spc="-12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아래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수식으로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계산</a:t>
            </a:r>
            <a:endParaRPr sz="1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7142"/>
              <a:buFont typeface="Wingdings"/>
              <a:buChar char=""/>
              <a:tabLst>
                <a:tab pos="332105" algn="l"/>
              </a:tabLst>
            </a:pP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그래프에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대해서도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만들어보고</a:t>
            </a:r>
            <a:endParaRPr sz="1400">
              <a:latin typeface="Gulim"/>
              <a:cs typeface="Gulim"/>
            </a:endParaRPr>
          </a:p>
          <a:p>
            <a:pPr marL="33210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>
                <a:latin typeface="Gulim"/>
                <a:cs typeface="Gulim"/>
              </a:rPr>
              <a:t>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수행및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변수창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확인해보세요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846" y="5261063"/>
            <a:ext cx="975817" cy="15627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93532" y="5290117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23592" y="5976095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0184" y="5838897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6882" y="5907502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6308" y="5548012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0901" y="6181769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4251" y="6062489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7489" y="6384780"/>
            <a:ext cx="547370" cy="4216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  <a:p>
            <a:pPr marL="18796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Gulim"/>
                <a:cs typeface="Gulim"/>
              </a:rPr>
              <a:t>22</a:t>
            </a:r>
            <a:r>
              <a:rPr dirty="0" sz="1000" spc="345">
                <a:latin typeface="Gulim"/>
                <a:cs typeface="Gulim"/>
              </a:rPr>
              <a:t> </a:t>
            </a:r>
            <a:r>
              <a:rPr dirty="0" baseline="10582" sz="1575" spc="-75">
                <a:latin typeface="Tw Cen MT"/>
                <a:cs typeface="Tw Cen MT"/>
              </a:rPr>
              <a:t>3</a:t>
            </a:r>
            <a:endParaRPr baseline="10582" sz="1575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0958" y="6165395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37650" y="6281540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6388" y="5616605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0941" y="5221394"/>
            <a:ext cx="318770" cy="504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01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  <a:p>
            <a:pPr algn="r" marR="5080">
              <a:lnSpc>
                <a:spcPts val="1070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  <a:p>
            <a:pPr marL="35560">
              <a:lnSpc>
                <a:spcPct val="100000"/>
              </a:lnSpc>
              <a:spcBef>
                <a:spcPts val="490"/>
              </a:spcBef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0302" y="1868932"/>
            <a:ext cx="2348966" cy="197100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6563" y="5448414"/>
            <a:ext cx="4719231" cy="170291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65705" y="3926751"/>
            <a:ext cx="1188948" cy="128557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90460" y="3926751"/>
            <a:ext cx="971245" cy="1285570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2919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dirty="0" sz="3600" spc="-190">
                <a:latin typeface="Tw Cen MT"/>
                <a:cs typeface="Tw Cen MT"/>
              </a:rPr>
              <a:t>Dijkstra</a:t>
            </a:r>
            <a:r>
              <a:rPr dirty="0" sz="3600" spc="-190"/>
              <a:t>의</a:t>
            </a:r>
            <a:r>
              <a:rPr dirty="0" sz="3600" spc="-195"/>
              <a:t> </a:t>
            </a:r>
            <a:r>
              <a:rPr dirty="0" sz="3600" spc="-1545"/>
              <a:t>최단경로</a:t>
            </a:r>
            <a:r>
              <a:rPr dirty="0" sz="3600" spc="-165"/>
              <a:t> </a:t>
            </a:r>
            <a:r>
              <a:rPr dirty="0" sz="3600" spc="-1725"/>
              <a:t>알고리즘</a:t>
            </a:r>
            <a:r>
              <a:rPr dirty="0" sz="3600" spc="-180"/>
              <a:t> </a:t>
            </a:r>
            <a:r>
              <a:rPr dirty="0" sz="3600" spc="-1820"/>
              <a:t>복잡도</a:t>
            </a:r>
            <a:endParaRPr sz="3600">
              <a:latin typeface="Tw Cen MT"/>
              <a:cs typeface="Tw Cen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7043" y="1978101"/>
            <a:ext cx="7955915" cy="148653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357505" marR="30480" indent="-320040">
              <a:lnSpc>
                <a:spcPct val="98400"/>
              </a:lnSpc>
              <a:spcBef>
                <a:spcPts val="14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2400" spc="-20">
                <a:latin typeface="Gulim"/>
                <a:cs typeface="Gulim"/>
              </a:rPr>
              <a:t>네트워크에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n</a:t>
            </a:r>
            <a:r>
              <a:rPr dirty="0" sz="2400">
                <a:latin typeface="Gulim"/>
                <a:cs typeface="Gulim"/>
              </a:rPr>
              <a:t>개의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정점이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있다면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Dijkstra</a:t>
            </a:r>
            <a:r>
              <a:rPr dirty="0" sz="2400" spc="-10">
                <a:latin typeface="Gulim"/>
                <a:cs typeface="Gulim"/>
              </a:rPr>
              <a:t>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최단경로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알 </a:t>
            </a:r>
            <a:r>
              <a:rPr dirty="0" sz="2400" spc="-20">
                <a:latin typeface="Gulim"/>
                <a:cs typeface="Gulim"/>
              </a:rPr>
              <a:t>고리즘은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주반복문을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58</a:t>
            </a:r>
            <a:r>
              <a:rPr dirty="0" sz="2400" spc="-20">
                <a:latin typeface="Gulim"/>
                <a:cs typeface="Gulim"/>
              </a:rPr>
              <a:t>번줄에서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n</a:t>
            </a:r>
            <a:r>
              <a:rPr dirty="0" sz="2400">
                <a:latin typeface="Gulim"/>
                <a:cs typeface="Gulim"/>
              </a:rPr>
              <a:t>번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반복하고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내부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반 </a:t>
            </a:r>
            <a:r>
              <a:rPr dirty="0" sz="2400" spc="-10">
                <a:latin typeface="Gulim"/>
                <a:cs typeface="Gulim"/>
              </a:rPr>
              <a:t>복문을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62</a:t>
            </a:r>
            <a:r>
              <a:rPr dirty="0" sz="2400" spc="-20">
                <a:latin typeface="Gulim"/>
                <a:cs typeface="Gulim"/>
              </a:rPr>
              <a:t>번줄에서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n</a:t>
            </a:r>
            <a:r>
              <a:rPr dirty="0" sz="2400">
                <a:latin typeface="Gulim"/>
                <a:cs typeface="Gulim"/>
              </a:rPr>
              <a:t>번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반복하므로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500" spc="-105" i="1">
                <a:latin typeface="Gulim"/>
                <a:cs typeface="Gulim"/>
              </a:rPr>
              <a:t>O(n</a:t>
            </a:r>
            <a:r>
              <a:rPr dirty="0" baseline="23569" sz="2475" spc="-157" i="1">
                <a:latin typeface="Gulim"/>
                <a:cs typeface="Gulim"/>
              </a:rPr>
              <a:t>2</a:t>
            </a:r>
            <a:r>
              <a:rPr dirty="0" sz="2500" spc="-105" i="1">
                <a:latin typeface="Gulim"/>
                <a:cs typeface="Gulim"/>
              </a:rPr>
              <a:t>)</a:t>
            </a:r>
            <a:r>
              <a:rPr dirty="0" sz="2400" spc="-105">
                <a:latin typeface="Gulim"/>
                <a:cs typeface="Gulim"/>
              </a:rPr>
              <a:t>의</a:t>
            </a:r>
            <a:r>
              <a:rPr dirty="0" sz="2400" spc="-13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복잡도를가 </a:t>
            </a:r>
            <a:r>
              <a:rPr dirty="0" sz="2400" spc="-25">
                <a:latin typeface="Gulim"/>
                <a:cs typeface="Gulim"/>
              </a:rPr>
              <a:t>진다</a:t>
            </a:r>
            <a:r>
              <a:rPr dirty="0" sz="2400" spc="-25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7431" y="1128674"/>
            <a:ext cx="3012694" cy="29504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564" rIns="0" bIns="0" rtlCol="0" vert="horz">
            <a:spAutoFit/>
          </a:bodyPr>
          <a:lstStyle/>
          <a:p>
            <a:pPr marL="138430">
              <a:lnSpc>
                <a:spcPts val="2880"/>
              </a:lnSpc>
              <a:spcBef>
                <a:spcPts val="95"/>
              </a:spcBef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25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15">
                <a:latin typeface="Tw Cen MT"/>
                <a:cs typeface="Tw Cen MT"/>
              </a:rPr>
              <a:t> </a:t>
            </a:r>
            <a:r>
              <a:rPr dirty="0" sz="2400" spc="-140">
                <a:latin typeface="Tw Cen MT"/>
                <a:cs typeface="Tw Cen MT"/>
              </a:rPr>
              <a:t>dijkstra.c</a:t>
            </a:r>
            <a:r>
              <a:rPr dirty="0" sz="2400" spc="-140"/>
              <a:t>를</a:t>
            </a:r>
            <a:r>
              <a:rPr dirty="0" sz="2400" spc="-155"/>
              <a:t> </a:t>
            </a:r>
            <a:r>
              <a:rPr dirty="0" sz="2400" spc="-975"/>
              <a:t>수행하면</a:t>
            </a:r>
            <a:r>
              <a:rPr dirty="0" sz="2400" spc="-95"/>
              <a:t> </a:t>
            </a:r>
            <a:r>
              <a:rPr dirty="0" sz="2400" spc="-95">
                <a:latin typeface="Tw Cen MT"/>
                <a:cs typeface="Tw Cen MT"/>
              </a:rPr>
              <a:t>distance</a:t>
            </a:r>
            <a:r>
              <a:rPr dirty="0" sz="2400" spc="-95"/>
              <a:t>와</a:t>
            </a:r>
            <a:r>
              <a:rPr dirty="0" sz="2400" spc="-120"/>
              <a:t> </a:t>
            </a:r>
            <a:r>
              <a:rPr dirty="0" sz="2400" spc="-145">
                <a:latin typeface="Tw Cen MT"/>
                <a:cs typeface="Tw Cen MT"/>
              </a:rPr>
              <a:t>found</a:t>
            </a:r>
            <a:r>
              <a:rPr dirty="0" sz="2400" spc="-145"/>
              <a:t>만</a:t>
            </a:r>
            <a:r>
              <a:rPr dirty="0" sz="2400" spc="-135"/>
              <a:t> </a:t>
            </a:r>
            <a:r>
              <a:rPr dirty="0" sz="2400" spc="-844"/>
              <a:t>나와서</a:t>
            </a:r>
            <a:r>
              <a:rPr dirty="0" sz="2400" spc="-114"/>
              <a:t> </a:t>
            </a:r>
            <a:r>
              <a:rPr dirty="0" sz="2400" spc="-900"/>
              <a:t>시작점</a:t>
            </a:r>
            <a:r>
              <a:rPr dirty="0" sz="2400" spc="-125"/>
              <a:t> </a:t>
            </a:r>
            <a:r>
              <a:rPr dirty="0" sz="2400" spc="-600">
                <a:latin typeface="Tw Cen MT"/>
                <a:cs typeface="Tw Cen MT"/>
              </a:rPr>
              <a:t>0</a:t>
            </a:r>
            <a:r>
              <a:rPr dirty="0" sz="2400" spc="-600"/>
              <a:t>에서</a:t>
            </a:r>
            <a:r>
              <a:rPr dirty="0" sz="2400" spc="-114"/>
              <a:t> </a:t>
            </a:r>
            <a:r>
              <a:rPr dirty="0" sz="2400" spc="-50">
                <a:latin typeface="Tw Cen MT"/>
                <a:cs typeface="Tw Cen MT"/>
              </a:rPr>
              <a:t>3</a:t>
            </a:r>
            <a:endParaRPr sz="2400">
              <a:latin typeface="Tw Cen MT"/>
              <a:cs typeface="Tw Cen MT"/>
            </a:endParaRPr>
          </a:p>
          <a:p>
            <a:pPr marL="138430">
              <a:lnSpc>
                <a:spcPct val="100000"/>
              </a:lnSpc>
            </a:pPr>
            <a:r>
              <a:rPr dirty="0" sz="2400" spc="-795"/>
              <a:t>까지의</a:t>
            </a:r>
            <a:r>
              <a:rPr dirty="0" sz="2400" spc="-145"/>
              <a:t> </a:t>
            </a:r>
            <a:r>
              <a:rPr dirty="0" sz="2400" spc="-890"/>
              <a:t>최단</a:t>
            </a:r>
            <a:r>
              <a:rPr dirty="0" sz="2400" spc="-120"/>
              <a:t> </a:t>
            </a:r>
            <a:r>
              <a:rPr dirty="0" sz="2400" spc="-1035"/>
              <a:t>경로가</a:t>
            </a:r>
            <a:r>
              <a:rPr dirty="0" sz="2400" spc="-120"/>
              <a:t> </a:t>
            </a:r>
            <a:r>
              <a:rPr dirty="0" sz="2400" spc="-1425"/>
              <a:t>보고</a:t>
            </a:r>
            <a:r>
              <a:rPr dirty="0" sz="2400" spc="-125"/>
              <a:t> </a:t>
            </a:r>
            <a:r>
              <a:rPr dirty="0" sz="2400" spc="-1135"/>
              <a:t>싶어요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011798" y="1966589"/>
            <a:ext cx="5591175" cy="754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7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완료후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시작점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0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3</a:t>
            </a:r>
            <a:r>
              <a:rPr dirty="0" sz="1400">
                <a:latin typeface="Gulim"/>
                <a:cs typeface="Gulim"/>
              </a:rPr>
              <a:t>까지의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최단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경로</a:t>
            </a:r>
            <a:r>
              <a:rPr dirty="0" sz="1400" spc="-10">
                <a:latin typeface="Arial"/>
                <a:cs typeface="Arial"/>
              </a:rPr>
              <a:t>(path)</a:t>
            </a:r>
            <a:r>
              <a:rPr dirty="0" sz="1400" spc="-10">
                <a:latin typeface="Gulim"/>
                <a:cs typeface="Gulim"/>
              </a:rPr>
              <a:t>의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거리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latin typeface="Arial"/>
                <a:cs typeface="Arial"/>
              </a:rPr>
              <a:t>(distance)</a:t>
            </a:r>
            <a:r>
              <a:rPr dirty="0" sz="1400" spc="-10">
                <a:latin typeface="Gulim"/>
                <a:cs typeface="Gulim"/>
              </a:rPr>
              <a:t>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0">
                <a:latin typeface="Arial"/>
                <a:cs typeface="Arial"/>
              </a:rPr>
              <a:t>11</a:t>
            </a:r>
            <a:r>
              <a:rPr dirty="0" sz="1400" spc="-20">
                <a:latin typeface="Gulim"/>
                <a:cs typeface="Gulim"/>
              </a:rPr>
              <a:t>로서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 spc="-10">
                <a:latin typeface="Gulim"/>
                <a:cs typeface="Gulim"/>
              </a:rPr>
              <a:t>경로</a:t>
            </a:r>
            <a:r>
              <a:rPr dirty="0" sz="1400" spc="-10">
                <a:latin typeface="Arial"/>
                <a:cs typeface="Arial"/>
              </a:rPr>
              <a:t>(path)</a:t>
            </a:r>
            <a:r>
              <a:rPr dirty="0" sz="1400" spc="-10">
                <a:latin typeface="Gulim"/>
                <a:cs typeface="Gulim"/>
              </a:rPr>
              <a:t>는</a:t>
            </a:r>
            <a:r>
              <a:rPr dirty="0" sz="1400" spc="-12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과제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13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구현합니다</a:t>
            </a:r>
            <a:r>
              <a:rPr dirty="0" sz="1400">
                <a:latin typeface="Arial"/>
                <a:cs typeface="Arial"/>
              </a:rPr>
              <a:t>.</a:t>
            </a:r>
            <a:r>
              <a:rPr dirty="0" sz="1400" spc="-10">
                <a:latin typeface="Arial"/>
                <a:cs typeface="Arial"/>
              </a:rPr>
              <a:t> &lt;0-</a:t>
            </a:r>
            <a:r>
              <a:rPr dirty="0" sz="1400">
                <a:latin typeface="Arial"/>
                <a:cs typeface="Arial"/>
              </a:rPr>
              <a:t>&gt;4&gt;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&lt;4-</a:t>
            </a:r>
            <a:r>
              <a:rPr dirty="0" sz="1400">
                <a:latin typeface="Arial"/>
                <a:cs typeface="Arial"/>
              </a:rPr>
              <a:t>&gt;1&gt;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&lt;1-</a:t>
            </a:r>
            <a:r>
              <a:rPr dirty="0" sz="1400">
                <a:latin typeface="Arial"/>
                <a:cs typeface="Arial"/>
              </a:rPr>
              <a:t>&gt;2&gt;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&lt;2-</a:t>
            </a:r>
            <a:r>
              <a:rPr dirty="0" sz="1400" spc="-25">
                <a:latin typeface="Arial"/>
                <a:cs typeface="Arial"/>
              </a:rPr>
              <a:t>&gt;3&gt;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3285" y="3975506"/>
            <a:ext cx="2796527" cy="313165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3641"/>
            <a:ext cx="6553200" cy="21748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1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000" spc="-10">
                <a:latin typeface="Gulim"/>
                <a:cs typeface="Gulim"/>
              </a:rPr>
              <a:t>최소비용신장트리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10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000">
                <a:latin typeface="Arial"/>
                <a:cs typeface="Arial"/>
              </a:rPr>
              <a:t>Kruskal</a:t>
            </a:r>
            <a:r>
              <a:rPr dirty="0" sz="2000">
                <a:latin typeface="Gulim"/>
                <a:cs typeface="Gulim"/>
              </a:rPr>
              <a:t>의</a:t>
            </a:r>
            <a:r>
              <a:rPr dirty="0" sz="2000" spc="-17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MST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ts val="2160"/>
              </a:lnSpc>
              <a:spcBef>
                <a:spcPts val="21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000" spc="-10">
                <a:latin typeface="Arial"/>
                <a:cs typeface="Arial"/>
              </a:rPr>
              <a:t>Prim</a:t>
            </a:r>
            <a:r>
              <a:rPr dirty="0" sz="2000" spc="-10">
                <a:latin typeface="Gulim"/>
                <a:cs typeface="Gulim"/>
              </a:rPr>
              <a:t>의</a:t>
            </a:r>
            <a:r>
              <a:rPr dirty="0" sz="2000" spc="-14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MST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  <a:p>
            <a:pPr marL="469265" marR="5080">
              <a:lnSpc>
                <a:spcPct val="80000"/>
              </a:lnSpc>
              <a:spcBef>
                <a:spcPts val="240"/>
              </a:spcBef>
            </a:pPr>
            <a:r>
              <a:rPr dirty="0" sz="2000">
                <a:latin typeface="Gulim"/>
                <a:cs typeface="Gulim"/>
              </a:rPr>
              <a:t>나는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천인국교수님의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그래프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단계별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그림을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보고 </a:t>
            </a:r>
            <a:r>
              <a:rPr dirty="0" sz="2000">
                <a:latin typeface="Gulim"/>
                <a:cs typeface="Gulim"/>
              </a:rPr>
              <a:t>새로운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그래프에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대해서도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단계별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그림을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있다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Font typeface="Arial"/>
              <a:buAutoNum type="arabicPeriod" startAt="4"/>
              <a:tabLst>
                <a:tab pos="469265" algn="l"/>
              </a:tabLst>
            </a:pPr>
            <a:r>
              <a:rPr dirty="0" sz="2000" spc="-20">
                <a:latin typeface="Gulim"/>
                <a:cs typeface="Gulim"/>
              </a:rPr>
              <a:t>최단경로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10"/>
              </a:spcBef>
              <a:buClr>
                <a:srgbClr val="DD8046"/>
              </a:buClr>
              <a:buAutoNum type="arabicPeriod" startAt="4"/>
              <a:tabLst>
                <a:tab pos="469265" algn="l"/>
              </a:tabLst>
            </a:pPr>
            <a:r>
              <a:rPr dirty="0" sz="2000" spc="-10">
                <a:latin typeface="Arial"/>
                <a:cs typeface="Arial"/>
              </a:rPr>
              <a:t>Dijkstra</a:t>
            </a:r>
            <a:r>
              <a:rPr dirty="0" sz="2000" spc="-10">
                <a:latin typeface="Gulim"/>
                <a:cs typeface="Gulim"/>
              </a:rPr>
              <a:t>의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최단경로</a:t>
            </a:r>
            <a:r>
              <a:rPr dirty="0" sz="2000" spc="-11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1797" y="4406427"/>
            <a:ext cx="3528695" cy="68961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15"/>
              </a:spcBef>
              <a:buClr>
                <a:srgbClr val="DD8046"/>
              </a:buClr>
              <a:buAutoNum type="arabicPeriod" startAt="6"/>
              <a:tabLst>
                <a:tab pos="469265" algn="l"/>
              </a:tabLst>
            </a:pPr>
            <a:r>
              <a:rPr dirty="0" sz="2000">
                <a:latin typeface="Arial"/>
                <a:cs typeface="Arial"/>
              </a:rPr>
              <a:t>Floyd</a:t>
            </a:r>
            <a:r>
              <a:rPr dirty="0" sz="2000">
                <a:latin typeface="Gulim"/>
                <a:cs typeface="Gulim"/>
              </a:rPr>
              <a:t>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최단경로</a:t>
            </a:r>
            <a:r>
              <a:rPr dirty="0" sz="2000" spc="-16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10"/>
              </a:spcBef>
              <a:buClr>
                <a:srgbClr val="DD8046"/>
              </a:buClr>
              <a:buFont typeface="Arial"/>
              <a:buAutoNum type="arabicPeriod" startAt="6"/>
              <a:tabLst>
                <a:tab pos="469265" algn="l"/>
              </a:tabLst>
            </a:pPr>
            <a:r>
              <a:rPr dirty="0" sz="2000" spc="-20">
                <a:latin typeface="Gulim"/>
                <a:cs typeface="Gulim"/>
              </a:rPr>
              <a:t>위상정렬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2806" y="1899399"/>
            <a:ext cx="2054030" cy="19237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8870" y="4231398"/>
            <a:ext cx="975817" cy="156126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43264" y="4259334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73324" y="4945325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79917" y="4808127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6614" y="4876720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56041" y="4517230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70633" y="5150985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3983" y="5031719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07222" y="5354000"/>
            <a:ext cx="547370" cy="4216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  <a:p>
            <a:pPr marL="18796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Gulim"/>
                <a:cs typeface="Gulim"/>
              </a:rPr>
              <a:t>22</a:t>
            </a:r>
            <a:r>
              <a:rPr dirty="0" sz="1000" spc="345">
                <a:latin typeface="Gulim"/>
                <a:cs typeface="Gulim"/>
              </a:rPr>
              <a:t> </a:t>
            </a:r>
            <a:r>
              <a:rPr dirty="0" baseline="10582" sz="1575" spc="-75">
                <a:latin typeface="Tw Cen MT"/>
                <a:cs typeface="Tw Cen MT"/>
              </a:rPr>
              <a:t>3</a:t>
            </a:r>
            <a:endParaRPr baseline="10582" sz="1575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30691" y="5134615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87383" y="5250769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6120" y="4585822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90673" y="4190611"/>
            <a:ext cx="318770" cy="504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01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  <a:p>
            <a:pPr algn="r" marR="5080">
              <a:lnSpc>
                <a:spcPts val="1070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  <a:p>
            <a:pPr marL="35560">
              <a:lnSpc>
                <a:spcPct val="100000"/>
              </a:lnSpc>
              <a:spcBef>
                <a:spcPts val="490"/>
              </a:spcBef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5770" y="2866631"/>
            <a:ext cx="7937500" cy="1409065"/>
            <a:chOff x="1415770" y="2866631"/>
            <a:chExt cx="7937500" cy="1409065"/>
          </a:xfrm>
        </p:grpSpPr>
        <p:sp>
          <p:nvSpPr>
            <p:cNvPr id="3" name="object 3"/>
            <p:cNvSpPr/>
            <p:nvPr/>
          </p:nvSpPr>
          <p:spPr>
            <a:xfrm>
              <a:off x="1429473" y="2878810"/>
              <a:ext cx="7912100" cy="1384935"/>
            </a:xfrm>
            <a:custGeom>
              <a:avLst/>
              <a:gdLst/>
              <a:ahLst/>
              <a:cxnLst/>
              <a:rect l="l" t="t" r="r" b="b"/>
              <a:pathLst>
                <a:path w="7912100" h="1384935">
                  <a:moveTo>
                    <a:pt x="7911566" y="0"/>
                  </a:moveTo>
                  <a:lnTo>
                    <a:pt x="0" y="0"/>
                  </a:lnTo>
                  <a:lnTo>
                    <a:pt x="0" y="1384566"/>
                  </a:lnTo>
                  <a:lnTo>
                    <a:pt x="7911566" y="138456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15770" y="2866631"/>
              <a:ext cx="7937500" cy="1409065"/>
            </a:xfrm>
            <a:custGeom>
              <a:avLst/>
              <a:gdLst/>
              <a:ahLst/>
              <a:cxnLst/>
              <a:rect l="l" t="t" r="r" b="b"/>
              <a:pathLst>
                <a:path w="7937500" h="1409064">
                  <a:moveTo>
                    <a:pt x="7937449" y="0"/>
                  </a:moveTo>
                  <a:lnTo>
                    <a:pt x="0" y="0"/>
                  </a:lnTo>
                  <a:lnTo>
                    <a:pt x="0" y="1408938"/>
                  </a:lnTo>
                  <a:lnTo>
                    <a:pt x="7937449" y="1408938"/>
                  </a:lnTo>
                  <a:lnTo>
                    <a:pt x="7937449" y="1396746"/>
                  </a:lnTo>
                  <a:lnTo>
                    <a:pt x="25882" y="1396746"/>
                  </a:lnTo>
                  <a:lnTo>
                    <a:pt x="13703" y="1383042"/>
                  </a:lnTo>
                  <a:lnTo>
                    <a:pt x="25882" y="1383042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79"/>
                  </a:lnTo>
                  <a:lnTo>
                    <a:pt x="7937449" y="12179"/>
                  </a:lnTo>
                  <a:lnTo>
                    <a:pt x="7937449" y="0"/>
                  </a:lnTo>
                  <a:close/>
                </a:path>
                <a:path w="7937500" h="1409064">
                  <a:moveTo>
                    <a:pt x="25882" y="1383042"/>
                  </a:moveTo>
                  <a:lnTo>
                    <a:pt x="13703" y="1383042"/>
                  </a:lnTo>
                  <a:lnTo>
                    <a:pt x="25882" y="1396746"/>
                  </a:lnTo>
                  <a:lnTo>
                    <a:pt x="25882" y="1383042"/>
                  </a:lnTo>
                  <a:close/>
                </a:path>
                <a:path w="7937500" h="1409064">
                  <a:moveTo>
                    <a:pt x="7911579" y="1383042"/>
                  </a:moveTo>
                  <a:lnTo>
                    <a:pt x="25882" y="1383042"/>
                  </a:lnTo>
                  <a:lnTo>
                    <a:pt x="25882" y="1396746"/>
                  </a:lnTo>
                  <a:lnTo>
                    <a:pt x="7911579" y="1396746"/>
                  </a:lnTo>
                  <a:lnTo>
                    <a:pt x="7911579" y="1383042"/>
                  </a:lnTo>
                  <a:close/>
                </a:path>
                <a:path w="7937500" h="1409064">
                  <a:moveTo>
                    <a:pt x="7911579" y="12179"/>
                  </a:moveTo>
                  <a:lnTo>
                    <a:pt x="7911579" y="1396746"/>
                  </a:lnTo>
                  <a:lnTo>
                    <a:pt x="7925269" y="1383042"/>
                  </a:lnTo>
                  <a:lnTo>
                    <a:pt x="7937449" y="1383042"/>
                  </a:lnTo>
                  <a:lnTo>
                    <a:pt x="7937449" y="24371"/>
                  </a:lnTo>
                  <a:lnTo>
                    <a:pt x="7925269" y="24371"/>
                  </a:lnTo>
                  <a:lnTo>
                    <a:pt x="7911579" y="12179"/>
                  </a:lnTo>
                  <a:close/>
                </a:path>
                <a:path w="7937500" h="1409064">
                  <a:moveTo>
                    <a:pt x="7937449" y="1383042"/>
                  </a:moveTo>
                  <a:lnTo>
                    <a:pt x="7925269" y="1383042"/>
                  </a:lnTo>
                  <a:lnTo>
                    <a:pt x="7911579" y="1396746"/>
                  </a:lnTo>
                  <a:lnTo>
                    <a:pt x="7937449" y="1396746"/>
                  </a:lnTo>
                  <a:lnTo>
                    <a:pt x="7937449" y="1383042"/>
                  </a:lnTo>
                  <a:close/>
                </a:path>
                <a:path w="7937500" h="1409064">
                  <a:moveTo>
                    <a:pt x="25882" y="12179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79"/>
                  </a:lnTo>
                  <a:close/>
                </a:path>
                <a:path w="7937500" h="1409064">
                  <a:moveTo>
                    <a:pt x="7911579" y="12179"/>
                  </a:moveTo>
                  <a:lnTo>
                    <a:pt x="25882" y="12179"/>
                  </a:lnTo>
                  <a:lnTo>
                    <a:pt x="25882" y="24371"/>
                  </a:lnTo>
                  <a:lnTo>
                    <a:pt x="7911579" y="24371"/>
                  </a:lnTo>
                  <a:lnTo>
                    <a:pt x="7911579" y="12179"/>
                  </a:lnTo>
                  <a:close/>
                </a:path>
                <a:path w="7937500" h="1409064">
                  <a:moveTo>
                    <a:pt x="7937449" y="12179"/>
                  </a:moveTo>
                  <a:lnTo>
                    <a:pt x="7911579" y="12179"/>
                  </a:lnTo>
                  <a:lnTo>
                    <a:pt x="7925269" y="24371"/>
                  </a:lnTo>
                  <a:lnTo>
                    <a:pt x="7937449" y="24371"/>
                  </a:lnTo>
                  <a:lnTo>
                    <a:pt x="793744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62443" y="1890367"/>
            <a:ext cx="6416675" cy="232029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모든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정점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사이의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최단경로를</a:t>
            </a:r>
            <a:r>
              <a:rPr dirty="0" sz="2000" spc="-14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찾음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(all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all)</a:t>
            </a:r>
            <a:endParaRPr sz="20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/>
              <a:buChar char=""/>
              <a:tabLst>
                <a:tab pos="332105" algn="l"/>
              </a:tabLst>
            </a:pPr>
            <a:r>
              <a:rPr dirty="0" sz="2000">
                <a:latin typeface="Arial"/>
                <a:cs typeface="Arial"/>
              </a:rPr>
              <a:t>2</a:t>
            </a:r>
            <a:r>
              <a:rPr dirty="0" sz="2000">
                <a:latin typeface="Gulim"/>
                <a:cs typeface="Gulim"/>
              </a:rPr>
              <a:t>차원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배열</a:t>
            </a:r>
            <a:r>
              <a:rPr dirty="0" sz="2000" spc="-23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>
                <a:latin typeface="Gulim"/>
                <a:cs typeface="Gulim"/>
              </a:rPr>
              <a:t>를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이용하여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3</a:t>
            </a:r>
            <a:r>
              <a:rPr dirty="0" sz="2000">
                <a:latin typeface="Gulim"/>
                <a:cs typeface="Gulim"/>
              </a:rPr>
              <a:t>중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반복을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하는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루프로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구성</a:t>
            </a:r>
            <a:endParaRPr sz="2000">
              <a:latin typeface="Gulim"/>
              <a:cs typeface="Gulim"/>
            </a:endParaRPr>
          </a:p>
          <a:p>
            <a:pPr marL="57150">
              <a:lnSpc>
                <a:spcPct val="100000"/>
              </a:lnSpc>
              <a:spcBef>
                <a:spcPts val="1805"/>
              </a:spcBef>
            </a:pPr>
            <a:r>
              <a:rPr dirty="0" sz="1400" spc="-10">
                <a:latin typeface="Trebuchet MS"/>
                <a:cs typeface="Trebuchet MS"/>
              </a:rPr>
              <a:t>floyd(G):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273050" marR="4741545" indent="-21653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k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Malgun Gothic"/>
                <a:cs typeface="Malgun Gothic"/>
              </a:rPr>
              <a:t>←</a:t>
            </a:r>
            <a:r>
              <a:rPr dirty="0" sz="1400" spc="-75">
                <a:latin typeface="Malgun Gothic"/>
                <a:cs typeface="Malgun Gothic"/>
              </a:rPr>
              <a:t> </a:t>
            </a:r>
            <a:r>
              <a:rPr dirty="0" sz="1400">
                <a:latin typeface="Trebuchet MS"/>
                <a:cs typeface="Trebuchet MS"/>
              </a:rPr>
              <a:t>0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 n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1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Malgun Gothic"/>
                <a:cs typeface="Malgun Gothic"/>
              </a:rPr>
              <a:t>←</a:t>
            </a:r>
            <a:r>
              <a:rPr dirty="0" sz="1400" spc="-80">
                <a:latin typeface="Malgun Gothic"/>
                <a:cs typeface="Malgun Gothic"/>
              </a:rPr>
              <a:t> </a:t>
            </a:r>
            <a:r>
              <a:rPr dirty="0" sz="1400">
                <a:latin typeface="Trebuchet MS"/>
                <a:cs typeface="Trebuchet MS"/>
              </a:rPr>
              <a:t>0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43434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j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Malgun Gothic"/>
                <a:cs typeface="Malgun Gothic"/>
              </a:rPr>
              <a:t>←</a:t>
            </a:r>
            <a:r>
              <a:rPr dirty="0" sz="1400" spc="-80">
                <a:latin typeface="Malgun Gothic"/>
                <a:cs typeface="Malgun Gothic"/>
              </a:rPr>
              <a:t> </a:t>
            </a:r>
            <a:r>
              <a:rPr dirty="0" sz="1400">
                <a:latin typeface="Trebuchet MS"/>
                <a:cs typeface="Trebuchet MS"/>
              </a:rPr>
              <a:t>0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 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1</a:t>
            </a:r>
            <a:endParaRPr sz="1400">
              <a:latin typeface="Trebuchet MS"/>
              <a:cs typeface="Trebuchet MS"/>
            </a:endParaRPr>
          </a:p>
          <a:p>
            <a:pPr marL="6400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A[i][j]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min(A[i][j],</a:t>
            </a:r>
            <a:r>
              <a:rPr dirty="0" sz="1400" spc="-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A[i][k]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A[k][j])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032" rIns="0" bIns="0" rtlCol="0" vert="horz">
            <a:spAutoFit/>
          </a:bodyPr>
          <a:lstStyle/>
          <a:p>
            <a:pPr marL="192405">
              <a:lnSpc>
                <a:spcPts val="3335"/>
              </a:lnSpc>
              <a:spcBef>
                <a:spcPts val="95"/>
              </a:spcBef>
            </a:pPr>
            <a:r>
              <a:rPr dirty="0" sz="2800" spc="-240">
                <a:latin typeface="Tw Cen MT"/>
                <a:cs typeface="Tw Cen MT"/>
              </a:rPr>
              <a:t>Floyd</a:t>
            </a:r>
            <a:r>
              <a:rPr dirty="0" sz="2800" spc="-240"/>
              <a:t>의</a:t>
            </a:r>
            <a:r>
              <a:rPr dirty="0" sz="2800" spc="-135"/>
              <a:t> </a:t>
            </a:r>
            <a:r>
              <a:rPr dirty="0" sz="2800" spc="-1200"/>
              <a:t>최단경로</a:t>
            </a:r>
            <a:r>
              <a:rPr dirty="0" sz="2800" spc="-125"/>
              <a:t> </a:t>
            </a:r>
            <a:r>
              <a:rPr dirty="0" sz="2800" spc="-1370"/>
              <a:t>알고리즘</a:t>
            </a:r>
            <a:endParaRPr sz="2800">
              <a:latin typeface="Tw Cen MT"/>
              <a:cs typeface="Tw Cen MT"/>
            </a:endParaRPr>
          </a:p>
          <a:p>
            <a:pPr marL="192405">
              <a:lnSpc>
                <a:spcPts val="3335"/>
              </a:lnSpc>
            </a:pPr>
            <a:r>
              <a:rPr dirty="0" sz="2800" spc="-25">
                <a:latin typeface="Tw Cen MT"/>
                <a:cs typeface="Tw Cen MT"/>
                <a:hlinkClick r:id="rId2"/>
              </a:rPr>
              <a:t>https://en.wikipedia.org/wiki/Floyd-</a:t>
            </a:r>
            <a:r>
              <a:rPr dirty="0" sz="2800" spc="-10">
                <a:latin typeface="Tw Cen MT"/>
                <a:cs typeface="Tw Cen MT"/>
                <a:hlinkClick r:id="rId2"/>
              </a:rPr>
              <a:t>Warshall_algorithm</a:t>
            </a:r>
            <a:endParaRPr sz="28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latin typeface="Tw Cen MT"/>
                <a:cs typeface="Tw Cen MT"/>
              </a:rPr>
              <a:t>Floyd</a:t>
            </a:r>
            <a:r>
              <a:rPr dirty="0" spc="-365"/>
              <a:t>의</a:t>
            </a:r>
            <a:r>
              <a:rPr dirty="0" spc="-270"/>
              <a:t> </a:t>
            </a:r>
            <a:r>
              <a:rPr dirty="0" spc="-1875"/>
              <a:t>최단경로</a:t>
            </a:r>
            <a:r>
              <a:rPr dirty="0" spc="-245"/>
              <a:t> </a:t>
            </a:r>
            <a:r>
              <a:rPr dirty="0" spc="-2125"/>
              <a:t>알고리즘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1174" y="1826844"/>
            <a:ext cx="8164830" cy="312039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>
                <a:latin typeface="Trebuchet MS"/>
                <a:cs typeface="Trebuchet MS"/>
              </a:rPr>
              <a:t>Ak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[i][j]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=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0</a:t>
            </a:r>
            <a:r>
              <a:rPr dirty="0" sz="1800">
                <a:latin typeface="Gulim"/>
                <a:cs typeface="Gulim"/>
              </a:rPr>
              <a:t>부터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k</a:t>
            </a:r>
            <a:r>
              <a:rPr dirty="0" sz="1800">
                <a:latin typeface="Gulim"/>
                <a:cs typeface="Gulim"/>
              </a:rPr>
              <a:t>까지의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정점만을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이용한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i</a:t>
            </a:r>
            <a:r>
              <a:rPr dirty="0" sz="1800">
                <a:latin typeface="Gulim"/>
                <a:cs typeface="Gulim"/>
              </a:rPr>
              <a:t>에서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j</a:t>
            </a:r>
            <a:r>
              <a:rPr dirty="0" sz="1800">
                <a:latin typeface="Gulim"/>
                <a:cs typeface="Gulim"/>
              </a:rPr>
              <a:t>까지의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최단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경로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길이</a:t>
            </a:r>
            <a:endParaRPr sz="1800">
              <a:latin typeface="Gulim"/>
              <a:cs typeface="Gulim"/>
            </a:endParaRPr>
          </a:p>
          <a:p>
            <a:pPr marL="3575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 spc="-25">
                <a:latin typeface="Trebuchet MS"/>
                <a:cs typeface="Trebuchet MS"/>
              </a:rPr>
              <a:t>A-</a:t>
            </a:r>
            <a:r>
              <a:rPr dirty="0" sz="1800">
                <a:latin typeface="Trebuchet MS"/>
                <a:cs typeface="Trebuchet MS"/>
              </a:rPr>
              <a:t>1</a:t>
            </a:r>
            <a:r>
              <a:rPr dirty="0" sz="1800">
                <a:latin typeface="Malgun Gothic"/>
                <a:cs typeface="Malgun Gothic"/>
              </a:rPr>
              <a:t>→</a:t>
            </a:r>
            <a:r>
              <a:rPr dirty="0" sz="1800">
                <a:latin typeface="Trebuchet MS"/>
                <a:cs typeface="Trebuchet MS"/>
              </a:rPr>
              <a:t>A0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→</a:t>
            </a:r>
            <a:r>
              <a:rPr dirty="0" sz="1800" spc="-200">
                <a:latin typeface="Malgun Gothic"/>
                <a:cs typeface="Malgun Gothic"/>
              </a:rPr>
              <a:t> </a:t>
            </a:r>
            <a:r>
              <a:rPr dirty="0" sz="1800">
                <a:latin typeface="Trebuchet MS"/>
                <a:cs typeface="Trebuchet MS"/>
              </a:rPr>
              <a:t>A1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Malgun Gothic"/>
                <a:cs typeface="Malgun Gothic"/>
              </a:rPr>
              <a:t>→</a:t>
            </a:r>
            <a:r>
              <a:rPr dirty="0" sz="1800" spc="-125">
                <a:latin typeface="Malgun Gothic"/>
                <a:cs typeface="Malgun Gothic"/>
              </a:rPr>
              <a:t> </a:t>
            </a:r>
            <a:r>
              <a:rPr dirty="0" sz="1800">
                <a:latin typeface="Trebuchet MS"/>
                <a:cs typeface="Trebuchet MS"/>
              </a:rPr>
              <a:t>…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→</a:t>
            </a:r>
            <a:r>
              <a:rPr dirty="0" sz="1800" spc="-200">
                <a:latin typeface="Malgun Gothic"/>
                <a:cs typeface="Malgun Gothic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An-</a:t>
            </a:r>
            <a:r>
              <a:rPr dirty="0" sz="1800">
                <a:latin typeface="Trebuchet MS"/>
                <a:cs typeface="Trebuchet MS"/>
              </a:rPr>
              <a:t>1</a:t>
            </a:r>
            <a:r>
              <a:rPr dirty="0" sz="1800">
                <a:latin typeface="Gulim"/>
                <a:cs typeface="Gulim"/>
              </a:rPr>
              <a:t>순으로</a:t>
            </a:r>
            <a:r>
              <a:rPr dirty="0" sz="1800" spc="-7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최단</a:t>
            </a:r>
            <a:r>
              <a:rPr dirty="0" sz="1800" spc="-8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경로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구해감</a:t>
            </a:r>
            <a:endParaRPr sz="1800">
              <a:latin typeface="Gulim"/>
              <a:cs typeface="Gulim"/>
            </a:endParaRPr>
          </a:p>
          <a:p>
            <a:pPr marL="3575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  <a:tab pos="3140075" algn="l"/>
              </a:tabLst>
            </a:pPr>
            <a:r>
              <a:rPr dirty="0" sz="1800" spc="-20">
                <a:latin typeface="Trebuchet MS"/>
                <a:cs typeface="Trebuchet MS"/>
              </a:rPr>
              <a:t>Ak-</a:t>
            </a:r>
            <a:r>
              <a:rPr dirty="0" sz="1800">
                <a:latin typeface="Trebuchet MS"/>
                <a:cs typeface="Trebuchet MS"/>
              </a:rPr>
              <a:t>1</a:t>
            </a:r>
            <a:r>
              <a:rPr dirty="0" sz="1800">
                <a:latin typeface="Gulim"/>
                <a:cs typeface="Gulim"/>
              </a:rPr>
              <a:t>까지</a:t>
            </a:r>
            <a:r>
              <a:rPr dirty="0" sz="1800" spc="-9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구해진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상태에서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>
                <a:latin typeface="Trebuchet MS"/>
                <a:cs typeface="Trebuchet MS"/>
              </a:rPr>
              <a:t>k</a:t>
            </a:r>
            <a:r>
              <a:rPr dirty="0" sz="1800">
                <a:latin typeface="Gulim"/>
                <a:cs typeface="Gulim"/>
              </a:rPr>
              <a:t>번째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정점이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추가로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고려되는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상황을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생각하자</a:t>
            </a:r>
            <a:endParaRPr sz="1800">
              <a:latin typeface="Gulim"/>
              <a:cs typeface="Gulim"/>
            </a:endParaRPr>
          </a:p>
          <a:p>
            <a:pPr marL="357505" marR="406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>
                <a:latin typeface="Trebuchet MS"/>
                <a:cs typeface="Trebuchet MS"/>
              </a:rPr>
              <a:t>0</a:t>
            </a:r>
            <a:r>
              <a:rPr dirty="0" sz="1800">
                <a:latin typeface="Gulim"/>
                <a:cs typeface="Gulim"/>
              </a:rPr>
              <a:t>부터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k</a:t>
            </a:r>
            <a:r>
              <a:rPr dirty="0" sz="1800">
                <a:latin typeface="Gulim"/>
                <a:cs typeface="Gulim"/>
              </a:rPr>
              <a:t>까지의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정점만을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사용하여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i</a:t>
            </a:r>
            <a:r>
              <a:rPr dirty="0" sz="1800">
                <a:latin typeface="Gulim"/>
                <a:cs typeface="Gulim"/>
              </a:rPr>
              <a:t>에서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정점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j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가는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최단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경로는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다음 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2</a:t>
            </a:r>
            <a:r>
              <a:rPr dirty="0" sz="1800" spc="-25">
                <a:latin typeface="Gulim"/>
                <a:cs typeface="Gulim"/>
              </a:rPr>
              <a:t>가지에서</a:t>
            </a:r>
            <a:r>
              <a:rPr dirty="0" sz="1800" spc="-170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baseline="25462" sz="1800">
                <a:latin typeface="Trebuchet MS"/>
                <a:cs typeface="Trebuchet MS"/>
              </a:rPr>
              <a:t>k</a:t>
            </a:r>
            <a:r>
              <a:rPr dirty="0" sz="1800">
                <a:latin typeface="Trebuchet MS"/>
                <a:cs typeface="Trebuchet MS"/>
              </a:rPr>
              <a:t>[i][j]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Gulim"/>
                <a:cs typeface="Gulim"/>
              </a:rPr>
              <a:t>최단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경로를</a:t>
            </a:r>
            <a:r>
              <a:rPr dirty="0" sz="1800" spc="-9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갱신한다</a:t>
            </a:r>
            <a:r>
              <a:rPr dirty="0" sz="1800" spc="-1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3575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>
                <a:latin typeface="Gulim"/>
                <a:cs typeface="Gulim"/>
              </a:rPr>
              <a:t>정점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k</a:t>
            </a:r>
            <a:r>
              <a:rPr dirty="0" sz="1800">
                <a:latin typeface="Gulim"/>
                <a:cs typeface="Gulim"/>
              </a:rPr>
              <a:t>를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거치지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않는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경우</a:t>
            </a:r>
            <a:r>
              <a:rPr dirty="0" sz="1800" spc="-25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403225">
              <a:lnSpc>
                <a:spcPct val="100000"/>
              </a:lnSpc>
              <a:spcBef>
                <a:spcPts val="595"/>
              </a:spcBef>
              <a:tabLst>
                <a:tab pos="676910" algn="l"/>
              </a:tabLst>
            </a:pPr>
            <a:r>
              <a:rPr dirty="0" sz="1100" spc="-57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10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600">
                <a:latin typeface="Trebuchet MS"/>
                <a:cs typeface="Trebuchet MS"/>
              </a:rPr>
              <a:t>A</a:t>
            </a:r>
            <a:r>
              <a:rPr dirty="0" baseline="26455" sz="1575">
                <a:latin typeface="Trebuchet MS"/>
                <a:cs typeface="Trebuchet MS"/>
              </a:rPr>
              <a:t>k</a:t>
            </a:r>
            <a:r>
              <a:rPr dirty="0" sz="1600">
                <a:latin typeface="Trebuchet MS"/>
                <a:cs typeface="Trebuchet MS"/>
              </a:rPr>
              <a:t>[i][j]</a:t>
            </a:r>
            <a:r>
              <a:rPr dirty="0" sz="1600" spc="-30">
                <a:latin typeface="Trebuchet MS"/>
                <a:cs typeface="Trebuchet MS"/>
              </a:rPr>
              <a:t> </a:t>
            </a:r>
            <a:r>
              <a:rPr dirty="0" sz="1600">
                <a:latin typeface="Gulim"/>
                <a:cs typeface="Gulim"/>
              </a:rPr>
              <a:t>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k</a:t>
            </a:r>
            <a:r>
              <a:rPr dirty="0" sz="1600">
                <a:latin typeface="Gulim"/>
                <a:cs typeface="Gulim"/>
              </a:rPr>
              <a:t>보다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큰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통과하지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않으므로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최단거리는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여전히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</a:t>
            </a:r>
            <a:r>
              <a:rPr dirty="0" baseline="26455" sz="1575" spc="-15">
                <a:latin typeface="Trebuchet MS"/>
                <a:cs typeface="Trebuchet MS"/>
              </a:rPr>
              <a:t>k-1</a:t>
            </a:r>
            <a:r>
              <a:rPr dirty="0" sz="1600" spc="-10">
                <a:latin typeface="Trebuchet MS"/>
                <a:cs typeface="Trebuchet MS"/>
              </a:rPr>
              <a:t>[i][j]</a:t>
            </a:r>
            <a:r>
              <a:rPr dirty="0" sz="1600" spc="-10">
                <a:latin typeface="Arial"/>
                <a:cs typeface="Arial"/>
              </a:rPr>
              <a:t>]</a:t>
            </a:r>
            <a:r>
              <a:rPr dirty="0" sz="1600" spc="-10">
                <a:latin typeface="Gulim"/>
                <a:cs typeface="Gulim"/>
              </a:rPr>
              <a:t>임</a:t>
            </a:r>
            <a:endParaRPr sz="1600">
              <a:latin typeface="Gulim"/>
              <a:cs typeface="Gulim"/>
            </a:endParaRPr>
          </a:p>
          <a:p>
            <a:pPr marL="3575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800">
                <a:latin typeface="Gulim"/>
                <a:cs typeface="Gulim"/>
              </a:rPr>
              <a:t>정점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>
                <a:latin typeface="Trebuchet MS"/>
                <a:cs typeface="Trebuchet MS"/>
              </a:rPr>
              <a:t>k</a:t>
            </a:r>
            <a:r>
              <a:rPr dirty="0" sz="1800">
                <a:latin typeface="Gulim"/>
                <a:cs typeface="Gulim"/>
              </a:rPr>
              <a:t>를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거치는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경우</a:t>
            </a:r>
            <a:r>
              <a:rPr dirty="0" sz="1800" spc="-25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403225">
              <a:lnSpc>
                <a:spcPct val="100000"/>
              </a:lnSpc>
              <a:spcBef>
                <a:spcPts val="605"/>
              </a:spcBef>
              <a:tabLst>
                <a:tab pos="676910" algn="l"/>
              </a:tabLst>
            </a:pPr>
            <a:r>
              <a:rPr dirty="0" sz="1100" spc="-57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10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dirty="0" sz="1600">
                <a:latin typeface="Trebuchet MS"/>
                <a:cs typeface="Trebuchet MS"/>
              </a:rPr>
              <a:t>i</a:t>
            </a:r>
            <a:r>
              <a:rPr dirty="0" sz="1600">
                <a:latin typeface="Gulim"/>
                <a:cs typeface="Gulim"/>
              </a:rPr>
              <a:t>에서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k</a:t>
            </a:r>
            <a:r>
              <a:rPr dirty="0" sz="1600">
                <a:latin typeface="Gulim"/>
                <a:cs typeface="Gulim"/>
              </a:rPr>
              <a:t>까지의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최단거리</a:t>
            </a:r>
            <a:r>
              <a:rPr dirty="0" sz="1600" spc="285">
                <a:latin typeface="Gulim"/>
                <a:cs typeface="Gulim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</a:t>
            </a:r>
            <a:r>
              <a:rPr dirty="0" baseline="26455" sz="1575" spc="-15">
                <a:latin typeface="Trebuchet MS"/>
                <a:cs typeface="Trebuchet MS"/>
              </a:rPr>
              <a:t>k-</a:t>
            </a:r>
            <a:r>
              <a:rPr dirty="0" baseline="26455" sz="1575">
                <a:latin typeface="Trebuchet MS"/>
                <a:cs typeface="Trebuchet MS"/>
              </a:rPr>
              <a:t>1</a:t>
            </a:r>
            <a:r>
              <a:rPr dirty="0" sz="1600">
                <a:latin typeface="Trebuchet MS"/>
                <a:cs typeface="Trebuchet MS"/>
              </a:rPr>
              <a:t>[i][k]</a:t>
            </a:r>
            <a:r>
              <a:rPr dirty="0" sz="1600">
                <a:latin typeface="Gulim"/>
                <a:cs typeface="Gulim"/>
              </a:rPr>
              <a:t>에</a:t>
            </a:r>
            <a:r>
              <a:rPr dirty="0" sz="1600" spc="-70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k</a:t>
            </a:r>
            <a:r>
              <a:rPr dirty="0" sz="1600">
                <a:latin typeface="Gulim"/>
                <a:cs typeface="Gulim"/>
              </a:rPr>
              <a:t>에서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Trebuchet MS"/>
                <a:cs typeface="Trebuchet MS"/>
              </a:rPr>
              <a:t>j</a:t>
            </a:r>
            <a:r>
              <a:rPr dirty="0" sz="1600">
                <a:latin typeface="Gulim"/>
                <a:cs typeface="Gulim"/>
              </a:rPr>
              <a:t>까지의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최단거리</a:t>
            </a:r>
            <a:r>
              <a:rPr dirty="0" sz="1600" spc="285">
                <a:latin typeface="Gulim"/>
                <a:cs typeface="Gulim"/>
              </a:rPr>
              <a:t> </a:t>
            </a:r>
            <a:r>
              <a:rPr dirty="0" sz="1600" spc="-10">
                <a:latin typeface="Trebuchet MS"/>
                <a:cs typeface="Trebuchet MS"/>
              </a:rPr>
              <a:t>A</a:t>
            </a:r>
            <a:r>
              <a:rPr dirty="0" baseline="26455" sz="1575" spc="-15">
                <a:latin typeface="Trebuchet MS"/>
                <a:cs typeface="Trebuchet MS"/>
              </a:rPr>
              <a:t>k-</a:t>
            </a:r>
            <a:r>
              <a:rPr dirty="0" baseline="26455" sz="1575">
                <a:latin typeface="Trebuchet MS"/>
                <a:cs typeface="Trebuchet MS"/>
              </a:rPr>
              <a:t>1</a:t>
            </a:r>
            <a:r>
              <a:rPr dirty="0" sz="1600">
                <a:latin typeface="Trebuchet MS"/>
                <a:cs typeface="Trebuchet MS"/>
              </a:rPr>
              <a:t>[k][j]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더한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값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406" y="5352465"/>
            <a:ext cx="2356573" cy="16191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1163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90"/>
              </a:spcBef>
            </a:pPr>
            <a:r>
              <a:rPr dirty="0" sz="4000" spc="-335">
                <a:latin typeface="Tw Cen MT"/>
                <a:cs typeface="Tw Cen MT"/>
              </a:rPr>
              <a:t>Floyd</a:t>
            </a:r>
            <a:r>
              <a:rPr dirty="0" sz="4000" spc="-335"/>
              <a:t>의</a:t>
            </a:r>
            <a:r>
              <a:rPr dirty="0" sz="4000" spc="-229"/>
              <a:t> </a:t>
            </a:r>
            <a:r>
              <a:rPr dirty="0" sz="4000" spc="-1714"/>
              <a:t>최단경로</a:t>
            </a:r>
            <a:r>
              <a:rPr dirty="0" sz="4000" spc="-215"/>
              <a:t> </a:t>
            </a:r>
            <a:r>
              <a:rPr dirty="0" sz="4000" spc="-1925"/>
              <a:t>알고리즘</a:t>
            </a:r>
            <a:r>
              <a:rPr dirty="0" sz="4000" spc="-220"/>
              <a:t> </a:t>
            </a:r>
            <a:r>
              <a:rPr dirty="0" sz="4000" spc="-1025">
                <a:latin typeface="Tw Cen MT"/>
                <a:cs typeface="Tw Cen MT"/>
              </a:rPr>
              <a:t>(</a:t>
            </a:r>
            <a:r>
              <a:rPr dirty="0" sz="4000" spc="-1025"/>
              <a:t>정점</a:t>
            </a:r>
            <a:r>
              <a:rPr dirty="0" sz="4000" spc="-210"/>
              <a:t> </a:t>
            </a:r>
            <a:r>
              <a:rPr dirty="0" sz="4000" spc="-994">
                <a:latin typeface="Tw Cen MT"/>
                <a:cs typeface="Tw Cen MT"/>
              </a:rPr>
              <a:t>0</a:t>
            </a:r>
            <a:r>
              <a:rPr dirty="0" sz="4000" spc="-994"/>
              <a:t>에서</a:t>
            </a:r>
            <a:r>
              <a:rPr dirty="0" sz="4000" spc="-215"/>
              <a:t> </a:t>
            </a:r>
            <a:r>
              <a:rPr dirty="0" sz="4000" spc="-905"/>
              <a:t>정점</a:t>
            </a:r>
            <a:r>
              <a:rPr dirty="0" sz="4000" spc="-905">
                <a:latin typeface="Tw Cen MT"/>
                <a:cs typeface="Tw Cen MT"/>
              </a:rPr>
              <a:t>6</a:t>
            </a:r>
            <a:r>
              <a:rPr dirty="0" sz="4000" spc="-905"/>
              <a:t>까지</a:t>
            </a:r>
            <a:r>
              <a:rPr dirty="0" sz="4000" spc="-905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593" y="2073230"/>
            <a:ext cx="7066476" cy="43025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07380" y="6018405"/>
            <a:ext cx="126364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4085" y="5937677"/>
            <a:ext cx="2161540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730"/>
              </a:lnSpc>
              <a:spcBef>
                <a:spcPts val="95"/>
              </a:spcBef>
            </a:pPr>
            <a:r>
              <a:rPr dirty="0" sz="1600" spc="-25">
                <a:latin typeface="Gulim"/>
                <a:cs typeface="Gulim"/>
              </a:rPr>
              <a:t>변경경로</a:t>
            </a:r>
            <a:r>
              <a:rPr dirty="0" sz="1600" spc="-14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A[4][5],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A[5][4]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Gulim"/>
                <a:cs typeface="Gulim"/>
              </a:rPr>
              <a:t>무한대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5">
                <a:latin typeface="Arial"/>
                <a:cs typeface="Arial"/>
              </a:rPr>
              <a:t>-</a:t>
            </a:r>
            <a:r>
              <a:rPr dirty="0" sz="1600">
                <a:latin typeface="Arial"/>
                <a:cs typeface="Arial"/>
              </a:rPr>
              <a:t>&gt; </a:t>
            </a:r>
            <a:r>
              <a:rPr dirty="0" sz="1600" spc="-25"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1826" y="3328161"/>
            <a:ext cx="2356573" cy="161913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1163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90"/>
              </a:spcBef>
            </a:pPr>
            <a:r>
              <a:rPr dirty="0" sz="4000" spc="-335">
                <a:latin typeface="Tw Cen MT"/>
                <a:cs typeface="Tw Cen MT"/>
              </a:rPr>
              <a:t>Floyd</a:t>
            </a:r>
            <a:r>
              <a:rPr dirty="0" sz="4000" spc="-335"/>
              <a:t>의</a:t>
            </a:r>
            <a:r>
              <a:rPr dirty="0" sz="4000" spc="-229"/>
              <a:t> </a:t>
            </a:r>
            <a:r>
              <a:rPr dirty="0" sz="4000" spc="-1714"/>
              <a:t>최단경로</a:t>
            </a:r>
            <a:r>
              <a:rPr dirty="0" sz="4000" spc="-215"/>
              <a:t> </a:t>
            </a:r>
            <a:r>
              <a:rPr dirty="0" sz="4000" spc="-1925"/>
              <a:t>알고리즘</a:t>
            </a:r>
            <a:r>
              <a:rPr dirty="0" sz="4000" spc="-220"/>
              <a:t> </a:t>
            </a:r>
            <a:r>
              <a:rPr dirty="0" sz="4000" spc="-1025">
                <a:latin typeface="Tw Cen MT"/>
                <a:cs typeface="Tw Cen MT"/>
              </a:rPr>
              <a:t>(</a:t>
            </a:r>
            <a:r>
              <a:rPr dirty="0" sz="4000" spc="-1025"/>
              <a:t>정점</a:t>
            </a:r>
            <a:r>
              <a:rPr dirty="0" sz="4000" spc="-210"/>
              <a:t> </a:t>
            </a:r>
            <a:r>
              <a:rPr dirty="0" sz="4000" spc="-994">
                <a:latin typeface="Tw Cen MT"/>
                <a:cs typeface="Tw Cen MT"/>
              </a:rPr>
              <a:t>0</a:t>
            </a:r>
            <a:r>
              <a:rPr dirty="0" sz="4000" spc="-994"/>
              <a:t>에서</a:t>
            </a:r>
            <a:r>
              <a:rPr dirty="0" sz="4000" spc="-215"/>
              <a:t> </a:t>
            </a:r>
            <a:r>
              <a:rPr dirty="0" sz="4000" spc="-905"/>
              <a:t>정점</a:t>
            </a:r>
            <a:r>
              <a:rPr dirty="0" sz="4000" spc="-905">
                <a:latin typeface="Tw Cen MT"/>
                <a:cs typeface="Tw Cen MT"/>
              </a:rPr>
              <a:t>6</a:t>
            </a:r>
            <a:r>
              <a:rPr dirty="0" sz="4000" spc="-905"/>
              <a:t>까지</a:t>
            </a:r>
            <a:r>
              <a:rPr dirty="0" sz="4000" spc="-905">
                <a:latin typeface="Tw Cen MT"/>
                <a:cs typeface="Tw Cen MT"/>
              </a:rPr>
              <a:t>)</a:t>
            </a:r>
            <a:endParaRPr sz="4000">
              <a:latin typeface="Tw Cen MT"/>
              <a:cs typeface="Tw Cen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36038" y="1316024"/>
            <a:ext cx="7459980" cy="3574415"/>
            <a:chOff x="1536038" y="1316024"/>
            <a:chExt cx="7459980" cy="35744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6038" y="2758462"/>
              <a:ext cx="7459443" cy="21317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4201" y="1316024"/>
              <a:ext cx="2082558" cy="192225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136766" y="4418794"/>
            <a:ext cx="11493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3458" y="4347204"/>
            <a:ext cx="1892935" cy="2512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Gulim"/>
                <a:cs typeface="Gulim"/>
              </a:rPr>
              <a:t>변경경로</a:t>
            </a:r>
            <a:r>
              <a:rPr dirty="0" sz="1400" spc="-14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A[0][2],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A[2][0]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Gulim"/>
                <a:cs typeface="Gulim"/>
              </a:rPr>
              <a:t>무한대</a:t>
            </a:r>
            <a:r>
              <a:rPr dirty="0" sz="1400">
                <a:latin typeface="Arial"/>
                <a:cs typeface="Arial"/>
              </a:rPr>
              <a:t>-</a:t>
            </a:r>
            <a:r>
              <a:rPr dirty="0" sz="1400" spc="-25">
                <a:latin typeface="Arial"/>
                <a:cs typeface="Arial"/>
              </a:rPr>
              <a:t>&gt;11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Gulim"/>
                <a:cs typeface="Gulim"/>
              </a:rPr>
              <a:t>변경경로</a:t>
            </a:r>
            <a:r>
              <a:rPr dirty="0" sz="1400" spc="-14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A[0][3],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A[3][0]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Gulim"/>
                <a:cs typeface="Gulim"/>
              </a:rPr>
              <a:t>무한대</a:t>
            </a:r>
            <a:r>
              <a:rPr dirty="0" sz="1400">
                <a:latin typeface="Arial"/>
                <a:cs typeface="Arial"/>
              </a:rPr>
              <a:t>-</a:t>
            </a:r>
            <a:r>
              <a:rPr dirty="0" sz="1400" spc="-25">
                <a:latin typeface="Arial"/>
                <a:cs typeface="Arial"/>
              </a:rPr>
              <a:t>&gt;17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Gulim"/>
                <a:cs typeface="Gulim"/>
              </a:rPr>
              <a:t>변경경로</a:t>
            </a:r>
            <a:r>
              <a:rPr dirty="0" sz="1400" spc="-14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A[2][4],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A[4][2]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Gulim"/>
                <a:cs typeface="Gulim"/>
              </a:rPr>
              <a:t>무한대</a:t>
            </a:r>
            <a:r>
              <a:rPr dirty="0" sz="1400">
                <a:latin typeface="Arial"/>
                <a:cs typeface="Arial"/>
              </a:rPr>
              <a:t>-</a:t>
            </a:r>
            <a:r>
              <a:rPr dirty="0" sz="1400" spc="-25">
                <a:latin typeface="Arial"/>
                <a:cs typeface="Arial"/>
              </a:rPr>
              <a:t>&gt;6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latin typeface="Gulim"/>
                <a:cs typeface="Gulim"/>
              </a:rPr>
              <a:t>변경경로</a:t>
            </a:r>
            <a:r>
              <a:rPr dirty="0" sz="1400" spc="-14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A[2][5],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A[5][2]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Gulim"/>
                <a:cs typeface="Gulim"/>
              </a:rPr>
              <a:t>무한대</a:t>
            </a:r>
            <a:r>
              <a:rPr dirty="0" sz="1400">
                <a:latin typeface="Arial"/>
                <a:cs typeface="Arial"/>
              </a:rPr>
              <a:t>-</a:t>
            </a:r>
            <a:r>
              <a:rPr dirty="0" sz="1400" spc="-25">
                <a:latin typeface="Arial"/>
                <a:cs typeface="Arial"/>
              </a:rPr>
              <a:t>&gt;10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670"/>
              </a:lnSpc>
              <a:spcBef>
                <a:spcPts val="760"/>
              </a:spcBef>
            </a:pPr>
            <a:r>
              <a:rPr dirty="0" sz="1400">
                <a:latin typeface="Gulim"/>
                <a:cs typeface="Gulim"/>
              </a:rPr>
              <a:t>변경경로</a:t>
            </a:r>
            <a:r>
              <a:rPr dirty="0" sz="1400" spc="-14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A[4][5],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A[5][4] 13-</a:t>
            </a:r>
            <a:r>
              <a:rPr dirty="0" sz="1400" spc="-25">
                <a:latin typeface="Arial"/>
                <a:cs typeface="Arial"/>
              </a:rPr>
              <a:t>&gt;8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6766" y="4933626"/>
            <a:ext cx="11493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6766" y="5448472"/>
            <a:ext cx="11493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6766" y="5964828"/>
            <a:ext cx="11493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-25">
                <a:solidFill>
                  <a:srgbClr val="DD8046"/>
                </a:solidFill>
                <a:latin typeface="Arial"/>
                <a:cs typeface="Arial"/>
              </a:rPr>
              <a:t>4.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36766" y="6479661"/>
            <a:ext cx="114935" cy="1536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00" spc="-25">
                <a:solidFill>
                  <a:srgbClr val="DD8046"/>
                </a:solidFill>
                <a:latin typeface="Arial"/>
                <a:cs typeface="Arial"/>
              </a:rPr>
              <a:t>5.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6628" y="4947284"/>
            <a:ext cx="2655709" cy="175277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11797" y="1922686"/>
            <a:ext cx="5166360" cy="4635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480"/>
              </a:spcBef>
              <a:buClr>
                <a:srgbClr val="DD8046"/>
              </a:buClr>
              <a:buSzPct val="59375"/>
              <a:buFont typeface="Wingdings"/>
              <a:buChar char=""/>
              <a:tabLst>
                <a:tab pos="332105" algn="l"/>
              </a:tabLst>
            </a:pPr>
            <a:r>
              <a:rPr dirty="0" sz="1600">
                <a:latin typeface="Gulim"/>
                <a:cs typeface="Gulim"/>
              </a:rPr>
              <a:t>교재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426P~427P</a:t>
            </a:r>
            <a:r>
              <a:rPr dirty="0" sz="1600" spc="-10">
                <a:latin typeface="Gulim"/>
                <a:cs typeface="Gulim"/>
              </a:rPr>
              <a:t>에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정점</a:t>
            </a:r>
            <a:r>
              <a:rPr dirty="0" sz="1600" spc="-10">
                <a:latin typeface="Arial"/>
                <a:cs typeface="Arial"/>
              </a:rPr>
              <a:t>0</a:t>
            </a:r>
            <a:r>
              <a:rPr dirty="0" sz="1600" spc="-10">
                <a:latin typeface="Gulim"/>
                <a:cs typeface="Gulim"/>
              </a:rPr>
              <a:t>에서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정점</a:t>
            </a:r>
            <a:r>
              <a:rPr dirty="0" sz="1600" spc="-10">
                <a:latin typeface="Arial"/>
                <a:cs typeface="Arial"/>
              </a:rPr>
              <a:t>6</a:t>
            </a:r>
            <a:r>
              <a:rPr dirty="0" sz="1600" spc="-10">
                <a:latin typeface="Gulim"/>
                <a:cs typeface="Gulim"/>
              </a:rPr>
              <a:t>까지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과정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그림과 </a:t>
            </a:r>
            <a:r>
              <a:rPr dirty="0" sz="1600">
                <a:latin typeface="Gulim"/>
                <a:cs typeface="Gulim"/>
              </a:rPr>
              <a:t>수식이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나옴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92262" y="2333510"/>
            <a:ext cx="1708061" cy="117436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5770" y="1961857"/>
            <a:ext cx="7937500" cy="3777615"/>
            <a:chOff x="1415770" y="1961857"/>
            <a:chExt cx="7937500" cy="3777615"/>
          </a:xfrm>
        </p:grpSpPr>
        <p:sp>
          <p:nvSpPr>
            <p:cNvPr id="3" name="object 3"/>
            <p:cNvSpPr/>
            <p:nvPr/>
          </p:nvSpPr>
          <p:spPr>
            <a:xfrm>
              <a:off x="1429473" y="1974037"/>
              <a:ext cx="7912100" cy="3753485"/>
            </a:xfrm>
            <a:custGeom>
              <a:avLst/>
              <a:gdLst/>
              <a:ahLst/>
              <a:cxnLst/>
              <a:rect l="l" t="t" r="r" b="b"/>
              <a:pathLst>
                <a:path w="7912100" h="3753485">
                  <a:moveTo>
                    <a:pt x="7911566" y="0"/>
                  </a:moveTo>
                  <a:lnTo>
                    <a:pt x="0" y="0"/>
                  </a:lnTo>
                  <a:lnTo>
                    <a:pt x="0" y="3753116"/>
                  </a:lnTo>
                  <a:lnTo>
                    <a:pt x="7911566" y="375311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15770" y="1961857"/>
              <a:ext cx="7937500" cy="3777615"/>
            </a:xfrm>
            <a:custGeom>
              <a:avLst/>
              <a:gdLst/>
              <a:ahLst/>
              <a:cxnLst/>
              <a:rect l="l" t="t" r="r" b="b"/>
              <a:pathLst>
                <a:path w="7937500" h="3777615">
                  <a:moveTo>
                    <a:pt x="7937449" y="0"/>
                  </a:moveTo>
                  <a:lnTo>
                    <a:pt x="0" y="0"/>
                  </a:lnTo>
                  <a:lnTo>
                    <a:pt x="0" y="3777488"/>
                  </a:lnTo>
                  <a:lnTo>
                    <a:pt x="7937449" y="3777488"/>
                  </a:lnTo>
                  <a:lnTo>
                    <a:pt x="7937449" y="3765296"/>
                  </a:lnTo>
                  <a:lnTo>
                    <a:pt x="25882" y="3765296"/>
                  </a:lnTo>
                  <a:lnTo>
                    <a:pt x="13703" y="3753116"/>
                  </a:lnTo>
                  <a:lnTo>
                    <a:pt x="25882" y="3753116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79"/>
                  </a:lnTo>
                  <a:lnTo>
                    <a:pt x="7937449" y="12179"/>
                  </a:lnTo>
                  <a:lnTo>
                    <a:pt x="7937449" y="0"/>
                  </a:lnTo>
                  <a:close/>
                </a:path>
                <a:path w="7937500" h="3777615">
                  <a:moveTo>
                    <a:pt x="25882" y="3753116"/>
                  </a:moveTo>
                  <a:lnTo>
                    <a:pt x="13703" y="3753116"/>
                  </a:lnTo>
                  <a:lnTo>
                    <a:pt x="25882" y="3765296"/>
                  </a:lnTo>
                  <a:lnTo>
                    <a:pt x="25882" y="3753116"/>
                  </a:lnTo>
                  <a:close/>
                </a:path>
                <a:path w="7937500" h="3777615">
                  <a:moveTo>
                    <a:pt x="7911579" y="3753116"/>
                  </a:moveTo>
                  <a:lnTo>
                    <a:pt x="25882" y="3753116"/>
                  </a:lnTo>
                  <a:lnTo>
                    <a:pt x="25882" y="3765296"/>
                  </a:lnTo>
                  <a:lnTo>
                    <a:pt x="7911579" y="3765296"/>
                  </a:lnTo>
                  <a:lnTo>
                    <a:pt x="7911579" y="3753116"/>
                  </a:lnTo>
                  <a:close/>
                </a:path>
                <a:path w="7937500" h="3777615">
                  <a:moveTo>
                    <a:pt x="7911579" y="12179"/>
                  </a:moveTo>
                  <a:lnTo>
                    <a:pt x="7911579" y="3765296"/>
                  </a:lnTo>
                  <a:lnTo>
                    <a:pt x="7925269" y="3753116"/>
                  </a:lnTo>
                  <a:lnTo>
                    <a:pt x="7937449" y="3753116"/>
                  </a:lnTo>
                  <a:lnTo>
                    <a:pt x="7937449" y="24371"/>
                  </a:lnTo>
                  <a:lnTo>
                    <a:pt x="7925269" y="24371"/>
                  </a:lnTo>
                  <a:lnTo>
                    <a:pt x="7911579" y="12179"/>
                  </a:lnTo>
                  <a:close/>
                </a:path>
                <a:path w="7937500" h="3777615">
                  <a:moveTo>
                    <a:pt x="7937449" y="3753116"/>
                  </a:moveTo>
                  <a:lnTo>
                    <a:pt x="7925269" y="3753116"/>
                  </a:lnTo>
                  <a:lnTo>
                    <a:pt x="7911579" y="3765296"/>
                  </a:lnTo>
                  <a:lnTo>
                    <a:pt x="7937449" y="3765296"/>
                  </a:lnTo>
                  <a:lnTo>
                    <a:pt x="7937449" y="3753116"/>
                  </a:lnTo>
                  <a:close/>
                </a:path>
                <a:path w="7937500" h="3777615">
                  <a:moveTo>
                    <a:pt x="25882" y="12179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79"/>
                  </a:lnTo>
                  <a:close/>
                </a:path>
                <a:path w="7937500" h="3777615">
                  <a:moveTo>
                    <a:pt x="7911579" y="12179"/>
                  </a:moveTo>
                  <a:lnTo>
                    <a:pt x="25882" y="12179"/>
                  </a:lnTo>
                  <a:lnTo>
                    <a:pt x="25882" y="24371"/>
                  </a:lnTo>
                  <a:lnTo>
                    <a:pt x="7911579" y="24371"/>
                  </a:lnTo>
                  <a:lnTo>
                    <a:pt x="7911579" y="12179"/>
                  </a:lnTo>
                  <a:close/>
                </a:path>
                <a:path w="7937500" h="3777615">
                  <a:moveTo>
                    <a:pt x="7937449" y="12179"/>
                  </a:moveTo>
                  <a:lnTo>
                    <a:pt x="7911579" y="12179"/>
                  </a:lnTo>
                  <a:lnTo>
                    <a:pt x="7925269" y="24371"/>
                  </a:lnTo>
                  <a:lnTo>
                    <a:pt x="7937449" y="24371"/>
                  </a:lnTo>
                  <a:lnTo>
                    <a:pt x="793744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506969" y="2000371"/>
            <a:ext cx="6548755" cy="365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floyd(GraphType*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g)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i,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j,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k;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 = 0;</a:t>
            </a:r>
            <a:r>
              <a:rPr dirty="0" sz="1400" spc="-10">
                <a:latin typeface="Trebuchet MS"/>
                <a:cs typeface="Trebuchet MS"/>
              </a:rPr>
              <a:t> i&lt;g-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(j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0;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j&lt;g-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j++)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A[i][j]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&gt;weight[i][j];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printA(g);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(k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0;</a:t>
            </a:r>
            <a:r>
              <a:rPr dirty="0" sz="1400" spc="-10">
                <a:latin typeface="Trebuchet MS"/>
                <a:cs typeface="Trebuchet MS"/>
              </a:rPr>
              <a:t> k&lt;g-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k++)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 = 0;</a:t>
            </a:r>
            <a:r>
              <a:rPr dirty="0" sz="1400" spc="-10">
                <a:latin typeface="Trebuchet MS"/>
                <a:cs typeface="Trebuchet MS"/>
              </a:rPr>
              <a:t> i&lt;g-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(j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0;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j&lt;g-</a:t>
            </a:r>
            <a:r>
              <a:rPr dirty="0" sz="1400">
                <a:latin typeface="Trebuchet MS"/>
                <a:cs typeface="Trebuchet MS"/>
              </a:rPr>
              <a:t>&gt;n;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j++)</a:t>
            </a:r>
            <a:endParaRPr sz="1400">
              <a:latin typeface="Trebuchet MS"/>
              <a:cs typeface="Trebuchet MS"/>
            </a:endParaRPr>
          </a:p>
          <a:p>
            <a:pPr marL="3665854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(A[i][k]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A[k][j]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7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A[i][j])</a:t>
            </a:r>
            <a:endParaRPr sz="1400">
              <a:latin typeface="Trebuchet MS"/>
              <a:cs typeface="Trebuchet MS"/>
            </a:endParaRPr>
          </a:p>
          <a:p>
            <a:pPr marL="45796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A[i][j]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A[i][k]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8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A[k][j];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printA(g);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latin typeface="Tw Cen MT"/>
                <a:cs typeface="Tw Cen MT"/>
              </a:rPr>
              <a:t>Floyd</a:t>
            </a:r>
            <a:r>
              <a:rPr dirty="0" spc="-365"/>
              <a:t>의</a:t>
            </a:r>
            <a:r>
              <a:rPr dirty="0" spc="-270"/>
              <a:t> </a:t>
            </a:r>
            <a:r>
              <a:rPr dirty="0" spc="-1875"/>
              <a:t>최단경로</a:t>
            </a:r>
            <a:r>
              <a:rPr dirty="0" spc="-245"/>
              <a:t> </a:t>
            </a:r>
            <a:r>
              <a:rPr dirty="0" spc="-2295"/>
              <a:t>프로그램</a:t>
            </a:r>
            <a:r>
              <a:rPr dirty="0" spc="-245"/>
              <a:t> </a:t>
            </a:r>
            <a:r>
              <a:rPr dirty="0" spc="-10">
                <a:latin typeface="Tw Cen MT"/>
                <a:cs typeface="Tw Cen MT"/>
              </a:rPr>
              <a:t>(Floyd.c)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5770" y="1961857"/>
            <a:ext cx="7937500" cy="3131820"/>
            <a:chOff x="1415770" y="1961857"/>
            <a:chExt cx="7937500" cy="3131820"/>
          </a:xfrm>
        </p:grpSpPr>
        <p:sp>
          <p:nvSpPr>
            <p:cNvPr id="3" name="object 3"/>
            <p:cNvSpPr/>
            <p:nvPr/>
          </p:nvSpPr>
          <p:spPr>
            <a:xfrm>
              <a:off x="1429473" y="1974049"/>
              <a:ext cx="7912100" cy="3107690"/>
            </a:xfrm>
            <a:custGeom>
              <a:avLst/>
              <a:gdLst/>
              <a:ahLst/>
              <a:cxnLst/>
              <a:rect l="l" t="t" r="r" b="b"/>
              <a:pathLst>
                <a:path w="7912100" h="3107690">
                  <a:moveTo>
                    <a:pt x="7911566" y="0"/>
                  </a:moveTo>
                  <a:lnTo>
                    <a:pt x="0" y="0"/>
                  </a:lnTo>
                  <a:lnTo>
                    <a:pt x="0" y="3107283"/>
                  </a:lnTo>
                  <a:lnTo>
                    <a:pt x="7911566" y="3107283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15770" y="1961857"/>
              <a:ext cx="7937500" cy="3131820"/>
            </a:xfrm>
            <a:custGeom>
              <a:avLst/>
              <a:gdLst/>
              <a:ahLst/>
              <a:cxnLst/>
              <a:rect l="l" t="t" r="r" b="b"/>
              <a:pathLst>
                <a:path w="7937500" h="3131820">
                  <a:moveTo>
                    <a:pt x="7937449" y="0"/>
                  </a:moveTo>
                  <a:lnTo>
                    <a:pt x="0" y="0"/>
                  </a:lnTo>
                  <a:lnTo>
                    <a:pt x="0" y="3131654"/>
                  </a:lnTo>
                  <a:lnTo>
                    <a:pt x="7937449" y="3131654"/>
                  </a:lnTo>
                  <a:lnTo>
                    <a:pt x="7937449" y="3119475"/>
                  </a:lnTo>
                  <a:lnTo>
                    <a:pt x="25882" y="3119475"/>
                  </a:lnTo>
                  <a:lnTo>
                    <a:pt x="13703" y="3105759"/>
                  </a:lnTo>
                  <a:lnTo>
                    <a:pt x="25882" y="3105759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79"/>
                  </a:lnTo>
                  <a:lnTo>
                    <a:pt x="7937449" y="12179"/>
                  </a:lnTo>
                  <a:lnTo>
                    <a:pt x="7937449" y="0"/>
                  </a:lnTo>
                  <a:close/>
                </a:path>
                <a:path w="7937500" h="3131820">
                  <a:moveTo>
                    <a:pt x="25882" y="3105759"/>
                  </a:moveTo>
                  <a:lnTo>
                    <a:pt x="13703" y="3105759"/>
                  </a:lnTo>
                  <a:lnTo>
                    <a:pt x="25882" y="3119475"/>
                  </a:lnTo>
                  <a:lnTo>
                    <a:pt x="25882" y="3105759"/>
                  </a:lnTo>
                  <a:close/>
                </a:path>
                <a:path w="7937500" h="3131820">
                  <a:moveTo>
                    <a:pt x="7911579" y="3105759"/>
                  </a:moveTo>
                  <a:lnTo>
                    <a:pt x="25882" y="3105759"/>
                  </a:lnTo>
                  <a:lnTo>
                    <a:pt x="25882" y="3119475"/>
                  </a:lnTo>
                  <a:lnTo>
                    <a:pt x="7911579" y="3119475"/>
                  </a:lnTo>
                  <a:lnTo>
                    <a:pt x="7911579" y="3105759"/>
                  </a:lnTo>
                  <a:close/>
                </a:path>
                <a:path w="7937500" h="3131820">
                  <a:moveTo>
                    <a:pt x="7911579" y="12179"/>
                  </a:moveTo>
                  <a:lnTo>
                    <a:pt x="7911579" y="3119475"/>
                  </a:lnTo>
                  <a:lnTo>
                    <a:pt x="7925269" y="3105759"/>
                  </a:lnTo>
                  <a:lnTo>
                    <a:pt x="7937449" y="3105759"/>
                  </a:lnTo>
                  <a:lnTo>
                    <a:pt x="7937449" y="24371"/>
                  </a:lnTo>
                  <a:lnTo>
                    <a:pt x="7925269" y="24371"/>
                  </a:lnTo>
                  <a:lnTo>
                    <a:pt x="7911579" y="12179"/>
                  </a:lnTo>
                  <a:close/>
                </a:path>
                <a:path w="7937500" h="3131820">
                  <a:moveTo>
                    <a:pt x="7937449" y="3105759"/>
                  </a:moveTo>
                  <a:lnTo>
                    <a:pt x="7925269" y="3105759"/>
                  </a:lnTo>
                  <a:lnTo>
                    <a:pt x="7911579" y="3119475"/>
                  </a:lnTo>
                  <a:lnTo>
                    <a:pt x="7937449" y="3119475"/>
                  </a:lnTo>
                  <a:lnTo>
                    <a:pt x="7937449" y="3105759"/>
                  </a:lnTo>
                  <a:close/>
                </a:path>
                <a:path w="7937500" h="3131820">
                  <a:moveTo>
                    <a:pt x="25882" y="12179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79"/>
                  </a:lnTo>
                  <a:close/>
                </a:path>
                <a:path w="7937500" h="3131820">
                  <a:moveTo>
                    <a:pt x="7911579" y="12179"/>
                  </a:moveTo>
                  <a:lnTo>
                    <a:pt x="25882" y="12179"/>
                  </a:lnTo>
                  <a:lnTo>
                    <a:pt x="25882" y="24371"/>
                  </a:lnTo>
                  <a:lnTo>
                    <a:pt x="7911579" y="24371"/>
                  </a:lnTo>
                  <a:lnTo>
                    <a:pt x="7911579" y="12179"/>
                  </a:lnTo>
                  <a:close/>
                </a:path>
                <a:path w="7937500" h="3131820">
                  <a:moveTo>
                    <a:pt x="7937449" y="12179"/>
                  </a:moveTo>
                  <a:lnTo>
                    <a:pt x="7911579" y="12179"/>
                  </a:lnTo>
                  <a:lnTo>
                    <a:pt x="7925269" y="24371"/>
                  </a:lnTo>
                  <a:lnTo>
                    <a:pt x="7937449" y="24371"/>
                  </a:lnTo>
                  <a:lnTo>
                    <a:pt x="793744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506969" y="2000371"/>
            <a:ext cx="348615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434590" algn="l"/>
              </a:tabLst>
            </a:pPr>
            <a:r>
              <a:rPr dirty="0" sz="1400">
                <a:latin typeface="Trebuchet MS"/>
                <a:cs typeface="Trebuchet MS"/>
              </a:rPr>
              <a:t>{{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7,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3,</a:t>
            </a:r>
            <a:r>
              <a:rPr dirty="0" sz="1400" spc="409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10, INF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1685289" algn="l"/>
                <a:tab pos="2366010" algn="l"/>
                <a:tab pos="268541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7,</a:t>
            </a:r>
            <a:r>
              <a:rPr dirty="0" sz="1400" spc="4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0,</a:t>
            </a:r>
            <a:r>
              <a:rPr dirty="0" sz="1400">
                <a:latin typeface="Trebuchet MS"/>
                <a:cs typeface="Trebuchet MS"/>
              </a:rPr>
              <a:t>	4,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10,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2,</a:t>
            </a:r>
            <a:r>
              <a:rPr dirty="0" sz="1400">
                <a:latin typeface="Trebuchet MS"/>
                <a:cs typeface="Trebuchet MS"/>
              </a:rPr>
              <a:t>	6, INF</a:t>
            </a:r>
            <a:r>
              <a:rPr dirty="0" sz="1400" spc="-25">
                <a:latin typeface="Trebuchet MS"/>
                <a:cs typeface="Trebuchet MS"/>
              </a:rPr>
              <a:t> },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1814830" algn="l"/>
                <a:tab pos="2136140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9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INF,</a:t>
            </a:r>
            <a:r>
              <a:rPr dirty="0" sz="1400" spc="229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4,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0,</a:t>
            </a:r>
            <a:r>
              <a:rPr dirty="0" sz="1400">
                <a:latin typeface="Trebuchet MS"/>
                <a:cs typeface="Trebuchet MS"/>
              </a:rPr>
              <a:t>	2,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20366" y="3493091"/>
            <a:ext cx="1990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83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3,</a:t>
            </a:r>
            <a:r>
              <a:rPr dirty="0" sz="1400" spc="3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2,</a:t>
            </a:r>
            <a:r>
              <a:rPr dirty="0" sz="1400" spc="3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INF,</a:t>
            </a:r>
            <a:r>
              <a:rPr dirty="0" sz="1400" spc="32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11,</a:t>
            </a:r>
            <a:r>
              <a:rPr dirty="0" sz="1400">
                <a:latin typeface="Trebuchet MS"/>
                <a:cs typeface="Trebuchet MS"/>
              </a:rPr>
              <a:t>	0,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INF,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0366" y="3279845"/>
            <a:ext cx="255397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069" algn="l"/>
                <a:tab pos="1262380" algn="l"/>
                <a:tab pos="1942464" algn="l"/>
                <a:tab pos="226250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10,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2,</a:t>
            </a:r>
            <a:r>
              <a:rPr dirty="0" sz="1400">
                <a:latin typeface="Trebuchet MS"/>
                <a:cs typeface="Trebuchet MS"/>
              </a:rPr>
              <a:t>	0,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11,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9,</a:t>
            </a:r>
            <a:r>
              <a:rPr dirty="0" sz="1400">
                <a:latin typeface="Trebuchet MS"/>
                <a:cs typeface="Trebuchet MS"/>
              </a:rPr>
              <a:t>	4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  <a:p>
            <a:pPr marL="213741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5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0366" y="3706337"/>
            <a:ext cx="25361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135" algn="l"/>
                <a:tab pos="1871345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10,</a:t>
            </a:r>
            <a:r>
              <a:rPr dirty="0" sz="1400" spc="4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6,</a:t>
            </a:r>
            <a:r>
              <a:rPr dirty="0" sz="1400" spc="4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9,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0,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INF</a:t>
            </a:r>
            <a:r>
              <a:rPr dirty="0" sz="1400" spc="-25">
                <a:latin typeface="Trebuchet MS"/>
                <a:cs typeface="Trebuchet MS"/>
              </a:rPr>
              <a:t> 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4442" y="3919583"/>
            <a:ext cx="10198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4370" algn="l"/>
              </a:tabLst>
            </a:pPr>
            <a:r>
              <a:rPr dirty="0" sz="1400">
                <a:latin typeface="Trebuchet MS"/>
                <a:cs typeface="Trebuchet MS"/>
              </a:rPr>
              <a:t>5,</a:t>
            </a:r>
            <a:r>
              <a:rPr dirty="0" sz="1400" spc="-20">
                <a:latin typeface="Trebuchet MS"/>
                <a:cs typeface="Trebuchet MS"/>
              </a:rPr>
              <a:t> INF,</a:t>
            </a:r>
            <a:r>
              <a:rPr dirty="0" sz="1400">
                <a:latin typeface="Trebuchet MS"/>
                <a:cs typeface="Trebuchet MS"/>
              </a:rPr>
              <a:t>	0 }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0366" y="3919583"/>
            <a:ext cx="143700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4920" algn="l"/>
              </a:tabLst>
            </a:pP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60">
                <a:latin typeface="Trebuchet MS"/>
                <a:cs typeface="Trebuchet MS"/>
              </a:rPr>
              <a:t>INF,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INF,</a:t>
            </a:r>
            <a:r>
              <a:rPr dirty="0" sz="1400">
                <a:latin typeface="Trebuchet MS"/>
                <a:cs typeface="Trebuchet MS"/>
              </a:rPr>
              <a:t>	</a:t>
            </a:r>
            <a:r>
              <a:rPr dirty="0" sz="1400" spc="-25">
                <a:latin typeface="Trebuchet MS"/>
                <a:cs typeface="Trebuchet MS"/>
              </a:rPr>
              <a:t>4,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25">
                <a:latin typeface="Trebuchet MS"/>
                <a:cs typeface="Trebuchet MS"/>
              </a:rPr>
              <a:t>};</a:t>
            </a:r>
            <a:endParaRPr sz="1400">
              <a:latin typeface="Trebuchet MS"/>
              <a:cs typeface="Trebuchet MS"/>
            </a:endParaRPr>
          </a:p>
          <a:p>
            <a:pPr marL="12700" marR="60452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floyd(&amp;g);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06969" y="4772566"/>
            <a:ext cx="90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latin typeface="Tw Cen MT"/>
                <a:cs typeface="Tw Cen MT"/>
              </a:rPr>
              <a:t>Floyd</a:t>
            </a:r>
            <a:r>
              <a:rPr dirty="0" spc="-365"/>
              <a:t>의</a:t>
            </a:r>
            <a:r>
              <a:rPr dirty="0" spc="-270"/>
              <a:t> </a:t>
            </a:r>
            <a:r>
              <a:rPr dirty="0" spc="-1875"/>
              <a:t>최단경로</a:t>
            </a:r>
            <a:r>
              <a:rPr dirty="0" spc="-245"/>
              <a:t> </a:t>
            </a:r>
            <a:r>
              <a:rPr dirty="0" spc="-2315"/>
              <a:t>프로그램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365">
                <a:latin typeface="Tw Cen MT"/>
                <a:cs typeface="Tw Cen MT"/>
              </a:rPr>
              <a:t>Floyd</a:t>
            </a:r>
            <a:r>
              <a:rPr dirty="0" spc="-365"/>
              <a:t>의</a:t>
            </a:r>
            <a:r>
              <a:rPr dirty="0" spc="-260"/>
              <a:t> </a:t>
            </a:r>
            <a:r>
              <a:rPr dirty="0" spc="-1895"/>
              <a:t>최단경로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4975" y="1349540"/>
            <a:ext cx="2300249" cy="56692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2677" y="1713585"/>
            <a:ext cx="2202815" cy="41963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latin typeface="Tw Cen MT"/>
                <a:cs typeface="Tw Cen MT"/>
              </a:rPr>
              <a:t>Floyd</a:t>
            </a:r>
            <a:r>
              <a:rPr dirty="0" spc="-245">
                <a:latin typeface="Tw Cen MT"/>
                <a:cs typeface="Tw Cen MT"/>
              </a:rPr>
              <a:t> </a:t>
            </a:r>
            <a:r>
              <a:rPr dirty="0" spc="-1775"/>
              <a:t>가상실습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>
                <a:latin typeface="Arial"/>
                <a:cs typeface="Arial"/>
              </a:rPr>
              <a:t>Floyd</a:t>
            </a:r>
            <a:r>
              <a:rPr dirty="0" spc="-30">
                <a:latin typeface="Arial"/>
                <a:cs typeface="Arial"/>
              </a:rPr>
              <a:t> </a:t>
            </a:r>
            <a:r>
              <a:rPr dirty="0" spc="-20"/>
              <a:t>가상실습을</a:t>
            </a:r>
            <a:r>
              <a:rPr dirty="0" spc="-170"/>
              <a:t> </a:t>
            </a:r>
            <a:r>
              <a:rPr dirty="0" spc="-20">
                <a:latin typeface="Arial"/>
                <a:cs typeface="Arial"/>
              </a:rPr>
              <a:t>30-</a:t>
            </a:r>
            <a:r>
              <a:rPr dirty="0" spc="-10">
                <a:latin typeface="Arial"/>
                <a:cs typeface="Arial"/>
              </a:rPr>
              <a:t>&gt;ShortestPath</a:t>
            </a:r>
            <a:r>
              <a:rPr dirty="0" spc="-10"/>
              <a:t>로</a:t>
            </a:r>
            <a:r>
              <a:rPr dirty="0" spc="-165"/>
              <a:t> </a:t>
            </a:r>
            <a:r>
              <a:rPr dirty="0" spc="-25"/>
              <a:t>알아봄</a:t>
            </a:r>
          </a:p>
          <a:p>
            <a:pPr marL="4643120">
              <a:lnSpc>
                <a:spcPct val="100000"/>
              </a:lnSpc>
              <a:spcBef>
                <a:spcPts val="680"/>
              </a:spcBef>
            </a:pPr>
            <a:r>
              <a:rPr dirty="0" sz="1400"/>
              <a:t>연산의</a:t>
            </a:r>
            <a:r>
              <a:rPr dirty="0" sz="1400" spc="-105"/>
              <a:t> </a:t>
            </a:r>
            <a:r>
              <a:rPr dirty="0" sz="1400"/>
              <a:t>종류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Floyd</a:t>
            </a:r>
            <a:endParaRPr sz="1400">
              <a:latin typeface="Arial"/>
              <a:cs typeface="Arial"/>
            </a:endParaRPr>
          </a:p>
          <a:p>
            <a:pPr marL="4643120">
              <a:lnSpc>
                <a:spcPct val="100000"/>
              </a:lnSpc>
              <a:spcBef>
                <a:spcPts val="695"/>
              </a:spcBef>
            </a:pPr>
            <a:r>
              <a:rPr dirty="0" sz="1400"/>
              <a:t>정점의</a:t>
            </a:r>
            <a:r>
              <a:rPr dirty="0" sz="1400" spc="-95"/>
              <a:t> </a:t>
            </a:r>
            <a:r>
              <a:rPr dirty="0" sz="1400"/>
              <a:t>개수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더블클릭하면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만들어진다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70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정점들을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드래그하여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만든다</a:t>
            </a:r>
            <a:endParaRPr sz="1400">
              <a:latin typeface="Gulim"/>
              <a:cs typeface="Gulim"/>
            </a:endParaRPr>
          </a:p>
          <a:p>
            <a:pPr lvl="1" marL="4643120" marR="5080" indent="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이동하고자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하는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경우에는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ctrl</a:t>
            </a:r>
            <a:r>
              <a:rPr dirty="0" sz="1400">
                <a:latin typeface="Gulim"/>
                <a:cs typeface="Gulim"/>
              </a:rPr>
              <a:t>키를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누른 </a:t>
            </a:r>
            <a:r>
              <a:rPr dirty="0" sz="1400">
                <a:latin typeface="Gulim"/>
                <a:cs typeface="Gulim"/>
              </a:rPr>
              <a:t>채로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원하는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드래그한다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96" y="2248217"/>
            <a:ext cx="4632464" cy="35139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60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45"/>
              <a:t> </a:t>
            </a:r>
            <a:r>
              <a:rPr dirty="0" sz="3200" spc="-1445"/>
              <a:t>한줄</a:t>
            </a:r>
            <a:r>
              <a:rPr dirty="0" sz="3200" spc="-165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75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0"/>
              <a:t> </a:t>
            </a:r>
            <a:r>
              <a:rPr dirty="0" sz="3200" spc="-1370"/>
              <a:t>그림과</a:t>
            </a:r>
            <a:r>
              <a:rPr dirty="0" sz="3200" spc="-175"/>
              <a:t> </a:t>
            </a:r>
            <a:r>
              <a:rPr dirty="0" sz="3200" spc="-350">
                <a:latin typeface="Tw Cen MT"/>
                <a:cs typeface="Tw Cen MT"/>
              </a:rPr>
              <a:t>VS</a:t>
            </a:r>
            <a:r>
              <a:rPr dirty="0" sz="3200" spc="-350"/>
              <a:t>같이</a:t>
            </a:r>
            <a:r>
              <a:rPr dirty="0" sz="3200" spc="-350">
                <a:latin typeface="Tw Cen MT"/>
                <a:cs typeface="Tw Cen MT"/>
              </a:rPr>
              <a:t>(1/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28803"/>
            <a:ext cx="5031105" cy="1754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83945">
              <a:lnSpc>
                <a:spcPct val="136200"/>
              </a:lnSpc>
              <a:spcBef>
                <a:spcPts val="10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floyd.c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floyd_change.c</a:t>
            </a:r>
            <a:r>
              <a:rPr dirty="0" sz="1600" spc="-10">
                <a:latin typeface="Gulim"/>
                <a:cs typeface="Gulim"/>
              </a:rPr>
              <a:t>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35">
                <a:latin typeface="Gulim"/>
                <a:cs typeface="Gulim"/>
              </a:rPr>
              <a:t>변경 </a:t>
            </a:r>
            <a:r>
              <a:rPr dirty="0" sz="1600">
                <a:latin typeface="Gulim"/>
                <a:cs typeface="Gulim"/>
              </a:rPr>
              <a:t>단계별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2</a:t>
            </a:r>
            <a:r>
              <a:rPr dirty="0" sz="1600" spc="-10">
                <a:latin typeface="Gulim"/>
                <a:cs typeface="Gulim"/>
              </a:rPr>
              <a:t>차원배열</a:t>
            </a:r>
            <a:r>
              <a:rPr dirty="0" sz="1600" spc="-10">
                <a:latin typeface="Arial"/>
                <a:cs typeface="Arial"/>
              </a:rPr>
              <a:t>A</a:t>
            </a:r>
            <a:r>
              <a:rPr dirty="0" sz="1600" spc="-10">
                <a:latin typeface="Gulim"/>
                <a:cs typeface="Gulim"/>
              </a:rPr>
              <a:t>의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변경부분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출력하게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함</a:t>
            </a:r>
            <a:endParaRPr sz="16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70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그래프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자료구조는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adj_mat</a:t>
            </a:r>
            <a:r>
              <a:rPr dirty="0" sz="1600" spc="-10">
                <a:latin typeface="Gulim"/>
                <a:cs typeface="Gulim"/>
              </a:rPr>
              <a:t>에서는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element</a:t>
            </a:r>
            <a:r>
              <a:rPr dirty="0" sz="1600" spc="-10">
                <a:latin typeface="Gulim"/>
                <a:cs typeface="Gulim"/>
              </a:rPr>
              <a:t>값이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50">
                <a:latin typeface="Arial"/>
                <a:cs typeface="Arial"/>
              </a:rPr>
              <a:t>0 </a:t>
            </a:r>
            <a:r>
              <a:rPr dirty="0" sz="1600">
                <a:latin typeface="Gulim"/>
                <a:cs typeface="Gulim"/>
              </a:rPr>
              <a:t>또는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1</a:t>
            </a:r>
            <a:r>
              <a:rPr dirty="0" sz="1600" spc="-10">
                <a:latin typeface="Gulim"/>
                <a:cs typeface="Gulim"/>
              </a:rPr>
              <a:t>이었는데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floyd.c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자료구조에서는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element</a:t>
            </a:r>
            <a:r>
              <a:rPr dirty="0" sz="1600" spc="-10">
                <a:latin typeface="Gulim"/>
                <a:cs typeface="Gulim"/>
              </a:rPr>
              <a:t>값이 </a:t>
            </a:r>
            <a:r>
              <a:rPr dirty="0" sz="1600" spc="-10">
                <a:latin typeface="Arial"/>
                <a:cs typeface="Arial"/>
              </a:rPr>
              <a:t>weight(</a:t>
            </a:r>
            <a:r>
              <a:rPr dirty="0" sz="1600" spc="-10">
                <a:latin typeface="Gulim"/>
                <a:cs typeface="Gulim"/>
              </a:rPr>
              <a:t>가중치</a:t>
            </a:r>
            <a:r>
              <a:rPr dirty="0" sz="1600" spc="-10">
                <a:latin typeface="Arial"/>
                <a:cs typeface="Arial"/>
              </a:rPr>
              <a:t>)</a:t>
            </a:r>
            <a:r>
              <a:rPr dirty="0" sz="1600" spc="-10">
                <a:latin typeface="Gulim"/>
                <a:cs typeface="Gulim"/>
              </a:rPr>
              <a:t>입니다</a:t>
            </a:r>
            <a:r>
              <a:rPr dirty="0" sz="1600" spc="-10">
                <a:latin typeface="Arial"/>
                <a:cs typeface="Arial"/>
              </a:rPr>
              <a:t>.</a:t>
            </a:r>
            <a:r>
              <a:rPr dirty="0" sz="1600" spc="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연결이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안된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vertex</a:t>
            </a:r>
            <a:r>
              <a:rPr dirty="0" sz="1600" spc="-10">
                <a:latin typeface="Gulim"/>
                <a:cs typeface="Gulim"/>
              </a:rPr>
              <a:t>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가중치가 </a:t>
            </a:r>
            <a:r>
              <a:rPr dirty="0" sz="1600" spc="-10">
                <a:latin typeface="Arial"/>
                <a:cs typeface="Arial"/>
              </a:rPr>
              <a:t>1000000</a:t>
            </a:r>
            <a:r>
              <a:rPr dirty="0" sz="1600" spc="-10">
                <a:latin typeface="Gulim"/>
                <a:cs typeface="Gulim"/>
              </a:rPr>
              <a:t>입니다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40292" y="4582140"/>
            <a:ext cx="984885" cy="628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 spc="-10">
                <a:latin typeface="Trebuchet MS"/>
                <a:cs typeface="Trebuchet MS"/>
              </a:rPr>
              <a:t>Vertex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7</a:t>
            </a:r>
            <a:r>
              <a:rPr dirty="0" sz="1400" spc="-25">
                <a:latin typeface="Gulim"/>
                <a:cs typeface="Gulim"/>
              </a:rPr>
              <a:t>개 </a:t>
            </a:r>
            <a:r>
              <a:rPr dirty="0" sz="1400">
                <a:latin typeface="Trebuchet MS"/>
                <a:cs typeface="Trebuchet MS"/>
              </a:rPr>
              <a:t>Edge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: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12</a:t>
            </a:r>
            <a:r>
              <a:rPr dirty="0" sz="1400" spc="-25">
                <a:latin typeface="Gulim"/>
                <a:cs typeface="Gulim"/>
              </a:rPr>
              <a:t>개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0395" y="1788210"/>
            <a:ext cx="3129915" cy="6854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1584" y="2598954"/>
            <a:ext cx="2817427" cy="5619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0461" y="3344900"/>
            <a:ext cx="4215345" cy="18278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8679" y="5183378"/>
            <a:ext cx="2084070" cy="19237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36860" y="5373776"/>
            <a:ext cx="2691485" cy="173338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4220" y="4983848"/>
            <a:ext cx="4025049" cy="13434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2806" y="539203"/>
            <a:ext cx="2082558" cy="192378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8</a:t>
            </a:r>
            <a:r>
              <a:rPr dirty="0" sz="3200" spc="-665"/>
              <a:t>단계</a:t>
            </a:r>
            <a:r>
              <a:rPr dirty="0" sz="3200" spc="-165"/>
              <a:t> </a:t>
            </a:r>
            <a:r>
              <a:rPr dirty="0" sz="3200" spc="-1889"/>
              <a:t>중</a:t>
            </a:r>
            <a:r>
              <a:rPr dirty="0" sz="3200" spc="-170"/>
              <a:t> </a:t>
            </a:r>
            <a:r>
              <a:rPr dirty="0" sz="3200" spc="-20">
                <a:latin typeface="Tw Cen MT"/>
                <a:cs typeface="Tw Cen MT"/>
              </a:rPr>
              <a:t>A</a:t>
            </a:r>
            <a:r>
              <a:rPr dirty="0" baseline="25132" sz="3150" spc="-30">
                <a:latin typeface="Tw Cen MT"/>
                <a:cs typeface="Tw Cen MT"/>
              </a:rPr>
              <a:t>-</a:t>
            </a:r>
            <a:r>
              <a:rPr dirty="0" baseline="25132" sz="3150">
                <a:latin typeface="Tw Cen MT"/>
                <a:cs typeface="Tw Cen MT"/>
              </a:rPr>
              <a:t>1</a:t>
            </a:r>
            <a:r>
              <a:rPr dirty="0" baseline="25132" sz="3150" spc="30">
                <a:latin typeface="Tw Cen MT"/>
                <a:cs typeface="Tw Cen MT"/>
              </a:rPr>
              <a:t> </a:t>
            </a:r>
            <a:r>
              <a:rPr dirty="0" sz="3200" spc="-340"/>
              <a:t>과</a:t>
            </a:r>
            <a:r>
              <a:rPr dirty="0" sz="3200" spc="-340">
                <a:latin typeface="Tw Cen MT"/>
                <a:cs typeface="Tw Cen MT"/>
              </a:rPr>
              <a:t>A</a:t>
            </a:r>
            <a:r>
              <a:rPr dirty="0" baseline="25132" sz="3150" spc="-509">
                <a:latin typeface="Tw Cen MT"/>
                <a:cs typeface="Tw Cen MT"/>
              </a:rPr>
              <a:t>0</a:t>
            </a:r>
            <a:r>
              <a:rPr dirty="0" baseline="25132" sz="3150" spc="15">
                <a:latin typeface="Tw Cen MT"/>
                <a:cs typeface="Tw Cen MT"/>
              </a:rPr>
              <a:t> </a:t>
            </a:r>
            <a:r>
              <a:rPr dirty="0" sz="3200" spc="-994"/>
              <a:t>단계</a:t>
            </a:r>
            <a:r>
              <a:rPr dirty="0" sz="3200" spc="-165"/>
              <a:t> </a:t>
            </a:r>
            <a:r>
              <a:rPr dirty="0" sz="3200" spc="-25">
                <a:latin typeface="Tw Cen MT"/>
                <a:cs typeface="Tw Cen MT"/>
              </a:rPr>
              <a:t>(2/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740" y="1873268"/>
            <a:ext cx="4633595" cy="464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6413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교재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426P~427P</a:t>
            </a:r>
            <a:r>
              <a:rPr dirty="0" sz="1200" spc="-6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그림</a:t>
            </a:r>
            <a:r>
              <a:rPr dirty="0" sz="1200" spc="2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8</a:t>
            </a:r>
            <a:r>
              <a:rPr dirty="0" sz="1200" spc="-10">
                <a:latin typeface="Gulim"/>
                <a:cs typeface="Gulim"/>
              </a:rPr>
              <a:t>단계를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한줄씩수행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및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변수보기와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비교 </a:t>
            </a:r>
            <a:r>
              <a:rPr dirty="0" sz="1200" spc="-20">
                <a:latin typeface="Gulim"/>
                <a:cs typeface="Gulim"/>
              </a:rPr>
              <a:t>합니다</a:t>
            </a:r>
            <a:r>
              <a:rPr dirty="0" sz="1200" spc="-2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70205" marR="62865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70205" algn="l"/>
              </a:tabLst>
            </a:pPr>
            <a:r>
              <a:rPr dirty="0" sz="1200">
                <a:latin typeface="Arial"/>
                <a:cs typeface="Arial"/>
              </a:rPr>
              <a:t>floyd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20">
                <a:latin typeface="Gulim"/>
                <a:cs typeface="Gulim"/>
              </a:rPr>
              <a:t>이차원배열</a:t>
            </a:r>
            <a:r>
              <a:rPr dirty="0" sz="1200" spc="-14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대해</a:t>
            </a:r>
            <a:r>
              <a:rPr dirty="0" sz="1200" spc="-12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</a:t>
            </a:r>
            <a:r>
              <a:rPr dirty="0" baseline="24305" sz="1200" spc="-15">
                <a:latin typeface="Arial"/>
                <a:cs typeface="Arial"/>
              </a:rPr>
              <a:t>-</a:t>
            </a:r>
            <a:r>
              <a:rPr dirty="0" baseline="24305" sz="1200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→A</a:t>
            </a:r>
            <a:r>
              <a:rPr dirty="0" baseline="24305" sz="1200">
                <a:latin typeface="Arial"/>
                <a:cs typeface="Arial"/>
              </a:rPr>
              <a:t>0</a:t>
            </a:r>
            <a:r>
              <a:rPr dirty="0" baseline="24305" sz="1200" spc="-7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→</a:t>
            </a:r>
            <a:r>
              <a:rPr dirty="0" sz="1200" spc="-1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baseline="24305" sz="1200">
                <a:latin typeface="Arial"/>
                <a:cs typeface="Arial"/>
              </a:rPr>
              <a:t>1 </a:t>
            </a:r>
            <a:r>
              <a:rPr dirty="0" sz="1200" spc="-20">
                <a:latin typeface="Arial"/>
                <a:cs typeface="Arial"/>
              </a:rPr>
              <a:t>→</a:t>
            </a:r>
            <a:r>
              <a:rPr dirty="0" sz="1200" spc="-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…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</a:t>
            </a:r>
            <a:r>
              <a:rPr dirty="0" baseline="24305" sz="1200" spc="-15">
                <a:latin typeface="Arial"/>
                <a:cs typeface="Arial"/>
              </a:rPr>
              <a:t>n-</a:t>
            </a:r>
            <a:r>
              <a:rPr dirty="0" baseline="24305" sz="1200" spc="-37">
                <a:latin typeface="Arial"/>
                <a:cs typeface="Arial"/>
              </a:rPr>
              <a:t>1</a:t>
            </a:r>
            <a:r>
              <a:rPr dirty="0" sz="1200" spc="-25">
                <a:latin typeface="Gulim"/>
                <a:cs typeface="Gulim"/>
              </a:rPr>
              <a:t>순으 </a:t>
            </a:r>
            <a:r>
              <a:rPr dirty="0" sz="1200">
                <a:latin typeface="Gulim"/>
                <a:cs typeface="Gulim"/>
              </a:rPr>
              <a:t>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최단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경로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구해감</a:t>
            </a:r>
            <a:endParaRPr sz="12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200">
              <a:latin typeface="Gulim"/>
              <a:cs typeface="Gulim"/>
            </a:endParaRPr>
          </a:p>
          <a:p>
            <a:pPr marL="50800" marR="3255010">
              <a:lnSpc>
                <a:spcPct val="148500"/>
              </a:lnSpc>
            </a:pPr>
            <a:r>
              <a:rPr dirty="0" sz="1200" spc="-10">
                <a:latin typeface="Arial"/>
                <a:cs typeface="Arial"/>
              </a:rPr>
              <a:t>41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중단점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설정 </a:t>
            </a:r>
            <a:r>
              <a:rPr dirty="0" sz="1200" spc="-10">
                <a:latin typeface="Gulim"/>
                <a:cs typeface="Gulim"/>
              </a:rPr>
              <a:t>디버깅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시작 </a:t>
            </a:r>
            <a:r>
              <a:rPr dirty="0" sz="1200" spc="-10">
                <a:latin typeface="Arial"/>
                <a:cs typeface="Arial"/>
              </a:rPr>
              <a:t>41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중단됨 </a:t>
            </a:r>
            <a:r>
              <a:rPr dirty="0" sz="1200">
                <a:latin typeface="Gulim"/>
                <a:cs typeface="Gulim"/>
              </a:rPr>
              <a:t>초기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배열</a:t>
            </a:r>
            <a:r>
              <a:rPr dirty="0" sz="1200" spc="-12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</a:t>
            </a:r>
            <a:r>
              <a:rPr dirty="0" baseline="24305" sz="1200" spc="-15">
                <a:latin typeface="Arial"/>
                <a:cs typeface="Arial"/>
              </a:rPr>
              <a:t>-</a:t>
            </a:r>
            <a:r>
              <a:rPr dirty="0" baseline="24305" sz="1200">
                <a:latin typeface="Arial"/>
                <a:cs typeface="Arial"/>
              </a:rPr>
              <a:t>1</a:t>
            </a:r>
            <a:r>
              <a:rPr dirty="0" baseline="24305" sz="1200" spc="172">
                <a:latin typeface="Arial"/>
                <a:cs typeface="Arial"/>
              </a:rPr>
              <a:t> </a:t>
            </a:r>
            <a:r>
              <a:rPr dirty="0" sz="1200" spc="-25">
                <a:latin typeface="Gulim"/>
                <a:cs typeface="Gulim"/>
              </a:rPr>
              <a:t>출력</a:t>
            </a:r>
            <a:endParaRPr sz="12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dirty="0" sz="1200" spc="-20">
                <a:latin typeface="Gulim"/>
                <a:cs typeface="Gulim"/>
              </a:rPr>
              <a:t>조사식</a:t>
            </a:r>
            <a:r>
              <a:rPr dirty="0" sz="1200" spc="-20">
                <a:latin typeface="Arial"/>
                <a:cs typeface="Arial"/>
              </a:rPr>
              <a:t>1</a:t>
            </a:r>
            <a:r>
              <a:rPr dirty="0" sz="1200" spc="-20">
                <a:latin typeface="Gulim"/>
                <a:cs typeface="Gulim"/>
              </a:rPr>
              <a:t>창에서</a:t>
            </a:r>
            <a:r>
              <a:rPr dirty="0" sz="1200" spc="-12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 spc="-35">
                <a:latin typeface="Gulim"/>
                <a:cs typeface="Gulim"/>
              </a:rPr>
              <a:t>추가</a:t>
            </a:r>
            <a:endParaRPr sz="1200">
              <a:latin typeface="Gulim"/>
              <a:cs typeface="Gulim"/>
            </a:endParaRPr>
          </a:p>
          <a:p>
            <a:pPr marL="50800" marR="1589405">
              <a:lnSpc>
                <a:spcPct val="148300"/>
              </a:lnSpc>
            </a:pPr>
            <a:r>
              <a:rPr dirty="0" sz="1200" spc="-10">
                <a:latin typeface="Arial"/>
                <a:cs typeface="Arial"/>
              </a:rPr>
              <a:t>41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중단점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해제하고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51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중단점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설정 계속</a:t>
            </a:r>
            <a:endParaRPr sz="12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dirty="0" sz="1200" spc="-10">
                <a:latin typeface="Arial"/>
                <a:cs typeface="Arial"/>
              </a:rPr>
              <a:t>51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중단됨</a:t>
            </a:r>
            <a:endParaRPr sz="12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baseline="24305" sz="1200">
                <a:latin typeface="Arial"/>
                <a:cs typeface="Arial"/>
              </a:rPr>
              <a:t>0</a:t>
            </a:r>
            <a:r>
              <a:rPr dirty="0" baseline="24305" sz="1200" spc="142">
                <a:latin typeface="Arial"/>
                <a:cs typeface="Arial"/>
              </a:rPr>
              <a:t> </a:t>
            </a:r>
            <a:r>
              <a:rPr dirty="0" sz="1200" spc="-25">
                <a:latin typeface="Gulim"/>
                <a:cs typeface="Gulim"/>
              </a:rPr>
              <a:t>출력</a:t>
            </a:r>
            <a:endParaRPr sz="12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Gulim"/>
                <a:cs typeface="Gulim"/>
              </a:rPr>
              <a:t>학생</a:t>
            </a:r>
            <a:r>
              <a:rPr dirty="0" sz="1200">
                <a:latin typeface="Arial"/>
                <a:cs typeface="Arial"/>
              </a:rPr>
              <a:t>&gt;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20">
                <a:latin typeface="Gulim"/>
                <a:cs typeface="Gulim"/>
              </a:rPr>
              <a:t>조사식</a:t>
            </a:r>
            <a:r>
              <a:rPr dirty="0" sz="1200" spc="-20">
                <a:latin typeface="Arial"/>
                <a:cs typeface="Arial"/>
              </a:rPr>
              <a:t>1</a:t>
            </a:r>
            <a:r>
              <a:rPr dirty="0" sz="1200" spc="-20">
                <a:latin typeface="Gulim"/>
                <a:cs typeface="Gulim"/>
              </a:rPr>
              <a:t>창에서</a:t>
            </a:r>
            <a:r>
              <a:rPr dirty="0" sz="1200" spc="-14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변경사항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보기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너무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어려워요</a:t>
            </a:r>
            <a:endParaRPr sz="1200">
              <a:latin typeface="Gulim"/>
              <a:cs typeface="Gulim"/>
            </a:endParaRPr>
          </a:p>
          <a:p>
            <a:pPr marL="50800" marR="43180">
              <a:lnSpc>
                <a:spcPct val="148300"/>
              </a:lnSpc>
              <a:spcBef>
                <a:spcPts val="15"/>
              </a:spcBef>
            </a:pPr>
            <a:r>
              <a:rPr dirty="0" sz="1200">
                <a:latin typeface="Gulim"/>
                <a:cs typeface="Gulim"/>
              </a:rPr>
              <a:t>교수</a:t>
            </a:r>
            <a:r>
              <a:rPr dirty="0" sz="1200">
                <a:latin typeface="Arial"/>
                <a:cs typeface="Arial"/>
              </a:rPr>
              <a:t>&gt;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변경사항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보기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어려워서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Floyd.c</a:t>
            </a:r>
            <a:r>
              <a:rPr dirty="0" sz="1200" spc="-10">
                <a:latin typeface="Gulim"/>
                <a:cs typeface="Gulim"/>
              </a:rPr>
              <a:t>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변경사항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출력코드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추가함 </a:t>
            </a:r>
            <a:r>
              <a:rPr dirty="0" sz="1200" spc="-10">
                <a:latin typeface="Arial"/>
                <a:cs typeface="Arial"/>
              </a:rPr>
              <a:t>2</a:t>
            </a:r>
            <a:r>
              <a:rPr dirty="0" sz="1200" spc="-10">
                <a:latin typeface="Gulim"/>
                <a:cs typeface="Gulim"/>
              </a:rPr>
              <a:t>차원배열의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경우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변경사항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보기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어렵기에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출력코드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작성하면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됨 </a:t>
            </a:r>
            <a:r>
              <a:rPr dirty="0" sz="1200" spc="-20">
                <a:latin typeface="Gulim"/>
                <a:cs typeface="Gulim"/>
              </a:rPr>
              <a:t>앞으로</a:t>
            </a:r>
            <a:r>
              <a:rPr dirty="0" sz="1200" spc="-12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baseline="24305" sz="1200">
                <a:latin typeface="Arial"/>
                <a:cs typeface="Arial"/>
              </a:rPr>
              <a:t>1</a:t>
            </a:r>
            <a:r>
              <a:rPr dirty="0" baseline="24305" sz="1200" spc="13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최종</a:t>
            </a:r>
            <a:r>
              <a:rPr dirty="0" sz="1200" spc="19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baseline="24305" sz="1200">
                <a:latin typeface="Arial"/>
                <a:cs typeface="Arial"/>
              </a:rPr>
              <a:t>6</a:t>
            </a:r>
            <a:r>
              <a:rPr dirty="0" baseline="24305" sz="1200" spc="15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단계는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조사식창이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아닌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콘솔창에서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분석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1886" y="2803405"/>
            <a:ext cx="2569318" cy="19135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93361" y="2746298"/>
            <a:ext cx="2416707" cy="15033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88217" y="3873436"/>
            <a:ext cx="4916170" cy="2018664"/>
            <a:chOff x="4888217" y="3873436"/>
            <a:chExt cx="4916170" cy="201866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8217" y="3938955"/>
              <a:ext cx="2416707" cy="15033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8466" y="3873436"/>
              <a:ext cx="2615374" cy="201822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8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>
                <a:latin typeface="Tw Cen MT"/>
                <a:cs typeface="Tw Cen MT"/>
              </a:rPr>
              <a:t>A</a:t>
            </a:r>
            <a:r>
              <a:rPr dirty="0" baseline="25132" sz="3150">
                <a:latin typeface="Tw Cen MT"/>
                <a:cs typeface="Tw Cen MT"/>
              </a:rPr>
              <a:t>0</a:t>
            </a:r>
            <a:r>
              <a:rPr dirty="0" baseline="25132" sz="3150" spc="15">
                <a:latin typeface="Tw Cen MT"/>
                <a:cs typeface="Tw Cen MT"/>
              </a:rPr>
              <a:t> </a:t>
            </a:r>
            <a:r>
              <a:rPr dirty="0" sz="3200" spc="-1280"/>
              <a:t>단계분석</a:t>
            </a:r>
            <a:r>
              <a:rPr dirty="0" sz="3200" spc="-165"/>
              <a:t> </a:t>
            </a:r>
            <a:r>
              <a:rPr dirty="0" sz="3200" spc="-25">
                <a:latin typeface="Tw Cen MT"/>
                <a:cs typeface="Tw Cen MT"/>
              </a:rPr>
              <a:t>(3/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1440" y="1963224"/>
            <a:ext cx="609727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7505" marR="304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7142"/>
              <a:buFont typeface="Wingdings"/>
              <a:buChar char=""/>
              <a:tabLst>
                <a:tab pos="357505" algn="l"/>
              </a:tabLst>
            </a:pPr>
            <a:r>
              <a:rPr dirty="0" sz="1400">
                <a:latin typeface="Arial"/>
                <a:cs typeface="Arial"/>
              </a:rPr>
              <a:t>floyd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방식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이차원배월</a:t>
            </a:r>
            <a:r>
              <a:rPr dirty="0" sz="1400" spc="-18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</a:t>
            </a:r>
            <a:r>
              <a:rPr dirty="0" sz="1400" spc="-15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</a:t>
            </a:r>
            <a:r>
              <a:rPr dirty="0" baseline="24691" sz="1350" spc="-15">
                <a:latin typeface="Arial"/>
                <a:cs typeface="Arial"/>
              </a:rPr>
              <a:t>-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sz="1400">
                <a:latin typeface="Arial"/>
                <a:cs typeface="Arial"/>
              </a:rPr>
              <a:t>→A</a:t>
            </a:r>
            <a:r>
              <a:rPr dirty="0" baseline="24691" sz="1350">
                <a:latin typeface="Arial"/>
                <a:cs typeface="Arial"/>
              </a:rPr>
              <a:t>0</a:t>
            </a:r>
            <a:r>
              <a:rPr dirty="0" baseline="24691" sz="135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9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baseline="24691" sz="135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…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n-1</a:t>
            </a:r>
            <a:r>
              <a:rPr dirty="0" sz="1400">
                <a:latin typeface="Gulim"/>
                <a:cs typeface="Gulim"/>
              </a:rPr>
              <a:t>순으로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최단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경 </a:t>
            </a:r>
            <a:r>
              <a:rPr dirty="0" sz="1400">
                <a:latin typeface="Gulim"/>
                <a:cs typeface="Gulim"/>
              </a:rPr>
              <a:t>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구해감</a:t>
            </a:r>
            <a:endParaRPr sz="14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1440" y="3296621"/>
            <a:ext cx="3361690" cy="114554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dirty="0" sz="1400" spc="-10">
                <a:latin typeface="Arial"/>
                <a:cs typeface="Arial"/>
              </a:rPr>
              <a:t>A</a:t>
            </a:r>
            <a:r>
              <a:rPr dirty="0" baseline="24691" sz="1350" spc="-15">
                <a:latin typeface="Arial"/>
                <a:cs typeface="Arial"/>
              </a:rPr>
              <a:t>-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모든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[i][j]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위의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수식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적용하여</a:t>
            </a:r>
            <a:endParaRPr sz="1400">
              <a:latin typeface="Gulim"/>
              <a:cs typeface="Gulim"/>
            </a:endParaRPr>
          </a:p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0</a:t>
            </a:r>
            <a:r>
              <a:rPr dirty="0" baseline="24691" sz="1350" spc="209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배열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생성되고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변경거리는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다음과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같음</a:t>
            </a:r>
            <a:endParaRPr sz="1400">
              <a:latin typeface="Gulim"/>
              <a:cs typeface="Gulim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  <a:tabLst>
                <a:tab pos="357505" algn="l"/>
              </a:tabLst>
            </a:pPr>
            <a:r>
              <a:rPr dirty="0" sz="80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80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400">
                <a:latin typeface="Gulim"/>
                <a:cs typeface="Gulim"/>
              </a:rPr>
              <a:t>변경경로</a:t>
            </a:r>
            <a:r>
              <a:rPr dirty="0" sz="1400" spc="-14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A[4][5],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A[5][4]</a:t>
            </a:r>
            <a:endParaRPr sz="1400">
              <a:latin typeface="Arial"/>
              <a:cs typeface="Arial"/>
            </a:endParaRPr>
          </a:p>
          <a:p>
            <a:pPr marL="357505">
              <a:lnSpc>
                <a:spcPct val="100000"/>
              </a:lnSpc>
            </a:pPr>
            <a:r>
              <a:rPr dirty="0" sz="1400">
                <a:latin typeface="Gulim"/>
                <a:cs typeface="Gulim"/>
              </a:rPr>
              <a:t>무한대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-&gt;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2806" y="539203"/>
            <a:ext cx="2082558" cy="19237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9390" y="2473655"/>
            <a:ext cx="2436484" cy="4569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6532" y="2511729"/>
            <a:ext cx="1626724" cy="1162741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55106" y="539203"/>
            <a:ext cx="4980940" cy="6667500"/>
            <a:chOff x="4855106" y="539203"/>
            <a:chExt cx="4980940" cy="666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806" y="539203"/>
              <a:ext cx="2082558" cy="19237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5106" y="3790424"/>
              <a:ext cx="2567822" cy="19135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9777" y="3670871"/>
              <a:ext cx="2626029" cy="32565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93070" y="2469083"/>
              <a:ext cx="1626724" cy="1162741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8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>
                <a:latin typeface="Tw Cen MT"/>
                <a:cs typeface="Tw Cen MT"/>
              </a:rPr>
              <a:t>A</a:t>
            </a:r>
            <a:r>
              <a:rPr dirty="0" baseline="25132" sz="3150">
                <a:latin typeface="Tw Cen MT"/>
                <a:cs typeface="Tw Cen MT"/>
              </a:rPr>
              <a:t>1</a:t>
            </a:r>
            <a:r>
              <a:rPr dirty="0" baseline="25132" sz="3150" spc="15">
                <a:latin typeface="Tw Cen MT"/>
                <a:cs typeface="Tw Cen MT"/>
              </a:rPr>
              <a:t> </a:t>
            </a:r>
            <a:r>
              <a:rPr dirty="0" sz="3200" spc="-1280"/>
              <a:t>단계분석</a:t>
            </a:r>
            <a:r>
              <a:rPr dirty="0" sz="3200" spc="-165"/>
              <a:t> </a:t>
            </a:r>
            <a:r>
              <a:rPr dirty="0" sz="3200" spc="-25">
                <a:latin typeface="Tw Cen MT"/>
                <a:cs typeface="Tw Cen MT"/>
              </a:rPr>
              <a:t>(4/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1440" y="1963223"/>
            <a:ext cx="5935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57505" algn="l"/>
              </a:tabLst>
            </a:pPr>
            <a:r>
              <a:rPr dirty="0" sz="1200">
                <a:latin typeface="Arial"/>
                <a:cs typeface="Arial"/>
              </a:rPr>
              <a:t>floyd</a:t>
            </a:r>
            <a:r>
              <a:rPr dirty="0" sz="1200" spc="-3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20">
                <a:latin typeface="Gulim"/>
                <a:cs typeface="Gulim"/>
              </a:rPr>
              <a:t>이차원배월</a:t>
            </a:r>
            <a:r>
              <a:rPr dirty="0" sz="1200" spc="-14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대해</a:t>
            </a:r>
            <a:r>
              <a:rPr dirty="0" sz="1200" spc="-12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</a:t>
            </a:r>
            <a:r>
              <a:rPr dirty="0" baseline="24305" sz="1200" spc="-15">
                <a:latin typeface="Arial"/>
                <a:cs typeface="Arial"/>
              </a:rPr>
              <a:t>-</a:t>
            </a:r>
            <a:r>
              <a:rPr dirty="0" baseline="24305" sz="1200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→A</a:t>
            </a:r>
            <a:r>
              <a:rPr dirty="0" baseline="24305" sz="1200">
                <a:latin typeface="Arial"/>
                <a:cs typeface="Arial"/>
              </a:rPr>
              <a:t>0</a:t>
            </a:r>
            <a:r>
              <a:rPr dirty="0" baseline="24305" sz="1200" spc="-7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→</a:t>
            </a:r>
            <a:r>
              <a:rPr dirty="0" sz="1200" spc="-15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A</a:t>
            </a:r>
            <a:r>
              <a:rPr dirty="0" baseline="24305" sz="1200">
                <a:latin typeface="Arial"/>
                <a:cs typeface="Arial"/>
              </a:rPr>
              <a:t>1</a:t>
            </a:r>
            <a:r>
              <a:rPr dirty="0" baseline="24305" sz="1200" spc="-7">
                <a:latin typeface="Arial"/>
                <a:cs typeface="Arial"/>
              </a:rPr>
              <a:t> </a:t>
            </a:r>
            <a:r>
              <a:rPr dirty="0" sz="1200" spc="-20">
                <a:latin typeface="Arial"/>
                <a:cs typeface="Arial"/>
              </a:rPr>
              <a:t>→</a:t>
            </a:r>
            <a:r>
              <a:rPr dirty="0" sz="1200" spc="-1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…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→</a:t>
            </a:r>
            <a:r>
              <a:rPr dirty="0" sz="1200" spc="-7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</a:t>
            </a:r>
            <a:r>
              <a:rPr dirty="0" baseline="24305" sz="1200" spc="-15">
                <a:latin typeface="Arial"/>
                <a:cs typeface="Arial"/>
              </a:rPr>
              <a:t>n-1</a:t>
            </a:r>
            <a:r>
              <a:rPr dirty="0" sz="1200" spc="-10">
                <a:latin typeface="Gulim"/>
                <a:cs typeface="Gulim"/>
              </a:rPr>
              <a:t>순으로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최단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경로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구해감</a:t>
            </a:r>
            <a:endParaRPr sz="12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1440" y="2962423"/>
            <a:ext cx="2885440" cy="56769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baseline="24305" sz="1200">
                <a:latin typeface="Arial"/>
                <a:cs typeface="Arial"/>
              </a:rPr>
              <a:t>0</a:t>
            </a:r>
            <a:r>
              <a:rPr dirty="0" sz="1200">
                <a:latin typeface="Gulim"/>
                <a:cs typeface="Gulim"/>
              </a:rPr>
              <a:t>의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모든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[i][j]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대해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위의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수식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적용하여</a:t>
            </a:r>
            <a:endParaRPr sz="1200">
              <a:latin typeface="Gulim"/>
              <a:cs typeface="Gulim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Arial"/>
                <a:cs typeface="Arial"/>
              </a:rPr>
              <a:t>A</a:t>
            </a:r>
            <a:r>
              <a:rPr dirty="0" baseline="24305" sz="1200">
                <a:latin typeface="Arial"/>
                <a:cs typeface="Arial"/>
              </a:rPr>
              <a:t>1</a:t>
            </a:r>
            <a:r>
              <a:rPr dirty="0" baseline="24305" sz="1200" spc="142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배열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생성되고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변경거리는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다음과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같음</a:t>
            </a:r>
            <a:endParaRPr sz="12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6840" y="3653953"/>
            <a:ext cx="1016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3542" y="3593026"/>
            <a:ext cx="1630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변경경로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A[0][2],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A[2][0]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Gulim"/>
                <a:cs typeface="Gulim"/>
              </a:rPr>
              <a:t>무한대</a:t>
            </a:r>
            <a:r>
              <a:rPr dirty="0" sz="1200" spc="-20">
                <a:latin typeface="Arial"/>
                <a:cs typeface="Arial"/>
              </a:rPr>
              <a:t>-</a:t>
            </a:r>
            <a:r>
              <a:rPr dirty="0" sz="1200" spc="-25">
                <a:latin typeface="Arial"/>
                <a:cs typeface="Arial"/>
              </a:rPr>
              <a:t>&gt;11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6840" y="4109388"/>
            <a:ext cx="1016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3542" y="4048461"/>
            <a:ext cx="1630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변경경로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A[0][3],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A[3][0]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Gulim"/>
                <a:cs typeface="Gulim"/>
              </a:rPr>
              <a:t>무한대</a:t>
            </a:r>
            <a:r>
              <a:rPr dirty="0" sz="1200" spc="-20">
                <a:latin typeface="Arial"/>
                <a:cs typeface="Arial"/>
              </a:rPr>
              <a:t>-</a:t>
            </a:r>
            <a:r>
              <a:rPr dirty="0" sz="1200" spc="-25">
                <a:latin typeface="Arial"/>
                <a:cs typeface="Arial"/>
              </a:rPr>
              <a:t>&gt;17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6840" y="4563299"/>
            <a:ext cx="1016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23542" y="4502372"/>
            <a:ext cx="1630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변경경로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A[2][4],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A[4][2]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Gulim"/>
                <a:cs typeface="Gulim"/>
              </a:rPr>
              <a:t>무한대</a:t>
            </a:r>
            <a:r>
              <a:rPr dirty="0" sz="1200" spc="-20">
                <a:latin typeface="Arial"/>
                <a:cs typeface="Arial"/>
              </a:rPr>
              <a:t>-</a:t>
            </a:r>
            <a:r>
              <a:rPr dirty="0" sz="1200" spc="-25">
                <a:latin typeface="Arial"/>
                <a:cs typeface="Arial"/>
              </a:rPr>
              <a:t>&gt;6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6840" y="5017197"/>
            <a:ext cx="1016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solidFill>
                  <a:srgbClr val="DD8046"/>
                </a:solidFill>
                <a:latin typeface="Arial"/>
                <a:cs typeface="Arial"/>
              </a:rPr>
              <a:t>4.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23542" y="4956270"/>
            <a:ext cx="1630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변경경로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A[2][5],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A[5][2]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Gulim"/>
                <a:cs typeface="Gulim"/>
              </a:rPr>
              <a:t>무한대</a:t>
            </a:r>
            <a:r>
              <a:rPr dirty="0" sz="1200" spc="-20">
                <a:latin typeface="Arial"/>
                <a:cs typeface="Arial"/>
              </a:rPr>
              <a:t>-</a:t>
            </a:r>
            <a:r>
              <a:rPr dirty="0" sz="1200" spc="-25">
                <a:latin typeface="Arial"/>
                <a:cs typeface="Arial"/>
              </a:rPr>
              <a:t>&gt;10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6840" y="5472631"/>
            <a:ext cx="10160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-25">
                <a:solidFill>
                  <a:srgbClr val="DD8046"/>
                </a:solidFill>
                <a:latin typeface="Arial"/>
                <a:cs typeface="Arial"/>
              </a:rPr>
              <a:t>5.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23542" y="5411704"/>
            <a:ext cx="1630045" cy="389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 spc="-20">
                <a:latin typeface="Gulim"/>
                <a:cs typeface="Gulim"/>
              </a:rPr>
              <a:t>변경경로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A[4][5],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A[5][4] 13-</a:t>
            </a:r>
            <a:r>
              <a:rPr dirty="0" sz="1200" spc="-25">
                <a:latin typeface="Arial"/>
                <a:cs typeface="Arial"/>
              </a:rPr>
              <a:t>&gt;8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6555" y="2380729"/>
            <a:ext cx="2549906" cy="51330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8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>
                <a:latin typeface="Tw Cen MT"/>
                <a:cs typeface="Tw Cen MT"/>
              </a:rPr>
              <a:t>A</a:t>
            </a:r>
            <a:r>
              <a:rPr dirty="0" baseline="25132" sz="3150">
                <a:latin typeface="Tw Cen MT"/>
                <a:cs typeface="Tw Cen MT"/>
              </a:rPr>
              <a:t>2</a:t>
            </a:r>
            <a:r>
              <a:rPr dirty="0" baseline="25132" sz="3150" spc="7">
                <a:latin typeface="Tw Cen MT"/>
                <a:cs typeface="Tw Cen MT"/>
              </a:rPr>
              <a:t> </a:t>
            </a:r>
            <a:r>
              <a:rPr dirty="0" baseline="25132" sz="3150">
                <a:latin typeface="Tw Cen MT"/>
                <a:cs typeface="Tw Cen MT"/>
              </a:rPr>
              <a:t>…</a:t>
            </a:r>
            <a:r>
              <a:rPr dirty="0" baseline="25132" sz="3150" spc="450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A</a:t>
            </a:r>
            <a:r>
              <a:rPr dirty="0" baseline="25132" sz="3150">
                <a:latin typeface="Tw Cen MT"/>
                <a:cs typeface="Tw Cen MT"/>
              </a:rPr>
              <a:t>6</a:t>
            </a:r>
            <a:r>
              <a:rPr dirty="0" baseline="25132" sz="3150" spc="22">
                <a:latin typeface="Tw Cen MT"/>
                <a:cs typeface="Tw Cen MT"/>
              </a:rPr>
              <a:t> </a:t>
            </a:r>
            <a:r>
              <a:rPr dirty="0" sz="3200" spc="-994"/>
              <a:t>단계</a:t>
            </a:r>
            <a:r>
              <a:rPr dirty="0" sz="3200" spc="-185"/>
              <a:t> </a:t>
            </a:r>
            <a:r>
              <a:rPr dirty="0" sz="3200" spc="-1555"/>
              <a:t>분석</a:t>
            </a:r>
            <a:r>
              <a:rPr dirty="0" sz="3200" spc="-165"/>
              <a:t> </a:t>
            </a:r>
            <a:r>
              <a:rPr dirty="0" sz="3200" spc="-25">
                <a:latin typeface="Tw Cen MT"/>
                <a:cs typeface="Tw Cen MT"/>
              </a:rPr>
              <a:t>(5/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440" y="1963224"/>
            <a:ext cx="6097270" cy="105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7505" marR="304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7142"/>
              <a:buFont typeface="Wingdings"/>
              <a:buChar char=""/>
              <a:tabLst>
                <a:tab pos="357505" algn="l"/>
              </a:tabLst>
            </a:pPr>
            <a:r>
              <a:rPr dirty="0" sz="1400">
                <a:latin typeface="Arial"/>
                <a:cs typeface="Arial"/>
              </a:rPr>
              <a:t>floyd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방식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이차원배월</a:t>
            </a:r>
            <a:r>
              <a:rPr dirty="0" sz="1400" spc="-18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</a:t>
            </a:r>
            <a:r>
              <a:rPr dirty="0" sz="1400" spc="-15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</a:t>
            </a:r>
            <a:r>
              <a:rPr dirty="0" baseline="24691" sz="1350" spc="-15">
                <a:latin typeface="Arial"/>
                <a:cs typeface="Arial"/>
              </a:rPr>
              <a:t>-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sz="1400">
                <a:latin typeface="Arial"/>
                <a:cs typeface="Arial"/>
              </a:rPr>
              <a:t>→A</a:t>
            </a:r>
            <a:r>
              <a:rPr dirty="0" baseline="24691" sz="1350">
                <a:latin typeface="Arial"/>
                <a:cs typeface="Arial"/>
              </a:rPr>
              <a:t>0</a:t>
            </a:r>
            <a:r>
              <a:rPr dirty="0" baseline="24691" sz="135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9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baseline="24691" sz="135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…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n-1</a:t>
            </a:r>
            <a:r>
              <a:rPr dirty="0" sz="1400">
                <a:latin typeface="Gulim"/>
                <a:cs typeface="Gulim"/>
              </a:rPr>
              <a:t>순으로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최단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경 </a:t>
            </a:r>
            <a:r>
              <a:rPr dirty="0" sz="1400">
                <a:latin typeface="Gulim"/>
                <a:cs typeface="Gulim"/>
              </a:rPr>
              <a:t>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구해감</a:t>
            </a:r>
            <a:endParaRPr sz="1400">
              <a:latin typeface="Gulim"/>
              <a:cs typeface="Gulim"/>
            </a:endParaRPr>
          </a:p>
          <a:p>
            <a:pPr marL="38100" marR="151765">
              <a:lnSpc>
                <a:spcPts val="2370"/>
              </a:lnSpc>
              <a:spcBef>
                <a:spcPts val="110"/>
              </a:spcBef>
            </a:pPr>
            <a:r>
              <a:rPr dirty="0" sz="1400">
                <a:latin typeface="Gulim"/>
                <a:cs typeface="Gulim"/>
              </a:rPr>
              <a:t>교재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426P~427P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그림</a:t>
            </a:r>
            <a:r>
              <a:rPr dirty="0" sz="1400" spc="-16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2</a:t>
            </a:r>
            <a:r>
              <a:rPr dirty="0" baseline="24691" sz="1350" spc="44">
                <a:latin typeface="Arial"/>
                <a:cs typeface="Arial"/>
              </a:rPr>
              <a:t> </a:t>
            </a:r>
            <a:r>
              <a:rPr dirty="0" baseline="24691" sz="1350">
                <a:latin typeface="Arial"/>
                <a:cs typeface="Arial"/>
              </a:rPr>
              <a:t>…</a:t>
            </a:r>
            <a:r>
              <a:rPr dirty="0" baseline="24691" sz="1350" spc="104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6</a:t>
            </a:r>
            <a:r>
              <a:rPr dirty="0" baseline="24691" sz="1350" spc="232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단계가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이차원배열</a:t>
            </a:r>
            <a:r>
              <a:rPr dirty="0" sz="1400" spc="-17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>
                <a:latin typeface="Gulim"/>
                <a:cs typeface="Gulim"/>
              </a:rPr>
              <a:t>가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update</a:t>
            </a:r>
            <a:r>
              <a:rPr dirty="0" sz="1400" spc="-10">
                <a:latin typeface="Gulim"/>
                <a:cs typeface="Gulim"/>
              </a:rPr>
              <a:t>되면서</a:t>
            </a:r>
            <a:r>
              <a:rPr dirty="0" sz="1400" spc="-12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진행함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31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요소들이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update</a:t>
            </a:r>
            <a:r>
              <a:rPr dirty="0" sz="1400" spc="-10">
                <a:latin typeface="Gulim"/>
                <a:cs typeface="Gulim"/>
              </a:rPr>
              <a:t>되는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수식도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교재에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단계별로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있음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2806" y="539203"/>
            <a:ext cx="2082558" cy="19237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7100" y="2609214"/>
            <a:ext cx="2635170" cy="16937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8225" y="4412665"/>
            <a:ext cx="2530119" cy="58032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2998" y="5088940"/>
            <a:ext cx="2616898" cy="201822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51266" y="683399"/>
            <a:ext cx="6207125" cy="7569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237740" algn="l"/>
              </a:tabLst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20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15">
                <a:latin typeface="Tw Cen MT"/>
                <a:cs typeface="Tw Cen MT"/>
              </a:rPr>
              <a:t> </a:t>
            </a:r>
            <a:r>
              <a:rPr dirty="0" sz="2400" spc="-20">
                <a:latin typeface="Tw Cen MT"/>
                <a:cs typeface="Tw Cen MT"/>
              </a:rPr>
              <a:t>floyd</a:t>
            </a:r>
            <a:r>
              <a:rPr dirty="0" sz="2400">
                <a:latin typeface="Tw Cen MT"/>
                <a:cs typeface="Tw Cen MT"/>
              </a:rPr>
              <a:t>	</a:t>
            </a:r>
            <a:r>
              <a:rPr dirty="0" sz="2400" spc="-520">
                <a:latin typeface="Tw Cen MT"/>
                <a:cs typeface="Tw Cen MT"/>
              </a:rPr>
              <a:t>8</a:t>
            </a:r>
            <a:r>
              <a:rPr dirty="0" sz="2400" spc="-520"/>
              <a:t>단계</a:t>
            </a:r>
            <a:r>
              <a:rPr dirty="0" sz="2400" spc="-120"/>
              <a:t> </a:t>
            </a:r>
            <a:r>
              <a:rPr dirty="0" sz="2400" spc="-1035"/>
              <a:t>그림과</a:t>
            </a:r>
            <a:r>
              <a:rPr dirty="0" sz="2400" spc="-130"/>
              <a:t> </a:t>
            </a:r>
            <a:r>
              <a:rPr dirty="0" sz="2400">
                <a:latin typeface="Tw Cen MT"/>
                <a:cs typeface="Tw Cen MT"/>
              </a:rPr>
              <a:t>VS</a:t>
            </a:r>
            <a:r>
              <a:rPr dirty="0" sz="2400" spc="-10">
                <a:latin typeface="Tw Cen MT"/>
                <a:cs typeface="Tw Cen MT"/>
              </a:rPr>
              <a:t> </a:t>
            </a:r>
            <a:r>
              <a:rPr dirty="0" sz="2400" spc="-944"/>
              <a:t>한줄씩수행과</a:t>
            </a:r>
            <a:r>
              <a:rPr dirty="0" sz="2400" spc="-110"/>
              <a:t> </a:t>
            </a:r>
            <a:r>
              <a:rPr dirty="0" sz="2400" spc="-1125"/>
              <a:t>변수창을</a:t>
            </a:r>
            <a:r>
              <a:rPr dirty="0" sz="2400" spc="-135"/>
              <a:t> </a:t>
            </a:r>
            <a:r>
              <a:rPr dirty="0" sz="2400" spc="-1245"/>
              <a:t>보니</a:t>
            </a:r>
            <a:r>
              <a:rPr dirty="0" sz="2400" spc="600"/>
              <a:t> </a:t>
            </a:r>
            <a:r>
              <a:rPr dirty="0" sz="2400" spc="-990"/>
              <a:t>복잡해</a:t>
            </a:r>
            <a:r>
              <a:rPr dirty="0" sz="2400" spc="-120"/>
              <a:t> </a:t>
            </a:r>
            <a:r>
              <a:rPr dirty="0" sz="2400" spc="-1285"/>
              <a:t>보이는</a:t>
            </a:r>
            <a:r>
              <a:rPr dirty="0" sz="2400" spc="-150"/>
              <a:t> </a:t>
            </a:r>
            <a:r>
              <a:rPr dirty="0" sz="2400" spc="-10">
                <a:latin typeface="Tw Cen MT"/>
                <a:cs typeface="Tw Cen MT"/>
              </a:rPr>
              <a:t>floyd.c</a:t>
            </a:r>
            <a:r>
              <a:rPr dirty="0" sz="2400" spc="-114">
                <a:latin typeface="Tw Cen MT"/>
                <a:cs typeface="Tw Cen MT"/>
              </a:rPr>
              <a:t> </a:t>
            </a:r>
            <a:r>
              <a:rPr dirty="0" sz="2400" spc="-1210"/>
              <a:t>코드가</a:t>
            </a:r>
            <a:r>
              <a:rPr dirty="0" sz="2400" spc="-130"/>
              <a:t> </a:t>
            </a:r>
            <a:r>
              <a:rPr dirty="0" sz="2400" spc="-1050"/>
              <a:t>이해되는</a:t>
            </a:r>
            <a:r>
              <a:rPr dirty="0" sz="2400" spc="-135"/>
              <a:t> </a:t>
            </a:r>
            <a:r>
              <a:rPr dirty="0" sz="2400" spc="-915"/>
              <a:t>것</a:t>
            </a:r>
            <a:r>
              <a:rPr dirty="0" sz="2400" spc="-135"/>
              <a:t> </a:t>
            </a:r>
            <a:r>
              <a:rPr dirty="0" sz="2400" spc="-815"/>
              <a:t>같습니다</a:t>
            </a:r>
            <a:r>
              <a:rPr dirty="0" sz="2400" spc="-815">
                <a:latin typeface="Tw Cen MT"/>
                <a:cs typeface="Tw Cen MT"/>
              </a:rPr>
              <a:t>.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3698" y="1785511"/>
            <a:ext cx="5895975" cy="286829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코드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+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0">
                <a:latin typeface="Gulim"/>
                <a:cs typeface="Gulim"/>
              </a:rPr>
              <a:t>알고리즘</a:t>
            </a:r>
            <a:endParaRPr sz="14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dirty="0" sz="1400">
                <a:latin typeface="Arial"/>
                <a:cs typeface="Arial"/>
              </a:rPr>
              <a:t>VS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알고리즘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수행하는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변수창이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latin typeface="Gulim"/>
                <a:cs typeface="Gulim"/>
              </a:rPr>
              <a:t>이차원배열의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변수창에서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변화값을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보기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어려우므로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콘솔창에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출력</a:t>
            </a:r>
            <a:endParaRPr sz="1400">
              <a:latin typeface="Gulim"/>
              <a:cs typeface="Gulim"/>
            </a:endParaRPr>
          </a:p>
          <a:p>
            <a:pPr marL="370205" marR="4318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7142"/>
              <a:buFont typeface="Wingdings"/>
              <a:buChar char=""/>
              <a:tabLst>
                <a:tab pos="370205" algn="l"/>
              </a:tabLst>
            </a:pPr>
            <a:r>
              <a:rPr dirty="0" sz="1400">
                <a:latin typeface="Arial"/>
                <a:cs typeface="Arial"/>
              </a:rPr>
              <a:t>floyd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방식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이차원배월</a:t>
            </a:r>
            <a:r>
              <a:rPr dirty="0" sz="1400" spc="-18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</a:t>
            </a:r>
            <a:r>
              <a:rPr dirty="0" sz="1400" spc="-15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A</a:t>
            </a:r>
            <a:r>
              <a:rPr dirty="0" baseline="24691" sz="1350" spc="-15">
                <a:latin typeface="Arial"/>
                <a:cs typeface="Arial"/>
              </a:rPr>
              <a:t>-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sz="1400">
                <a:latin typeface="Arial"/>
                <a:cs typeface="Arial"/>
              </a:rPr>
              <a:t>→A</a:t>
            </a:r>
            <a:r>
              <a:rPr dirty="0" baseline="24691" sz="1350">
                <a:latin typeface="Arial"/>
                <a:cs typeface="Arial"/>
              </a:rPr>
              <a:t>0</a:t>
            </a:r>
            <a:r>
              <a:rPr dirty="0" baseline="24691" sz="135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9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baseline="24691" sz="1350" spc="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1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…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→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n-1</a:t>
            </a:r>
            <a:r>
              <a:rPr dirty="0" sz="1400">
                <a:latin typeface="Gulim"/>
                <a:cs typeface="Gulim"/>
              </a:rPr>
              <a:t>순으로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최단 </a:t>
            </a:r>
            <a:r>
              <a:rPr dirty="0" sz="1400">
                <a:latin typeface="Gulim"/>
                <a:cs typeface="Gulim"/>
              </a:rPr>
              <a:t>경로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구해감</a:t>
            </a:r>
            <a:endParaRPr sz="1400">
              <a:latin typeface="Gulim"/>
              <a:cs typeface="Gulim"/>
            </a:endParaRPr>
          </a:p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dirty="0" sz="1400" spc="-10">
                <a:latin typeface="Arial"/>
                <a:cs typeface="Arial"/>
              </a:rPr>
              <a:t>A</a:t>
            </a:r>
            <a:r>
              <a:rPr dirty="0" baseline="24691" sz="1350" spc="-15">
                <a:latin typeface="Arial"/>
                <a:cs typeface="Arial"/>
              </a:rPr>
              <a:t>-</a:t>
            </a:r>
            <a:r>
              <a:rPr dirty="0" baseline="24691" sz="135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모든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[i][j]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수식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적용하여</a:t>
            </a:r>
            <a:r>
              <a:rPr dirty="0" sz="1400" spc="-16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baseline="24691" sz="1350">
                <a:latin typeface="Arial"/>
                <a:cs typeface="Arial"/>
              </a:rPr>
              <a:t>0</a:t>
            </a:r>
            <a:r>
              <a:rPr dirty="0" baseline="24691" sz="1350" spc="217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배열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1400">
              <a:latin typeface="Gulim"/>
              <a:cs typeface="Gulim"/>
            </a:endParaRPr>
          </a:p>
          <a:p>
            <a:pPr marL="370205" indent="-319405">
              <a:lnSpc>
                <a:spcPct val="100000"/>
              </a:lnSpc>
              <a:buClr>
                <a:srgbClr val="DD8046"/>
              </a:buClr>
              <a:buSzPct val="57142"/>
              <a:buFont typeface="Wingdings"/>
              <a:buChar char=""/>
              <a:tabLst>
                <a:tab pos="370205" algn="l"/>
              </a:tabLst>
            </a:pP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그래프에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대해서도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만들어보고</a:t>
            </a:r>
            <a:endParaRPr sz="1400">
              <a:latin typeface="Gulim"/>
              <a:cs typeface="Gulim"/>
            </a:endParaRPr>
          </a:p>
          <a:p>
            <a:pPr marL="37020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>
                <a:latin typeface="Gulim"/>
                <a:cs typeface="Gulim"/>
              </a:rPr>
              <a:t>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수행및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콘솔창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확인해보세요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8846" y="5261063"/>
            <a:ext cx="975817" cy="15627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93532" y="5290117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0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3592" y="5976095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2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0184" y="5838897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5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6882" y="5907502"/>
            <a:ext cx="996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50">
                <a:latin typeface="Tw Cen MT"/>
                <a:cs typeface="Tw Cen MT"/>
              </a:rPr>
              <a:t>6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6308" y="5548012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10</a:t>
            </a:r>
            <a:endParaRPr sz="10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0901" y="6181769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27</a:t>
            </a:r>
            <a:endParaRPr sz="10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4251" y="6062489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25</a:t>
            </a:r>
            <a:endParaRPr sz="10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57489" y="6384780"/>
            <a:ext cx="547370" cy="4216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dirty="0" sz="1050" spc="-50">
                <a:latin typeface="Tw Cen MT"/>
                <a:cs typeface="Tw Cen MT"/>
              </a:rPr>
              <a:t>4</a:t>
            </a:r>
            <a:endParaRPr sz="1050">
              <a:latin typeface="Tw Cen MT"/>
              <a:cs typeface="Tw Cen MT"/>
            </a:endParaRPr>
          </a:p>
          <a:p>
            <a:pPr marL="187960">
              <a:lnSpc>
                <a:spcPct val="100000"/>
              </a:lnSpc>
              <a:spcBef>
                <a:spcPts val="300"/>
              </a:spcBef>
            </a:pPr>
            <a:r>
              <a:rPr dirty="0" sz="1000">
                <a:latin typeface="Gulim"/>
                <a:cs typeface="Gulim"/>
              </a:rPr>
              <a:t>22</a:t>
            </a:r>
            <a:r>
              <a:rPr dirty="0" sz="1000" spc="345">
                <a:latin typeface="Gulim"/>
                <a:cs typeface="Gulim"/>
              </a:rPr>
              <a:t> </a:t>
            </a:r>
            <a:r>
              <a:rPr dirty="0" baseline="10582" sz="1575" spc="-75">
                <a:latin typeface="Tw Cen MT"/>
                <a:cs typeface="Tw Cen MT"/>
              </a:rPr>
              <a:t>3</a:t>
            </a:r>
            <a:endParaRPr baseline="10582" sz="1575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0958" y="6165395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18</a:t>
            </a:r>
            <a:endParaRPr sz="10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7650" y="6281540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12</a:t>
            </a:r>
            <a:endParaRPr sz="10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6388" y="5616605"/>
            <a:ext cx="1714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16</a:t>
            </a:r>
            <a:endParaRPr sz="10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40941" y="5221394"/>
            <a:ext cx="318770" cy="504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01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29</a:t>
            </a:r>
            <a:endParaRPr sz="1000">
              <a:latin typeface="Gulim"/>
              <a:cs typeface="Gulim"/>
            </a:endParaRPr>
          </a:p>
          <a:p>
            <a:pPr algn="r" marR="5080">
              <a:lnSpc>
                <a:spcPts val="1070"/>
              </a:lnSpc>
            </a:pPr>
            <a:r>
              <a:rPr dirty="0" sz="1050" spc="-50">
                <a:latin typeface="Tw Cen MT"/>
                <a:cs typeface="Tw Cen MT"/>
              </a:rPr>
              <a:t>1</a:t>
            </a:r>
            <a:endParaRPr sz="1050">
              <a:latin typeface="Tw Cen MT"/>
              <a:cs typeface="Tw Cen MT"/>
            </a:endParaRPr>
          </a:p>
          <a:p>
            <a:pPr marL="35560">
              <a:lnSpc>
                <a:spcPct val="100000"/>
              </a:lnSpc>
              <a:spcBef>
                <a:spcPts val="490"/>
              </a:spcBef>
            </a:pPr>
            <a:r>
              <a:rPr dirty="0" sz="1000" spc="-25">
                <a:latin typeface="Gulim"/>
                <a:cs typeface="Gulim"/>
              </a:rPr>
              <a:t>15</a:t>
            </a:r>
            <a:endParaRPr sz="1000">
              <a:latin typeface="Gulim"/>
              <a:cs typeface="Gulim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72095" y="1270330"/>
            <a:ext cx="2082800" cy="3126740"/>
            <a:chOff x="7572095" y="1270330"/>
            <a:chExt cx="2082800" cy="312674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095" y="1270330"/>
              <a:ext cx="2082558" cy="192378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3429" y="3233712"/>
              <a:ext cx="1626724" cy="1162741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84377" y="4452264"/>
            <a:ext cx="2436484" cy="456949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019" rIns="0" bIns="0" rtlCol="0" vert="horz">
            <a:spAutoFit/>
          </a:bodyPr>
          <a:lstStyle/>
          <a:p>
            <a:pPr marL="290830">
              <a:lnSpc>
                <a:spcPct val="100000"/>
              </a:lnSpc>
              <a:spcBef>
                <a:spcPts val="90"/>
              </a:spcBef>
            </a:pPr>
            <a:r>
              <a:rPr dirty="0" sz="4000" spc="-305">
                <a:latin typeface="Tw Cen MT"/>
                <a:cs typeface="Tw Cen MT"/>
              </a:rPr>
              <a:t>Floyd</a:t>
            </a:r>
            <a:r>
              <a:rPr dirty="0" sz="3600" spc="-305"/>
              <a:t>의</a:t>
            </a:r>
            <a:r>
              <a:rPr dirty="0" sz="3600" spc="-220"/>
              <a:t> </a:t>
            </a:r>
            <a:r>
              <a:rPr dirty="0" sz="3600" spc="-1545"/>
              <a:t>최단경로</a:t>
            </a:r>
            <a:r>
              <a:rPr dirty="0" sz="3600" spc="-190"/>
              <a:t> </a:t>
            </a:r>
            <a:r>
              <a:rPr dirty="0" sz="3600" spc="-1725"/>
              <a:t>알고리즘</a:t>
            </a:r>
            <a:r>
              <a:rPr dirty="0" sz="3600" spc="-195"/>
              <a:t> </a:t>
            </a:r>
            <a:r>
              <a:rPr dirty="0" sz="3600" spc="-1820"/>
              <a:t>복잡도</a:t>
            </a:r>
            <a:endParaRPr sz="36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4343" y="1979620"/>
            <a:ext cx="8002905" cy="208597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70205" marR="43180" indent="-320040">
              <a:lnSpc>
                <a:spcPts val="1870"/>
              </a:lnSpc>
              <a:spcBef>
                <a:spcPts val="200"/>
              </a:spcBef>
              <a:buClr>
                <a:srgbClr val="DD8046"/>
              </a:buClr>
              <a:buSzPct val="59375"/>
              <a:buFont typeface="Wingdings"/>
              <a:buChar char=""/>
              <a:tabLst>
                <a:tab pos="370205" algn="l"/>
              </a:tabLst>
            </a:pPr>
            <a:r>
              <a:rPr dirty="0" sz="1600" spc="-10">
                <a:latin typeface="Gulim"/>
                <a:cs typeface="Gulim"/>
              </a:rPr>
              <a:t>네트워크에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n</a:t>
            </a:r>
            <a:r>
              <a:rPr dirty="0" sz="1600">
                <a:latin typeface="Gulim"/>
                <a:cs typeface="Gulim"/>
              </a:rPr>
              <a:t>개의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정점이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있다면</a:t>
            </a:r>
            <a:r>
              <a:rPr dirty="0" sz="1600">
                <a:latin typeface="Arial"/>
                <a:cs typeface="Arial"/>
              </a:rPr>
              <a:t>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Floyd</a:t>
            </a:r>
            <a:r>
              <a:rPr dirty="0" sz="1600" spc="-10">
                <a:latin typeface="Gulim"/>
                <a:cs typeface="Gulim"/>
              </a:rPr>
              <a:t>의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최단경로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알고리즘은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3</a:t>
            </a:r>
            <a:r>
              <a:rPr dirty="0" sz="1600">
                <a:latin typeface="Gulim"/>
                <a:cs typeface="Gulim"/>
              </a:rPr>
              <a:t>중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반복문을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실행되 </a:t>
            </a:r>
            <a:r>
              <a:rPr dirty="0" sz="1600">
                <a:latin typeface="Gulim"/>
                <a:cs typeface="Gulim"/>
              </a:rPr>
              <a:t>므로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시간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복잡도는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50" spc="-65" i="1">
                <a:latin typeface="Gulim"/>
                <a:cs typeface="Gulim"/>
              </a:rPr>
              <a:t>O(n</a:t>
            </a:r>
            <a:r>
              <a:rPr dirty="0" baseline="25252" sz="1650" spc="-97" i="1">
                <a:latin typeface="Gulim"/>
                <a:cs typeface="Gulim"/>
              </a:rPr>
              <a:t>3</a:t>
            </a:r>
            <a:r>
              <a:rPr dirty="0" sz="1650" spc="-65" i="1">
                <a:latin typeface="Gulim"/>
                <a:cs typeface="Gulim"/>
              </a:rPr>
              <a:t>)</a:t>
            </a:r>
            <a:r>
              <a:rPr dirty="0" sz="1650" spc="-180" i="1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된다</a:t>
            </a:r>
            <a:endParaRPr sz="1600">
              <a:latin typeface="Gulim"/>
              <a:cs typeface="Gulim"/>
            </a:endParaRPr>
          </a:p>
          <a:p>
            <a:pPr marL="370205" marR="116205" indent="-320040">
              <a:lnSpc>
                <a:spcPts val="1920"/>
              </a:lnSpc>
              <a:spcBef>
                <a:spcPts val="705"/>
              </a:spcBef>
              <a:buClr>
                <a:srgbClr val="DD8046"/>
              </a:buClr>
              <a:buSzPct val="59375"/>
              <a:buFont typeface="Wingdings"/>
              <a:buChar char=""/>
              <a:tabLst>
                <a:tab pos="370205" algn="l"/>
              </a:tabLst>
            </a:pPr>
            <a:r>
              <a:rPr dirty="0" sz="1600">
                <a:latin typeface="Gulim"/>
                <a:cs typeface="Gulim"/>
              </a:rPr>
              <a:t>모든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정점상의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최단경로를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구하려면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Dijkstra</a:t>
            </a:r>
            <a:r>
              <a:rPr dirty="0" sz="1600">
                <a:latin typeface="Gulim"/>
                <a:cs typeface="Gulim"/>
              </a:rPr>
              <a:t>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알고리즘</a:t>
            </a:r>
            <a:r>
              <a:rPr dirty="0" sz="1600" spc="-175">
                <a:latin typeface="Gulim"/>
                <a:cs typeface="Gulim"/>
              </a:rPr>
              <a:t> </a:t>
            </a:r>
            <a:r>
              <a:rPr dirty="0" sz="1650" spc="-70" i="1">
                <a:latin typeface="Gulim"/>
                <a:cs typeface="Gulim"/>
              </a:rPr>
              <a:t>O(n</a:t>
            </a:r>
            <a:r>
              <a:rPr dirty="0" baseline="25252" sz="1650" spc="-104" i="1">
                <a:latin typeface="Gulim"/>
                <a:cs typeface="Gulim"/>
              </a:rPr>
              <a:t>2</a:t>
            </a:r>
            <a:r>
              <a:rPr dirty="0" sz="1650" spc="-70" i="1">
                <a:latin typeface="Gulim"/>
                <a:cs typeface="Gulim"/>
              </a:rPr>
              <a:t>)</a:t>
            </a:r>
            <a:r>
              <a:rPr dirty="0" sz="1600" spc="-70">
                <a:latin typeface="Gulim"/>
                <a:cs typeface="Gulim"/>
              </a:rPr>
              <a:t>을</a:t>
            </a:r>
            <a:r>
              <a:rPr dirty="0" sz="1600" spc="-80">
                <a:latin typeface="Gulim"/>
                <a:cs typeface="Gulim"/>
              </a:rPr>
              <a:t> </a:t>
            </a:r>
            <a:r>
              <a:rPr dirty="0" sz="1600" i="1">
                <a:latin typeface="Arial"/>
                <a:cs typeface="Arial"/>
              </a:rPr>
              <a:t>n</a:t>
            </a:r>
            <a:r>
              <a:rPr dirty="0" sz="1600">
                <a:latin typeface="Gulim"/>
                <a:cs typeface="Gulim"/>
              </a:rPr>
              <a:t>번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반복해도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되며</a:t>
            </a:r>
            <a:r>
              <a:rPr dirty="0" sz="1600" spc="-25">
                <a:latin typeface="Arial"/>
                <a:cs typeface="Arial"/>
              </a:rPr>
              <a:t>, 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경우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전체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복잡도는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50" spc="-65" i="1">
                <a:latin typeface="Gulim"/>
                <a:cs typeface="Gulim"/>
              </a:rPr>
              <a:t>O(n</a:t>
            </a:r>
            <a:r>
              <a:rPr dirty="0" baseline="25252" sz="1650" spc="-97" i="1">
                <a:latin typeface="Gulim"/>
                <a:cs typeface="Gulim"/>
              </a:rPr>
              <a:t>3</a:t>
            </a:r>
            <a:r>
              <a:rPr dirty="0" sz="1650" spc="-65" i="1">
                <a:latin typeface="Gulim"/>
                <a:cs typeface="Gulim"/>
              </a:rPr>
              <a:t>)</a:t>
            </a:r>
            <a:r>
              <a:rPr dirty="0" sz="1650" spc="-180" i="1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된다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600">
              <a:latin typeface="Gulim"/>
              <a:cs typeface="Gulim"/>
            </a:endParaRPr>
          </a:p>
          <a:p>
            <a:pPr marL="50800" marR="607695">
              <a:lnSpc>
                <a:spcPct val="136200"/>
              </a:lnSpc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Dijkstra</a:t>
            </a:r>
            <a:r>
              <a:rPr dirty="0" sz="1600">
                <a:latin typeface="Gulim"/>
                <a:cs typeface="Gulim"/>
              </a:rPr>
              <a:t>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Floyd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복잡도가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동일한데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all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to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all</a:t>
            </a:r>
            <a:r>
              <a:rPr dirty="0" sz="1600">
                <a:latin typeface="Gulim"/>
                <a:cs typeface="Gulim"/>
              </a:rPr>
              <a:t>도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Dijkstra</a:t>
            </a:r>
            <a:r>
              <a:rPr dirty="0" sz="1600">
                <a:latin typeface="Gulim"/>
                <a:cs typeface="Gulim"/>
              </a:rPr>
              <a:t>로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하면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되지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않나요</a:t>
            </a:r>
            <a:r>
              <a:rPr dirty="0" sz="1600" spc="-20">
                <a:latin typeface="Arial"/>
                <a:cs typeface="Arial"/>
              </a:rPr>
              <a:t>? </a:t>
            </a: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Floyd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코드가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Dijkstra</a:t>
            </a:r>
            <a:r>
              <a:rPr dirty="0" sz="1600" spc="-10">
                <a:latin typeface="Gulim"/>
                <a:cs typeface="Gulim"/>
              </a:rPr>
              <a:t>보다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간결하여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수행시간이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빠름니다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865" y="4633518"/>
            <a:ext cx="3700792" cy="2473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5410" y="4310595"/>
            <a:ext cx="4629416" cy="28407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564" rIns="0" bIns="0" rtlCol="0" vert="horz">
            <a:spAutoFit/>
          </a:bodyPr>
          <a:lstStyle/>
          <a:p>
            <a:pPr marL="138430">
              <a:lnSpc>
                <a:spcPts val="2880"/>
              </a:lnSpc>
              <a:spcBef>
                <a:spcPts val="95"/>
              </a:spcBef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15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5">
                <a:latin typeface="Tw Cen MT"/>
                <a:cs typeface="Tw Cen MT"/>
              </a:rPr>
              <a:t> </a:t>
            </a:r>
            <a:r>
              <a:rPr dirty="0" sz="2400" spc="-204">
                <a:latin typeface="Tw Cen MT"/>
                <a:cs typeface="Tw Cen MT"/>
              </a:rPr>
              <a:t>floyd.c</a:t>
            </a:r>
            <a:r>
              <a:rPr dirty="0" sz="2400" spc="-204"/>
              <a:t>를</a:t>
            </a:r>
            <a:r>
              <a:rPr dirty="0" sz="2400" spc="-145"/>
              <a:t> </a:t>
            </a:r>
            <a:r>
              <a:rPr dirty="0" sz="2400" spc="-975"/>
              <a:t>수행하면</a:t>
            </a:r>
            <a:r>
              <a:rPr dirty="0" sz="2400" spc="-110"/>
              <a:t> </a:t>
            </a:r>
            <a:r>
              <a:rPr dirty="0" sz="2400" spc="-570">
                <a:latin typeface="Tw Cen MT"/>
                <a:cs typeface="Tw Cen MT"/>
              </a:rPr>
              <a:t>2</a:t>
            </a:r>
            <a:r>
              <a:rPr dirty="0" sz="2400" spc="-570"/>
              <a:t>차원</a:t>
            </a:r>
            <a:r>
              <a:rPr dirty="0" sz="2400" spc="-125"/>
              <a:t> </a:t>
            </a:r>
            <a:r>
              <a:rPr dirty="0" sz="2400">
                <a:latin typeface="Tw Cen MT"/>
                <a:cs typeface="Tw Cen MT"/>
              </a:rPr>
              <a:t>distance</a:t>
            </a:r>
            <a:r>
              <a:rPr dirty="0" sz="2400" spc="-5">
                <a:latin typeface="Tw Cen MT"/>
                <a:cs typeface="Tw Cen MT"/>
              </a:rPr>
              <a:t> </a:t>
            </a:r>
            <a:r>
              <a:rPr dirty="0" sz="2400" spc="-819"/>
              <a:t>배열만</a:t>
            </a:r>
            <a:r>
              <a:rPr dirty="0" sz="2400" spc="-125"/>
              <a:t> </a:t>
            </a:r>
            <a:r>
              <a:rPr dirty="0" sz="2400" spc="-844"/>
              <a:t>나와서</a:t>
            </a:r>
            <a:r>
              <a:rPr dirty="0" sz="2400" spc="-125"/>
              <a:t> </a:t>
            </a:r>
            <a:r>
              <a:rPr dirty="0" sz="2400" spc="-900"/>
              <a:t>시작점</a:t>
            </a:r>
            <a:r>
              <a:rPr dirty="0" sz="2400" spc="-125"/>
              <a:t> </a:t>
            </a:r>
            <a:r>
              <a:rPr dirty="0" sz="2400" spc="-600">
                <a:latin typeface="Tw Cen MT"/>
                <a:cs typeface="Tw Cen MT"/>
              </a:rPr>
              <a:t>0</a:t>
            </a:r>
            <a:r>
              <a:rPr dirty="0" sz="2400" spc="-600"/>
              <a:t>에서</a:t>
            </a:r>
            <a:r>
              <a:rPr dirty="0" sz="2400" spc="-125"/>
              <a:t> </a:t>
            </a:r>
            <a:r>
              <a:rPr dirty="0" sz="2400" spc="-50">
                <a:latin typeface="Tw Cen MT"/>
                <a:cs typeface="Tw Cen MT"/>
              </a:rPr>
              <a:t>3</a:t>
            </a:r>
            <a:endParaRPr sz="2400">
              <a:latin typeface="Tw Cen MT"/>
              <a:cs typeface="Tw Cen MT"/>
            </a:endParaRPr>
          </a:p>
          <a:p>
            <a:pPr marL="138430">
              <a:lnSpc>
                <a:spcPct val="100000"/>
              </a:lnSpc>
            </a:pPr>
            <a:r>
              <a:rPr dirty="0" sz="2400" spc="-795"/>
              <a:t>까지의</a:t>
            </a:r>
            <a:r>
              <a:rPr dirty="0" sz="2400" spc="-145"/>
              <a:t> </a:t>
            </a:r>
            <a:r>
              <a:rPr dirty="0" sz="2400" spc="-890"/>
              <a:t>최단</a:t>
            </a:r>
            <a:r>
              <a:rPr dirty="0" sz="2400" spc="-120"/>
              <a:t> </a:t>
            </a:r>
            <a:r>
              <a:rPr dirty="0" sz="2400" spc="-1035"/>
              <a:t>경로가</a:t>
            </a:r>
            <a:r>
              <a:rPr dirty="0" sz="2400" spc="-120"/>
              <a:t> </a:t>
            </a:r>
            <a:r>
              <a:rPr dirty="0" sz="2400" spc="-1425"/>
              <a:t>보고</a:t>
            </a:r>
            <a:r>
              <a:rPr dirty="0" sz="2400" spc="-125"/>
              <a:t> </a:t>
            </a:r>
            <a:r>
              <a:rPr dirty="0" sz="2400" spc="-1135"/>
              <a:t>싶어요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11798" y="1966589"/>
            <a:ext cx="5859145" cy="1995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8</a:t>
            </a:r>
            <a:r>
              <a:rPr dirty="0" sz="1400">
                <a:latin typeface="Gulim"/>
                <a:cs typeface="Gulim"/>
              </a:rPr>
              <a:t>단계를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수행하면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2</a:t>
            </a:r>
            <a:r>
              <a:rPr dirty="0" sz="1400">
                <a:latin typeface="Gulim"/>
                <a:cs typeface="Gulim"/>
              </a:rPr>
              <a:t>차원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45">
                <a:latin typeface="Gulim"/>
                <a:cs typeface="Gulim"/>
              </a:rPr>
              <a:t>배열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첫째행이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시작점</a:t>
            </a:r>
            <a:r>
              <a:rPr dirty="0" sz="1400">
                <a:latin typeface="Arial"/>
                <a:cs typeface="Arial"/>
              </a:rPr>
              <a:t>0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다른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모 </a:t>
            </a:r>
            <a:r>
              <a:rPr dirty="0" sz="1400">
                <a:latin typeface="Gulim"/>
                <a:cs typeface="Gulim"/>
              </a:rPr>
              <a:t>든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정점까지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distance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결과가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Dijkstra</a:t>
            </a:r>
            <a:r>
              <a:rPr dirty="0" sz="1400" spc="-10">
                <a:latin typeface="Gulim"/>
                <a:cs typeface="Gulim"/>
              </a:rPr>
              <a:t>에서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shortest_path(&amp;g,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0);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수행한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5">
                <a:latin typeface="Arial"/>
                <a:cs typeface="Arial"/>
              </a:rPr>
              <a:t>1</a:t>
            </a:r>
            <a:r>
              <a:rPr dirty="0" sz="1400" spc="-25">
                <a:latin typeface="Gulim"/>
                <a:cs typeface="Gulim"/>
              </a:rPr>
              <a:t>차 </a:t>
            </a:r>
            <a:r>
              <a:rPr dirty="0" sz="1400">
                <a:latin typeface="Gulim"/>
                <a:cs typeface="Gulim"/>
              </a:rPr>
              <a:t>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배열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distance</a:t>
            </a:r>
            <a:endParaRPr sz="1400">
              <a:latin typeface="Arial"/>
              <a:cs typeface="Arial"/>
            </a:endParaRPr>
          </a:p>
          <a:p>
            <a:pPr algn="just" marL="12700" marR="635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Gulim"/>
                <a:cs typeface="Gulim"/>
              </a:rPr>
              <a:t>둘째행이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시작점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다른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모든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정점까지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distance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결과이고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Dijkstra</a:t>
            </a:r>
            <a:r>
              <a:rPr dirty="0" sz="1400" spc="-10">
                <a:latin typeface="Gulim"/>
                <a:cs typeface="Gulim"/>
              </a:rPr>
              <a:t>에서 </a:t>
            </a:r>
            <a:r>
              <a:rPr dirty="0" sz="1400" spc="-10">
                <a:latin typeface="Arial"/>
                <a:cs typeface="Arial"/>
              </a:rPr>
              <a:t>shortest_path(&amp;g,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1); </a:t>
            </a:r>
            <a:r>
              <a:rPr dirty="0" sz="1400">
                <a:latin typeface="Gulim"/>
                <a:cs typeface="Gulim"/>
              </a:rPr>
              <a:t>수행한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1</a:t>
            </a:r>
            <a:r>
              <a:rPr dirty="0" sz="1400">
                <a:latin typeface="Gulim"/>
                <a:cs typeface="Gulim"/>
              </a:rPr>
              <a:t>차원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배열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distance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와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동일</a:t>
            </a:r>
            <a:endParaRPr sz="1400">
              <a:latin typeface="Gulim"/>
              <a:cs typeface="Gulim"/>
            </a:endParaRPr>
          </a:p>
          <a:p>
            <a:pPr algn="just" marL="12700" marR="73025">
              <a:lnSpc>
                <a:spcPts val="2390"/>
              </a:lnSpc>
              <a:spcBef>
                <a:spcPts val="180"/>
              </a:spcBef>
            </a:pPr>
            <a:r>
              <a:rPr dirty="0" sz="1400">
                <a:latin typeface="Gulim"/>
                <a:cs typeface="Gulim"/>
              </a:rPr>
              <a:t>시작점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0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3</a:t>
            </a:r>
            <a:r>
              <a:rPr dirty="0" sz="1400">
                <a:latin typeface="Gulim"/>
                <a:cs typeface="Gulim"/>
              </a:rPr>
              <a:t>까지의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최단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경로</a:t>
            </a:r>
            <a:r>
              <a:rPr dirty="0" sz="1400" spc="-10">
                <a:latin typeface="Arial"/>
                <a:cs typeface="Arial"/>
              </a:rPr>
              <a:t>(path)</a:t>
            </a:r>
            <a:r>
              <a:rPr dirty="0" sz="1400" spc="-10">
                <a:latin typeface="Gulim"/>
                <a:cs typeface="Gulim"/>
              </a:rPr>
              <a:t>의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거리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(distance)</a:t>
            </a:r>
            <a:r>
              <a:rPr dirty="0" sz="1400" spc="-10">
                <a:latin typeface="Gulim"/>
                <a:cs typeface="Gulim"/>
              </a:rPr>
              <a:t>는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20">
                <a:latin typeface="Arial"/>
                <a:cs typeface="Arial"/>
              </a:rPr>
              <a:t>11</a:t>
            </a:r>
            <a:r>
              <a:rPr dirty="0" sz="1400" spc="-20">
                <a:latin typeface="Gulim"/>
                <a:cs typeface="Gulim"/>
              </a:rPr>
              <a:t>로서 </a:t>
            </a:r>
            <a:r>
              <a:rPr dirty="0" sz="1400" spc="-10">
                <a:latin typeface="Gulim"/>
                <a:cs typeface="Gulim"/>
              </a:rPr>
              <a:t>경로</a:t>
            </a:r>
            <a:r>
              <a:rPr dirty="0" sz="1400" spc="-10">
                <a:latin typeface="Arial"/>
                <a:cs typeface="Arial"/>
              </a:rPr>
              <a:t>(path)</a:t>
            </a:r>
            <a:r>
              <a:rPr dirty="0" sz="1400" spc="-10">
                <a:latin typeface="Gulim"/>
                <a:cs typeface="Gulim"/>
              </a:rPr>
              <a:t>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과제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13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dijkstra</a:t>
            </a:r>
            <a:r>
              <a:rPr dirty="0" sz="1400" spc="-10">
                <a:latin typeface="Gulim"/>
                <a:cs typeface="Gulim"/>
              </a:rPr>
              <a:t>버전을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참고해서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구현합니다</a:t>
            </a:r>
            <a:r>
              <a:rPr dirty="0" sz="1400">
                <a:latin typeface="Arial"/>
                <a:cs typeface="Arial"/>
              </a:rPr>
              <a:t>.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&lt;0-</a:t>
            </a:r>
            <a:r>
              <a:rPr dirty="0" sz="1400">
                <a:latin typeface="Arial"/>
                <a:cs typeface="Arial"/>
              </a:rPr>
              <a:t>&gt;4&gt; </a:t>
            </a:r>
            <a:r>
              <a:rPr dirty="0" sz="1400" spc="-10">
                <a:latin typeface="Arial"/>
                <a:cs typeface="Arial"/>
              </a:rPr>
              <a:t>&lt;4-</a:t>
            </a:r>
            <a:r>
              <a:rPr dirty="0" sz="1400" spc="-25">
                <a:latin typeface="Arial"/>
                <a:cs typeface="Arial"/>
              </a:rPr>
              <a:t>&gt;1&gt;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ts val="1455"/>
              </a:lnSpc>
            </a:pPr>
            <a:r>
              <a:rPr dirty="0" sz="1400" spc="-10">
                <a:latin typeface="Arial"/>
                <a:cs typeface="Arial"/>
              </a:rPr>
              <a:t>&lt;1-</a:t>
            </a:r>
            <a:r>
              <a:rPr dirty="0" sz="1400">
                <a:latin typeface="Arial"/>
                <a:cs typeface="Arial"/>
              </a:rPr>
              <a:t>&gt;2&gt;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&lt;2-</a:t>
            </a:r>
            <a:r>
              <a:rPr dirty="0" sz="1400" spc="-25">
                <a:latin typeface="Arial"/>
                <a:cs typeface="Arial"/>
              </a:rPr>
              <a:t>&gt;3&gt;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6434" y="3777488"/>
            <a:ext cx="2796527" cy="31316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7100" y="4092790"/>
            <a:ext cx="2635170" cy="16952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2095" y="1808010"/>
            <a:ext cx="2082558" cy="192225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1523"/>
            <a:ext cx="3425190" cy="293179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800" spc="-10">
                <a:latin typeface="Gulim"/>
                <a:cs typeface="Gulim"/>
              </a:rPr>
              <a:t>최소비용신장트리</a:t>
            </a:r>
            <a:endParaRPr sz="18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1800" spc="-10">
                <a:latin typeface="Arial"/>
                <a:cs typeface="Arial"/>
              </a:rPr>
              <a:t>Kruskal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MST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20">
                <a:latin typeface="Gulim"/>
                <a:cs typeface="Gulim"/>
              </a:rPr>
              <a:t>알고리즘</a:t>
            </a:r>
            <a:endParaRPr sz="18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1800" spc="-10">
                <a:latin typeface="Arial"/>
                <a:cs typeface="Arial"/>
              </a:rPr>
              <a:t>Prim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MST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20">
                <a:latin typeface="Gulim"/>
                <a:cs typeface="Gulim"/>
              </a:rPr>
              <a:t>알고리즘</a:t>
            </a:r>
            <a:endParaRPr sz="18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800" spc="-20">
                <a:latin typeface="Gulim"/>
                <a:cs typeface="Gulim"/>
              </a:rPr>
              <a:t>최단경로</a:t>
            </a:r>
            <a:endParaRPr sz="18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1800" spc="-10">
                <a:latin typeface="Arial"/>
                <a:cs typeface="Arial"/>
              </a:rPr>
              <a:t>Dijkstra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8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최단경로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알고리즘</a:t>
            </a:r>
            <a:endParaRPr sz="18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1800" spc="-10">
                <a:latin typeface="Arial"/>
                <a:cs typeface="Arial"/>
              </a:rPr>
              <a:t>Floyd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최단경로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알고리즘</a:t>
            </a:r>
            <a:endParaRPr sz="18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Clr>
                <a:srgbClr val="DD8046"/>
              </a:buClr>
              <a:buFont typeface="Arial"/>
              <a:buAutoNum type="arabicPeriod"/>
            </a:pPr>
            <a:endParaRPr sz="18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1800" spc="-20">
                <a:latin typeface="Gulim"/>
                <a:cs typeface="Gulim"/>
              </a:rPr>
              <a:t>위상정렬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2268" y="1899399"/>
            <a:ext cx="2054030" cy="19237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0136" y="4423321"/>
            <a:ext cx="2670175" cy="14907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 spc="-425"/>
              <a:t>위상정렬</a:t>
            </a:r>
            <a:r>
              <a:rPr dirty="0" spc="-425">
                <a:latin typeface="Trebuchet MS"/>
                <a:cs typeface="Trebuchet MS"/>
              </a:rPr>
              <a:t>(topological</a:t>
            </a:r>
            <a:r>
              <a:rPr dirty="0" spc="1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sort)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7160" y="1781944"/>
            <a:ext cx="8299450" cy="136588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280"/>
              </a:spcBef>
              <a:buClr>
                <a:srgbClr val="DD8046"/>
              </a:buClr>
              <a:buSzPct val="59090"/>
              <a:buFont typeface="Wingdings"/>
              <a:buChar char="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방향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그래프에서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간선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&lt;u,</a:t>
            </a:r>
            <a:r>
              <a:rPr dirty="0" sz="2200" spc="-3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v&gt;</a:t>
            </a:r>
            <a:r>
              <a:rPr dirty="0" sz="2200">
                <a:latin typeface="Gulim"/>
                <a:cs typeface="Gulim"/>
              </a:rPr>
              <a:t>가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있다면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정점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u</a:t>
            </a:r>
            <a:r>
              <a:rPr dirty="0" sz="2200">
                <a:latin typeface="Gulim"/>
                <a:cs typeface="Gulim"/>
              </a:rPr>
              <a:t>는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정점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v</a:t>
            </a:r>
            <a:r>
              <a:rPr dirty="0" sz="2200">
                <a:latin typeface="Gulim"/>
                <a:cs typeface="Gulim"/>
              </a:rPr>
              <a:t>를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선행함</a:t>
            </a:r>
            <a:endParaRPr sz="2200">
              <a:latin typeface="Gulim"/>
              <a:cs typeface="Gulim"/>
            </a:endParaRPr>
          </a:p>
          <a:p>
            <a:pPr marL="332105" marR="5080" indent="-320040">
              <a:lnSpc>
                <a:spcPct val="80000"/>
              </a:lnSpc>
              <a:spcBef>
                <a:spcPts val="705"/>
              </a:spcBef>
              <a:buClr>
                <a:srgbClr val="DD8046"/>
              </a:buClr>
              <a:buSzPct val="59090"/>
              <a:buFont typeface="Wingdings"/>
              <a:buChar char=""/>
              <a:tabLst>
                <a:tab pos="332105" algn="l"/>
              </a:tabLst>
            </a:pPr>
            <a:r>
              <a:rPr dirty="0" sz="2200" spc="-10">
                <a:latin typeface="Gulim"/>
                <a:cs typeface="Gulim"/>
              </a:rPr>
              <a:t>위상정렬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Arial"/>
                <a:cs typeface="Arial"/>
              </a:rPr>
              <a:t>:</a:t>
            </a:r>
            <a:r>
              <a:rPr dirty="0" sz="2200" spc="-45">
                <a:latin typeface="Arial"/>
                <a:cs typeface="Arial"/>
              </a:rPr>
              <a:t> </a:t>
            </a:r>
            <a:r>
              <a:rPr dirty="0" sz="2200">
                <a:latin typeface="Gulim"/>
                <a:cs typeface="Gulim"/>
              </a:rPr>
              <a:t>방향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그래프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정점들의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선행</a:t>
            </a:r>
            <a:r>
              <a:rPr dirty="0" sz="2200" spc="-17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순서를</a:t>
            </a:r>
            <a:r>
              <a:rPr dirty="0" sz="2200" spc="-155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위배하지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20">
                <a:latin typeface="Gulim"/>
                <a:cs typeface="Gulim"/>
              </a:rPr>
              <a:t>않으면서 </a:t>
            </a:r>
            <a:r>
              <a:rPr dirty="0" sz="2200">
                <a:latin typeface="Gulim"/>
                <a:cs typeface="Gulim"/>
              </a:rPr>
              <a:t>모든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정점을</a:t>
            </a:r>
            <a:r>
              <a:rPr dirty="0" sz="2200" spc="-165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나열</a:t>
            </a:r>
            <a:endParaRPr sz="22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165"/>
              </a:spcBef>
              <a:buClr>
                <a:srgbClr val="DD8046"/>
              </a:buClr>
              <a:buSzPct val="59090"/>
              <a:buFont typeface="Wingdings"/>
              <a:buChar char=""/>
              <a:tabLst>
                <a:tab pos="332105" algn="l"/>
              </a:tabLst>
            </a:pPr>
            <a:r>
              <a:rPr dirty="0" sz="2200">
                <a:latin typeface="Gulim"/>
                <a:cs typeface="Gulim"/>
              </a:rPr>
              <a:t>선수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과목은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10">
                <a:latin typeface="Gulim"/>
                <a:cs typeface="Gulim"/>
              </a:rPr>
              <a:t>과목들의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선행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관계</a:t>
            </a:r>
            <a:r>
              <a:rPr dirty="0" sz="2200" spc="-16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표현함</a:t>
            </a:r>
            <a:endParaRPr sz="22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160" y="5265775"/>
            <a:ext cx="5497195" cy="13538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ctr" marL="319405" marR="1698625" indent="-319405">
              <a:lnSpc>
                <a:spcPct val="100000"/>
              </a:lnSpc>
              <a:spcBef>
                <a:spcPts val="250"/>
              </a:spcBef>
              <a:buClr>
                <a:srgbClr val="DD8046"/>
              </a:buClr>
              <a:buSzPct val="59090"/>
              <a:buFont typeface="Wingdings"/>
              <a:buChar char=""/>
              <a:tabLst>
                <a:tab pos="319405" algn="l"/>
              </a:tabLst>
            </a:pPr>
            <a:r>
              <a:rPr dirty="0" sz="2200">
                <a:latin typeface="Gulim"/>
                <a:cs typeface="Gulim"/>
              </a:rPr>
              <a:t>위상</a:t>
            </a:r>
            <a:r>
              <a:rPr dirty="0" sz="2200" spc="-18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순서</a:t>
            </a:r>
            <a:r>
              <a:rPr dirty="0" sz="2200">
                <a:latin typeface="Arial"/>
                <a:cs typeface="Arial"/>
              </a:rPr>
              <a:t>(topological</a:t>
            </a:r>
            <a:r>
              <a:rPr dirty="0" sz="2200" spc="-12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order)</a:t>
            </a:r>
            <a:endParaRPr sz="2200">
              <a:latin typeface="Arial"/>
              <a:cs typeface="Arial"/>
            </a:endParaRPr>
          </a:p>
          <a:p>
            <a:pPr algn="ctr" marR="1656714">
              <a:lnSpc>
                <a:spcPct val="100000"/>
              </a:lnSpc>
              <a:spcBef>
                <a:spcPts val="130"/>
              </a:spcBef>
            </a:pPr>
            <a:r>
              <a:rPr dirty="0" sz="1300" spc="-64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300" spc="14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1900">
                <a:latin typeface="Arial"/>
                <a:cs typeface="Arial"/>
              </a:rPr>
              <a:t>(0,1,2,3,4,5)</a:t>
            </a:r>
            <a:r>
              <a:rPr dirty="0" sz="1900" spc="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,</a:t>
            </a:r>
            <a:r>
              <a:rPr dirty="0" sz="1900" spc="-3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(1,0,2,3,4,5)</a:t>
            </a:r>
            <a:endParaRPr sz="19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195"/>
              </a:spcBef>
              <a:buClr>
                <a:srgbClr val="DD8046"/>
              </a:buClr>
              <a:buSzPct val="59090"/>
              <a:buFont typeface="Wingdings"/>
              <a:buChar char=""/>
              <a:tabLst>
                <a:tab pos="332105" algn="l"/>
              </a:tabLst>
            </a:pPr>
            <a:r>
              <a:rPr dirty="0" sz="2200" spc="-10">
                <a:latin typeface="Arial"/>
                <a:cs typeface="Arial"/>
              </a:rPr>
              <a:t>(2,0,1,3,4,5)</a:t>
            </a:r>
            <a:r>
              <a:rPr dirty="0" sz="2200" spc="-10">
                <a:latin typeface="Gulim"/>
                <a:cs typeface="Gulim"/>
              </a:rPr>
              <a:t>는</a:t>
            </a:r>
            <a:r>
              <a:rPr dirty="0" sz="2200" spc="-140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위상</a:t>
            </a:r>
            <a:r>
              <a:rPr dirty="0" sz="2200" spc="-145">
                <a:latin typeface="Gulim"/>
                <a:cs typeface="Gulim"/>
              </a:rPr>
              <a:t> </a:t>
            </a:r>
            <a:r>
              <a:rPr dirty="0" sz="2200">
                <a:latin typeface="Gulim"/>
                <a:cs typeface="Gulim"/>
              </a:rPr>
              <a:t>순서가</a:t>
            </a:r>
            <a:r>
              <a:rPr dirty="0" sz="2200" spc="-150">
                <a:latin typeface="Gulim"/>
                <a:cs typeface="Gulim"/>
              </a:rPr>
              <a:t> </a:t>
            </a:r>
            <a:r>
              <a:rPr dirty="0" sz="2200" spc="-25">
                <a:latin typeface="Gulim"/>
                <a:cs typeface="Gulim"/>
              </a:rPr>
              <a:t>아님</a:t>
            </a:r>
            <a:endParaRPr sz="22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140"/>
              </a:spcBef>
            </a:pPr>
            <a:r>
              <a:rPr dirty="0" sz="1300" spc="-64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300" spc="135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1900" spc="-10">
                <a:latin typeface="Gulim"/>
                <a:cs typeface="Gulim"/>
              </a:rPr>
              <a:t>왜냐하면</a:t>
            </a:r>
            <a:r>
              <a:rPr dirty="0" sz="1900" spc="-120">
                <a:latin typeface="Gulim"/>
                <a:cs typeface="Gulim"/>
              </a:rPr>
              <a:t> </a:t>
            </a:r>
            <a:r>
              <a:rPr dirty="0" sz="1900">
                <a:latin typeface="Arial"/>
                <a:cs typeface="Arial"/>
              </a:rPr>
              <a:t>2</a:t>
            </a:r>
            <a:r>
              <a:rPr dirty="0" sz="1900">
                <a:latin typeface="Gulim"/>
                <a:cs typeface="Gulim"/>
              </a:rPr>
              <a:t>번</a:t>
            </a:r>
            <a:r>
              <a:rPr dirty="0" sz="1900" spc="-120">
                <a:latin typeface="Gulim"/>
                <a:cs typeface="Gulim"/>
              </a:rPr>
              <a:t> </a:t>
            </a:r>
            <a:r>
              <a:rPr dirty="0" sz="1900" spc="-10">
                <a:latin typeface="Gulim"/>
                <a:cs typeface="Gulim"/>
              </a:rPr>
              <a:t>정점이</a:t>
            </a:r>
            <a:r>
              <a:rPr dirty="0" sz="1900" spc="-135">
                <a:latin typeface="Gulim"/>
                <a:cs typeface="Gulim"/>
              </a:rPr>
              <a:t> </a:t>
            </a:r>
            <a:r>
              <a:rPr dirty="0" sz="1900">
                <a:latin typeface="Arial"/>
                <a:cs typeface="Arial"/>
              </a:rPr>
              <a:t>0</a:t>
            </a:r>
            <a:r>
              <a:rPr dirty="0" sz="1900">
                <a:latin typeface="Gulim"/>
                <a:cs typeface="Gulim"/>
              </a:rPr>
              <a:t>번</a:t>
            </a:r>
            <a:r>
              <a:rPr dirty="0" sz="1900" spc="-120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정점</a:t>
            </a:r>
            <a:r>
              <a:rPr dirty="0" sz="1900" spc="-125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앞에</a:t>
            </a:r>
            <a:r>
              <a:rPr dirty="0" sz="1900" spc="-135">
                <a:latin typeface="Gulim"/>
                <a:cs typeface="Gulim"/>
              </a:rPr>
              <a:t> </a:t>
            </a:r>
            <a:r>
              <a:rPr dirty="0" sz="1900">
                <a:latin typeface="Gulim"/>
                <a:cs typeface="Gulim"/>
              </a:rPr>
              <a:t>오기</a:t>
            </a:r>
            <a:r>
              <a:rPr dirty="0" sz="1900" spc="-135">
                <a:latin typeface="Gulim"/>
                <a:cs typeface="Gulim"/>
              </a:rPr>
              <a:t> </a:t>
            </a:r>
            <a:r>
              <a:rPr dirty="0" sz="1900" spc="-25">
                <a:latin typeface="Gulim"/>
                <a:cs typeface="Gulim"/>
              </a:rPr>
              <a:t>때문</a:t>
            </a:r>
            <a:endParaRPr sz="1900">
              <a:latin typeface="Gulim"/>
              <a:cs typeface="Gulim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967610" y="3283216"/>
          <a:ext cx="3717925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530"/>
                <a:gridCol w="1508759"/>
                <a:gridCol w="1065530"/>
              </a:tblGrid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spc="-20">
                          <a:latin typeface="Gulim"/>
                          <a:cs typeface="Gulim"/>
                        </a:rPr>
                        <a:t>과목번호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1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spc="-25">
                          <a:latin typeface="Gulim"/>
                          <a:cs typeface="Gulim"/>
                        </a:rPr>
                        <a:t>과목명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1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spc="-20">
                          <a:latin typeface="Gulim"/>
                          <a:cs typeface="Gulim"/>
                        </a:rPr>
                        <a:t>선수과목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1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66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0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55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10">
                          <a:latin typeface="Gulim"/>
                          <a:cs typeface="Gulim"/>
                        </a:rPr>
                        <a:t>컴퓨터개론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7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25">
                          <a:latin typeface="Gulim"/>
                          <a:cs typeface="Gulim"/>
                        </a:rPr>
                        <a:t>없음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7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1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55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20">
                          <a:latin typeface="Gulim"/>
                          <a:cs typeface="Gulim"/>
                        </a:rPr>
                        <a:t>이산수학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7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25">
                          <a:latin typeface="Gulim"/>
                          <a:cs typeface="Gulim"/>
                        </a:rPr>
                        <a:t>없음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7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2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61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200" spc="-25">
                          <a:latin typeface="Tw Cen MT"/>
                          <a:cs typeface="Tw Cen MT"/>
                        </a:rPr>
                        <a:t>C</a:t>
                      </a:r>
                      <a:r>
                        <a:rPr dirty="0" sz="1200" spc="-25">
                          <a:latin typeface="Gulim"/>
                          <a:cs typeface="Gulim"/>
                        </a:rPr>
                        <a:t>언어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9369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0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61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</a:tr>
              <a:tr h="275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3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61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200" spc="-20">
                          <a:latin typeface="Gulim"/>
                          <a:cs typeface="Gulim"/>
                        </a:rPr>
                        <a:t>자료구조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937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>
                          <a:latin typeface="Tw Cen MT"/>
                          <a:cs typeface="Tw Cen MT"/>
                        </a:rPr>
                        <a:t>0,</a:t>
                      </a:r>
                      <a:r>
                        <a:rPr dirty="0" sz="1200" spc="-25">
                          <a:latin typeface="Tw Cen MT"/>
                          <a:cs typeface="Tw Cen MT"/>
                        </a:rPr>
                        <a:t> </a:t>
                      </a:r>
                      <a:r>
                        <a:rPr dirty="0" sz="1200">
                          <a:latin typeface="Tw Cen MT"/>
                          <a:cs typeface="Tw Cen MT"/>
                        </a:rPr>
                        <a:t>1,</a:t>
                      </a:r>
                      <a:r>
                        <a:rPr dirty="0" sz="1200" spc="-20">
                          <a:latin typeface="Tw Cen MT"/>
                          <a:cs typeface="Tw Cen MT"/>
                        </a:rPr>
                        <a:t> </a:t>
                      </a:r>
                      <a:r>
                        <a:rPr dirty="0" sz="1200" spc="-60">
                          <a:latin typeface="Tw Cen MT"/>
                          <a:cs typeface="Tw Cen MT"/>
                        </a:rPr>
                        <a:t>2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619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4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spc="-25">
                          <a:latin typeface="Gulim"/>
                          <a:cs typeface="Gulim"/>
                        </a:rPr>
                        <a:t>확률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1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1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spc="-50">
                          <a:latin typeface="Tw Cen MT"/>
                          <a:cs typeface="Tw Cen MT"/>
                        </a:rPr>
                        <a:t>5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55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200" spc="-20">
                          <a:latin typeface="Gulim"/>
                          <a:cs typeface="Gulim"/>
                        </a:rPr>
                        <a:t>알고리즘</a:t>
                      </a:r>
                      <a:endParaRPr sz="1200">
                        <a:latin typeface="Gulim"/>
                        <a:cs typeface="Gulim"/>
                      </a:endParaRPr>
                    </a:p>
                  </a:txBody>
                  <a:tcPr marL="0" marR="0" marB="0" marT="3873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>
                          <a:latin typeface="Tw Cen MT"/>
                          <a:cs typeface="Tw Cen MT"/>
                        </a:rPr>
                        <a:t>2,</a:t>
                      </a:r>
                      <a:r>
                        <a:rPr dirty="0" sz="1200" spc="-25">
                          <a:latin typeface="Tw Cen MT"/>
                          <a:cs typeface="Tw Cen MT"/>
                        </a:rPr>
                        <a:t> </a:t>
                      </a:r>
                      <a:r>
                        <a:rPr dirty="0" sz="1200">
                          <a:latin typeface="Tw Cen MT"/>
                          <a:cs typeface="Tw Cen MT"/>
                        </a:rPr>
                        <a:t>3,</a:t>
                      </a:r>
                      <a:r>
                        <a:rPr dirty="0" sz="1200" spc="-20">
                          <a:latin typeface="Tw Cen MT"/>
                          <a:cs typeface="Tw Cen MT"/>
                        </a:rPr>
                        <a:t> </a:t>
                      </a:r>
                      <a:r>
                        <a:rPr dirty="0" sz="1200" spc="-60">
                          <a:latin typeface="Tw Cen MT"/>
                          <a:cs typeface="Tw Cen MT"/>
                        </a:rPr>
                        <a:t>4</a:t>
                      </a:r>
                      <a:endParaRPr sz="1200">
                        <a:latin typeface="Tw Cen MT"/>
                        <a:cs typeface="Tw Cen MT"/>
                      </a:endParaRPr>
                    </a:p>
                  </a:txBody>
                  <a:tcPr marL="0" marR="0" marB="0" marT="3556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8890" y="3507879"/>
            <a:ext cx="2670175" cy="14922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pc="-1664"/>
              <a:t>위상정렬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272" y="3210866"/>
            <a:ext cx="7715086" cy="219795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dirty="0" spc="-1645"/>
              <a:t>위상정렬</a:t>
            </a:r>
            <a:r>
              <a:rPr dirty="0" spc="-260"/>
              <a:t> </a:t>
            </a:r>
            <a:r>
              <a:rPr dirty="0" spc="-2125"/>
              <a:t>알고리즘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29473" y="1564309"/>
            <a:ext cx="7820659" cy="3037840"/>
            <a:chOff x="1429473" y="1564309"/>
            <a:chExt cx="7820659" cy="3037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8605" y="1573453"/>
              <a:ext cx="7801965" cy="30189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29473" y="1564309"/>
              <a:ext cx="7820659" cy="3037840"/>
            </a:xfrm>
            <a:custGeom>
              <a:avLst/>
              <a:gdLst/>
              <a:ahLst/>
              <a:cxnLst/>
              <a:rect l="l" t="t" r="r" b="b"/>
              <a:pathLst>
                <a:path w="7820659" h="3037840">
                  <a:moveTo>
                    <a:pt x="7818704" y="0"/>
                  </a:moveTo>
                  <a:lnTo>
                    <a:pt x="1524" y="0"/>
                  </a:lnTo>
                  <a:lnTo>
                    <a:pt x="0" y="3048"/>
                  </a:lnTo>
                  <a:lnTo>
                    <a:pt x="0" y="3035693"/>
                  </a:lnTo>
                  <a:lnTo>
                    <a:pt x="1524" y="3037217"/>
                  </a:lnTo>
                  <a:lnTo>
                    <a:pt x="7818704" y="3037217"/>
                  </a:lnTo>
                  <a:lnTo>
                    <a:pt x="7820228" y="3035693"/>
                  </a:lnTo>
                  <a:lnTo>
                    <a:pt x="7820228" y="3032645"/>
                  </a:lnTo>
                  <a:lnTo>
                    <a:pt x="9131" y="3032645"/>
                  </a:lnTo>
                  <a:lnTo>
                    <a:pt x="4559" y="3028086"/>
                  </a:lnTo>
                  <a:lnTo>
                    <a:pt x="9131" y="3028086"/>
                  </a:lnTo>
                  <a:lnTo>
                    <a:pt x="9131" y="9131"/>
                  </a:lnTo>
                  <a:lnTo>
                    <a:pt x="4559" y="9131"/>
                  </a:lnTo>
                  <a:lnTo>
                    <a:pt x="9131" y="4572"/>
                  </a:lnTo>
                  <a:lnTo>
                    <a:pt x="7820228" y="4572"/>
                  </a:lnTo>
                  <a:lnTo>
                    <a:pt x="7820228" y="3048"/>
                  </a:lnTo>
                  <a:lnTo>
                    <a:pt x="7818704" y="0"/>
                  </a:lnTo>
                  <a:close/>
                </a:path>
                <a:path w="7820659" h="3037840">
                  <a:moveTo>
                    <a:pt x="9131" y="3028086"/>
                  </a:moveTo>
                  <a:lnTo>
                    <a:pt x="4559" y="3028086"/>
                  </a:lnTo>
                  <a:lnTo>
                    <a:pt x="9131" y="3032645"/>
                  </a:lnTo>
                  <a:lnTo>
                    <a:pt x="9131" y="3028086"/>
                  </a:lnTo>
                  <a:close/>
                </a:path>
                <a:path w="7820659" h="3037840">
                  <a:moveTo>
                    <a:pt x="7811096" y="3028086"/>
                  </a:moveTo>
                  <a:lnTo>
                    <a:pt x="9131" y="3028086"/>
                  </a:lnTo>
                  <a:lnTo>
                    <a:pt x="9131" y="3032645"/>
                  </a:lnTo>
                  <a:lnTo>
                    <a:pt x="7811096" y="3032645"/>
                  </a:lnTo>
                  <a:lnTo>
                    <a:pt x="7811096" y="3028086"/>
                  </a:lnTo>
                  <a:close/>
                </a:path>
                <a:path w="7820659" h="3037840">
                  <a:moveTo>
                    <a:pt x="7811096" y="4572"/>
                  </a:moveTo>
                  <a:lnTo>
                    <a:pt x="7811096" y="3032645"/>
                  </a:lnTo>
                  <a:lnTo>
                    <a:pt x="7815668" y="3028086"/>
                  </a:lnTo>
                  <a:lnTo>
                    <a:pt x="7820228" y="3028086"/>
                  </a:lnTo>
                  <a:lnTo>
                    <a:pt x="7820228" y="9131"/>
                  </a:lnTo>
                  <a:lnTo>
                    <a:pt x="7815668" y="9131"/>
                  </a:lnTo>
                  <a:lnTo>
                    <a:pt x="7811096" y="4572"/>
                  </a:lnTo>
                  <a:close/>
                </a:path>
                <a:path w="7820659" h="3037840">
                  <a:moveTo>
                    <a:pt x="7820228" y="3028086"/>
                  </a:moveTo>
                  <a:lnTo>
                    <a:pt x="7815668" y="3028086"/>
                  </a:lnTo>
                  <a:lnTo>
                    <a:pt x="7811096" y="3032645"/>
                  </a:lnTo>
                  <a:lnTo>
                    <a:pt x="7820228" y="3032645"/>
                  </a:lnTo>
                  <a:lnTo>
                    <a:pt x="7820228" y="3028086"/>
                  </a:lnTo>
                  <a:close/>
                </a:path>
                <a:path w="7820659" h="3037840">
                  <a:moveTo>
                    <a:pt x="9131" y="4572"/>
                  </a:moveTo>
                  <a:lnTo>
                    <a:pt x="4559" y="9131"/>
                  </a:lnTo>
                  <a:lnTo>
                    <a:pt x="9131" y="9131"/>
                  </a:lnTo>
                  <a:lnTo>
                    <a:pt x="9131" y="4572"/>
                  </a:lnTo>
                  <a:close/>
                </a:path>
                <a:path w="7820659" h="3037840">
                  <a:moveTo>
                    <a:pt x="7811096" y="4572"/>
                  </a:moveTo>
                  <a:lnTo>
                    <a:pt x="9131" y="4572"/>
                  </a:lnTo>
                  <a:lnTo>
                    <a:pt x="9131" y="9131"/>
                  </a:lnTo>
                  <a:lnTo>
                    <a:pt x="7811096" y="9131"/>
                  </a:lnTo>
                  <a:lnTo>
                    <a:pt x="7811096" y="4572"/>
                  </a:lnTo>
                  <a:close/>
                </a:path>
                <a:path w="7820659" h="3037840">
                  <a:moveTo>
                    <a:pt x="7820228" y="4572"/>
                  </a:moveTo>
                  <a:lnTo>
                    <a:pt x="7811096" y="4572"/>
                  </a:lnTo>
                  <a:lnTo>
                    <a:pt x="7815668" y="9131"/>
                  </a:lnTo>
                  <a:lnTo>
                    <a:pt x="7820228" y="9131"/>
                  </a:lnTo>
                  <a:lnTo>
                    <a:pt x="7820228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71447" y="4573121"/>
            <a:ext cx="6236970" cy="1355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선행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가지지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않는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정점</a:t>
            </a:r>
            <a:r>
              <a:rPr dirty="0" sz="1600" spc="-10">
                <a:latin typeface="Arial"/>
                <a:cs typeface="Arial"/>
              </a:rPr>
              <a:t>v</a:t>
            </a:r>
            <a:r>
              <a:rPr dirty="0" sz="1600" spc="-10">
                <a:latin typeface="Gulim"/>
                <a:cs typeface="Gulim"/>
              </a:rPr>
              <a:t>를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C</a:t>
            </a:r>
            <a:r>
              <a:rPr dirty="0" sz="1600" spc="-10">
                <a:latin typeface="Gulim"/>
                <a:cs typeface="Gulim"/>
              </a:rPr>
              <a:t>코드에서는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어떻게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아나요</a:t>
            </a:r>
            <a:r>
              <a:rPr dirty="0" sz="1600" spc="-20">
                <a:latin typeface="Arial"/>
                <a:cs typeface="Arial"/>
              </a:rPr>
              <a:t>? </a:t>
            </a: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진입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차수</a:t>
            </a:r>
            <a:r>
              <a:rPr dirty="0" sz="1600" spc="-20">
                <a:latin typeface="Arial"/>
                <a:cs typeface="Arial"/>
              </a:rPr>
              <a:t>(in-</a:t>
            </a:r>
            <a:r>
              <a:rPr dirty="0" sz="1600">
                <a:latin typeface="Arial"/>
                <a:cs typeface="Arial"/>
              </a:rPr>
              <a:t>degree)</a:t>
            </a:r>
            <a:r>
              <a:rPr dirty="0" sz="1600" spc="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외부에서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오는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간선의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수</a:t>
            </a:r>
            <a:endParaRPr sz="1600">
              <a:latin typeface="Gulim"/>
              <a:cs typeface="Gulim"/>
            </a:endParaRPr>
          </a:p>
          <a:p>
            <a:pPr marL="12700" marR="2810510">
              <a:lnSpc>
                <a:spcPct val="136200"/>
              </a:lnSpc>
              <a:spcBef>
                <a:spcPts val="10"/>
              </a:spcBef>
            </a:pPr>
            <a:r>
              <a:rPr dirty="0" sz="1600">
                <a:latin typeface="Gulim"/>
                <a:cs typeface="Gulim"/>
              </a:rPr>
              <a:t>즉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진입차수가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0</a:t>
            </a:r>
            <a:r>
              <a:rPr dirty="0" sz="1600">
                <a:latin typeface="Gulim"/>
                <a:cs typeface="Gulim"/>
              </a:rPr>
              <a:t>인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정점입니다</a:t>
            </a:r>
            <a:r>
              <a:rPr dirty="0" sz="1600" spc="-10">
                <a:latin typeface="Arial"/>
                <a:cs typeface="Arial"/>
              </a:rPr>
              <a:t>. </a:t>
            </a:r>
            <a:r>
              <a:rPr dirty="0" sz="1600">
                <a:latin typeface="Arial"/>
                <a:cs typeface="Arial"/>
              </a:rPr>
              <a:t>G3</a:t>
            </a:r>
            <a:r>
              <a:rPr dirty="0" sz="1600">
                <a:latin typeface="Gulim"/>
                <a:cs typeface="Gulim"/>
              </a:rPr>
              <a:t>에서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정점</a:t>
            </a:r>
            <a:r>
              <a:rPr dirty="0" sz="1600">
                <a:latin typeface="Arial"/>
                <a:cs typeface="Arial"/>
              </a:rPr>
              <a:t>1</a:t>
            </a:r>
            <a:r>
              <a:rPr dirty="0" sz="1600">
                <a:latin typeface="Gulim"/>
                <a:cs typeface="Gulim"/>
              </a:rPr>
              <a:t>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in-degree</a:t>
            </a:r>
            <a:r>
              <a:rPr dirty="0" sz="1600" spc="-10">
                <a:latin typeface="Gulim"/>
                <a:cs typeface="Gulim"/>
              </a:rPr>
              <a:t>는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1</a:t>
            </a:r>
            <a:r>
              <a:rPr dirty="0" sz="1600" spc="-10">
                <a:latin typeface="Gulim"/>
                <a:cs typeface="Gulim"/>
              </a:rPr>
              <a:t>입니다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12844" y="4723384"/>
            <a:ext cx="554854" cy="142570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 spc="-1689"/>
              <a:t>위상정렬의</a:t>
            </a:r>
            <a:r>
              <a:rPr dirty="0" spc="-235"/>
              <a:t> </a:t>
            </a:r>
            <a:r>
              <a:rPr dirty="0" spc="-1415"/>
              <a:t>예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968" y="1888744"/>
            <a:ext cx="5649187" cy="46075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5770" y="1966429"/>
            <a:ext cx="7937500" cy="3994150"/>
            <a:chOff x="1415770" y="1966429"/>
            <a:chExt cx="7937500" cy="3994150"/>
          </a:xfrm>
        </p:grpSpPr>
        <p:sp>
          <p:nvSpPr>
            <p:cNvPr id="3" name="object 3"/>
            <p:cNvSpPr/>
            <p:nvPr/>
          </p:nvSpPr>
          <p:spPr>
            <a:xfrm>
              <a:off x="1429473" y="1978609"/>
              <a:ext cx="7912100" cy="3968115"/>
            </a:xfrm>
            <a:custGeom>
              <a:avLst/>
              <a:gdLst/>
              <a:ahLst/>
              <a:cxnLst/>
              <a:rect l="l" t="t" r="r" b="b"/>
              <a:pathLst>
                <a:path w="7912100" h="3968115">
                  <a:moveTo>
                    <a:pt x="7911566" y="0"/>
                  </a:moveTo>
                  <a:lnTo>
                    <a:pt x="0" y="0"/>
                  </a:lnTo>
                  <a:lnTo>
                    <a:pt x="0" y="3967886"/>
                  </a:lnTo>
                  <a:lnTo>
                    <a:pt x="7911566" y="396788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15770" y="1966429"/>
              <a:ext cx="7937500" cy="3994150"/>
            </a:xfrm>
            <a:custGeom>
              <a:avLst/>
              <a:gdLst/>
              <a:ahLst/>
              <a:cxnLst/>
              <a:rect l="l" t="t" r="r" b="b"/>
              <a:pathLst>
                <a:path w="7937500" h="3994150">
                  <a:moveTo>
                    <a:pt x="7937449" y="0"/>
                  </a:moveTo>
                  <a:lnTo>
                    <a:pt x="0" y="0"/>
                  </a:lnTo>
                  <a:lnTo>
                    <a:pt x="0" y="3993781"/>
                  </a:lnTo>
                  <a:lnTo>
                    <a:pt x="7937449" y="3993781"/>
                  </a:lnTo>
                  <a:lnTo>
                    <a:pt x="7937449" y="3980065"/>
                  </a:lnTo>
                  <a:lnTo>
                    <a:pt x="25882" y="3980065"/>
                  </a:lnTo>
                  <a:lnTo>
                    <a:pt x="13703" y="3967886"/>
                  </a:lnTo>
                  <a:lnTo>
                    <a:pt x="25882" y="3967886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79"/>
                  </a:lnTo>
                  <a:lnTo>
                    <a:pt x="7937449" y="12179"/>
                  </a:lnTo>
                  <a:lnTo>
                    <a:pt x="7937449" y="0"/>
                  </a:lnTo>
                  <a:close/>
                </a:path>
                <a:path w="7937500" h="3994150">
                  <a:moveTo>
                    <a:pt x="25882" y="3967886"/>
                  </a:moveTo>
                  <a:lnTo>
                    <a:pt x="13703" y="3967886"/>
                  </a:lnTo>
                  <a:lnTo>
                    <a:pt x="25882" y="3980065"/>
                  </a:lnTo>
                  <a:lnTo>
                    <a:pt x="25882" y="3967886"/>
                  </a:lnTo>
                  <a:close/>
                </a:path>
                <a:path w="7937500" h="3994150">
                  <a:moveTo>
                    <a:pt x="7911579" y="3967886"/>
                  </a:moveTo>
                  <a:lnTo>
                    <a:pt x="25882" y="3967886"/>
                  </a:lnTo>
                  <a:lnTo>
                    <a:pt x="25882" y="3980065"/>
                  </a:lnTo>
                  <a:lnTo>
                    <a:pt x="7911579" y="3980065"/>
                  </a:lnTo>
                  <a:lnTo>
                    <a:pt x="7911579" y="3967886"/>
                  </a:lnTo>
                  <a:close/>
                </a:path>
                <a:path w="7937500" h="3994150">
                  <a:moveTo>
                    <a:pt x="7911579" y="12179"/>
                  </a:moveTo>
                  <a:lnTo>
                    <a:pt x="7911579" y="3980065"/>
                  </a:lnTo>
                  <a:lnTo>
                    <a:pt x="7925269" y="3967886"/>
                  </a:lnTo>
                  <a:lnTo>
                    <a:pt x="7937449" y="3967886"/>
                  </a:lnTo>
                  <a:lnTo>
                    <a:pt x="7937449" y="25895"/>
                  </a:lnTo>
                  <a:lnTo>
                    <a:pt x="7925269" y="25895"/>
                  </a:lnTo>
                  <a:lnTo>
                    <a:pt x="7911579" y="12179"/>
                  </a:lnTo>
                  <a:close/>
                </a:path>
                <a:path w="7937500" h="3994150">
                  <a:moveTo>
                    <a:pt x="7937449" y="3967886"/>
                  </a:moveTo>
                  <a:lnTo>
                    <a:pt x="7925269" y="3967886"/>
                  </a:lnTo>
                  <a:lnTo>
                    <a:pt x="7911579" y="3980065"/>
                  </a:lnTo>
                  <a:lnTo>
                    <a:pt x="7937449" y="3980065"/>
                  </a:lnTo>
                  <a:lnTo>
                    <a:pt x="7937449" y="3967886"/>
                  </a:lnTo>
                  <a:close/>
                </a:path>
                <a:path w="7937500" h="3994150">
                  <a:moveTo>
                    <a:pt x="25882" y="12179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7500" h="3994150">
                  <a:moveTo>
                    <a:pt x="7911579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79"/>
                  </a:lnTo>
                  <a:close/>
                </a:path>
                <a:path w="7937500" h="3994150">
                  <a:moveTo>
                    <a:pt x="7937449" y="12179"/>
                  </a:moveTo>
                  <a:lnTo>
                    <a:pt x="7911579" y="12179"/>
                  </a:lnTo>
                  <a:lnTo>
                    <a:pt x="7925269" y="25895"/>
                  </a:lnTo>
                  <a:lnTo>
                    <a:pt x="7937449" y="25895"/>
                  </a:lnTo>
                  <a:lnTo>
                    <a:pt x="793744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506969" y="2008182"/>
            <a:ext cx="2395855" cy="13030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163195">
              <a:lnSpc>
                <a:spcPts val="1660"/>
              </a:lnSpc>
              <a:spcBef>
                <a:spcPts val="17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위상정렬을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수행한다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r>
              <a:rPr dirty="0" sz="1400" spc="5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topo_sort(GraphType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*g)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4813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i; </a:t>
            </a:r>
            <a:r>
              <a:rPr dirty="0" sz="1400" spc="-20">
                <a:latin typeface="Trebuchet MS"/>
                <a:cs typeface="Trebuchet MS"/>
              </a:rPr>
              <a:t>StackType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s;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GraphNode</a:t>
            </a:r>
            <a:r>
              <a:rPr dirty="0" sz="1400" spc="-7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*node;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7375" y="3927393"/>
            <a:ext cx="8007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0366" y="3500902"/>
            <a:ext cx="3872865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모든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정점의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진입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차수를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계산</a:t>
            </a:r>
            <a:endParaRPr sz="1400">
              <a:latin typeface="Gulim"/>
              <a:cs typeface="Gulim"/>
            </a:endParaRPr>
          </a:p>
          <a:p>
            <a:pPr marL="12700" marR="5080">
              <a:lnSpc>
                <a:spcPts val="1700"/>
              </a:lnSpc>
              <a:spcBef>
                <a:spcPts val="3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*in_degree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(int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*)malloc(g-</a:t>
            </a:r>
            <a:r>
              <a:rPr dirty="0" sz="1400">
                <a:latin typeface="Trebuchet MS"/>
                <a:cs typeface="Trebuchet MS"/>
              </a:rPr>
              <a:t>&gt;n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 </a:t>
            </a:r>
            <a:r>
              <a:rPr dirty="0" sz="1400" spc="-10">
                <a:latin typeface="Trebuchet MS"/>
                <a:cs typeface="Trebuchet MS"/>
              </a:rPr>
              <a:t>sizeof(int));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0;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 &lt;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g-&gt;n;</a:t>
            </a:r>
            <a:r>
              <a:rPr dirty="0" sz="1400" spc="-20">
                <a:latin typeface="Trebuchet MS"/>
                <a:cs typeface="Trebuchet MS"/>
              </a:rPr>
              <a:t> i++)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00"/>
              </a:lnSpc>
            </a:pPr>
            <a:r>
              <a:rPr dirty="0" sz="1400">
                <a:latin typeface="Trebuchet MS"/>
                <a:cs typeface="Trebuchet MS"/>
              </a:rPr>
              <a:t>in_degree[i]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g-&gt;n;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i++)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0366" y="4567118"/>
            <a:ext cx="5793740" cy="1303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583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GraphNode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*node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10">
                <a:latin typeface="Trebuchet MS"/>
                <a:cs typeface="Trebuchet MS"/>
              </a:rPr>
              <a:t>&gt;adj_list[i];//</a:t>
            </a:r>
            <a:r>
              <a:rPr dirty="0" sz="1400" spc="-10">
                <a:latin typeface="Gulim"/>
                <a:cs typeface="Gulim"/>
              </a:rPr>
              <a:t>정점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나오는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간선들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1717675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in_degree[node-&gt;vertex]++; </a:t>
            </a:r>
            <a:r>
              <a:rPr dirty="0" sz="1400">
                <a:latin typeface="Trebuchet MS"/>
                <a:cs typeface="Trebuchet MS"/>
              </a:rPr>
              <a:t>node 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node-&gt;link;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 spc="-1645"/>
              <a:t>위상정렬</a:t>
            </a:r>
            <a:r>
              <a:rPr dirty="0" spc="-254"/>
              <a:t> </a:t>
            </a:r>
            <a:r>
              <a:rPr dirty="0" spc="-2295"/>
              <a:t>프로그램</a:t>
            </a:r>
            <a:r>
              <a:rPr dirty="0" spc="-240"/>
              <a:t> </a:t>
            </a:r>
            <a:r>
              <a:rPr dirty="0" spc="-10">
                <a:latin typeface="Tw Cen MT"/>
                <a:cs typeface="Tw Cen MT"/>
              </a:rPr>
              <a:t>(topo_sort.c)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0101" y="1786686"/>
            <a:ext cx="8140065" cy="5419725"/>
            <a:chOff x="1370101" y="1786686"/>
            <a:chExt cx="8140065" cy="5419725"/>
          </a:xfrm>
        </p:grpSpPr>
        <p:sp>
          <p:nvSpPr>
            <p:cNvPr id="3" name="object 3"/>
            <p:cNvSpPr/>
            <p:nvPr/>
          </p:nvSpPr>
          <p:spPr>
            <a:xfrm>
              <a:off x="1383804" y="1798878"/>
              <a:ext cx="7912100" cy="5045075"/>
            </a:xfrm>
            <a:custGeom>
              <a:avLst/>
              <a:gdLst/>
              <a:ahLst/>
              <a:cxnLst/>
              <a:rect l="l" t="t" r="r" b="b"/>
              <a:pathLst>
                <a:path w="7912100" h="5045075">
                  <a:moveTo>
                    <a:pt x="7911566" y="0"/>
                  </a:moveTo>
                  <a:lnTo>
                    <a:pt x="0" y="0"/>
                  </a:lnTo>
                  <a:lnTo>
                    <a:pt x="0" y="5044770"/>
                  </a:lnTo>
                  <a:lnTo>
                    <a:pt x="7911566" y="5044770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0101" y="1786686"/>
              <a:ext cx="7937500" cy="5069205"/>
            </a:xfrm>
            <a:custGeom>
              <a:avLst/>
              <a:gdLst/>
              <a:ahLst/>
              <a:cxnLst/>
              <a:rect l="l" t="t" r="r" b="b"/>
              <a:pathLst>
                <a:path w="7937500" h="5069205">
                  <a:moveTo>
                    <a:pt x="7937449" y="0"/>
                  </a:moveTo>
                  <a:lnTo>
                    <a:pt x="0" y="0"/>
                  </a:lnTo>
                  <a:lnTo>
                    <a:pt x="0" y="5069154"/>
                  </a:lnTo>
                  <a:lnTo>
                    <a:pt x="7937449" y="5069154"/>
                  </a:lnTo>
                  <a:lnTo>
                    <a:pt x="7937449" y="5056962"/>
                  </a:lnTo>
                  <a:lnTo>
                    <a:pt x="25882" y="5056962"/>
                  </a:lnTo>
                  <a:lnTo>
                    <a:pt x="13703" y="5044782"/>
                  </a:lnTo>
                  <a:lnTo>
                    <a:pt x="25882" y="5044782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91"/>
                  </a:lnTo>
                  <a:lnTo>
                    <a:pt x="7937449" y="12191"/>
                  </a:lnTo>
                  <a:lnTo>
                    <a:pt x="7937449" y="0"/>
                  </a:lnTo>
                  <a:close/>
                </a:path>
                <a:path w="7937500" h="5069205">
                  <a:moveTo>
                    <a:pt x="25882" y="5044782"/>
                  </a:moveTo>
                  <a:lnTo>
                    <a:pt x="13703" y="5044782"/>
                  </a:lnTo>
                  <a:lnTo>
                    <a:pt x="25882" y="5056962"/>
                  </a:lnTo>
                  <a:lnTo>
                    <a:pt x="25882" y="5044782"/>
                  </a:lnTo>
                  <a:close/>
                </a:path>
                <a:path w="7937500" h="5069205">
                  <a:moveTo>
                    <a:pt x="7911566" y="5044782"/>
                  </a:moveTo>
                  <a:lnTo>
                    <a:pt x="25882" y="5044782"/>
                  </a:lnTo>
                  <a:lnTo>
                    <a:pt x="25882" y="5056962"/>
                  </a:lnTo>
                  <a:lnTo>
                    <a:pt x="7911566" y="5056962"/>
                  </a:lnTo>
                  <a:lnTo>
                    <a:pt x="7911566" y="5044782"/>
                  </a:lnTo>
                  <a:close/>
                </a:path>
                <a:path w="7937500" h="5069205">
                  <a:moveTo>
                    <a:pt x="7911566" y="12191"/>
                  </a:moveTo>
                  <a:lnTo>
                    <a:pt x="7911566" y="5056962"/>
                  </a:lnTo>
                  <a:lnTo>
                    <a:pt x="7925269" y="5044782"/>
                  </a:lnTo>
                  <a:lnTo>
                    <a:pt x="7937449" y="5044782"/>
                  </a:lnTo>
                  <a:lnTo>
                    <a:pt x="7937449" y="24371"/>
                  </a:lnTo>
                  <a:lnTo>
                    <a:pt x="7925269" y="24371"/>
                  </a:lnTo>
                  <a:lnTo>
                    <a:pt x="7911566" y="12191"/>
                  </a:lnTo>
                  <a:close/>
                </a:path>
                <a:path w="7937500" h="5069205">
                  <a:moveTo>
                    <a:pt x="7937449" y="5044782"/>
                  </a:moveTo>
                  <a:lnTo>
                    <a:pt x="7925269" y="5044782"/>
                  </a:lnTo>
                  <a:lnTo>
                    <a:pt x="7911566" y="5056962"/>
                  </a:lnTo>
                  <a:lnTo>
                    <a:pt x="7937449" y="5056962"/>
                  </a:lnTo>
                  <a:lnTo>
                    <a:pt x="7937449" y="5044782"/>
                  </a:lnTo>
                  <a:close/>
                </a:path>
                <a:path w="7937500" h="5069205">
                  <a:moveTo>
                    <a:pt x="25882" y="12191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937500" h="5069205">
                  <a:moveTo>
                    <a:pt x="7911566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911566" y="24371"/>
                  </a:lnTo>
                  <a:lnTo>
                    <a:pt x="7911566" y="12191"/>
                  </a:lnTo>
                  <a:close/>
                </a:path>
                <a:path w="7937500" h="5069205">
                  <a:moveTo>
                    <a:pt x="7937449" y="12191"/>
                  </a:moveTo>
                  <a:lnTo>
                    <a:pt x="7911566" y="12191"/>
                  </a:lnTo>
                  <a:lnTo>
                    <a:pt x="7925269" y="24371"/>
                  </a:lnTo>
                  <a:lnTo>
                    <a:pt x="7937449" y="24371"/>
                  </a:lnTo>
                  <a:lnTo>
                    <a:pt x="793744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374760" y="1828287"/>
            <a:ext cx="3575685" cy="215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진입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차수가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0</a:t>
            </a:r>
            <a:r>
              <a:rPr dirty="0" sz="1400">
                <a:latin typeface="Gulim"/>
                <a:cs typeface="Gulim"/>
              </a:rPr>
              <a:t>인</a:t>
            </a:r>
            <a:r>
              <a:rPr dirty="0" sz="1400" spc="-4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스택에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삽입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 spc="-10">
                <a:latin typeface="Trebuchet MS"/>
                <a:cs typeface="Trebuchet MS"/>
              </a:rPr>
              <a:t>init(&amp;s);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g-&gt;n;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i++)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(in_degree[i]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0)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push(&amp;s,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i);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위상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순서를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(!is_empty(&amp;s))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w;</a:t>
            </a:r>
            <a:endParaRPr sz="1400">
              <a:latin typeface="Trebuchet MS"/>
              <a:cs typeface="Trebuchet MS"/>
            </a:endParaRPr>
          </a:p>
          <a:p>
            <a:pPr marL="925830" marR="803910">
              <a:lnSpc>
                <a:spcPts val="1700"/>
              </a:lnSpc>
              <a:spcBef>
                <a:spcPts val="35"/>
              </a:spcBef>
            </a:pPr>
            <a:r>
              <a:rPr dirty="0" sz="1400">
                <a:latin typeface="Trebuchet MS"/>
                <a:cs typeface="Trebuchet MS"/>
              </a:rPr>
              <a:t>w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pop(&amp;s); </a:t>
            </a:r>
            <a:r>
              <a:rPr dirty="0" sz="1400">
                <a:latin typeface="Trebuchet MS"/>
                <a:cs typeface="Trebuchet MS"/>
              </a:rPr>
              <a:t>printf("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-&gt;",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w);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41756" y="3747485"/>
            <a:ext cx="9785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출력</a:t>
            </a:r>
            <a:endParaRPr sz="14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8157" y="3960731"/>
            <a:ext cx="421068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g-&gt;adj_list[w];</a:t>
            </a:r>
            <a:r>
              <a:rPr dirty="0" sz="1400" spc="9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각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정점의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진입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차수를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변경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1583690">
              <a:lnSpc>
                <a:spcPts val="1700"/>
              </a:lnSpc>
              <a:spcBef>
                <a:spcPts val="40"/>
              </a:spcBef>
            </a:pPr>
            <a:r>
              <a:rPr dirty="0" sz="1400">
                <a:latin typeface="Trebuchet MS"/>
                <a:cs typeface="Trebuchet MS"/>
              </a:rPr>
              <a:t>int u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node-&gt;vertex; in_degree[u]-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50">
                <a:latin typeface="Trebuchet MS"/>
                <a:cs typeface="Trebuchet MS"/>
              </a:rPr>
              <a:t>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55166" y="4600468"/>
            <a:ext cx="1156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진입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차수를</a:t>
            </a:r>
            <a:endParaRPr sz="1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1350" y="4813713"/>
            <a:ext cx="3816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Gulim"/>
                <a:cs typeface="Gulim"/>
              </a:rPr>
              <a:t>감소</a:t>
            </a:r>
            <a:endParaRPr sz="14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74760" y="5023911"/>
            <a:ext cx="4582160" cy="87947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838960" marR="5080">
              <a:lnSpc>
                <a:spcPct val="101400"/>
              </a:lnSpc>
              <a:spcBef>
                <a:spcPts val="80"/>
              </a:spcBef>
              <a:tabLst>
                <a:tab pos="3488054" algn="l"/>
              </a:tabLst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(in_degree[u]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push(&amp;s,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u); </a:t>
            </a:r>
            <a:r>
              <a:rPr dirty="0" sz="1400">
                <a:latin typeface="Trebuchet MS"/>
                <a:cs typeface="Trebuchet MS"/>
              </a:rPr>
              <a:t>node 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node-&gt;link;</a:t>
            </a:r>
            <a:r>
              <a:rPr dirty="0" sz="1400">
                <a:latin typeface="Trebuchet MS"/>
                <a:cs typeface="Trebuchet MS"/>
              </a:rPr>
              <a:t>	// </a:t>
            </a:r>
            <a:r>
              <a:rPr dirty="0" sz="1400">
                <a:latin typeface="Gulim"/>
                <a:cs typeface="Gulim"/>
              </a:rPr>
              <a:t>다음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정점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55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4760" y="5876894"/>
            <a:ext cx="1465580" cy="669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0"/>
              </a:spcBef>
            </a:pPr>
            <a:r>
              <a:rPr dirty="0" sz="1400" spc="-10">
                <a:latin typeface="Trebuchet MS"/>
                <a:cs typeface="Trebuchet MS"/>
              </a:rPr>
              <a:t>free(in_degree); printf("\n");</a:t>
            </a:r>
            <a:r>
              <a:rPr dirty="0" sz="1400" spc="50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g-</a:t>
            </a:r>
            <a:r>
              <a:rPr dirty="0" sz="1400" spc="-20">
                <a:latin typeface="Trebuchet MS"/>
                <a:cs typeface="Trebuchet MS"/>
              </a:rPr>
              <a:t>&gt;n);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1553" y="6306434"/>
            <a:ext cx="28663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반환값이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1</a:t>
            </a:r>
            <a:r>
              <a:rPr dirty="0" sz="1400">
                <a:latin typeface="Gulim"/>
                <a:cs typeface="Gulim"/>
              </a:rPr>
              <a:t>이면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성공</a:t>
            </a:r>
            <a:r>
              <a:rPr dirty="0" sz="1400">
                <a:latin typeface="Trebuchet MS"/>
                <a:cs typeface="Trebuchet MS"/>
              </a:rPr>
              <a:t>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</a:t>
            </a:r>
            <a:r>
              <a:rPr dirty="0" sz="1400">
                <a:latin typeface="Gulim"/>
                <a:cs typeface="Gulim"/>
              </a:rPr>
              <a:t>이면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실패</a:t>
            </a:r>
            <a:endParaRPr sz="14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1350" y="6516633"/>
            <a:ext cx="90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896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 spc="-1645"/>
              <a:t>위상정렬</a:t>
            </a:r>
            <a:r>
              <a:rPr dirty="0" spc="-260"/>
              <a:t> </a:t>
            </a:r>
            <a:r>
              <a:rPr dirty="0" spc="-850"/>
              <a:t>프로그램</a:t>
            </a:r>
            <a:r>
              <a:rPr dirty="0" spc="-850">
                <a:latin typeface="Tw Cen MT"/>
                <a:cs typeface="Tw Cen MT"/>
              </a:rPr>
              <a:t>(cont.)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0101" y="1786686"/>
            <a:ext cx="8140065" cy="5419725"/>
            <a:chOff x="1370101" y="1786686"/>
            <a:chExt cx="8140065" cy="5419725"/>
          </a:xfrm>
        </p:grpSpPr>
        <p:sp>
          <p:nvSpPr>
            <p:cNvPr id="3" name="object 3"/>
            <p:cNvSpPr/>
            <p:nvPr/>
          </p:nvSpPr>
          <p:spPr>
            <a:xfrm>
              <a:off x="1383804" y="1798878"/>
              <a:ext cx="7912100" cy="5045075"/>
            </a:xfrm>
            <a:custGeom>
              <a:avLst/>
              <a:gdLst/>
              <a:ahLst/>
              <a:cxnLst/>
              <a:rect l="l" t="t" r="r" b="b"/>
              <a:pathLst>
                <a:path w="7912100" h="5045075">
                  <a:moveTo>
                    <a:pt x="7911566" y="0"/>
                  </a:moveTo>
                  <a:lnTo>
                    <a:pt x="0" y="0"/>
                  </a:lnTo>
                  <a:lnTo>
                    <a:pt x="0" y="5044770"/>
                  </a:lnTo>
                  <a:lnTo>
                    <a:pt x="7911566" y="5044770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0101" y="1786686"/>
              <a:ext cx="7937500" cy="5069205"/>
            </a:xfrm>
            <a:custGeom>
              <a:avLst/>
              <a:gdLst/>
              <a:ahLst/>
              <a:cxnLst/>
              <a:rect l="l" t="t" r="r" b="b"/>
              <a:pathLst>
                <a:path w="7937500" h="5069205">
                  <a:moveTo>
                    <a:pt x="7937449" y="0"/>
                  </a:moveTo>
                  <a:lnTo>
                    <a:pt x="0" y="0"/>
                  </a:lnTo>
                  <a:lnTo>
                    <a:pt x="0" y="5069154"/>
                  </a:lnTo>
                  <a:lnTo>
                    <a:pt x="7937449" y="5069154"/>
                  </a:lnTo>
                  <a:lnTo>
                    <a:pt x="7937449" y="5056962"/>
                  </a:lnTo>
                  <a:lnTo>
                    <a:pt x="25882" y="5056962"/>
                  </a:lnTo>
                  <a:lnTo>
                    <a:pt x="13703" y="5044782"/>
                  </a:lnTo>
                  <a:lnTo>
                    <a:pt x="25882" y="5044782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91"/>
                  </a:lnTo>
                  <a:lnTo>
                    <a:pt x="7937449" y="12191"/>
                  </a:lnTo>
                  <a:lnTo>
                    <a:pt x="7937449" y="0"/>
                  </a:lnTo>
                  <a:close/>
                </a:path>
                <a:path w="7937500" h="5069205">
                  <a:moveTo>
                    <a:pt x="25882" y="5044782"/>
                  </a:moveTo>
                  <a:lnTo>
                    <a:pt x="13703" y="5044782"/>
                  </a:lnTo>
                  <a:lnTo>
                    <a:pt x="25882" y="5056962"/>
                  </a:lnTo>
                  <a:lnTo>
                    <a:pt x="25882" y="5044782"/>
                  </a:lnTo>
                  <a:close/>
                </a:path>
                <a:path w="7937500" h="5069205">
                  <a:moveTo>
                    <a:pt x="7911566" y="5044782"/>
                  </a:moveTo>
                  <a:lnTo>
                    <a:pt x="25882" y="5044782"/>
                  </a:lnTo>
                  <a:lnTo>
                    <a:pt x="25882" y="5056962"/>
                  </a:lnTo>
                  <a:lnTo>
                    <a:pt x="7911566" y="5056962"/>
                  </a:lnTo>
                  <a:lnTo>
                    <a:pt x="7911566" y="5044782"/>
                  </a:lnTo>
                  <a:close/>
                </a:path>
                <a:path w="7937500" h="5069205">
                  <a:moveTo>
                    <a:pt x="7911566" y="12191"/>
                  </a:moveTo>
                  <a:lnTo>
                    <a:pt x="7911566" y="5056962"/>
                  </a:lnTo>
                  <a:lnTo>
                    <a:pt x="7925269" y="5044782"/>
                  </a:lnTo>
                  <a:lnTo>
                    <a:pt x="7937449" y="5044782"/>
                  </a:lnTo>
                  <a:lnTo>
                    <a:pt x="7937449" y="24371"/>
                  </a:lnTo>
                  <a:lnTo>
                    <a:pt x="7925269" y="24371"/>
                  </a:lnTo>
                  <a:lnTo>
                    <a:pt x="7911566" y="12191"/>
                  </a:lnTo>
                  <a:close/>
                </a:path>
                <a:path w="7937500" h="5069205">
                  <a:moveTo>
                    <a:pt x="7937449" y="5044782"/>
                  </a:moveTo>
                  <a:lnTo>
                    <a:pt x="7925269" y="5044782"/>
                  </a:lnTo>
                  <a:lnTo>
                    <a:pt x="7911566" y="5056962"/>
                  </a:lnTo>
                  <a:lnTo>
                    <a:pt x="7937449" y="5056962"/>
                  </a:lnTo>
                  <a:lnTo>
                    <a:pt x="7937449" y="5044782"/>
                  </a:lnTo>
                  <a:close/>
                </a:path>
                <a:path w="7937500" h="5069205">
                  <a:moveTo>
                    <a:pt x="25882" y="12191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937500" h="5069205">
                  <a:moveTo>
                    <a:pt x="7911566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911566" y="24371"/>
                  </a:lnTo>
                  <a:lnTo>
                    <a:pt x="7911566" y="12191"/>
                  </a:lnTo>
                  <a:close/>
                </a:path>
                <a:path w="7937500" h="5069205">
                  <a:moveTo>
                    <a:pt x="7937449" y="12191"/>
                  </a:moveTo>
                  <a:lnTo>
                    <a:pt x="7911566" y="12191"/>
                  </a:lnTo>
                  <a:lnTo>
                    <a:pt x="7925269" y="24371"/>
                  </a:lnTo>
                  <a:lnTo>
                    <a:pt x="7937449" y="24371"/>
                  </a:lnTo>
                  <a:lnTo>
                    <a:pt x="793744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461350" y="1825239"/>
            <a:ext cx="5038725" cy="493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GraphType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g;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Trebuchet MS"/>
                <a:cs typeface="Trebuchet MS"/>
              </a:rPr>
              <a:t>graph_init(&amp;g);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752725" algn="l"/>
              </a:tabLst>
            </a:pPr>
            <a:r>
              <a:rPr dirty="0" sz="1400">
                <a:latin typeface="Trebuchet MS"/>
                <a:cs typeface="Trebuchet MS"/>
              </a:rPr>
              <a:t>insert_vertex(&amp;g,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0);</a:t>
            </a:r>
            <a:r>
              <a:rPr dirty="0" sz="1400">
                <a:latin typeface="Trebuchet MS"/>
                <a:cs typeface="Trebuchet MS"/>
              </a:rPr>
              <a:t>	insert_vertex(&amp;g,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752725" algn="l"/>
              </a:tabLst>
            </a:pPr>
            <a:r>
              <a:rPr dirty="0" sz="1400">
                <a:latin typeface="Trebuchet MS"/>
                <a:cs typeface="Trebuchet MS"/>
              </a:rPr>
              <a:t>insert_vertex(&amp;g,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2);</a:t>
            </a:r>
            <a:r>
              <a:rPr dirty="0" sz="1400">
                <a:latin typeface="Trebuchet MS"/>
                <a:cs typeface="Trebuchet MS"/>
              </a:rPr>
              <a:t>	insert_vertex(&amp;g,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3);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752725" algn="l"/>
              </a:tabLst>
            </a:pPr>
            <a:r>
              <a:rPr dirty="0" sz="1400">
                <a:latin typeface="Trebuchet MS"/>
                <a:cs typeface="Trebuchet MS"/>
              </a:rPr>
              <a:t>insert_vertex(&amp;g,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4);</a:t>
            </a:r>
            <a:r>
              <a:rPr dirty="0" sz="1400">
                <a:latin typeface="Trebuchet MS"/>
                <a:cs typeface="Trebuchet MS"/>
              </a:rPr>
              <a:t>	insert_vertex(&amp;g,</a:t>
            </a:r>
            <a:r>
              <a:rPr dirty="0" sz="1400" spc="-10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5);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0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인접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리스트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2);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3);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1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인접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리스트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3);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4);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2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인접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리스트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3);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2,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5);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45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3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인접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리스트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5);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4</a:t>
            </a:r>
            <a:r>
              <a:rPr dirty="0" sz="1400">
                <a:latin typeface="Gulim"/>
                <a:cs typeface="Gulim"/>
              </a:rPr>
              <a:t>의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인접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리스트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insert_edge(&amp;g,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4,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5);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>
                <a:latin typeface="Gulim"/>
                <a:cs typeface="Gulim"/>
              </a:rPr>
              <a:t>위상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정렬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70"/>
              </a:lnSpc>
            </a:pPr>
            <a:r>
              <a:rPr dirty="0" sz="1400" spc="-10">
                <a:latin typeface="Trebuchet MS"/>
                <a:cs typeface="Trebuchet MS"/>
              </a:rPr>
              <a:t>topo_sort(&amp;g);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동적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메모리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반환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코드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생략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896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pc="-1645"/>
              <a:t>위상정렬</a:t>
            </a:r>
            <a:r>
              <a:rPr dirty="0" spc="-260"/>
              <a:t> </a:t>
            </a:r>
            <a:r>
              <a:rPr dirty="0" spc="-850"/>
              <a:t>프로그램</a:t>
            </a:r>
            <a:r>
              <a:rPr dirty="0" spc="-850">
                <a:latin typeface="Tw Cen MT"/>
                <a:cs typeface="Tw Cen MT"/>
              </a:rPr>
              <a:t>(cont.)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실행</a:t>
            </a:r>
            <a:r>
              <a:rPr dirty="0" spc="-260"/>
              <a:t> </a:t>
            </a:r>
            <a:r>
              <a:rPr dirty="0" spc="-1550"/>
              <a:t>결과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5956" y="2056295"/>
            <a:ext cx="7936230" cy="334010"/>
            <a:chOff x="1325956" y="2056295"/>
            <a:chExt cx="7936230" cy="334010"/>
          </a:xfrm>
        </p:grpSpPr>
        <p:sp>
          <p:nvSpPr>
            <p:cNvPr id="4" name="object 4"/>
            <p:cNvSpPr/>
            <p:nvPr/>
          </p:nvSpPr>
          <p:spPr>
            <a:xfrm>
              <a:off x="1338135" y="2068474"/>
              <a:ext cx="7912100" cy="307975"/>
            </a:xfrm>
            <a:custGeom>
              <a:avLst/>
              <a:gdLst/>
              <a:ahLst/>
              <a:cxnLst/>
              <a:rect l="l" t="t" r="r" b="b"/>
              <a:pathLst>
                <a:path w="7912100" h="307975">
                  <a:moveTo>
                    <a:pt x="7911566" y="0"/>
                  </a:moveTo>
                  <a:lnTo>
                    <a:pt x="0" y="0"/>
                  </a:lnTo>
                  <a:lnTo>
                    <a:pt x="0" y="307682"/>
                  </a:lnTo>
                  <a:lnTo>
                    <a:pt x="7911566" y="307682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25956" y="2056295"/>
              <a:ext cx="7936230" cy="334010"/>
            </a:xfrm>
            <a:custGeom>
              <a:avLst/>
              <a:gdLst/>
              <a:ahLst/>
              <a:cxnLst/>
              <a:rect l="l" t="t" r="r" b="b"/>
              <a:pathLst>
                <a:path w="7936230" h="334010">
                  <a:moveTo>
                    <a:pt x="7935925" y="0"/>
                  </a:moveTo>
                  <a:lnTo>
                    <a:pt x="0" y="0"/>
                  </a:lnTo>
                  <a:lnTo>
                    <a:pt x="0" y="333578"/>
                  </a:lnTo>
                  <a:lnTo>
                    <a:pt x="7935925" y="333578"/>
                  </a:lnTo>
                  <a:lnTo>
                    <a:pt x="7935925" y="319862"/>
                  </a:lnTo>
                  <a:lnTo>
                    <a:pt x="25882" y="319862"/>
                  </a:lnTo>
                  <a:lnTo>
                    <a:pt x="12179" y="307682"/>
                  </a:lnTo>
                  <a:lnTo>
                    <a:pt x="25882" y="307682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2179"/>
                  </a:lnTo>
                  <a:lnTo>
                    <a:pt x="7935925" y="12179"/>
                  </a:lnTo>
                  <a:lnTo>
                    <a:pt x="7935925" y="0"/>
                  </a:lnTo>
                  <a:close/>
                </a:path>
                <a:path w="7936230" h="334010">
                  <a:moveTo>
                    <a:pt x="25882" y="307682"/>
                  </a:moveTo>
                  <a:lnTo>
                    <a:pt x="12179" y="307682"/>
                  </a:lnTo>
                  <a:lnTo>
                    <a:pt x="25882" y="319862"/>
                  </a:lnTo>
                  <a:lnTo>
                    <a:pt x="25882" y="307682"/>
                  </a:lnTo>
                  <a:close/>
                </a:path>
                <a:path w="7936230" h="334010">
                  <a:moveTo>
                    <a:pt x="7911566" y="307682"/>
                  </a:moveTo>
                  <a:lnTo>
                    <a:pt x="25882" y="307682"/>
                  </a:lnTo>
                  <a:lnTo>
                    <a:pt x="25882" y="319862"/>
                  </a:lnTo>
                  <a:lnTo>
                    <a:pt x="7911566" y="319862"/>
                  </a:lnTo>
                  <a:lnTo>
                    <a:pt x="7911566" y="307682"/>
                  </a:lnTo>
                  <a:close/>
                </a:path>
                <a:path w="7936230" h="334010">
                  <a:moveTo>
                    <a:pt x="7911566" y="12179"/>
                  </a:moveTo>
                  <a:lnTo>
                    <a:pt x="7911566" y="319862"/>
                  </a:lnTo>
                  <a:lnTo>
                    <a:pt x="7923745" y="307682"/>
                  </a:lnTo>
                  <a:lnTo>
                    <a:pt x="7935925" y="307682"/>
                  </a:lnTo>
                  <a:lnTo>
                    <a:pt x="7935925" y="25895"/>
                  </a:lnTo>
                  <a:lnTo>
                    <a:pt x="7923745" y="25895"/>
                  </a:lnTo>
                  <a:lnTo>
                    <a:pt x="7911566" y="12179"/>
                  </a:lnTo>
                  <a:close/>
                </a:path>
                <a:path w="7936230" h="334010">
                  <a:moveTo>
                    <a:pt x="7935925" y="307682"/>
                  </a:moveTo>
                  <a:lnTo>
                    <a:pt x="7923745" y="307682"/>
                  </a:lnTo>
                  <a:lnTo>
                    <a:pt x="7911566" y="319862"/>
                  </a:lnTo>
                  <a:lnTo>
                    <a:pt x="7935925" y="319862"/>
                  </a:lnTo>
                  <a:lnTo>
                    <a:pt x="7935925" y="307682"/>
                  </a:lnTo>
                  <a:close/>
                </a:path>
                <a:path w="7936230" h="334010">
                  <a:moveTo>
                    <a:pt x="25882" y="12179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6230" h="334010">
                  <a:moveTo>
                    <a:pt x="7911566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2179"/>
                  </a:lnTo>
                  <a:close/>
                </a:path>
                <a:path w="7936230" h="334010">
                  <a:moveTo>
                    <a:pt x="7935925" y="12179"/>
                  </a:moveTo>
                  <a:lnTo>
                    <a:pt x="7911566" y="12179"/>
                  </a:lnTo>
                  <a:lnTo>
                    <a:pt x="7923745" y="25895"/>
                  </a:lnTo>
                  <a:lnTo>
                    <a:pt x="7935925" y="25895"/>
                  </a:lnTo>
                  <a:lnTo>
                    <a:pt x="7935925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416405" y="2098162"/>
            <a:ext cx="43180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-&gt;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4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-&gt;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-&gt;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-&gt;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-&gt;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dirty="0" sz="1400" spc="-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400" spc="-5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7009" y="3028142"/>
            <a:ext cx="2282465" cy="17333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 spc="-1645"/>
              <a:t>위상정렬</a:t>
            </a:r>
            <a:r>
              <a:rPr dirty="0" spc="-260"/>
              <a:t> </a:t>
            </a:r>
            <a:r>
              <a:rPr dirty="0" spc="-1775"/>
              <a:t>가상실습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pc="-20"/>
              <a:t>위상정렬</a:t>
            </a:r>
            <a:r>
              <a:rPr dirty="0" spc="-155"/>
              <a:t> </a:t>
            </a:r>
            <a:r>
              <a:rPr dirty="0" spc="-20"/>
              <a:t>가상실습을</a:t>
            </a:r>
            <a:r>
              <a:rPr dirty="0" spc="-150"/>
              <a:t> </a:t>
            </a:r>
            <a:r>
              <a:rPr dirty="0" spc="-20">
                <a:latin typeface="Arial"/>
                <a:cs typeface="Arial"/>
              </a:rPr>
              <a:t>31-</a:t>
            </a:r>
            <a:r>
              <a:rPr dirty="0" spc="-10">
                <a:latin typeface="Arial"/>
                <a:cs typeface="Arial"/>
              </a:rPr>
              <a:t>&gt;topo</a:t>
            </a:r>
            <a:r>
              <a:rPr dirty="0" spc="-10"/>
              <a:t>로</a:t>
            </a:r>
            <a:r>
              <a:rPr dirty="0" spc="-140"/>
              <a:t> </a:t>
            </a:r>
            <a:r>
              <a:rPr dirty="0" spc="-25"/>
              <a:t>알아봄</a:t>
            </a:r>
          </a:p>
          <a:p>
            <a:pPr marL="4643120">
              <a:lnSpc>
                <a:spcPct val="100000"/>
              </a:lnSpc>
              <a:spcBef>
                <a:spcPts val="680"/>
              </a:spcBef>
            </a:pPr>
            <a:r>
              <a:rPr dirty="0" sz="1400"/>
              <a:t>연산의</a:t>
            </a:r>
            <a:r>
              <a:rPr dirty="0" sz="1400" spc="-95"/>
              <a:t> </a:t>
            </a:r>
            <a:r>
              <a:rPr dirty="0" sz="1400"/>
              <a:t>종류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topo_sort</a:t>
            </a:r>
            <a:endParaRPr sz="1400">
              <a:latin typeface="Arial"/>
              <a:cs typeface="Arial"/>
            </a:endParaRPr>
          </a:p>
          <a:p>
            <a:pPr marL="4643120">
              <a:lnSpc>
                <a:spcPct val="100000"/>
              </a:lnSpc>
              <a:spcBef>
                <a:spcPts val="695"/>
              </a:spcBef>
            </a:pPr>
            <a:r>
              <a:rPr dirty="0" sz="1400"/>
              <a:t>정점의</a:t>
            </a:r>
            <a:r>
              <a:rPr dirty="0" sz="1400" spc="-95"/>
              <a:t> </a:t>
            </a:r>
            <a:r>
              <a:rPr dirty="0" sz="1400"/>
              <a:t>개수</a:t>
            </a:r>
            <a:r>
              <a:rPr dirty="0" sz="1400" spc="-85"/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  <a:p>
            <a:pPr lvl="1" marL="4846955" indent="-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마우스를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더블클릭하면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만들어진다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lvl="1" marL="4840605" marR="113030" indent="-198120">
              <a:lnSpc>
                <a:spcPct val="100000"/>
              </a:lnSpc>
              <a:spcBef>
                <a:spcPts val="705"/>
              </a:spcBef>
              <a:buFont typeface="Arial"/>
              <a:buAutoNum type="arabicParenR"/>
              <a:tabLst>
                <a:tab pos="4840605" algn="l"/>
                <a:tab pos="4846320" algn="l"/>
              </a:tabLst>
            </a:pPr>
            <a:r>
              <a:rPr dirty="0" sz="1400">
                <a:latin typeface="Gulim"/>
                <a:cs typeface="Gulim"/>
              </a:rPr>
              <a:t>	마우스로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정점들을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드래그하여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만든다 </a:t>
            </a:r>
            <a:r>
              <a:rPr dirty="0" sz="1400">
                <a:latin typeface="Gulim"/>
                <a:cs typeface="Gulim"/>
              </a:rPr>
              <a:t>방향그래프</a:t>
            </a:r>
            <a:r>
              <a:rPr dirty="0" sz="1400" spc="-12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(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From,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85">
                <a:latin typeface="Arial"/>
                <a:cs typeface="Arial"/>
              </a:rPr>
              <a:t>To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)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lvl="1" marL="4643120" marR="5080" indent="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이동하고자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하는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경우에는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ctrl</a:t>
            </a:r>
            <a:r>
              <a:rPr dirty="0" sz="1400">
                <a:latin typeface="Gulim"/>
                <a:cs typeface="Gulim"/>
              </a:rPr>
              <a:t>키를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누른 </a:t>
            </a:r>
            <a:r>
              <a:rPr dirty="0" sz="1400">
                <a:latin typeface="Gulim"/>
                <a:cs typeface="Gulim"/>
              </a:rPr>
              <a:t>채로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마우스로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원하는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드래그한다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624" y="2277160"/>
            <a:ext cx="4640072" cy="35383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60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45"/>
              <a:t> </a:t>
            </a:r>
            <a:r>
              <a:rPr dirty="0" sz="3200" spc="-1445"/>
              <a:t>한줄</a:t>
            </a:r>
            <a:r>
              <a:rPr dirty="0" sz="3200" spc="-165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75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0"/>
              <a:t> </a:t>
            </a:r>
            <a:r>
              <a:rPr dirty="0" sz="3200" spc="-1370"/>
              <a:t>그림과</a:t>
            </a:r>
            <a:r>
              <a:rPr dirty="0" sz="3200" spc="-175"/>
              <a:t> </a:t>
            </a:r>
            <a:r>
              <a:rPr dirty="0" sz="3200" spc="-350">
                <a:latin typeface="Tw Cen MT"/>
                <a:cs typeface="Tw Cen MT"/>
              </a:rPr>
              <a:t>VS</a:t>
            </a:r>
            <a:r>
              <a:rPr dirty="0" sz="3200" spc="-350"/>
              <a:t>같이</a:t>
            </a:r>
            <a:r>
              <a:rPr dirty="0" sz="3200" spc="-350">
                <a:latin typeface="Tw Cen MT"/>
                <a:cs typeface="Tw Cen MT"/>
              </a:rPr>
              <a:t>(1/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30024"/>
            <a:ext cx="3771900" cy="1233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9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topo_sort.c</a:t>
            </a:r>
            <a:r>
              <a:rPr dirty="0" sz="1400" spc="-10">
                <a:latin typeface="Gulim"/>
                <a:cs typeface="Gulim"/>
              </a:rPr>
              <a:t>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topo_sort_change.c</a:t>
            </a:r>
            <a:r>
              <a:rPr dirty="0" sz="1400" spc="-10">
                <a:latin typeface="Gulim"/>
                <a:cs typeface="Gulim"/>
              </a:rPr>
              <a:t>로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변경 </a:t>
            </a:r>
            <a:r>
              <a:rPr dirty="0" sz="1400">
                <a:latin typeface="Arial"/>
                <a:cs typeface="Arial"/>
              </a:rPr>
              <a:t>in_degree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배열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선언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변경해봄</a:t>
            </a:r>
            <a:endParaRPr sz="1400">
              <a:latin typeface="Gulim"/>
              <a:cs typeface="Gulim"/>
            </a:endParaRPr>
          </a:p>
          <a:p>
            <a:pPr marL="12700" marR="7620">
              <a:lnSpc>
                <a:spcPts val="2390"/>
              </a:lnSpc>
              <a:spcBef>
                <a:spcPts val="8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그래프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자료구조는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adj_list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사용 </a:t>
            </a:r>
            <a:r>
              <a:rPr dirty="0" sz="1400">
                <a:latin typeface="Gulim"/>
                <a:cs typeface="Gulim"/>
              </a:rPr>
              <a:t>콘솔창에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위상정렬값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출력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9455" y="1978609"/>
            <a:ext cx="2976956" cy="6945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7119" y="3058541"/>
            <a:ext cx="3273018" cy="1465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8308" y="3928274"/>
            <a:ext cx="4090517" cy="3223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8135" y="3328149"/>
            <a:ext cx="4111058" cy="45762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3035" y="4408093"/>
            <a:ext cx="3597275" cy="190397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6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a</a:t>
            </a:r>
            <a:r>
              <a:rPr dirty="0" sz="3200" spc="-665"/>
              <a:t>단계</a:t>
            </a:r>
            <a:r>
              <a:rPr dirty="0" sz="3200" spc="-475"/>
              <a:t> </a:t>
            </a:r>
            <a:r>
              <a:rPr dirty="0" sz="3200" spc="-994"/>
              <a:t>와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b</a:t>
            </a:r>
            <a:r>
              <a:rPr dirty="0" sz="3200" spc="-665"/>
              <a:t>단계</a:t>
            </a:r>
            <a:r>
              <a:rPr dirty="0" sz="3200" spc="-185"/>
              <a:t> </a:t>
            </a:r>
            <a:r>
              <a:rPr dirty="0" sz="3200" spc="-25">
                <a:latin typeface="Tw Cen MT"/>
                <a:cs typeface="Tw Cen MT"/>
              </a:rPr>
              <a:t>(2/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6840" y="1783380"/>
            <a:ext cx="4592320" cy="492125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200">
                <a:latin typeface="Gulim"/>
                <a:cs typeface="Gulim"/>
              </a:rPr>
              <a:t>교재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432P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그림</a:t>
            </a:r>
            <a:r>
              <a:rPr dirty="0" sz="1200" spc="25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6</a:t>
            </a:r>
            <a:r>
              <a:rPr dirty="0" sz="1200" spc="-10">
                <a:latin typeface="Gulim"/>
                <a:cs typeface="Gulim"/>
              </a:rPr>
              <a:t>단계를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VS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한줄씩수행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및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변수보기와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비교합니다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32105" marR="6858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 spc="-10">
                <a:latin typeface="Gulim"/>
                <a:cs typeface="Gulim"/>
              </a:rPr>
              <a:t>위상정렬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가지지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를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선택하고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출 </a:t>
            </a:r>
            <a:r>
              <a:rPr dirty="0" sz="1200" spc="-10">
                <a:latin typeface="Gulim"/>
                <a:cs typeface="Gulim"/>
              </a:rPr>
              <a:t>력하고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나온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간선들을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그래프에서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삭제</a:t>
            </a:r>
            <a:endParaRPr sz="1200">
              <a:latin typeface="Gulim"/>
              <a:cs typeface="Gulim"/>
            </a:endParaRPr>
          </a:p>
          <a:p>
            <a:pPr marL="332105">
              <a:lnSpc>
                <a:spcPts val="1440"/>
              </a:lnSpc>
            </a:pP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갇지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진입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차수</a:t>
            </a:r>
            <a:r>
              <a:rPr dirty="0" sz="1200" spc="-10">
                <a:latin typeface="Arial"/>
                <a:cs typeface="Arial"/>
              </a:rPr>
              <a:t>(in-degree)</a:t>
            </a:r>
            <a:r>
              <a:rPr dirty="0" sz="1200" spc="-10">
                <a:latin typeface="Gulim"/>
                <a:cs typeface="Gulim"/>
              </a:rPr>
              <a:t>가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0</a:t>
            </a:r>
            <a:r>
              <a:rPr dirty="0" sz="1200">
                <a:latin typeface="Gulim"/>
                <a:cs typeface="Gulim"/>
              </a:rPr>
              <a:t>인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정점</a:t>
            </a:r>
            <a:endParaRPr sz="1200">
              <a:latin typeface="Gulim"/>
              <a:cs typeface="Gulim"/>
            </a:endParaRPr>
          </a:p>
          <a:p>
            <a:pPr marL="12700" marR="3168015">
              <a:lnSpc>
                <a:spcPct val="148200"/>
              </a:lnSpc>
              <a:spcBef>
                <a:spcPts val="5"/>
              </a:spcBef>
            </a:pPr>
            <a:r>
              <a:rPr dirty="0" sz="1200" spc="-10">
                <a:latin typeface="Arial"/>
                <a:cs typeface="Arial"/>
              </a:rPr>
              <a:t>109</a:t>
            </a:r>
            <a:r>
              <a:rPr dirty="0" sz="1200" spc="-10">
                <a:latin typeface="Gulim"/>
                <a:cs typeface="Gulim"/>
              </a:rPr>
              <a:t>번줄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중단점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설정 </a:t>
            </a:r>
            <a:r>
              <a:rPr dirty="0" sz="1200" spc="-10">
                <a:latin typeface="Gulim"/>
                <a:cs typeface="Gulim"/>
              </a:rPr>
              <a:t>디버깅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시작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10">
                <a:latin typeface="Arial"/>
                <a:cs typeface="Arial"/>
              </a:rPr>
              <a:t>109</a:t>
            </a:r>
            <a:r>
              <a:rPr dirty="0" sz="1200" spc="-10">
                <a:latin typeface="Gulim"/>
                <a:cs typeface="Gulim"/>
              </a:rPr>
              <a:t>번줄에서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Arial"/>
                <a:cs typeface="Arial"/>
              </a:rPr>
              <a:t>In_degree</a:t>
            </a:r>
            <a:r>
              <a:rPr dirty="0" sz="1200" spc="-7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계산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결과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봄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Gulim"/>
                <a:cs typeface="Gulim"/>
              </a:rPr>
              <a:t>학생</a:t>
            </a:r>
            <a:r>
              <a:rPr dirty="0" sz="1200">
                <a:latin typeface="Arial"/>
                <a:cs typeface="Arial"/>
              </a:rPr>
              <a:t>&gt;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로컬창이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in_degree</a:t>
            </a:r>
            <a:r>
              <a:rPr dirty="0" sz="1200" spc="-10">
                <a:latin typeface="Gulim"/>
                <a:cs typeface="Gulim"/>
              </a:rPr>
              <a:t>배열이</a:t>
            </a:r>
            <a:r>
              <a:rPr dirty="0" sz="1200" spc="-9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이상하게표시되는데요</a:t>
            </a:r>
            <a:r>
              <a:rPr dirty="0" sz="1200" spc="-10">
                <a:latin typeface="Arial"/>
                <a:cs typeface="Arial"/>
              </a:rPr>
              <a:t>?</a:t>
            </a:r>
            <a:endParaRPr sz="1200">
              <a:latin typeface="Arial"/>
              <a:cs typeface="Arial"/>
            </a:endParaRPr>
          </a:p>
          <a:p>
            <a:pPr marL="12700" marR="16129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Gulim"/>
                <a:cs typeface="Gulim"/>
              </a:rPr>
              <a:t>교수</a:t>
            </a:r>
            <a:r>
              <a:rPr dirty="0" sz="1200">
                <a:latin typeface="Arial"/>
                <a:cs typeface="Arial"/>
              </a:rPr>
              <a:t>&gt;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in_degree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동적배열로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생성하지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않고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크기가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상수가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아닌 </a:t>
            </a:r>
            <a:r>
              <a:rPr dirty="0" sz="1200" spc="-10">
                <a:latin typeface="Gulim"/>
                <a:cs typeface="Gulim"/>
              </a:rPr>
              <a:t>변수인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정적배열로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생성하면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error</a:t>
            </a:r>
            <a:r>
              <a:rPr dirty="0" sz="1200" spc="-10">
                <a:latin typeface="Gulim"/>
                <a:cs typeface="Gulim"/>
              </a:rPr>
              <a:t>납니다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10">
                <a:latin typeface="Arial"/>
                <a:cs typeface="Arial"/>
              </a:rPr>
              <a:t>In_degree</a:t>
            </a:r>
            <a:r>
              <a:rPr dirty="0" sz="1200" spc="-10">
                <a:latin typeface="Gulim"/>
                <a:cs typeface="Gulim"/>
              </a:rPr>
              <a:t>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조사식에</a:t>
            </a:r>
            <a:r>
              <a:rPr dirty="0" sz="1200" spc="-4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추가합니다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 marR="834390">
              <a:lnSpc>
                <a:spcPts val="2150"/>
              </a:lnSpc>
              <a:spcBef>
                <a:spcPts val="175"/>
              </a:spcBef>
            </a:pPr>
            <a:r>
              <a:rPr dirty="0" sz="1200">
                <a:latin typeface="Gulim"/>
                <a:cs typeface="Gulim"/>
              </a:rPr>
              <a:t>학생</a:t>
            </a:r>
            <a:r>
              <a:rPr dirty="0" sz="1200">
                <a:latin typeface="Arial"/>
                <a:cs typeface="Arial"/>
              </a:rPr>
              <a:t>&gt;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조사식창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내용과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로컬창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내용을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같이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보고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싶어요 </a:t>
            </a:r>
            <a:r>
              <a:rPr dirty="0" sz="1200">
                <a:latin typeface="Gulim"/>
                <a:cs typeface="Gulim"/>
              </a:rPr>
              <a:t>교수</a:t>
            </a:r>
            <a:r>
              <a:rPr dirty="0" sz="1200">
                <a:latin typeface="Arial"/>
                <a:cs typeface="Arial"/>
              </a:rPr>
              <a:t>&gt; </a:t>
            </a:r>
            <a:r>
              <a:rPr dirty="0" sz="1200" spc="-10">
                <a:latin typeface="Arial"/>
                <a:cs typeface="Arial"/>
              </a:rPr>
              <a:t>docking</a:t>
            </a:r>
            <a:r>
              <a:rPr dirty="0" sz="1200" spc="-10">
                <a:latin typeface="Gulim"/>
                <a:cs typeface="Gulim"/>
              </a:rPr>
              <a:t>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floating</a:t>
            </a:r>
            <a:r>
              <a:rPr dirty="0" sz="1200" spc="-10">
                <a:latin typeface="Gulim"/>
                <a:cs typeface="Gulim"/>
              </a:rPr>
              <a:t>기능사용합니다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 spc="-10">
                <a:latin typeface="Arial"/>
                <a:cs typeface="Arial"/>
              </a:rPr>
              <a:t>Floating</a:t>
            </a:r>
            <a:r>
              <a:rPr dirty="0" sz="1200" spc="-10">
                <a:latin typeface="Gulim"/>
                <a:cs typeface="Gulim"/>
              </a:rPr>
              <a:t>도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해보고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docking</a:t>
            </a:r>
            <a:r>
              <a:rPr dirty="0" sz="1200" spc="-10">
                <a:latin typeface="Gulim"/>
                <a:cs typeface="Gulim"/>
              </a:rPr>
              <a:t>도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해봅니다</a:t>
            </a:r>
            <a:r>
              <a:rPr dirty="0" sz="1200" spc="-1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2700" marR="3222625">
              <a:lnSpc>
                <a:spcPts val="2150"/>
              </a:lnSpc>
              <a:spcBef>
                <a:spcPts val="175"/>
              </a:spcBef>
            </a:pPr>
            <a:r>
              <a:rPr dirty="0" sz="1200" spc="-25">
                <a:latin typeface="Arial"/>
                <a:cs typeface="Arial"/>
              </a:rPr>
              <a:t>118</a:t>
            </a:r>
            <a:r>
              <a:rPr dirty="0" sz="1200" spc="-25">
                <a:latin typeface="Gulim"/>
                <a:cs typeface="Gulim"/>
              </a:rPr>
              <a:t>번줄에서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중단점 계속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200" spc="-25">
                <a:latin typeface="Arial"/>
                <a:cs typeface="Arial"/>
              </a:rPr>
              <a:t>118</a:t>
            </a:r>
            <a:r>
              <a:rPr dirty="0" sz="1200" spc="-25">
                <a:latin typeface="Gulim"/>
                <a:cs typeface="Gulim"/>
              </a:rPr>
              <a:t>번줄에서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중단됨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10">
                <a:latin typeface="Gulim"/>
                <a:cs typeface="Gulim"/>
              </a:rPr>
              <a:t>정점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이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출력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그림단계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(b)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노드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제거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(stack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제거</a:t>
            </a:r>
            <a:r>
              <a:rPr dirty="0" sz="1200" spc="-25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22806" y="449338"/>
            <a:ext cx="2082558" cy="14942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06055" y="2114169"/>
            <a:ext cx="2084070" cy="1465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36509" y="3733317"/>
            <a:ext cx="884478" cy="50417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6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80"/>
              <a:t> </a:t>
            </a:r>
            <a:r>
              <a:rPr dirty="0" sz="3200" spc="-665">
                <a:latin typeface="Tw Cen MT"/>
                <a:cs typeface="Tw Cen MT"/>
              </a:rPr>
              <a:t>b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25">
                <a:latin typeface="Tw Cen MT"/>
                <a:cs typeface="Tw Cen MT"/>
              </a:rPr>
              <a:t>(3/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840" y="1873268"/>
            <a:ext cx="4571365" cy="19329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 spc="-10">
                <a:latin typeface="Arial"/>
                <a:cs typeface="Arial"/>
              </a:rPr>
              <a:t>.</a:t>
            </a:r>
            <a:r>
              <a:rPr dirty="0" sz="1200" spc="-10">
                <a:latin typeface="Gulim"/>
                <a:cs typeface="Gulim"/>
              </a:rPr>
              <a:t>위상정렬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가지지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출 </a:t>
            </a:r>
            <a:r>
              <a:rPr dirty="0" sz="1200" spc="-10">
                <a:latin typeface="Gulim"/>
                <a:cs typeface="Gulim"/>
              </a:rPr>
              <a:t>력하고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나온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간선들을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그래프에서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삭제</a:t>
            </a:r>
            <a:endParaRPr sz="1200">
              <a:latin typeface="Gulim"/>
              <a:cs typeface="Gulim"/>
            </a:endParaRPr>
          </a:p>
          <a:p>
            <a:pPr marL="332105">
              <a:lnSpc>
                <a:spcPts val="1440"/>
              </a:lnSpc>
            </a:pP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갇지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진입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차수</a:t>
            </a:r>
            <a:r>
              <a:rPr dirty="0" sz="1200" spc="-10">
                <a:latin typeface="Arial"/>
                <a:cs typeface="Arial"/>
              </a:rPr>
              <a:t>(in-degree)</a:t>
            </a:r>
            <a:r>
              <a:rPr dirty="0" sz="1200" spc="-10">
                <a:latin typeface="Gulim"/>
                <a:cs typeface="Gulim"/>
              </a:rPr>
              <a:t>가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0</a:t>
            </a:r>
            <a:r>
              <a:rPr dirty="0" sz="1200">
                <a:latin typeface="Gulim"/>
                <a:cs typeface="Gulim"/>
              </a:rPr>
              <a:t>인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정점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Arial"/>
                <a:cs typeface="Arial"/>
              </a:rPr>
              <a:t>Step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over</a:t>
            </a:r>
            <a:r>
              <a:rPr dirty="0" sz="1200" spc="-10">
                <a:latin typeface="Gulim"/>
                <a:cs typeface="Gulim"/>
              </a:rPr>
              <a:t>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진행</a:t>
            </a:r>
            <a:endParaRPr sz="1200">
              <a:latin typeface="Gulim"/>
              <a:cs typeface="Gulim"/>
            </a:endParaRPr>
          </a:p>
          <a:p>
            <a:pPr marL="12700" marR="1321435">
              <a:lnSpc>
                <a:spcPct val="148300"/>
              </a:lnSpc>
            </a:pPr>
            <a:r>
              <a:rPr dirty="0" sz="1200">
                <a:latin typeface="Arial"/>
                <a:cs typeface="Arial"/>
              </a:rPr>
              <a:t>U=4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in_degree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감소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1-</a:t>
            </a:r>
            <a:r>
              <a:rPr dirty="0" sz="1200">
                <a:latin typeface="Arial"/>
                <a:cs typeface="Arial"/>
              </a:rPr>
              <a:t>&gt;4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간선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제거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효과</a:t>
            </a:r>
            <a:r>
              <a:rPr dirty="0" sz="1200" spc="-25">
                <a:latin typeface="Arial"/>
                <a:cs typeface="Arial"/>
              </a:rPr>
              <a:t>) </a:t>
            </a:r>
            <a:r>
              <a:rPr dirty="0" sz="1200">
                <a:latin typeface="Arial"/>
                <a:cs typeface="Arial"/>
              </a:rPr>
              <a:t>U=3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in_degree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감소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1-</a:t>
            </a:r>
            <a:r>
              <a:rPr dirty="0" sz="1200">
                <a:latin typeface="Arial"/>
                <a:cs typeface="Arial"/>
              </a:rPr>
              <a:t>&gt;3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간선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제거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효과</a:t>
            </a:r>
            <a:r>
              <a:rPr dirty="0" sz="1200" spc="-25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1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in_degree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감소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확인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node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==</a:t>
            </a:r>
            <a:r>
              <a:rPr dirty="0" sz="1200" spc="-10">
                <a:latin typeface="Arial"/>
                <a:cs typeface="Arial"/>
              </a:rPr>
              <a:t> NULL)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10">
                <a:latin typeface="Gulim"/>
                <a:cs typeface="Gulim"/>
              </a:rPr>
              <a:t>그림단계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(b)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노드와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1</a:t>
            </a:r>
            <a:r>
              <a:rPr dirty="0" sz="1200" spc="-10">
                <a:latin typeface="Gulim"/>
                <a:cs typeface="Gulim"/>
              </a:rPr>
              <a:t>노드에서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나온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모든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간선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제거됨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2806" y="449338"/>
            <a:ext cx="2082558" cy="14942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6055" y="2114169"/>
            <a:ext cx="2084070" cy="1465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8679" y="4239005"/>
            <a:ext cx="3682530" cy="19237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6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75"/>
              <a:t> </a:t>
            </a:r>
            <a:r>
              <a:rPr dirty="0" sz="3200" spc="-670">
                <a:latin typeface="Tw Cen MT"/>
                <a:cs typeface="Tw Cen MT"/>
              </a:rPr>
              <a:t>c</a:t>
            </a:r>
            <a:r>
              <a:rPr dirty="0" sz="3200" spc="-670"/>
              <a:t>단계</a:t>
            </a:r>
            <a:r>
              <a:rPr dirty="0" sz="3200" spc="-170"/>
              <a:t> </a:t>
            </a:r>
            <a:r>
              <a:rPr dirty="0" sz="3200" spc="-25">
                <a:latin typeface="Tw Cen MT"/>
                <a:cs typeface="Tw Cen MT"/>
              </a:rPr>
              <a:t>(4/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840" y="1873268"/>
            <a:ext cx="4557395" cy="2476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33655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 spc="-10">
                <a:latin typeface="Gulim"/>
                <a:cs typeface="Gulim"/>
              </a:rPr>
              <a:t>위상정렬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가지지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를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선택하고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50">
                <a:latin typeface="Gulim"/>
                <a:cs typeface="Gulim"/>
              </a:rPr>
              <a:t>출 </a:t>
            </a:r>
            <a:r>
              <a:rPr dirty="0" sz="1200" spc="-10">
                <a:latin typeface="Gulim"/>
                <a:cs typeface="Gulim"/>
              </a:rPr>
              <a:t>력하고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나온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간선들을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그래프에서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삭제</a:t>
            </a:r>
            <a:endParaRPr sz="1200">
              <a:latin typeface="Gulim"/>
              <a:cs typeface="Gulim"/>
            </a:endParaRPr>
          </a:p>
          <a:p>
            <a:pPr marL="332105">
              <a:lnSpc>
                <a:spcPts val="1440"/>
              </a:lnSpc>
            </a:pP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갇지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진입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차수</a:t>
            </a:r>
            <a:r>
              <a:rPr dirty="0" sz="1200" spc="-10">
                <a:latin typeface="Arial"/>
                <a:cs typeface="Arial"/>
              </a:rPr>
              <a:t>(in-degree)</a:t>
            </a:r>
            <a:r>
              <a:rPr dirty="0" sz="1200" spc="-10">
                <a:latin typeface="Gulim"/>
                <a:cs typeface="Gulim"/>
              </a:rPr>
              <a:t>가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0</a:t>
            </a:r>
            <a:r>
              <a:rPr dirty="0" sz="1200">
                <a:latin typeface="Gulim"/>
                <a:cs typeface="Gulim"/>
              </a:rPr>
              <a:t>인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정점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-25">
                <a:latin typeface="Gulim"/>
                <a:cs typeface="Gulim"/>
              </a:rPr>
              <a:t>계속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spc="-25">
                <a:latin typeface="Arial"/>
                <a:cs typeface="Arial"/>
              </a:rPr>
              <a:t>118</a:t>
            </a:r>
            <a:r>
              <a:rPr dirty="0" sz="1200" spc="-25">
                <a:latin typeface="Gulim"/>
                <a:cs typeface="Gulim"/>
              </a:rPr>
              <a:t>번줄에서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중단됨</a:t>
            </a:r>
            <a:endParaRPr sz="1200">
              <a:latin typeface="Gulim"/>
              <a:cs typeface="Gulim"/>
            </a:endParaRPr>
          </a:p>
          <a:p>
            <a:pPr marL="12700" marR="770255">
              <a:lnSpc>
                <a:spcPts val="2150"/>
              </a:lnSpc>
              <a:spcBef>
                <a:spcPts val="175"/>
              </a:spcBef>
            </a:pPr>
            <a:r>
              <a:rPr dirty="0" sz="1200" spc="-10">
                <a:latin typeface="Gulim"/>
                <a:cs typeface="Gulim"/>
              </a:rPr>
              <a:t>정점</a:t>
            </a:r>
            <a:r>
              <a:rPr dirty="0" sz="1200" spc="-10">
                <a:latin typeface="Arial"/>
                <a:cs typeface="Arial"/>
              </a:rPr>
              <a:t>4</a:t>
            </a:r>
            <a:r>
              <a:rPr dirty="0" sz="1200" spc="-10">
                <a:latin typeface="Gulim"/>
                <a:cs typeface="Gulim"/>
              </a:rPr>
              <a:t>이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출력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그림단계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(c)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노드</a:t>
            </a:r>
            <a:r>
              <a:rPr dirty="0" sz="1200" spc="-10">
                <a:latin typeface="Arial"/>
                <a:cs typeface="Arial"/>
              </a:rPr>
              <a:t>4</a:t>
            </a:r>
            <a:r>
              <a:rPr dirty="0" sz="1200" spc="-10">
                <a:latin typeface="Gulim"/>
                <a:cs typeface="Gulim"/>
              </a:rPr>
              <a:t>제거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(stack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s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제거</a:t>
            </a:r>
            <a:r>
              <a:rPr dirty="0" sz="1200" spc="-25">
                <a:latin typeface="Arial"/>
                <a:cs typeface="Arial"/>
              </a:rPr>
              <a:t>) </a:t>
            </a:r>
            <a:r>
              <a:rPr dirty="0" sz="1200">
                <a:latin typeface="Arial"/>
                <a:cs typeface="Arial"/>
              </a:rPr>
              <a:t>Step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over</a:t>
            </a:r>
            <a:r>
              <a:rPr dirty="0" sz="1200" spc="-10">
                <a:latin typeface="Gulim"/>
                <a:cs typeface="Gulim"/>
              </a:rPr>
              <a:t>로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진행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200">
                <a:latin typeface="Arial"/>
                <a:cs typeface="Arial"/>
              </a:rPr>
              <a:t>U=5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in_degree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감소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4-</a:t>
            </a:r>
            <a:r>
              <a:rPr dirty="0" sz="1200">
                <a:latin typeface="Arial"/>
                <a:cs typeface="Arial"/>
              </a:rPr>
              <a:t>&gt;5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간선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제거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효과</a:t>
            </a:r>
            <a:r>
              <a:rPr dirty="0" sz="1200" spc="-25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4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에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연결된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노드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in_degree</a:t>
            </a:r>
            <a:r>
              <a:rPr dirty="0" sz="1200" spc="-4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감소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확인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node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==</a:t>
            </a:r>
            <a:r>
              <a:rPr dirty="0" sz="1200" spc="-10">
                <a:latin typeface="Arial"/>
                <a:cs typeface="Arial"/>
              </a:rPr>
              <a:t> NULL)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spc="-10">
                <a:latin typeface="Gulim"/>
                <a:cs typeface="Gulim"/>
              </a:rPr>
              <a:t>그림단계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(c) </a:t>
            </a:r>
            <a:r>
              <a:rPr dirty="0" sz="1200" spc="-10">
                <a:latin typeface="Arial"/>
                <a:cs typeface="Arial"/>
              </a:rPr>
              <a:t>4</a:t>
            </a:r>
            <a:r>
              <a:rPr dirty="0" sz="1200" spc="-10">
                <a:latin typeface="Gulim"/>
                <a:cs typeface="Gulim"/>
              </a:rPr>
              <a:t>노드와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Arial"/>
                <a:cs typeface="Arial"/>
              </a:rPr>
              <a:t>4</a:t>
            </a:r>
            <a:r>
              <a:rPr dirty="0" sz="1200" spc="-10">
                <a:latin typeface="Gulim"/>
                <a:cs typeface="Gulim"/>
              </a:rPr>
              <a:t>노드에서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나온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모든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간선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제거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2806" y="449338"/>
            <a:ext cx="2082558" cy="14942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6055" y="2114169"/>
            <a:ext cx="2084070" cy="1465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9433" y="3733304"/>
            <a:ext cx="2283126" cy="12855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4348" y="4767554"/>
            <a:ext cx="3747985" cy="20380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6399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dirty="0" sz="3200" spc="-665">
                <a:latin typeface="Tw Cen MT"/>
                <a:cs typeface="Tw Cen MT"/>
              </a:rPr>
              <a:t>6</a:t>
            </a:r>
            <a:r>
              <a:rPr dirty="0" sz="3200" spc="-665"/>
              <a:t>단계</a:t>
            </a:r>
            <a:r>
              <a:rPr dirty="0" sz="3200" spc="-175"/>
              <a:t> </a:t>
            </a:r>
            <a:r>
              <a:rPr dirty="0" sz="3200" spc="-1889"/>
              <a:t>중</a:t>
            </a:r>
            <a:r>
              <a:rPr dirty="0" sz="3200" spc="-175"/>
              <a:t> </a:t>
            </a:r>
            <a:r>
              <a:rPr dirty="0" sz="3200" spc="-405">
                <a:latin typeface="Tw Cen MT"/>
                <a:cs typeface="Tw Cen MT"/>
              </a:rPr>
              <a:t>d~f</a:t>
            </a:r>
            <a:r>
              <a:rPr dirty="0" sz="3200" spc="-405"/>
              <a:t>단계</a:t>
            </a:r>
            <a:r>
              <a:rPr dirty="0" sz="3200" spc="-185"/>
              <a:t> </a:t>
            </a:r>
            <a:r>
              <a:rPr dirty="0" sz="3200" spc="-25">
                <a:latin typeface="Tw Cen MT"/>
                <a:cs typeface="Tw Cen MT"/>
              </a:rPr>
              <a:t>(5/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6840" y="1873268"/>
            <a:ext cx="4681220" cy="84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Wingdings"/>
              <a:buChar char=""/>
              <a:tabLst>
                <a:tab pos="332105" algn="l"/>
              </a:tabLst>
            </a:pPr>
            <a:r>
              <a:rPr dirty="0" sz="1200" spc="-10">
                <a:latin typeface="Gulim"/>
                <a:cs typeface="Gulim"/>
              </a:rPr>
              <a:t>위상정렬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방식</a:t>
            </a:r>
            <a:r>
              <a:rPr dirty="0" sz="1200">
                <a:latin typeface="Arial"/>
                <a:cs typeface="Arial"/>
              </a:rPr>
              <a:t>: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가지지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를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선택하고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출력 </a:t>
            </a:r>
            <a:r>
              <a:rPr dirty="0" sz="1200">
                <a:latin typeface="Gulim"/>
                <a:cs typeface="Gulim"/>
              </a:rPr>
              <a:t>하고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와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V</a:t>
            </a:r>
            <a:r>
              <a:rPr dirty="0" sz="1200">
                <a:latin typeface="Gulim"/>
                <a:cs typeface="Gulim"/>
              </a:rPr>
              <a:t>에서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나온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모든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간선들을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그래프에서</a:t>
            </a:r>
            <a:r>
              <a:rPr dirty="0" sz="1200" spc="-8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삭제</a:t>
            </a:r>
            <a:endParaRPr sz="1200">
              <a:latin typeface="Gulim"/>
              <a:cs typeface="Gulim"/>
            </a:endParaRPr>
          </a:p>
          <a:p>
            <a:pPr marL="332105">
              <a:lnSpc>
                <a:spcPts val="1440"/>
              </a:lnSpc>
            </a:pPr>
            <a:r>
              <a:rPr dirty="0" sz="1200">
                <a:latin typeface="Gulim"/>
                <a:cs typeface="Gulim"/>
              </a:rPr>
              <a:t>선행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정점을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갇지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않은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정점은</a:t>
            </a:r>
            <a:r>
              <a:rPr dirty="0" sz="1200" spc="-7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진입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차수</a:t>
            </a:r>
            <a:r>
              <a:rPr dirty="0" sz="1200" spc="-10">
                <a:latin typeface="Arial"/>
                <a:cs typeface="Arial"/>
              </a:rPr>
              <a:t>(in-degree)</a:t>
            </a:r>
            <a:r>
              <a:rPr dirty="0" sz="1200" spc="-10">
                <a:latin typeface="Gulim"/>
                <a:cs typeface="Gulim"/>
              </a:rPr>
              <a:t>가</a:t>
            </a:r>
            <a:r>
              <a:rPr dirty="0" sz="1200" spc="-10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0</a:t>
            </a:r>
            <a:r>
              <a:rPr dirty="0" sz="1200">
                <a:latin typeface="Gulim"/>
                <a:cs typeface="Gulim"/>
              </a:rPr>
              <a:t>인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정점</a:t>
            </a:r>
            <a:endParaRPr sz="12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Gulim"/>
                <a:cs typeface="Gulim"/>
              </a:rPr>
              <a:t>교재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432P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>
                <a:latin typeface="Gulim"/>
                <a:cs typeface="Gulim"/>
              </a:rPr>
              <a:t>그림</a:t>
            </a:r>
            <a:r>
              <a:rPr dirty="0" sz="1200" spc="-80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d~f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 spc="-10">
                <a:latin typeface="Gulim"/>
                <a:cs typeface="Gulim"/>
              </a:rPr>
              <a:t>단계가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>
                <a:latin typeface="Arial"/>
                <a:cs typeface="Arial"/>
              </a:rPr>
              <a:t>in_degree</a:t>
            </a:r>
            <a:r>
              <a:rPr dirty="0" sz="1200" spc="-25">
                <a:latin typeface="Arial"/>
                <a:cs typeface="Arial"/>
              </a:rPr>
              <a:t> </a:t>
            </a:r>
            <a:r>
              <a:rPr dirty="0" sz="1200" spc="-20">
                <a:latin typeface="Gulim"/>
                <a:cs typeface="Gulim"/>
              </a:rPr>
              <a:t>배열은</a:t>
            </a:r>
            <a:r>
              <a:rPr dirty="0" sz="1200" spc="-9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업데이트하면서</a:t>
            </a:r>
            <a:r>
              <a:rPr dirty="0" sz="1200" spc="-7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진행함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2806" y="449338"/>
            <a:ext cx="2082558" cy="14942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5921" y="2024316"/>
            <a:ext cx="1446568" cy="12657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2262" y="3425634"/>
            <a:ext cx="1370101" cy="8373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64797" y="4408080"/>
            <a:ext cx="609239" cy="7615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7764" y="4788877"/>
            <a:ext cx="3740378" cy="191311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51266" y="683399"/>
            <a:ext cx="6735445" cy="7569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766060" algn="l"/>
              </a:tabLst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20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15">
                <a:latin typeface="Tw Cen MT"/>
                <a:cs typeface="Tw Cen MT"/>
              </a:rPr>
              <a:t> </a:t>
            </a:r>
            <a:r>
              <a:rPr dirty="0" sz="2400" spc="-10">
                <a:latin typeface="Tw Cen MT"/>
                <a:cs typeface="Tw Cen MT"/>
              </a:rPr>
              <a:t>topo_sort</a:t>
            </a:r>
            <a:r>
              <a:rPr dirty="0" sz="2400">
                <a:latin typeface="Tw Cen MT"/>
                <a:cs typeface="Tw Cen MT"/>
              </a:rPr>
              <a:t>	</a:t>
            </a:r>
            <a:r>
              <a:rPr dirty="0" sz="2400" spc="-520">
                <a:latin typeface="Tw Cen MT"/>
                <a:cs typeface="Tw Cen MT"/>
              </a:rPr>
              <a:t>6</a:t>
            </a:r>
            <a:r>
              <a:rPr dirty="0" sz="2400" spc="-520"/>
              <a:t>단계</a:t>
            </a:r>
            <a:r>
              <a:rPr dirty="0" sz="2400" spc="-120"/>
              <a:t> </a:t>
            </a:r>
            <a:r>
              <a:rPr dirty="0" sz="2400" spc="-1035"/>
              <a:t>그림과</a:t>
            </a:r>
            <a:r>
              <a:rPr dirty="0" sz="2400" spc="-130"/>
              <a:t> </a:t>
            </a:r>
            <a:r>
              <a:rPr dirty="0" sz="2400">
                <a:latin typeface="Tw Cen MT"/>
                <a:cs typeface="Tw Cen MT"/>
              </a:rPr>
              <a:t>VS</a:t>
            </a:r>
            <a:r>
              <a:rPr dirty="0" sz="2400" spc="-10">
                <a:latin typeface="Tw Cen MT"/>
                <a:cs typeface="Tw Cen MT"/>
              </a:rPr>
              <a:t> </a:t>
            </a:r>
            <a:r>
              <a:rPr dirty="0" sz="2400" spc="-944"/>
              <a:t>한줄씩수행과</a:t>
            </a:r>
            <a:r>
              <a:rPr dirty="0" sz="2400" spc="-110"/>
              <a:t> </a:t>
            </a:r>
            <a:r>
              <a:rPr dirty="0" sz="2400" spc="-1125"/>
              <a:t>변수창을</a:t>
            </a:r>
            <a:r>
              <a:rPr dirty="0" sz="2400" spc="-135"/>
              <a:t> </a:t>
            </a:r>
            <a:r>
              <a:rPr dirty="0" sz="2400" spc="-1245"/>
              <a:t>보니</a:t>
            </a:r>
            <a:r>
              <a:rPr dirty="0" sz="2400" spc="600"/>
              <a:t> </a:t>
            </a:r>
            <a:r>
              <a:rPr dirty="0" sz="2400" spc="-990"/>
              <a:t>복잡해</a:t>
            </a:r>
            <a:r>
              <a:rPr dirty="0" sz="2400" spc="-120"/>
              <a:t> </a:t>
            </a:r>
            <a:r>
              <a:rPr dirty="0" sz="2400" spc="-1285"/>
              <a:t>보이는</a:t>
            </a:r>
            <a:r>
              <a:rPr dirty="0" sz="2400" spc="-150"/>
              <a:t> </a:t>
            </a:r>
            <a:r>
              <a:rPr dirty="0" sz="2400">
                <a:latin typeface="Tw Cen MT"/>
                <a:cs typeface="Tw Cen MT"/>
              </a:rPr>
              <a:t>topo_sort.c</a:t>
            </a:r>
            <a:r>
              <a:rPr dirty="0" sz="2400" spc="-40">
                <a:latin typeface="Tw Cen MT"/>
                <a:cs typeface="Tw Cen MT"/>
              </a:rPr>
              <a:t> </a:t>
            </a:r>
            <a:r>
              <a:rPr dirty="0" sz="2400" spc="-1210"/>
              <a:t>코드가</a:t>
            </a:r>
            <a:r>
              <a:rPr dirty="0" sz="2400" spc="-120"/>
              <a:t> </a:t>
            </a:r>
            <a:r>
              <a:rPr dirty="0" sz="2400" spc="-1050"/>
              <a:t>이해되는</a:t>
            </a:r>
            <a:r>
              <a:rPr dirty="0" sz="2400" spc="-145"/>
              <a:t> </a:t>
            </a:r>
            <a:r>
              <a:rPr dirty="0" sz="2400" spc="-915"/>
              <a:t>것</a:t>
            </a:r>
            <a:r>
              <a:rPr dirty="0" sz="2400" spc="-135"/>
              <a:t> </a:t>
            </a:r>
            <a:r>
              <a:rPr dirty="0" sz="2400" spc="-815"/>
              <a:t>같습니다</a:t>
            </a:r>
            <a:r>
              <a:rPr dirty="0" sz="2400" spc="-815">
                <a:latin typeface="Tw Cen MT"/>
                <a:cs typeface="Tw Cen MT"/>
              </a:rPr>
              <a:t>.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1798" y="1785524"/>
            <a:ext cx="5918835" cy="30384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400">
                <a:latin typeface="Gulim"/>
                <a:cs typeface="Gulim"/>
              </a:rPr>
              <a:t>교수</a:t>
            </a:r>
            <a:r>
              <a:rPr dirty="0" sz="1400">
                <a:latin typeface="Arial"/>
                <a:cs typeface="Arial"/>
              </a:rPr>
              <a:t>&gt;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코드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+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0">
                <a:latin typeface="Gulim"/>
                <a:cs typeface="Gulim"/>
              </a:rPr>
              <a:t>알고리즘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400">
                <a:latin typeface="Arial"/>
                <a:cs typeface="Arial"/>
              </a:rPr>
              <a:t>VS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수행이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알고리즘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수행하는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변수창이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자료구조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것</a:t>
            </a:r>
            <a:endParaRPr sz="1400">
              <a:latin typeface="Gulim"/>
              <a:cs typeface="Gulim"/>
            </a:endParaRPr>
          </a:p>
          <a:p>
            <a:pPr marL="12700" marR="985519">
              <a:lnSpc>
                <a:spcPct val="131400"/>
              </a:lnSpc>
              <a:spcBef>
                <a:spcPts val="10"/>
              </a:spcBef>
            </a:pPr>
            <a:r>
              <a:rPr dirty="0" sz="1400">
                <a:latin typeface="Gulim"/>
                <a:cs typeface="Gulim"/>
              </a:rPr>
              <a:t>동적배열의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경우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로컬창에서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보기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어려우므로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조사식창에서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 spc="-50">
                <a:latin typeface="Gulim"/>
                <a:cs typeface="Gulim"/>
              </a:rPr>
              <a:t>봄 </a:t>
            </a:r>
            <a:r>
              <a:rPr dirty="0" sz="1400">
                <a:latin typeface="Gulim"/>
                <a:cs typeface="Gulim"/>
              </a:rPr>
              <a:t>조사식창과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로컬창을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동시에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보기위해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floating</a:t>
            </a:r>
            <a:r>
              <a:rPr dirty="0" sz="1400" spc="-10">
                <a:latin typeface="Gulim"/>
                <a:cs typeface="Gulim"/>
              </a:rPr>
              <a:t>기능</a:t>
            </a:r>
            <a:r>
              <a:rPr dirty="0" sz="1400" spc="-12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사용</a:t>
            </a:r>
            <a:endParaRPr sz="1400">
              <a:latin typeface="Gulim"/>
              <a:cs typeface="Gulim"/>
            </a:endParaRPr>
          </a:p>
          <a:p>
            <a:pPr marL="332105" indent="-319405">
              <a:lnSpc>
                <a:spcPts val="1595"/>
              </a:lnSpc>
              <a:spcBef>
                <a:spcPts val="525"/>
              </a:spcBef>
              <a:buClr>
                <a:srgbClr val="DD8046"/>
              </a:buClr>
              <a:buSzPct val="57142"/>
              <a:buFont typeface="Wingdings"/>
              <a:buChar char=""/>
              <a:tabLst>
                <a:tab pos="332105" algn="l"/>
              </a:tabLst>
            </a:pPr>
            <a:r>
              <a:rPr dirty="0" sz="1400">
                <a:latin typeface="Gulim"/>
                <a:cs typeface="Gulim"/>
              </a:rPr>
              <a:t>위상정렬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방식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Gulim"/>
                <a:cs typeface="Gulim"/>
              </a:rPr>
              <a:t>선행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가지지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않은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V</a:t>
            </a:r>
            <a:r>
              <a:rPr dirty="0" sz="1400">
                <a:latin typeface="Gulim"/>
                <a:cs typeface="Gulim"/>
              </a:rPr>
              <a:t>를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선택하고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출력하고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50">
                <a:latin typeface="Arial"/>
                <a:cs typeface="Arial"/>
              </a:rPr>
              <a:t>V</a:t>
            </a:r>
            <a:endParaRPr sz="1400">
              <a:latin typeface="Arial"/>
              <a:cs typeface="Arial"/>
            </a:endParaRPr>
          </a:p>
          <a:p>
            <a:pPr marL="332105">
              <a:lnSpc>
                <a:spcPts val="1510"/>
              </a:lnSpc>
            </a:pPr>
            <a:r>
              <a:rPr dirty="0" sz="1400">
                <a:latin typeface="Gulim"/>
                <a:cs typeface="Gulim"/>
              </a:rPr>
              <a:t>와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V</a:t>
            </a:r>
            <a:r>
              <a:rPr dirty="0" sz="1400">
                <a:latin typeface="Gulim"/>
                <a:cs typeface="Gulim"/>
              </a:rPr>
              <a:t>에서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나온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모든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간선들을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그래프에서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삭제</a:t>
            </a:r>
            <a:endParaRPr sz="1400">
              <a:latin typeface="Gulim"/>
              <a:cs typeface="Gulim"/>
            </a:endParaRPr>
          </a:p>
          <a:p>
            <a:pPr marL="332105">
              <a:lnSpc>
                <a:spcPts val="1595"/>
              </a:lnSpc>
            </a:pPr>
            <a:r>
              <a:rPr dirty="0" sz="1400">
                <a:latin typeface="Gulim"/>
                <a:cs typeface="Gulim"/>
              </a:rPr>
              <a:t>선행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갇지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않은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정점은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진입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차수</a:t>
            </a:r>
            <a:r>
              <a:rPr dirty="0" sz="1400" spc="-10">
                <a:latin typeface="Arial"/>
                <a:cs typeface="Arial"/>
              </a:rPr>
              <a:t>(in-degree)</a:t>
            </a:r>
            <a:r>
              <a:rPr dirty="0" sz="1400" spc="-10">
                <a:latin typeface="Gulim"/>
                <a:cs typeface="Gulim"/>
              </a:rPr>
              <a:t>가</a:t>
            </a:r>
            <a:r>
              <a:rPr dirty="0" sz="1400" spc="-11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0</a:t>
            </a:r>
            <a:r>
              <a:rPr dirty="0" sz="1400">
                <a:latin typeface="Gulim"/>
                <a:cs typeface="Gulim"/>
              </a:rPr>
              <a:t>인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정점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400" spc="-10">
                <a:latin typeface="Arial"/>
                <a:cs typeface="Arial"/>
              </a:rPr>
              <a:t>in_degree</a:t>
            </a:r>
            <a:r>
              <a:rPr dirty="0" sz="1400" spc="-10">
                <a:latin typeface="Gulim"/>
                <a:cs typeface="Gulim"/>
              </a:rPr>
              <a:t>배열이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단계별로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update</a:t>
            </a:r>
            <a:r>
              <a:rPr dirty="0" sz="1400" spc="-10">
                <a:latin typeface="Gulim"/>
                <a:cs typeface="Gulim"/>
              </a:rPr>
              <a:t>됨</a:t>
            </a:r>
            <a:endParaRPr sz="1400">
              <a:latin typeface="Gulim"/>
              <a:cs typeface="Gulim"/>
            </a:endParaRPr>
          </a:p>
          <a:p>
            <a:pPr marL="332105" indent="-319405">
              <a:lnSpc>
                <a:spcPts val="1595"/>
              </a:lnSpc>
              <a:spcBef>
                <a:spcPts val="525"/>
              </a:spcBef>
              <a:buClr>
                <a:srgbClr val="DD8046"/>
              </a:buClr>
              <a:buSzPct val="57142"/>
              <a:buFont typeface="Wingdings"/>
              <a:buChar char=""/>
              <a:tabLst>
                <a:tab pos="332105" algn="l"/>
              </a:tabLst>
            </a:pP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그래프에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대해서도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그림을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만들어보고</a:t>
            </a:r>
            <a:endParaRPr sz="1400">
              <a:latin typeface="Gulim"/>
              <a:cs typeface="Gulim"/>
            </a:endParaRPr>
          </a:p>
          <a:p>
            <a:pPr marL="332105" marR="1985645">
              <a:lnSpc>
                <a:spcPts val="1510"/>
              </a:lnSpc>
              <a:spcBef>
                <a:spcPts val="110"/>
              </a:spcBef>
            </a:pPr>
            <a:r>
              <a:rPr dirty="0" sz="1400">
                <a:latin typeface="Arial"/>
                <a:cs typeface="Arial"/>
              </a:rPr>
              <a:t>VS</a:t>
            </a:r>
            <a:r>
              <a:rPr dirty="0" sz="1400">
                <a:latin typeface="Gulim"/>
                <a:cs typeface="Gulim"/>
              </a:rPr>
              <a:t>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한줄씩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수행및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콘솔창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확인해보세요 </a:t>
            </a:r>
            <a:r>
              <a:rPr dirty="0" sz="1400">
                <a:latin typeface="Gulim"/>
                <a:cs typeface="Gulim"/>
              </a:rPr>
              <a:t>과제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Arial"/>
                <a:cs typeface="Arial"/>
              </a:rPr>
              <a:t>14</a:t>
            </a:r>
            <a:r>
              <a:rPr dirty="0" sz="1400" spc="-10">
                <a:latin typeface="Gulim"/>
                <a:cs typeface="Gulim"/>
              </a:rPr>
              <a:t>에서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그래프에서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위상정렬수행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2806" y="1159141"/>
            <a:ext cx="2082558" cy="14942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2345" y="4947297"/>
            <a:ext cx="3304984" cy="21644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4374" y="4392853"/>
            <a:ext cx="3595751" cy="19039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06055" y="2699080"/>
            <a:ext cx="2084070" cy="14653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920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 spc="-1610"/>
              <a:t>이제</a:t>
            </a:r>
            <a:r>
              <a:rPr dirty="0" spc="-260"/>
              <a:t> </a:t>
            </a:r>
            <a:r>
              <a:rPr dirty="0" spc="-1985"/>
              <a:t>나는</a:t>
            </a:r>
            <a:r>
              <a:rPr dirty="0" spc="-254"/>
              <a:t> </a:t>
            </a:r>
            <a:r>
              <a:rPr dirty="0" spc="-1365"/>
              <a:t>할</a:t>
            </a:r>
            <a:r>
              <a:rPr dirty="0" spc="-254"/>
              <a:t> </a:t>
            </a:r>
            <a:r>
              <a:rPr dirty="0" spc="-2600"/>
              <a:t>수</a:t>
            </a:r>
            <a:r>
              <a:rPr dirty="0" spc="-254"/>
              <a:t> </a:t>
            </a:r>
            <a:r>
              <a:rPr dirty="0" spc="-1375"/>
              <a:t>있다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50451"/>
            <a:ext cx="7715250" cy="381127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580"/>
              </a:spcBef>
            </a:pPr>
            <a:r>
              <a:rPr dirty="0" sz="2000">
                <a:latin typeface="Gulim"/>
                <a:cs typeface="Gulim"/>
              </a:rPr>
              <a:t>이제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10</a:t>
            </a:r>
            <a:r>
              <a:rPr dirty="0" sz="2000">
                <a:latin typeface="Gulim"/>
                <a:cs typeface="Gulim"/>
              </a:rPr>
              <a:t>장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그래프</a:t>
            </a:r>
            <a:r>
              <a:rPr dirty="0" sz="2000">
                <a:latin typeface="Arial"/>
                <a:cs typeface="Arial"/>
              </a:rPr>
              <a:t>1,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55">
                <a:latin typeface="Arial"/>
                <a:cs typeface="Arial"/>
              </a:rPr>
              <a:t>11</a:t>
            </a:r>
            <a:r>
              <a:rPr dirty="0" sz="2000" spc="-55">
                <a:latin typeface="Gulim"/>
                <a:cs typeface="Gulim"/>
              </a:rPr>
              <a:t>장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그래프</a:t>
            </a:r>
            <a:r>
              <a:rPr dirty="0" sz="2000">
                <a:latin typeface="Arial"/>
                <a:cs typeface="Arial"/>
              </a:rPr>
              <a:t>2</a:t>
            </a:r>
            <a:r>
              <a:rPr dirty="0" sz="2000" spc="-10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에서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2</a:t>
            </a:r>
            <a:r>
              <a:rPr dirty="0" sz="2000">
                <a:latin typeface="Gulim"/>
                <a:cs typeface="Gulim"/>
              </a:rPr>
              <a:t>차원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자료구조인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그래프자료 </a:t>
            </a:r>
            <a:r>
              <a:rPr dirty="0" sz="2000">
                <a:latin typeface="Gulim"/>
                <a:cs typeface="Gulim"/>
              </a:rPr>
              <a:t>구조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모두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배웠습니다</a:t>
            </a:r>
            <a:r>
              <a:rPr dirty="0" sz="2000" spc="-1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1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000" spc="-10">
                <a:latin typeface="Gulim"/>
                <a:cs typeface="Gulim"/>
              </a:rPr>
              <a:t>최소비용신장트리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000">
                <a:latin typeface="Arial"/>
                <a:cs typeface="Arial"/>
              </a:rPr>
              <a:t>Kruskal</a:t>
            </a:r>
            <a:r>
              <a:rPr dirty="0" sz="2000">
                <a:latin typeface="Gulim"/>
                <a:cs typeface="Gulim"/>
              </a:rPr>
              <a:t>의</a:t>
            </a:r>
            <a:r>
              <a:rPr dirty="0" sz="2000" spc="-17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MST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2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000" spc="-10">
                <a:latin typeface="Arial"/>
                <a:cs typeface="Arial"/>
              </a:rPr>
              <a:t>Prim</a:t>
            </a:r>
            <a:r>
              <a:rPr dirty="0" sz="2000" spc="-10">
                <a:latin typeface="Gulim"/>
                <a:cs typeface="Gulim"/>
              </a:rPr>
              <a:t>의</a:t>
            </a:r>
            <a:r>
              <a:rPr dirty="0" sz="2000" spc="-14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MST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000" spc="-20">
                <a:latin typeface="Gulim"/>
                <a:cs typeface="Gulim"/>
              </a:rPr>
              <a:t>최단경로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000" spc="-10">
                <a:latin typeface="Arial"/>
                <a:cs typeface="Arial"/>
              </a:rPr>
              <a:t>Dijkstra</a:t>
            </a:r>
            <a:r>
              <a:rPr dirty="0" sz="2000" spc="-10">
                <a:latin typeface="Gulim"/>
                <a:cs typeface="Gulim"/>
              </a:rPr>
              <a:t>의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최단경로</a:t>
            </a:r>
            <a:r>
              <a:rPr dirty="0" sz="2000" spc="-11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25"/>
              </a:spcBef>
              <a:buClr>
                <a:srgbClr val="DD8046"/>
              </a:buClr>
              <a:buAutoNum type="arabicPeriod"/>
              <a:tabLst>
                <a:tab pos="469265" algn="l"/>
              </a:tabLst>
            </a:pPr>
            <a:r>
              <a:rPr dirty="0" sz="2000">
                <a:latin typeface="Arial"/>
                <a:cs typeface="Arial"/>
              </a:rPr>
              <a:t>Floyd</a:t>
            </a:r>
            <a:r>
              <a:rPr dirty="0" sz="2000">
                <a:latin typeface="Gulim"/>
                <a:cs typeface="Gulim"/>
              </a:rPr>
              <a:t>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최단경로</a:t>
            </a:r>
            <a:r>
              <a:rPr dirty="0" sz="2000" spc="-16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알고리즘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000" spc="-20">
                <a:latin typeface="Gulim"/>
                <a:cs typeface="Gulim"/>
              </a:rPr>
              <a:t>위상정렬</a:t>
            </a:r>
            <a:endParaRPr sz="20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*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정답이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연습문제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홀수문제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꼭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해결해보세요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terms:created xsi:type="dcterms:W3CDTF">2026-09-23T01:50:21Z</dcterms:created>
  <dcterms:modified xsi:type="dcterms:W3CDTF">2026-09-23T01:50:21Z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2023-10-08T00:00:00Z</vt:filetime>
  </property>
  <property fmtid="{D5CDD505-2E9C-101B-9397-08002B2CF9AE}" pid="3" name="Creator">
    <vt:lpwstr>Hancom PDF 1.3.0.443</vt:lpwstr>
  </property>
  <property fmtid="{D5CDD505-2E9C-101B-9397-08002B2CF9AE}" pid="4" name="LastSaved">
    <vt:filetime>2026-09-23T00:00:00Z</vt:filetime>
  </property>
  <property fmtid="{D5CDD505-2E9C-101B-9397-08002B2CF9AE}" pid="5" name="PDFVersion">
    <vt:lpwstr>1.4</vt:lpwstr>
  </property>
  <property fmtid="{D5CDD505-2E9C-101B-9397-08002B2CF9AE}" pid="6" name="Producer">
    <vt:lpwstr>Hancom PDF 1.3.0.443</vt:lpwstr>
  </property>
</Properties>
</file>