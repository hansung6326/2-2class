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10680700" cy="7556500"/>
  <p:notesSz cx="106807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080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2756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049963" y="0"/>
            <a:ext cx="4627562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D26D1-D2B6-4830-8A9D-071651A4A662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536950" y="944563"/>
            <a:ext cx="3606800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68388" y="3636963"/>
            <a:ext cx="8543925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2756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049963" y="7177088"/>
            <a:ext cx="4627562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7E070-11BF-48C4-B383-42E4D0F8AF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968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7E070-11BF-48C4-B383-42E4D0F8AF9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75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트리</a:t>
            </a:r>
            <a:r>
              <a:rPr lang="en-US" altLang="ko-KR" dirty="0"/>
              <a:t>: </a:t>
            </a:r>
            <a:r>
              <a:rPr lang="ko-KR" altLang="en-US" dirty="0"/>
              <a:t>그래프의 특수한 형태로서 사이클을 가지지 않는 연결 그래프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7E070-11BF-48C4-B383-42E4D0F8AF9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523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1052" y="2342515"/>
            <a:ext cx="9078595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E54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2105" y="4231640"/>
            <a:ext cx="747649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E54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E54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035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0560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E54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62494" y="1629803"/>
            <a:ext cx="8543925" cy="228600"/>
          </a:xfrm>
          <a:custGeom>
            <a:avLst/>
            <a:gdLst/>
            <a:ahLst/>
            <a:cxnLst/>
            <a:rect l="l" t="t" r="r" b="b"/>
            <a:pathLst>
              <a:path w="8543925" h="228600">
                <a:moveTo>
                  <a:pt x="8543340" y="0"/>
                </a:moveTo>
                <a:lnTo>
                  <a:pt x="0" y="0"/>
                </a:lnTo>
                <a:lnTo>
                  <a:pt x="0" y="228473"/>
                </a:lnTo>
                <a:lnTo>
                  <a:pt x="8543340" y="228473"/>
                </a:lnTo>
                <a:lnTo>
                  <a:pt x="8543340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62443" y="556976"/>
            <a:ext cx="7979206" cy="1001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E54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1797" y="1680125"/>
            <a:ext cx="8542655" cy="2258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60982" y="6944864"/>
            <a:ext cx="180975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437469" y="6941690"/>
            <a:ext cx="135508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0104" y="7027545"/>
            <a:ext cx="2456561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22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g"/><Relationship Id="rId5" Type="http://schemas.openxmlformats.org/officeDocument/2006/relationships/image" Target="../media/image54.jpg"/><Relationship Id="rId4" Type="http://schemas.openxmlformats.org/officeDocument/2006/relationships/image" Target="../media/image53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7" Type="http://schemas.openxmlformats.org/officeDocument/2006/relationships/image" Target="../media/image78.jp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jp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1829" y="350329"/>
            <a:ext cx="9134475" cy="6854825"/>
            <a:chOff x="771829" y="350329"/>
            <a:chExt cx="9134475" cy="6854825"/>
          </a:xfrm>
        </p:grpSpPr>
        <p:sp>
          <p:nvSpPr>
            <p:cNvPr id="3" name="object 3"/>
            <p:cNvSpPr/>
            <p:nvPr/>
          </p:nvSpPr>
          <p:spPr>
            <a:xfrm>
              <a:off x="771829" y="350329"/>
              <a:ext cx="9134475" cy="5968365"/>
            </a:xfrm>
            <a:custGeom>
              <a:avLst/>
              <a:gdLst/>
              <a:ahLst/>
              <a:cxnLst/>
              <a:rect l="l" t="t" r="r" b="b"/>
              <a:pathLst>
                <a:path w="9134475" h="5968365">
                  <a:moveTo>
                    <a:pt x="0" y="5967831"/>
                  </a:moveTo>
                  <a:lnTo>
                    <a:pt x="9134005" y="5967831"/>
                  </a:lnTo>
                  <a:lnTo>
                    <a:pt x="9134005" y="0"/>
                  </a:lnTo>
                  <a:lnTo>
                    <a:pt x="0" y="0"/>
                  </a:lnTo>
                  <a:lnTo>
                    <a:pt x="0" y="5967831"/>
                  </a:lnTo>
                  <a:close/>
                </a:path>
              </a:pathLst>
            </a:custGeom>
            <a:solidFill>
              <a:srgbClr val="775E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1829" y="6318160"/>
              <a:ext cx="9134475" cy="887094"/>
            </a:xfrm>
            <a:custGeom>
              <a:avLst/>
              <a:gdLst/>
              <a:ahLst/>
              <a:cxnLst/>
              <a:rect l="l" t="t" r="r" b="b"/>
              <a:pathLst>
                <a:path w="9134475" h="887095">
                  <a:moveTo>
                    <a:pt x="9134005" y="0"/>
                  </a:moveTo>
                  <a:lnTo>
                    <a:pt x="0" y="0"/>
                  </a:lnTo>
                  <a:lnTo>
                    <a:pt x="0" y="886485"/>
                  </a:lnTo>
                  <a:lnTo>
                    <a:pt x="9134005" y="886485"/>
                  </a:lnTo>
                  <a:lnTo>
                    <a:pt x="91340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71829" y="6400406"/>
              <a:ext cx="2238375" cy="713105"/>
            </a:xfrm>
            <a:custGeom>
              <a:avLst/>
              <a:gdLst/>
              <a:ahLst/>
              <a:cxnLst/>
              <a:rect l="l" t="t" r="r" b="b"/>
              <a:pathLst>
                <a:path w="2238375" h="713104">
                  <a:moveTo>
                    <a:pt x="2237816" y="0"/>
                  </a:moveTo>
                  <a:lnTo>
                    <a:pt x="0" y="0"/>
                  </a:lnTo>
                  <a:lnTo>
                    <a:pt x="0" y="712851"/>
                  </a:lnTo>
                  <a:lnTo>
                    <a:pt x="2237816" y="712851"/>
                  </a:lnTo>
                  <a:lnTo>
                    <a:pt x="2237816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28403" y="6391262"/>
              <a:ext cx="6777990" cy="713105"/>
            </a:xfrm>
            <a:custGeom>
              <a:avLst/>
              <a:gdLst/>
              <a:ahLst/>
              <a:cxnLst/>
              <a:rect l="l" t="t" r="r" b="b"/>
              <a:pathLst>
                <a:path w="6777990" h="713104">
                  <a:moveTo>
                    <a:pt x="6777431" y="0"/>
                  </a:moveTo>
                  <a:lnTo>
                    <a:pt x="0" y="0"/>
                  </a:lnTo>
                  <a:lnTo>
                    <a:pt x="0" y="712850"/>
                  </a:lnTo>
                  <a:lnTo>
                    <a:pt x="6777431" y="712850"/>
                  </a:lnTo>
                  <a:lnTo>
                    <a:pt x="6777431" y="0"/>
                  </a:lnTo>
                  <a:close/>
                </a:path>
              </a:pathLst>
            </a:custGeom>
            <a:solidFill>
              <a:srgbClr val="94B5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210077" y="5502743"/>
            <a:ext cx="20815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25" dirty="0">
                <a:solidFill>
                  <a:srgbClr val="EBDDC2"/>
                </a:solidFill>
              </a:rPr>
              <a:t>10장</a:t>
            </a:r>
            <a:r>
              <a:rPr spc="-15" dirty="0">
                <a:solidFill>
                  <a:srgbClr val="EBDDC2"/>
                </a:solidFill>
              </a:rPr>
              <a:t> </a:t>
            </a:r>
            <a:r>
              <a:rPr spc="-2190" dirty="0">
                <a:solidFill>
                  <a:srgbClr val="EBDDC2"/>
                </a:solidFill>
              </a:rPr>
              <a:t>그래프</a:t>
            </a:r>
            <a:r>
              <a:rPr dirty="0">
                <a:solidFill>
                  <a:srgbClr val="EBDDC2"/>
                </a:solidFill>
              </a:rPr>
              <a:t> </a:t>
            </a:r>
            <a:r>
              <a:rPr spc="-430" dirty="0">
                <a:solidFill>
                  <a:srgbClr val="EBDDC2"/>
                </a:solidFill>
              </a:rPr>
              <a:t>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1653" rIns="0" bIns="0" rtlCol="0">
            <a:spAutoFit/>
          </a:bodyPr>
          <a:lstStyle/>
          <a:p>
            <a:pPr marL="316865">
              <a:lnSpc>
                <a:spcPct val="100000"/>
              </a:lnSpc>
              <a:spcBef>
                <a:spcPts val="95"/>
              </a:spcBef>
            </a:pPr>
            <a:r>
              <a:rPr sz="4800" dirty="0">
                <a:latin typeface="Tw Cen MT"/>
                <a:cs typeface="Tw Cen MT"/>
              </a:rPr>
              <a:t>Q</a:t>
            </a:r>
            <a:r>
              <a:rPr sz="4800" spc="-35" dirty="0">
                <a:latin typeface="Tw Cen MT"/>
                <a:cs typeface="Tw Cen MT"/>
              </a:rPr>
              <a:t> </a:t>
            </a:r>
            <a:r>
              <a:rPr sz="4800" dirty="0">
                <a:latin typeface="Tw Cen MT"/>
                <a:cs typeface="Tw Cen MT"/>
              </a:rPr>
              <a:t>&amp;</a:t>
            </a:r>
            <a:r>
              <a:rPr sz="4800" spc="-40" dirty="0">
                <a:latin typeface="Tw Cen MT"/>
                <a:cs typeface="Tw Cen MT"/>
              </a:rPr>
              <a:t> </a:t>
            </a:r>
            <a:r>
              <a:rPr sz="4800" spc="-50" dirty="0">
                <a:latin typeface="Tw Cen MT"/>
                <a:cs typeface="Tw Cen MT"/>
              </a:rPr>
              <a:t>A</a:t>
            </a:r>
            <a:endParaRPr sz="4800">
              <a:latin typeface="Tw Cen MT"/>
              <a:cs typeface="Tw Cen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191" y="4866563"/>
            <a:ext cx="1895297" cy="18141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01708" y="1960588"/>
            <a:ext cx="6025515" cy="2307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 indent="-319405">
              <a:lnSpc>
                <a:spcPts val="288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Segoe UI Symbol"/>
              <a:buChar char="□"/>
              <a:tabLst>
                <a:tab pos="332105" algn="l"/>
              </a:tabLst>
            </a:pPr>
            <a:r>
              <a:rPr sz="2400" spc="-20" dirty="0">
                <a:latin typeface="Gulim"/>
                <a:cs typeface="Gulim"/>
              </a:rPr>
              <a:t>언제라도</a:t>
            </a:r>
            <a:r>
              <a:rPr sz="2400" spc="-160" dirty="0">
                <a:latin typeface="Gulim"/>
                <a:cs typeface="Gulim"/>
              </a:rPr>
              <a:t> </a:t>
            </a:r>
            <a:r>
              <a:rPr sz="2400" spc="-10" dirty="0">
                <a:latin typeface="Gulim"/>
                <a:cs typeface="Gulim"/>
              </a:rPr>
              <a:t>질문하세요</a:t>
            </a:r>
            <a:endParaRPr sz="2400">
              <a:latin typeface="Gulim"/>
              <a:cs typeface="Gulim"/>
            </a:endParaRPr>
          </a:p>
          <a:p>
            <a:pPr marL="332105">
              <a:lnSpc>
                <a:spcPts val="2880"/>
              </a:lnSpc>
            </a:pPr>
            <a:r>
              <a:rPr sz="2400" spc="-10" dirty="0">
                <a:latin typeface="Gulim"/>
                <a:cs typeface="Gulim"/>
              </a:rPr>
              <a:t>모르면</a:t>
            </a:r>
            <a:r>
              <a:rPr sz="2400" spc="-180" dirty="0">
                <a:latin typeface="Gulim"/>
                <a:cs typeface="Gulim"/>
              </a:rPr>
              <a:t> </a:t>
            </a:r>
            <a:r>
              <a:rPr sz="2400" spc="-10" dirty="0">
                <a:latin typeface="Gulim"/>
                <a:cs typeface="Gulim"/>
              </a:rPr>
              <a:t>외우면</a:t>
            </a:r>
            <a:r>
              <a:rPr sz="2400" spc="-180" dirty="0">
                <a:latin typeface="Gulim"/>
                <a:cs typeface="Gulim"/>
              </a:rPr>
              <a:t> </a:t>
            </a:r>
            <a:r>
              <a:rPr sz="2400" spc="-10" dirty="0">
                <a:latin typeface="Gulim"/>
                <a:cs typeface="Gulim"/>
              </a:rPr>
              <a:t>되지만</a:t>
            </a:r>
            <a:r>
              <a:rPr sz="2400" spc="-175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코딩</a:t>
            </a:r>
            <a:r>
              <a:rPr sz="2400" spc="-180" dirty="0">
                <a:latin typeface="Gulim"/>
                <a:cs typeface="Gulim"/>
              </a:rPr>
              <a:t> </a:t>
            </a:r>
            <a:r>
              <a:rPr sz="2400" spc="-10" dirty="0">
                <a:latin typeface="Gulim"/>
                <a:cs typeface="Gulim"/>
              </a:rPr>
              <a:t>안되면</a:t>
            </a:r>
            <a:r>
              <a:rPr sz="2400" spc="-180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꼭</a:t>
            </a:r>
            <a:r>
              <a:rPr sz="2400" spc="-175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질문</a:t>
            </a:r>
            <a:endParaRPr sz="2400">
              <a:latin typeface="Gulim"/>
              <a:cs typeface="Gulim"/>
            </a:endParaRPr>
          </a:p>
          <a:p>
            <a:pPr marL="668655" lvl="1" indent="-336550">
              <a:lnSpc>
                <a:spcPts val="2880"/>
              </a:lnSpc>
              <a:buFont typeface="Arial"/>
              <a:buAutoNum type="arabicPeriod"/>
              <a:tabLst>
                <a:tab pos="668655" algn="l"/>
              </a:tabLst>
            </a:pPr>
            <a:r>
              <a:rPr sz="2400" spc="-20" dirty="0">
                <a:latin typeface="Gulim"/>
                <a:cs typeface="Gulim"/>
              </a:rPr>
              <a:t>대면수업</a:t>
            </a:r>
            <a:endParaRPr sz="2400">
              <a:latin typeface="Gulim"/>
              <a:cs typeface="Gulim"/>
            </a:endParaRPr>
          </a:p>
          <a:p>
            <a:pPr marL="668655" lvl="1" indent="-336550">
              <a:lnSpc>
                <a:spcPct val="100000"/>
              </a:lnSpc>
              <a:buFont typeface="Arial"/>
              <a:buAutoNum type="arabicPeriod"/>
              <a:tabLst>
                <a:tab pos="668655" algn="l"/>
              </a:tabLst>
            </a:pPr>
            <a:r>
              <a:rPr sz="2400" spc="-25" dirty="0">
                <a:latin typeface="Gulim"/>
                <a:cs typeface="Gulim"/>
              </a:rPr>
              <a:t>한성</a:t>
            </a:r>
            <a:r>
              <a:rPr sz="2400" spc="-25" dirty="0">
                <a:latin typeface="Arial"/>
                <a:cs typeface="Arial"/>
              </a:rPr>
              <a:t>e-</a:t>
            </a:r>
            <a:r>
              <a:rPr sz="2400" dirty="0">
                <a:latin typeface="Arial"/>
                <a:cs typeface="Arial"/>
              </a:rPr>
              <a:t>class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Gulim"/>
                <a:cs typeface="Gulim"/>
              </a:rPr>
              <a:t>질의응답게시판</a:t>
            </a:r>
            <a:endParaRPr sz="2400">
              <a:latin typeface="Gulim"/>
              <a:cs typeface="Gulim"/>
            </a:endParaRPr>
          </a:p>
          <a:p>
            <a:pPr lvl="1">
              <a:lnSpc>
                <a:spcPct val="100000"/>
              </a:lnSpc>
              <a:spcBef>
                <a:spcPts val="455"/>
              </a:spcBef>
              <a:buFont typeface="Arial"/>
              <a:buAutoNum type="arabicPeriod"/>
            </a:pP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buClr>
                <a:srgbClr val="DD8046"/>
              </a:buClr>
              <a:buFont typeface="Segoe UI Symbol"/>
              <a:buChar char="□"/>
              <a:tabLst>
                <a:tab pos="332105" algn="l"/>
                <a:tab pos="3274695" algn="l"/>
              </a:tabLst>
            </a:pPr>
            <a:r>
              <a:rPr sz="2400" spc="-10" dirty="0">
                <a:latin typeface="Gulim"/>
                <a:cs typeface="Gulim"/>
              </a:rPr>
              <a:t>강사의</a:t>
            </a:r>
            <a:r>
              <a:rPr sz="2400" spc="-185" dirty="0">
                <a:latin typeface="Gulim"/>
                <a:cs typeface="Gulim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dirty="0">
                <a:latin typeface="Gulim"/>
                <a:cs typeface="Gulim"/>
              </a:rPr>
              <a:t>번</a:t>
            </a:r>
            <a:r>
              <a:rPr sz="2400" spc="-170" dirty="0">
                <a:latin typeface="Gulim"/>
                <a:cs typeface="Gulim"/>
              </a:rPr>
              <a:t> </a:t>
            </a:r>
            <a:r>
              <a:rPr sz="2400" spc="-20" dirty="0">
                <a:latin typeface="Gulim"/>
                <a:cs typeface="Gulim"/>
              </a:rPr>
              <a:t>선생님은</a:t>
            </a:r>
            <a:r>
              <a:rPr sz="2400" dirty="0">
                <a:latin typeface="Gulim"/>
                <a:cs typeface="Gulim"/>
              </a:rPr>
              <a:t>	</a:t>
            </a:r>
            <a:r>
              <a:rPr sz="2400" spc="-20" dirty="0">
                <a:latin typeface="Gulim"/>
                <a:cs typeface="Gulim"/>
              </a:rPr>
              <a:t>여러분들의</a:t>
            </a:r>
            <a:r>
              <a:rPr sz="2400" spc="-16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질문</a:t>
            </a:r>
            <a:endParaRPr sz="2400">
              <a:latin typeface="Gulim"/>
              <a:cs typeface="Gulim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spc="-2010" dirty="0"/>
              <a:t>목차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1797" y="1923038"/>
            <a:ext cx="3390265" cy="253111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50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spc="-10" dirty="0">
                <a:latin typeface="Gulim"/>
                <a:cs typeface="Gulim"/>
              </a:rPr>
              <a:t>그래프란</a:t>
            </a:r>
            <a:r>
              <a:rPr sz="2400" spc="-10" dirty="0"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40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spc="-20" dirty="0">
                <a:latin typeface="Gulim"/>
                <a:cs typeface="Gulim"/>
              </a:rPr>
              <a:t>그래프의</a:t>
            </a:r>
            <a:r>
              <a:rPr sz="2400" spc="-170" dirty="0">
                <a:latin typeface="Gulim"/>
                <a:cs typeface="Gulim"/>
              </a:rPr>
              <a:t> </a:t>
            </a:r>
            <a:r>
              <a:rPr sz="2400" spc="-10" dirty="0">
                <a:latin typeface="Gulim"/>
                <a:cs typeface="Gulim"/>
              </a:rPr>
              <a:t>정의와</a:t>
            </a:r>
            <a:r>
              <a:rPr sz="2400" spc="-17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용어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40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spc="-20" dirty="0">
                <a:latin typeface="Gulim"/>
                <a:cs typeface="Gulim"/>
              </a:rPr>
              <a:t>그래프의</a:t>
            </a:r>
            <a:r>
              <a:rPr sz="2400" spc="-175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표현</a:t>
            </a:r>
            <a:r>
              <a:rPr sz="2400" spc="-17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방법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42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spc="-20" dirty="0">
                <a:latin typeface="Gulim"/>
                <a:cs typeface="Gulim"/>
              </a:rPr>
              <a:t>그래프의</a:t>
            </a:r>
            <a:r>
              <a:rPr sz="2400" spc="-16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탐색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40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dirty="0">
                <a:latin typeface="Gulim"/>
                <a:cs typeface="Gulim"/>
              </a:rPr>
              <a:t>깊이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우선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탐색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409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dirty="0">
                <a:latin typeface="Gulim"/>
                <a:cs typeface="Gulim"/>
              </a:rPr>
              <a:t>너비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우선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탐색</a:t>
            </a:r>
            <a:endParaRPr sz="2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5" dirty="0"/>
              <a:t>그래프</a:t>
            </a:r>
            <a:r>
              <a:rPr spc="-675" dirty="0">
                <a:latin typeface="Lucida Console"/>
                <a:cs typeface="Lucida Console"/>
              </a:rPr>
              <a:t>(graph)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2443" y="1878914"/>
            <a:ext cx="7842884" cy="1150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32105" marR="5080" indent="-320040">
              <a:lnSpc>
                <a:spcPct val="113999"/>
              </a:lnSpc>
              <a:spcBef>
                <a:spcPts val="140"/>
              </a:spcBef>
              <a:buClr>
                <a:srgbClr val="DD8046"/>
              </a:buClr>
              <a:buSzPct val="58333"/>
              <a:buFont typeface="Segoe UI Symbol"/>
              <a:buChar char="□"/>
              <a:tabLst>
                <a:tab pos="377825" algn="l"/>
                <a:tab pos="1734185" algn="l"/>
                <a:tab pos="2275840" algn="l"/>
                <a:tab pos="2527300" algn="l"/>
                <a:tab pos="2934970" algn="l"/>
                <a:tab pos="3320415" algn="l"/>
                <a:tab pos="3696335" algn="l"/>
                <a:tab pos="4112260" algn="l"/>
                <a:tab pos="4355465" algn="l"/>
                <a:tab pos="4761865" algn="l"/>
                <a:tab pos="5209540" algn="l"/>
                <a:tab pos="5929630" algn="l"/>
                <a:tab pos="6611620" algn="l"/>
                <a:tab pos="6842759" algn="l"/>
              </a:tabLst>
            </a:pPr>
            <a:r>
              <a:rPr sz="2400" spc="-20" dirty="0">
                <a:latin typeface="Gulim"/>
                <a:cs typeface="Gulim"/>
              </a:rPr>
              <a:t>연결되어</a:t>
            </a:r>
            <a:r>
              <a:rPr sz="2400" dirty="0">
                <a:latin typeface="Gulim"/>
                <a:cs typeface="Gulim"/>
              </a:rPr>
              <a:t>	</a:t>
            </a:r>
            <a:r>
              <a:rPr sz="2400" spc="-25" dirty="0">
                <a:latin typeface="Gulim"/>
                <a:cs typeface="Gulim"/>
              </a:rPr>
              <a:t>있는</a:t>
            </a:r>
            <a:r>
              <a:rPr sz="2400" dirty="0">
                <a:latin typeface="Gulim"/>
                <a:cs typeface="Gulim"/>
              </a:rPr>
              <a:t>	</a:t>
            </a:r>
            <a:r>
              <a:rPr sz="2400" spc="-25" dirty="0">
                <a:latin typeface="Gulim"/>
                <a:cs typeface="Gulim"/>
              </a:rPr>
              <a:t>객체</a:t>
            </a:r>
            <a:r>
              <a:rPr sz="2400" dirty="0">
                <a:latin typeface="Gulim"/>
                <a:cs typeface="Gulim"/>
              </a:rPr>
              <a:t>	</a:t>
            </a:r>
            <a:r>
              <a:rPr sz="2400" spc="-25" dirty="0">
                <a:latin typeface="Gulim"/>
                <a:cs typeface="Gulim"/>
              </a:rPr>
              <a:t>간의</a:t>
            </a:r>
            <a:r>
              <a:rPr sz="2400" dirty="0">
                <a:latin typeface="Gulim"/>
                <a:cs typeface="Gulim"/>
              </a:rPr>
              <a:t>	</a:t>
            </a:r>
            <a:r>
              <a:rPr sz="2400" spc="-25" dirty="0">
                <a:latin typeface="Gulim"/>
                <a:cs typeface="Gulim"/>
              </a:rPr>
              <a:t>관계를</a:t>
            </a:r>
            <a:r>
              <a:rPr sz="2400" dirty="0">
                <a:latin typeface="Gulim"/>
                <a:cs typeface="Gulim"/>
              </a:rPr>
              <a:t>	</a:t>
            </a:r>
            <a:r>
              <a:rPr sz="2400" spc="-20" dirty="0">
                <a:latin typeface="Gulim"/>
                <a:cs typeface="Gulim"/>
              </a:rPr>
              <a:t>표현하는</a:t>
            </a:r>
            <a:r>
              <a:rPr sz="2400" dirty="0">
                <a:latin typeface="Gulim"/>
                <a:cs typeface="Gulim"/>
              </a:rPr>
              <a:t>	</a:t>
            </a:r>
            <a:r>
              <a:rPr sz="2400" spc="-20" dirty="0">
                <a:latin typeface="Gulim"/>
                <a:cs typeface="Gulim"/>
              </a:rPr>
              <a:t>자료구조 	</a:t>
            </a:r>
            <a:r>
              <a:rPr sz="1400" spc="-70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400" spc="100" dirty="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latin typeface="Lucida Console"/>
                <a:cs typeface="Lucida Console"/>
              </a:rPr>
              <a:t>(</a:t>
            </a:r>
            <a:r>
              <a:rPr sz="2000" dirty="0">
                <a:latin typeface="Gulim"/>
                <a:cs typeface="Gulim"/>
              </a:rPr>
              <a:t>예</a:t>
            </a:r>
            <a:r>
              <a:rPr sz="2000" dirty="0">
                <a:latin typeface="Lucida Console"/>
                <a:cs typeface="Lucida Console"/>
              </a:rPr>
              <a:t>)</a:t>
            </a:r>
            <a:r>
              <a:rPr sz="2000" spc="-20" dirty="0">
                <a:latin typeface="Lucida Console"/>
                <a:cs typeface="Lucida Console"/>
              </a:rPr>
              <a:t> </a:t>
            </a:r>
            <a:r>
              <a:rPr sz="2000" spc="-25" dirty="0">
                <a:latin typeface="Gulim"/>
                <a:cs typeface="Gulim"/>
              </a:rPr>
              <a:t>우리가</a:t>
            </a:r>
            <a:r>
              <a:rPr sz="2000" dirty="0">
                <a:latin typeface="Gulim"/>
                <a:cs typeface="Gulim"/>
              </a:rPr>
              <a:t>	</a:t>
            </a:r>
            <a:r>
              <a:rPr sz="2000" spc="-25" dirty="0">
                <a:latin typeface="Gulim"/>
                <a:cs typeface="Gulim"/>
              </a:rPr>
              <a:t>배운</a:t>
            </a:r>
            <a:r>
              <a:rPr sz="2000" dirty="0">
                <a:latin typeface="Gulim"/>
                <a:cs typeface="Gulim"/>
              </a:rPr>
              <a:t>	</a:t>
            </a:r>
            <a:r>
              <a:rPr sz="2000" spc="-10" dirty="0">
                <a:latin typeface="Gulim"/>
                <a:cs typeface="Gulim"/>
              </a:rPr>
              <a:t>트리</a:t>
            </a:r>
            <a:r>
              <a:rPr sz="2000" spc="-10" dirty="0">
                <a:latin typeface="Lucida Console"/>
                <a:cs typeface="Lucida Console"/>
              </a:rPr>
              <a:t>(tree)</a:t>
            </a:r>
            <a:r>
              <a:rPr sz="2000" spc="-10" dirty="0">
                <a:latin typeface="Gulim"/>
                <a:cs typeface="Gulim"/>
              </a:rPr>
              <a:t>도</a:t>
            </a:r>
            <a:r>
              <a:rPr sz="2000" dirty="0">
                <a:latin typeface="Gulim"/>
                <a:cs typeface="Gulim"/>
              </a:rPr>
              <a:t>	</a:t>
            </a:r>
            <a:r>
              <a:rPr sz="2000" spc="-20" dirty="0">
                <a:latin typeface="Gulim"/>
                <a:cs typeface="Gulim"/>
              </a:rPr>
              <a:t>그래프의</a:t>
            </a:r>
            <a:r>
              <a:rPr sz="2000" dirty="0">
                <a:latin typeface="Gulim"/>
                <a:cs typeface="Gulim"/>
              </a:rPr>
              <a:t>	</a:t>
            </a:r>
            <a:r>
              <a:rPr sz="2000" spc="-25" dirty="0">
                <a:latin typeface="Gulim"/>
                <a:cs typeface="Gulim"/>
              </a:rPr>
              <a:t>특수한</a:t>
            </a:r>
            <a:r>
              <a:rPr sz="2000" dirty="0">
                <a:latin typeface="Gulim"/>
                <a:cs typeface="Gulim"/>
              </a:rPr>
              <a:t>	</a:t>
            </a:r>
            <a:r>
              <a:rPr sz="2000" spc="-25" dirty="0">
                <a:latin typeface="Gulim"/>
                <a:cs typeface="Gulim"/>
              </a:rPr>
              <a:t>경우임</a:t>
            </a:r>
            <a:r>
              <a:rPr sz="2000" spc="500" dirty="0">
                <a:latin typeface="Gulim"/>
                <a:cs typeface="Gulim"/>
              </a:rPr>
              <a:t> 	</a:t>
            </a:r>
            <a:r>
              <a:rPr sz="1400" spc="-70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400" spc="100" dirty="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latin typeface="Lucida Console"/>
                <a:cs typeface="Lucida Console"/>
              </a:rPr>
              <a:t>(</a:t>
            </a:r>
            <a:r>
              <a:rPr sz="2000" dirty="0">
                <a:latin typeface="Gulim"/>
                <a:cs typeface="Gulim"/>
              </a:rPr>
              <a:t>예</a:t>
            </a:r>
            <a:r>
              <a:rPr sz="2000" dirty="0">
                <a:latin typeface="Lucida Console"/>
                <a:cs typeface="Lucida Console"/>
              </a:rPr>
              <a:t>)</a:t>
            </a:r>
            <a:r>
              <a:rPr sz="2000" spc="-20" dirty="0">
                <a:latin typeface="Lucida Console"/>
                <a:cs typeface="Lucida Console"/>
              </a:rPr>
              <a:t> </a:t>
            </a:r>
            <a:r>
              <a:rPr sz="2000" spc="-20" dirty="0">
                <a:latin typeface="Gulim"/>
                <a:cs typeface="Gulim"/>
              </a:rPr>
              <a:t>지도에서</a:t>
            </a:r>
            <a:r>
              <a:rPr sz="2000" dirty="0">
                <a:latin typeface="Gulim"/>
                <a:cs typeface="Gulim"/>
              </a:rPr>
              <a:t>	</a:t>
            </a:r>
            <a:r>
              <a:rPr sz="2000" spc="-670" dirty="0">
                <a:latin typeface="Gulim"/>
                <a:cs typeface="Gulim"/>
              </a:rPr>
              <a:t> </a:t>
            </a:r>
            <a:r>
              <a:rPr sz="2000" spc="-20" dirty="0">
                <a:latin typeface="Gulim"/>
                <a:cs typeface="Gulim"/>
              </a:rPr>
              <a:t>도시들의</a:t>
            </a:r>
            <a:r>
              <a:rPr sz="2000" dirty="0">
                <a:latin typeface="Gulim"/>
                <a:cs typeface="Gulim"/>
              </a:rPr>
              <a:t>	</a:t>
            </a:r>
            <a:r>
              <a:rPr sz="2000" spc="-35" dirty="0">
                <a:latin typeface="Gulim"/>
                <a:cs typeface="Gulim"/>
              </a:rPr>
              <a:t>연결</a:t>
            </a:r>
            <a:r>
              <a:rPr sz="2000" dirty="0">
                <a:latin typeface="Gulim"/>
                <a:cs typeface="Gulim"/>
              </a:rPr>
              <a:t>	</a:t>
            </a:r>
            <a:r>
              <a:rPr sz="2000" spc="-25" dirty="0">
                <a:latin typeface="Gulim"/>
                <a:cs typeface="Gulim"/>
              </a:rPr>
              <a:t>상태</a:t>
            </a:r>
            <a:endParaRPr sz="20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7928" y="3557136"/>
            <a:ext cx="4898868" cy="284162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90" dirty="0"/>
              <a:t>그래프</a:t>
            </a:r>
            <a:r>
              <a:rPr spc="-260" dirty="0"/>
              <a:t> </a:t>
            </a:r>
            <a:r>
              <a:rPr spc="-1550" dirty="0"/>
              <a:t>역사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7160" y="1921742"/>
            <a:ext cx="3792220" cy="4399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7894"/>
              <a:buFont typeface="Segoe UI Symbol"/>
              <a:buChar char="□"/>
              <a:tabLst>
                <a:tab pos="332105" algn="l"/>
              </a:tabLst>
            </a:pPr>
            <a:r>
              <a:rPr sz="1900" dirty="0">
                <a:latin typeface="Arial"/>
                <a:cs typeface="Arial"/>
              </a:rPr>
              <a:t>1800</a:t>
            </a:r>
            <a:r>
              <a:rPr sz="1900" dirty="0">
                <a:latin typeface="Gulim"/>
                <a:cs typeface="Gulim"/>
              </a:rPr>
              <a:t>년대</a:t>
            </a:r>
            <a:r>
              <a:rPr sz="1900" spc="-130" dirty="0">
                <a:latin typeface="Gulim"/>
                <a:cs typeface="Gulim"/>
              </a:rPr>
              <a:t> </a:t>
            </a:r>
            <a:r>
              <a:rPr sz="1900" spc="-10" dirty="0">
                <a:latin typeface="Gulim"/>
                <a:cs typeface="Gulim"/>
              </a:rPr>
              <a:t>오일러에</a:t>
            </a:r>
            <a:r>
              <a:rPr sz="1900" spc="-140" dirty="0">
                <a:latin typeface="Gulim"/>
                <a:cs typeface="Gulim"/>
              </a:rPr>
              <a:t> </a:t>
            </a:r>
            <a:r>
              <a:rPr sz="1900" spc="-10" dirty="0">
                <a:latin typeface="Gulim"/>
                <a:cs typeface="Gulim"/>
              </a:rPr>
              <a:t>의하여</a:t>
            </a:r>
            <a:r>
              <a:rPr sz="1900" spc="-150" dirty="0">
                <a:latin typeface="Gulim"/>
                <a:cs typeface="Gulim"/>
              </a:rPr>
              <a:t> </a:t>
            </a:r>
            <a:r>
              <a:rPr sz="1900" spc="-25" dirty="0">
                <a:latin typeface="Gulim"/>
                <a:cs typeface="Gulim"/>
              </a:rPr>
              <a:t>창안</a:t>
            </a:r>
            <a:endParaRPr sz="19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285"/>
              </a:spcBef>
              <a:buClr>
                <a:srgbClr val="DD8046"/>
              </a:buClr>
              <a:buFont typeface="Segoe UI Symbol"/>
              <a:buChar char="□"/>
            </a:pPr>
            <a:endParaRPr sz="19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buClr>
                <a:srgbClr val="DD8046"/>
              </a:buClr>
              <a:buSzPct val="57894"/>
              <a:buFont typeface="Segoe UI Symbol"/>
              <a:buChar char="□"/>
              <a:tabLst>
                <a:tab pos="332105" algn="l"/>
              </a:tabLst>
            </a:pPr>
            <a:r>
              <a:rPr sz="1900" dirty="0">
                <a:latin typeface="Gulim"/>
                <a:cs typeface="Gulim"/>
              </a:rPr>
              <a:t>오일러</a:t>
            </a:r>
            <a:r>
              <a:rPr sz="1900" spc="-155" dirty="0">
                <a:latin typeface="Gulim"/>
                <a:cs typeface="Gulim"/>
              </a:rPr>
              <a:t> </a:t>
            </a:r>
            <a:r>
              <a:rPr sz="1900" spc="-25" dirty="0">
                <a:latin typeface="Gulim"/>
                <a:cs typeface="Gulim"/>
              </a:rPr>
              <a:t>문제</a:t>
            </a:r>
            <a:endParaRPr sz="1900">
              <a:latin typeface="Gulim"/>
              <a:cs typeface="Gulim"/>
            </a:endParaRPr>
          </a:p>
          <a:p>
            <a:pPr marL="651510" marR="5080" indent="-274320">
              <a:lnSpc>
                <a:spcPct val="80000"/>
              </a:lnSpc>
              <a:spcBef>
                <a:spcPts val="610"/>
              </a:spcBef>
              <a:tabLst>
                <a:tab pos="651510" algn="l"/>
              </a:tabLst>
            </a:pPr>
            <a:r>
              <a:rPr sz="1100" spc="-57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10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600" dirty="0">
                <a:solidFill>
                  <a:srgbClr val="FF0000"/>
                </a:solidFill>
                <a:latin typeface="Gulim"/>
                <a:cs typeface="Gulim"/>
              </a:rPr>
              <a:t>모든</a:t>
            </a:r>
            <a:r>
              <a:rPr sz="1600" spc="-125" dirty="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다리를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solidFill>
                  <a:srgbClr val="FF0000"/>
                </a:solidFill>
                <a:latin typeface="Gulim"/>
                <a:cs typeface="Gulim"/>
              </a:rPr>
              <a:t>한번만</a:t>
            </a:r>
            <a:r>
              <a:rPr sz="1600" spc="-120" dirty="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건너서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처음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spc="-50" dirty="0">
                <a:latin typeface="Gulim"/>
                <a:cs typeface="Gulim"/>
              </a:rPr>
              <a:t>출 </a:t>
            </a:r>
            <a:r>
              <a:rPr sz="1600" dirty="0">
                <a:latin typeface="Gulim"/>
                <a:cs typeface="Gulim"/>
              </a:rPr>
              <a:t>발했던</a:t>
            </a:r>
            <a:r>
              <a:rPr sz="1600" spc="-13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장소로</a:t>
            </a:r>
            <a:r>
              <a:rPr sz="1600" spc="-125" dirty="0">
                <a:latin typeface="Gulim"/>
                <a:cs typeface="Gulim"/>
              </a:rPr>
              <a:t> </a:t>
            </a:r>
            <a:r>
              <a:rPr sz="1600" dirty="0">
                <a:solidFill>
                  <a:srgbClr val="FF0000"/>
                </a:solidFill>
                <a:latin typeface="Gulim"/>
                <a:cs typeface="Gulim"/>
              </a:rPr>
              <a:t>돌아오는</a:t>
            </a:r>
            <a:r>
              <a:rPr sz="1600" spc="-120" dirty="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문제</a:t>
            </a:r>
            <a:endParaRPr sz="16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6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buClr>
                <a:srgbClr val="DD8046"/>
              </a:buClr>
              <a:buSzPct val="57894"/>
              <a:buFont typeface="Segoe UI Symbol"/>
              <a:buChar char="□"/>
              <a:tabLst>
                <a:tab pos="332105" algn="l"/>
              </a:tabLst>
            </a:pPr>
            <a:r>
              <a:rPr sz="1900" dirty="0">
                <a:latin typeface="Arial"/>
                <a:cs typeface="Arial"/>
              </a:rPr>
              <a:t>A,B,C,D</a:t>
            </a:r>
            <a:r>
              <a:rPr sz="1900" spc="-30" dirty="0">
                <a:latin typeface="Arial"/>
                <a:cs typeface="Arial"/>
              </a:rPr>
              <a:t> </a:t>
            </a:r>
            <a:r>
              <a:rPr sz="1900" spc="-10" dirty="0">
                <a:latin typeface="Gulim"/>
                <a:cs typeface="Gulim"/>
              </a:rPr>
              <a:t>지역의</a:t>
            </a:r>
            <a:r>
              <a:rPr sz="1900" spc="-14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연결</a:t>
            </a:r>
            <a:r>
              <a:rPr sz="1900" spc="-130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관계</a:t>
            </a:r>
            <a:r>
              <a:rPr sz="1900" spc="-150" dirty="0">
                <a:latin typeface="Gulim"/>
                <a:cs typeface="Gulim"/>
              </a:rPr>
              <a:t> </a:t>
            </a:r>
            <a:r>
              <a:rPr sz="1900" spc="-25" dirty="0">
                <a:latin typeface="Gulim"/>
                <a:cs typeface="Gulim"/>
              </a:rPr>
              <a:t>표현</a:t>
            </a:r>
            <a:endParaRPr sz="19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215"/>
              </a:spcBef>
              <a:tabLst>
                <a:tab pos="651510" algn="l"/>
              </a:tabLst>
            </a:pPr>
            <a:r>
              <a:rPr sz="1100" spc="-57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10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600" dirty="0">
                <a:latin typeface="Gulim"/>
                <a:cs typeface="Gulim"/>
              </a:rPr>
              <a:t>위치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Gulim"/>
                <a:cs typeface="Gulim"/>
              </a:rPr>
              <a:t>정점</a:t>
            </a:r>
            <a:r>
              <a:rPr sz="1600" spc="-10" dirty="0">
                <a:latin typeface="Arial"/>
                <a:cs typeface="Arial"/>
              </a:rPr>
              <a:t>(node)</a:t>
            </a:r>
            <a:endParaRPr sz="16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215"/>
              </a:spcBef>
              <a:tabLst>
                <a:tab pos="651510" algn="l"/>
              </a:tabLst>
            </a:pPr>
            <a:r>
              <a:rPr sz="1100" spc="-57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10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600" dirty="0">
                <a:latin typeface="Gulim"/>
                <a:cs typeface="Gulim"/>
              </a:rPr>
              <a:t>다리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10" dirty="0">
                <a:latin typeface="Gulim"/>
                <a:cs typeface="Gulim"/>
              </a:rPr>
              <a:t>간선</a:t>
            </a:r>
            <a:r>
              <a:rPr sz="1600" spc="-10" dirty="0">
                <a:latin typeface="Arial"/>
                <a:cs typeface="Arial"/>
              </a:rPr>
              <a:t>(edge)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6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buClr>
                <a:srgbClr val="DD8046"/>
              </a:buClr>
              <a:buSzPct val="57894"/>
              <a:buFont typeface="Segoe UI Symbol"/>
              <a:buChar char="□"/>
              <a:tabLst>
                <a:tab pos="332105" algn="l"/>
              </a:tabLst>
            </a:pPr>
            <a:r>
              <a:rPr sz="1900" dirty="0">
                <a:latin typeface="Gulim"/>
                <a:cs typeface="Gulim"/>
              </a:rPr>
              <a:t>오일러</a:t>
            </a:r>
            <a:r>
              <a:rPr sz="1900" spc="-155" dirty="0">
                <a:latin typeface="Gulim"/>
                <a:cs typeface="Gulim"/>
              </a:rPr>
              <a:t> </a:t>
            </a:r>
            <a:r>
              <a:rPr sz="1900" spc="-25" dirty="0">
                <a:latin typeface="Gulim"/>
                <a:cs typeface="Gulim"/>
              </a:rPr>
              <a:t>정리</a:t>
            </a:r>
            <a:endParaRPr sz="1900">
              <a:latin typeface="Gulim"/>
              <a:cs typeface="Gulim"/>
            </a:endParaRPr>
          </a:p>
          <a:p>
            <a:pPr marL="651510" marR="5080" indent="-274320">
              <a:lnSpc>
                <a:spcPct val="80000"/>
              </a:lnSpc>
              <a:spcBef>
                <a:spcPts val="615"/>
              </a:spcBef>
              <a:tabLst>
                <a:tab pos="651510" algn="l"/>
              </a:tabLst>
            </a:pPr>
            <a:r>
              <a:rPr sz="1100" spc="-57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10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600" dirty="0">
                <a:latin typeface="Gulim"/>
                <a:cs typeface="Gulim"/>
              </a:rPr>
              <a:t>모든</a:t>
            </a:r>
            <a:r>
              <a:rPr sz="1600" spc="-12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정점에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연결된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간선의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수가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spc="-50" dirty="0">
                <a:latin typeface="Gulim"/>
                <a:cs typeface="Gulim"/>
              </a:rPr>
              <a:t>짝 </a:t>
            </a:r>
            <a:r>
              <a:rPr sz="1600" dirty="0">
                <a:latin typeface="Gulim"/>
                <a:cs typeface="Gulim"/>
              </a:rPr>
              <a:t>수이면</a:t>
            </a:r>
            <a:r>
              <a:rPr sz="1600" spc="-12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오일러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경로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존재함</a:t>
            </a:r>
            <a:endParaRPr sz="1600">
              <a:latin typeface="Gulim"/>
              <a:cs typeface="Gulim"/>
            </a:endParaRPr>
          </a:p>
          <a:p>
            <a:pPr marL="651510">
              <a:lnSpc>
                <a:spcPts val="1535"/>
              </a:lnSpc>
            </a:pPr>
            <a:r>
              <a:rPr sz="1600" dirty="0">
                <a:latin typeface="Arial"/>
                <a:cs typeface="Arial"/>
              </a:rPr>
              <a:t>(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20" dirty="0">
                <a:latin typeface="Gulim"/>
                <a:cs typeface="Gulim"/>
              </a:rPr>
              <a:t>증명함</a:t>
            </a:r>
            <a:r>
              <a:rPr sz="1600" spc="-20" dirty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  <a:p>
            <a:pPr marL="651510" marR="479425" indent="-274320">
              <a:lnSpc>
                <a:spcPct val="111200"/>
              </a:lnSpc>
              <a:tabLst>
                <a:tab pos="651510" algn="l"/>
              </a:tabLst>
            </a:pPr>
            <a:r>
              <a:rPr sz="1100" spc="-57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10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600" dirty="0">
                <a:latin typeface="Gulim"/>
                <a:cs typeface="Gulim"/>
              </a:rPr>
              <a:t>따라서</a:t>
            </a:r>
            <a:r>
              <a:rPr sz="1600" spc="-13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그래프</a:t>
            </a:r>
            <a:r>
              <a:rPr sz="1600" spc="-13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(b)</a:t>
            </a:r>
            <a:r>
              <a:rPr sz="1600" dirty="0">
                <a:latin typeface="Gulim"/>
                <a:cs typeface="Gulim"/>
              </a:rPr>
              <a:t>에는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오일러 </a:t>
            </a:r>
            <a:r>
              <a:rPr sz="1600" dirty="0">
                <a:latin typeface="Gulim"/>
                <a:cs typeface="Gulim"/>
              </a:rPr>
              <a:t>경로가</a:t>
            </a:r>
            <a:r>
              <a:rPr sz="1600" spc="-13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존재하지</a:t>
            </a:r>
            <a:r>
              <a:rPr sz="1600" spc="-130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않음</a:t>
            </a:r>
            <a:endParaRPr sz="16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0164" y="2204046"/>
            <a:ext cx="3563785" cy="179583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9409" y="4074521"/>
            <a:ext cx="3090334" cy="21328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5" dirty="0"/>
              <a:t>그래프로</a:t>
            </a:r>
            <a:r>
              <a:rPr spc="-260" dirty="0"/>
              <a:t> </a:t>
            </a:r>
            <a:r>
              <a:rPr spc="-2065" dirty="0"/>
              <a:t>표현하는</a:t>
            </a:r>
            <a:r>
              <a:rPr spc="-235" dirty="0"/>
              <a:t> </a:t>
            </a:r>
            <a:r>
              <a:rPr spc="-2165" dirty="0"/>
              <a:t>것들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2443" y="1978101"/>
            <a:ext cx="125857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Segoe UI Symbol"/>
              <a:buChar char="□"/>
              <a:tabLst>
                <a:tab pos="332105" algn="l"/>
              </a:tabLst>
            </a:pPr>
            <a:r>
              <a:rPr sz="2400" spc="-25" dirty="0">
                <a:latin typeface="Gulim"/>
                <a:cs typeface="Gulim"/>
              </a:rPr>
              <a:t>도로망</a:t>
            </a:r>
            <a:endParaRPr sz="2400">
              <a:latin typeface="Gulim"/>
              <a:cs typeface="Guli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2443" y="5158498"/>
            <a:ext cx="225615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Segoe UI Symbol"/>
              <a:buChar char="□"/>
              <a:tabLst>
                <a:tab pos="332105" algn="l"/>
              </a:tabLst>
            </a:pPr>
            <a:r>
              <a:rPr sz="2400" spc="-20" dirty="0">
                <a:latin typeface="Gulim"/>
                <a:cs typeface="Gulim"/>
              </a:rPr>
              <a:t>선수과목</a:t>
            </a:r>
            <a:r>
              <a:rPr sz="2400" spc="-16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관계</a:t>
            </a:r>
            <a:endParaRPr sz="24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4570" y="2114181"/>
            <a:ext cx="5463700" cy="16754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4300" y="4394377"/>
            <a:ext cx="3033558" cy="21921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90" dirty="0"/>
              <a:t>그래프</a:t>
            </a:r>
            <a:r>
              <a:rPr spc="-260" dirty="0"/>
              <a:t> </a:t>
            </a:r>
            <a:r>
              <a:rPr spc="-1789" dirty="0"/>
              <a:t>정의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7160" y="1889752"/>
            <a:ext cx="5213985" cy="367284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58333"/>
              <a:buFont typeface="Segoe UI Symbol"/>
              <a:buChar char="□"/>
              <a:tabLst>
                <a:tab pos="332105" algn="l"/>
              </a:tabLst>
            </a:pPr>
            <a:r>
              <a:rPr sz="2400" spc="-10" dirty="0">
                <a:latin typeface="Gulim"/>
                <a:cs typeface="Gulim"/>
              </a:rPr>
              <a:t>그래프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dirty="0">
                <a:latin typeface="Arial"/>
                <a:cs typeface="Arial"/>
              </a:rPr>
              <a:t>G</a:t>
            </a:r>
            <a:r>
              <a:rPr sz="2400" dirty="0">
                <a:latin typeface="Gulim"/>
                <a:cs typeface="Gulim"/>
              </a:rPr>
              <a:t>는</a:t>
            </a:r>
            <a:r>
              <a:rPr sz="2400" spc="-200" dirty="0">
                <a:latin typeface="Gulim"/>
                <a:cs typeface="Gulim"/>
              </a:rPr>
              <a:t> </a:t>
            </a:r>
            <a:r>
              <a:rPr sz="2400" spc="-50" dirty="0">
                <a:latin typeface="Arial"/>
                <a:cs typeface="Arial"/>
              </a:rPr>
              <a:t>(V,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E)</a:t>
            </a:r>
            <a:r>
              <a:rPr sz="2400" dirty="0">
                <a:latin typeface="Gulim"/>
                <a:cs typeface="Gulim"/>
              </a:rPr>
              <a:t>로</a:t>
            </a:r>
            <a:r>
              <a:rPr sz="2400" spc="-195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표시</a:t>
            </a: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SzPct val="58333"/>
              <a:buFont typeface="Segoe UI Symbol"/>
              <a:buChar char="□"/>
              <a:tabLst>
                <a:tab pos="332105" algn="l"/>
              </a:tabLst>
            </a:pPr>
            <a:r>
              <a:rPr sz="2400" spc="-10" dirty="0">
                <a:latin typeface="Gulim"/>
                <a:cs typeface="Gulim"/>
              </a:rPr>
              <a:t>정점</a:t>
            </a:r>
            <a:r>
              <a:rPr sz="2400" spc="-10" dirty="0">
                <a:latin typeface="Arial"/>
                <a:cs typeface="Arial"/>
              </a:rPr>
              <a:t>(vertices)</a:t>
            </a:r>
            <a:endParaRPr sz="24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605"/>
              </a:spcBef>
            </a:pPr>
            <a:r>
              <a:rPr sz="1400" spc="-70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400" spc="100" dirty="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latin typeface="Gulim"/>
                <a:cs typeface="Gulim"/>
              </a:rPr>
              <a:t>여러</a:t>
            </a:r>
            <a:r>
              <a:rPr sz="2000" spc="-12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가지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특성을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가질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수</a:t>
            </a:r>
            <a:r>
              <a:rPr sz="2000" spc="-114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있는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객체</a:t>
            </a:r>
            <a:r>
              <a:rPr sz="2000" spc="-125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의미</a:t>
            </a:r>
            <a:endParaRPr sz="20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600"/>
              </a:spcBef>
            </a:pPr>
            <a:r>
              <a:rPr sz="1400" spc="-70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400" spc="100" dirty="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V(G)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Gulim"/>
                <a:cs typeface="Gulim"/>
              </a:rPr>
              <a:t>그래프</a:t>
            </a:r>
            <a:r>
              <a:rPr sz="2000" spc="-145" dirty="0">
                <a:latin typeface="Gulim"/>
                <a:cs typeface="Gulim"/>
              </a:rPr>
              <a:t> </a:t>
            </a:r>
            <a:r>
              <a:rPr sz="2000" dirty="0">
                <a:latin typeface="Arial"/>
                <a:cs typeface="Arial"/>
              </a:rPr>
              <a:t>G</a:t>
            </a:r>
            <a:r>
              <a:rPr sz="2000" dirty="0">
                <a:latin typeface="Gulim"/>
                <a:cs typeface="Gulim"/>
              </a:rPr>
              <a:t>의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정점들의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집합</a:t>
            </a:r>
            <a:endParaRPr sz="20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595"/>
              </a:spcBef>
            </a:pPr>
            <a:r>
              <a:rPr sz="1400" spc="-70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400" spc="130" dirty="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Gulim"/>
                <a:cs typeface="Gulim"/>
              </a:rPr>
              <a:t>노드</a:t>
            </a:r>
            <a:r>
              <a:rPr sz="2000" spc="-10" dirty="0">
                <a:latin typeface="Arial"/>
                <a:cs typeface="Arial"/>
              </a:rPr>
              <a:t>(node)</a:t>
            </a:r>
            <a:r>
              <a:rPr sz="2000" spc="-10" dirty="0">
                <a:latin typeface="Gulim"/>
                <a:cs typeface="Gulim"/>
              </a:rPr>
              <a:t>라고도</a:t>
            </a:r>
            <a:r>
              <a:rPr sz="2000" spc="-120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불림</a:t>
            </a:r>
            <a:endParaRPr sz="20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SzPct val="58333"/>
              <a:buFont typeface="Segoe UI Symbol"/>
              <a:buChar char="□"/>
              <a:tabLst>
                <a:tab pos="332105" algn="l"/>
              </a:tabLst>
            </a:pPr>
            <a:r>
              <a:rPr sz="2400" spc="-10" dirty="0">
                <a:latin typeface="Gulim"/>
                <a:cs typeface="Gulim"/>
              </a:rPr>
              <a:t>간선</a:t>
            </a:r>
            <a:r>
              <a:rPr sz="2400" spc="-10" dirty="0">
                <a:latin typeface="Arial"/>
                <a:cs typeface="Arial"/>
              </a:rPr>
              <a:t>(edge)</a:t>
            </a:r>
            <a:endParaRPr sz="24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605"/>
              </a:spcBef>
            </a:pPr>
            <a:r>
              <a:rPr sz="1400" spc="-70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400" spc="100" dirty="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latin typeface="Gulim"/>
                <a:cs typeface="Gulim"/>
              </a:rPr>
              <a:t>정점들</a:t>
            </a:r>
            <a:r>
              <a:rPr sz="2000" spc="-12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간의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관계</a:t>
            </a:r>
            <a:r>
              <a:rPr sz="2000" spc="-125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의미</a:t>
            </a:r>
            <a:endParaRPr sz="20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595"/>
              </a:spcBef>
            </a:pPr>
            <a:r>
              <a:rPr sz="1400" spc="-70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400" spc="100" dirty="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latin typeface="Arial"/>
                <a:cs typeface="Arial"/>
              </a:rPr>
              <a:t>E(G)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Gulim"/>
                <a:cs typeface="Gulim"/>
              </a:rPr>
              <a:t>그래프</a:t>
            </a:r>
            <a:r>
              <a:rPr sz="2000" spc="-145" dirty="0">
                <a:latin typeface="Gulim"/>
                <a:cs typeface="Gulim"/>
              </a:rPr>
              <a:t> </a:t>
            </a:r>
            <a:r>
              <a:rPr sz="2000" dirty="0">
                <a:latin typeface="Arial"/>
                <a:cs typeface="Arial"/>
              </a:rPr>
              <a:t>G</a:t>
            </a:r>
            <a:r>
              <a:rPr sz="2000" dirty="0">
                <a:latin typeface="Gulim"/>
                <a:cs typeface="Gulim"/>
              </a:rPr>
              <a:t>의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간선들의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집합</a:t>
            </a:r>
            <a:endParaRPr sz="20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600"/>
              </a:spcBef>
            </a:pPr>
            <a:r>
              <a:rPr sz="1400" spc="-70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400" spc="130" dirty="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Gulim"/>
                <a:cs typeface="Gulim"/>
              </a:rPr>
              <a:t>링크</a:t>
            </a:r>
            <a:r>
              <a:rPr sz="2000" spc="-10" dirty="0">
                <a:latin typeface="Arial"/>
                <a:cs typeface="Arial"/>
              </a:rPr>
              <a:t>(link)</a:t>
            </a:r>
            <a:r>
              <a:rPr sz="2000" spc="-10" dirty="0">
                <a:latin typeface="Gulim"/>
                <a:cs typeface="Gulim"/>
              </a:rPr>
              <a:t>라고도</a:t>
            </a:r>
            <a:r>
              <a:rPr sz="2000" spc="-120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불림</a:t>
            </a:r>
            <a:endParaRPr sz="20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0534" y="3365419"/>
            <a:ext cx="3421233" cy="23210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90" dirty="0"/>
              <a:t>그래프</a:t>
            </a:r>
            <a:r>
              <a:rPr spc="-260" dirty="0"/>
              <a:t> </a:t>
            </a:r>
            <a:r>
              <a:rPr spc="-2045" dirty="0"/>
              <a:t>표현의</a:t>
            </a:r>
            <a:r>
              <a:rPr spc="-250" dirty="0"/>
              <a:t> </a:t>
            </a:r>
            <a:r>
              <a:rPr spc="-1415" dirty="0"/>
              <a:t>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65350" y="4343851"/>
            <a:ext cx="15481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V(G1)=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{0,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1,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2,</a:t>
            </a:r>
            <a:r>
              <a:rPr sz="1400" spc="-25" dirty="0">
                <a:latin typeface="Trebuchet MS"/>
                <a:cs typeface="Trebuchet MS"/>
              </a:rPr>
              <a:t> 3},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1943" y="4343851"/>
            <a:ext cx="33972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E(G1)=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{(0,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1),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(0,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2),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(0,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3),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(1,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2),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(2,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3)}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65350" y="4948549"/>
            <a:ext cx="15481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V(G2)=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{0,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1,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2,</a:t>
            </a:r>
            <a:r>
              <a:rPr sz="1400" spc="-25" dirty="0">
                <a:latin typeface="Trebuchet MS"/>
                <a:cs typeface="Trebuchet MS"/>
              </a:rPr>
              <a:t> 3},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11943" y="4948549"/>
            <a:ext cx="17989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E(G3)=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{(0,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1),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(0,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2))}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65350" y="5553260"/>
            <a:ext cx="13366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V(G3)=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{0,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1,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2},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60190" y="5553260"/>
            <a:ext cx="24599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E(G3)=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{&lt;0,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1&gt;,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&lt;1,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0&gt;,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&lt;1,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2&gt;}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2585" y="1934438"/>
            <a:ext cx="6070978" cy="219904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5" dirty="0"/>
              <a:t>그래프의</a:t>
            </a:r>
            <a:r>
              <a:rPr spc="-254" dirty="0"/>
              <a:t> </a:t>
            </a:r>
            <a:r>
              <a:rPr spc="-2625" dirty="0"/>
              <a:t>종류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328" y="1844573"/>
            <a:ext cx="8144484" cy="366172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62443" y="5527977"/>
            <a:ext cx="6029960" cy="87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32105" marR="2489200" indent="-320040">
              <a:lnSpc>
                <a:spcPts val="2160"/>
              </a:lnSpc>
              <a:spcBef>
                <a:spcPts val="375"/>
              </a:spcBef>
              <a:buClr>
                <a:srgbClr val="DD8046"/>
              </a:buClr>
              <a:buSzPct val="60000"/>
              <a:buFont typeface="Segoe UI Symbol"/>
              <a:buChar char="□"/>
              <a:tabLst>
                <a:tab pos="332105" algn="l"/>
                <a:tab pos="2006600" algn="l"/>
              </a:tabLst>
            </a:pPr>
            <a:r>
              <a:rPr sz="2000" spc="-10" dirty="0">
                <a:latin typeface="Gulim"/>
                <a:cs typeface="Gulim"/>
              </a:rPr>
              <a:t>길찾기그래프에서 도보길찾기는</a:t>
            </a:r>
            <a:r>
              <a:rPr sz="2000" dirty="0">
                <a:latin typeface="Gulim"/>
                <a:cs typeface="Gulim"/>
              </a:rPr>
              <a:t>	</a:t>
            </a:r>
            <a:r>
              <a:rPr sz="2000" spc="-10" dirty="0">
                <a:latin typeface="Gulim"/>
                <a:cs typeface="Gulim"/>
              </a:rPr>
              <a:t>무방향그래프</a:t>
            </a:r>
            <a:endParaRPr sz="2000">
              <a:latin typeface="Gulim"/>
              <a:cs typeface="Gulim"/>
            </a:endParaRPr>
          </a:p>
          <a:p>
            <a:pPr marL="332105">
              <a:lnSpc>
                <a:spcPts val="2125"/>
              </a:lnSpc>
              <a:tabLst>
                <a:tab pos="2260600" algn="l"/>
              </a:tabLst>
            </a:pPr>
            <a:r>
              <a:rPr sz="2000" spc="-10" dirty="0">
                <a:latin typeface="Gulim"/>
                <a:cs typeface="Gulim"/>
              </a:rPr>
              <a:t>자동차길찾기는</a:t>
            </a:r>
            <a:r>
              <a:rPr sz="2000" dirty="0">
                <a:latin typeface="Gulim"/>
                <a:cs typeface="Gulim"/>
              </a:rPr>
              <a:t>	방향그래프</a:t>
            </a:r>
            <a:r>
              <a:rPr sz="2000" dirty="0">
                <a:latin typeface="Lucida Console"/>
                <a:cs typeface="Lucida Console"/>
              </a:rPr>
              <a:t>(</a:t>
            </a:r>
            <a:r>
              <a:rPr sz="2000" dirty="0">
                <a:latin typeface="Gulim"/>
                <a:cs typeface="Gulim"/>
              </a:rPr>
              <a:t>일방통행표시</a:t>
            </a:r>
            <a:r>
              <a:rPr sz="2000" dirty="0">
                <a:latin typeface="Lucida Console"/>
                <a:cs typeface="Lucida Console"/>
              </a:rPr>
              <a:t>)</a:t>
            </a:r>
            <a:r>
              <a:rPr sz="2000" spc="-85" dirty="0">
                <a:latin typeface="Lucida Console"/>
                <a:cs typeface="Lucida Console"/>
              </a:rPr>
              <a:t> </a:t>
            </a:r>
            <a:r>
              <a:rPr sz="2000" spc="-25" dirty="0">
                <a:latin typeface="Gulim"/>
                <a:cs typeface="Gulim"/>
              </a:rPr>
              <a:t>필요</a:t>
            </a:r>
            <a:endParaRPr sz="2000">
              <a:latin typeface="Gulim"/>
              <a:cs typeface="Gulim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4136" y="3373844"/>
            <a:ext cx="3384156" cy="333424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25" dirty="0"/>
              <a:t>네트워크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3" y="1978101"/>
            <a:ext cx="7725409" cy="1210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Segoe UI Symbol"/>
              <a:buChar char="□"/>
              <a:tabLst>
                <a:tab pos="332105" algn="l"/>
              </a:tabLst>
            </a:pPr>
            <a:r>
              <a:rPr sz="2400" spc="-10" dirty="0">
                <a:latin typeface="Gulim"/>
                <a:cs typeface="Gulim"/>
              </a:rPr>
              <a:t>가중치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spc="-10" dirty="0">
                <a:latin typeface="Gulim"/>
                <a:cs typeface="Gulim"/>
              </a:rPr>
              <a:t>그래프</a:t>
            </a:r>
            <a:r>
              <a:rPr sz="2400" spc="-10" dirty="0">
                <a:latin typeface="Arial"/>
                <a:cs typeface="Arial"/>
              </a:rPr>
              <a:t>(weighted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graph)</a:t>
            </a:r>
            <a:r>
              <a:rPr sz="2400" spc="-10" dirty="0">
                <a:latin typeface="Gulim"/>
                <a:cs typeface="Gulim"/>
              </a:rPr>
              <a:t>는</a:t>
            </a:r>
            <a:r>
              <a:rPr sz="2400" spc="-180" dirty="0">
                <a:latin typeface="Gulim"/>
                <a:cs typeface="Gulim"/>
              </a:rPr>
              <a:t> </a:t>
            </a:r>
            <a:r>
              <a:rPr sz="2400" spc="-10" dirty="0">
                <a:latin typeface="Gulim"/>
                <a:cs typeface="Gulim"/>
              </a:rPr>
              <a:t>네트워크</a:t>
            </a:r>
            <a:r>
              <a:rPr sz="2400" spc="-10" dirty="0">
                <a:latin typeface="Arial"/>
                <a:cs typeface="Arial"/>
              </a:rPr>
              <a:t>(network)</a:t>
            </a:r>
            <a:r>
              <a:rPr sz="2400" spc="-10" dirty="0">
                <a:latin typeface="Gulim"/>
                <a:cs typeface="Gulim"/>
              </a:rPr>
              <a:t>라 </a:t>
            </a:r>
            <a:r>
              <a:rPr sz="2400" dirty="0">
                <a:latin typeface="Gulim"/>
                <a:cs typeface="Gulim"/>
              </a:rPr>
              <a:t>고도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spc="-50" dirty="0">
                <a:latin typeface="Gulim"/>
                <a:cs typeface="Gulim"/>
              </a:rPr>
              <a:t>함</a:t>
            </a: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Segoe UI Symbol"/>
              <a:buChar char="□"/>
              <a:tabLst>
                <a:tab pos="332105" algn="l"/>
              </a:tabLst>
            </a:pPr>
            <a:r>
              <a:rPr sz="2400" spc="-10" dirty="0">
                <a:latin typeface="Gulim"/>
                <a:cs typeface="Gulim"/>
              </a:rPr>
              <a:t>간선에</a:t>
            </a:r>
            <a:r>
              <a:rPr sz="2400" spc="-140" dirty="0">
                <a:latin typeface="Gulim"/>
                <a:cs typeface="Gulim"/>
              </a:rPr>
              <a:t> </a:t>
            </a:r>
            <a:r>
              <a:rPr sz="2400" spc="-20" dirty="0">
                <a:latin typeface="Gulim"/>
                <a:cs typeface="Gulim"/>
              </a:rPr>
              <a:t>비용</a:t>
            </a:r>
            <a:r>
              <a:rPr sz="2400" spc="-20" dirty="0">
                <a:latin typeface="Arial"/>
                <a:cs typeface="Arial"/>
              </a:rPr>
              <a:t>(cost)</a:t>
            </a:r>
            <a:r>
              <a:rPr sz="2400" spc="-20" dirty="0">
                <a:latin typeface="Gulim"/>
                <a:cs typeface="Gulim"/>
              </a:rPr>
              <a:t>이나</a:t>
            </a:r>
            <a:r>
              <a:rPr sz="2400" spc="-155" dirty="0">
                <a:latin typeface="Gulim"/>
                <a:cs typeface="Gulim"/>
              </a:rPr>
              <a:t> </a:t>
            </a:r>
            <a:r>
              <a:rPr sz="2400" spc="-20" dirty="0">
                <a:latin typeface="Gulim"/>
                <a:cs typeface="Gulim"/>
              </a:rPr>
              <a:t>가중치</a:t>
            </a:r>
            <a:r>
              <a:rPr sz="2400" spc="-20" dirty="0">
                <a:latin typeface="Arial"/>
                <a:cs typeface="Arial"/>
              </a:rPr>
              <a:t>(weight)</a:t>
            </a:r>
            <a:r>
              <a:rPr sz="2400" spc="-20" dirty="0">
                <a:latin typeface="Gulim"/>
                <a:cs typeface="Gulim"/>
              </a:rPr>
              <a:t>가</a:t>
            </a:r>
            <a:r>
              <a:rPr sz="2400" spc="-120" dirty="0">
                <a:latin typeface="Gulim"/>
                <a:cs typeface="Gulim"/>
              </a:rPr>
              <a:t> </a:t>
            </a:r>
            <a:r>
              <a:rPr sz="2400" spc="-10" dirty="0">
                <a:latin typeface="Gulim"/>
                <a:cs typeface="Gulim"/>
              </a:rPr>
              <a:t>할당된</a:t>
            </a:r>
            <a:r>
              <a:rPr sz="2400" spc="-14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그래프</a:t>
            </a:r>
            <a:endParaRPr sz="2400">
              <a:latin typeface="Gulim"/>
              <a:cs typeface="Guli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2443" y="3921869"/>
            <a:ext cx="4382770" cy="162560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15"/>
              </a:spcBef>
              <a:buClr>
                <a:srgbClr val="DD8046"/>
              </a:buClr>
              <a:buSzPct val="58333"/>
              <a:buFont typeface="Segoe UI Symbol"/>
              <a:buChar char="□"/>
              <a:tabLst>
                <a:tab pos="332105" algn="l"/>
              </a:tabLst>
            </a:pPr>
            <a:r>
              <a:rPr sz="2400" spc="-20" dirty="0">
                <a:latin typeface="Gulim"/>
                <a:cs typeface="Gulim"/>
              </a:rPr>
              <a:t>네트워크</a:t>
            </a:r>
            <a:r>
              <a:rPr sz="2400" spc="-160" dirty="0">
                <a:latin typeface="Gulim"/>
                <a:cs typeface="Gulim"/>
              </a:rPr>
              <a:t> </a:t>
            </a:r>
            <a:r>
              <a:rPr sz="2400" spc="-60" dirty="0">
                <a:latin typeface="Gulim"/>
                <a:cs typeface="Gulim"/>
              </a:rPr>
              <a:t>예</a:t>
            </a:r>
            <a:endParaRPr sz="24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605"/>
              </a:spcBef>
            </a:pPr>
            <a:r>
              <a:rPr sz="1400" spc="-70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400" spc="100" dirty="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latin typeface="Gulim"/>
                <a:cs typeface="Gulim"/>
              </a:rPr>
              <a:t>정점</a:t>
            </a:r>
            <a:r>
              <a:rPr sz="2000" spc="-120" dirty="0">
                <a:latin typeface="Gulim"/>
                <a:cs typeface="Gulim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Gulim"/>
                <a:cs typeface="Gulim"/>
              </a:rPr>
              <a:t>각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도시를</a:t>
            </a:r>
            <a:r>
              <a:rPr sz="2000" spc="-125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의미</a:t>
            </a:r>
            <a:endParaRPr sz="20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595"/>
              </a:spcBef>
            </a:pPr>
            <a:r>
              <a:rPr sz="1400" spc="-70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400" spc="100" dirty="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latin typeface="Gulim"/>
                <a:cs typeface="Gulim"/>
              </a:rPr>
              <a:t>간선</a:t>
            </a:r>
            <a:r>
              <a:rPr sz="2000" spc="-125" dirty="0">
                <a:latin typeface="Gulim"/>
                <a:cs typeface="Gulim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Gulim"/>
                <a:cs typeface="Gulim"/>
              </a:rPr>
              <a:t>도시를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연결하는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도로</a:t>
            </a:r>
            <a:r>
              <a:rPr sz="2000" spc="-125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의미</a:t>
            </a:r>
            <a:endParaRPr sz="20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600"/>
              </a:spcBef>
            </a:pPr>
            <a:r>
              <a:rPr sz="1400" spc="-70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400" spc="100" dirty="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latin typeface="Gulim"/>
                <a:cs typeface="Gulim"/>
              </a:rPr>
              <a:t>가중치</a:t>
            </a:r>
            <a:r>
              <a:rPr sz="2000" spc="-120" dirty="0">
                <a:latin typeface="Gulim"/>
                <a:cs typeface="Gulim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Gulim"/>
                <a:cs typeface="Gulim"/>
              </a:rPr>
              <a:t>도로의</a:t>
            </a:r>
            <a:r>
              <a:rPr sz="2000" spc="-125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길이</a:t>
            </a:r>
            <a:endParaRPr sz="20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0" dirty="0"/>
              <a:t>부분</a:t>
            </a:r>
            <a:r>
              <a:rPr spc="-260" dirty="0"/>
              <a:t> </a:t>
            </a:r>
            <a:r>
              <a:rPr spc="-525" dirty="0"/>
              <a:t>그래프</a:t>
            </a:r>
            <a:r>
              <a:rPr spc="-525" dirty="0">
                <a:latin typeface="Tw Cen MT"/>
                <a:cs typeface="Tw Cen MT"/>
              </a:rPr>
              <a:t>(subgraph)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1785" y="1890354"/>
            <a:ext cx="7879715" cy="75057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550"/>
              </a:spcBef>
              <a:buClr>
                <a:srgbClr val="DD8046"/>
              </a:buClr>
              <a:buSzPct val="60000"/>
              <a:buFont typeface="Segoe UI Symbol"/>
              <a:buChar char="□"/>
              <a:tabLst>
                <a:tab pos="332105" algn="l"/>
              </a:tabLst>
            </a:pPr>
            <a:r>
              <a:rPr sz="2000" dirty="0">
                <a:latin typeface="Gulim"/>
                <a:cs typeface="Gulim"/>
              </a:rPr>
              <a:t>정점</a:t>
            </a:r>
            <a:r>
              <a:rPr sz="2000" spc="-13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집합</a:t>
            </a:r>
            <a:r>
              <a:rPr sz="2000" spc="-135" dirty="0">
                <a:latin typeface="Gulim"/>
                <a:cs typeface="Gulim"/>
              </a:rPr>
              <a:t> </a:t>
            </a:r>
            <a:r>
              <a:rPr sz="2000" dirty="0">
                <a:latin typeface="Arial"/>
                <a:cs typeface="Arial"/>
              </a:rPr>
              <a:t>V(G)</a:t>
            </a:r>
            <a:r>
              <a:rPr sz="2000" dirty="0">
                <a:latin typeface="Gulim"/>
                <a:cs typeface="Gulim"/>
              </a:rPr>
              <a:t>와</a:t>
            </a:r>
            <a:r>
              <a:rPr sz="2000" spc="-14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간선</a:t>
            </a:r>
            <a:r>
              <a:rPr sz="2000" spc="-13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집합</a:t>
            </a:r>
            <a:r>
              <a:rPr sz="2000" spc="-135" dirty="0">
                <a:latin typeface="Gulim"/>
                <a:cs typeface="Gulim"/>
              </a:rPr>
              <a:t> </a:t>
            </a:r>
            <a:r>
              <a:rPr sz="2000" dirty="0">
                <a:latin typeface="Arial"/>
                <a:cs typeface="Arial"/>
              </a:rPr>
              <a:t>E(G)</a:t>
            </a:r>
            <a:r>
              <a:rPr sz="2000" dirty="0">
                <a:latin typeface="Gulim"/>
                <a:cs typeface="Gulim"/>
              </a:rPr>
              <a:t>의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부분</a:t>
            </a:r>
            <a:r>
              <a:rPr sz="2000" spc="-13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집합으로</a:t>
            </a:r>
            <a:r>
              <a:rPr sz="2000" spc="-14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이루어진</a:t>
            </a:r>
            <a:r>
              <a:rPr sz="2000" spc="-135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그래프</a:t>
            </a:r>
            <a:endParaRPr sz="20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455"/>
              </a:spcBef>
              <a:buClr>
                <a:srgbClr val="DD8046"/>
              </a:buClr>
              <a:buSzPct val="60000"/>
              <a:buFont typeface="Segoe UI Symbol"/>
              <a:buChar char="□"/>
              <a:tabLst>
                <a:tab pos="332105" algn="l"/>
              </a:tabLst>
            </a:pPr>
            <a:r>
              <a:rPr sz="2000" dirty="0">
                <a:latin typeface="Gulim"/>
                <a:cs typeface="Gulim"/>
              </a:rPr>
              <a:t>그래프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Arial"/>
                <a:cs typeface="Arial"/>
              </a:rPr>
              <a:t>G1</a:t>
            </a:r>
            <a:r>
              <a:rPr sz="2000" dirty="0">
                <a:latin typeface="Gulim"/>
                <a:cs typeface="Gulim"/>
              </a:rPr>
              <a:t>의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부분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spc="-20" dirty="0">
                <a:latin typeface="Gulim"/>
                <a:cs typeface="Gulim"/>
              </a:rPr>
              <a:t>그래프들</a:t>
            </a:r>
            <a:endParaRPr sz="20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8373" y="2984372"/>
            <a:ext cx="5397004" cy="313096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15" dirty="0"/>
              <a:t>그래프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2443" y="1893985"/>
            <a:ext cx="5727700" cy="221043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65"/>
              </a:spcBef>
              <a:buClr>
                <a:srgbClr val="DD8046"/>
              </a:buClr>
              <a:buSzPct val="60000"/>
              <a:buFont typeface="Segoe UI Symbol"/>
              <a:buChar char="□"/>
              <a:tabLst>
                <a:tab pos="332105" algn="l"/>
              </a:tabLst>
            </a:pPr>
            <a:r>
              <a:rPr sz="2000" b="1" dirty="0">
                <a:latin typeface="Gulim"/>
                <a:cs typeface="Gulim"/>
              </a:rPr>
              <a:t>인접</a:t>
            </a:r>
            <a:r>
              <a:rPr sz="2000" b="1" spc="-140" dirty="0">
                <a:latin typeface="Gulim"/>
                <a:cs typeface="Gulim"/>
              </a:rPr>
              <a:t> </a:t>
            </a:r>
            <a:r>
              <a:rPr sz="2000" b="1" dirty="0">
                <a:latin typeface="Gulim"/>
                <a:cs typeface="Gulim"/>
              </a:rPr>
              <a:t>정점</a:t>
            </a:r>
            <a:r>
              <a:rPr sz="2000" dirty="0">
                <a:latin typeface="Arial"/>
                <a:cs typeface="Arial"/>
              </a:rPr>
              <a:t>(adjacent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vertex</a:t>
            </a:r>
            <a:r>
              <a:rPr sz="2000" b="1" spc="-1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595"/>
              </a:spcBef>
              <a:tabLst>
                <a:tab pos="651510" algn="l"/>
              </a:tabLst>
            </a:pPr>
            <a:r>
              <a:rPr sz="1250" spc="-65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25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Gulim"/>
                <a:cs typeface="Gulim"/>
              </a:rPr>
              <a:t>하나의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20" dirty="0">
                <a:latin typeface="Gulim"/>
                <a:cs typeface="Gulim"/>
              </a:rPr>
              <a:t>정점에서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간선에</a:t>
            </a:r>
            <a:r>
              <a:rPr sz="1800" spc="-12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의해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직접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연결된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spc="-25" dirty="0">
                <a:latin typeface="Gulim"/>
                <a:cs typeface="Gulim"/>
              </a:rPr>
              <a:t>정점</a:t>
            </a:r>
            <a:endParaRPr sz="18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595"/>
              </a:spcBef>
              <a:tabLst>
                <a:tab pos="651510" algn="l"/>
              </a:tabLst>
            </a:pPr>
            <a:r>
              <a:rPr sz="1250" spc="-65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25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Arial"/>
                <a:cs typeface="Arial"/>
              </a:rPr>
              <a:t>G1</a:t>
            </a:r>
            <a:r>
              <a:rPr sz="1800" spc="-10" dirty="0">
                <a:latin typeface="Gulim"/>
                <a:cs typeface="Gulim"/>
              </a:rPr>
              <a:t>에서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정점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0</a:t>
            </a:r>
            <a:r>
              <a:rPr sz="1800" dirty="0">
                <a:latin typeface="Gulim"/>
                <a:cs typeface="Gulim"/>
              </a:rPr>
              <a:t>의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인접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정점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Gulim"/>
                <a:cs typeface="Gulim"/>
              </a:rPr>
              <a:t>정점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1,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Gulim"/>
                <a:cs typeface="Gulim"/>
              </a:rPr>
              <a:t>정점</a:t>
            </a:r>
            <a:r>
              <a:rPr sz="1800" spc="-135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2,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Gulim"/>
                <a:cs typeface="Gulim"/>
              </a:rPr>
              <a:t>정점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Segoe UI Symbol"/>
              <a:buChar char="□"/>
              <a:tabLst>
                <a:tab pos="332105" algn="l"/>
              </a:tabLst>
            </a:pPr>
            <a:r>
              <a:rPr sz="2000" b="1" dirty="0">
                <a:latin typeface="Gulim"/>
                <a:cs typeface="Gulim"/>
              </a:rPr>
              <a:t>무방향</a:t>
            </a:r>
            <a:r>
              <a:rPr sz="2000" b="1" spc="-130" dirty="0">
                <a:latin typeface="Gulim"/>
                <a:cs typeface="Gulim"/>
              </a:rPr>
              <a:t> </a:t>
            </a:r>
            <a:r>
              <a:rPr sz="2000" b="1" dirty="0">
                <a:latin typeface="Gulim"/>
                <a:cs typeface="Gulim"/>
              </a:rPr>
              <a:t>그래프의</a:t>
            </a:r>
            <a:r>
              <a:rPr sz="2000" b="1" spc="-120" dirty="0">
                <a:latin typeface="Gulim"/>
                <a:cs typeface="Gulim"/>
              </a:rPr>
              <a:t> </a:t>
            </a:r>
            <a:r>
              <a:rPr sz="2000" b="1" spc="-10" dirty="0">
                <a:latin typeface="Gulim"/>
                <a:cs typeface="Gulim"/>
              </a:rPr>
              <a:t>차수</a:t>
            </a:r>
            <a:r>
              <a:rPr sz="2000" spc="-10" dirty="0">
                <a:latin typeface="Arial"/>
                <a:cs typeface="Arial"/>
              </a:rPr>
              <a:t>(degree)</a:t>
            </a:r>
            <a:endParaRPr sz="20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605"/>
              </a:spcBef>
              <a:tabLst>
                <a:tab pos="651510" algn="l"/>
              </a:tabLst>
            </a:pPr>
            <a:r>
              <a:rPr sz="1250" spc="-65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25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Gulim"/>
                <a:cs typeface="Gulim"/>
              </a:rPr>
              <a:t>하나의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정점에</a:t>
            </a:r>
            <a:r>
              <a:rPr sz="1800" spc="-135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연결된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다른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정점의</a:t>
            </a:r>
            <a:r>
              <a:rPr sz="1800" spc="-135" dirty="0">
                <a:latin typeface="Gulim"/>
                <a:cs typeface="Gulim"/>
              </a:rPr>
              <a:t> </a:t>
            </a:r>
            <a:r>
              <a:rPr sz="1800" spc="-50" dirty="0">
                <a:latin typeface="Gulim"/>
                <a:cs typeface="Gulim"/>
              </a:rPr>
              <a:t>수</a:t>
            </a:r>
            <a:endParaRPr sz="18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600"/>
              </a:spcBef>
              <a:tabLst>
                <a:tab pos="651510" algn="l"/>
              </a:tabLst>
            </a:pPr>
            <a:r>
              <a:rPr sz="1250" spc="-65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25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Arial"/>
                <a:cs typeface="Arial"/>
              </a:rPr>
              <a:t>G1</a:t>
            </a:r>
            <a:r>
              <a:rPr sz="1800" spc="-10" dirty="0">
                <a:latin typeface="Gulim"/>
                <a:cs typeface="Gulim"/>
              </a:rPr>
              <a:t>에서</a:t>
            </a:r>
            <a:r>
              <a:rPr sz="1800" spc="-145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정점</a:t>
            </a:r>
            <a:r>
              <a:rPr sz="1800" spc="-135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0</a:t>
            </a:r>
            <a:r>
              <a:rPr sz="1800" dirty="0">
                <a:latin typeface="Gulim"/>
                <a:cs typeface="Gulim"/>
              </a:rPr>
              <a:t>의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차수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9086" y="4312735"/>
            <a:ext cx="1802302" cy="221562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15" dirty="0"/>
              <a:t>그래프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2443" y="1893985"/>
            <a:ext cx="6057265" cy="273812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65"/>
              </a:spcBef>
              <a:buClr>
                <a:srgbClr val="DD8046"/>
              </a:buClr>
              <a:buSzPct val="60000"/>
              <a:buFont typeface="Segoe UI Symbol"/>
              <a:buChar char="□"/>
              <a:tabLst>
                <a:tab pos="332105" algn="l"/>
              </a:tabLst>
            </a:pPr>
            <a:r>
              <a:rPr sz="2000" b="1" dirty="0">
                <a:latin typeface="Gulim"/>
                <a:cs typeface="Gulim"/>
              </a:rPr>
              <a:t>방향</a:t>
            </a:r>
            <a:r>
              <a:rPr sz="2000" b="1" spc="-105" dirty="0">
                <a:latin typeface="Gulim"/>
                <a:cs typeface="Gulim"/>
              </a:rPr>
              <a:t> </a:t>
            </a:r>
            <a:r>
              <a:rPr sz="2000" b="1" dirty="0">
                <a:latin typeface="Gulim"/>
                <a:cs typeface="Gulim"/>
              </a:rPr>
              <a:t>그래프의</a:t>
            </a:r>
            <a:r>
              <a:rPr sz="2000" b="1" spc="-125" dirty="0">
                <a:latin typeface="Gulim"/>
                <a:cs typeface="Gulim"/>
              </a:rPr>
              <a:t> </a:t>
            </a:r>
            <a:r>
              <a:rPr sz="2000" b="1" spc="-10" dirty="0">
                <a:latin typeface="Gulim"/>
                <a:cs typeface="Gulim"/>
              </a:rPr>
              <a:t>차수</a:t>
            </a:r>
            <a:r>
              <a:rPr sz="2000" spc="-10" dirty="0">
                <a:latin typeface="Arial"/>
                <a:cs typeface="Arial"/>
              </a:rPr>
              <a:t>(degree)</a:t>
            </a:r>
            <a:endParaRPr sz="2000">
              <a:latin typeface="Arial"/>
              <a:cs typeface="Arial"/>
            </a:endParaRPr>
          </a:p>
          <a:p>
            <a:pPr marL="377825" marR="499745">
              <a:lnSpc>
                <a:spcPts val="2760"/>
              </a:lnSpc>
              <a:spcBef>
                <a:spcPts val="185"/>
              </a:spcBef>
              <a:tabLst>
                <a:tab pos="651510" algn="l"/>
              </a:tabLst>
            </a:pPr>
            <a:r>
              <a:rPr sz="1250" spc="-65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25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latin typeface="Gulim"/>
                <a:cs typeface="Gulim"/>
              </a:rPr>
              <a:t>진입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spc="-20" dirty="0">
                <a:latin typeface="Gulim"/>
                <a:cs typeface="Gulim"/>
              </a:rPr>
              <a:t>차수</a:t>
            </a:r>
            <a:r>
              <a:rPr sz="1800" spc="-20" dirty="0">
                <a:latin typeface="Arial"/>
                <a:cs typeface="Arial"/>
              </a:rPr>
              <a:t>(in-</a:t>
            </a:r>
            <a:r>
              <a:rPr sz="1800" dirty="0">
                <a:latin typeface="Arial"/>
                <a:cs typeface="Arial"/>
              </a:rPr>
              <a:t>degree) :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Gulim"/>
                <a:cs typeface="Gulim"/>
              </a:rPr>
              <a:t>외부에서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오는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간선의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spc="-50" dirty="0">
                <a:latin typeface="Gulim"/>
                <a:cs typeface="Gulim"/>
              </a:rPr>
              <a:t>수</a:t>
            </a:r>
            <a:r>
              <a:rPr sz="1800" spc="500" dirty="0">
                <a:latin typeface="Gulim"/>
                <a:cs typeface="Gulim"/>
              </a:rPr>
              <a:t> </a:t>
            </a:r>
            <a:r>
              <a:rPr sz="1250" spc="-65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25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latin typeface="Gulim"/>
                <a:cs typeface="Gulim"/>
              </a:rPr>
              <a:t>진출</a:t>
            </a:r>
            <a:r>
              <a:rPr sz="1800" spc="-120" dirty="0">
                <a:latin typeface="Gulim"/>
                <a:cs typeface="Gulim"/>
              </a:rPr>
              <a:t> </a:t>
            </a:r>
            <a:r>
              <a:rPr sz="1800" spc="-20" dirty="0">
                <a:latin typeface="Gulim"/>
                <a:cs typeface="Gulim"/>
              </a:rPr>
              <a:t>차수</a:t>
            </a:r>
            <a:r>
              <a:rPr sz="1800" spc="-20" dirty="0">
                <a:latin typeface="Arial"/>
                <a:cs typeface="Arial"/>
              </a:rPr>
              <a:t>(out-</a:t>
            </a:r>
            <a:r>
              <a:rPr sz="1800" dirty="0">
                <a:latin typeface="Arial"/>
                <a:cs typeface="Arial"/>
              </a:rPr>
              <a:t>degree)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10" dirty="0">
                <a:latin typeface="Gulim"/>
                <a:cs typeface="Gulim"/>
              </a:rPr>
              <a:t>외부로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향하는</a:t>
            </a:r>
            <a:r>
              <a:rPr sz="1800" spc="-12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간선의</a:t>
            </a:r>
            <a:r>
              <a:rPr sz="1800" spc="-114" dirty="0">
                <a:latin typeface="Gulim"/>
                <a:cs typeface="Gulim"/>
              </a:rPr>
              <a:t> </a:t>
            </a:r>
            <a:r>
              <a:rPr sz="1800" spc="-50" dirty="0">
                <a:latin typeface="Gulim"/>
                <a:cs typeface="Gulim"/>
              </a:rPr>
              <a:t>수 </a:t>
            </a:r>
            <a:r>
              <a:rPr sz="1250" spc="-65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25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Arial"/>
                <a:cs typeface="Arial"/>
              </a:rPr>
              <a:t>G3</a:t>
            </a:r>
            <a:r>
              <a:rPr sz="1800" spc="-10" dirty="0">
                <a:latin typeface="Gulim"/>
                <a:cs typeface="Gulim"/>
              </a:rPr>
              <a:t>에서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정점</a:t>
            </a:r>
            <a:r>
              <a:rPr sz="1800" spc="-135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dirty="0">
                <a:latin typeface="Gulim"/>
                <a:cs typeface="Gulim"/>
              </a:rPr>
              <a:t>의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차수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Gulim"/>
                <a:cs typeface="Gulim"/>
              </a:rPr>
              <a:t>내차수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1,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Gulim"/>
                <a:cs typeface="Gulim"/>
              </a:rPr>
              <a:t>외차수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405"/>
              </a:spcBef>
              <a:tabLst>
                <a:tab pos="651510" algn="l"/>
              </a:tabLst>
            </a:pPr>
            <a:r>
              <a:rPr sz="1250" spc="-65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25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latin typeface="Gulim"/>
                <a:cs typeface="Gulim"/>
              </a:rPr>
              <a:t>방향</a:t>
            </a:r>
            <a:r>
              <a:rPr sz="1800" spc="-150" dirty="0">
                <a:latin typeface="Gulim"/>
                <a:cs typeface="Gulim"/>
              </a:rPr>
              <a:t> </a:t>
            </a:r>
            <a:r>
              <a:rPr sz="1800" spc="-20" dirty="0">
                <a:latin typeface="Gulim"/>
                <a:cs typeface="Gulim"/>
              </a:rPr>
              <a:t>그래프의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모든</a:t>
            </a:r>
            <a:r>
              <a:rPr sz="1800" spc="-135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진입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dirty="0">
                <a:latin typeface="Gulim"/>
                <a:cs typeface="Gulim"/>
              </a:rPr>
              <a:t>진출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Gulim"/>
                <a:cs typeface="Gulim"/>
              </a:rPr>
              <a:t>차수의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합은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간선의</a:t>
            </a:r>
            <a:r>
              <a:rPr sz="1800" spc="-135" dirty="0">
                <a:latin typeface="Gulim"/>
                <a:cs typeface="Gulim"/>
              </a:rPr>
              <a:t> </a:t>
            </a:r>
            <a:r>
              <a:rPr sz="1800" spc="-50" dirty="0">
                <a:latin typeface="Gulim"/>
                <a:cs typeface="Gulim"/>
              </a:rPr>
              <a:t>수</a:t>
            </a:r>
            <a:endParaRPr sz="1800">
              <a:latin typeface="Gulim"/>
              <a:cs typeface="Gulim"/>
            </a:endParaRPr>
          </a:p>
          <a:p>
            <a:pPr marL="697230" marR="3032760" algn="just">
              <a:lnSpc>
                <a:spcPct val="125899"/>
              </a:lnSpc>
              <a:spcBef>
                <a:spcPts val="10"/>
              </a:spcBef>
            </a:pPr>
            <a:r>
              <a:rPr sz="1200" spc="215" dirty="0">
                <a:solidFill>
                  <a:srgbClr val="DD8046"/>
                </a:solidFill>
                <a:latin typeface="Segoe UI Symbol"/>
                <a:cs typeface="Segoe UI Symbol"/>
              </a:rPr>
              <a:t>n</a:t>
            </a:r>
            <a:r>
              <a:rPr sz="1200" spc="95" dirty="0">
                <a:solidFill>
                  <a:srgbClr val="DD8046"/>
                </a:solidFill>
                <a:latin typeface="Segoe UI Symbol"/>
                <a:cs typeface="Segoe UI Symbol"/>
              </a:rPr>
              <a:t>  </a:t>
            </a:r>
            <a:r>
              <a:rPr sz="1600" dirty="0">
                <a:latin typeface="Arial"/>
                <a:cs typeface="Arial"/>
              </a:rPr>
              <a:t>G3</a:t>
            </a:r>
            <a:r>
              <a:rPr sz="1600" dirty="0">
                <a:latin typeface="Gulim"/>
                <a:cs typeface="Gulim"/>
              </a:rPr>
              <a:t>의</a:t>
            </a:r>
            <a:r>
              <a:rPr sz="1600" spc="-9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진입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차수의</a:t>
            </a:r>
            <a:r>
              <a:rPr sz="1600" spc="-9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합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3 </a:t>
            </a:r>
            <a:r>
              <a:rPr sz="1200" spc="215" dirty="0">
                <a:solidFill>
                  <a:srgbClr val="DD8046"/>
                </a:solidFill>
                <a:latin typeface="Segoe UI Symbol"/>
                <a:cs typeface="Segoe UI Symbol"/>
              </a:rPr>
              <a:t>n</a:t>
            </a:r>
            <a:r>
              <a:rPr sz="1200" spc="95" dirty="0">
                <a:solidFill>
                  <a:srgbClr val="DD8046"/>
                </a:solidFill>
                <a:latin typeface="Segoe UI Symbol"/>
                <a:cs typeface="Segoe UI Symbol"/>
              </a:rPr>
              <a:t>  </a:t>
            </a:r>
            <a:r>
              <a:rPr sz="1600" dirty="0">
                <a:latin typeface="Arial"/>
                <a:cs typeface="Arial"/>
              </a:rPr>
              <a:t>G3</a:t>
            </a:r>
            <a:r>
              <a:rPr sz="1600" dirty="0">
                <a:latin typeface="Gulim"/>
                <a:cs typeface="Gulim"/>
              </a:rPr>
              <a:t>의</a:t>
            </a:r>
            <a:r>
              <a:rPr sz="1600" spc="-9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진출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차수의</a:t>
            </a:r>
            <a:r>
              <a:rPr sz="1600" spc="-9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합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3 </a:t>
            </a:r>
            <a:r>
              <a:rPr sz="1200" spc="215" dirty="0">
                <a:solidFill>
                  <a:srgbClr val="DD8046"/>
                </a:solidFill>
                <a:latin typeface="Segoe UI Symbol"/>
                <a:cs typeface="Segoe UI Symbol"/>
              </a:rPr>
              <a:t>n</a:t>
            </a:r>
            <a:r>
              <a:rPr sz="1200" spc="95" dirty="0">
                <a:solidFill>
                  <a:srgbClr val="DD8046"/>
                </a:solidFill>
                <a:latin typeface="Segoe UI Symbol"/>
                <a:cs typeface="Segoe UI Symbol"/>
              </a:rPr>
              <a:t>  </a:t>
            </a:r>
            <a:r>
              <a:rPr sz="1600" dirty="0">
                <a:latin typeface="Arial"/>
                <a:cs typeface="Arial"/>
              </a:rPr>
              <a:t>G3</a:t>
            </a:r>
            <a:r>
              <a:rPr sz="1600" dirty="0">
                <a:latin typeface="Gulim"/>
                <a:cs typeface="Gulim"/>
              </a:rPr>
              <a:t>의</a:t>
            </a:r>
            <a:r>
              <a:rPr sz="1600" spc="-8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간선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합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7050" y="4002925"/>
            <a:ext cx="983257" cy="25196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5" dirty="0"/>
              <a:t>그래프의</a:t>
            </a:r>
            <a:r>
              <a:rPr spc="-254" dirty="0"/>
              <a:t> </a:t>
            </a:r>
            <a:r>
              <a:rPr spc="-555" dirty="0"/>
              <a:t>경로</a:t>
            </a:r>
            <a:r>
              <a:rPr spc="-555" dirty="0">
                <a:latin typeface="Tw Cen MT"/>
                <a:cs typeface="Tw Cen MT"/>
              </a:rPr>
              <a:t>(path)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2443" y="1893985"/>
            <a:ext cx="7134859" cy="260350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65"/>
              </a:spcBef>
              <a:buClr>
                <a:srgbClr val="DD8046"/>
              </a:buClr>
              <a:buSzPct val="60000"/>
              <a:buFont typeface="Segoe UI Symbol"/>
              <a:buChar char="□"/>
              <a:tabLst>
                <a:tab pos="332105" algn="l"/>
              </a:tabLst>
            </a:pPr>
            <a:r>
              <a:rPr sz="2000" dirty="0">
                <a:latin typeface="Gulim"/>
                <a:cs typeface="Gulim"/>
              </a:rPr>
              <a:t>무방향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그래프의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정점</a:t>
            </a:r>
            <a:r>
              <a:rPr sz="2000" spc="-114" dirty="0">
                <a:latin typeface="Gulim"/>
                <a:cs typeface="Gulim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dirty="0">
                <a:latin typeface="Gulim"/>
                <a:cs typeface="Gulim"/>
              </a:rPr>
              <a:t>로부터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정점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2000" dirty="0">
                <a:latin typeface="Gulim"/>
                <a:cs typeface="Gulim"/>
              </a:rPr>
              <a:t>까지의</a:t>
            </a:r>
            <a:r>
              <a:rPr sz="2000" spc="-135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경로</a:t>
            </a:r>
            <a:endParaRPr sz="20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595"/>
              </a:spcBef>
              <a:tabLst>
                <a:tab pos="651510" algn="l"/>
              </a:tabLst>
            </a:pPr>
            <a:r>
              <a:rPr sz="1250" spc="-65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25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Gulim"/>
                <a:cs typeface="Gulim"/>
              </a:rPr>
              <a:t>정점의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나열</a:t>
            </a:r>
            <a:r>
              <a:rPr sz="1800" spc="-135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s,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v1,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v2,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...,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vk,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595"/>
              </a:spcBef>
              <a:tabLst>
                <a:tab pos="651510" algn="l"/>
              </a:tabLst>
            </a:pPr>
            <a:r>
              <a:rPr sz="1250" spc="-65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25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Gulim"/>
                <a:cs typeface="Gulim"/>
              </a:rPr>
              <a:t>나열된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정점들</a:t>
            </a:r>
            <a:r>
              <a:rPr sz="1800" spc="-135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간에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반드시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간선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(s,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v1),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(v1,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v2),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...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(vk,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e)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5" dirty="0">
                <a:latin typeface="Gulim"/>
                <a:cs typeface="Gulim"/>
              </a:rPr>
              <a:t>존재</a:t>
            </a:r>
            <a:endParaRPr sz="18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000"/>
              <a:buFont typeface="Segoe UI Symbol"/>
              <a:buChar char="□"/>
              <a:tabLst>
                <a:tab pos="332105" algn="l"/>
              </a:tabLst>
            </a:pPr>
            <a:r>
              <a:rPr sz="2000" dirty="0">
                <a:latin typeface="Gulim"/>
                <a:cs typeface="Gulim"/>
              </a:rPr>
              <a:t>단순</a:t>
            </a:r>
            <a:r>
              <a:rPr sz="2000" spc="-14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경로</a:t>
            </a:r>
            <a:r>
              <a:rPr sz="2000" dirty="0">
                <a:latin typeface="Arial"/>
                <a:cs typeface="Arial"/>
              </a:rPr>
              <a:t>(simple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path)</a:t>
            </a:r>
            <a:endParaRPr sz="20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605"/>
              </a:spcBef>
              <a:tabLst>
                <a:tab pos="651510" algn="l"/>
              </a:tabLst>
            </a:pPr>
            <a:r>
              <a:rPr sz="1250" spc="-65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25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latin typeface="Gulim"/>
                <a:cs typeface="Gulim"/>
              </a:rPr>
              <a:t>경로</a:t>
            </a:r>
            <a:r>
              <a:rPr sz="1800" spc="-135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중에서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반복되는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간선이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없는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spc="-25" dirty="0">
                <a:latin typeface="Gulim"/>
                <a:cs typeface="Gulim"/>
              </a:rPr>
              <a:t>경로</a:t>
            </a:r>
            <a:endParaRPr sz="18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SzPct val="60000"/>
              <a:buFont typeface="Segoe UI Symbol"/>
              <a:buChar char="□"/>
              <a:tabLst>
                <a:tab pos="332105" algn="l"/>
              </a:tabLst>
            </a:pPr>
            <a:r>
              <a:rPr sz="2000" spc="-10" dirty="0">
                <a:latin typeface="Gulim"/>
                <a:cs typeface="Gulim"/>
              </a:rPr>
              <a:t>사이클</a:t>
            </a:r>
            <a:r>
              <a:rPr sz="2000" spc="-10" dirty="0">
                <a:latin typeface="Arial"/>
                <a:cs typeface="Arial"/>
              </a:rPr>
              <a:t>(cycle)</a:t>
            </a:r>
            <a:endParaRPr sz="20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605"/>
              </a:spcBef>
              <a:tabLst>
                <a:tab pos="651510" algn="l"/>
              </a:tabLst>
            </a:pPr>
            <a:r>
              <a:rPr sz="1250" spc="-65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25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latin typeface="Gulim"/>
                <a:cs typeface="Gulim"/>
              </a:rPr>
              <a:t>단순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경로의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시작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정점과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종료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정점이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동일한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25" dirty="0">
                <a:latin typeface="Gulim"/>
                <a:cs typeface="Gulim"/>
              </a:rPr>
              <a:t>경로</a:t>
            </a:r>
            <a:endParaRPr sz="18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5" dirty="0"/>
              <a:t>그래프의</a:t>
            </a:r>
            <a:r>
              <a:rPr spc="-254" dirty="0"/>
              <a:t> </a:t>
            </a:r>
            <a:r>
              <a:rPr spc="-555" dirty="0"/>
              <a:t>경로</a:t>
            </a:r>
            <a:r>
              <a:rPr spc="-555" dirty="0">
                <a:latin typeface="Tw Cen MT"/>
                <a:cs typeface="Tw Cen MT"/>
              </a:rPr>
              <a:t>(path)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2443" y="1890367"/>
            <a:ext cx="7129145" cy="120459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0"/>
              </a:spcBef>
              <a:buClr>
                <a:srgbClr val="DD8046"/>
              </a:buClr>
              <a:buSzPct val="60000"/>
              <a:buFont typeface="Segoe UI Symbol"/>
              <a:buChar char="□"/>
              <a:tabLst>
                <a:tab pos="332105" algn="l"/>
              </a:tabLst>
            </a:pPr>
            <a:r>
              <a:rPr sz="2000" dirty="0">
                <a:latin typeface="Arial"/>
                <a:cs typeface="Arial"/>
              </a:rPr>
              <a:t>G1</a:t>
            </a:r>
            <a:r>
              <a:rPr sz="2000" dirty="0">
                <a:latin typeface="Gulim"/>
                <a:cs typeface="Gulim"/>
              </a:rPr>
              <a:t>의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Arial"/>
                <a:cs typeface="Arial"/>
              </a:rPr>
              <a:t>0,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2,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3</a:t>
            </a:r>
            <a:r>
              <a:rPr sz="2000" dirty="0">
                <a:latin typeface="Gulim"/>
                <a:cs typeface="Gulim"/>
              </a:rPr>
              <a:t>은</a:t>
            </a:r>
            <a:r>
              <a:rPr sz="2000" spc="-11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경로지만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Arial"/>
                <a:cs typeface="Arial"/>
              </a:rPr>
              <a:t>0,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3,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2</a:t>
            </a:r>
            <a:r>
              <a:rPr sz="2000" dirty="0">
                <a:latin typeface="Gulim"/>
                <a:cs typeface="Gulim"/>
              </a:rPr>
              <a:t>는</a:t>
            </a:r>
            <a:r>
              <a:rPr sz="2000" spc="-11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경로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아님</a:t>
            </a:r>
            <a:endParaRPr sz="20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000"/>
              <a:buFont typeface="Segoe UI Symbol"/>
              <a:buChar char="□"/>
              <a:tabLst>
                <a:tab pos="332105" algn="l"/>
                <a:tab pos="4215765" algn="l"/>
              </a:tabLst>
            </a:pPr>
            <a:r>
              <a:rPr sz="2000" dirty="0">
                <a:latin typeface="Arial"/>
                <a:cs typeface="Arial"/>
              </a:rPr>
              <a:t>G1</a:t>
            </a:r>
            <a:r>
              <a:rPr sz="2000" dirty="0">
                <a:latin typeface="Gulim"/>
                <a:cs typeface="Gulim"/>
              </a:rPr>
              <a:t>의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Arial"/>
                <a:cs typeface="Arial"/>
              </a:rPr>
              <a:t>1,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0,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2,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3</a:t>
            </a:r>
            <a:r>
              <a:rPr sz="2000" dirty="0">
                <a:latin typeface="Gulim"/>
                <a:cs typeface="Gulim"/>
              </a:rPr>
              <a:t>은</a:t>
            </a:r>
            <a:r>
              <a:rPr sz="2000" spc="-110" dirty="0">
                <a:latin typeface="Gulim"/>
                <a:cs typeface="Gulim"/>
              </a:rPr>
              <a:t> </a:t>
            </a:r>
            <a:r>
              <a:rPr sz="2000" spc="-10" dirty="0">
                <a:latin typeface="Gulim"/>
                <a:cs typeface="Gulim"/>
              </a:rPr>
              <a:t>단순경로이지만</a:t>
            </a:r>
            <a:r>
              <a:rPr sz="2000" dirty="0">
                <a:latin typeface="Gulim"/>
                <a:cs typeface="Gulim"/>
              </a:rPr>
              <a:t>	</a:t>
            </a:r>
            <a:r>
              <a:rPr sz="2000" dirty="0">
                <a:latin typeface="Arial"/>
                <a:cs typeface="Arial"/>
              </a:rPr>
              <a:t>1,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0,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2,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0</a:t>
            </a:r>
            <a:r>
              <a:rPr sz="2000" dirty="0">
                <a:latin typeface="Gulim"/>
                <a:cs typeface="Gulim"/>
              </a:rPr>
              <a:t>은</a:t>
            </a:r>
            <a:r>
              <a:rPr sz="2000" spc="-12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단순경로</a:t>
            </a:r>
            <a:r>
              <a:rPr sz="2000" spc="-125" dirty="0">
                <a:latin typeface="Gulim"/>
                <a:cs typeface="Gulim"/>
              </a:rPr>
              <a:t> </a:t>
            </a:r>
            <a:r>
              <a:rPr sz="2000" spc="-35" dirty="0">
                <a:latin typeface="Gulim"/>
                <a:cs typeface="Gulim"/>
              </a:rPr>
              <a:t>아님</a:t>
            </a:r>
            <a:endParaRPr sz="20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000"/>
              <a:buFont typeface="Segoe UI Symbol"/>
              <a:buChar char="□"/>
              <a:tabLst>
                <a:tab pos="332105" algn="l"/>
              </a:tabLst>
            </a:pPr>
            <a:r>
              <a:rPr sz="2000" dirty="0">
                <a:latin typeface="Arial"/>
                <a:cs typeface="Arial"/>
              </a:rPr>
              <a:t>G1</a:t>
            </a:r>
            <a:r>
              <a:rPr sz="2000" dirty="0">
                <a:latin typeface="Gulim"/>
                <a:cs typeface="Gulim"/>
              </a:rPr>
              <a:t>의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Arial"/>
                <a:cs typeface="Arial"/>
              </a:rPr>
              <a:t>0,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1,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2,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0</a:t>
            </a:r>
            <a:r>
              <a:rPr sz="2000" dirty="0">
                <a:latin typeface="Gulim"/>
                <a:cs typeface="Gulim"/>
              </a:rPr>
              <a:t>는</a:t>
            </a:r>
            <a:r>
              <a:rPr sz="2000" spc="-110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사이클</a:t>
            </a:r>
            <a:endParaRPr sz="20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6289" y="3570307"/>
            <a:ext cx="5024055" cy="21321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5" dirty="0"/>
              <a:t>그래프의</a:t>
            </a:r>
            <a:r>
              <a:rPr spc="-254" dirty="0"/>
              <a:t> </a:t>
            </a:r>
            <a:r>
              <a:rPr spc="-1935" dirty="0"/>
              <a:t>연결정도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2443" y="1893985"/>
            <a:ext cx="6894195" cy="111506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65"/>
              </a:spcBef>
              <a:buClr>
                <a:srgbClr val="DD8046"/>
              </a:buClr>
              <a:buSzPct val="60000"/>
              <a:buFont typeface="Segoe UI Symbol"/>
              <a:buChar char="□"/>
              <a:tabLst>
                <a:tab pos="332105" algn="l"/>
              </a:tabLst>
            </a:pPr>
            <a:r>
              <a:rPr sz="2000" dirty="0">
                <a:latin typeface="Gulim"/>
                <a:cs typeface="Gulim"/>
              </a:rPr>
              <a:t>연결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그래프</a:t>
            </a:r>
            <a:r>
              <a:rPr sz="2000" dirty="0">
                <a:latin typeface="Arial"/>
                <a:cs typeface="Arial"/>
              </a:rPr>
              <a:t>(connected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graph)</a:t>
            </a:r>
            <a:endParaRPr sz="20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595"/>
              </a:spcBef>
              <a:tabLst>
                <a:tab pos="651510" algn="l"/>
              </a:tabLst>
            </a:pPr>
            <a:r>
              <a:rPr sz="1250" spc="-65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25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latin typeface="Gulim"/>
                <a:cs typeface="Gulim"/>
              </a:rPr>
              <a:t>무방향</a:t>
            </a:r>
            <a:r>
              <a:rPr sz="1800" spc="-135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그래프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G</a:t>
            </a:r>
            <a:r>
              <a:rPr sz="1800" dirty="0">
                <a:latin typeface="Gulim"/>
                <a:cs typeface="Gulim"/>
              </a:rPr>
              <a:t>에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있는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모든</a:t>
            </a:r>
            <a:r>
              <a:rPr sz="1800" spc="-135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정점쌍에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대하여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항상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경로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25" dirty="0">
                <a:latin typeface="Gulim"/>
                <a:cs typeface="Gulim"/>
              </a:rPr>
              <a:t>존재</a:t>
            </a:r>
            <a:endParaRPr sz="18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595"/>
              </a:spcBef>
              <a:tabLst>
                <a:tab pos="651510" algn="l"/>
              </a:tabLst>
            </a:pPr>
            <a:r>
              <a:rPr sz="1250" spc="-65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25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latin typeface="Arial"/>
                <a:cs typeface="Arial"/>
              </a:rPr>
              <a:t>(a)</a:t>
            </a:r>
            <a:r>
              <a:rPr sz="1800" dirty="0">
                <a:latin typeface="Gulim"/>
                <a:cs typeface="Gulim"/>
              </a:rPr>
              <a:t>는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연결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그래프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(b)</a:t>
            </a:r>
            <a:r>
              <a:rPr sz="1800" dirty="0">
                <a:latin typeface="Gulim"/>
                <a:cs typeface="Gulim"/>
              </a:rPr>
              <a:t>는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비연결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spc="-20" dirty="0">
                <a:latin typeface="Gulim"/>
                <a:cs typeface="Gulim"/>
              </a:rPr>
              <a:t>그래프임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09927" y="3542243"/>
            <a:ext cx="5214541" cy="223611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05" dirty="0"/>
              <a:t>그래프의</a:t>
            </a:r>
            <a:r>
              <a:rPr spc="-254" dirty="0"/>
              <a:t> </a:t>
            </a:r>
            <a:r>
              <a:rPr spc="-1935" dirty="0"/>
              <a:t>연결정도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2443" y="1893985"/>
            <a:ext cx="6855459" cy="146558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65"/>
              </a:spcBef>
              <a:buClr>
                <a:srgbClr val="DD8046"/>
              </a:buClr>
              <a:buSzPct val="60000"/>
              <a:buFont typeface="Segoe UI Symbol"/>
              <a:buChar char="□"/>
              <a:tabLst>
                <a:tab pos="332105" algn="l"/>
              </a:tabLst>
            </a:pPr>
            <a:r>
              <a:rPr sz="2000" dirty="0">
                <a:latin typeface="Gulim"/>
                <a:cs typeface="Gulim"/>
              </a:rPr>
              <a:t>완전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그래프</a:t>
            </a:r>
            <a:r>
              <a:rPr sz="2000" dirty="0">
                <a:latin typeface="Arial"/>
                <a:cs typeface="Arial"/>
              </a:rPr>
              <a:t>(complete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graph)</a:t>
            </a:r>
            <a:endParaRPr sz="20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595"/>
              </a:spcBef>
              <a:tabLst>
                <a:tab pos="651510" algn="l"/>
              </a:tabLst>
            </a:pPr>
            <a:r>
              <a:rPr sz="1250" spc="-65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25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latin typeface="Gulim"/>
                <a:cs typeface="Gulim"/>
              </a:rPr>
              <a:t>모든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정점이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직접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연결되어</a:t>
            </a:r>
            <a:r>
              <a:rPr sz="1800" spc="-135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있는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spc="-25" dirty="0">
                <a:latin typeface="Gulim"/>
                <a:cs typeface="Gulim"/>
              </a:rPr>
              <a:t>그래프</a:t>
            </a:r>
            <a:endParaRPr sz="18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495"/>
              </a:spcBef>
              <a:tabLst>
                <a:tab pos="651510" algn="l"/>
              </a:tabLst>
            </a:pPr>
            <a:r>
              <a:rPr sz="1250" spc="-65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25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latin typeface="Arial"/>
                <a:cs typeface="Arial"/>
              </a:rPr>
              <a:t>n</a:t>
            </a:r>
            <a:r>
              <a:rPr sz="1800" dirty="0">
                <a:latin typeface="Gulim"/>
                <a:cs typeface="Gulim"/>
              </a:rPr>
              <a:t>개의</a:t>
            </a:r>
            <a:r>
              <a:rPr sz="1800" spc="-12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정점을</a:t>
            </a:r>
            <a:r>
              <a:rPr sz="1800" spc="-114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가진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무방향</a:t>
            </a:r>
            <a:r>
              <a:rPr sz="1800" spc="-114" dirty="0">
                <a:latin typeface="Gulim"/>
                <a:cs typeface="Gulim"/>
              </a:rPr>
              <a:t> </a:t>
            </a:r>
            <a:r>
              <a:rPr sz="1800" spc="-20" dirty="0">
                <a:latin typeface="Gulim"/>
                <a:cs typeface="Gulim"/>
              </a:rPr>
              <a:t>완전그래프의</a:t>
            </a:r>
            <a:r>
              <a:rPr sz="1800" spc="-114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간선의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수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i="1" spc="-35" dirty="0">
                <a:latin typeface="Arial"/>
                <a:cs typeface="Arial"/>
              </a:rPr>
              <a:t>n</a:t>
            </a:r>
            <a:r>
              <a:rPr sz="1900" i="1" spc="-35" dirty="0">
                <a:latin typeface="Gulim"/>
                <a:cs typeface="Gulim"/>
              </a:rPr>
              <a:t>×</a:t>
            </a:r>
            <a:r>
              <a:rPr sz="1800" i="1" spc="-35" dirty="0">
                <a:latin typeface="Arial"/>
                <a:cs typeface="Arial"/>
              </a:rPr>
              <a:t>(n-</a:t>
            </a:r>
            <a:r>
              <a:rPr sz="1800" i="1" spc="-20" dirty="0">
                <a:latin typeface="Arial"/>
                <a:cs typeface="Arial"/>
              </a:rPr>
              <a:t>1)/2</a:t>
            </a:r>
            <a:endParaRPr sz="18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580"/>
              </a:spcBef>
              <a:tabLst>
                <a:tab pos="651510" algn="l"/>
              </a:tabLst>
            </a:pPr>
            <a:r>
              <a:rPr sz="1250" spc="-65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250" dirty="0">
                <a:solidFill>
                  <a:srgbClr val="94B5D1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latin typeface="Arial"/>
                <a:cs typeface="Arial"/>
              </a:rPr>
              <a:t>n=4,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Gulim"/>
                <a:cs typeface="Gulim"/>
              </a:rPr>
              <a:t>간선의</a:t>
            </a:r>
            <a:r>
              <a:rPr sz="1800" spc="-12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수</a:t>
            </a:r>
            <a:r>
              <a:rPr sz="1800" spc="-12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(4</a:t>
            </a:r>
            <a:r>
              <a:rPr sz="1800" dirty="0">
                <a:latin typeface="Gulim"/>
                <a:cs typeface="Gulim"/>
              </a:rPr>
              <a:t>×</a:t>
            </a:r>
            <a:r>
              <a:rPr sz="1800" dirty="0">
                <a:latin typeface="Arial"/>
                <a:cs typeface="Arial"/>
              </a:rPr>
              <a:t>3)/2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6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0220" y="3958742"/>
            <a:ext cx="1837500" cy="179430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Graph</a:t>
            </a:r>
            <a:r>
              <a:rPr spc="-90" dirty="0">
                <a:latin typeface="Tw Cen MT"/>
                <a:cs typeface="Tw Cen MT"/>
              </a:rPr>
              <a:t> </a:t>
            </a:r>
            <a:r>
              <a:rPr spc="-2225" dirty="0"/>
              <a:t>용어</a:t>
            </a:r>
            <a:r>
              <a:rPr spc="-254" dirty="0"/>
              <a:t> </a:t>
            </a:r>
            <a:r>
              <a:rPr spc="-1775" dirty="0"/>
              <a:t>가상실습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1797" y="1826755"/>
            <a:ext cx="586994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Segoe UI Symbol"/>
              <a:buChar char="□"/>
              <a:tabLst>
                <a:tab pos="332105" algn="l"/>
              </a:tabLst>
            </a:pPr>
            <a:r>
              <a:rPr sz="2400" dirty="0">
                <a:latin typeface="Arial"/>
                <a:cs typeface="Arial"/>
              </a:rPr>
              <a:t>Graph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Gulim"/>
                <a:cs typeface="Gulim"/>
              </a:rPr>
              <a:t>용어를</a:t>
            </a:r>
            <a:r>
              <a:rPr sz="2400" spc="-155" dirty="0">
                <a:latin typeface="Gulim"/>
                <a:cs typeface="Gulim"/>
              </a:rPr>
              <a:t> </a:t>
            </a:r>
            <a:r>
              <a:rPr sz="2400" spc="-20" dirty="0">
                <a:latin typeface="Arial"/>
                <a:cs typeface="Arial"/>
              </a:rPr>
              <a:t>28-</a:t>
            </a:r>
            <a:r>
              <a:rPr sz="2400" spc="-35" dirty="0">
                <a:latin typeface="Arial"/>
                <a:cs typeface="Arial"/>
              </a:rPr>
              <a:t>&gt;GraphTerms</a:t>
            </a:r>
            <a:r>
              <a:rPr sz="2400" spc="-35" dirty="0">
                <a:latin typeface="Gulim"/>
                <a:cs typeface="Gulim"/>
              </a:rPr>
              <a:t>로</a:t>
            </a:r>
            <a:r>
              <a:rPr sz="2400" spc="-165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알아봄</a:t>
            </a:r>
            <a:endParaRPr sz="24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8135" y="2338082"/>
            <a:ext cx="5623509" cy="384602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spc="-2165" dirty="0"/>
              <a:t>휴식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1797" y="1923026"/>
            <a:ext cx="3898265" cy="311594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spc="-10" dirty="0">
                <a:latin typeface="Gulim"/>
                <a:cs typeface="Gulim"/>
              </a:rPr>
              <a:t>그래프란</a:t>
            </a:r>
            <a:r>
              <a:rPr sz="2400" spc="-10" dirty="0"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spc="-20" dirty="0">
                <a:latin typeface="Gulim"/>
                <a:cs typeface="Gulim"/>
              </a:rPr>
              <a:t>그래프의</a:t>
            </a:r>
            <a:r>
              <a:rPr sz="2400" spc="-170" dirty="0">
                <a:latin typeface="Gulim"/>
                <a:cs typeface="Gulim"/>
              </a:rPr>
              <a:t> </a:t>
            </a:r>
            <a:r>
              <a:rPr sz="2400" spc="-10" dirty="0">
                <a:latin typeface="Gulim"/>
                <a:cs typeface="Gulim"/>
              </a:rPr>
              <a:t>정의와</a:t>
            </a:r>
            <a:r>
              <a:rPr sz="2400" spc="-17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용어</a:t>
            </a:r>
            <a:endParaRPr sz="24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455"/>
              </a:spcBef>
              <a:buClr>
                <a:srgbClr val="DD8046"/>
              </a:buClr>
              <a:buFont typeface="Arial"/>
              <a:buAutoNum type="arabicPeriod"/>
            </a:pP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spc="-20" dirty="0">
                <a:latin typeface="Gulim"/>
                <a:cs typeface="Gulim"/>
              </a:rPr>
              <a:t>그래프의</a:t>
            </a:r>
            <a:r>
              <a:rPr sz="2400" spc="-180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표현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dirty="0">
                <a:latin typeface="Gulim"/>
                <a:cs typeface="Gulim"/>
              </a:rPr>
              <a:t>구현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25" dirty="0">
                <a:latin typeface="Gulim"/>
                <a:cs typeface="Gulim"/>
              </a:rPr>
              <a:t>방법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spc="-20" dirty="0">
                <a:latin typeface="Gulim"/>
                <a:cs typeface="Gulim"/>
              </a:rPr>
              <a:t>그래프의</a:t>
            </a:r>
            <a:r>
              <a:rPr sz="2400" spc="-16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탐색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dirty="0">
                <a:latin typeface="Gulim"/>
                <a:cs typeface="Gulim"/>
              </a:rPr>
              <a:t>깊이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우선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탐색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dirty="0">
                <a:latin typeface="Gulim"/>
                <a:cs typeface="Gulim"/>
              </a:rPr>
              <a:t>너비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우선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탐색</a:t>
            </a:r>
            <a:endParaRPr sz="2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90" dirty="0"/>
              <a:t>그래프</a:t>
            </a:r>
            <a:r>
              <a:rPr spc="-260" dirty="0"/>
              <a:t> </a:t>
            </a:r>
            <a:r>
              <a:rPr spc="-25" dirty="0">
                <a:latin typeface="Tw Cen MT"/>
                <a:cs typeface="Tw Cen MT"/>
              </a:rPr>
              <a:t>ADT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71625" y="2100465"/>
            <a:ext cx="7937500" cy="2918460"/>
            <a:chOff x="1371625" y="2100465"/>
            <a:chExt cx="7937500" cy="2918460"/>
          </a:xfrm>
        </p:grpSpPr>
        <p:sp>
          <p:nvSpPr>
            <p:cNvPr id="4" name="object 4"/>
            <p:cNvSpPr/>
            <p:nvPr/>
          </p:nvSpPr>
          <p:spPr>
            <a:xfrm>
              <a:off x="1383804" y="2114169"/>
              <a:ext cx="7912100" cy="2891155"/>
            </a:xfrm>
            <a:custGeom>
              <a:avLst/>
              <a:gdLst/>
              <a:ahLst/>
              <a:cxnLst/>
              <a:rect l="l" t="t" r="r" b="b"/>
              <a:pathLst>
                <a:path w="7912100" h="2891154">
                  <a:moveTo>
                    <a:pt x="7911566" y="0"/>
                  </a:moveTo>
                  <a:lnTo>
                    <a:pt x="0" y="0"/>
                  </a:lnTo>
                  <a:lnTo>
                    <a:pt x="0" y="2891002"/>
                  </a:lnTo>
                  <a:lnTo>
                    <a:pt x="7911566" y="2891002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1625" y="2100465"/>
              <a:ext cx="7937500" cy="2918460"/>
            </a:xfrm>
            <a:custGeom>
              <a:avLst/>
              <a:gdLst/>
              <a:ahLst/>
              <a:cxnLst/>
              <a:rect l="l" t="t" r="r" b="b"/>
              <a:pathLst>
                <a:path w="7937500" h="2918460">
                  <a:moveTo>
                    <a:pt x="7937449" y="0"/>
                  </a:moveTo>
                  <a:lnTo>
                    <a:pt x="0" y="0"/>
                  </a:lnTo>
                  <a:lnTo>
                    <a:pt x="0" y="2918409"/>
                  </a:lnTo>
                  <a:lnTo>
                    <a:pt x="7937449" y="2918409"/>
                  </a:lnTo>
                  <a:lnTo>
                    <a:pt x="7937449" y="2904705"/>
                  </a:lnTo>
                  <a:lnTo>
                    <a:pt x="25882" y="2904705"/>
                  </a:lnTo>
                  <a:lnTo>
                    <a:pt x="12179" y="2892526"/>
                  </a:lnTo>
                  <a:lnTo>
                    <a:pt x="25882" y="2892526"/>
                  </a:lnTo>
                  <a:lnTo>
                    <a:pt x="25882" y="25895"/>
                  </a:lnTo>
                  <a:lnTo>
                    <a:pt x="12179" y="25895"/>
                  </a:lnTo>
                  <a:lnTo>
                    <a:pt x="25882" y="13703"/>
                  </a:lnTo>
                  <a:lnTo>
                    <a:pt x="7937449" y="13703"/>
                  </a:lnTo>
                  <a:lnTo>
                    <a:pt x="7937449" y="0"/>
                  </a:lnTo>
                  <a:close/>
                </a:path>
                <a:path w="7937500" h="2918460">
                  <a:moveTo>
                    <a:pt x="25882" y="2892526"/>
                  </a:moveTo>
                  <a:lnTo>
                    <a:pt x="12179" y="2892526"/>
                  </a:lnTo>
                  <a:lnTo>
                    <a:pt x="25882" y="2904705"/>
                  </a:lnTo>
                  <a:lnTo>
                    <a:pt x="25882" y="2892526"/>
                  </a:lnTo>
                  <a:close/>
                </a:path>
                <a:path w="7937500" h="2918460">
                  <a:moveTo>
                    <a:pt x="7911566" y="2892526"/>
                  </a:moveTo>
                  <a:lnTo>
                    <a:pt x="25882" y="2892526"/>
                  </a:lnTo>
                  <a:lnTo>
                    <a:pt x="25882" y="2904705"/>
                  </a:lnTo>
                  <a:lnTo>
                    <a:pt x="7911566" y="2904705"/>
                  </a:lnTo>
                  <a:lnTo>
                    <a:pt x="7911566" y="2892526"/>
                  </a:lnTo>
                  <a:close/>
                </a:path>
                <a:path w="7937500" h="2918460">
                  <a:moveTo>
                    <a:pt x="7911566" y="13703"/>
                  </a:moveTo>
                  <a:lnTo>
                    <a:pt x="7911566" y="2904705"/>
                  </a:lnTo>
                  <a:lnTo>
                    <a:pt x="7923745" y="2892526"/>
                  </a:lnTo>
                  <a:lnTo>
                    <a:pt x="7937449" y="2892526"/>
                  </a:lnTo>
                  <a:lnTo>
                    <a:pt x="7937449" y="25895"/>
                  </a:lnTo>
                  <a:lnTo>
                    <a:pt x="7923745" y="25895"/>
                  </a:lnTo>
                  <a:lnTo>
                    <a:pt x="7911566" y="13703"/>
                  </a:lnTo>
                  <a:close/>
                </a:path>
                <a:path w="7937500" h="2918460">
                  <a:moveTo>
                    <a:pt x="7937449" y="2892526"/>
                  </a:moveTo>
                  <a:lnTo>
                    <a:pt x="7923745" y="2892526"/>
                  </a:lnTo>
                  <a:lnTo>
                    <a:pt x="7911566" y="2904705"/>
                  </a:lnTo>
                  <a:lnTo>
                    <a:pt x="7937449" y="2904705"/>
                  </a:lnTo>
                  <a:lnTo>
                    <a:pt x="7937449" y="2892526"/>
                  </a:lnTo>
                  <a:close/>
                </a:path>
                <a:path w="7937500" h="2918460">
                  <a:moveTo>
                    <a:pt x="25882" y="13703"/>
                  </a:moveTo>
                  <a:lnTo>
                    <a:pt x="12179" y="25895"/>
                  </a:lnTo>
                  <a:lnTo>
                    <a:pt x="25882" y="25895"/>
                  </a:lnTo>
                  <a:lnTo>
                    <a:pt x="25882" y="13703"/>
                  </a:lnTo>
                  <a:close/>
                </a:path>
                <a:path w="7937500" h="2918460">
                  <a:moveTo>
                    <a:pt x="7911566" y="13703"/>
                  </a:moveTo>
                  <a:lnTo>
                    <a:pt x="25882" y="13703"/>
                  </a:lnTo>
                  <a:lnTo>
                    <a:pt x="25882" y="25895"/>
                  </a:lnTo>
                  <a:lnTo>
                    <a:pt x="7911566" y="25895"/>
                  </a:lnTo>
                  <a:lnTo>
                    <a:pt x="7911566" y="13703"/>
                  </a:lnTo>
                  <a:close/>
                </a:path>
                <a:path w="7937500" h="2918460">
                  <a:moveTo>
                    <a:pt x="7937449" y="13703"/>
                  </a:moveTo>
                  <a:lnTo>
                    <a:pt x="7911566" y="13703"/>
                  </a:lnTo>
                  <a:lnTo>
                    <a:pt x="7923745" y="25895"/>
                  </a:lnTo>
                  <a:lnTo>
                    <a:pt x="7937449" y="25895"/>
                  </a:lnTo>
                  <a:lnTo>
                    <a:pt x="7937449" y="137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62443" y="2078258"/>
            <a:ext cx="2680970" cy="5372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78105" indent="-73025">
              <a:lnSpc>
                <a:spcPct val="100000"/>
              </a:lnSpc>
              <a:spcBef>
                <a:spcPts val="434"/>
              </a:spcBef>
              <a:buSzPct val="92857"/>
              <a:buFont typeface="Trebuchet MS"/>
              <a:buChar char="∙"/>
              <a:tabLst>
                <a:tab pos="78105" algn="l"/>
              </a:tabLst>
            </a:pPr>
            <a:r>
              <a:rPr sz="1400" dirty="0">
                <a:latin typeface="Gulim"/>
                <a:cs typeface="Gulim"/>
              </a:rPr>
              <a:t>객체</a:t>
            </a:r>
            <a:r>
              <a:rPr sz="2100" baseline="-3968" dirty="0">
                <a:latin typeface="Trebuchet MS"/>
                <a:cs typeface="Trebuchet MS"/>
              </a:rPr>
              <a:t>:</a:t>
            </a:r>
            <a:r>
              <a:rPr sz="2100" spc="-22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정점의</a:t>
            </a:r>
            <a:r>
              <a:rPr sz="1400" spc="-5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집합과</a:t>
            </a:r>
            <a:r>
              <a:rPr sz="1400" spc="-6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간선의</a:t>
            </a:r>
            <a:r>
              <a:rPr sz="1400" spc="-60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집합</a:t>
            </a:r>
            <a:endParaRPr sz="1400">
              <a:latin typeface="Gulim"/>
              <a:cs typeface="Gulim"/>
            </a:endParaRPr>
          </a:p>
          <a:p>
            <a:pPr marL="78105" indent="-73025">
              <a:lnSpc>
                <a:spcPct val="100000"/>
              </a:lnSpc>
              <a:spcBef>
                <a:spcPts val="334"/>
              </a:spcBef>
              <a:buSzPct val="92857"/>
              <a:buFont typeface="Trebuchet MS"/>
              <a:buChar char="∙"/>
              <a:tabLst>
                <a:tab pos="78105" algn="l"/>
              </a:tabLst>
            </a:pPr>
            <a:r>
              <a:rPr sz="1400" spc="-25" dirty="0">
                <a:latin typeface="Gulim"/>
                <a:cs typeface="Gulim"/>
              </a:rPr>
              <a:t>연산</a:t>
            </a:r>
            <a:r>
              <a:rPr sz="2100" spc="-37" baseline="-3968" dirty="0">
                <a:latin typeface="Trebuchet MS"/>
                <a:cs typeface="Trebuchet MS"/>
              </a:rPr>
              <a:t>:</a:t>
            </a:r>
            <a:endParaRPr sz="2100" baseline="-3968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15719" y="2647322"/>
            <a:ext cx="16097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0" indent="-120650">
              <a:lnSpc>
                <a:spcPct val="100000"/>
              </a:lnSpc>
              <a:spcBef>
                <a:spcPts val="100"/>
              </a:spcBef>
              <a:buFont typeface="Gulim"/>
              <a:buChar char="▪"/>
              <a:tabLst>
                <a:tab pos="133350" algn="l"/>
              </a:tabLst>
            </a:pPr>
            <a:r>
              <a:rPr sz="1400" dirty="0">
                <a:latin typeface="Trebuchet MS"/>
                <a:cs typeface="Trebuchet MS"/>
              </a:rPr>
              <a:t>create_graph()</a:t>
            </a:r>
            <a:r>
              <a:rPr sz="1400" spc="-9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::=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89249" y="2632095"/>
            <a:ext cx="15678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Gulim"/>
                <a:cs typeface="Gulim"/>
              </a:rPr>
              <a:t>그래프를</a:t>
            </a:r>
            <a:r>
              <a:rPr sz="1400" spc="-60" dirty="0">
                <a:latin typeface="Gulim"/>
                <a:cs typeface="Gulim"/>
              </a:rPr>
              <a:t> </a:t>
            </a:r>
            <a:r>
              <a:rPr sz="1400" spc="-10" dirty="0">
                <a:latin typeface="Gulim"/>
                <a:cs typeface="Gulim"/>
              </a:rPr>
              <a:t>생성한다</a:t>
            </a:r>
            <a:r>
              <a:rPr sz="2100" spc="-15" baseline="-3968" dirty="0">
                <a:latin typeface="Trebuchet MS"/>
                <a:cs typeface="Trebuchet MS"/>
              </a:rPr>
              <a:t>.</a:t>
            </a:r>
            <a:endParaRPr sz="2100" baseline="-3968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15719" y="2861175"/>
            <a:ext cx="5017135" cy="207263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33350" indent="-120650">
              <a:lnSpc>
                <a:spcPct val="100000"/>
              </a:lnSpc>
              <a:spcBef>
                <a:spcPts val="434"/>
              </a:spcBef>
              <a:buFont typeface="Gulim"/>
              <a:buChar char="▪"/>
              <a:tabLst>
                <a:tab pos="133350" algn="l"/>
              </a:tabLst>
            </a:pPr>
            <a:r>
              <a:rPr sz="1400" dirty="0">
                <a:latin typeface="Trebuchet MS"/>
                <a:cs typeface="Trebuchet MS"/>
              </a:rPr>
              <a:t>init(g)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::=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2100" baseline="3968" dirty="0">
                <a:latin typeface="Gulim"/>
                <a:cs typeface="Gulim"/>
              </a:rPr>
              <a:t>그래프</a:t>
            </a:r>
            <a:r>
              <a:rPr sz="2100" spc="-82" baseline="3968" dirty="0">
                <a:latin typeface="Gulim"/>
                <a:cs typeface="Gulim"/>
              </a:rPr>
              <a:t> </a:t>
            </a:r>
            <a:r>
              <a:rPr sz="1400" dirty="0">
                <a:latin typeface="Trebuchet MS"/>
                <a:cs typeface="Trebuchet MS"/>
              </a:rPr>
              <a:t>g</a:t>
            </a:r>
            <a:r>
              <a:rPr sz="2100" baseline="3968" dirty="0">
                <a:latin typeface="Gulim"/>
                <a:cs typeface="Gulim"/>
              </a:rPr>
              <a:t>를</a:t>
            </a:r>
            <a:r>
              <a:rPr sz="2100" spc="-97" baseline="3968" dirty="0">
                <a:latin typeface="Gulim"/>
                <a:cs typeface="Gulim"/>
              </a:rPr>
              <a:t> </a:t>
            </a:r>
            <a:r>
              <a:rPr sz="2100" spc="-15" baseline="3968" dirty="0">
                <a:latin typeface="Gulim"/>
                <a:cs typeface="Gulim"/>
              </a:rPr>
              <a:t>초기화한다</a:t>
            </a:r>
            <a:r>
              <a:rPr sz="1400" spc="-10" dirty="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marL="133350" indent="-120650">
              <a:lnSpc>
                <a:spcPct val="100000"/>
              </a:lnSpc>
              <a:spcBef>
                <a:spcPts val="334"/>
              </a:spcBef>
              <a:buFont typeface="Gulim"/>
              <a:buChar char="▪"/>
              <a:tabLst>
                <a:tab pos="133350" algn="l"/>
              </a:tabLst>
            </a:pPr>
            <a:r>
              <a:rPr sz="1400" dirty="0">
                <a:latin typeface="Trebuchet MS"/>
                <a:cs typeface="Trebuchet MS"/>
              </a:rPr>
              <a:t>insert_vertex(g,v)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::=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2100" baseline="3968" dirty="0">
                <a:latin typeface="Gulim"/>
                <a:cs typeface="Gulim"/>
              </a:rPr>
              <a:t>그래프</a:t>
            </a:r>
            <a:r>
              <a:rPr sz="2100" spc="-112" baseline="3968" dirty="0">
                <a:latin typeface="Gulim"/>
                <a:cs typeface="Gulim"/>
              </a:rPr>
              <a:t> </a:t>
            </a:r>
            <a:r>
              <a:rPr sz="1400" dirty="0">
                <a:latin typeface="Trebuchet MS"/>
                <a:cs typeface="Trebuchet MS"/>
              </a:rPr>
              <a:t>g</a:t>
            </a:r>
            <a:r>
              <a:rPr sz="2100" baseline="3968" dirty="0">
                <a:latin typeface="Gulim"/>
                <a:cs typeface="Gulim"/>
              </a:rPr>
              <a:t>에</a:t>
            </a:r>
            <a:r>
              <a:rPr sz="2100" spc="-104" baseline="3968" dirty="0">
                <a:latin typeface="Gulim"/>
                <a:cs typeface="Gulim"/>
              </a:rPr>
              <a:t> </a:t>
            </a:r>
            <a:r>
              <a:rPr sz="2100" baseline="3968" dirty="0">
                <a:latin typeface="Gulim"/>
                <a:cs typeface="Gulim"/>
              </a:rPr>
              <a:t>정점</a:t>
            </a:r>
            <a:r>
              <a:rPr sz="2100" spc="-112" baseline="3968" dirty="0">
                <a:latin typeface="Gulim"/>
                <a:cs typeface="Gulim"/>
              </a:rPr>
              <a:t> </a:t>
            </a:r>
            <a:r>
              <a:rPr sz="1400" dirty="0">
                <a:latin typeface="Trebuchet MS"/>
                <a:cs typeface="Trebuchet MS"/>
              </a:rPr>
              <a:t>v</a:t>
            </a:r>
            <a:r>
              <a:rPr sz="2100" baseline="3968" dirty="0">
                <a:latin typeface="Gulim"/>
                <a:cs typeface="Gulim"/>
              </a:rPr>
              <a:t>를</a:t>
            </a:r>
            <a:r>
              <a:rPr sz="2100" spc="-75" baseline="3968" dirty="0">
                <a:latin typeface="Gulim"/>
                <a:cs typeface="Gulim"/>
              </a:rPr>
              <a:t> </a:t>
            </a:r>
            <a:r>
              <a:rPr sz="2100" spc="-15" baseline="3968" dirty="0">
                <a:latin typeface="Gulim"/>
                <a:cs typeface="Gulim"/>
              </a:rPr>
              <a:t>삽입한다</a:t>
            </a:r>
            <a:r>
              <a:rPr sz="1400" spc="-10" dirty="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marL="133350" indent="-120650">
              <a:lnSpc>
                <a:spcPct val="100000"/>
              </a:lnSpc>
              <a:spcBef>
                <a:spcPts val="334"/>
              </a:spcBef>
              <a:buFont typeface="Gulim"/>
              <a:buChar char="▪"/>
              <a:tabLst>
                <a:tab pos="133350" algn="l"/>
              </a:tabLst>
            </a:pPr>
            <a:r>
              <a:rPr sz="1400" spc="-10" dirty="0">
                <a:latin typeface="Trebuchet MS"/>
                <a:cs typeface="Trebuchet MS"/>
              </a:rPr>
              <a:t>insert_edge(g,u,v)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::=</a:t>
            </a:r>
            <a:r>
              <a:rPr sz="1400" spc="20" dirty="0">
                <a:latin typeface="Trebuchet MS"/>
                <a:cs typeface="Trebuchet MS"/>
              </a:rPr>
              <a:t> </a:t>
            </a:r>
            <a:r>
              <a:rPr sz="2100" baseline="3968" dirty="0">
                <a:latin typeface="Gulim"/>
                <a:cs typeface="Gulim"/>
              </a:rPr>
              <a:t>그래프</a:t>
            </a:r>
            <a:r>
              <a:rPr sz="2100" spc="-67" baseline="3968" dirty="0">
                <a:latin typeface="Gulim"/>
                <a:cs typeface="Gulim"/>
              </a:rPr>
              <a:t> </a:t>
            </a:r>
            <a:r>
              <a:rPr sz="1400" dirty="0">
                <a:latin typeface="Trebuchet MS"/>
                <a:cs typeface="Trebuchet MS"/>
              </a:rPr>
              <a:t>g</a:t>
            </a:r>
            <a:r>
              <a:rPr sz="2100" baseline="3968" dirty="0">
                <a:latin typeface="Gulim"/>
                <a:cs typeface="Gulim"/>
              </a:rPr>
              <a:t>에</a:t>
            </a:r>
            <a:r>
              <a:rPr sz="2100" spc="-52" baseline="3968" dirty="0">
                <a:latin typeface="Gulim"/>
                <a:cs typeface="Gulim"/>
              </a:rPr>
              <a:t> </a:t>
            </a:r>
            <a:r>
              <a:rPr sz="2100" baseline="3968" dirty="0">
                <a:latin typeface="Gulim"/>
                <a:cs typeface="Gulim"/>
              </a:rPr>
              <a:t>간선</a:t>
            </a:r>
            <a:r>
              <a:rPr sz="2100" spc="-67" baseline="3968" dirty="0">
                <a:latin typeface="Gulim"/>
                <a:cs typeface="Gulim"/>
              </a:rPr>
              <a:t> </a:t>
            </a:r>
            <a:r>
              <a:rPr sz="1400" dirty="0">
                <a:latin typeface="Trebuchet MS"/>
                <a:cs typeface="Trebuchet MS"/>
              </a:rPr>
              <a:t>(u,v)</a:t>
            </a:r>
            <a:r>
              <a:rPr sz="2100" baseline="3968" dirty="0">
                <a:latin typeface="Gulim"/>
                <a:cs typeface="Gulim"/>
              </a:rPr>
              <a:t>를</a:t>
            </a:r>
            <a:r>
              <a:rPr sz="2100" spc="-67" baseline="3968" dirty="0">
                <a:latin typeface="Gulim"/>
                <a:cs typeface="Gulim"/>
              </a:rPr>
              <a:t> </a:t>
            </a:r>
            <a:r>
              <a:rPr sz="2100" spc="-15" baseline="3968" dirty="0">
                <a:latin typeface="Gulim"/>
                <a:cs typeface="Gulim"/>
              </a:rPr>
              <a:t>삽입한다</a:t>
            </a:r>
            <a:r>
              <a:rPr sz="1400" spc="-10" dirty="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marL="133350" indent="-120650">
              <a:lnSpc>
                <a:spcPct val="100000"/>
              </a:lnSpc>
              <a:spcBef>
                <a:spcPts val="334"/>
              </a:spcBef>
              <a:buFont typeface="Gulim"/>
              <a:buChar char="▪"/>
              <a:tabLst>
                <a:tab pos="133350" algn="l"/>
              </a:tabLst>
            </a:pPr>
            <a:r>
              <a:rPr sz="1400" dirty="0">
                <a:latin typeface="Trebuchet MS"/>
                <a:cs typeface="Trebuchet MS"/>
              </a:rPr>
              <a:t>delete_vertex(g,v)</a:t>
            </a:r>
            <a:r>
              <a:rPr sz="1400" spc="-5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::=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2100" baseline="3968" dirty="0">
                <a:latin typeface="Gulim"/>
                <a:cs typeface="Gulim"/>
              </a:rPr>
              <a:t>그래프</a:t>
            </a:r>
            <a:r>
              <a:rPr sz="2100" spc="-89" baseline="3968" dirty="0">
                <a:latin typeface="Gulim"/>
                <a:cs typeface="Gulim"/>
              </a:rPr>
              <a:t> </a:t>
            </a:r>
            <a:r>
              <a:rPr sz="1400" dirty="0">
                <a:latin typeface="Trebuchet MS"/>
                <a:cs typeface="Trebuchet MS"/>
              </a:rPr>
              <a:t>g</a:t>
            </a:r>
            <a:r>
              <a:rPr sz="2100" baseline="3968" dirty="0">
                <a:latin typeface="Gulim"/>
                <a:cs typeface="Gulim"/>
              </a:rPr>
              <a:t>의</a:t>
            </a:r>
            <a:r>
              <a:rPr sz="2100" spc="-112" baseline="3968" dirty="0">
                <a:latin typeface="Gulim"/>
                <a:cs typeface="Gulim"/>
              </a:rPr>
              <a:t> </a:t>
            </a:r>
            <a:r>
              <a:rPr sz="2100" baseline="3968" dirty="0">
                <a:latin typeface="Gulim"/>
                <a:cs typeface="Gulim"/>
              </a:rPr>
              <a:t>정점</a:t>
            </a:r>
            <a:r>
              <a:rPr sz="2100" spc="-97" baseline="3968" dirty="0">
                <a:latin typeface="Gulim"/>
                <a:cs typeface="Gulim"/>
              </a:rPr>
              <a:t> </a:t>
            </a:r>
            <a:r>
              <a:rPr sz="1400" dirty="0">
                <a:latin typeface="Trebuchet MS"/>
                <a:cs typeface="Trebuchet MS"/>
              </a:rPr>
              <a:t>v</a:t>
            </a:r>
            <a:r>
              <a:rPr sz="2100" baseline="3968" dirty="0">
                <a:latin typeface="Gulim"/>
                <a:cs typeface="Gulim"/>
              </a:rPr>
              <a:t>를</a:t>
            </a:r>
            <a:r>
              <a:rPr sz="2100" spc="-89" baseline="3968" dirty="0">
                <a:latin typeface="Gulim"/>
                <a:cs typeface="Gulim"/>
              </a:rPr>
              <a:t> </a:t>
            </a:r>
            <a:r>
              <a:rPr sz="2100" spc="-15" baseline="3968" dirty="0">
                <a:latin typeface="Gulim"/>
                <a:cs typeface="Gulim"/>
              </a:rPr>
              <a:t>삭제한다</a:t>
            </a:r>
            <a:r>
              <a:rPr sz="1400" spc="-10" dirty="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marL="133350" indent="-120650">
              <a:lnSpc>
                <a:spcPct val="100000"/>
              </a:lnSpc>
              <a:spcBef>
                <a:spcPts val="330"/>
              </a:spcBef>
              <a:buFont typeface="Gulim"/>
              <a:buChar char="▪"/>
              <a:tabLst>
                <a:tab pos="133350" algn="l"/>
              </a:tabLst>
            </a:pPr>
            <a:r>
              <a:rPr sz="1400" dirty="0">
                <a:latin typeface="Trebuchet MS"/>
                <a:cs typeface="Trebuchet MS"/>
              </a:rPr>
              <a:t>delete_edge(g,u,v)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::=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2100" baseline="3968" dirty="0">
                <a:latin typeface="Gulim"/>
                <a:cs typeface="Gulim"/>
              </a:rPr>
              <a:t>그래프</a:t>
            </a:r>
            <a:r>
              <a:rPr sz="2100" spc="-97" baseline="3968" dirty="0">
                <a:latin typeface="Gulim"/>
                <a:cs typeface="Gulim"/>
              </a:rPr>
              <a:t> </a:t>
            </a:r>
            <a:r>
              <a:rPr sz="1400" dirty="0">
                <a:latin typeface="Trebuchet MS"/>
                <a:cs typeface="Trebuchet MS"/>
              </a:rPr>
              <a:t>g</a:t>
            </a:r>
            <a:r>
              <a:rPr sz="2100" baseline="3968" dirty="0">
                <a:latin typeface="Gulim"/>
                <a:cs typeface="Gulim"/>
              </a:rPr>
              <a:t>의</a:t>
            </a:r>
            <a:r>
              <a:rPr sz="2100" spc="-112" baseline="3968" dirty="0">
                <a:latin typeface="Gulim"/>
                <a:cs typeface="Gulim"/>
              </a:rPr>
              <a:t> </a:t>
            </a:r>
            <a:r>
              <a:rPr sz="2100" baseline="3968" dirty="0">
                <a:latin typeface="Gulim"/>
                <a:cs typeface="Gulim"/>
              </a:rPr>
              <a:t>간선</a:t>
            </a:r>
            <a:r>
              <a:rPr sz="2100" spc="-97" baseline="3968" dirty="0">
                <a:latin typeface="Gulim"/>
                <a:cs typeface="Gulim"/>
              </a:rPr>
              <a:t> </a:t>
            </a:r>
            <a:r>
              <a:rPr sz="1400" dirty="0">
                <a:latin typeface="Trebuchet MS"/>
                <a:cs typeface="Trebuchet MS"/>
              </a:rPr>
              <a:t>(u,v)</a:t>
            </a:r>
            <a:r>
              <a:rPr sz="2100" baseline="3968" dirty="0">
                <a:latin typeface="Gulim"/>
                <a:cs typeface="Gulim"/>
              </a:rPr>
              <a:t>를</a:t>
            </a:r>
            <a:r>
              <a:rPr sz="2100" spc="-112" baseline="3968" dirty="0">
                <a:latin typeface="Gulim"/>
                <a:cs typeface="Gulim"/>
              </a:rPr>
              <a:t> </a:t>
            </a:r>
            <a:r>
              <a:rPr sz="2100" spc="-15" baseline="3968" dirty="0">
                <a:latin typeface="Gulim"/>
                <a:cs typeface="Gulim"/>
              </a:rPr>
              <a:t>삭제한다</a:t>
            </a:r>
            <a:r>
              <a:rPr sz="1400" spc="-10" dirty="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marL="133350" indent="-120650">
              <a:lnSpc>
                <a:spcPct val="100000"/>
              </a:lnSpc>
              <a:spcBef>
                <a:spcPts val="335"/>
              </a:spcBef>
              <a:buFont typeface="Gulim"/>
              <a:buChar char="▪"/>
              <a:tabLst>
                <a:tab pos="133350" algn="l"/>
              </a:tabLst>
            </a:pPr>
            <a:r>
              <a:rPr sz="1400" dirty="0">
                <a:latin typeface="Trebuchet MS"/>
                <a:cs typeface="Trebuchet MS"/>
              </a:rPr>
              <a:t>is_empty(g)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::=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2100" baseline="3968" dirty="0">
                <a:latin typeface="Gulim"/>
                <a:cs typeface="Gulim"/>
              </a:rPr>
              <a:t>그래프</a:t>
            </a:r>
            <a:r>
              <a:rPr sz="2100" spc="-104" baseline="3968" dirty="0">
                <a:latin typeface="Gulim"/>
                <a:cs typeface="Gulim"/>
              </a:rPr>
              <a:t> </a:t>
            </a:r>
            <a:r>
              <a:rPr sz="1400" dirty="0">
                <a:latin typeface="Trebuchet MS"/>
                <a:cs typeface="Trebuchet MS"/>
              </a:rPr>
              <a:t>g</a:t>
            </a:r>
            <a:r>
              <a:rPr sz="2100" baseline="3968" dirty="0">
                <a:latin typeface="Gulim"/>
                <a:cs typeface="Gulim"/>
              </a:rPr>
              <a:t>가</a:t>
            </a:r>
            <a:r>
              <a:rPr sz="2100" spc="-82" baseline="3968" dirty="0">
                <a:latin typeface="Gulim"/>
                <a:cs typeface="Gulim"/>
              </a:rPr>
              <a:t> </a:t>
            </a:r>
            <a:r>
              <a:rPr sz="2100" baseline="3968" dirty="0">
                <a:latin typeface="Gulim"/>
                <a:cs typeface="Gulim"/>
              </a:rPr>
              <a:t>공백</a:t>
            </a:r>
            <a:r>
              <a:rPr sz="2100" spc="-104" baseline="3968" dirty="0">
                <a:latin typeface="Gulim"/>
                <a:cs typeface="Gulim"/>
              </a:rPr>
              <a:t> </a:t>
            </a:r>
            <a:r>
              <a:rPr sz="2100" baseline="3968" dirty="0">
                <a:latin typeface="Gulim"/>
                <a:cs typeface="Gulim"/>
              </a:rPr>
              <a:t>상태인지</a:t>
            </a:r>
            <a:r>
              <a:rPr sz="2100" spc="-82" baseline="3968" dirty="0">
                <a:latin typeface="Gulim"/>
                <a:cs typeface="Gulim"/>
              </a:rPr>
              <a:t> </a:t>
            </a:r>
            <a:r>
              <a:rPr sz="2100" spc="-15" baseline="3968" dirty="0">
                <a:latin typeface="Gulim"/>
                <a:cs typeface="Gulim"/>
              </a:rPr>
              <a:t>확인한다</a:t>
            </a:r>
            <a:r>
              <a:rPr sz="1400" spc="-10" dirty="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marL="133350" indent="-120650">
              <a:lnSpc>
                <a:spcPct val="100000"/>
              </a:lnSpc>
              <a:spcBef>
                <a:spcPts val="215"/>
              </a:spcBef>
              <a:buFont typeface="Gulim"/>
              <a:buChar char="▪"/>
              <a:tabLst>
                <a:tab pos="133350" algn="l"/>
              </a:tabLst>
            </a:pPr>
            <a:r>
              <a:rPr sz="2100" baseline="-3968" dirty="0">
                <a:latin typeface="Trebuchet MS"/>
                <a:cs typeface="Trebuchet MS"/>
              </a:rPr>
              <a:t>adjacent(v)</a:t>
            </a:r>
            <a:r>
              <a:rPr sz="2100" spc="-60" baseline="-3968" dirty="0">
                <a:latin typeface="Trebuchet MS"/>
                <a:cs typeface="Trebuchet MS"/>
              </a:rPr>
              <a:t> </a:t>
            </a:r>
            <a:r>
              <a:rPr sz="2100" baseline="-3968" dirty="0">
                <a:latin typeface="Trebuchet MS"/>
                <a:cs typeface="Trebuchet MS"/>
              </a:rPr>
              <a:t>::=</a:t>
            </a:r>
            <a:r>
              <a:rPr sz="2100" spc="-30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정점</a:t>
            </a:r>
            <a:r>
              <a:rPr sz="1400" spc="-60" dirty="0">
                <a:latin typeface="Gulim"/>
                <a:cs typeface="Gulim"/>
              </a:rPr>
              <a:t> </a:t>
            </a:r>
            <a:r>
              <a:rPr sz="2100" baseline="-3968" dirty="0">
                <a:latin typeface="Trebuchet MS"/>
                <a:cs typeface="Trebuchet MS"/>
              </a:rPr>
              <a:t>v</a:t>
            </a:r>
            <a:r>
              <a:rPr sz="1400" dirty="0">
                <a:latin typeface="Gulim"/>
                <a:cs typeface="Gulim"/>
              </a:rPr>
              <a:t>에</a:t>
            </a:r>
            <a:r>
              <a:rPr sz="1400" spc="-4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인접한</a:t>
            </a:r>
            <a:r>
              <a:rPr sz="1400" spc="-7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정점들의</a:t>
            </a:r>
            <a:r>
              <a:rPr sz="1400" spc="-6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리스트를</a:t>
            </a:r>
            <a:r>
              <a:rPr sz="1400" spc="-70" dirty="0">
                <a:latin typeface="Gulim"/>
                <a:cs typeface="Gulim"/>
              </a:rPr>
              <a:t> </a:t>
            </a:r>
            <a:r>
              <a:rPr sz="1400" spc="-10" dirty="0">
                <a:latin typeface="Gulim"/>
                <a:cs typeface="Gulim"/>
              </a:rPr>
              <a:t>반환한다</a:t>
            </a:r>
            <a:r>
              <a:rPr sz="2100" spc="-15" baseline="-3968" dirty="0">
                <a:latin typeface="Trebuchet MS"/>
                <a:cs typeface="Trebuchet MS"/>
              </a:rPr>
              <a:t>.</a:t>
            </a:r>
            <a:endParaRPr sz="2100" baseline="-3968">
              <a:latin typeface="Trebuchet MS"/>
              <a:cs typeface="Trebuchet MS"/>
            </a:endParaRPr>
          </a:p>
          <a:p>
            <a:pPr marL="133350" indent="-120650">
              <a:lnSpc>
                <a:spcPct val="100000"/>
              </a:lnSpc>
              <a:spcBef>
                <a:spcPts val="455"/>
              </a:spcBef>
              <a:buFont typeface="Gulim"/>
              <a:buChar char="▪"/>
              <a:tabLst>
                <a:tab pos="133350" algn="l"/>
              </a:tabLst>
            </a:pPr>
            <a:r>
              <a:rPr sz="1400" spc="-10" dirty="0">
                <a:latin typeface="Trebuchet MS"/>
                <a:cs typeface="Trebuchet MS"/>
              </a:rPr>
              <a:t>destroy_graph(g)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::=</a:t>
            </a:r>
            <a:r>
              <a:rPr sz="1400" spc="-195" dirty="0">
                <a:latin typeface="Trebuchet MS"/>
                <a:cs typeface="Trebuchet MS"/>
              </a:rPr>
              <a:t> </a:t>
            </a:r>
            <a:r>
              <a:rPr sz="2100" baseline="3968" dirty="0">
                <a:latin typeface="Gulim"/>
                <a:cs typeface="Gulim"/>
              </a:rPr>
              <a:t>그래프</a:t>
            </a:r>
            <a:r>
              <a:rPr sz="2100" spc="-44" baseline="3968" dirty="0">
                <a:latin typeface="Gulim"/>
                <a:cs typeface="Gulim"/>
              </a:rPr>
              <a:t> </a:t>
            </a:r>
            <a:r>
              <a:rPr sz="1400" dirty="0">
                <a:latin typeface="Trebuchet MS"/>
                <a:cs typeface="Trebuchet MS"/>
              </a:rPr>
              <a:t>g</a:t>
            </a:r>
            <a:r>
              <a:rPr sz="2100" baseline="3968" dirty="0">
                <a:latin typeface="Gulim"/>
                <a:cs typeface="Gulim"/>
              </a:rPr>
              <a:t>를</a:t>
            </a:r>
            <a:r>
              <a:rPr sz="2100" spc="-30" baseline="3968" dirty="0">
                <a:latin typeface="Gulim"/>
                <a:cs typeface="Gulim"/>
              </a:rPr>
              <a:t> </a:t>
            </a:r>
            <a:r>
              <a:rPr sz="2100" spc="-15" baseline="3968" dirty="0">
                <a:latin typeface="Gulim"/>
                <a:cs typeface="Gulim"/>
              </a:rPr>
              <a:t>제거한다</a:t>
            </a:r>
            <a:r>
              <a:rPr sz="1400" spc="-10" dirty="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100"/>
              </a:spcBef>
            </a:pPr>
            <a:r>
              <a:rPr spc="-2190" dirty="0"/>
              <a:t>그래프</a:t>
            </a:r>
            <a:r>
              <a:rPr spc="-250" dirty="0"/>
              <a:t> </a:t>
            </a:r>
            <a:r>
              <a:rPr spc="-1555" dirty="0"/>
              <a:t>표현</a:t>
            </a:r>
            <a:r>
              <a:rPr spc="-1555" dirty="0">
                <a:latin typeface="Tw Cen MT"/>
                <a:cs typeface="Tw Cen MT"/>
              </a:rPr>
              <a:t>(</a:t>
            </a:r>
            <a:r>
              <a:rPr spc="-1555" dirty="0"/>
              <a:t>구현</a:t>
            </a:r>
            <a:r>
              <a:rPr spc="-1555" dirty="0">
                <a:latin typeface="Tw Cen MT"/>
                <a:cs typeface="Tw Cen MT"/>
              </a:rPr>
              <a:t>)</a:t>
            </a:r>
            <a:r>
              <a:rPr spc="10" dirty="0">
                <a:latin typeface="Tw Cen MT"/>
                <a:cs typeface="Tw Cen MT"/>
              </a:rPr>
              <a:t> </a:t>
            </a:r>
            <a:r>
              <a:rPr spc="-1550" dirty="0"/>
              <a:t>방법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2443" y="1890367"/>
            <a:ext cx="7744459" cy="190373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0"/>
              </a:spcBef>
              <a:buClr>
                <a:srgbClr val="DD8046"/>
              </a:buClr>
              <a:buSzPct val="60000"/>
              <a:buFont typeface="Segoe UI Symbol"/>
              <a:buChar char="□"/>
              <a:tabLst>
                <a:tab pos="332105" algn="l"/>
              </a:tabLst>
            </a:pPr>
            <a:r>
              <a:rPr sz="2000" dirty="0">
                <a:latin typeface="Gulim"/>
                <a:cs typeface="Gulim"/>
              </a:rPr>
              <a:t>인접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행렬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Arial"/>
                <a:cs typeface="Arial"/>
              </a:rPr>
              <a:t>(adjacent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matrix)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Gulim"/>
                <a:cs typeface="Gulim"/>
              </a:rPr>
              <a:t>방법</a:t>
            </a:r>
            <a:endParaRPr sz="20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000"/>
              <a:buFont typeface="Segoe UI Symbol"/>
              <a:buChar char="□"/>
              <a:tabLst>
                <a:tab pos="332105" algn="l"/>
              </a:tabLst>
            </a:pPr>
            <a:r>
              <a:rPr sz="2000" dirty="0">
                <a:latin typeface="Gulim"/>
                <a:cs typeface="Gulim"/>
              </a:rPr>
              <a:t>인접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리스트</a:t>
            </a:r>
            <a:r>
              <a:rPr sz="2000" dirty="0">
                <a:latin typeface="Arial"/>
                <a:cs typeface="Arial"/>
              </a:rPr>
              <a:t>(adjacent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list)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Gulim"/>
                <a:cs typeface="Gulim"/>
              </a:rPr>
              <a:t>방법</a:t>
            </a:r>
            <a:endParaRPr sz="20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2000">
              <a:latin typeface="Gulim"/>
              <a:cs typeface="Gulim"/>
            </a:endParaRPr>
          </a:p>
          <a:p>
            <a:pPr marL="12700">
              <a:lnSpc>
                <a:spcPts val="2400"/>
              </a:lnSpc>
            </a:pPr>
            <a:r>
              <a:rPr sz="2000" dirty="0">
                <a:latin typeface="Gulim"/>
                <a:cs typeface="Gulim"/>
              </a:rPr>
              <a:t>스택자료구조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Gulim"/>
                <a:cs typeface="Gulim"/>
              </a:rPr>
              <a:t>큐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Gulim"/>
                <a:cs typeface="Gulim"/>
              </a:rPr>
              <a:t>리스트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Gulim"/>
                <a:cs typeface="Gulim"/>
              </a:rPr>
              <a:t>트리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Gulim"/>
                <a:cs typeface="Gulim"/>
              </a:rPr>
              <a:t>히프자료구조는</a:t>
            </a:r>
            <a:r>
              <a:rPr sz="2000" spc="-155" dirty="0">
                <a:latin typeface="Gulim"/>
                <a:cs typeface="Gulim"/>
              </a:rPr>
              <a:t> </a:t>
            </a:r>
            <a:r>
              <a:rPr sz="2000" dirty="0">
                <a:latin typeface="Arial"/>
                <a:cs typeface="Arial"/>
              </a:rPr>
              <a:t>array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Gulim"/>
                <a:cs typeface="Gulim"/>
              </a:rPr>
              <a:t>또는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Arial"/>
                <a:cs typeface="Arial"/>
              </a:rPr>
              <a:t>linked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list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Gulim"/>
                <a:cs typeface="Gulim"/>
              </a:rPr>
              <a:t>로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구현</a:t>
            </a:r>
            <a:endParaRPr sz="20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5" dirty="0"/>
              <a:t>인접행렬</a:t>
            </a:r>
            <a:r>
              <a:rPr spc="-235" dirty="0"/>
              <a:t> </a:t>
            </a:r>
            <a:r>
              <a:rPr spc="-1560" dirty="0"/>
              <a:t>방법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2443" y="1978101"/>
            <a:ext cx="460946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Segoe UI Symbol"/>
              <a:buChar char="□"/>
              <a:tabLst>
                <a:tab pos="332105" algn="l"/>
              </a:tabLst>
            </a:pPr>
            <a:r>
              <a:rPr sz="2400" spc="-20" dirty="0">
                <a:latin typeface="Gulim"/>
                <a:cs typeface="Gulim"/>
              </a:rPr>
              <a:t>인접행렬</a:t>
            </a:r>
            <a:r>
              <a:rPr sz="2400" spc="-180" dirty="0">
                <a:latin typeface="Gulim"/>
                <a:cs typeface="Gulim"/>
              </a:rPr>
              <a:t> </a:t>
            </a:r>
            <a:r>
              <a:rPr sz="2400" dirty="0">
                <a:latin typeface="Arial"/>
                <a:cs typeface="Arial"/>
              </a:rPr>
              <a:t>(adjacent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matrix)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25" dirty="0">
                <a:latin typeface="Gulim"/>
                <a:cs typeface="Gulim"/>
              </a:rPr>
              <a:t>방법</a:t>
            </a:r>
            <a:endParaRPr sz="2400">
              <a:latin typeface="Gulim"/>
              <a:cs typeface="Guli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7796" y="2344265"/>
            <a:ext cx="323723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100"/>
              </a:spcBef>
            </a:pPr>
            <a:r>
              <a:rPr sz="2000" dirty="0">
                <a:latin typeface="Arial"/>
                <a:cs typeface="Arial"/>
              </a:rPr>
              <a:t>if(</a:t>
            </a:r>
            <a:r>
              <a:rPr sz="2000" dirty="0">
                <a:latin typeface="Gulim"/>
                <a:cs typeface="Gulim"/>
              </a:rPr>
              <a:t>간선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Arial"/>
                <a:cs typeface="Arial"/>
              </a:rPr>
              <a:t>(i,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j)</a:t>
            </a:r>
            <a:r>
              <a:rPr sz="2000" dirty="0">
                <a:latin typeface="Gulim"/>
                <a:cs typeface="Gulim"/>
              </a:rPr>
              <a:t>가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그래프에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존재</a:t>
            </a:r>
            <a:r>
              <a:rPr sz="2000" spc="-25" dirty="0">
                <a:latin typeface="Arial"/>
                <a:cs typeface="Arial"/>
              </a:rPr>
              <a:t>) </a:t>
            </a:r>
            <a:r>
              <a:rPr sz="2000" spc="-10" dirty="0">
                <a:latin typeface="Gulim"/>
                <a:cs typeface="Gulim"/>
              </a:rPr>
              <a:t>그렇지않으면</a:t>
            </a:r>
            <a:endParaRPr sz="2000">
              <a:latin typeface="Gulim"/>
              <a:cs typeface="Guli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03291" y="2344265"/>
            <a:ext cx="1142365" cy="7874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695"/>
              </a:spcBef>
            </a:pPr>
            <a:r>
              <a:rPr sz="2000" dirty="0">
                <a:latin typeface="Arial"/>
                <a:cs typeface="Arial"/>
              </a:rPr>
              <a:t>M[i][j]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1,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dirty="0">
                <a:latin typeface="Arial"/>
                <a:cs typeface="Arial"/>
              </a:rPr>
              <a:t>M[i][j]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0.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4601" y="3616835"/>
            <a:ext cx="5723815" cy="311717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80" dirty="0"/>
              <a:t>인접</a:t>
            </a:r>
            <a:r>
              <a:rPr spc="-254" dirty="0"/>
              <a:t> </a:t>
            </a:r>
            <a:r>
              <a:rPr spc="-2350" dirty="0"/>
              <a:t>리스트</a:t>
            </a:r>
            <a:r>
              <a:rPr spc="-254" dirty="0"/>
              <a:t> </a:t>
            </a:r>
            <a:r>
              <a:rPr spc="-1550" dirty="0"/>
              <a:t>방법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2443" y="1886897"/>
            <a:ext cx="5836285" cy="86360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15"/>
              </a:spcBef>
              <a:buClr>
                <a:srgbClr val="DD8046"/>
              </a:buClr>
              <a:buSzPct val="58333"/>
              <a:buFont typeface="Segoe UI Symbol"/>
              <a:buChar char="□"/>
              <a:tabLst>
                <a:tab pos="332105" algn="l"/>
              </a:tabLst>
            </a:pPr>
            <a:r>
              <a:rPr sz="2400" spc="-20" dirty="0">
                <a:latin typeface="Gulim"/>
                <a:cs typeface="Gulim"/>
              </a:rPr>
              <a:t>인접리스트</a:t>
            </a:r>
            <a:r>
              <a:rPr sz="2400" spc="-180" dirty="0">
                <a:latin typeface="Gulim"/>
                <a:cs typeface="Gulim"/>
              </a:rPr>
              <a:t> </a:t>
            </a:r>
            <a:r>
              <a:rPr sz="2400" dirty="0">
                <a:latin typeface="Arial"/>
                <a:cs typeface="Arial"/>
              </a:rPr>
              <a:t>(adjacency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list)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Gulim"/>
                <a:cs typeface="Gulim"/>
              </a:rPr>
              <a:t>방법</a:t>
            </a:r>
            <a:endParaRPr sz="24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605"/>
              </a:spcBef>
            </a:pPr>
            <a:r>
              <a:rPr sz="1400" spc="-70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400" spc="100" dirty="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latin typeface="Gulim"/>
                <a:cs typeface="Gulim"/>
              </a:rPr>
              <a:t>각</a:t>
            </a:r>
            <a:r>
              <a:rPr sz="2000" spc="-12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정점에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인접한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정점들을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연결리스트로</a:t>
            </a:r>
            <a:r>
              <a:rPr sz="2000" spc="-135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표현</a:t>
            </a:r>
            <a:endParaRPr sz="20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9848" y="3104235"/>
            <a:ext cx="6461569" cy="182020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02345" y="5082857"/>
            <a:ext cx="1574088" cy="152927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62494" y="1629803"/>
            <a:ext cx="8543925" cy="228600"/>
          </a:xfrm>
          <a:custGeom>
            <a:avLst/>
            <a:gdLst/>
            <a:ahLst/>
            <a:cxnLst/>
            <a:rect l="l" t="t" r="r" b="b"/>
            <a:pathLst>
              <a:path w="8543925" h="228600">
                <a:moveTo>
                  <a:pt x="8543340" y="0"/>
                </a:moveTo>
                <a:lnTo>
                  <a:pt x="0" y="0"/>
                </a:lnTo>
                <a:lnTo>
                  <a:pt x="0" y="228473"/>
                </a:lnTo>
                <a:lnTo>
                  <a:pt x="8543340" y="228473"/>
                </a:lnTo>
                <a:lnTo>
                  <a:pt x="8543340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371625" y="2100465"/>
            <a:ext cx="8138795" cy="5106035"/>
            <a:chOff x="1371625" y="2100465"/>
            <a:chExt cx="8138795" cy="510603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83804" y="2114169"/>
              <a:ext cx="7912100" cy="4700905"/>
            </a:xfrm>
            <a:custGeom>
              <a:avLst/>
              <a:gdLst/>
              <a:ahLst/>
              <a:cxnLst/>
              <a:rect l="l" t="t" r="r" b="b"/>
              <a:pathLst>
                <a:path w="7912100" h="4700905">
                  <a:moveTo>
                    <a:pt x="7911566" y="0"/>
                  </a:moveTo>
                  <a:lnTo>
                    <a:pt x="0" y="0"/>
                  </a:lnTo>
                  <a:lnTo>
                    <a:pt x="0" y="4700536"/>
                  </a:lnTo>
                  <a:lnTo>
                    <a:pt x="7911566" y="4700536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1625" y="2100465"/>
              <a:ext cx="7937500" cy="4726940"/>
            </a:xfrm>
            <a:custGeom>
              <a:avLst/>
              <a:gdLst/>
              <a:ahLst/>
              <a:cxnLst/>
              <a:rect l="l" t="t" r="r" b="b"/>
              <a:pathLst>
                <a:path w="7937500" h="4726940">
                  <a:moveTo>
                    <a:pt x="7937449" y="0"/>
                  </a:moveTo>
                  <a:lnTo>
                    <a:pt x="0" y="0"/>
                  </a:lnTo>
                  <a:lnTo>
                    <a:pt x="0" y="4726432"/>
                  </a:lnTo>
                  <a:lnTo>
                    <a:pt x="7937449" y="4726432"/>
                  </a:lnTo>
                  <a:lnTo>
                    <a:pt x="7937449" y="4714240"/>
                  </a:lnTo>
                  <a:lnTo>
                    <a:pt x="25882" y="4714240"/>
                  </a:lnTo>
                  <a:lnTo>
                    <a:pt x="12179" y="4700536"/>
                  </a:lnTo>
                  <a:lnTo>
                    <a:pt x="25882" y="4700536"/>
                  </a:lnTo>
                  <a:lnTo>
                    <a:pt x="25882" y="25895"/>
                  </a:lnTo>
                  <a:lnTo>
                    <a:pt x="12179" y="25895"/>
                  </a:lnTo>
                  <a:lnTo>
                    <a:pt x="25882" y="13703"/>
                  </a:lnTo>
                  <a:lnTo>
                    <a:pt x="7937449" y="13703"/>
                  </a:lnTo>
                  <a:lnTo>
                    <a:pt x="7937449" y="0"/>
                  </a:lnTo>
                  <a:close/>
                </a:path>
                <a:path w="7937500" h="4726940">
                  <a:moveTo>
                    <a:pt x="25882" y="4700536"/>
                  </a:moveTo>
                  <a:lnTo>
                    <a:pt x="12179" y="4700536"/>
                  </a:lnTo>
                  <a:lnTo>
                    <a:pt x="25882" y="4714240"/>
                  </a:lnTo>
                  <a:lnTo>
                    <a:pt x="25882" y="4700536"/>
                  </a:lnTo>
                  <a:close/>
                </a:path>
                <a:path w="7937500" h="4726940">
                  <a:moveTo>
                    <a:pt x="7911566" y="4700536"/>
                  </a:moveTo>
                  <a:lnTo>
                    <a:pt x="25882" y="4700536"/>
                  </a:lnTo>
                  <a:lnTo>
                    <a:pt x="25882" y="4714240"/>
                  </a:lnTo>
                  <a:lnTo>
                    <a:pt x="7911566" y="4714240"/>
                  </a:lnTo>
                  <a:lnTo>
                    <a:pt x="7911566" y="4700536"/>
                  </a:lnTo>
                  <a:close/>
                </a:path>
                <a:path w="7937500" h="4726940">
                  <a:moveTo>
                    <a:pt x="7911566" y="13703"/>
                  </a:moveTo>
                  <a:lnTo>
                    <a:pt x="7911566" y="4714240"/>
                  </a:lnTo>
                  <a:lnTo>
                    <a:pt x="7923745" y="4700536"/>
                  </a:lnTo>
                  <a:lnTo>
                    <a:pt x="7937449" y="4700536"/>
                  </a:lnTo>
                  <a:lnTo>
                    <a:pt x="7937449" y="25895"/>
                  </a:lnTo>
                  <a:lnTo>
                    <a:pt x="7923745" y="25895"/>
                  </a:lnTo>
                  <a:lnTo>
                    <a:pt x="7911566" y="13703"/>
                  </a:lnTo>
                  <a:close/>
                </a:path>
                <a:path w="7937500" h="4726940">
                  <a:moveTo>
                    <a:pt x="7937449" y="4700536"/>
                  </a:moveTo>
                  <a:lnTo>
                    <a:pt x="7923745" y="4700536"/>
                  </a:lnTo>
                  <a:lnTo>
                    <a:pt x="7911566" y="4714240"/>
                  </a:lnTo>
                  <a:lnTo>
                    <a:pt x="7937449" y="4714240"/>
                  </a:lnTo>
                  <a:lnTo>
                    <a:pt x="7937449" y="4700536"/>
                  </a:lnTo>
                  <a:close/>
                </a:path>
                <a:path w="7937500" h="4726940">
                  <a:moveTo>
                    <a:pt x="25882" y="13703"/>
                  </a:moveTo>
                  <a:lnTo>
                    <a:pt x="12179" y="25895"/>
                  </a:lnTo>
                  <a:lnTo>
                    <a:pt x="25882" y="25895"/>
                  </a:lnTo>
                  <a:lnTo>
                    <a:pt x="25882" y="13703"/>
                  </a:lnTo>
                  <a:close/>
                </a:path>
                <a:path w="7937500" h="4726940">
                  <a:moveTo>
                    <a:pt x="7911566" y="13703"/>
                  </a:moveTo>
                  <a:lnTo>
                    <a:pt x="25882" y="13703"/>
                  </a:lnTo>
                  <a:lnTo>
                    <a:pt x="25882" y="25895"/>
                  </a:lnTo>
                  <a:lnTo>
                    <a:pt x="7911566" y="25895"/>
                  </a:lnTo>
                  <a:lnTo>
                    <a:pt x="7911566" y="13703"/>
                  </a:lnTo>
                  <a:close/>
                </a:path>
                <a:path w="7937500" h="4726940">
                  <a:moveTo>
                    <a:pt x="7937449" y="13703"/>
                  </a:moveTo>
                  <a:lnTo>
                    <a:pt x="7911566" y="13703"/>
                  </a:lnTo>
                  <a:lnTo>
                    <a:pt x="7923745" y="25895"/>
                  </a:lnTo>
                  <a:lnTo>
                    <a:pt x="7937449" y="25895"/>
                  </a:lnTo>
                  <a:lnTo>
                    <a:pt x="7937449" y="137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spc="-1680" dirty="0"/>
              <a:t>인접</a:t>
            </a:r>
            <a:r>
              <a:rPr spc="-254" dirty="0"/>
              <a:t> </a:t>
            </a:r>
            <a:r>
              <a:rPr spc="-1525" dirty="0"/>
              <a:t>행렬</a:t>
            </a:r>
            <a:r>
              <a:rPr spc="-245" dirty="0"/>
              <a:t> </a:t>
            </a:r>
            <a:r>
              <a:rPr spc="-2140" dirty="0"/>
              <a:t>구현</a:t>
            </a:r>
            <a:r>
              <a:rPr spc="-250" dirty="0"/>
              <a:t> </a:t>
            </a:r>
            <a:r>
              <a:rPr spc="-10" dirty="0">
                <a:latin typeface="Tw Cen MT"/>
                <a:cs typeface="Tw Cen MT"/>
              </a:rPr>
              <a:t>(adj_mat.c)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62443" y="2093499"/>
            <a:ext cx="2173605" cy="1304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4365">
              <a:lnSpc>
                <a:spcPct val="1199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#include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&lt;stdio.h&gt; </a:t>
            </a:r>
            <a:r>
              <a:rPr sz="1400" dirty="0">
                <a:latin typeface="Trebuchet MS"/>
                <a:cs typeface="Trebuchet MS"/>
              </a:rPr>
              <a:t>#include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&lt;stdlib.h&gt;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ct val="119900"/>
              </a:lnSpc>
              <a:spcBef>
                <a:spcPts val="5"/>
              </a:spcBef>
            </a:pPr>
            <a:r>
              <a:rPr sz="1400" dirty="0">
                <a:latin typeface="Trebuchet MS"/>
                <a:cs typeface="Trebuchet MS"/>
              </a:rPr>
              <a:t>#define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MAX_VERTICES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50 </a:t>
            </a:r>
            <a:r>
              <a:rPr sz="1400" dirty="0">
                <a:latin typeface="Trebuchet MS"/>
                <a:cs typeface="Trebuchet MS"/>
              </a:rPr>
              <a:t>typedef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struct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GraphType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75839" y="3414999"/>
            <a:ext cx="459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int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n;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89249" y="3399771"/>
            <a:ext cx="12103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2100" spc="-15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정점의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개수</a:t>
            </a:r>
            <a:endParaRPr sz="1400">
              <a:latin typeface="Gulim"/>
              <a:cs typeface="Guli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62443" y="3628865"/>
            <a:ext cx="4514850" cy="30962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925830">
              <a:lnSpc>
                <a:spcPct val="100000"/>
              </a:lnSpc>
              <a:spcBef>
                <a:spcPts val="434"/>
              </a:spcBef>
            </a:pPr>
            <a:r>
              <a:rPr sz="1400" dirty="0">
                <a:latin typeface="Trebuchet MS"/>
                <a:cs typeface="Trebuchet MS"/>
              </a:rPr>
              <a:t>int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adj_mat[MAX_VERTICES][MAX_VERTICES];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400" dirty="0">
                <a:latin typeface="Trebuchet MS"/>
                <a:cs typeface="Trebuchet MS"/>
              </a:rPr>
              <a:t>}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GraphType;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2100" spc="-15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그래프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초기화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400" dirty="0">
                <a:latin typeface="Trebuchet MS"/>
                <a:cs typeface="Trebuchet MS"/>
              </a:rPr>
              <a:t>void</a:t>
            </a:r>
            <a:r>
              <a:rPr sz="1400" spc="2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init(GraphType*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g)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spc="-50" dirty="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2877185">
              <a:lnSpc>
                <a:spcPct val="119900"/>
              </a:lnSpc>
            </a:pPr>
            <a:r>
              <a:rPr sz="1400" dirty="0">
                <a:latin typeface="Trebuchet MS"/>
                <a:cs typeface="Trebuchet MS"/>
              </a:rPr>
              <a:t>int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00" dirty="0">
                <a:latin typeface="Trebuchet MS"/>
                <a:cs typeface="Trebuchet MS"/>
              </a:rPr>
              <a:t>r,</a:t>
            </a:r>
            <a:r>
              <a:rPr sz="140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c; </a:t>
            </a:r>
            <a:r>
              <a:rPr sz="1400" dirty="0">
                <a:latin typeface="Trebuchet MS"/>
                <a:cs typeface="Trebuchet MS"/>
              </a:rPr>
              <a:t>g-&gt;n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0;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Trebuchet MS"/>
                <a:cs typeface="Trebuchet MS"/>
              </a:rPr>
              <a:t>for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(r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</a:t>
            </a:r>
            <a:r>
              <a:rPr sz="1400" spc="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0;</a:t>
            </a:r>
            <a:r>
              <a:rPr sz="1400" spc="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r&lt;MAX_VERTICES;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r++)</a:t>
            </a:r>
            <a:endParaRPr sz="1400">
              <a:latin typeface="Trebuchet MS"/>
              <a:cs typeface="Trebuchet MS"/>
            </a:endParaRPr>
          </a:p>
          <a:p>
            <a:pPr marL="1809750" algn="ctr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Trebuchet MS"/>
                <a:cs typeface="Trebuchet MS"/>
              </a:rPr>
              <a:t>for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(c =</a:t>
            </a:r>
            <a:r>
              <a:rPr sz="1400" spc="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0; </a:t>
            </a:r>
            <a:r>
              <a:rPr sz="1400" spc="-10" dirty="0">
                <a:latin typeface="Trebuchet MS"/>
                <a:cs typeface="Trebuchet MS"/>
              </a:rPr>
              <a:t>c&lt;MAX_VERTICES;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c++)</a:t>
            </a:r>
            <a:endParaRPr sz="1400">
              <a:latin typeface="Trebuchet MS"/>
              <a:cs typeface="Trebuchet MS"/>
            </a:endParaRPr>
          </a:p>
          <a:p>
            <a:pPr marL="2752725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Trebuchet MS"/>
                <a:cs typeface="Trebuchet MS"/>
              </a:rPr>
              <a:t>g-&gt;adj_mat[r][c]</a:t>
            </a:r>
            <a:r>
              <a:rPr sz="1400" spc="-7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0;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spc="-50" dirty="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62494" y="1629803"/>
            <a:ext cx="8543925" cy="228600"/>
          </a:xfrm>
          <a:custGeom>
            <a:avLst/>
            <a:gdLst/>
            <a:ahLst/>
            <a:cxnLst/>
            <a:rect l="l" t="t" r="r" b="b"/>
            <a:pathLst>
              <a:path w="8543925" h="228600">
                <a:moveTo>
                  <a:pt x="8543340" y="0"/>
                </a:moveTo>
                <a:lnTo>
                  <a:pt x="0" y="0"/>
                </a:lnTo>
                <a:lnTo>
                  <a:pt x="0" y="228473"/>
                </a:lnTo>
                <a:lnTo>
                  <a:pt x="8543340" y="228473"/>
                </a:lnTo>
                <a:lnTo>
                  <a:pt x="8543340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73682" y="6954390"/>
            <a:ext cx="4306570" cy="155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5"/>
              </a:lnSpc>
              <a:tabLst>
                <a:tab pos="2976245" algn="l"/>
              </a:tabLst>
            </a:pPr>
            <a:r>
              <a:rPr sz="1200" dirty="0">
                <a:latin typeface="Gulim"/>
                <a:cs typeface="Gulim"/>
              </a:rPr>
              <a:t>C로</a:t>
            </a:r>
            <a:r>
              <a:rPr sz="1200" spc="-35" dirty="0">
                <a:latin typeface="Gulim"/>
                <a:cs typeface="Gulim"/>
              </a:rPr>
              <a:t> </a:t>
            </a:r>
            <a:r>
              <a:rPr sz="1200" dirty="0">
                <a:latin typeface="Gulim"/>
                <a:cs typeface="Gulim"/>
              </a:rPr>
              <a:t>쉽게</a:t>
            </a:r>
            <a:r>
              <a:rPr sz="1200" spc="-20" dirty="0">
                <a:latin typeface="Gulim"/>
                <a:cs typeface="Gulim"/>
              </a:rPr>
              <a:t> </a:t>
            </a:r>
            <a:r>
              <a:rPr sz="1200" dirty="0">
                <a:latin typeface="Gulim"/>
                <a:cs typeface="Gulim"/>
              </a:rPr>
              <a:t>풀어쓴</a:t>
            </a:r>
            <a:r>
              <a:rPr sz="1200" spc="-35" dirty="0">
                <a:latin typeface="Gulim"/>
                <a:cs typeface="Gulim"/>
              </a:rPr>
              <a:t> </a:t>
            </a:r>
            <a:r>
              <a:rPr sz="1200" spc="-20" dirty="0">
                <a:latin typeface="Gulim"/>
                <a:cs typeface="Gulim"/>
              </a:rPr>
              <a:t>자료구조</a:t>
            </a:r>
            <a:r>
              <a:rPr sz="1200" dirty="0">
                <a:latin typeface="Gulim"/>
                <a:cs typeface="Gulim"/>
              </a:rPr>
              <a:t>	©</a:t>
            </a:r>
            <a:r>
              <a:rPr sz="1200" spc="-50" dirty="0">
                <a:latin typeface="Gulim"/>
                <a:cs typeface="Gulim"/>
              </a:rPr>
              <a:t> </a:t>
            </a:r>
            <a:r>
              <a:rPr sz="1200" dirty="0">
                <a:latin typeface="Gulim"/>
                <a:cs typeface="Gulim"/>
              </a:rPr>
              <a:t>생능출판사</a:t>
            </a:r>
            <a:r>
              <a:rPr sz="1200" spc="-25" dirty="0">
                <a:latin typeface="Gulim"/>
                <a:cs typeface="Gulim"/>
              </a:rPr>
              <a:t> </a:t>
            </a:r>
            <a:r>
              <a:rPr sz="1200" spc="-20" dirty="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71625" y="2100465"/>
            <a:ext cx="8138795" cy="5106035"/>
            <a:chOff x="1371625" y="2100465"/>
            <a:chExt cx="8138795" cy="51060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83804" y="2114181"/>
              <a:ext cx="7912100" cy="4958080"/>
            </a:xfrm>
            <a:custGeom>
              <a:avLst/>
              <a:gdLst/>
              <a:ahLst/>
              <a:cxnLst/>
              <a:rect l="l" t="t" r="r" b="b"/>
              <a:pathLst>
                <a:path w="7912100" h="4958080">
                  <a:moveTo>
                    <a:pt x="7911566" y="0"/>
                  </a:moveTo>
                  <a:lnTo>
                    <a:pt x="0" y="0"/>
                  </a:lnTo>
                  <a:lnTo>
                    <a:pt x="0" y="4957953"/>
                  </a:lnTo>
                  <a:lnTo>
                    <a:pt x="7911566" y="4957953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1625" y="2100465"/>
              <a:ext cx="7937500" cy="4985385"/>
            </a:xfrm>
            <a:custGeom>
              <a:avLst/>
              <a:gdLst/>
              <a:ahLst/>
              <a:cxnLst/>
              <a:rect l="l" t="t" r="r" b="b"/>
              <a:pathLst>
                <a:path w="7937500" h="4985384">
                  <a:moveTo>
                    <a:pt x="7937449" y="0"/>
                  </a:moveTo>
                  <a:lnTo>
                    <a:pt x="0" y="0"/>
                  </a:lnTo>
                  <a:lnTo>
                    <a:pt x="0" y="4985372"/>
                  </a:lnTo>
                  <a:lnTo>
                    <a:pt x="7937449" y="4985372"/>
                  </a:lnTo>
                  <a:lnTo>
                    <a:pt x="7937449" y="4971669"/>
                  </a:lnTo>
                  <a:lnTo>
                    <a:pt x="25882" y="4971669"/>
                  </a:lnTo>
                  <a:lnTo>
                    <a:pt x="12179" y="4959477"/>
                  </a:lnTo>
                  <a:lnTo>
                    <a:pt x="25882" y="4959477"/>
                  </a:lnTo>
                  <a:lnTo>
                    <a:pt x="25882" y="25895"/>
                  </a:lnTo>
                  <a:lnTo>
                    <a:pt x="12179" y="25895"/>
                  </a:lnTo>
                  <a:lnTo>
                    <a:pt x="25882" y="13703"/>
                  </a:lnTo>
                  <a:lnTo>
                    <a:pt x="7937449" y="13703"/>
                  </a:lnTo>
                  <a:lnTo>
                    <a:pt x="7937449" y="0"/>
                  </a:lnTo>
                  <a:close/>
                </a:path>
                <a:path w="7937500" h="4985384">
                  <a:moveTo>
                    <a:pt x="25882" y="4959477"/>
                  </a:moveTo>
                  <a:lnTo>
                    <a:pt x="12179" y="4959477"/>
                  </a:lnTo>
                  <a:lnTo>
                    <a:pt x="25882" y="4971669"/>
                  </a:lnTo>
                  <a:lnTo>
                    <a:pt x="25882" y="4959477"/>
                  </a:lnTo>
                  <a:close/>
                </a:path>
                <a:path w="7937500" h="4985384">
                  <a:moveTo>
                    <a:pt x="7911566" y="4959477"/>
                  </a:moveTo>
                  <a:lnTo>
                    <a:pt x="25882" y="4959477"/>
                  </a:lnTo>
                  <a:lnTo>
                    <a:pt x="25882" y="4971669"/>
                  </a:lnTo>
                  <a:lnTo>
                    <a:pt x="7911566" y="4971669"/>
                  </a:lnTo>
                  <a:lnTo>
                    <a:pt x="7911566" y="4959477"/>
                  </a:lnTo>
                  <a:close/>
                </a:path>
                <a:path w="7937500" h="4985384">
                  <a:moveTo>
                    <a:pt x="7911566" y="13703"/>
                  </a:moveTo>
                  <a:lnTo>
                    <a:pt x="7911566" y="4971669"/>
                  </a:lnTo>
                  <a:lnTo>
                    <a:pt x="7923745" y="4959477"/>
                  </a:lnTo>
                  <a:lnTo>
                    <a:pt x="7937449" y="4959476"/>
                  </a:lnTo>
                  <a:lnTo>
                    <a:pt x="7937449" y="25895"/>
                  </a:lnTo>
                  <a:lnTo>
                    <a:pt x="7923745" y="25895"/>
                  </a:lnTo>
                  <a:lnTo>
                    <a:pt x="7911566" y="13703"/>
                  </a:lnTo>
                  <a:close/>
                </a:path>
                <a:path w="7937500" h="4985384">
                  <a:moveTo>
                    <a:pt x="7937449" y="4959476"/>
                  </a:moveTo>
                  <a:lnTo>
                    <a:pt x="7923745" y="4959477"/>
                  </a:lnTo>
                  <a:lnTo>
                    <a:pt x="7911566" y="4971669"/>
                  </a:lnTo>
                  <a:lnTo>
                    <a:pt x="7937449" y="4971669"/>
                  </a:lnTo>
                  <a:lnTo>
                    <a:pt x="7937449" y="4959476"/>
                  </a:lnTo>
                  <a:close/>
                </a:path>
                <a:path w="7937500" h="4985384">
                  <a:moveTo>
                    <a:pt x="25882" y="13703"/>
                  </a:moveTo>
                  <a:lnTo>
                    <a:pt x="12179" y="25895"/>
                  </a:lnTo>
                  <a:lnTo>
                    <a:pt x="25882" y="25895"/>
                  </a:lnTo>
                  <a:lnTo>
                    <a:pt x="25882" y="13703"/>
                  </a:lnTo>
                  <a:close/>
                </a:path>
                <a:path w="7937500" h="4985384">
                  <a:moveTo>
                    <a:pt x="7911566" y="13703"/>
                  </a:moveTo>
                  <a:lnTo>
                    <a:pt x="25882" y="13703"/>
                  </a:lnTo>
                  <a:lnTo>
                    <a:pt x="25882" y="25895"/>
                  </a:lnTo>
                  <a:lnTo>
                    <a:pt x="7911566" y="25895"/>
                  </a:lnTo>
                  <a:lnTo>
                    <a:pt x="7911566" y="13703"/>
                  </a:lnTo>
                  <a:close/>
                </a:path>
                <a:path w="7937500" h="4985384">
                  <a:moveTo>
                    <a:pt x="7937449" y="13703"/>
                  </a:moveTo>
                  <a:lnTo>
                    <a:pt x="7911566" y="13703"/>
                  </a:lnTo>
                  <a:lnTo>
                    <a:pt x="7923745" y="25895"/>
                  </a:lnTo>
                  <a:lnTo>
                    <a:pt x="7937449" y="25895"/>
                  </a:lnTo>
                  <a:lnTo>
                    <a:pt x="7937449" y="137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80" dirty="0"/>
              <a:t>인접</a:t>
            </a:r>
            <a:r>
              <a:rPr spc="-254" dirty="0"/>
              <a:t> </a:t>
            </a:r>
            <a:r>
              <a:rPr spc="-1525" dirty="0"/>
              <a:t>행렬</a:t>
            </a:r>
            <a:r>
              <a:rPr spc="-240" dirty="0"/>
              <a:t> </a:t>
            </a:r>
            <a:r>
              <a:rPr spc="-2165" dirty="0"/>
              <a:t>구현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62443" y="2063018"/>
            <a:ext cx="5252085" cy="491807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2100" spc="-7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정점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삽입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연산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400" dirty="0">
                <a:latin typeface="Trebuchet MS"/>
                <a:cs typeface="Trebuchet MS"/>
              </a:rPr>
              <a:t>void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insert_vertex(GraphType*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g,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int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v)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400" spc="-50" dirty="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0"/>
              </a:spcBef>
            </a:pPr>
            <a:r>
              <a:rPr sz="1400" dirty="0">
                <a:latin typeface="Trebuchet MS"/>
                <a:cs typeface="Trebuchet MS"/>
              </a:rPr>
              <a:t>if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(((g-&gt;n)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+ 1)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&gt; </a:t>
            </a:r>
            <a:r>
              <a:rPr sz="1400" spc="-10" dirty="0">
                <a:latin typeface="Trebuchet MS"/>
                <a:cs typeface="Trebuchet MS"/>
              </a:rPr>
              <a:t>MAX_VERTICES)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838960" marR="5080">
              <a:lnSpc>
                <a:spcPct val="119900"/>
              </a:lnSpc>
              <a:spcBef>
                <a:spcPts val="5"/>
              </a:spcBef>
            </a:pPr>
            <a:r>
              <a:rPr sz="1400" spc="-20" dirty="0">
                <a:latin typeface="Trebuchet MS"/>
                <a:cs typeface="Trebuchet MS"/>
              </a:rPr>
              <a:t>fprintf(stderr,</a:t>
            </a:r>
            <a:r>
              <a:rPr sz="1400" dirty="0">
                <a:latin typeface="Trebuchet MS"/>
                <a:cs typeface="Trebuchet MS"/>
              </a:rPr>
              <a:t> "</a:t>
            </a:r>
            <a:r>
              <a:rPr sz="2100" baseline="3968" dirty="0">
                <a:latin typeface="Gulim"/>
                <a:cs typeface="Gulim"/>
              </a:rPr>
              <a:t>그래프</a:t>
            </a:r>
            <a:r>
              <a:rPr sz="1400" dirty="0">
                <a:latin typeface="Trebuchet MS"/>
                <a:cs typeface="Trebuchet MS"/>
              </a:rPr>
              <a:t>: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2100" baseline="3968" dirty="0">
                <a:latin typeface="Gulim"/>
                <a:cs typeface="Gulim"/>
              </a:rPr>
              <a:t>정점의</a:t>
            </a:r>
            <a:r>
              <a:rPr sz="2100" spc="-75" baseline="3968" dirty="0">
                <a:latin typeface="Gulim"/>
                <a:cs typeface="Gulim"/>
              </a:rPr>
              <a:t> </a:t>
            </a:r>
            <a:r>
              <a:rPr sz="2100" baseline="3968" dirty="0">
                <a:latin typeface="Gulim"/>
                <a:cs typeface="Gulim"/>
              </a:rPr>
              <a:t>개수</a:t>
            </a:r>
            <a:r>
              <a:rPr sz="2100" spc="-60" baseline="3968" dirty="0">
                <a:latin typeface="Gulim"/>
                <a:cs typeface="Gulim"/>
              </a:rPr>
              <a:t> </a:t>
            </a:r>
            <a:r>
              <a:rPr sz="2100" spc="-15" baseline="3968" dirty="0">
                <a:latin typeface="Gulim"/>
                <a:cs typeface="Gulim"/>
              </a:rPr>
              <a:t>초과</a:t>
            </a:r>
            <a:r>
              <a:rPr sz="1400" spc="-10" dirty="0">
                <a:latin typeface="Trebuchet MS"/>
                <a:cs typeface="Trebuchet MS"/>
              </a:rPr>
              <a:t>"); return;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sz="1400" spc="-50" dirty="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sz="1400" dirty="0">
                <a:latin typeface="Trebuchet MS"/>
                <a:cs typeface="Trebuchet MS"/>
              </a:rPr>
              <a:t>g-</a:t>
            </a:r>
            <a:r>
              <a:rPr sz="1400" spc="-10" dirty="0">
                <a:latin typeface="Trebuchet MS"/>
                <a:cs typeface="Trebuchet MS"/>
              </a:rPr>
              <a:t>&gt;n++;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400" spc="-50" dirty="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2100" spc="-7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간선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삽입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연산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400" dirty="0">
                <a:latin typeface="Trebuchet MS"/>
                <a:cs typeface="Trebuchet MS"/>
              </a:rPr>
              <a:t>void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insert_edge(GraphType*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int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start,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int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end)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400" spc="-50" dirty="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sz="1400" dirty="0">
                <a:latin typeface="Trebuchet MS"/>
                <a:cs typeface="Trebuchet MS"/>
              </a:rPr>
              <a:t>if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(start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&gt;=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g-&gt;n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|| end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&gt;=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g-&gt;n)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838960" marR="182880">
              <a:lnSpc>
                <a:spcPct val="119900"/>
              </a:lnSpc>
            </a:pPr>
            <a:r>
              <a:rPr sz="1400" spc="-20" dirty="0">
                <a:latin typeface="Trebuchet MS"/>
                <a:cs typeface="Trebuchet MS"/>
              </a:rPr>
              <a:t>fprintf(stderr,</a:t>
            </a:r>
            <a:r>
              <a:rPr sz="1400" dirty="0">
                <a:latin typeface="Trebuchet MS"/>
                <a:cs typeface="Trebuchet MS"/>
              </a:rPr>
              <a:t> "</a:t>
            </a:r>
            <a:r>
              <a:rPr sz="2100" baseline="3968" dirty="0">
                <a:latin typeface="Gulim"/>
                <a:cs typeface="Gulim"/>
              </a:rPr>
              <a:t>그래프</a:t>
            </a:r>
            <a:r>
              <a:rPr sz="1400" dirty="0">
                <a:latin typeface="Trebuchet MS"/>
                <a:cs typeface="Trebuchet MS"/>
              </a:rPr>
              <a:t>: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2100" baseline="3968" dirty="0">
                <a:latin typeface="Gulim"/>
                <a:cs typeface="Gulim"/>
              </a:rPr>
              <a:t>정점</a:t>
            </a:r>
            <a:r>
              <a:rPr sz="2100" spc="-60" baseline="3968" dirty="0">
                <a:latin typeface="Gulim"/>
                <a:cs typeface="Gulim"/>
              </a:rPr>
              <a:t> </a:t>
            </a:r>
            <a:r>
              <a:rPr sz="2100" baseline="3968" dirty="0">
                <a:latin typeface="Gulim"/>
                <a:cs typeface="Gulim"/>
              </a:rPr>
              <a:t>번호</a:t>
            </a:r>
            <a:r>
              <a:rPr sz="2100" spc="-75" baseline="3968" dirty="0">
                <a:latin typeface="Gulim"/>
                <a:cs typeface="Gulim"/>
              </a:rPr>
              <a:t> </a:t>
            </a:r>
            <a:r>
              <a:rPr sz="2100" spc="-30" baseline="3968" dirty="0">
                <a:latin typeface="Gulim"/>
                <a:cs typeface="Gulim"/>
              </a:rPr>
              <a:t>오류</a:t>
            </a:r>
            <a:r>
              <a:rPr sz="1400" spc="-20" dirty="0">
                <a:latin typeface="Trebuchet MS"/>
                <a:cs typeface="Trebuchet MS"/>
              </a:rPr>
              <a:t>"); </a:t>
            </a:r>
            <a:r>
              <a:rPr sz="1400" spc="-10" dirty="0">
                <a:latin typeface="Trebuchet MS"/>
                <a:cs typeface="Trebuchet MS"/>
              </a:rPr>
              <a:t>return;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sz="1400" spc="-50" dirty="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sz="1400" dirty="0">
                <a:latin typeface="Trebuchet MS"/>
                <a:cs typeface="Trebuchet MS"/>
              </a:rPr>
              <a:t>g-</a:t>
            </a:r>
            <a:r>
              <a:rPr sz="1400" spc="-10" dirty="0">
                <a:latin typeface="Trebuchet MS"/>
                <a:cs typeface="Trebuchet MS"/>
              </a:rPr>
              <a:t>&gt;adj_mat[start][end]</a:t>
            </a:r>
            <a:r>
              <a:rPr sz="1400" spc="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</a:t>
            </a:r>
            <a:r>
              <a:rPr sz="1400" spc="5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1;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sz="1400" dirty="0">
                <a:latin typeface="Trebuchet MS"/>
                <a:cs typeface="Trebuchet MS"/>
              </a:rPr>
              <a:t>g-</a:t>
            </a:r>
            <a:r>
              <a:rPr sz="1400" spc="-10" dirty="0">
                <a:latin typeface="Trebuchet MS"/>
                <a:cs typeface="Trebuchet MS"/>
              </a:rPr>
              <a:t>&gt;adj_mat[end][start]</a:t>
            </a:r>
            <a:r>
              <a:rPr sz="1400" spc="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</a:t>
            </a:r>
            <a:r>
              <a:rPr sz="1400" spc="5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1;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400" spc="-50" dirty="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1625" y="2100465"/>
            <a:ext cx="8138795" cy="5106035"/>
            <a:chOff x="1371625" y="2100465"/>
            <a:chExt cx="8138795" cy="5106035"/>
          </a:xfrm>
        </p:grpSpPr>
        <p:sp>
          <p:nvSpPr>
            <p:cNvPr id="3" name="object 3"/>
            <p:cNvSpPr/>
            <p:nvPr/>
          </p:nvSpPr>
          <p:spPr>
            <a:xfrm>
              <a:off x="1383804" y="2114169"/>
              <a:ext cx="7912100" cy="4441825"/>
            </a:xfrm>
            <a:custGeom>
              <a:avLst/>
              <a:gdLst/>
              <a:ahLst/>
              <a:cxnLst/>
              <a:rect l="l" t="t" r="r" b="b"/>
              <a:pathLst>
                <a:path w="7912100" h="4441825">
                  <a:moveTo>
                    <a:pt x="7911566" y="0"/>
                  </a:moveTo>
                  <a:lnTo>
                    <a:pt x="0" y="0"/>
                  </a:lnTo>
                  <a:lnTo>
                    <a:pt x="0" y="4441596"/>
                  </a:lnTo>
                  <a:lnTo>
                    <a:pt x="7911566" y="4441596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71625" y="2100465"/>
              <a:ext cx="7937500" cy="4467860"/>
            </a:xfrm>
            <a:custGeom>
              <a:avLst/>
              <a:gdLst/>
              <a:ahLst/>
              <a:cxnLst/>
              <a:rect l="l" t="t" r="r" b="b"/>
              <a:pathLst>
                <a:path w="7937500" h="4467859">
                  <a:moveTo>
                    <a:pt x="7937449" y="0"/>
                  </a:moveTo>
                  <a:lnTo>
                    <a:pt x="0" y="0"/>
                  </a:lnTo>
                  <a:lnTo>
                    <a:pt x="0" y="4467491"/>
                  </a:lnTo>
                  <a:lnTo>
                    <a:pt x="7937449" y="4467491"/>
                  </a:lnTo>
                  <a:lnTo>
                    <a:pt x="7937449" y="4455299"/>
                  </a:lnTo>
                  <a:lnTo>
                    <a:pt x="25882" y="4455299"/>
                  </a:lnTo>
                  <a:lnTo>
                    <a:pt x="12179" y="4443120"/>
                  </a:lnTo>
                  <a:lnTo>
                    <a:pt x="25882" y="4443120"/>
                  </a:lnTo>
                  <a:lnTo>
                    <a:pt x="25882" y="25895"/>
                  </a:lnTo>
                  <a:lnTo>
                    <a:pt x="12179" y="25895"/>
                  </a:lnTo>
                  <a:lnTo>
                    <a:pt x="25882" y="13703"/>
                  </a:lnTo>
                  <a:lnTo>
                    <a:pt x="7937449" y="13703"/>
                  </a:lnTo>
                  <a:lnTo>
                    <a:pt x="7937449" y="0"/>
                  </a:lnTo>
                  <a:close/>
                </a:path>
                <a:path w="7937500" h="4467859">
                  <a:moveTo>
                    <a:pt x="25882" y="4443120"/>
                  </a:moveTo>
                  <a:lnTo>
                    <a:pt x="12179" y="4443120"/>
                  </a:lnTo>
                  <a:lnTo>
                    <a:pt x="25882" y="4455299"/>
                  </a:lnTo>
                  <a:lnTo>
                    <a:pt x="25882" y="4443120"/>
                  </a:lnTo>
                  <a:close/>
                </a:path>
                <a:path w="7937500" h="4467859">
                  <a:moveTo>
                    <a:pt x="7911566" y="4443120"/>
                  </a:moveTo>
                  <a:lnTo>
                    <a:pt x="25882" y="4443120"/>
                  </a:lnTo>
                  <a:lnTo>
                    <a:pt x="25882" y="4455299"/>
                  </a:lnTo>
                  <a:lnTo>
                    <a:pt x="7911566" y="4455299"/>
                  </a:lnTo>
                  <a:lnTo>
                    <a:pt x="7911566" y="4443120"/>
                  </a:lnTo>
                  <a:close/>
                </a:path>
                <a:path w="7937500" h="4467859">
                  <a:moveTo>
                    <a:pt x="7911566" y="13703"/>
                  </a:moveTo>
                  <a:lnTo>
                    <a:pt x="7911566" y="4455299"/>
                  </a:lnTo>
                  <a:lnTo>
                    <a:pt x="7923745" y="4443120"/>
                  </a:lnTo>
                  <a:lnTo>
                    <a:pt x="7937449" y="4443120"/>
                  </a:lnTo>
                  <a:lnTo>
                    <a:pt x="7937449" y="25895"/>
                  </a:lnTo>
                  <a:lnTo>
                    <a:pt x="7923745" y="25895"/>
                  </a:lnTo>
                  <a:lnTo>
                    <a:pt x="7911566" y="13703"/>
                  </a:lnTo>
                  <a:close/>
                </a:path>
                <a:path w="7937500" h="4467859">
                  <a:moveTo>
                    <a:pt x="7937449" y="4443120"/>
                  </a:moveTo>
                  <a:lnTo>
                    <a:pt x="7923745" y="4443120"/>
                  </a:lnTo>
                  <a:lnTo>
                    <a:pt x="7911566" y="4455299"/>
                  </a:lnTo>
                  <a:lnTo>
                    <a:pt x="7937449" y="4455299"/>
                  </a:lnTo>
                  <a:lnTo>
                    <a:pt x="7937449" y="4443120"/>
                  </a:lnTo>
                  <a:close/>
                </a:path>
                <a:path w="7937500" h="4467859">
                  <a:moveTo>
                    <a:pt x="25882" y="13703"/>
                  </a:moveTo>
                  <a:lnTo>
                    <a:pt x="12179" y="25895"/>
                  </a:lnTo>
                  <a:lnTo>
                    <a:pt x="25882" y="25895"/>
                  </a:lnTo>
                  <a:lnTo>
                    <a:pt x="25882" y="13703"/>
                  </a:lnTo>
                  <a:close/>
                </a:path>
                <a:path w="7937500" h="4467859">
                  <a:moveTo>
                    <a:pt x="7911566" y="13703"/>
                  </a:moveTo>
                  <a:lnTo>
                    <a:pt x="25882" y="13703"/>
                  </a:lnTo>
                  <a:lnTo>
                    <a:pt x="25882" y="25895"/>
                  </a:lnTo>
                  <a:lnTo>
                    <a:pt x="7911566" y="25895"/>
                  </a:lnTo>
                  <a:lnTo>
                    <a:pt x="7911566" y="13703"/>
                  </a:lnTo>
                  <a:close/>
                </a:path>
                <a:path w="7937500" h="4467859">
                  <a:moveTo>
                    <a:pt x="7937449" y="13703"/>
                  </a:moveTo>
                  <a:lnTo>
                    <a:pt x="7911566" y="13703"/>
                  </a:lnTo>
                  <a:lnTo>
                    <a:pt x="7923745" y="25895"/>
                  </a:lnTo>
                  <a:lnTo>
                    <a:pt x="7937449" y="25895"/>
                  </a:lnTo>
                  <a:lnTo>
                    <a:pt x="7937449" y="137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80" dirty="0"/>
              <a:t>인접</a:t>
            </a:r>
            <a:r>
              <a:rPr spc="-254" dirty="0"/>
              <a:t> </a:t>
            </a:r>
            <a:r>
              <a:rPr spc="-1525" dirty="0"/>
              <a:t>행렬</a:t>
            </a:r>
            <a:r>
              <a:rPr spc="-240" dirty="0"/>
              <a:t> </a:t>
            </a:r>
            <a:r>
              <a:rPr spc="-2165" dirty="0"/>
              <a:t>구현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2443" y="2093499"/>
            <a:ext cx="4487545" cy="437578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400" dirty="0">
                <a:latin typeface="Trebuchet MS"/>
                <a:cs typeface="Trebuchet MS"/>
              </a:rPr>
              <a:t>void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main()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400" spc="-50" dirty="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sz="1400" spc="-20" dirty="0">
                <a:latin typeface="Trebuchet MS"/>
                <a:cs typeface="Trebuchet MS"/>
              </a:rPr>
              <a:t>GraphType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*g;</a:t>
            </a:r>
            <a:endParaRPr sz="1400">
              <a:latin typeface="Trebuchet MS"/>
              <a:cs typeface="Trebuchet MS"/>
            </a:endParaRPr>
          </a:p>
          <a:p>
            <a:pPr marL="925830" marR="5080">
              <a:lnSpc>
                <a:spcPct val="119900"/>
              </a:lnSpc>
            </a:pPr>
            <a:r>
              <a:rPr sz="1400" dirty="0">
                <a:latin typeface="Trebuchet MS"/>
                <a:cs typeface="Trebuchet MS"/>
              </a:rPr>
              <a:t>g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 </a:t>
            </a:r>
            <a:r>
              <a:rPr sz="1400" spc="-20" dirty="0">
                <a:latin typeface="Trebuchet MS"/>
                <a:cs typeface="Trebuchet MS"/>
              </a:rPr>
              <a:t>(GraphType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*)malloc(sizeof(GraphType)); init(g);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sz="1400" dirty="0">
                <a:latin typeface="Trebuchet MS"/>
                <a:cs typeface="Trebuchet MS"/>
              </a:rPr>
              <a:t>for(int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i=0;i&lt;4;i++)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400">
              <a:latin typeface="Trebuchet MS"/>
              <a:cs typeface="Trebuchet MS"/>
            </a:endParaRPr>
          </a:p>
          <a:p>
            <a:pPr marL="925830" marR="1915160">
              <a:lnSpc>
                <a:spcPct val="119900"/>
              </a:lnSpc>
              <a:spcBef>
                <a:spcPts val="5"/>
              </a:spcBef>
            </a:pPr>
            <a:r>
              <a:rPr sz="1400" dirty="0">
                <a:latin typeface="Trebuchet MS"/>
                <a:cs typeface="Trebuchet MS"/>
              </a:rPr>
              <a:t>insert_vertex(g,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i); </a:t>
            </a:r>
            <a:r>
              <a:rPr sz="1400" dirty="0">
                <a:latin typeface="Trebuchet MS"/>
                <a:cs typeface="Trebuchet MS"/>
              </a:rPr>
              <a:t>insert_edge(g,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0,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1);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sz="1400" dirty="0">
                <a:latin typeface="Trebuchet MS"/>
                <a:cs typeface="Trebuchet MS"/>
              </a:rPr>
              <a:t>insert_edge(g,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0,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2);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sz="1400" dirty="0">
                <a:latin typeface="Trebuchet MS"/>
                <a:cs typeface="Trebuchet MS"/>
              </a:rPr>
              <a:t>insert_edge(g,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0,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3);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sz="1400" dirty="0">
                <a:latin typeface="Trebuchet MS"/>
                <a:cs typeface="Trebuchet MS"/>
              </a:rPr>
              <a:t>insert_edge(g,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1,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2);</a:t>
            </a:r>
            <a:endParaRPr sz="1400">
              <a:latin typeface="Trebuchet MS"/>
              <a:cs typeface="Trebuchet MS"/>
            </a:endParaRPr>
          </a:p>
          <a:p>
            <a:pPr marL="925830" marR="1915160">
              <a:lnSpc>
                <a:spcPct val="119900"/>
              </a:lnSpc>
            </a:pPr>
            <a:r>
              <a:rPr sz="1400" dirty="0">
                <a:latin typeface="Trebuchet MS"/>
                <a:cs typeface="Trebuchet MS"/>
              </a:rPr>
              <a:t>insert_edge(g,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2,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3); </a:t>
            </a:r>
            <a:r>
              <a:rPr sz="1400" spc="-10" dirty="0">
                <a:latin typeface="Trebuchet MS"/>
                <a:cs typeface="Trebuchet MS"/>
              </a:rPr>
              <a:t>print_adj_mat(g);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Trebuchet MS"/>
                <a:cs typeface="Trebuchet MS"/>
              </a:rPr>
              <a:t>free(g);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400" spc="-50" dirty="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394974" y="3463721"/>
            <a:ext cx="4585335" cy="2948940"/>
            <a:chOff x="4394974" y="3463721"/>
            <a:chExt cx="4585335" cy="294894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4974" y="3463721"/>
              <a:ext cx="1574088" cy="15292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6887" y="4408081"/>
              <a:ext cx="1933359" cy="200450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1163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90"/>
              </a:spcBef>
            </a:pPr>
            <a:r>
              <a:rPr sz="4000" dirty="0">
                <a:latin typeface="Tw Cen MT"/>
                <a:cs typeface="Tw Cen MT"/>
              </a:rPr>
              <a:t>VS</a:t>
            </a:r>
            <a:r>
              <a:rPr sz="4000" spc="-35" dirty="0">
                <a:latin typeface="Tw Cen MT"/>
                <a:cs typeface="Tw Cen MT"/>
              </a:rPr>
              <a:t> </a:t>
            </a:r>
            <a:r>
              <a:rPr sz="4000" spc="-2085" dirty="0"/>
              <a:t>솔류션</a:t>
            </a:r>
            <a:r>
              <a:rPr sz="4000" spc="-220" dirty="0"/>
              <a:t> </a:t>
            </a:r>
            <a:r>
              <a:rPr sz="4000" spc="-1545" dirty="0"/>
              <a:t>생성(프로젝트명:</a:t>
            </a:r>
            <a:r>
              <a:rPr sz="4000" spc="30" dirty="0"/>
              <a:t> </a:t>
            </a:r>
            <a:r>
              <a:rPr sz="4000" spc="-955" dirty="0"/>
              <a:t>ch10</a:t>
            </a:r>
            <a:r>
              <a:rPr sz="4000" dirty="0"/>
              <a:t> </a:t>
            </a:r>
            <a:r>
              <a:rPr sz="4000" spc="-1445" dirty="0"/>
              <a:t>파일명</a:t>
            </a:r>
            <a:r>
              <a:rPr sz="4000" spc="20" dirty="0"/>
              <a:t> </a:t>
            </a:r>
            <a:r>
              <a:rPr sz="4000" spc="-830" dirty="0"/>
              <a:t>ch10.c)</a:t>
            </a:r>
            <a:endParaRPr sz="4000">
              <a:latin typeface="Tw Cen MT"/>
              <a:cs typeface="Tw Cen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3990" y="2098954"/>
            <a:ext cx="4014393" cy="239900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236220">
              <a:lnSpc>
                <a:spcPct val="100000"/>
              </a:lnSpc>
              <a:spcBef>
                <a:spcPts val="100"/>
              </a:spcBef>
            </a:pPr>
            <a:r>
              <a:rPr spc="-925" dirty="0"/>
              <a:t>학생</a:t>
            </a:r>
            <a:r>
              <a:rPr spc="-925" dirty="0">
                <a:latin typeface="Tw Cen MT"/>
                <a:cs typeface="Tw Cen MT"/>
              </a:rPr>
              <a:t>&gt;</a:t>
            </a:r>
            <a:r>
              <a:rPr spc="-5" dirty="0">
                <a:latin typeface="Tw Cen MT"/>
                <a:cs typeface="Tw Cen MT"/>
              </a:rPr>
              <a:t> </a:t>
            </a:r>
            <a:r>
              <a:rPr spc="-1730" dirty="0"/>
              <a:t>교수님</a:t>
            </a:r>
            <a:r>
              <a:rPr spc="-1730" dirty="0">
                <a:latin typeface="Tw Cen MT"/>
                <a:cs typeface="Tw Cen MT"/>
              </a:rPr>
              <a:t>~</a:t>
            </a:r>
            <a:r>
              <a:rPr dirty="0">
                <a:latin typeface="Tw Cen MT"/>
                <a:cs typeface="Tw Cen MT"/>
              </a:rPr>
              <a:t> VS</a:t>
            </a:r>
            <a:r>
              <a:rPr spc="-30" dirty="0">
                <a:latin typeface="Tw Cen MT"/>
                <a:cs typeface="Tw Cen MT"/>
              </a:rPr>
              <a:t> </a:t>
            </a:r>
            <a:r>
              <a:rPr spc="-1885" dirty="0"/>
              <a:t>변수창</a:t>
            </a:r>
            <a:r>
              <a:rPr spc="-250" dirty="0"/>
              <a:t> </a:t>
            </a:r>
            <a:r>
              <a:rPr spc="-2600" dirty="0"/>
              <a:t>보고</a:t>
            </a:r>
            <a:r>
              <a:rPr spc="-260" dirty="0"/>
              <a:t> </a:t>
            </a:r>
            <a:r>
              <a:rPr spc="-2070" dirty="0"/>
              <a:t>싶어요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6665" y="1888223"/>
            <a:ext cx="5620385" cy="293179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66065" indent="-253365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266065" algn="l"/>
              </a:tabLst>
            </a:pPr>
            <a:r>
              <a:rPr sz="1800" spc="-10" dirty="0">
                <a:latin typeface="Arial"/>
                <a:cs typeface="Arial"/>
              </a:rPr>
              <a:t>35</a:t>
            </a:r>
            <a:r>
              <a:rPr sz="1800" spc="-10" dirty="0">
                <a:latin typeface="Gulim"/>
                <a:cs typeface="Gulim"/>
              </a:rPr>
              <a:t>번줄에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중단점</a:t>
            </a:r>
            <a:r>
              <a:rPr sz="1800" spc="-120" dirty="0">
                <a:latin typeface="Gulim"/>
                <a:cs typeface="Gulim"/>
              </a:rPr>
              <a:t> </a:t>
            </a:r>
            <a:r>
              <a:rPr sz="1800" spc="-25" dirty="0">
                <a:latin typeface="Gulim"/>
                <a:cs typeface="Gulim"/>
              </a:rPr>
              <a:t>설정</a:t>
            </a:r>
            <a:endParaRPr sz="1800">
              <a:latin typeface="Gulim"/>
              <a:cs typeface="Gulim"/>
            </a:endParaRPr>
          </a:p>
          <a:p>
            <a:pPr marL="266065" indent="-253365">
              <a:lnSpc>
                <a:spcPct val="100000"/>
              </a:lnSpc>
              <a:spcBef>
                <a:spcPts val="705"/>
              </a:spcBef>
              <a:buFont typeface="Arial"/>
              <a:buAutoNum type="arabicPeriod"/>
              <a:tabLst>
                <a:tab pos="266065" algn="l"/>
              </a:tabLst>
            </a:pPr>
            <a:r>
              <a:rPr sz="1800" spc="-10" dirty="0">
                <a:latin typeface="Gulim"/>
                <a:cs typeface="Gulim"/>
              </a:rPr>
              <a:t>디버깅시작</a:t>
            </a:r>
            <a:endParaRPr sz="1800">
              <a:latin typeface="Gulim"/>
              <a:cs typeface="Gulim"/>
            </a:endParaRPr>
          </a:p>
          <a:p>
            <a:pPr marL="266065" indent="-253365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266065" algn="l"/>
              </a:tabLst>
            </a:pPr>
            <a:r>
              <a:rPr sz="1800" dirty="0">
                <a:latin typeface="Arial"/>
                <a:cs typeface="Arial"/>
              </a:rPr>
              <a:t>start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0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end =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1</a:t>
            </a:r>
            <a:r>
              <a:rPr sz="1800" spc="-25" dirty="0">
                <a:latin typeface="Gulim"/>
                <a:cs typeface="Gulim"/>
              </a:rPr>
              <a:t>일때</a:t>
            </a:r>
            <a:endParaRPr sz="1800">
              <a:latin typeface="Gulim"/>
              <a:cs typeface="Gulim"/>
            </a:endParaRPr>
          </a:p>
          <a:p>
            <a:pPr marL="266065" indent="-253365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266065" algn="l"/>
              </a:tabLst>
            </a:pPr>
            <a:r>
              <a:rPr sz="1800" spc="-10" dirty="0">
                <a:latin typeface="Arial"/>
                <a:cs typeface="Arial"/>
              </a:rPr>
              <a:t>g-</a:t>
            </a:r>
            <a:r>
              <a:rPr sz="1800" dirty="0">
                <a:latin typeface="Arial"/>
                <a:cs typeface="Arial"/>
              </a:rPr>
              <a:t>&gt;adj_mat[0][1]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Gulim"/>
                <a:cs typeface="Gulim"/>
              </a:rPr>
              <a:t>은</a:t>
            </a:r>
            <a:r>
              <a:rPr sz="1800" spc="-150" dirty="0">
                <a:latin typeface="Gulim"/>
                <a:cs typeface="Gulim"/>
              </a:rPr>
              <a:t> </a:t>
            </a:r>
            <a:r>
              <a:rPr sz="1800" spc="-50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  <a:p>
            <a:pPr marL="266065" indent="-253365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266065" algn="l"/>
              </a:tabLst>
            </a:pPr>
            <a:r>
              <a:rPr sz="1800" dirty="0">
                <a:latin typeface="Arial"/>
                <a:cs typeface="Arial"/>
              </a:rPr>
              <a:t>Step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into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5" dirty="0">
                <a:latin typeface="Gulim"/>
                <a:cs typeface="Gulim"/>
              </a:rPr>
              <a:t>진행</a:t>
            </a:r>
            <a:endParaRPr sz="1800">
              <a:latin typeface="Gulim"/>
              <a:cs typeface="Gulim"/>
            </a:endParaRPr>
          </a:p>
          <a:p>
            <a:pPr marL="266065" indent="-253365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266065" algn="l"/>
              </a:tabLst>
            </a:pPr>
            <a:r>
              <a:rPr sz="1800" spc="-10" dirty="0">
                <a:latin typeface="Arial"/>
                <a:cs typeface="Arial"/>
              </a:rPr>
              <a:t>g-</a:t>
            </a:r>
            <a:r>
              <a:rPr sz="1800" dirty="0">
                <a:latin typeface="Arial"/>
                <a:cs typeface="Arial"/>
              </a:rPr>
              <a:t>&gt;adj_mat[0][1]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dirty="0">
                <a:latin typeface="Gulim"/>
                <a:cs typeface="Gulim"/>
              </a:rPr>
              <a:t>은</a:t>
            </a:r>
            <a:r>
              <a:rPr sz="1800" spc="-150" dirty="0">
                <a:latin typeface="Gulim"/>
                <a:cs typeface="Gulim"/>
              </a:rPr>
              <a:t> </a:t>
            </a: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Gulim"/>
                <a:cs typeface="Gulim"/>
              </a:rPr>
              <a:t>학생</a:t>
            </a:r>
            <a:r>
              <a:rPr sz="1800" dirty="0">
                <a:latin typeface="Arial"/>
                <a:cs typeface="Arial"/>
              </a:rPr>
              <a:t>&gt;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g-</a:t>
            </a:r>
            <a:r>
              <a:rPr sz="1800" dirty="0">
                <a:latin typeface="Arial"/>
                <a:cs typeface="Arial"/>
              </a:rPr>
              <a:t>&gt;adj_mat[0][1]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Gulim"/>
                <a:cs typeface="Gulim"/>
              </a:rPr>
              <a:t>가</a:t>
            </a:r>
            <a:r>
              <a:rPr sz="1800" spc="-145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생각한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대로</a:t>
            </a:r>
            <a:r>
              <a:rPr sz="1800" spc="-15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값이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변화하네요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4266" y="4002925"/>
            <a:ext cx="1886178" cy="14820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28142" y="2066950"/>
            <a:ext cx="1962289" cy="14744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35410" y="4992992"/>
            <a:ext cx="1933359" cy="200450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8844" y="5667755"/>
            <a:ext cx="2616898" cy="138913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spc="-1680" dirty="0"/>
              <a:t>인접</a:t>
            </a:r>
            <a:r>
              <a:rPr spc="-254" dirty="0"/>
              <a:t> </a:t>
            </a:r>
            <a:r>
              <a:rPr spc="-2350" dirty="0"/>
              <a:t>리스트</a:t>
            </a:r>
            <a:r>
              <a:rPr spc="-254" dirty="0"/>
              <a:t> </a:t>
            </a:r>
            <a:r>
              <a:rPr spc="-2140" dirty="0"/>
              <a:t>구현</a:t>
            </a:r>
            <a:r>
              <a:rPr spc="-245" dirty="0"/>
              <a:t> </a:t>
            </a:r>
            <a:r>
              <a:rPr spc="-10" dirty="0">
                <a:latin typeface="Tw Cen MT"/>
                <a:cs typeface="Tw Cen MT"/>
              </a:rPr>
              <a:t>(adj_list.c)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12224" y="2210130"/>
            <a:ext cx="2854375" cy="11606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4348" y="2025827"/>
            <a:ext cx="1572577" cy="15292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53644" y="2473642"/>
            <a:ext cx="2578836" cy="103728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587401" y="1889132"/>
            <a:ext cx="1614805" cy="521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300" dirty="0">
                <a:latin typeface="Arial"/>
                <a:cs typeface="Arial"/>
              </a:rPr>
              <a:t>Insert_edge(0,1)</a:t>
            </a:r>
            <a:r>
              <a:rPr sz="1300" spc="-90" dirty="0">
                <a:latin typeface="Arial"/>
                <a:cs typeface="Arial"/>
              </a:rPr>
              <a:t> </a:t>
            </a:r>
            <a:r>
              <a:rPr sz="1300" spc="-25" dirty="0">
                <a:latin typeface="Gulim"/>
                <a:cs typeface="Gulim"/>
              </a:rPr>
              <a:t>호출 </a:t>
            </a:r>
            <a:r>
              <a:rPr sz="1300" dirty="0">
                <a:latin typeface="Gulim"/>
                <a:cs typeface="Gulim"/>
              </a:rPr>
              <a:t>교재</a:t>
            </a:r>
            <a:r>
              <a:rPr sz="1300" spc="-95" dirty="0">
                <a:latin typeface="Gulim"/>
                <a:cs typeface="Gulim"/>
              </a:rPr>
              <a:t> </a:t>
            </a:r>
            <a:r>
              <a:rPr sz="1300" spc="-20" dirty="0">
                <a:latin typeface="Arial"/>
                <a:cs typeface="Arial"/>
              </a:rPr>
              <a:t>377P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31279" y="3614613"/>
            <a:ext cx="2348865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Arial"/>
                <a:cs typeface="Arial"/>
              </a:rPr>
              <a:t>Insert_edge(1,0)</a:t>
            </a:r>
            <a:r>
              <a:rPr sz="1900" spc="-100" dirty="0">
                <a:latin typeface="Arial"/>
                <a:cs typeface="Arial"/>
              </a:rPr>
              <a:t> </a:t>
            </a:r>
            <a:r>
              <a:rPr sz="1900" spc="-25" dirty="0">
                <a:latin typeface="Gulim"/>
                <a:cs typeface="Gulim"/>
              </a:rPr>
              <a:t>호출</a:t>
            </a:r>
            <a:endParaRPr sz="1900">
              <a:latin typeface="Gulim"/>
              <a:cs typeface="Gulim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53644" y="3999877"/>
            <a:ext cx="2540774" cy="103728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586321" y="5205339"/>
            <a:ext cx="2348865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Arial"/>
                <a:cs typeface="Arial"/>
              </a:rPr>
              <a:t>Insert_edge(0,2)</a:t>
            </a:r>
            <a:r>
              <a:rPr sz="1900" spc="-100" dirty="0">
                <a:latin typeface="Arial"/>
                <a:cs typeface="Arial"/>
              </a:rPr>
              <a:t> </a:t>
            </a:r>
            <a:r>
              <a:rPr sz="1900" spc="-25" dirty="0">
                <a:latin typeface="Gulim"/>
                <a:cs typeface="Gulim"/>
              </a:rPr>
              <a:t>호출</a:t>
            </a:r>
            <a:endParaRPr sz="1900">
              <a:latin typeface="Gulim"/>
              <a:cs typeface="Gulim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4024" y="5393588"/>
            <a:ext cx="2520988" cy="153384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marR="5080">
              <a:lnSpc>
                <a:spcPct val="100000"/>
              </a:lnSpc>
              <a:spcBef>
                <a:spcPts val="100"/>
              </a:spcBef>
            </a:pPr>
            <a:r>
              <a:rPr sz="3200" spc="-675" dirty="0"/>
              <a:t>학생</a:t>
            </a:r>
            <a:r>
              <a:rPr sz="3200" spc="-675" dirty="0">
                <a:latin typeface="Tw Cen MT"/>
                <a:cs typeface="Tw Cen MT"/>
              </a:rPr>
              <a:t>&gt;</a:t>
            </a:r>
            <a:r>
              <a:rPr sz="3200" spc="20" dirty="0">
                <a:latin typeface="Tw Cen MT"/>
                <a:cs typeface="Tw Cen MT"/>
              </a:rPr>
              <a:t> </a:t>
            </a:r>
            <a:r>
              <a:rPr sz="3200" spc="-994" dirty="0"/>
              <a:t>제가</a:t>
            </a:r>
            <a:r>
              <a:rPr sz="3200" spc="-165" dirty="0"/>
              <a:t> </a:t>
            </a:r>
            <a:r>
              <a:rPr sz="3200" spc="-1515" dirty="0"/>
              <a:t>인접리스트</a:t>
            </a:r>
            <a:r>
              <a:rPr sz="3200" spc="-170" dirty="0"/>
              <a:t> </a:t>
            </a:r>
            <a:r>
              <a:rPr sz="3200" spc="-1670" dirty="0"/>
              <a:t>자료구조</a:t>
            </a:r>
            <a:r>
              <a:rPr sz="3200" spc="-145" dirty="0"/>
              <a:t> </a:t>
            </a:r>
            <a:r>
              <a:rPr sz="3200" spc="-1070" dirty="0"/>
              <a:t>단계별</a:t>
            </a:r>
            <a:r>
              <a:rPr sz="3200" spc="-170" dirty="0"/>
              <a:t> </a:t>
            </a:r>
            <a:r>
              <a:rPr sz="3200" spc="-1725" dirty="0"/>
              <a:t>그림으로</a:t>
            </a:r>
            <a:r>
              <a:rPr sz="3200" spc="-160" dirty="0"/>
              <a:t> </a:t>
            </a:r>
            <a:r>
              <a:rPr sz="3200" spc="-1350" dirty="0"/>
              <a:t>만들었는데</a:t>
            </a:r>
            <a:r>
              <a:rPr sz="3200" spc="-165" dirty="0"/>
              <a:t> </a:t>
            </a:r>
            <a:r>
              <a:rPr sz="3200" spc="-615" dirty="0">
                <a:latin typeface="Tw Cen MT"/>
                <a:cs typeface="Tw Cen MT"/>
              </a:rPr>
              <a:t>VS</a:t>
            </a:r>
            <a:r>
              <a:rPr sz="3200" spc="-615" dirty="0"/>
              <a:t>에서 </a:t>
            </a:r>
            <a:r>
              <a:rPr sz="3200" spc="-1515" dirty="0"/>
              <a:t>인접리스트</a:t>
            </a:r>
            <a:r>
              <a:rPr sz="3200" spc="-170" dirty="0"/>
              <a:t> </a:t>
            </a:r>
            <a:r>
              <a:rPr sz="3200" spc="-1670" dirty="0"/>
              <a:t>자료구조</a:t>
            </a:r>
            <a:r>
              <a:rPr sz="3200" spc="-145" dirty="0"/>
              <a:t> </a:t>
            </a:r>
            <a:r>
              <a:rPr sz="3200" spc="-1895" dirty="0"/>
              <a:t>보고</a:t>
            </a:r>
            <a:r>
              <a:rPr sz="3200" spc="-155" dirty="0"/>
              <a:t> </a:t>
            </a:r>
            <a:r>
              <a:rPr sz="3200" spc="-1510" dirty="0"/>
              <a:t>싶어요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6056" y="2040283"/>
            <a:ext cx="2348865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Arial"/>
                <a:cs typeface="Arial"/>
              </a:rPr>
              <a:t>Insert_edge(0,2)</a:t>
            </a:r>
            <a:r>
              <a:rPr sz="1900" spc="-100" dirty="0">
                <a:latin typeface="Arial"/>
                <a:cs typeface="Arial"/>
              </a:rPr>
              <a:t> </a:t>
            </a:r>
            <a:r>
              <a:rPr sz="1900" spc="-25" dirty="0">
                <a:latin typeface="Gulim"/>
                <a:cs typeface="Gulim"/>
              </a:rPr>
              <a:t>호출</a:t>
            </a:r>
            <a:endParaRPr sz="19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26148" y="2590926"/>
            <a:ext cx="2616898" cy="139066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62443" y="1888847"/>
            <a:ext cx="4452620" cy="187007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700" dirty="0">
                <a:latin typeface="Arial"/>
                <a:cs typeface="Arial"/>
              </a:rPr>
              <a:t>1.72</a:t>
            </a:r>
            <a:r>
              <a:rPr sz="1700" dirty="0">
                <a:latin typeface="Gulim"/>
                <a:cs typeface="Gulim"/>
              </a:rPr>
              <a:t>번줄에</a:t>
            </a:r>
            <a:r>
              <a:rPr sz="1700" spc="-114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중단점</a:t>
            </a:r>
            <a:r>
              <a:rPr sz="1700" spc="-135" dirty="0">
                <a:latin typeface="Gulim"/>
                <a:cs typeface="Gulim"/>
              </a:rPr>
              <a:t> </a:t>
            </a:r>
            <a:r>
              <a:rPr sz="1700" spc="-25" dirty="0">
                <a:latin typeface="Gulim"/>
                <a:cs typeface="Gulim"/>
              </a:rPr>
              <a:t>설정</a:t>
            </a:r>
            <a:endParaRPr sz="1700">
              <a:latin typeface="Gulim"/>
              <a:cs typeface="Gulim"/>
            </a:endParaRPr>
          </a:p>
          <a:p>
            <a:pPr marL="191135" indent="-182245">
              <a:lnSpc>
                <a:spcPct val="100000"/>
              </a:lnSpc>
              <a:spcBef>
                <a:spcPts val="505"/>
              </a:spcBef>
              <a:buSzPct val="94117"/>
              <a:buFont typeface="Arial"/>
              <a:buAutoNum type="arabicPeriod" startAt="2"/>
              <a:tabLst>
                <a:tab pos="191135" algn="l"/>
              </a:tabLst>
            </a:pPr>
            <a:r>
              <a:rPr sz="1700" spc="-10" dirty="0">
                <a:latin typeface="Gulim"/>
                <a:cs typeface="Gulim"/>
              </a:rPr>
              <a:t>디버깅시작</a:t>
            </a:r>
            <a:endParaRPr sz="1700">
              <a:latin typeface="Gulim"/>
              <a:cs typeface="Gulim"/>
            </a:endParaRPr>
          </a:p>
          <a:p>
            <a:pPr marL="191135" indent="-182245">
              <a:lnSpc>
                <a:spcPts val="1935"/>
              </a:lnSpc>
              <a:spcBef>
                <a:spcPts val="490"/>
              </a:spcBef>
              <a:buSzPct val="94117"/>
              <a:buAutoNum type="arabicPeriod" startAt="2"/>
              <a:tabLst>
                <a:tab pos="191135" algn="l"/>
              </a:tabLst>
            </a:pPr>
            <a:r>
              <a:rPr sz="1700" dirty="0">
                <a:latin typeface="Arial"/>
                <a:cs typeface="Arial"/>
              </a:rPr>
              <a:t>Step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into</a:t>
            </a:r>
            <a:r>
              <a:rPr sz="1700" dirty="0">
                <a:latin typeface="Gulim"/>
                <a:cs typeface="Gulim"/>
              </a:rPr>
              <a:t>로</a:t>
            </a:r>
            <a:r>
              <a:rPr sz="1700" spc="-130" dirty="0">
                <a:latin typeface="Gulim"/>
                <a:cs typeface="Gulim"/>
              </a:rPr>
              <a:t> </a:t>
            </a:r>
            <a:r>
              <a:rPr sz="1700" dirty="0">
                <a:latin typeface="Arial"/>
                <a:cs typeface="Arial"/>
              </a:rPr>
              <a:t>43</a:t>
            </a:r>
            <a:r>
              <a:rPr sz="1700" dirty="0">
                <a:latin typeface="Gulim"/>
                <a:cs typeface="Gulim"/>
              </a:rPr>
              <a:t>번줄까지</a:t>
            </a:r>
            <a:r>
              <a:rPr sz="1700" spc="-130" dirty="0">
                <a:latin typeface="Gulim"/>
                <a:cs typeface="Gulim"/>
              </a:rPr>
              <a:t> </a:t>
            </a:r>
            <a:r>
              <a:rPr sz="1700" spc="-20" dirty="0">
                <a:latin typeface="Gulim"/>
                <a:cs typeface="Gulim"/>
              </a:rPr>
              <a:t>진행하여</a:t>
            </a:r>
            <a:endParaRPr sz="1700">
              <a:latin typeface="Gulim"/>
              <a:cs typeface="Gulim"/>
            </a:endParaRPr>
          </a:p>
          <a:p>
            <a:pPr marL="193675">
              <a:lnSpc>
                <a:spcPts val="1935"/>
              </a:lnSpc>
            </a:pPr>
            <a:r>
              <a:rPr sz="1700" dirty="0">
                <a:latin typeface="Arial"/>
                <a:cs typeface="Arial"/>
              </a:rPr>
              <a:t>vertex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2</a:t>
            </a:r>
            <a:r>
              <a:rPr sz="1700" dirty="0">
                <a:latin typeface="Gulim"/>
                <a:cs typeface="Gulim"/>
              </a:rPr>
              <a:t>를</a:t>
            </a:r>
            <a:r>
              <a:rPr sz="1700" spc="-114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추가전</a:t>
            </a:r>
            <a:r>
              <a:rPr sz="1700" spc="-110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인접리스트</a:t>
            </a:r>
            <a:r>
              <a:rPr sz="1700" spc="-125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자료구조</a:t>
            </a:r>
            <a:r>
              <a:rPr sz="1700" spc="-130" dirty="0">
                <a:latin typeface="Gulim"/>
                <a:cs typeface="Gulim"/>
              </a:rPr>
              <a:t> </a:t>
            </a:r>
            <a:r>
              <a:rPr sz="1700" spc="-25" dirty="0">
                <a:latin typeface="Gulim"/>
                <a:cs typeface="Gulim"/>
              </a:rPr>
              <a:t>확인</a:t>
            </a:r>
            <a:endParaRPr sz="1700">
              <a:latin typeface="Gulim"/>
              <a:cs typeface="Gulim"/>
            </a:endParaRPr>
          </a:p>
          <a:p>
            <a:pPr marL="191135" indent="-182245">
              <a:lnSpc>
                <a:spcPct val="100000"/>
              </a:lnSpc>
              <a:spcBef>
                <a:spcPts val="490"/>
              </a:spcBef>
              <a:buSzPct val="94117"/>
              <a:buAutoNum type="arabicPeriod" startAt="4"/>
              <a:tabLst>
                <a:tab pos="191135" algn="l"/>
              </a:tabLst>
            </a:pPr>
            <a:r>
              <a:rPr sz="1700" dirty="0">
                <a:latin typeface="Arial"/>
                <a:cs typeface="Arial"/>
              </a:rPr>
              <a:t>Step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into</a:t>
            </a:r>
            <a:r>
              <a:rPr sz="1700" dirty="0">
                <a:latin typeface="Gulim"/>
                <a:cs typeface="Gulim"/>
              </a:rPr>
              <a:t>로</a:t>
            </a:r>
            <a:r>
              <a:rPr sz="1700" spc="-130" dirty="0">
                <a:latin typeface="Gulim"/>
                <a:cs typeface="Gulim"/>
              </a:rPr>
              <a:t> </a:t>
            </a:r>
            <a:r>
              <a:rPr sz="1700" dirty="0">
                <a:latin typeface="Arial"/>
                <a:cs typeface="Arial"/>
              </a:rPr>
              <a:t>47</a:t>
            </a:r>
            <a:r>
              <a:rPr sz="1700" dirty="0">
                <a:latin typeface="Gulim"/>
                <a:cs typeface="Gulim"/>
              </a:rPr>
              <a:t>번줄까지</a:t>
            </a:r>
            <a:r>
              <a:rPr sz="1700" spc="-130" dirty="0">
                <a:latin typeface="Gulim"/>
                <a:cs typeface="Gulim"/>
              </a:rPr>
              <a:t> </a:t>
            </a:r>
            <a:r>
              <a:rPr sz="1700" spc="-20" dirty="0">
                <a:latin typeface="Gulim"/>
                <a:cs typeface="Gulim"/>
              </a:rPr>
              <a:t>진행하여</a:t>
            </a:r>
            <a:endParaRPr sz="1700">
              <a:latin typeface="Gulim"/>
              <a:cs typeface="Gulim"/>
            </a:endParaRPr>
          </a:p>
          <a:p>
            <a:pPr marL="193675">
              <a:lnSpc>
                <a:spcPct val="100000"/>
              </a:lnSpc>
              <a:spcBef>
                <a:spcPts val="500"/>
              </a:spcBef>
            </a:pPr>
            <a:r>
              <a:rPr sz="1700" spc="-10" dirty="0">
                <a:latin typeface="Arial"/>
                <a:cs typeface="Arial"/>
              </a:rPr>
              <a:t>vertex2</a:t>
            </a:r>
            <a:r>
              <a:rPr sz="1700" spc="-10" dirty="0">
                <a:latin typeface="Gulim"/>
                <a:cs typeface="Gulim"/>
              </a:rPr>
              <a:t>를</a:t>
            </a:r>
            <a:r>
              <a:rPr sz="1700" spc="-75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추가후</a:t>
            </a:r>
            <a:r>
              <a:rPr sz="1700" spc="-114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인접리스트</a:t>
            </a:r>
            <a:r>
              <a:rPr sz="1700" spc="-114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자료구조</a:t>
            </a:r>
            <a:r>
              <a:rPr sz="1700" spc="-114" dirty="0">
                <a:latin typeface="Gulim"/>
                <a:cs typeface="Gulim"/>
              </a:rPr>
              <a:t> </a:t>
            </a:r>
            <a:r>
              <a:rPr sz="1700" spc="-25" dirty="0">
                <a:latin typeface="Gulim"/>
                <a:cs typeface="Gulim"/>
              </a:rPr>
              <a:t>확인</a:t>
            </a:r>
            <a:endParaRPr sz="1700">
              <a:latin typeface="Gulim"/>
              <a:cs typeface="Guli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2443" y="4116644"/>
            <a:ext cx="5146675" cy="244983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689610">
              <a:lnSpc>
                <a:spcPts val="1839"/>
              </a:lnSpc>
              <a:spcBef>
                <a:spcPts val="330"/>
              </a:spcBef>
            </a:pPr>
            <a:r>
              <a:rPr sz="1700" dirty="0">
                <a:latin typeface="Gulim"/>
                <a:cs typeface="Gulim"/>
              </a:rPr>
              <a:t>학생</a:t>
            </a:r>
            <a:r>
              <a:rPr sz="1700" dirty="0">
                <a:latin typeface="Arial"/>
                <a:cs typeface="Arial"/>
              </a:rPr>
              <a:t>&gt;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Gulim"/>
                <a:cs typeface="Gulim"/>
              </a:rPr>
              <a:t>교수님</a:t>
            </a:r>
            <a:r>
              <a:rPr sz="1700" dirty="0">
                <a:latin typeface="Arial"/>
                <a:cs typeface="Arial"/>
              </a:rPr>
              <a:t>~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Gulim"/>
                <a:cs typeface="Gulim"/>
              </a:rPr>
              <a:t>제가</a:t>
            </a:r>
            <a:r>
              <a:rPr sz="1700" spc="-100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만든</a:t>
            </a:r>
            <a:r>
              <a:rPr sz="1700" spc="-100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인접리스트</a:t>
            </a:r>
            <a:r>
              <a:rPr sz="1700" spc="-114" dirty="0">
                <a:latin typeface="Gulim"/>
                <a:cs typeface="Gulim"/>
              </a:rPr>
              <a:t> </a:t>
            </a:r>
            <a:r>
              <a:rPr sz="1700" spc="-20" dirty="0">
                <a:latin typeface="Gulim"/>
                <a:cs typeface="Gulim"/>
              </a:rPr>
              <a:t>자료구조 </a:t>
            </a:r>
            <a:r>
              <a:rPr sz="1700" dirty="0">
                <a:latin typeface="Gulim"/>
                <a:cs typeface="Gulim"/>
              </a:rPr>
              <a:t>단계별</a:t>
            </a:r>
            <a:r>
              <a:rPr sz="1700" spc="-110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그림과</a:t>
            </a:r>
            <a:r>
              <a:rPr sz="1700" spc="-120" dirty="0">
                <a:latin typeface="Gulim"/>
                <a:cs typeface="Gulim"/>
              </a:rPr>
              <a:t> </a:t>
            </a:r>
            <a:r>
              <a:rPr sz="1700" dirty="0">
                <a:latin typeface="Arial"/>
                <a:cs typeface="Arial"/>
              </a:rPr>
              <a:t>VS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Gulim"/>
                <a:cs typeface="Gulim"/>
              </a:rPr>
              <a:t>인접리스트</a:t>
            </a:r>
            <a:r>
              <a:rPr sz="1700" spc="-120" dirty="0">
                <a:latin typeface="Gulim"/>
                <a:cs typeface="Gulim"/>
              </a:rPr>
              <a:t> </a:t>
            </a:r>
            <a:r>
              <a:rPr sz="1700" spc="-10" dirty="0">
                <a:latin typeface="Gulim"/>
                <a:cs typeface="Gulim"/>
              </a:rPr>
              <a:t>자료구조를</a:t>
            </a:r>
            <a:endParaRPr sz="17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700" dirty="0">
                <a:latin typeface="Gulim"/>
                <a:cs typeface="Gulim"/>
              </a:rPr>
              <a:t>비교해보니</a:t>
            </a:r>
            <a:r>
              <a:rPr sz="1700" spc="-114" dirty="0">
                <a:latin typeface="Gulim"/>
                <a:cs typeface="Gulim"/>
              </a:rPr>
              <a:t> </a:t>
            </a:r>
            <a:r>
              <a:rPr sz="1700" spc="-10" dirty="0">
                <a:latin typeface="Gulim"/>
                <a:cs typeface="Gulim"/>
              </a:rPr>
              <a:t>일치합니다</a:t>
            </a:r>
            <a:r>
              <a:rPr sz="1700" spc="-10" dirty="0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  <a:p>
            <a:pPr marL="12700" marR="481330">
              <a:lnSpc>
                <a:spcPct val="124000"/>
              </a:lnSpc>
            </a:pPr>
            <a:r>
              <a:rPr sz="1700" dirty="0">
                <a:latin typeface="Gulim"/>
                <a:cs typeface="Gulim"/>
              </a:rPr>
              <a:t>향후</a:t>
            </a:r>
            <a:r>
              <a:rPr sz="1700" spc="-110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에러가</a:t>
            </a:r>
            <a:r>
              <a:rPr sz="1700" spc="-114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발생하면</a:t>
            </a:r>
            <a:r>
              <a:rPr sz="1700" spc="-100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디버깅을</a:t>
            </a:r>
            <a:r>
              <a:rPr sz="1700" spc="-114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할</a:t>
            </a:r>
            <a:r>
              <a:rPr sz="1700" spc="-100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수</a:t>
            </a:r>
            <a:r>
              <a:rPr sz="1700" spc="-90" dirty="0">
                <a:latin typeface="Gulim"/>
                <a:cs typeface="Gulim"/>
              </a:rPr>
              <a:t> </a:t>
            </a:r>
            <a:r>
              <a:rPr sz="1700" spc="-10" dirty="0">
                <a:latin typeface="Gulim"/>
                <a:cs typeface="Gulim"/>
              </a:rPr>
              <a:t>있습니다</a:t>
            </a:r>
            <a:r>
              <a:rPr sz="1700" spc="-10" dirty="0">
                <a:latin typeface="Arial"/>
                <a:cs typeface="Arial"/>
              </a:rPr>
              <a:t>. </a:t>
            </a:r>
            <a:r>
              <a:rPr sz="1700" dirty="0">
                <a:latin typeface="Gulim"/>
                <a:cs typeface="Gulim"/>
              </a:rPr>
              <a:t>디버깅은</a:t>
            </a:r>
            <a:r>
              <a:rPr sz="1700" spc="-125" dirty="0">
                <a:latin typeface="Gulim"/>
                <a:cs typeface="Gulim"/>
              </a:rPr>
              <a:t> </a:t>
            </a:r>
            <a:r>
              <a:rPr sz="1700" dirty="0">
                <a:latin typeface="Arial"/>
                <a:cs typeface="Arial"/>
              </a:rPr>
              <a:t>Line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by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Line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Gulim"/>
                <a:cs typeface="Gulim"/>
              </a:rPr>
              <a:t>예측값과</a:t>
            </a:r>
            <a:r>
              <a:rPr sz="1700" spc="-125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실행값</a:t>
            </a:r>
            <a:r>
              <a:rPr sz="1700" spc="-125" dirty="0">
                <a:latin typeface="Gulim"/>
                <a:cs typeface="Gulim"/>
              </a:rPr>
              <a:t> </a:t>
            </a:r>
            <a:r>
              <a:rPr sz="1700" spc="-20" dirty="0">
                <a:latin typeface="Gulim"/>
                <a:cs typeface="Gulim"/>
              </a:rPr>
              <a:t>비교인데</a:t>
            </a:r>
            <a:endParaRPr sz="17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700" dirty="0">
                <a:latin typeface="Gulim"/>
                <a:cs typeface="Gulim"/>
              </a:rPr>
              <a:t>제가</a:t>
            </a:r>
            <a:r>
              <a:rPr sz="1700" spc="-100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만든</a:t>
            </a:r>
            <a:r>
              <a:rPr sz="1700" spc="-100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자료구조</a:t>
            </a:r>
            <a:r>
              <a:rPr sz="1700" spc="-114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그림으로</a:t>
            </a:r>
            <a:r>
              <a:rPr sz="1700" spc="-114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예측값</a:t>
            </a:r>
            <a:r>
              <a:rPr sz="1700" spc="-100" dirty="0">
                <a:latin typeface="Gulim"/>
                <a:cs typeface="Gulim"/>
              </a:rPr>
              <a:t> </a:t>
            </a:r>
            <a:r>
              <a:rPr sz="1700" spc="-25" dirty="0">
                <a:latin typeface="Gulim"/>
                <a:cs typeface="Gulim"/>
              </a:rPr>
              <a:t>만들고</a:t>
            </a:r>
            <a:endParaRPr sz="1700">
              <a:latin typeface="Gulim"/>
              <a:cs typeface="Gulim"/>
            </a:endParaRPr>
          </a:p>
          <a:p>
            <a:pPr marL="12700" marR="5080">
              <a:lnSpc>
                <a:spcPts val="2530"/>
              </a:lnSpc>
              <a:spcBef>
                <a:spcPts val="100"/>
              </a:spcBef>
            </a:pPr>
            <a:r>
              <a:rPr sz="1700" dirty="0">
                <a:latin typeface="Arial"/>
                <a:cs typeface="Arial"/>
              </a:rPr>
              <a:t>VS</a:t>
            </a:r>
            <a:r>
              <a:rPr sz="1700" dirty="0">
                <a:latin typeface="Gulim"/>
                <a:cs typeface="Gulim"/>
              </a:rPr>
              <a:t>에서</a:t>
            </a:r>
            <a:r>
              <a:rPr sz="1700" spc="-120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한줄씩</a:t>
            </a:r>
            <a:r>
              <a:rPr sz="1700" spc="-105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실행하면서</a:t>
            </a:r>
            <a:r>
              <a:rPr sz="1700" spc="-120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실행값이</a:t>
            </a:r>
            <a:r>
              <a:rPr sz="1700" spc="-120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로컬창에</a:t>
            </a:r>
            <a:r>
              <a:rPr sz="1700" spc="-105" dirty="0">
                <a:latin typeface="Gulim"/>
                <a:cs typeface="Gulim"/>
              </a:rPr>
              <a:t> </a:t>
            </a:r>
            <a:r>
              <a:rPr sz="1700" spc="-25" dirty="0">
                <a:latin typeface="Gulim"/>
                <a:cs typeface="Gulim"/>
              </a:rPr>
              <a:t>나오면 </a:t>
            </a:r>
            <a:r>
              <a:rPr sz="1700" dirty="0">
                <a:latin typeface="Gulim"/>
                <a:cs typeface="Gulim"/>
              </a:rPr>
              <a:t>비교하여</a:t>
            </a:r>
            <a:r>
              <a:rPr sz="1700" spc="-114" dirty="0">
                <a:latin typeface="Gulim"/>
                <a:cs typeface="Gulim"/>
              </a:rPr>
              <a:t> </a:t>
            </a:r>
            <a:r>
              <a:rPr sz="1700" dirty="0">
                <a:latin typeface="Gulim"/>
                <a:cs typeface="Gulim"/>
              </a:rPr>
              <a:t>에러</a:t>
            </a:r>
            <a:r>
              <a:rPr sz="1700" spc="-100" dirty="0">
                <a:latin typeface="Gulim"/>
                <a:cs typeface="Gulim"/>
              </a:rPr>
              <a:t> </a:t>
            </a:r>
            <a:r>
              <a:rPr sz="1700" spc="-10" dirty="0">
                <a:latin typeface="Gulim"/>
                <a:cs typeface="Gulim"/>
              </a:rPr>
              <a:t>수정하겠습니다</a:t>
            </a:r>
            <a:endParaRPr sz="1700">
              <a:latin typeface="Gulim"/>
              <a:cs typeface="Gulim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23100" y="4072978"/>
            <a:ext cx="2511856" cy="118960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spc="-2165" dirty="0"/>
              <a:t>휴식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1797" y="1923026"/>
            <a:ext cx="6737984" cy="402590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spc="-10" dirty="0">
                <a:latin typeface="Gulim"/>
                <a:cs typeface="Gulim"/>
              </a:rPr>
              <a:t>그래프란</a:t>
            </a:r>
            <a:r>
              <a:rPr sz="2400" spc="-10" dirty="0"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spc="-20" dirty="0">
                <a:latin typeface="Gulim"/>
                <a:cs typeface="Gulim"/>
              </a:rPr>
              <a:t>그래프의</a:t>
            </a:r>
            <a:r>
              <a:rPr sz="2400" spc="-170" dirty="0">
                <a:latin typeface="Gulim"/>
                <a:cs typeface="Gulim"/>
              </a:rPr>
              <a:t> </a:t>
            </a:r>
            <a:r>
              <a:rPr sz="2400" spc="-10" dirty="0">
                <a:latin typeface="Gulim"/>
                <a:cs typeface="Gulim"/>
              </a:rPr>
              <a:t>정의와</a:t>
            </a:r>
            <a:r>
              <a:rPr sz="2400" spc="-17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용어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spc="-20" dirty="0">
                <a:latin typeface="Gulim"/>
                <a:cs typeface="Gulim"/>
              </a:rPr>
              <a:t>그래프의</a:t>
            </a:r>
            <a:r>
              <a:rPr sz="2400" spc="-180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표현</a:t>
            </a:r>
            <a:r>
              <a:rPr sz="2400" dirty="0">
                <a:latin typeface="Arial"/>
                <a:cs typeface="Arial"/>
              </a:rPr>
              <a:t>(</a:t>
            </a:r>
            <a:r>
              <a:rPr sz="2400" dirty="0">
                <a:latin typeface="Gulim"/>
                <a:cs typeface="Gulim"/>
              </a:rPr>
              <a:t>구현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25" dirty="0">
                <a:latin typeface="Gulim"/>
                <a:cs typeface="Gulim"/>
              </a:rPr>
              <a:t>방법</a:t>
            </a:r>
            <a:endParaRPr sz="24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465"/>
              </a:spcBef>
              <a:buClr>
                <a:srgbClr val="DD8046"/>
              </a:buClr>
              <a:buFont typeface="Arial"/>
              <a:buAutoNum type="arabicPeriod"/>
            </a:pP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spc="-20" dirty="0">
                <a:latin typeface="Gulim"/>
                <a:cs typeface="Gulim"/>
              </a:rPr>
              <a:t>그래프의</a:t>
            </a:r>
            <a:r>
              <a:rPr sz="2400" spc="-16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탐색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dirty="0">
                <a:latin typeface="Gulim"/>
                <a:cs typeface="Gulim"/>
              </a:rPr>
              <a:t>깊이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우선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탐색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dirty="0">
                <a:latin typeface="Gulim"/>
                <a:cs typeface="Gulim"/>
              </a:rPr>
              <a:t>너비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우선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탐색</a:t>
            </a:r>
            <a:endParaRPr sz="24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2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*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Gulim"/>
                <a:cs typeface="Gulim"/>
              </a:rPr>
              <a:t>정답이</a:t>
            </a:r>
            <a:r>
              <a:rPr sz="2400" spc="-155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있는</a:t>
            </a:r>
            <a:r>
              <a:rPr sz="2400" spc="-165" dirty="0">
                <a:latin typeface="Gulim"/>
                <a:cs typeface="Gulim"/>
              </a:rPr>
              <a:t> </a:t>
            </a:r>
            <a:r>
              <a:rPr sz="2400" spc="-20" dirty="0">
                <a:latin typeface="Gulim"/>
                <a:cs typeface="Gulim"/>
              </a:rPr>
              <a:t>연습문제</a:t>
            </a:r>
            <a:r>
              <a:rPr sz="2400" spc="-165" dirty="0">
                <a:latin typeface="Gulim"/>
                <a:cs typeface="Gulim"/>
              </a:rPr>
              <a:t> </a:t>
            </a:r>
            <a:r>
              <a:rPr sz="2400" spc="-20" dirty="0">
                <a:latin typeface="Gulim"/>
                <a:cs typeface="Gulim"/>
              </a:rPr>
              <a:t>홀수문제</a:t>
            </a:r>
            <a:r>
              <a:rPr sz="2400" spc="-165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꼭</a:t>
            </a:r>
            <a:r>
              <a:rPr sz="2400" spc="-170" dirty="0">
                <a:latin typeface="Gulim"/>
                <a:cs typeface="Gulim"/>
              </a:rPr>
              <a:t> </a:t>
            </a:r>
            <a:r>
              <a:rPr sz="2400" spc="-10" dirty="0">
                <a:latin typeface="Gulim"/>
                <a:cs typeface="Gulim"/>
              </a:rPr>
              <a:t>해결해보세요</a:t>
            </a:r>
            <a:endParaRPr sz="2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62494" y="1629803"/>
            <a:ext cx="8543925" cy="228600"/>
          </a:xfrm>
          <a:custGeom>
            <a:avLst/>
            <a:gdLst/>
            <a:ahLst/>
            <a:cxnLst/>
            <a:rect l="l" t="t" r="r" b="b"/>
            <a:pathLst>
              <a:path w="8543925" h="228600">
                <a:moveTo>
                  <a:pt x="8543340" y="0"/>
                </a:moveTo>
                <a:lnTo>
                  <a:pt x="0" y="0"/>
                </a:lnTo>
                <a:lnTo>
                  <a:pt x="0" y="228473"/>
                </a:lnTo>
                <a:lnTo>
                  <a:pt x="8543340" y="228473"/>
                </a:lnTo>
                <a:lnTo>
                  <a:pt x="8543340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2190" dirty="0" err="1"/>
              <a:t>그래프</a:t>
            </a:r>
            <a:r>
              <a:rPr spc="-260" dirty="0"/>
              <a:t> </a:t>
            </a:r>
            <a:r>
              <a:rPr spc="-1395" dirty="0"/>
              <a:t>탐색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63763" y="1978099"/>
            <a:ext cx="7938770" cy="2427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60000"/>
              <a:buFont typeface="Segoe UI Symbol"/>
              <a:buChar char="□"/>
              <a:tabLst>
                <a:tab pos="332105" algn="l"/>
              </a:tabLst>
            </a:pPr>
            <a:r>
              <a:rPr sz="2000" dirty="0">
                <a:latin typeface="Gulim"/>
                <a:cs typeface="Gulim"/>
              </a:rPr>
              <a:t>하나의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정점으로부터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시작하여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차례대로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solidFill>
                  <a:srgbClr val="FF0000"/>
                </a:solidFill>
                <a:latin typeface="Gulim"/>
                <a:cs typeface="Gulim"/>
              </a:rPr>
              <a:t>모든</a:t>
            </a:r>
            <a:r>
              <a:rPr sz="2000" spc="-130" dirty="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sz="2000" dirty="0">
                <a:solidFill>
                  <a:srgbClr val="FF0000"/>
                </a:solidFill>
                <a:latin typeface="Gulim"/>
                <a:cs typeface="Gulim"/>
              </a:rPr>
              <a:t>정점</a:t>
            </a:r>
            <a:r>
              <a:rPr sz="2000" dirty="0">
                <a:latin typeface="Gulim"/>
                <a:cs typeface="Gulim"/>
              </a:rPr>
              <a:t>들을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solidFill>
                  <a:srgbClr val="FF0000"/>
                </a:solidFill>
                <a:latin typeface="Gulim"/>
                <a:cs typeface="Gulim"/>
              </a:rPr>
              <a:t>한번씩만</a:t>
            </a:r>
            <a:r>
              <a:rPr sz="2000" spc="-130" dirty="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sz="2000" spc="-50" dirty="0">
                <a:latin typeface="Gulim"/>
                <a:cs typeface="Gulim"/>
              </a:rPr>
              <a:t>방 </a:t>
            </a:r>
            <a:r>
              <a:rPr sz="2000" dirty="0">
                <a:latin typeface="Gulim"/>
                <a:cs typeface="Gulim"/>
              </a:rPr>
              <a:t>문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Arial"/>
                <a:cs typeface="Arial"/>
              </a:rPr>
              <a:t>( </a:t>
            </a:r>
            <a:r>
              <a:rPr sz="2000" dirty="0">
                <a:latin typeface="Gulim"/>
                <a:cs typeface="Gulim"/>
              </a:rPr>
              <a:t>무한루프에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빠지지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말아야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함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" dirty="0">
                <a:latin typeface="Gulim"/>
                <a:cs typeface="Gulim"/>
              </a:rPr>
              <a:t>미로탈출</a:t>
            </a:r>
            <a:r>
              <a:rPr sz="2000" spc="-1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332105" marR="257175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000"/>
              <a:buFont typeface="Segoe UI Symbol"/>
              <a:buChar char="□"/>
              <a:tabLst>
                <a:tab pos="332105" algn="l"/>
              </a:tabLst>
            </a:pPr>
            <a:r>
              <a:rPr sz="2000" dirty="0">
                <a:latin typeface="Gulim"/>
                <a:cs typeface="Gulim"/>
              </a:rPr>
              <a:t>미로탈출문제에서</a:t>
            </a:r>
            <a:r>
              <a:rPr sz="2000" spc="-15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출구를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찾을려면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모든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길을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가보아야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하고</a:t>
            </a:r>
            <a:r>
              <a:rPr sz="2000" spc="-114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한번 </a:t>
            </a:r>
            <a:r>
              <a:rPr sz="2000" dirty="0">
                <a:latin typeface="Gulim"/>
                <a:cs typeface="Gulim"/>
              </a:rPr>
              <a:t>간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길은</a:t>
            </a:r>
            <a:r>
              <a:rPr sz="2000" spc="-114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다시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방문하지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말아야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무한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루프에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빠지지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않음</a:t>
            </a:r>
            <a:endParaRPr sz="20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000"/>
              <a:buFont typeface="Segoe UI Symbol"/>
              <a:buChar char="□"/>
              <a:tabLst>
                <a:tab pos="332105" algn="l"/>
              </a:tabLst>
            </a:pPr>
            <a:r>
              <a:rPr sz="2000" dirty="0">
                <a:latin typeface="Gulim"/>
                <a:cs typeface="Gulim"/>
              </a:rPr>
              <a:t>많은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문제들이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단순히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그래프의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노드를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탐색하는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것으로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해결</a:t>
            </a:r>
            <a:endParaRPr sz="20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605"/>
              </a:spcBef>
            </a:pPr>
            <a:r>
              <a:rPr sz="1800" dirty="0">
                <a:latin typeface="Arial"/>
                <a:cs typeface="Arial"/>
              </a:rPr>
              <a:t>(</a:t>
            </a:r>
            <a:r>
              <a:rPr sz="1800" dirty="0">
                <a:latin typeface="Gulim"/>
                <a:cs typeface="Gulim"/>
              </a:rPr>
              <a:t>예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0" dirty="0">
                <a:latin typeface="Gulim"/>
                <a:cs typeface="Gulim"/>
              </a:rPr>
              <a:t>도로망에서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특정</a:t>
            </a:r>
            <a:r>
              <a:rPr sz="1800" spc="-12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도시에서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다른</a:t>
            </a:r>
            <a:r>
              <a:rPr sz="1800" spc="-135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도시로</a:t>
            </a:r>
            <a:r>
              <a:rPr sz="1800" spc="-12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갈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수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있는지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spc="-25" dirty="0">
                <a:latin typeface="Gulim"/>
                <a:cs typeface="Gulim"/>
              </a:rPr>
              <a:t>여부</a:t>
            </a:r>
            <a:endParaRPr sz="18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latin typeface="Arial"/>
                <a:cs typeface="Arial"/>
              </a:rPr>
              <a:t>(</a:t>
            </a:r>
            <a:r>
              <a:rPr sz="1800" dirty="0">
                <a:latin typeface="Gulim"/>
                <a:cs typeface="Gulim"/>
              </a:rPr>
              <a:t>예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Gulim"/>
                <a:cs typeface="Gulim"/>
              </a:rPr>
              <a:t>전자회로에서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특정</a:t>
            </a:r>
            <a:r>
              <a:rPr sz="1800" spc="-12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단자와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다른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단자가</a:t>
            </a:r>
            <a:r>
              <a:rPr sz="1800" spc="-12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서로</a:t>
            </a:r>
            <a:r>
              <a:rPr sz="1800" spc="-120" dirty="0">
                <a:latin typeface="Gulim"/>
                <a:cs typeface="Gulim"/>
              </a:rPr>
              <a:t> </a:t>
            </a:r>
            <a:r>
              <a:rPr sz="1800" spc="-20" dirty="0">
                <a:latin typeface="Gulim"/>
                <a:cs typeface="Gulim"/>
              </a:rPr>
              <a:t>연결되어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있는지</a:t>
            </a:r>
            <a:r>
              <a:rPr sz="1800" spc="-120" dirty="0">
                <a:latin typeface="Gulim"/>
                <a:cs typeface="Gulim"/>
              </a:rPr>
              <a:t> </a:t>
            </a:r>
            <a:r>
              <a:rPr sz="1800" spc="-25" dirty="0">
                <a:latin typeface="Gulim"/>
                <a:cs typeface="Gulim"/>
              </a:rPr>
              <a:t>여부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2604" y="4446155"/>
            <a:ext cx="3862158" cy="253457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90" dirty="0"/>
              <a:t>그래프</a:t>
            </a:r>
            <a:r>
              <a:rPr spc="-260" dirty="0"/>
              <a:t> </a:t>
            </a:r>
            <a:r>
              <a:rPr spc="-1395" dirty="0"/>
              <a:t>탐색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2443" y="1889752"/>
            <a:ext cx="5737860" cy="93345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58333"/>
              <a:buFont typeface="Segoe UI Symbol"/>
              <a:buChar char="□"/>
              <a:tabLst>
                <a:tab pos="332105" algn="l"/>
              </a:tabLst>
            </a:pPr>
            <a:r>
              <a:rPr sz="2400" dirty="0">
                <a:latin typeface="Gulim"/>
                <a:cs typeface="Gulim"/>
              </a:rPr>
              <a:t>깊이</a:t>
            </a:r>
            <a:r>
              <a:rPr sz="2400" spc="-200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우선</a:t>
            </a:r>
            <a:r>
              <a:rPr sz="2400" spc="-195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탐색</a:t>
            </a:r>
            <a:r>
              <a:rPr sz="2400" dirty="0">
                <a:latin typeface="Arial"/>
                <a:cs typeface="Arial"/>
              </a:rPr>
              <a:t>(DFS: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depth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first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search)</a:t>
            </a:r>
            <a:endParaRPr sz="24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SzPct val="58333"/>
              <a:buFont typeface="Segoe UI Symbol"/>
              <a:buChar char="□"/>
              <a:tabLst>
                <a:tab pos="332105" algn="l"/>
              </a:tabLst>
            </a:pPr>
            <a:r>
              <a:rPr sz="2400" dirty="0">
                <a:latin typeface="Gulim"/>
                <a:cs typeface="Gulim"/>
              </a:rPr>
              <a:t>너비</a:t>
            </a:r>
            <a:r>
              <a:rPr sz="2400" spc="-200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우선</a:t>
            </a:r>
            <a:r>
              <a:rPr sz="2400" spc="-195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탐색</a:t>
            </a:r>
            <a:r>
              <a:rPr sz="2400" dirty="0">
                <a:latin typeface="Arial"/>
                <a:cs typeface="Arial"/>
              </a:rPr>
              <a:t>(BFS: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breath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first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search)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206" y="3317562"/>
            <a:ext cx="7307926" cy="259008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62443" y="704721"/>
            <a:ext cx="44094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7430" algn="l"/>
                <a:tab pos="1944370" algn="l"/>
              </a:tabLst>
            </a:pPr>
            <a:r>
              <a:rPr spc="-1789" dirty="0"/>
              <a:t>깊이</a:t>
            </a:r>
            <a:r>
              <a:rPr dirty="0"/>
              <a:t>	</a:t>
            </a:r>
            <a:r>
              <a:rPr spc="-2165" dirty="0"/>
              <a:t>우선</a:t>
            </a:r>
            <a:r>
              <a:rPr dirty="0"/>
              <a:t>	</a:t>
            </a:r>
            <a:r>
              <a:rPr spc="-405" dirty="0"/>
              <a:t>탐색</a:t>
            </a:r>
            <a:r>
              <a:rPr spc="-405" dirty="0">
                <a:latin typeface="Lucida Console"/>
                <a:cs typeface="Lucida Console"/>
              </a:rPr>
              <a:t>(DFS)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2443" y="1777170"/>
            <a:ext cx="7932420" cy="315214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30"/>
              </a:spcBef>
              <a:buClr>
                <a:srgbClr val="DD8046"/>
              </a:buClr>
              <a:buSzPct val="58333"/>
              <a:buFont typeface="Segoe UI Symbol"/>
              <a:buChar char="□"/>
              <a:tabLst>
                <a:tab pos="332105" algn="l"/>
              </a:tabLst>
            </a:pPr>
            <a:r>
              <a:rPr sz="2400" b="1" dirty="0">
                <a:latin typeface="Gulim"/>
                <a:cs typeface="Gulim"/>
              </a:rPr>
              <a:t>깊이</a:t>
            </a:r>
            <a:r>
              <a:rPr sz="2400" b="1" spc="-114" dirty="0">
                <a:latin typeface="Gulim"/>
                <a:cs typeface="Gulim"/>
              </a:rPr>
              <a:t> </a:t>
            </a:r>
            <a:r>
              <a:rPr sz="2400" b="1" dirty="0">
                <a:latin typeface="Gulim"/>
                <a:cs typeface="Gulim"/>
              </a:rPr>
              <a:t>우선</a:t>
            </a:r>
            <a:r>
              <a:rPr sz="2400" b="1" spc="-114" dirty="0">
                <a:latin typeface="Gulim"/>
                <a:cs typeface="Gulim"/>
              </a:rPr>
              <a:t> </a:t>
            </a:r>
            <a:r>
              <a:rPr sz="2400" b="1" dirty="0">
                <a:latin typeface="Gulim"/>
                <a:cs typeface="Gulim"/>
              </a:rPr>
              <a:t>탐색</a:t>
            </a:r>
            <a:r>
              <a:rPr sz="2400" b="1" spc="-114" dirty="0">
                <a:latin typeface="Gulim"/>
                <a:cs typeface="Gulim"/>
              </a:rPr>
              <a:t> </a:t>
            </a:r>
            <a:r>
              <a:rPr sz="2400" dirty="0">
                <a:latin typeface="Trebuchet MS"/>
                <a:cs typeface="Trebuchet MS"/>
              </a:rPr>
              <a:t>(DFS:</a:t>
            </a:r>
            <a:r>
              <a:rPr sz="2400" spc="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depth-</a:t>
            </a:r>
            <a:r>
              <a:rPr sz="2400" dirty="0">
                <a:latin typeface="Trebuchet MS"/>
                <a:cs typeface="Trebuchet MS"/>
              </a:rPr>
              <a:t>first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search)</a:t>
            </a:r>
            <a:endParaRPr sz="2400">
              <a:latin typeface="Trebuchet MS"/>
              <a:cs typeface="Trebuchet MS"/>
            </a:endParaRPr>
          </a:p>
          <a:p>
            <a:pPr marL="651510" marR="65405" indent="-274320">
              <a:lnSpc>
                <a:spcPct val="100000"/>
              </a:lnSpc>
              <a:spcBef>
                <a:spcPts val="615"/>
              </a:spcBef>
            </a:pPr>
            <a:r>
              <a:rPr sz="1400" spc="-70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400" spc="100" dirty="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latin typeface="Gulim"/>
                <a:cs typeface="Gulim"/>
              </a:rPr>
              <a:t>한</a:t>
            </a:r>
            <a:r>
              <a:rPr sz="2000" spc="-6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방향으로</a:t>
            </a:r>
            <a:r>
              <a:rPr sz="2000" spc="-9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갈</a:t>
            </a:r>
            <a:r>
              <a:rPr sz="2000" spc="-7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수</a:t>
            </a:r>
            <a:r>
              <a:rPr sz="2000" spc="-7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있을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때까지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가다가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더</a:t>
            </a:r>
            <a:r>
              <a:rPr sz="2000" spc="-7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이상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갈</a:t>
            </a:r>
            <a:r>
              <a:rPr sz="2000" spc="-7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수</a:t>
            </a:r>
            <a:r>
              <a:rPr sz="2000" spc="-7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없게</a:t>
            </a:r>
            <a:r>
              <a:rPr sz="2000" spc="-70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되면 </a:t>
            </a:r>
            <a:r>
              <a:rPr sz="2000" dirty="0">
                <a:latin typeface="Gulim"/>
                <a:cs typeface="Gulim"/>
              </a:rPr>
              <a:t>가장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가까운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갈림길로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돌아와서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이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곳으로부터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다른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방향으로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spc="-50" dirty="0">
                <a:latin typeface="Gulim"/>
                <a:cs typeface="Gulim"/>
              </a:rPr>
              <a:t>다 </a:t>
            </a:r>
            <a:r>
              <a:rPr sz="2000" dirty="0">
                <a:latin typeface="Gulim"/>
                <a:cs typeface="Gulim"/>
              </a:rPr>
              <a:t>시</a:t>
            </a:r>
            <a:r>
              <a:rPr sz="2000" spc="-7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탐색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진행</a:t>
            </a:r>
            <a:endParaRPr sz="2000">
              <a:latin typeface="Gulim"/>
              <a:cs typeface="Gulim"/>
            </a:endParaRPr>
          </a:p>
          <a:p>
            <a:pPr marL="651510" marR="125095" indent="-274320">
              <a:lnSpc>
                <a:spcPct val="100000"/>
              </a:lnSpc>
              <a:spcBef>
                <a:spcPts val="595"/>
              </a:spcBef>
            </a:pPr>
            <a:r>
              <a:rPr sz="1400" spc="-70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400" spc="100" dirty="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latin typeface="Gulim"/>
                <a:cs typeface="Gulim"/>
              </a:rPr>
              <a:t>되돌아가기</a:t>
            </a:r>
            <a:r>
              <a:rPr sz="2000" spc="-9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위해서는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스택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필요</a:t>
            </a:r>
            <a:r>
              <a:rPr sz="2000" dirty="0">
                <a:latin typeface="Trebuchet MS"/>
                <a:cs typeface="Trebuchet MS"/>
              </a:rPr>
              <a:t>(</a:t>
            </a:r>
            <a:r>
              <a:rPr sz="2000" dirty="0">
                <a:latin typeface="Gulim"/>
                <a:cs typeface="Gulim"/>
              </a:rPr>
              <a:t>순환함수</a:t>
            </a:r>
            <a:r>
              <a:rPr sz="2000" spc="-8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호출로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묵시적인</a:t>
            </a:r>
            <a:r>
              <a:rPr sz="2000" spc="-95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스택 </a:t>
            </a:r>
            <a:r>
              <a:rPr sz="2000" dirty="0">
                <a:latin typeface="Gulim"/>
                <a:cs typeface="Gulim"/>
              </a:rPr>
              <a:t>이용</a:t>
            </a:r>
            <a:r>
              <a:rPr sz="2000" spc="-90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가능</a:t>
            </a:r>
            <a:r>
              <a:rPr sz="2000" spc="-25" dirty="0">
                <a:latin typeface="Trebuchet MS"/>
                <a:cs typeface="Trebuchet MS"/>
              </a:rPr>
              <a:t>)</a:t>
            </a:r>
            <a:endParaRPr sz="2000">
              <a:latin typeface="Trebuchet MS"/>
              <a:cs typeface="Trebuchet MS"/>
            </a:endParaRPr>
          </a:p>
          <a:p>
            <a:pPr marL="651510" marR="5080" indent="-274320" algn="just">
              <a:lnSpc>
                <a:spcPct val="100000"/>
              </a:lnSpc>
              <a:spcBef>
                <a:spcPts val="595"/>
              </a:spcBef>
            </a:pPr>
            <a:r>
              <a:rPr sz="1400" spc="-76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400" spc="160" dirty="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latin typeface="Gulim"/>
                <a:cs typeface="Gulim"/>
              </a:rPr>
              <a:t>미로탐출은</a:t>
            </a:r>
            <a:r>
              <a:rPr sz="2000" spc="-16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위에서</a:t>
            </a:r>
            <a:r>
              <a:rPr sz="2000" spc="-8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보면</a:t>
            </a:r>
            <a:r>
              <a:rPr sz="2000" spc="-6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출구가</a:t>
            </a:r>
            <a:r>
              <a:rPr sz="2000" spc="-6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보이지만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옆에서</a:t>
            </a:r>
            <a:r>
              <a:rPr sz="2000" spc="-7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보면</a:t>
            </a:r>
            <a:r>
              <a:rPr sz="2000" spc="-5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출구가</a:t>
            </a:r>
            <a:r>
              <a:rPr sz="2000" spc="-65" dirty="0">
                <a:latin typeface="Gulim"/>
                <a:cs typeface="Gulim"/>
              </a:rPr>
              <a:t> </a:t>
            </a:r>
            <a:r>
              <a:rPr sz="2000" spc="-50" dirty="0">
                <a:latin typeface="Gulim"/>
                <a:cs typeface="Gulim"/>
              </a:rPr>
              <a:t>안 </a:t>
            </a:r>
            <a:r>
              <a:rPr sz="2000" dirty="0">
                <a:latin typeface="Gulim"/>
                <a:cs typeface="Gulim"/>
              </a:rPr>
              <a:t>보임</a:t>
            </a:r>
            <a:r>
              <a:rPr sz="2000" dirty="0">
                <a:latin typeface="Trebuchet MS"/>
                <a:cs typeface="Trebuchet MS"/>
              </a:rPr>
              <a:t>.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Gulim"/>
                <a:cs typeface="Gulim"/>
              </a:rPr>
              <a:t>나의</a:t>
            </a:r>
            <a:r>
              <a:rPr sz="2000" spc="-85" dirty="0">
                <a:latin typeface="Gulim"/>
                <a:cs typeface="Gulim"/>
              </a:rPr>
              <a:t> </a:t>
            </a:r>
            <a:r>
              <a:rPr sz="2000" dirty="0">
                <a:latin typeface="Trebuchet MS"/>
                <a:cs typeface="Trebuchet MS"/>
              </a:rPr>
              <a:t>C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Gulim"/>
                <a:cs typeface="Gulim"/>
              </a:rPr>
              <a:t>코드도</a:t>
            </a:r>
            <a:r>
              <a:rPr sz="2000" spc="-8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출구가</a:t>
            </a:r>
            <a:r>
              <a:rPr sz="2000" spc="-8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안보임</a:t>
            </a:r>
            <a:r>
              <a:rPr sz="2000" dirty="0">
                <a:latin typeface="Trebuchet MS"/>
                <a:cs typeface="Trebuchet MS"/>
              </a:rPr>
              <a:t>.</a:t>
            </a:r>
            <a:r>
              <a:rPr sz="2000" spc="-15" dirty="0">
                <a:latin typeface="Trebuchet MS"/>
                <a:cs typeface="Trebuchet MS"/>
              </a:rPr>
              <a:t> </a:t>
            </a:r>
            <a:r>
              <a:rPr sz="2000" dirty="0">
                <a:latin typeface="Gulim"/>
                <a:cs typeface="Gulim"/>
              </a:rPr>
              <a:t>하지만</a:t>
            </a:r>
            <a:r>
              <a:rPr sz="2000" spc="-8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나의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dirty="0">
                <a:latin typeface="Trebuchet MS"/>
                <a:cs typeface="Trebuchet MS"/>
              </a:rPr>
              <a:t>C</a:t>
            </a:r>
            <a:r>
              <a:rPr sz="2000" dirty="0">
                <a:latin typeface="Gulim"/>
                <a:cs typeface="Gulim"/>
              </a:rPr>
              <a:t>코드는</a:t>
            </a:r>
            <a:r>
              <a:rPr sz="2000" spc="-85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반드시 </a:t>
            </a:r>
            <a:r>
              <a:rPr sz="2000" dirty="0">
                <a:latin typeface="Gulim"/>
                <a:cs typeface="Gulim"/>
              </a:rPr>
              <a:t>출구를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찾아냄</a:t>
            </a:r>
            <a:r>
              <a:rPr sz="2000" spc="-80" dirty="0">
                <a:latin typeface="Gulim"/>
                <a:cs typeface="Gulim"/>
              </a:rPr>
              <a:t> </a:t>
            </a:r>
            <a:r>
              <a:rPr sz="2000" spc="1200" dirty="0">
                <a:latin typeface="Segoe UI Symbol"/>
                <a:cs typeface="Segoe UI Symbol"/>
              </a:rPr>
              <a:t>ç</a:t>
            </a:r>
            <a:r>
              <a:rPr sz="2000" spc="45" dirty="0">
                <a:latin typeface="Segoe UI Symbol"/>
                <a:cs typeface="Segoe UI Symbol"/>
              </a:rPr>
              <a:t> </a:t>
            </a:r>
            <a:r>
              <a:rPr sz="2000" spc="-25" dirty="0">
                <a:latin typeface="Gulim"/>
                <a:cs typeface="Gulim"/>
              </a:rPr>
              <a:t>어떻게</a:t>
            </a:r>
            <a:endParaRPr sz="20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3260" y="5127028"/>
            <a:ext cx="2967024" cy="19740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8900" y="5200141"/>
            <a:ext cx="4710099" cy="18613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DFS</a:t>
            </a:r>
            <a:r>
              <a:rPr spc="-60" dirty="0">
                <a:latin typeface="Tw Cen MT"/>
                <a:cs typeface="Tw Cen MT"/>
              </a:rPr>
              <a:t> </a:t>
            </a:r>
            <a:r>
              <a:rPr spc="-2125" dirty="0"/>
              <a:t>알고리즘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2008" y="2558786"/>
            <a:ext cx="7388810" cy="325730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DFS</a:t>
            </a:r>
            <a:r>
              <a:rPr spc="-60" dirty="0">
                <a:latin typeface="Tw Cen MT"/>
                <a:cs typeface="Tw Cen MT"/>
              </a:rPr>
              <a:t> </a:t>
            </a:r>
            <a:r>
              <a:rPr spc="-2125" dirty="0"/>
              <a:t>알고리즘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9305" y="2541100"/>
            <a:ext cx="7703157" cy="33722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DFS</a:t>
            </a:r>
            <a:r>
              <a:rPr spc="-50" dirty="0">
                <a:latin typeface="Tw Cen MT"/>
                <a:cs typeface="Tw Cen MT"/>
              </a:rPr>
              <a:t> </a:t>
            </a:r>
            <a:r>
              <a:rPr spc="-2295" dirty="0"/>
              <a:t>프로그램</a:t>
            </a:r>
            <a:r>
              <a:rPr spc="-260" dirty="0"/>
              <a:t> </a:t>
            </a:r>
            <a:r>
              <a:rPr spc="-10" dirty="0">
                <a:latin typeface="Tw Cen MT"/>
                <a:cs typeface="Tw Cen MT"/>
              </a:rPr>
              <a:t>(bfs.c)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64018" y="2281720"/>
            <a:ext cx="7937500" cy="2658110"/>
            <a:chOff x="1364018" y="2281720"/>
            <a:chExt cx="7937500" cy="2658110"/>
          </a:xfrm>
        </p:grpSpPr>
        <p:sp>
          <p:nvSpPr>
            <p:cNvPr id="4" name="object 4"/>
            <p:cNvSpPr/>
            <p:nvPr/>
          </p:nvSpPr>
          <p:spPr>
            <a:xfrm>
              <a:off x="1377708" y="2293912"/>
              <a:ext cx="7910195" cy="2633980"/>
            </a:xfrm>
            <a:custGeom>
              <a:avLst/>
              <a:gdLst/>
              <a:ahLst/>
              <a:cxnLst/>
              <a:rect l="l" t="t" r="r" b="b"/>
              <a:pathLst>
                <a:path w="7910195" h="2633979">
                  <a:moveTo>
                    <a:pt x="7910055" y="0"/>
                  </a:moveTo>
                  <a:lnTo>
                    <a:pt x="0" y="0"/>
                  </a:lnTo>
                  <a:lnTo>
                    <a:pt x="0" y="2633573"/>
                  </a:lnTo>
                  <a:lnTo>
                    <a:pt x="7910055" y="2633573"/>
                  </a:lnTo>
                  <a:lnTo>
                    <a:pt x="791005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64018" y="2281720"/>
              <a:ext cx="7937500" cy="2658110"/>
            </a:xfrm>
            <a:custGeom>
              <a:avLst/>
              <a:gdLst/>
              <a:ahLst/>
              <a:cxnLst/>
              <a:rect l="l" t="t" r="r" b="b"/>
              <a:pathLst>
                <a:path w="7937500" h="2658110">
                  <a:moveTo>
                    <a:pt x="7937449" y="0"/>
                  </a:moveTo>
                  <a:lnTo>
                    <a:pt x="0" y="0"/>
                  </a:lnTo>
                  <a:lnTo>
                    <a:pt x="0" y="2657957"/>
                  </a:lnTo>
                  <a:lnTo>
                    <a:pt x="7937449" y="2657957"/>
                  </a:lnTo>
                  <a:lnTo>
                    <a:pt x="7937449" y="2645765"/>
                  </a:lnTo>
                  <a:lnTo>
                    <a:pt x="25869" y="2645765"/>
                  </a:lnTo>
                  <a:lnTo>
                    <a:pt x="13690" y="2632062"/>
                  </a:lnTo>
                  <a:lnTo>
                    <a:pt x="25869" y="2632062"/>
                  </a:lnTo>
                  <a:lnTo>
                    <a:pt x="25869" y="24371"/>
                  </a:lnTo>
                  <a:lnTo>
                    <a:pt x="13690" y="24371"/>
                  </a:lnTo>
                  <a:lnTo>
                    <a:pt x="25869" y="12191"/>
                  </a:lnTo>
                  <a:lnTo>
                    <a:pt x="7937449" y="12191"/>
                  </a:lnTo>
                  <a:lnTo>
                    <a:pt x="7937449" y="0"/>
                  </a:lnTo>
                  <a:close/>
                </a:path>
                <a:path w="7937500" h="2658110">
                  <a:moveTo>
                    <a:pt x="25869" y="2632062"/>
                  </a:moveTo>
                  <a:lnTo>
                    <a:pt x="13690" y="2632062"/>
                  </a:lnTo>
                  <a:lnTo>
                    <a:pt x="25869" y="2645765"/>
                  </a:lnTo>
                  <a:lnTo>
                    <a:pt x="25869" y="2632062"/>
                  </a:lnTo>
                  <a:close/>
                </a:path>
                <a:path w="7937500" h="2658110">
                  <a:moveTo>
                    <a:pt x="7911566" y="2632062"/>
                  </a:moveTo>
                  <a:lnTo>
                    <a:pt x="25869" y="2632062"/>
                  </a:lnTo>
                  <a:lnTo>
                    <a:pt x="25869" y="2645765"/>
                  </a:lnTo>
                  <a:lnTo>
                    <a:pt x="7911566" y="2645765"/>
                  </a:lnTo>
                  <a:lnTo>
                    <a:pt x="7911566" y="2632062"/>
                  </a:lnTo>
                  <a:close/>
                </a:path>
                <a:path w="7937500" h="2658110">
                  <a:moveTo>
                    <a:pt x="7911566" y="12191"/>
                  </a:moveTo>
                  <a:lnTo>
                    <a:pt x="7911566" y="2645765"/>
                  </a:lnTo>
                  <a:lnTo>
                    <a:pt x="7923745" y="2632062"/>
                  </a:lnTo>
                  <a:lnTo>
                    <a:pt x="7937449" y="2632062"/>
                  </a:lnTo>
                  <a:lnTo>
                    <a:pt x="7937449" y="24371"/>
                  </a:lnTo>
                  <a:lnTo>
                    <a:pt x="7923745" y="24371"/>
                  </a:lnTo>
                  <a:lnTo>
                    <a:pt x="7911566" y="12191"/>
                  </a:lnTo>
                  <a:close/>
                </a:path>
                <a:path w="7937500" h="2658110">
                  <a:moveTo>
                    <a:pt x="7937449" y="2632062"/>
                  </a:moveTo>
                  <a:lnTo>
                    <a:pt x="7923745" y="2632062"/>
                  </a:lnTo>
                  <a:lnTo>
                    <a:pt x="7911566" y="2645765"/>
                  </a:lnTo>
                  <a:lnTo>
                    <a:pt x="7937449" y="2645765"/>
                  </a:lnTo>
                  <a:lnTo>
                    <a:pt x="7937449" y="2632062"/>
                  </a:lnTo>
                  <a:close/>
                </a:path>
                <a:path w="7937500" h="2658110">
                  <a:moveTo>
                    <a:pt x="25869" y="12191"/>
                  </a:moveTo>
                  <a:lnTo>
                    <a:pt x="13690" y="24371"/>
                  </a:lnTo>
                  <a:lnTo>
                    <a:pt x="25869" y="24371"/>
                  </a:lnTo>
                  <a:lnTo>
                    <a:pt x="25869" y="12191"/>
                  </a:lnTo>
                  <a:close/>
                </a:path>
                <a:path w="7937500" h="2658110">
                  <a:moveTo>
                    <a:pt x="7911566" y="12191"/>
                  </a:moveTo>
                  <a:lnTo>
                    <a:pt x="25869" y="12191"/>
                  </a:lnTo>
                  <a:lnTo>
                    <a:pt x="25869" y="24371"/>
                  </a:lnTo>
                  <a:lnTo>
                    <a:pt x="7911566" y="24371"/>
                  </a:lnTo>
                  <a:lnTo>
                    <a:pt x="7911566" y="12191"/>
                  </a:lnTo>
                  <a:close/>
                </a:path>
                <a:path w="7937500" h="2658110">
                  <a:moveTo>
                    <a:pt x="7937449" y="12191"/>
                  </a:moveTo>
                  <a:lnTo>
                    <a:pt x="7911566" y="12191"/>
                  </a:lnTo>
                  <a:lnTo>
                    <a:pt x="7923745" y="24371"/>
                  </a:lnTo>
                  <a:lnTo>
                    <a:pt x="7937449" y="24371"/>
                  </a:lnTo>
                  <a:lnTo>
                    <a:pt x="7937449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54988" y="2242940"/>
            <a:ext cx="4196715" cy="107950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100" baseline="-3968" dirty="0">
                <a:latin typeface="Trebuchet MS"/>
                <a:cs typeface="Trebuchet MS"/>
              </a:rPr>
              <a:t>// </a:t>
            </a:r>
            <a:r>
              <a:rPr sz="1400" dirty="0">
                <a:latin typeface="Gulim"/>
                <a:cs typeface="Gulim"/>
              </a:rPr>
              <a:t>인접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행렬로</a:t>
            </a:r>
            <a:r>
              <a:rPr sz="1400" spc="-6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표현된</a:t>
            </a:r>
            <a:r>
              <a:rPr sz="1400" spc="-5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그래프에</a:t>
            </a:r>
            <a:r>
              <a:rPr sz="1400" spc="-6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대한</a:t>
            </a:r>
            <a:r>
              <a:rPr sz="1400" spc="-5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깊이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우선</a:t>
            </a:r>
            <a:r>
              <a:rPr sz="1400" spc="-60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탐색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400" dirty="0">
                <a:latin typeface="Trebuchet MS"/>
                <a:cs typeface="Trebuchet MS"/>
              </a:rPr>
              <a:t>void</a:t>
            </a:r>
            <a:r>
              <a:rPr sz="1400" spc="1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dfs_mat(GraphType*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g,</a:t>
            </a:r>
            <a:r>
              <a:rPr sz="1400" spc="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int</a:t>
            </a:r>
            <a:r>
              <a:rPr sz="1400" spc="2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v)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400" spc="-50" dirty="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0"/>
              </a:spcBef>
            </a:pPr>
            <a:r>
              <a:rPr sz="1400" dirty="0">
                <a:latin typeface="Trebuchet MS"/>
                <a:cs typeface="Trebuchet MS"/>
              </a:rPr>
              <a:t>int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w;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68397" y="3296977"/>
            <a:ext cx="1992630" cy="793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visited[v]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TRUE; </a:t>
            </a:r>
            <a:r>
              <a:rPr sz="1400" dirty="0">
                <a:latin typeface="Trebuchet MS"/>
                <a:cs typeface="Trebuchet MS"/>
              </a:rPr>
              <a:t>printf("</a:t>
            </a:r>
            <a:r>
              <a:rPr sz="2100" baseline="3968" dirty="0">
                <a:latin typeface="Gulim"/>
                <a:cs typeface="Gulim"/>
              </a:rPr>
              <a:t>정점</a:t>
            </a:r>
            <a:r>
              <a:rPr sz="2100" spc="-104" baseline="3968" dirty="0">
                <a:latin typeface="Gulim"/>
                <a:cs typeface="Gulim"/>
              </a:rPr>
              <a:t> </a:t>
            </a:r>
            <a:r>
              <a:rPr sz="1400" dirty="0">
                <a:latin typeface="Trebuchet MS"/>
                <a:cs typeface="Trebuchet MS"/>
              </a:rPr>
              <a:t>%d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-&gt;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",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v); </a:t>
            </a:r>
            <a:r>
              <a:rPr sz="1400" dirty="0">
                <a:latin typeface="Trebuchet MS"/>
                <a:cs typeface="Trebuchet MS"/>
              </a:rPr>
              <a:t>for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(w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</a:t>
            </a:r>
            <a:r>
              <a:rPr sz="1400" spc="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0;</a:t>
            </a:r>
            <a:r>
              <a:rPr sz="1400" spc="-10" dirty="0">
                <a:latin typeface="Trebuchet MS"/>
                <a:cs typeface="Trebuchet MS"/>
              </a:rPr>
              <a:t> w&lt;g-</a:t>
            </a:r>
            <a:r>
              <a:rPr sz="1400" dirty="0">
                <a:latin typeface="Trebuchet MS"/>
                <a:cs typeface="Trebuchet MS"/>
              </a:rPr>
              <a:t>&gt;n;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w++)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08600" y="3281762"/>
            <a:ext cx="2531745" cy="79311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2100" spc="-7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정점</a:t>
            </a:r>
            <a:r>
              <a:rPr sz="1400" spc="-60" dirty="0">
                <a:latin typeface="Gulim"/>
                <a:cs typeface="Gulim"/>
              </a:rPr>
              <a:t> </a:t>
            </a:r>
            <a:r>
              <a:rPr sz="2100" baseline="-3968" dirty="0">
                <a:latin typeface="Trebuchet MS"/>
                <a:cs typeface="Trebuchet MS"/>
              </a:rPr>
              <a:t>v</a:t>
            </a:r>
            <a:r>
              <a:rPr sz="1400" dirty="0">
                <a:latin typeface="Gulim"/>
                <a:cs typeface="Gulim"/>
              </a:rPr>
              <a:t>의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방문</a:t>
            </a:r>
            <a:r>
              <a:rPr sz="1400" spc="-60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표시</a:t>
            </a:r>
            <a:endParaRPr sz="1400">
              <a:latin typeface="Gulim"/>
              <a:cs typeface="Gulim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2100" spc="-7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방문한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정점</a:t>
            </a:r>
            <a:r>
              <a:rPr sz="1400" spc="-6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출력</a:t>
            </a:r>
            <a:endParaRPr sz="1400">
              <a:latin typeface="Gulim"/>
              <a:cs typeface="Gulim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2100" spc="-7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인접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정점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탐색</a:t>
            </a:r>
            <a:endParaRPr sz="1400">
              <a:latin typeface="Gulim"/>
              <a:cs typeface="Guli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81794" y="4106717"/>
            <a:ext cx="29254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if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(g-&gt;adj_mat[v][w]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&amp;&amp;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!visited[w])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95190" y="4362610"/>
            <a:ext cx="12007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dfs_mat(g,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w);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21997" y="4347382"/>
            <a:ext cx="22713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1400" dirty="0">
                <a:latin typeface="Gulim"/>
                <a:cs typeface="Gulim"/>
              </a:rPr>
              <a:t>정점</a:t>
            </a:r>
            <a:r>
              <a:rPr sz="1400" spc="-50" dirty="0">
                <a:latin typeface="Gulim"/>
                <a:cs typeface="Gulim"/>
              </a:rPr>
              <a:t> </a:t>
            </a:r>
            <a:r>
              <a:rPr sz="2100" baseline="-3968" dirty="0">
                <a:latin typeface="Trebuchet MS"/>
                <a:cs typeface="Trebuchet MS"/>
              </a:rPr>
              <a:t>w</a:t>
            </a:r>
            <a:r>
              <a:rPr sz="1400" dirty="0">
                <a:latin typeface="Gulim"/>
                <a:cs typeface="Gulim"/>
              </a:rPr>
              <a:t>에서</a:t>
            </a:r>
            <a:r>
              <a:rPr sz="1400" spc="-75" dirty="0">
                <a:latin typeface="Gulim"/>
                <a:cs typeface="Gulim"/>
              </a:rPr>
              <a:t> </a:t>
            </a:r>
            <a:r>
              <a:rPr sz="2100" baseline="-3968" dirty="0">
                <a:latin typeface="Trebuchet MS"/>
                <a:cs typeface="Trebuchet MS"/>
              </a:rPr>
              <a:t>DFS</a:t>
            </a:r>
            <a:r>
              <a:rPr sz="2100" spc="-15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새로</a:t>
            </a:r>
            <a:r>
              <a:rPr sz="1400" spc="-6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시작</a:t>
            </a:r>
            <a:endParaRPr sz="1400">
              <a:latin typeface="Gulim"/>
              <a:cs typeface="Guli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54988" y="4618502"/>
            <a:ext cx="908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62494" y="1629803"/>
            <a:ext cx="8543925" cy="228600"/>
          </a:xfrm>
          <a:custGeom>
            <a:avLst/>
            <a:gdLst/>
            <a:ahLst/>
            <a:cxnLst/>
            <a:rect l="l" t="t" r="r" b="b"/>
            <a:pathLst>
              <a:path w="8543925" h="228600">
                <a:moveTo>
                  <a:pt x="8543340" y="0"/>
                </a:moveTo>
                <a:lnTo>
                  <a:pt x="0" y="0"/>
                </a:lnTo>
                <a:lnTo>
                  <a:pt x="0" y="228473"/>
                </a:lnTo>
                <a:lnTo>
                  <a:pt x="8543340" y="228473"/>
                </a:lnTo>
                <a:lnTo>
                  <a:pt x="8543340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365529" y="1830857"/>
            <a:ext cx="8144509" cy="5375910"/>
            <a:chOff x="1365529" y="1830857"/>
            <a:chExt cx="8144509" cy="53759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79232" y="1844573"/>
              <a:ext cx="7910195" cy="4958080"/>
            </a:xfrm>
            <a:custGeom>
              <a:avLst/>
              <a:gdLst/>
              <a:ahLst/>
              <a:cxnLst/>
              <a:rect l="l" t="t" r="r" b="b"/>
              <a:pathLst>
                <a:path w="7910195" h="4958080">
                  <a:moveTo>
                    <a:pt x="7910055" y="0"/>
                  </a:moveTo>
                  <a:lnTo>
                    <a:pt x="0" y="0"/>
                  </a:lnTo>
                  <a:lnTo>
                    <a:pt x="0" y="4957953"/>
                  </a:lnTo>
                  <a:lnTo>
                    <a:pt x="7910055" y="4957953"/>
                  </a:lnTo>
                  <a:lnTo>
                    <a:pt x="791005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65529" y="1830857"/>
              <a:ext cx="7937500" cy="4984115"/>
            </a:xfrm>
            <a:custGeom>
              <a:avLst/>
              <a:gdLst/>
              <a:ahLst/>
              <a:cxnLst/>
              <a:rect l="l" t="t" r="r" b="b"/>
              <a:pathLst>
                <a:path w="7937500" h="4984115">
                  <a:moveTo>
                    <a:pt x="7937461" y="0"/>
                  </a:moveTo>
                  <a:lnTo>
                    <a:pt x="0" y="0"/>
                  </a:lnTo>
                  <a:lnTo>
                    <a:pt x="0" y="4983848"/>
                  </a:lnTo>
                  <a:lnTo>
                    <a:pt x="7937461" y="4983848"/>
                  </a:lnTo>
                  <a:lnTo>
                    <a:pt x="7937461" y="4971669"/>
                  </a:lnTo>
                  <a:lnTo>
                    <a:pt x="25882" y="4971669"/>
                  </a:lnTo>
                  <a:lnTo>
                    <a:pt x="13703" y="4959477"/>
                  </a:lnTo>
                  <a:lnTo>
                    <a:pt x="25882" y="4959477"/>
                  </a:lnTo>
                  <a:lnTo>
                    <a:pt x="25882" y="25895"/>
                  </a:lnTo>
                  <a:lnTo>
                    <a:pt x="13703" y="25895"/>
                  </a:lnTo>
                  <a:lnTo>
                    <a:pt x="25882" y="13716"/>
                  </a:lnTo>
                  <a:lnTo>
                    <a:pt x="7937461" y="13716"/>
                  </a:lnTo>
                  <a:lnTo>
                    <a:pt x="7937461" y="0"/>
                  </a:lnTo>
                  <a:close/>
                </a:path>
                <a:path w="7937500" h="4984115">
                  <a:moveTo>
                    <a:pt x="25882" y="4959477"/>
                  </a:moveTo>
                  <a:lnTo>
                    <a:pt x="13703" y="4959477"/>
                  </a:lnTo>
                  <a:lnTo>
                    <a:pt x="25882" y="4971669"/>
                  </a:lnTo>
                  <a:lnTo>
                    <a:pt x="25882" y="4959477"/>
                  </a:lnTo>
                  <a:close/>
                </a:path>
                <a:path w="7937500" h="4984115">
                  <a:moveTo>
                    <a:pt x="7911579" y="4959477"/>
                  </a:moveTo>
                  <a:lnTo>
                    <a:pt x="25882" y="4959477"/>
                  </a:lnTo>
                  <a:lnTo>
                    <a:pt x="25882" y="4971669"/>
                  </a:lnTo>
                  <a:lnTo>
                    <a:pt x="7911579" y="4971669"/>
                  </a:lnTo>
                  <a:lnTo>
                    <a:pt x="7911579" y="4959477"/>
                  </a:lnTo>
                  <a:close/>
                </a:path>
                <a:path w="7937500" h="4984115">
                  <a:moveTo>
                    <a:pt x="7911579" y="13716"/>
                  </a:moveTo>
                  <a:lnTo>
                    <a:pt x="7911579" y="4971669"/>
                  </a:lnTo>
                  <a:lnTo>
                    <a:pt x="7923758" y="4959477"/>
                  </a:lnTo>
                  <a:lnTo>
                    <a:pt x="7937461" y="4959476"/>
                  </a:lnTo>
                  <a:lnTo>
                    <a:pt x="7937461" y="25895"/>
                  </a:lnTo>
                  <a:lnTo>
                    <a:pt x="7923758" y="25895"/>
                  </a:lnTo>
                  <a:lnTo>
                    <a:pt x="7911579" y="13716"/>
                  </a:lnTo>
                  <a:close/>
                </a:path>
                <a:path w="7937500" h="4984115">
                  <a:moveTo>
                    <a:pt x="7937461" y="4959476"/>
                  </a:moveTo>
                  <a:lnTo>
                    <a:pt x="7923758" y="4959477"/>
                  </a:lnTo>
                  <a:lnTo>
                    <a:pt x="7911579" y="4971669"/>
                  </a:lnTo>
                  <a:lnTo>
                    <a:pt x="7937461" y="4971669"/>
                  </a:lnTo>
                  <a:lnTo>
                    <a:pt x="7937461" y="4959476"/>
                  </a:lnTo>
                  <a:close/>
                </a:path>
                <a:path w="7937500" h="4984115">
                  <a:moveTo>
                    <a:pt x="25882" y="13716"/>
                  </a:moveTo>
                  <a:lnTo>
                    <a:pt x="13703" y="25895"/>
                  </a:lnTo>
                  <a:lnTo>
                    <a:pt x="25882" y="25895"/>
                  </a:lnTo>
                  <a:lnTo>
                    <a:pt x="25882" y="13716"/>
                  </a:lnTo>
                  <a:close/>
                </a:path>
                <a:path w="7937500" h="4984115">
                  <a:moveTo>
                    <a:pt x="7911579" y="13716"/>
                  </a:moveTo>
                  <a:lnTo>
                    <a:pt x="25882" y="13716"/>
                  </a:lnTo>
                  <a:lnTo>
                    <a:pt x="25882" y="25895"/>
                  </a:lnTo>
                  <a:lnTo>
                    <a:pt x="7911579" y="25895"/>
                  </a:lnTo>
                  <a:lnTo>
                    <a:pt x="7911579" y="13716"/>
                  </a:lnTo>
                  <a:close/>
                </a:path>
                <a:path w="7937500" h="4984115">
                  <a:moveTo>
                    <a:pt x="7937461" y="13716"/>
                  </a:moveTo>
                  <a:lnTo>
                    <a:pt x="7911579" y="13716"/>
                  </a:lnTo>
                  <a:lnTo>
                    <a:pt x="7923758" y="25895"/>
                  </a:lnTo>
                  <a:lnTo>
                    <a:pt x="7937461" y="25895"/>
                  </a:lnTo>
                  <a:lnTo>
                    <a:pt x="7937461" y="137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DFS</a:t>
            </a:r>
            <a:r>
              <a:rPr spc="-60" dirty="0">
                <a:latin typeface="Tw Cen MT"/>
                <a:cs typeface="Tw Cen MT"/>
              </a:rPr>
              <a:t> </a:t>
            </a:r>
            <a:r>
              <a:rPr spc="-2315" dirty="0"/>
              <a:t>프로그램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56474" y="1823611"/>
            <a:ext cx="4487545" cy="488759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400" dirty="0">
                <a:latin typeface="Trebuchet MS"/>
                <a:cs typeface="Trebuchet MS"/>
              </a:rPr>
              <a:t>int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main(void)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400" spc="-50" dirty="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sz="1400" spc="-20" dirty="0">
                <a:latin typeface="Trebuchet MS"/>
                <a:cs typeface="Trebuchet MS"/>
              </a:rPr>
              <a:t>GraphType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*g;</a:t>
            </a:r>
            <a:endParaRPr sz="1400">
              <a:latin typeface="Trebuchet MS"/>
              <a:cs typeface="Trebuchet MS"/>
            </a:endParaRPr>
          </a:p>
          <a:p>
            <a:pPr marL="925830" marR="5080">
              <a:lnSpc>
                <a:spcPct val="119900"/>
              </a:lnSpc>
            </a:pPr>
            <a:r>
              <a:rPr sz="1400" dirty="0">
                <a:latin typeface="Trebuchet MS"/>
                <a:cs typeface="Trebuchet MS"/>
              </a:rPr>
              <a:t>g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 </a:t>
            </a:r>
            <a:r>
              <a:rPr sz="1400" spc="-20" dirty="0">
                <a:latin typeface="Trebuchet MS"/>
                <a:cs typeface="Trebuchet MS"/>
              </a:rPr>
              <a:t>(GraphType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*)malloc(sizeof(GraphType)); init(g);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sz="1400" dirty="0">
                <a:latin typeface="Trebuchet MS"/>
                <a:cs typeface="Trebuchet MS"/>
              </a:rPr>
              <a:t>for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(int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0;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i&lt;4;</a:t>
            </a:r>
            <a:r>
              <a:rPr sz="1400" spc="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i++)</a:t>
            </a:r>
            <a:endParaRPr sz="1400">
              <a:latin typeface="Trebuchet MS"/>
              <a:cs typeface="Trebuchet MS"/>
            </a:endParaRPr>
          </a:p>
          <a:p>
            <a:pPr marL="925830" marR="1128395" indent="913130">
              <a:lnSpc>
                <a:spcPct val="119900"/>
              </a:lnSpc>
            </a:pPr>
            <a:r>
              <a:rPr sz="1400" dirty="0">
                <a:latin typeface="Trebuchet MS"/>
                <a:cs typeface="Trebuchet MS"/>
              </a:rPr>
              <a:t>insert_vertex(g,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i); </a:t>
            </a:r>
            <a:r>
              <a:rPr sz="1400" dirty="0">
                <a:latin typeface="Trebuchet MS"/>
                <a:cs typeface="Trebuchet MS"/>
              </a:rPr>
              <a:t>insert_edge(g,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0,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1);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Trebuchet MS"/>
                <a:cs typeface="Trebuchet MS"/>
              </a:rPr>
              <a:t>insert_edge(g,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0,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2);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Trebuchet MS"/>
                <a:cs typeface="Trebuchet MS"/>
              </a:rPr>
              <a:t>insert_edge(g,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0,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3);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sz="1400" dirty="0">
                <a:latin typeface="Trebuchet MS"/>
                <a:cs typeface="Trebuchet MS"/>
              </a:rPr>
              <a:t>insert_edge(g,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1,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2);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sz="1400" dirty="0">
                <a:latin typeface="Trebuchet MS"/>
                <a:cs typeface="Trebuchet MS"/>
              </a:rPr>
              <a:t>insert_edge(g,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2,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3);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400">
              <a:latin typeface="Trebuchet MS"/>
              <a:cs typeface="Trebuchet MS"/>
            </a:endParaRPr>
          </a:p>
          <a:p>
            <a:pPr marL="925830" marR="1455420">
              <a:lnSpc>
                <a:spcPct val="119900"/>
              </a:lnSpc>
              <a:spcBef>
                <a:spcPts val="5"/>
              </a:spcBef>
            </a:pPr>
            <a:r>
              <a:rPr sz="1400" dirty="0">
                <a:latin typeface="Trebuchet MS"/>
                <a:cs typeface="Trebuchet MS"/>
              </a:rPr>
              <a:t>printf("</a:t>
            </a:r>
            <a:r>
              <a:rPr sz="2100" baseline="3968" dirty="0">
                <a:latin typeface="Gulim"/>
                <a:cs typeface="Gulim"/>
              </a:rPr>
              <a:t>깊이</a:t>
            </a:r>
            <a:r>
              <a:rPr sz="2100" spc="-112" baseline="3968" dirty="0">
                <a:latin typeface="Gulim"/>
                <a:cs typeface="Gulim"/>
              </a:rPr>
              <a:t> </a:t>
            </a:r>
            <a:r>
              <a:rPr sz="2100" baseline="3968" dirty="0">
                <a:latin typeface="Gulim"/>
                <a:cs typeface="Gulim"/>
              </a:rPr>
              <a:t>우선</a:t>
            </a:r>
            <a:r>
              <a:rPr sz="2100" spc="-89" baseline="3968" dirty="0">
                <a:latin typeface="Gulim"/>
                <a:cs typeface="Gulim"/>
              </a:rPr>
              <a:t> </a:t>
            </a:r>
            <a:r>
              <a:rPr sz="2100" spc="-15" baseline="3968" dirty="0">
                <a:latin typeface="Gulim"/>
                <a:cs typeface="Gulim"/>
              </a:rPr>
              <a:t>탐색</a:t>
            </a:r>
            <a:r>
              <a:rPr sz="1400" spc="-10" dirty="0">
                <a:latin typeface="Trebuchet MS"/>
                <a:cs typeface="Trebuchet MS"/>
              </a:rPr>
              <a:t>\n"); </a:t>
            </a:r>
            <a:r>
              <a:rPr sz="1400" dirty="0">
                <a:latin typeface="Trebuchet MS"/>
                <a:cs typeface="Trebuchet MS"/>
              </a:rPr>
              <a:t>dfs_mat(g,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0);</a:t>
            </a:r>
            <a:endParaRPr sz="1400">
              <a:latin typeface="Trebuchet MS"/>
              <a:cs typeface="Trebuchet MS"/>
            </a:endParaRPr>
          </a:p>
          <a:p>
            <a:pPr marL="925830" marR="2629535">
              <a:lnSpc>
                <a:spcPct val="119900"/>
              </a:lnSpc>
            </a:pPr>
            <a:r>
              <a:rPr sz="1400" spc="-10" dirty="0">
                <a:latin typeface="Trebuchet MS"/>
                <a:cs typeface="Trebuchet MS"/>
              </a:rPr>
              <a:t>printf("\n"); free(g); </a:t>
            </a:r>
            <a:r>
              <a:rPr sz="1400" dirty="0">
                <a:latin typeface="Trebuchet MS"/>
                <a:cs typeface="Trebuchet MS"/>
              </a:rPr>
              <a:t>return</a:t>
            </a:r>
            <a:r>
              <a:rPr sz="1400" spc="-25" dirty="0">
                <a:latin typeface="Trebuchet MS"/>
                <a:cs typeface="Trebuchet MS"/>
              </a:rPr>
              <a:t> 0;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spc="-50" dirty="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45" dirty="0"/>
              <a:t>실행결과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71625" y="2281720"/>
            <a:ext cx="7937500" cy="1624330"/>
            <a:chOff x="1371625" y="2281720"/>
            <a:chExt cx="7937500" cy="1624330"/>
          </a:xfrm>
        </p:grpSpPr>
        <p:sp>
          <p:nvSpPr>
            <p:cNvPr id="4" name="object 4"/>
            <p:cNvSpPr/>
            <p:nvPr/>
          </p:nvSpPr>
          <p:spPr>
            <a:xfrm>
              <a:off x="1383804" y="2293912"/>
              <a:ext cx="7912100" cy="1599565"/>
            </a:xfrm>
            <a:custGeom>
              <a:avLst/>
              <a:gdLst/>
              <a:ahLst/>
              <a:cxnLst/>
              <a:rect l="l" t="t" r="r" b="b"/>
              <a:pathLst>
                <a:path w="7912100" h="1599564">
                  <a:moveTo>
                    <a:pt x="7911566" y="0"/>
                  </a:moveTo>
                  <a:lnTo>
                    <a:pt x="0" y="0"/>
                  </a:lnTo>
                  <a:lnTo>
                    <a:pt x="0" y="1599336"/>
                  </a:lnTo>
                  <a:lnTo>
                    <a:pt x="7911566" y="1599336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1625" y="2281720"/>
              <a:ext cx="7937500" cy="1624330"/>
            </a:xfrm>
            <a:custGeom>
              <a:avLst/>
              <a:gdLst/>
              <a:ahLst/>
              <a:cxnLst/>
              <a:rect l="l" t="t" r="r" b="b"/>
              <a:pathLst>
                <a:path w="7937500" h="1624329">
                  <a:moveTo>
                    <a:pt x="7937449" y="0"/>
                  </a:moveTo>
                  <a:lnTo>
                    <a:pt x="0" y="0"/>
                  </a:lnTo>
                  <a:lnTo>
                    <a:pt x="0" y="1623720"/>
                  </a:lnTo>
                  <a:lnTo>
                    <a:pt x="7937449" y="1623720"/>
                  </a:lnTo>
                  <a:lnTo>
                    <a:pt x="7937449" y="1611528"/>
                  </a:lnTo>
                  <a:lnTo>
                    <a:pt x="25882" y="1611528"/>
                  </a:lnTo>
                  <a:lnTo>
                    <a:pt x="12179" y="1599349"/>
                  </a:lnTo>
                  <a:lnTo>
                    <a:pt x="25882" y="1599349"/>
                  </a:lnTo>
                  <a:lnTo>
                    <a:pt x="25882" y="24371"/>
                  </a:lnTo>
                  <a:lnTo>
                    <a:pt x="12179" y="24371"/>
                  </a:lnTo>
                  <a:lnTo>
                    <a:pt x="25882" y="12191"/>
                  </a:lnTo>
                  <a:lnTo>
                    <a:pt x="7937449" y="12191"/>
                  </a:lnTo>
                  <a:lnTo>
                    <a:pt x="7937449" y="0"/>
                  </a:lnTo>
                  <a:close/>
                </a:path>
                <a:path w="7937500" h="1624329">
                  <a:moveTo>
                    <a:pt x="25882" y="1599349"/>
                  </a:moveTo>
                  <a:lnTo>
                    <a:pt x="12179" y="1599349"/>
                  </a:lnTo>
                  <a:lnTo>
                    <a:pt x="25882" y="1611528"/>
                  </a:lnTo>
                  <a:lnTo>
                    <a:pt x="25882" y="1599349"/>
                  </a:lnTo>
                  <a:close/>
                </a:path>
                <a:path w="7937500" h="1624329">
                  <a:moveTo>
                    <a:pt x="7911566" y="1599349"/>
                  </a:moveTo>
                  <a:lnTo>
                    <a:pt x="25882" y="1599349"/>
                  </a:lnTo>
                  <a:lnTo>
                    <a:pt x="25882" y="1611528"/>
                  </a:lnTo>
                  <a:lnTo>
                    <a:pt x="7911566" y="1611528"/>
                  </a:lnTo>
                  <a:lnTo>
                    <a:pt x="7911566" y="1599349"/>
                  </a:lnTo>
                  <a:close/>
                </a:path>
                <a:path w="7937500" h="1624329">
                  <a:moveTo>
                    <a:pt x="7911566" y="12191"/>
                  </a:moveTo>
                  <a:lnTo>
                    <a:pt x="7911566" y="1611528"/>
                  </a:lnTo>
                  <a:lnTo>
                    <a:pt x="7923745" y="1599349"/>
                  </a:lnTo>
                  <a:lnTo>
                    <a:pt x="7937449" y="1599349"/>
                  </a:lnTo>
                  <a:lnTo>
                    <a:pt x="7937449" y="24371"/>
                  </a:lnTo>
                  <a:lnTo>
                    <a:pt x="7923745" y="24371"/>
                  </a:lnTo>
                  <a:lnTo>
                    <a:pt x="7911566" y="12191"/>
                  </a:lnTo>
                  <a:close/>
                </a:path>
                <a:path w="7937500" h="1624329">
                  <a:moveTo>
                    <a:pt x="7937449" y="1599349"/>
                  </a:moveTo>
                  <a:lnTo>
                    <a:pt x="7923745" y="1599349"/>
                  </a:lnTo>
                  <a:lnTo>
                    <a:pt x="7911566" y="1611528"/>
                  </a:lnTo>
                  <a:lnTo>
                    <a:pt x="7937449" y="1611528"/>
                  </a:lnTo>
                  <a:lnTo>
                    <a:pt x="7937449" y="1599349"/>
                  </a:lnTo>
                  <a:close/>
                </a:path>
                <a:path w="7937500" h="1624329">
                  <a:moveTo>
                    <a:pt x="25882" y="12191"/>
                  </a:moveTo>
                  <a:lnTo>
                    <a:pt x="12179" y="24371"/>
                  </a:lnTo>
                  <a:lnTo>
                    <a:pt x="25882" y="24371"/>
                  </a:lnTo>
                  <a:lnTo>
                    <a:pt x="25882" y="12191"/>
                  </a:lnTo>
                  <a:close/>
                </a:path>
                <a:path w="7937500" h="1624329">
                  <a:moveTo>
                    <a:pt x="7911566" y="12191"/>
                  </a:moveTo>
                  <a:lnTo>
                    <a:pt x="25882" y="12191"/>
                  </a:lnTo>
                  <a:lnTo>
                    <a:pt x="25882" y="24371"/>
                  </a:lnTo>
                  <a:lnTo>
                    <a:pt x="7911566" y="24371"/>
                  </a:lnTo>
                  <a:lnTo>
                    <a:pt x="7911566" y="12191"/>
                  </a:lnTo>
                  <a:close/>
                </a:path>
                <a:path w="7937500" h="1624329">
                  <a:moveTo>
                    <a:pt x="7937449" y="12191"/>
                  </a:moveTo>
                  <a:lnTo>
                    <a:pt x="7911566" y="12191"/>
                  </a:lnTo>
                  <a:lnTo>
                    <a:pt x="7923745" y="24371"/>
                  </a:lnTo>
                  <a:lnTo>
                    <a:pt x="7937449" y="24371"/>
                  </a:lnTo>
                  <a:lnTo>
                    <a:pt x="7937449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62443" y="2242940"/>
            <a:ext cx="3048000" cy="56769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400" dirty="0">
                <a:solidFill>
                  <a:srgbClr val="FFFFFF"/>
                </a:solidFill>
                <a:latin typeface="Gulim"/>
                <a:cs typeface="Gulim"/>
              </a:rPr>
              <a:t>깊이</a:t>
            </a:r>
            <a:r>
              <a:rPr sz="1400" spc="-50" dirty="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FFFFFF"/>
                </a:solidFill>
                <a:latin typeface="Gulim"/>
                <a:cs typeface="Gulim"/>
              </a:rPr>
              <a:t>우선</a:t>
            </a:r>
            <a:r>
              <a:rPr sz="1400" spc="-60" dirty="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Gulim"/>
                <a:cs typeface="Gulim"/>
              </a:rPr>
              <a:t>탐색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2100" baseline="3968" dirty="0">
                <a:solidFill>
                  <a:srgbClr val="FFFFFF"/>
                </a:solidFill>
                <a:latin typeface="Gulim"/>
                <a:cs typeface="Gulim"/>
              </a:rPr>
              <a:t>정점</a:t>
            </a:r>
            <a:r>
              <a:rPr sz="2100" spc="-82" baseline="3968" dirty="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0 -&gt;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aseline="3968" dirty="0">
                <a:solidFill>
                  <a:srgbClr val="FFFFFF"/>
                </a:solidFill>
                <a:latin typeface="Gulim"/>
                <a:cs typeface="Gulim"/>
              </a:rPr>
              <a:t>정점</a:t>
            </a:r>
            <a:r>
              <a:rPr sz="2100" spc="-82" baseline="3968" dirty="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1 -&gt;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aseline="3968" dirty="0">
                <a:solidFill>
                  <a:srgbClr val="FFFFFF"/>
                </a:solidFill>
                <a:latin typeface="Gulim"/>
                <a:cs typeface="Gulim"/>
              </a:rPr>
              <a:t>정점</a:t>
            </a:r>
            <a:r>
              <a:rPr sz="2100" spc="-82" baseline="3968" dirty="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2 -&gt; </a:t>
            </a:r>
            <a:r>
              <a:rPr sz="2100" baseline="3968" dirty="0">
                <a:solidFill>
                  <a:srgbClr val="FFFFFF"/>
                </a:solidFill>
                <a:latin typeface="Gulim"/>
                <a:cs typeface="Gulim"/>
              </a:rPr>
              <a:t>정점</a:t>
            </a:r>
            <a:r>
              <a:rPr sz="2100" spc="-97" baseline="3968" dirty="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3 -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DFS</a:t>
            </a:r>
            <a:r>
              <a:rPr spc="-60" dirty="0">
                <a:latin typeface="Tw Cen MT"/>
                <a:cs typeface="Tw Cen MT"/>
              </a:rPr>
              <a:t> </a:t>
            </a:r>
            <a:r>
              <a:rPr spc="-1775" dirty="0"/>
              <a:t>가상실습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250"/>
              </a:spcBef>
              <a:buClr>
                <a:srgbClr val="DD8046"/>
              </a:buClr>
              <a:buSzPct val="58333"/>
              <a:buFont typeface="Segoe UI Symbol"/>
              <a:buChar char="□"/>
              <a:tabLst>
                <a:tab pos="332105" algn="l"/>
              </a:tabLst>
            </a:pPr>
            <a:r>
              <a:rPr spc="-20" dirty="0"/>
              <a:t>DFS</a:t>
            </a:r>
            <a:r>
              <a:rPr spc="-20" dirty="0">
                <a:latin typeface="Gulim"/>
                <a:cs typeface="Gulim"/>
              </a:rPr>
              <a:t>가상실습을</a:t>
            </a:r>
            <a:r>
              <a:rPr spc="-130" dirty="0">
                <a:latin typeface="Gulim"/>
                <a:cs typeface="Gulim"/>
              </a:rPr>
              <a:t> </a:t>
            </a:r>
            <a:r>
              <a:rPr spc="-20" dirty="0"/>
              <a:t>27-</a:t>
            </a:r>
            <a:r>
              <a:rPr spc="-10" dirty="0"/>
              <a:t>&gt;BfsDfs</a:t>
            </a:r>
            <a:r>
              <a:rPr spc="-10" dirty="0">
                <a:latin typeface="Gulim"/>
                <a:cs typeface="Gulim"/>
              </a:rPr>
              <a:t>로</a:t>
            </a:r>
            <a:r>
              <a:rPr spc="-135" dirty="0">
                <a:latin typeface="Gulim"/>
                <a:cs typeface="Gulim"/>
              </a:rPr>
              <a:t> </a:t>
            </a:r>
            <a:r>
              <a:rPr spc="-25" dirty="0">
                <a:latin typeface="Gulim"/>
                <a:cs typeface="Gulim"/>
              </a:rPr>
              <a:t>알아봄</a:t>
            </a:r>
          </a:p>
          <a:p>
            <a:pPr marL="4643120">
              <a:lnSpc>
                <a:spcPct val="100000"/>
              </a:lnSpc>
              <a:spcBef>
                <a:spcPts val="680"/>
              </a:spcBef>
            </a:pPr>
            <a:r>
              <a:rPr sz="1400" dirty="0">
                <a:latin typeface="Gulim"/>
                <a:cs typeface="Gulim"/>
              </a:rPr>
              <a:t>연산의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종류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/>
              <a:t>:</a:t>
            </a:r>
            <a:r>
              <a:rPr sz="1400" spc="-15" dirty="0"/>
              <a:t> </a:t>
            </a:r>
            <a:r>
              <a:rPr sz="1400" spc="-25" dirty="0"/>
              <a:t>DFS</a:t>
            </a:r>
            <a:endParaRPr sz="1400">
              <a:latin typeface="Gulim"/>
              <a:cs typeface="Gulim"/>
            </a:endParaRPr>
          </a:p>
          <a:p>
            <a:pPr marL="4643120">
              <a:lnSpc>
                <a:spcPct val="100000"/>
              </a:lnSpc>
              <a:spcBef>
                <a:spcPts val="695"/>
              </a:spcBef>
            </a:pPr>
            <a:r>
              <a:rPr sz="1400" dirty="0">
                <a:latin typeface="Gulim"/>
                <a:cs typeface="Gulim"/>
              </a:rPr>
              <a:t>정점의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개수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/>
              <a:t>:</a:t>
            </a:r>
            <a:r>
              <a:rPr sz="1400" spc="-15" dirty="0"/>
              <a:t> </a:t>
            </a:r>
            <a:r>
              <a:rPr sz="1400" spc="-50" dirty="0"/>
              <a:t>5</a:t>
            </a:r>
            <a:endParaRPr sz="1400">
              <a:latin typeface="Gulim"/>
              <a:cs typeface="Gulim"/>
            </a:endParaRPr>
          </a:p>
          <a:p>
            <a:pPr marL="4846955" lvl="1" indent="-203835">
              <a:lnSpc>
                <a:spcPct val="100000"/>
              </a:lnSpc>
              <a:spcBef>
                <a:spcPts val="69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sz="1400" dirty="0">
                <a:latin typeface="Gulim"/>
                <a:cs typeface="Gulim"/>
              </a:rPr>
              <a:t>마우스를</a:t>
            </a:r>
            <a:r>
              <a:rPr sz="1400" spc="-10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더블클릭하면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정점이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spc="-10" dirty="0">
                <a:latin typeface="Gulim"/>
                <a:cs typeface="Gulim"/>
              </a:rPr>
              <a:t>만들어진다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  <a:p>
            <a:pPr marL="4846955" lvl="1" indent="-203835">
              <a:lnSpc>
                <a:spcPct val="100000"/>
              </a:lnSpc>
              <a:spcBef>
                <a:spcPts val="70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sz="1400" dirty="0">
                <a:latin typeface="Gulim"/>
                <a:cs typeface="Gulim"/>
              </a:rPr>
              <a:t>마우스로</a:t>
            </a:r>
            <a:r>
              <a:rPr sz="1400" spc="-10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정점들을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드래그하여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간선을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만든다</a:t>
            </a:r>
            <a:endParaRPr sz="1400">
              <a:latin typeface="Gulim"/>
              <a:cs typeface="Gulim"/>
            </a:endParaRPr>
          </a:p>
          <a:p>
            <a:pPr marL="4643120" marR="5080" lvl="1" indent="203835">
              <a:lnSpc>
                <a:spcPct val="100000"/>
              </a:lnSpc>
              <a:spcBef>
                <a:spcPts val="69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sz="1400" dirty="0">
                <a:latin typeface="Gulim"/>
                <a:cs typeface="Gulim"/>
              </a:rPr>
              <a:t>정점을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이동하고자</a:t>
            </a:r>
            <a:r>
              <a:rPr sz="1400" spc="-11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하는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경우에는</a:t>
            </a:r>
            <a:r>
              <a:rPr sz="1400" spc="-90" dirty="0">
                <a:latin typeface="Gulim"/>
                <a:cs typeface="Gulim"/>
              </a:rPr>
              <a:t> </a:t>
            </a:r>
            <a:r>
              <a:rPr sz="1400" dirty="0">
                <a:latin typeface="Arial"/>
                <a:cs typeface="Arial"/>
              </a:rPr>
              <a:t>ctrl</a:t>
            </a:r>
            <a:r>
              <a:rPr sz="1400" dirty="0">
                <a:latin typeface="Gulim"/>
                <a:cs typeface="Gulim"/>
              </a:rPr>
              <a:t>키를</a:t>
            </a:r>
            <a:r>
              <a:rPr sz="1400" spc="-110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누른 </a:t>
            </a:r>
            <a:r>
              <a:rPr sz="1400" dirty="0">
                <a:latin typeface="Gulim"/>
                <a:cs typeface="Gulim"/>
              </a:rPr>
              <a:t>채로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마우스로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원하는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정점을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spc="-10" dirty="0">
                <a:latin typeface="Gulim"/>
                <a:cs typeface="Gulim"/>
              </a:rPr>
              <a:t>드래그한다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348" y="2389873"/>
            <a:ext cx="4347781" cy="331139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68563" y="800675"/>
            <a:ext cx="38138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50" dirty="0">
                <a:latin typeface="Tw Cen MT"/>
                <a:cs typeface="Tw Cen MT"/>
              </a:rPr>
              <a:t>dfs_change.c</a:t>
            </a:r>
            <a:r>
              <a:rPr sz="3200" spc="-150" dirty="0"/>
              <a:t>로</a:t>
            </a:r>
            <a:r>
              <a:rPr sz="3200" spc="-160" dirty="0"/>
              <a:t> </a:t>
            </a:r>
            <a:r>
              <a:rPr sz="3200" spc="-975" dirty="0"/>
              <a:t>설명합니다</a:t>
            </a:r>
            <a:r>
              <a:rPr sz="3200" spc="-975" dirty="0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826374"/>
            <a:ext cx="6470015" cy="147891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800" dirty="0">
                <a:latin typeface="Gulim"/>
                <a:cs typeface="Gulim"/>
              </a:rPr>
              <a:t>학생</a:t>
            </a:r>
            <a:r>
              <a:rPr sz="1800" dirty="0">
                <a:latin typeface="Arial"/>
                <a:cs typeface="Arial"/>
              </a:rPr>
              <a:t>&gt;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dfs.c</a:t>
            </a:r>
            <a:r>
              <a:rPr sz="1800" spc="-10" dirty="0">
                <a:latin typeface="Gulim"/>
                <a:cs typeface="Gulim"/>
              </a:rPr>
              <a:t>를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왜</a:t>
            </a:r>
            <a:r>
              <a:rPr sz="1800" spc="-12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변경하시나요</a:t>
            </a:r>
            <a:r>
              <a:rPr sz="1800" spc="-10" dirty="0"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800" dirty="0">
                <a:latin typeface="Gulim"/>
                <a:cs typeface="Gulim"/>
              </a:rPr>
              <a:t>교수</a:t>
            </a:r>
            <a:r>
              <a:rPr sz="1800" dirty="0">
                <a:latin typeface="Arial"/>
                <a:cs typeface="Arial"/>
              </a:rPr>
              <a:t>&gt;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Gulim"/>
                <a:cs typeface="Gulim"/>
              </a:rPr>
              <a:t>교재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spc="-20" dirty="0">
                <a:latin typeface="Gulim"/>
                <a:cs typeface="Gulim"/>
              </a:rPr>
              <a:t>그림</a:t>
            </a:r>
            <a:r>
              <a:rPr sz="1800" spc="-20" dirty="0">
                <a:latin typeface="Arial"/>
                <a:cs typeface="Arial"/>
              </a:rPr>
              <a:t>10-</a:t>
            </a:r>
            <a:r>
              <a:rPr sz="1800" dirty="0">
                <a:latin typeface="Arial"/>
                <a:cs typeface="Arial"/>
              </a:rPr>
              <a:t>19</a:t>
            </a:r>
            <a:r>
              <a:rPr sz="1800" dirty="0">
                <a:latin typeface="Gulim"/>
                <a:cs typeface="Gulim"/>
              </a:rPr>
              <a:t>과</a:t>
            </a:r>
            <a:r>
              <a:rPr sz="1800" spc="-11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동일하게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하려합니다</a:t>
            </a:r>
            <a:r>
              <a:rPr sz="1800" spc="-1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647065" marR="5080" indent="62230">
              <a:lnSpc>
                <a:spcPct val="132100"/>
              </a:lnSpc>
              <a:spcBef>
                <a:spcPts val="5"/>
              </a:spcBef>
            </a:pPr>
            <a:r>
              <a:rPr sz="1800" spc="-10" dirty="0">
                <a:latin typeface="Arial"/>
                <a:cs typeface="Arial"/>
              </a:rPr>
              <a:t>dfs.c</a:t>
            </a:r>
            <a:r>
              <a:rPr sz="1800" spc="-10" dirty="0">
                <a:latin typeface="Gulim"/>
                <a:cs typeface="Gulim"/>
              </a:rPr>
              <a:t>는</a:t>
            </a:r>
            <a:r>
              <a:rPr sz="1800" spc="-11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정점</a:t>
            </a:r>
            <a:r>
              <a:rPr sz="1800" spc="-10" dirty="0">
                <a:latin typeface="Arial"/>
                <a:cs typeface="Arial"/>
              </a:rPr>
              <a:t>4</a:t>
            </a:r>
            <a:r>
              <a:rPr sz="1800" spc="-10" dirty="0">
                <a:latin typeface="Gulim"/>
                <a:cs typeface="Gulim"/>
              </a:rPr>
              <a:t>개</a:t>
            </a:r>
            <a:r>
              <a:rPr sz="1800" spc="-105" dirty="0">
                <a:latin typeface="Gulim"/>
                <a:cs typeface="Gulim"/>
              </a:rPr>
              <a:t> </a:t>
            </a:r>
            <a:r>
              <a:rPr sz="1800" spc="-20" dirty="0">
                <a:latin typeface="Gulim"/>
                <a:cs typeface="Gulim"/>
              </a:rPr>
              <a:t>그래프인데</a:t>
            </a:r>
            <a:r>
              <a:rPr sz="1800" spc="-114" dirty="0">
                <a:latin typeface="Gulim"/>
                <a:cs typeface="Gulim"/>
              </a:rPr>
              <a:t> </a:t>
            </a:r>
            <a:r>
              <a:rPr sz="1800" spc="-20" dirty="0">
                <a:latin typeface="Gulim"/>
                <a:cs typeface="Gulim"/>
              </a:rPr>
              <a:t>그림</a:t>
            </a:r>
            <a:r>
              <a:rPr sz="1800" spc="-20" dirty="0">
                <a:latin typeface="Arial"/>
                <a:cs typeface="Arial"/>
              </a:rPr>
              <a:t>10-</a:t>
            </a:r>
            <a:r>
              <a:rPr sz="1800" dirty="0">
                <a:latin typeface="Arial"/>
                <a:cs typeface="Arial"/>
              </a:rPr>
              <a:t>19</a:t>
            </a:r>
            <a:r>
              <a:rPr sz="1800" dirty="0">
                <a:latin typeface="Gulim"/>
                <a:cs typeface="Gulim"/>
              </a:rPr>
              <a:t>은</a:t>
            </a:r>
            <a:r>
              <a:rPr sz="1800" spc="-9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정점</a:t>
            </a:r>
            <a:r>
              <a:rPr sz="1800" spc="-10" dirty="0">
                <a:latin typeface="Arial"/>
                <a:cs typeface="Arial"/>
              </a:rPr>
              <a:t>5</a:t>
            </a:r>
            <a:r>
              <a:rPr sz="1800" spc="-10" dirty="0">
                <a:latin typeface="Gulim"/>
                <a:cs typeface="Gulim"/>
              </a:rPr>
              <a:t>개</a:t>
            </a:r>
            <a:r>
              <a:rPr sz="1800" spc="-105" dirty="0">
                <a:latin typeface="Gulim"/>
                <a:cs typeface="Gulim"/>
              </a:rPr>
              <a:t> </a:t>
            </a:r>
            <a:r>
              <a:rPr sz="1800" spc="-25" dirty="0">
                <a:latin typeface="Gulim"/>
                <a:cs typeface="Gulim"/>
              </a:rPr>
              <a:t>그래프 </a:t>
            </a:r>
            <a:r>
              <a:rPr sz="1800" dirty="0">
                <a:latin typeface="Gulim"/>
                <a:cs typeface="Gulim"/>
              </a:rPr>
              <a:t>콘솔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결과와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그림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10" dirty="0">
                <a:latin typeface="Arial"/>
                <a:cs typeface="Arial"/>
              </a:rPr>
              <a:t>10-</a:t>
            </a:r>
            <a:r>
              <a:rPr sz="1800" dirty="0">
                <a:latin typeface="Arial"/>
                <a:cs typeface="Arial"/>
              </a:rPr>
              <a:t>19</a:t>
            </a:r>
            <a:r>
              <a:rPr sz="1800" dirty="0">
                <a:latin typeface="Gulim"/>
                <a:cs typeface="Gulim"/>
              </a:rPr>
              <a:t>와</a:t>
            </a:r>
            <a:r>
              <a:rPr sz="1800" spc="-114" dirty="0">
                <a:latin typeface="Gulim"/>
                <a:cs typeface="Gulim"/>
              </a:rPr>
              <a:t> </a:t>
            </a:r>
            <a:r>
              <a:rPr sz="1800" spc="-25" dirty="0">
                <a:latin typeface="Gulim"/>
                <a:cs typeface="Gulim"/>
              </a:rPr>
              <a:t>일치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3990" y="3418014"/>
            <a:ext cx="3843896" cy="191311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">
              <a:lnSpc>
                <a:spcPts val="3840"/>
              </a:lnSpc>
              <a:spcBef>
                <a:spcPts val="100"/>
              </a:spcBef>
            </a:pPr>
            <a:r>
              <a:rPr sz="3200" spc="-675" dirty="0"/>
              <a:t>학생</a:t>
            </a:r>
            <a:r>
              <a:rPr sz="3200" spc="-675" dirty="0">
                <a:latin typeface="Tw Cen MT"/>
                <a:cs typeface="Tw Cen MT"/>
              </a:rPr>
              <a:t>&gt;</a:t>
            </a:r>
            <a:r>
              <a:rPr sz="3200" spc="20" dirty="0">
                <a:latin typeface="Tw Cen MT"/>
                <a:cs typeface="Tw Cen MT"/>
              </a:rPr>
              <a:t> </a:t>
            </a:r>
            <a:r>
              <a:rPr sz="3200" spc="-1260" dirty="0"/>
              <a:t>교수님</a:t>
            </a:r>
            <a:r>
              <a:rPr sz="3200" spc="-1260" dirty="0">
                <a:latin typeface="Tw Cen MT"/>
                <a:cs typeface="Tw Cen MT"/>
              </a:rPr>
              <a:t>~</a:t>
            </a:r>
            <a:r>
              <a:rPr sz="3200" spc="10" dirty="0">
                <a:latin typeface="Tw Cen MT"/>
                <a:cs typeface="Tw Cen MT"/>
              </a:rPr>
              <a:t> </a:t>
            </a:r>
            <a:r>
              <a:rPr sz="3200" spc="-1310" dirty="0"/>
              <a:t>어려워요</a:t>
            </a:r>
            <a:r>
              <a:rPr sz="3200" spc="-1310" dirty="0">
                <a:latin typeface="Tw Cen MT"/>
                <a:cs typeface="Tw Cen MT"/>
              </a:rPr>
              <a:t>.</a:t>
            </a:r>
            <a:r>
              <a:rPr sz="3200" spc="30" dirty="0">
                <a:latin typeface="Tw Cen MT"/>
                <a:cs typeface="Tw Cen MT"/>
              </a:rPr>
              <a:t> </a:t>
            </a:r>
            <a:r>
              <a:rPr sz="3200" spc="-1895" dirty="0"/>
              <a:t>코드</a:t>
            </a:r>
            <a:r>
              <a:rPr sz="3200" spc="-160" dirty="0"/>
              <a:t> </a:t>
            </a:r>
            <a:r>
              <a:rPr sz="3200" spc="-1445" dirty="0"/>
              <a:t>한줄</a:t>
            </a:r>
            <a:r>
              <a:rPr sz="3200" spc="-170" dirty="0"/>
              <a:t> </a:t>
            </a:r>
            <a:r>
              <a:rPr sz="3200" spc="-675" dirty="0"/>
              <a:t>씩</a:t>
            </a:r>
            <a:r>
              <a:rPr sz="3200" spc="-160" dirty="0"/>
              <a:t> </a:t>
            </a:r>
            <a:r>
              <a:rPr sz="3200" spc="-1185" dirty="0"/>
              <a:t>설명해주세요</a:t>
            </a:r>
            <a:r>
              <a:rPr sz="3200" spc="-1185" dirty="0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138430">
              <a:lnSpc>
                <a:spcPts val="3840"/>
              </a:lnSpc>
            </a:pPr>
            <a:r>
              <a:rPr sz="3200" spc="-1270" dirty="0"/>
              <a:t>교수</a:t>
            </a:r>
            <a:r>
              <a:rPr sz="3200" spc="-1270" dirty="0">
                <a:latin typeface="Tw Cen MT"/>
                <a:cs typeface="Tw Cen MT"/>
              </a:rPr>
              <a:t>&gt;</a:t>
            </a:r>
            <a:r>
              <a:rPr sz="3200" spc="20" dirty="0">
                <a:latin typeface="Tw Cen MT"/>
                <a:cs typeface="Tw Cen MT"/>
              </a:rPr>
              <a:t> </a:t>
            </a:r>
            <a:r>
              <a:rPr sz="3200" spc="-1714" dirty="0"/>
              <a:t>코드만으로</a:t>
            </a:r>
            <a:r>
              <a:rPr sz="3200" spc="-145" dirty="0"/>
              <a:t> </a:t>
            </a:r>
            <a:r>
              <a:rPr sz="3200" spc="-1445" dirty="0"/>
              <a:t>한줄</a:t>
            </a:r>
            <a:r>
              <a:rPr sz="3200" spc="-160" dirty="0"/>
              <a:t> </a:t>
            </a:r>
            <a:r>
              <a:rPr sz="3200" spc="-675" dirty="0"/>
              <a:t>씩</a:t>
            </a:r>
            <a:r>
              <a:rPr sz="3200" spc="-175" dirty="0"/>
              <a:t> </a:t>
            </a:r>
            <a:r>
              <a:rPr sz="3200" spc="-1260" dirty="0"/>
              <a:t>설명이</a:t>
            </a:r>
            <a:r>
              <a:rPr sz="3200" spc="-170" dirty="0"/>
              <a:t> </a:t>
            </a:r>
            <a:r>
              <a:rPr sz="3200" spc="-1300" dirty="0"/>
              <a:t>어려움</a:t>
            </a:r>
            <a:r>
              <a:rPr sz="3200" spc="-1300" dirty="0">
                <a:latin typeface="Tw Cen MT"/>
                <a:cs typeface="Tw Cen MT"/>
              </a:rPr>
              <a:t>.</a:t>
            </a:r>
            <a:r>
              <a:rPr sz="3200" spc="10" dirty="0">
                <a:latin typeface="Tw Cen MT"/>
                <a:cs typeface="Tw Cen MT"/>
              </a:rPr>
              <a:t> </a:t>
            </a:r>
            <a:r>
              <a:rPr sz="3200" spc="-1670" dirty="0"/>
              <a:t>자료구조</a:t>
            </a:r>
            <a:r>
              <a:rPr sz="3200" spc="-145" dirty="0"/>
              <a:t> </a:t>
            </a:r>
            <a:r>
              <a:rPr sz="3200" spc="-1370" dirty="0"/>
              <a:t>그림과</a:t>
            </a:r>
            <a:r>
              <a:rPr sz="3200" spc="-175" dirty="0"/>
              <a:t> </a:t>
            </a:r>
            <a:r>
              <a:rPr sz="3200" spc="-595" dirty="0">
                <a:latin typeface="Tw Cen MT"/>
                <a:cs typeface="Tw Cen MT"/>
              </a:rPr>
              <a:t>VS</a:t>
            </a:r>
            <a:r>
              <a:rPr sz="3200" spc="-595" dirty="0"/>
              <a:t>같이</a:t>
            </a:r>
            <a:r>
              <a:rPr sz="3200" spc="-160" dirty="0"/>
              <a:t> </a:t>
            </a:r>
            <a:r>
              <a:rPr sz="3200" spc="-25" dirty="0">
                <a:latin typeface="Tw Cen MT"/>
                <a:cs typeface="Tw Cen MT"/>
              </a:rPr>
              <a:t>(1/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826374"/>
            <a:ext cx="6425565" cy="202692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66065" indent="-253365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266065" algn="l"/>
              </a:tabLst>
            </a:pPr>
            <a:r>
              <a:rPr sz="1800" spc="-10" dirty="0">
                <a:latin typeface="Arial"/>
                <a:cs typeface="Arial"/>
              </a:rPr>
              <a:t>dfs_change.c</a:t>
            </a:r>
            <a:r>
              <a:rPr sz="1800" spc="-10" dirty="0">
                <a:latin typeface="Gulim"/>
                <a:cs typeface="Gulim"/>
              </a:rPr>
              <a:t>의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spc="-10" dirty="0">
                <a:latin typeface="Arial"/>
                <a:cs typeface="Arial"/>
              </a:rPr>
              <a:t>64</a:t>
            </a:r>
            <a:r>
              <a:rPr sz="1800" spc="-10" dirty="0">
                <a:latin typeface="Gulim"/>
                <a:cs typeface="Gulim"/>
              </a:rPr>
              <a:t>번줄에</a:t>
            </a:r>
            <a:r>
              <a:rPr sz="1800" spc="-11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중단점</a:t>
            </a:r>
            <a:r>
              <a:rPr sz="1800" spc="-105" dirty="0">
                <a:latin typeface="Gulim"/>
                <a:cs typeface="Gulim"/>
              </a:rPr>
              <a:t> </a:t>
            </a:r>
            <a:r>
              <a:rPr sz="1800" spc="-25" dirty="0">
                <a:latin typeface="Gulim"/>
                <a:cs typeface="Gulim"/>
              </a:rPr>
              <a:t>설정</a:t>
            </a:r>
            <a:endParaRPr sz="1800">
              <a:latin typeface="Gulim"/>
              <a:cs typeface="Gulim"/>
            </a:endParaRPr>
          </a:p>
          <a:p>
            <a:pPr marL="266065" indent="-253365">
              <a:lnSpc>
                <a:spcPct val="100000"/>
              </a:lnSpc>
              <a:spcBef>
                <a:spcPts val="705"/>
              </a:spcBef>
              <a:buFont typeface="Arial"/>
              <a:buAutoNum type="arabicPeriod"/>
              <a:tabLst>
                <a:tab pos="266065" algn="l"/>
              </a:tabLst>
            </a:pPr>
            <a:r>
              <a:rPr sz="1800" spc="-10" dirty="0">
                <a:latin typeface="Gulim"/>
                <a:cs typeface="Gulim"/>
              </a:rPr>
              <a:t>디버깅시작</a:t>
            </a:r>
            <a:endParaRPr sz="1800">
              <a:latin typeface="Gulim"/>
              <a:cs typeface="Gulim"/>
            </a:endParaRPr>
          </a:p>
          <a:p>
            <a:pPr marL="265430" marR="5080" indent="-253365">
              <a:lnSpc>
                <a:spcPct val="100000"/>
              </a:lnSpc>
              <a:spcBef>
                <a:spcPts val="695"/>
              </a:spcBef>
              <a:buFont typeface="Arial"/>
              <a:buAutoNum type="arabicPeriod"/>
              <a:tabLst>
                <a:tab pos="266700" algn="l"/>
              </a:tabLst>
            </a:pPr>
            <a:r>
              <a:rPr sz="1800" spc="-10" dirty="0">
                <a:latin typeface="Gulim"/>
                <a:cs typeface="Gulim"/>
              </a:rPr>
              <a:t>중단점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도달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후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20" dirty="0">
                <a:latin typeface="Gulim"/>
                <a:cs typeface="Gulim"/>
              </a:rPr>
              <a:t>로컬창에서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0,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dirty="0">
                <a:latin typeface="Gulim"/>
                <a:cs typeface="Gulim"/>
              </a:rPr>
              <a:t>값</a:t>
            </a:r>
            <a:r>
              <a:rPr sz="1800" spc="-125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printf</a:t>
            </a:r>
            <a:r>
              <a:rPr sz="1800" dirty="0">
                <a:latin typeface="Gulim"/>
                <a:cs typeface="Gulim"/>
              </a:rPr>
              <a:t>출력</a:t>
            </a:r>
            <a:r>
              <a:rPr sz="1800" dirty="0">
                <a:latin typeface="Arial"/>
                <a:cs typeface="Arial"/>
              </a:rPr>
              <a:t>.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Gulim"/>
                <a:cs typeface="Gulim"/>
              </a:rPr>
              <a:t>그림</a:t>
            </a:r>
            <a:r>
              <a:rPr sz="1800" dirty="0">
                <a:latin typeface="Arial"/>
                <a:cs typeface="Arial"/>
              </a:rPr>
              <a:t>(a)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5" dirty="0">
                <a:latin typeface="Gulim"/>
                <a:cs typeface="Gulim"/>
              </a:rPr>
              <a:t>상태 	</a:t>
            </a:r>
            <a:r>
              <a:rPr sz="1800" spc="-20" dirty="0">
                <a:latin typeface="Gulim"/>
                <a:cs typeface="Gulim"/>
              </a:rPr>
              <a:t>호출스택은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spc="-10" dirty="0">
                <a:latin typeface="Arial"/>
                <a:cs typeface="Arial"/>
              </a:rPr>
              <a:t>dfs_mat(0)</a:t>
            </a:r>
            <a:r>
              <a:rPr sz="1800" spc="-10" dirty="0">
                <a:latin typeface="Gulim"/>
                <a:cs typeface="Gulim"/>
              </a:rPr>
              <a:t>임</a:t>
            </a:r>
            <a:endParaRPr sz="1800">
              <a:latin typeface="Gulim"/>
              <a:cs typeface="Gulim"/>
            </a:endParaRPr>
          </a:p>
          <a:p>
            <a:pPr marL="265430" marR="715645" indent="-253365">
              <a:lnSpc>
                <a:spcPct val="100000"/>
              </a:lnSpc>
              <a:spcBef>
                <a:spcPts val="695"/>
              </a:spcBef>
              <a:buFont typeface="Arial"/>
              <a:buAutoNum type="arabicPeriod"/>
              <a:tabLst>
                <a:tab pos="266700" algn="l"/>
              </a:tabLst>
            </a:pPr>
            <a:r>
              <a:rPr sz="1800" dirty="0">
                <a:latin typeface="Gulim"/>
                <a:cs typeface="Gulim"/>
              </a:rPr>
              <a:t>계속</a:t>
            </a:r>
            <a:r>
              <a:rPr sz="1800" spc="-16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버튼</a:t>
            </a:r>
            <a:r>
              <a:rPr sz="1800" spc="-145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로컬창에서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v=1,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dirty="0">
                <a:latin typeface="Gulim"/>
                <a:cs typeface="Gulim"/>
              </a:rPr>
              <a:t>값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printf</a:t>
            </a:r>
            <a:r>
              <a:rPr sz="1800" dirty="0">
                <a:latin typeface="Gulim"/>
                <a:cs typeface="Gulim"/>
              </a:rPr>
              <a:t>출력</a:t>
            </a:r>
            <a:r>
              <a:rPr sz="1800" dirty="0">
                <a:latin typeface="Arial"/>
                <a:cs typeface="Arial"/>
              </a:rPr>
              <a:t>.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Gulim"/>
                <a:cs typeface="Gulim"/>
              </a:rPr>
              <a:t>그림</a:t>
            </a:r>
            <a:r>
              <a:rPr sz="1800" spc="-10" dirty="0">
                <a:latin typeface="Arial"/>
                <a:cs typeface="Arial"/>
              </a:rPr>
              <a:t>(b)</a:t>
            </a:r>
            <a:r>
              <a:rPr sz="1800" spc="-10" dirty="0">
                <a:latin typeface="Gulim"/>
                <a:cs typeface="Gulim"/>
              </a:rPr>
              <a:t>상태 	</a:t>
            </a:r>
            <a:r>
              <a:rPr sz="1800" spc="-20" dirty="0">
                <a:latin typeface="Gulim"/>
                <a:cs typeface="Gulim"/>
              </a:rPr>
              <a:t>호출스택은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spc="-10" dirty="0">
                <a:latin typeface="Arial"/>
                <a:cs typeface="Arial"/>
              </a:rPr>
              <a:t>dfs_mat(1)</a:t>
            </a:r>
            <a:r>
              <a:rPr sz="1800" spc="-10" dirty="0">
                <a:latin typeface="Gulim"/>
                <a:cs typeface="Gulim"/>
              </a:rPr>
              <a:t>임</a:t>
            </a:r>
            <a:endParaRPr sz="1800">
              <a:latin typeface="Gulim"/>
              <a:cs typeface="Gulim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23435" y="2945828"/>
            <a:ext cx="5466715" cy="4205605"/>
            <a:chOff x="4323435" y="2945828"/>
            <a:chExt cx="5466715" cy="42056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3435" y="4813249"/>
              <a:ext cx="5466702" cy="233808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56018" y="2945828"/>
              <a:ext cx="2493581" cy="9519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89508" y="3823182"/>
              <a:ext cx="2520988" cy="108450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">
              <a:lnSpc>
                <a:spcPts val="3840"/>
              </a:lnSpc>
              <a:spcBef>
                <a:spcPts val="100"/>
              </a:spcBef>
            </a:pPr>
            <a:r>
              <a:rPr sz="3200" spc="-675" dirty="0"/>
              <a:t>학생</a:t>
            </a:r>
            <a:r>
              <a:rPr sz="3200" spc="-675" dirty="0">
                <a:latin typeface="Tw Cen MT"/>
                <a:cs typeface="Tw Cen MT"/>
              </a:rPr>
              <a:t>&gt;</a:t>
            </a:r>
            <a:r>
              <a:rPr sz="3200" spc="20" dirty="0">
                <a:latin typeface="Tw Cen MT"/>
                <a:cs typeface="Tw Cen MT"/>
              </a:rPr>
              <a:t> </a:t>
            </a:r>
            <a:r>
              <a:rPr sz="3200" spc="-1260" dirty="0"/>
              <a:t>교수님</a:t>
            </a:r>
            <a:r>
              <a:rPr sz="3200" spc="-1260" dirty="0">
                <a:latin typeface="Tw Cen MT"/>
                <a:cs typeface="Tw Cen MT"/>
              </a:rPr>
              <a:t>~</a:t>
            </a:r>
            <a:r>
              <a:rPr sz="3200" spc="10" dirty="0">
                <a:latin typeface="Tw Cen MT"/>
                <a:cs typeface="Tw Cen MT"/>
              </a:rPr>
              <a:t> </a:t>
            </a:r>
            <a:r>
              <a:rPr sz="3200" spc="-1310" dirty="0"/>
              <a:t>어려워요</a:t>
            </a:r>
            <a:r>
              <a:rPr sz="3200" spc="-1310" dirty="0">
                <a:latin typeface="Tw Cen MT"/>
                <a:cs typeface="Tw Cen MT"/>
              </a:rPr>
              <a:t>.</a:t>
            </a:r>
            <a:r>
              <a:rPr sz="3200" spc="30" dirty="0">
                <a:latin typeface="Tw Cen MT"/>
                <a:cs typeface="Tw Cen MT"/>
              </a:rPr>
              <a:t> </a:t>
            </a:r>
            <a:r>
              <a:rPr sz="3200" spc="-1895" dirty="0"/>
              <a:t>코드</a:t>
            </a:r>
            <a:r>
              <a:rPr sz="3200" spc="-160" dirty="0"/>
              <a:t> </a:t>
            </a:r>
            <a:r>
              <a:rPr sz="3200" spc="-1445" dirty="0"/>
              <a:t>한줄</a:t>
            </a:r>
            <a:r>
              <a:rPr sz="3200" spc="-170" dirty="0"/>
              <a:t> </a:t>
            </a:r>
            <a:r>
              <a:rPr sz="3200" spc="-675" dirty="0"/>
              <a:t>씩</a:t>
            </a:r>
            <a:r>
              <a:rPr sz="3200" spc="-160" dirty="0"/>
              <a:t> </a:t>
            </a:r>
            <a:r>
              <a:rPr sz="3200" spc="-1185" dirty="0"/>
              <a:t>설명해주세요</a:t>
            </a:r>
            <a:r>
              <a:rPr sz="3200" spc="-1185" dirty="0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138430">
              <a:lnSpc>
                <a:spcPts val="3840"/>
              </a:lnSpc>
            </a:pPr>
            <a:r>
              <a:rPr sz="3200" spc="-1270" dirty="0"/>
              <a:t>교수</a:t>
            </a:r>
            <a:r>
              <a:rPr sz="3200" spc="-1270" dirty="0">
                <a:latin typeface="Tw Cen MT"/>
                <a:cs typeface="Tw Cen MT"/>
              </a:rPr>
              <a:t>&gt;</a:t>
            </a:r>
            <a:r>
              <a:rPr sz="3200" spc="20" dirty="0">
                <a:latin typeface="Tw Cen MT"/>
                <a:cs typeface="Tw Cen MT"/>
              </a:rPr>
              <a:t> </a:t>
            </a:r>
            <a:r>
              <a:rPr sz="3200" spc="-1714" dirty="0"/>
              <a:t>코드만으로</a:t>
            </a:r>
            <a:r>
              <a:rPr sz="3200" spc="-145" dirty="0"/>
              <a:t> </a:t>
            </a:r>
            <a:r>
              <a:rPr sz="3200" spc="-1445" dirty="0"/>
              <a:t>한줄</a:t>
            </a:r>
            <a:r>
              <a:rPr sz="3200" spc="-160" dirty="0"/>
              <a:t> </a:t>
            </a:r>
            <a:r>
              <a:rPr sz="3200" spc="-675" dirty="0"/>
              <a:t>씩</a:t>
            </a:r>
            <a:r>
              <a:rPr sz="3200" spc="-175" dirty="0"/>
              <a:t> </a:t>
            </a:r>
            <a:r>
              <a:rPr sz="3200" spc="-1260" dirty="0"/>
              <a:t>설명이</a:t>
            </a:r>
            <a:r>
              <a:rPr sz="3200" spc="-170" dirty="0"/>
              <a:t> </a:t>
            </a:r>
            <a:r>
              <a:rPr sz="3200" spc="-1300" dirty="0"/>
              <a:t>어려움</a:t>
            </a:r>
            <a:r>
              <a:rPr sz="3200" spc="-1300" dirty="0">
                <a:latin typeface="Tw Cen MT"/>
                <a:cs typeface="Tw Cen MT"/>
              </a:rPr>
              <a:t>.</a:t>
            </a:r>
            <a:r>
              <a:rPr sz="3200" spc="10" dirty="0">
                <a:latin typeface="Tw Cen MT"/>
                <a:cs typeface="Tw Cen MT"/>
              </a:rPr>
              <a:t> </a:t>
            </a:r>
            <a:r>
              <a:rPr sz="3200" spc="-1670" dirty="0"/>
              <a:t>자료구조</a:t>
            </a:r>
            <a:r>
              <a:rPr sz="3200" spc="-145" dirty="0"/>
              <a:t> </a:t>
            </a:r>
            <a:r>
              <a:rPr sz="3200" spc="-1370" dirty="0"/>
              <a:t>그림과</a:t>
            </a:r>
            <a:r>
              <a:rPr sz="3200" spc="-175" dirty="0"/>
              <a:t> </a:t>
            </a:r>
            <a:r>
              <a:rPr sz="3200" spc="-595" dirty="0">
                <a:latin typeface="Tw Cen MT"/>
                <a:cs typeface="Tw Cen MT"/>
              </a:rPr>
              <a:t>VS</a:t>
            </a:r>
            <a:r>
              <a:rPr sz="3200" spc="-595" dirty="0"/>
              <a:t>같이</a:t>
            </a:r>
            <a:r>
              <a:rPr sz="3200" spc="-160" dirty="0"/>
              <a:t> </a:t>
            </a:r>
            <a:r>
              <a:rPr sz="3200" spc="-25" dirty="0">
                <a:latin typeface="Tw Cen MT"/>
                <a:cs typeface="Tw Cen MT"/>
              </a:rPr>
              <a:t>(2/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916236"/>
            <a:ext cx="5714365" cy="1212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17145" indent="-253365">
              <a:lnSpc>
                <a:spcPct val="100000"/>
              </a:lnSpc>
              <a:spcBef>
                <a:spcPts val="100"/>
              </a:spcBef>
              <a:buFont typeface="Arial"/>
              <a:buAutoNum type="arabicPeriod"/>
              <a:tabLst>
                <a:tab pos="266700" algn="l"/>
              </a:tabLst>
            </a:pPr>
            <a:r>
              <a:rPr sz="1800" dirty="0">
                <a:latin typeface="Gulim"/>
                <a:cs typeface="Gulim"/>
              </a:rPr>
              <a:t>계속</a:t>
            </a:r>
            <a:r>
              <a:rPr sz="1800" spc="-16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버튼</a:t>
            </a:r>
            <a:r>
              <a:rPr sz="1800" spc="-145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로컬창에서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v=2,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dirty="0">
                <a:latin typeface="Gulim"/>
                <a:cs typeface="Gulim"/>
              </a:rPr>
              <a:t>값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printf</a:t>
            </a:r>
            <a:r>
              <a:rPr sz="1800" dirty="0">
                <a:latin typeface="Gulim"/>
                <a:cs typeface="Gulim"/>
              </a:rPr>
              <a:t>출력</a:t>
            </a:r>
            <a:r>
              <a:rPr sz="1800" dirty="0">
                <a:latin typeface="Arial"/>
                <a:cs typeface="Arial"/>
              </a:rPr>
              <a:t>.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Gulim"/>
                <a:cs typeface="Gulim"/>
              </a:rPr>
              <a:t>그림</a:t>
            </a:r>
            <a:r>
              <a:rPr sz="1800" spc="-10" dirty="0">
                <a:latin typeface="Arial"/>
                <a:cs typeface="Arial"/>
              </a:rPr>
              <a:t>(c)</a:t>
            </a:r>
            <a:r>
              <a:rPr sz="1800" spc="-10" dirty="0">
                <a:latin typeface="Gulim"/>
                <a:cs typeface="Gulim"/>
              </a:rPr>
              <a:t>상태 	</a:t>
            </a:r>
            <a:r>
              <a:rPr sz="1800" spc="-20" dirty="0">
                <a:latin typeface="Gulim"/>
                <a:cs typeface="Gulim"/>
              </a:rPr>
              <a:t>호출스택은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spc="-10" dirty="0">
                <a:latin typeface="Arial"/>
                <a:cs typeface="Arial"/>
              </a:rPr>
              <a:t>dfs_mat(2)</a:t>
            </a:r>
            <a:r>
              <a:rPr sz="1800" spc="-10" dirty="0">
                <a:latin typeface="Gulim"/>
                <a:cs typeface="Gulim"/>
              </a:rPr>
              <a:t>임</a:t>
            </a:r>
            <a:endParaRPr sz="1800">
              <a:latin typeface="Gulim"/>
              <a:cs typeface="Gulim"/>
            </a:endParaRPr>
          </a:p>
          <a:p>
            <a:pPr marL="265430" marR="5080" indent="-253365">
              <a:lnSpc>
                <a:spcPct val="100000"/>
              </a:lnSpc>
              <a:spcBef>
                <a:spcPts val="705"/>
              </a:spcBef>
              <a:buFont typeface="Arial"/>
              <a:buAutoNum type="arabicPeriod"/>
              <a:tabLst>
                <a:tab pos="266700" algn="l"/>
              </a:tabLst>
            </a:pPr>
            <a:r>
              <a:rPr sz="1800" dirty="0">
                <a:latin typeface="Gulim"/>
                <a:cs typeface="Gulim"/>
              </a:rPr>
              <a:t>계속</a:t>
            </a:r>
            <a:r>
              <a:rPr sz="1800" spc="-16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버튼</a:t>
            </a:r>
            <a:r>
              <a:rPr sz="1800" spc="-145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로컬창에서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v=3,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dirty="0">
                <a:latin typeface="Gulim"/>
                <a:cs typeface="Gulim"/>
              </a:rPr>
              <a:t>값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printf</a:t>
            </a:r>
            <a:r>
              <a:rPr sz="1800" dirty="0">
                <a:latin typeface="Gulim"/>
                <a:cs typeface="Gulim"/>
              </a:rPr>
              <a:t>출력</a:t>
            </a:r>
            <a:r>
              <a:rPr sz="1800" dirty="0">
                <a:latin typeface="Arial"/>
                <a:cs typeface="Arial"/>
              </a:rPr>
              <a:t>.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Gulim"/>
                <a:cs typeface="Gulim"/>
              </a:rPr>
              <a:t>그림</a:t>
            </a:r>
            <a:r>
              <a:rPr sz="1800" spc="-10" dirty="0">
                <a:latin typeface="Arial"/>
                <a:cs typeface="Arial"/>
              </a:rPr>
              <a:t>(d)</a:t>
            </a:r>
            <a:r>
              <a:rPr sz="1800" spc="-10" dirty="0">
                <a:latin typeface="Gulim"/>
                <a:cs typeface="Gulim"/>
              </a:rPr>
              <a:t>상태 	</a:t>
            </a:r>
            <a:r>
              <a:rPr sz="1800" spc="-20" dirty="0">
                <a:latin typeface="Gulim"/>
                <a:cs typeface="Gulim"/>
              </a:rPr>
              <a:t>호출스택은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spc="-10" dirty="0">
                <a:latin typeface="Arial"/>
                <a:cs typeface="Arial"/>
              </a:rPr>
              <a:t>dfs_mat(3)</a:t>
            </a:r>
            <a:r>
              <a:rPr sz="1800" spc="-10" dirty="0">
                <a:latin typeface="Gulim"/>
                <a:cs typeface="Gulim"/>
              </a:rPr>
              <a:t>임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3435" y="4813249"/>
            <a:ext cx="5466702" cy="233808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3839" y="1888744"/>
            <a:ext cx="2520988" cy="106622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63638" y="3058541"/>
            <a:ext cx="2501201" cy="125662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">
              <a:lnSpc>
                <a:spcPts val="3840"/>
              </a:lnSpc>
              <a:spcBef>
                <a:spcPts val="100"/>
              </a:spcBef>
            </a:pPr>
            <a:r>
              <a:rPr sz="3200" spc="-675" dirty="0"/>
              <a:t>학생</a:t>
            </a:r>
            <a:r>
              <a:rPr sz="3200" spc="-675" dirty="0">
                <a:latin typeface="Tw Cen MT"/>
                <a:cs typeface="Tw Cen MT"/>
              </a:rPr>
              <a:t>&gt;</a:t>
            </a:r>
            <a:r>
              <a:rPr sz="3200" spc="20" dirty="0">
                <a:latin typeface="Tw Cen MT"/>
                <a:cs typeface="Tw Cen MT"/>
              </a:rPr>
              <a:t> </a:t>
            </a:r>
            <a:r>
              <a:rPr sz="3200" spc="-1260" dirty="0"/>
              <a:t>교수님</a:t>
            </a:r>
            <a:r>
              <a:rPr sz="3200" spc="-1260" dirty="0">
                <a:latin typeface="Tw Cen MT"/>
                <a:cs typeface="Tw Cen MT"/>
              </a:rPr>
              <a:t>~</a:t>
            </a:r>
            <a:r>
              <a:rPr sz="3200" spc="10" dirty="0">
                <a:latin typeface="Tw Cen MT"/>
                <a:cs typeface="Tw Cen MT"/>
              </a:rPr>
              <a:t> </a:t>
            </a:r>
            <a:r>
              <a:rPr sz="3200" spc="-1310" dirty="0"/>
              <a:t>어려워요</a:t>
            </a:r>
            <a:r>
              <a:rPr sz="3200" spc="-1310" dirty="0">
                <a:latin typeface="Tw Cen MT"/>
                <a:cs typeface="Tw Cen MT"/>
              </a:rPr>
              <a:t>.</a:t>
            </a:r>
            <a:r>
              <a:rPr sz="3200" spc="30" dirty="0">
                <a:latin typeface="Tw Cen MT"/>
                <a:cs typeface="Tw Cen MT"/>
              </a:rPr>
              <a:t> </a:t>
            </a:r>
            <a:r>
              <a:rPr sz="3200" spc="-1895" dirty="0"/>
              <a:t>코드</a:t>
            </a:r>
            <a:r>
              <a:rPr sz="3200" spc="-160" dirty="0"/>
              <a:t> </a:t>
            </a:r>
            <a:r>
              <a:rPr sz="3200" spc="-1445" dirty="0"/>
              <a:t>한줄</a:t>
            </a:r>
            <a:r>
              <a:rPr sz="3200" spc="-170" dirty="0"/>
              <a:t> </a:t>
            </a:r>
            <a:r>
              <a:rPr sz="3200" spc="-675" dirty="0"/>
              <a:t>씩</a:t>
            </a:r>
            <a:r>
              <a:rPr sz="3200" spc="-160" dirty="0"/>
              <a:t> </a:t>
            </a:r>
            <a:r>
              <a:rPr sz="3200" spc="-1185" dirty="0"/>
              <a:t>설명해주세요</a:t>
            </a:r>
            <a:r>
              <a:rPr sz="3200" spc="-1185" dirty="0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138430">
              <a:lnSpc>
                <a:spcPts val="3840"/>
              </a:lnSpc>
            </a:pPr>
            <a:r>
              <a:rPr sz="3200" spc="-1270" dirty="0"/>
              <a:t>교수</a:t>
            </a:r>
            <a:r>
              <a:rPr sz="3200" spc="-1270" dirty="0">
                <a:latin typeface="Tw Cen MT"/>
                <a:cs typeface="Tw Cen MT"/>
              </a:rPr>
              <a:t>&gt;</a:t>
            </a:r>
            <a:r>
              <a:rPr sz="3200" spc="20" dirty="0">
                <a:latin typeface="Tw Cen MT"/>
                <a:cs typeface="Tw Cen MT"/>
              </a:rPr>
              <a:t> </a:t>
            </a:r>
            <a:r>
              <a:rPr sz="3200" spc="-1714" dirty="0"/>
              <a:t>코드만으로</a:t>
            </a:r>
            <a:r>
              <a:rPr sz="3200" spc="-145" dirty="0"/>
              <a:t> </a:t>
            </a:r>
            <a:r>
              <a:rPr sz="3200" spc="-1445" dirty="0"/>
              <a:t>한줄</a:t>
            </a:r>
            <a:r>
              <a:rPr sz="3200" spc="-160" dirty="0"/>
              <a:t> </a:t>
            </a:r>
            <a:r>
              <a:rPr sz="3200" spc="-675" dirty="0"/>
              <a:t>씩</a:t>
            </a:r>
            <a:r>
              <a:rPr sz="3200" spc="-175" dirty="0"/>
              <a:t> </a:t>
            </a:r>
            <a:r>
              <a:rPr sz="3200" spc="-1260" dirty="0"/>
              <a:t>설명이</a:t>
            </a:r>
            <a:r>
              <a:rPr sz="3200" spc="-170" dirty="0"/>
              <a:t> </a:t>
            </a:r>
            <a:r>
              <a:rPr sz="3200" spc="-1300" dirty="0"/>
              <a:t>어려움</a:t>
            </a:r>
            <a:r>
              <a:rPr sz="3200" spc="-1300" dirty="0">
                <a:latin typeface="Tw Cen MT"/>
                <a:cs typeface="Tw Cen MT"/>
              </a:rPr>
              <a:t>.</a:t>
            </a:r>
            <a:r>
              <a:rPr sz="3200" spc="10" dirty="0">
                <a:latin typeface="Tw Cen MT"/>
                <a:cs typeface="Tw Cen MT"/>
              </a:rPr>
              <a:t> </a:t>
            </a:r>
            <a:r>
              <a:rPr sz="3200" spc="-1670" dirty="0"/>
              <a:t>자료구조</a:t>
            </a:r>
            <a:r>
              <a:rPr sz="3200" spc="-145" dirty="0"/>
              <a:t> </a:t>
            </a:r>
            <a:r>
              <a:rPr sz="3200" spc="-1370" dirty="0"/>
              <a:t>그림과</a:t>
            </a:r>
            <a:r>
              <a:rPr sz="3200" spc="-175" dirty="0"/>
              <a:t> </a:t>
            </a:r>
            <a:r>
              <a:rPr sz="3200" spc="-595" dirty="0">
                <a:latin typeface="Tw Cen MT"/>
                <a:cs typeface="Tw Cen MT"/>
              </a:rPr>
              <a:t>VS</a:t>
            </a:r>
            <a:r>
              <a:rPr sz="3200" spc="-595" dirty="0"/>
              <a:t>같이</a:t>
            </a:r>
            <a:r>
              <a:rPr sz="3200" spc="-160" dirty="0"/>
              <a:t> </a:t>
            </a:r>
            <a:r>
              <a:rPr sz="3200" spc="-25" dirty="0">
                <a:latin typeface="Tw Cen MT"/>
                <a:cs typeface="Tw Cen MT"/>
              </a:rPr>
              <a:t>(3/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916236"/>
            <a:ext cx="5714365" cy="148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5080" indent="-253365">
              <a:lnSpc>
                <a:spcPct val="100000"/>
              </a:lnSpc>
              <a:spcBef>
                <a:spcPts val="100"/>
              </a:spcBef>
              <a:buFont typeface="Arial"/>
              <a:buAutoNum type="arabicPeriod"/>
              <a:tabLst>
                <a:tab pos="266700" algn="l"/>
              </a:tabLst>
            </a:pPr>
            <a:r>
              <a:rPr sz="1800" dirty="0">
                <a:latin typeface="Gulim"/>
                <a:cs typeface="Gulim"/>
              </a:rPr>
              <a:t>계속</a:t>
            </a:r>
            <a:r>
              <a:rPr sz="1800" spc="-16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버튼</a:t>
            </a:r>
            <a:r>
              <a:rPr sz="1800" spc="-145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로컬창에서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v=4,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dirty="0">
                <a:latin typeface="Gulim"/>
                <a:cs typeface="Gulim"/>
              </a:rPr>
              <a:t>값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printf</a:t>
            </a:r>
            <a:r>
              <a:rPr sz="1800" dirty="0">
                <a:latin typeface="Gulim"/>
                <a:cs typeface="Gulim"/>
              </a:rPr>
              <a:t>출력</a:t>
            </a:r>
            <a:r>
              <a:rPr sz="1800" dirty="0">
                <a:latin typeface="Arial"/>
                <a:cs typeface="Arial"/>
              </a:rPr>
              <a:t>.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Gulim"/>
                <a:cs typeface="Gulim"/>
              </a:rPr>
              <a:t>그림</a:t>
            </a:r>
            <a:r>
              <a:rPr sz="1800" spc="-10" dirty="0">
                <a:latin typeface="Arial"/>
                <a:cs typeface="Arial"/>
              </a:rPr>
              <a:t>(e)</a:t>
            </a:r>
            <a:r>
              <a:rPr sz="1800" spc="-10" dirty="0">
                <a:latin typeface="Gulim"/>
                <a:cs typeface="Gulim"/>
              </a:rPr>
              <a:t>상태 	</a:t>
            </a:r>
            <a:r>
              <a:rPr sz="1800" spc="-20" dirty="0">
                <a:latin typeface="Gulim"/>
                <a:cs typeface="Gulim"/>
              </a:rPr>
              <a:t>호출스택은</a:t>
            </a:r>
            <a:r>
              <a:rPr sz="1800" spc="-100" dirty="0">
                <a:latin typeface="Gulim"/>
                <a:cs typeface="Gulim"/>
              </a:rPr>
              <a:t> </a:t>
            </a:r>
            <a:r>
              <a:rPr sz="1800" spc="-10" dirty="0">
                <a:latin typeface="Arial"/>
                <a:cs typeface="Arial"/>
              </a:rPr>
              <a:t>dfs_mat(4)</a:t>
            </a:r>
            <a:r>
              <a:rPr sz="1800" spc="-10" dirty="0">
                <a:latin typeface="Gulim"/>
                <a:cs typeface="Gulim"/>
              </a:rPr>
              <a:t>임</a:t>
            </a:r>
            <a:endParaRPr sz="1800">
              <a:latin typeface="Gulim"/>
              <a:cs typeface="Gulim"/>
            </a:endParaRPr>
          </a:p>
          <a:p>
            <a:pPr marL="265430" marR="48895" indent="-253365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266700" algn="l"/>
              </a:tabLst>
            </a:pPr>
            <a:r>
              <a:rPr sz="1800" dirty="0">
                <a:latin typeface="Arial"/>
                <a:cs typeface="Arial"/>
              </a:rPr>
              <a:t>Step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Into</a:t>
            </a:r>
            <a:r>
              <a:rPr sz="1800" spc="-10" dirty="0">
                <a:latin typeface="Gulim"/>
                <a:cs typeface="Gulim"/>
              </a:rPr>
              <a:t>로</a:t>
            </a:r>
            <a:r>
              <a:rPr sz="1800" spc="-135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진행하면</a:t>
            </a:r>
            <a:r>
              <a:rPr sz="1800" spc="-12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dfs_mat()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Gulim"/>
                <a:cs typeface="Gulim"/>
              </a:rPr>
              <a:t>호출이</a:t>
            </a:r>
            <a:r>
              <a:rPr sz="1800" spc="-120" dirty="0">
                <a:latin typeface="Gulim"/>
                <a:cs typeface="Gulim"/>
              </a:rPr>
              <a:t> </a:t>
            </a:r>
            <a:r>
              <a:rPr sz="1800" spc="-20" dirty="0">
                <a:latin typeface="Gulim"/>
                <a:cs typeface="Gulim"/>
              </a:rPr>
              <a:t>발생하지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25" dirty="0">
                <a:latin typeface="Gulim"/>
                <a:cs typeface="Gulim"/>
              </a:rPr>
              <a:t>않고 	</a:t>
            </a:r>
            <a:r>
              <a:rPr sz="1800" spc="-10" dirty="0">
                <a:latin typeface="Arial"/>
                <a:cs typeface="Arial"/>
              </a:rPr>
              <a:t>return</a:t>
            </a:r>
            <a:r>
              <a:rPr sz="1800" spc="-10" dirty="0">
                <a:latin typeface="Gulim"/>
                <a:cs typeface="Gulim"/>
              </a:rPr>
              <a:t>이</a:t>
            </a:r>
            <a:r>
              <a:rPr sz="1800" spc="-11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되어</a:t>
            </a:r>
            <a:r>
              <a:rPr sz="1800" spc="-110" dirty="0">
                <a:latin typeface="Gulim"/>
                <a:cs typeface="Gulim"/>
              </a:rPr>
              <a:t> </a:t>
            </a:r>
            <a:r>
              <a:rPr sz="1800" spc="-20" dirty="0">
                <a:latin typeface="Gulim"/>
                <a:cs typeface="Gulim"/>
              </a:rPr>
              <a:t>로컬창에서</a:t>
            </a:r>
            <a:r>
              <a:rPr sz="1800" spc="-120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v=3.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Gulim"/>
                <a:cs typeface="Gulim"/>
              </a:rPr>
              <a:t>그림</a:t>
            </a:r>
            <a:r>
              <a:rPr sz="1800" spc="-10" dirty="0">
                <a:latin typeface="Arial"/>
                <a:cs typeface="Arial"/>
              </a:rPr>
              <a:t>(f)</a:t>
            </a:r>
            <a:r>
              <a:rPr sz="1800" spc="-10" dirty="0">
                <a:latin typeface="Gulim"/>
                <a:cs typeface="Gulim"/>
              </a:rPr>
              <a:t>상태</a:t>
            </a:r>
            <a:r>
              <a:rPr sz="1800" spc="500" dirty="0">
                <a:latin typeface="Gulim"/>
                <a:cs typeface="Gulim"/>
              </a:rPr>
              <a:t> 	</a:t>
            </a:r>
            <a:r>
              <a:rPr sz="1800" spc="-20" dirty="0">
                <a:latin typeface="Gulim"/>
                <a:cs typeface="Gulim"/>
              </a:rPr>
              <a:t>호출스택은</a:t>
            </a:r>
            <a:r>
              <a:rPr sz="1800" spc="-135" dirty="0">
                <a:latin typeface="Gulim"/>
                <a:cs typeface="Gulim"/>
              </a:rPr>
              <a:t> </a:t>
            </a:r>
            <a:r>
              <a:rPr sz="1800" spc="-10" dirty="0">
                <a:latin typeface="Arial"/>
                <a:cs typeface="Arial"/>
              </a:rPr>
              <a:t>dfs_mat()</a:t>
            </a:r>
            <a:r>
              <a:rPr sz="1800" spc="-10" dirty="0">
                <a:latin typeface="Gulim"/>
                <a:cs typeface="Gulim"/>
              </a:rPr>
              <a:t>가</a:t>
            </a:r>
            <a:r>
              <a:rPr sz="1800" spc="-110" dirty="0">
                <a:latin typeface="Gulim"/>
                <a:cs typeface="Gulim"/>
              </a:rPr>
              <a:t> </a:t>
            </a:r>
            <a:r>
              <a:rPr sz="1800" spc="-10" dirty="0">
                <a:latin typeface="Arial"/>
                <a:cs typeface="Arial"/>
              </a:rPr>
              <a:t>5</a:t>
            </a:r>
            <a:r>
              <a:rPr sz="1800" spc="-10" dirty="0">
                <a:latin typeface="Gulim"/>
                <a:cs typeface="Gulim"/>
              </a:rPr>
              <a:t>개에서</a:t>
            </a:r>
            <a:r>
              <a:rPr sz="1800" spc="-114" dirty="0">
                <a:latin typeface="Gulim"/>
                <a:cs typeface="Gulim"/>
              </a:rPr>
              <a:t> </a:t>
            </a:r>
            <a:r>
              <a:rPr sz="1800" dirty="0">
                <a:latin typeface="Arial"/>
                <a:cs typeface="Arial"/>
              </a:rPr>
              <a:t>4</a:t>
            </a:r>
            <a:r>
              <a:rPr sz="1800" dirty="0">
                <a:latin typeface="Gulim"/>
                <a:cs typeface="Gulim"/>
              </a:rPr>
              <a:t>개로</a:t>
            </a:r>
            <a:r>
              <a:rPr sz="1800" spc="-110" dirty="0">
                <a:latin typeface="Gulim"/>
                <a:cs typeface="Gulim"/>
              </a:rPr>
              <a:t> </a:t>
            </a:r>
            <a:r>
              <a:rPr sz="1800" spc="-25" dirty="0">
                <a:latin typeface="Gulim"/>
                <a:cs typeface="Gulim"/>
              </a:rPr>
              <a:t>줄어듬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5769" y="4973180"/>
            <a:ext cx="5034356" cy="21781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04735" y="1983181"/>
            <a:ext cx="2549905" cy="14470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5832" y="3549015"/>
            <a:ext cx="2464663" cy="121853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">
              <a:lnSpc>
                <a:spcPts val="3840"/>
              </a:lnSpc>
              <a:spcBef>
                <a:spcPts val="100"/>
              </a:spcBef>
            </a:pPr>
            <a:r>
              <a:rPr sz="3200" spc="-675" dirty="0"/>
              <a:t>학생</a:t>
            </a:r>
            <a:r>
              <a:rPr sz="3200" spc="-675" dirty="0">
                <a:latin typeface="Tw Cen MT"/>
                <a:cs typeface="Tw Cen MT"/>
              </a:rPr>
              <a:t>&gt;</a:t>
            </a:r>
            <a:r>
              <a:rPr sz="3200" spc="20" dirty="0">
                <a:latin typeface="Tw Cen MT"/>
                <a:cs typeface="Tw Cen MT"/>
              </a:rPr>
              <a:t> </a:t>
            </a:r>
            <a:r>
              <a:rPr sz="3200" spc="-1260" dirty="0"/>
              <a:t>교수님</a:t>
            </a:r>
            <a:r>
              <a:rPr sz="3200" spc="-1260" dirty="0">
                <a:latin typeface="Tw Cen MT"/>
                <a:cs typeface="Tw Cen MT"/>
              </a:rPr>
              <a:t>~</a:t>
            </a:r>
            <a:r>
              <a:rPr sz="3200" spc="10" dirty="0">
                <a:latin typeface="Tw Cen MT"/>
                <a:cs typeface="Tw Cen MT"/>
              </a:rPr>
              <a:t> </a:t>
            </a:r>
            <a:r>
              <a:rPr sz="3200" spc="-1310" dirty="0"/>
              <a:t>어려워요</a:t>
            </a:r>
            <a:r>
              <a:rPr sz="3200" spc="-1310" dirty="0">
                <a:latin typeface="Tw Cen MT"/>
                <a:cs typeface="Tw Cen MT"/>
              </a:rPr>
              <a:t>.</a:t>
            </a:r>
            <a:r>
              <a:rPr sz="3200" spc="30" dirty="0">
                <a:latin typeface="Tw Cen MT"/>
                <a:cs typeface="Tw Cen MT"/>
              </a:rPr>
              <a:t> </a:t>
            </a:r>
            <a:r>
              <a:rPr sz="3200" spc="-1895" dirty="0"/>
              <a:t>코드</a:t>
            </a:r>
            <a:r>
              <a:rPr sz="3200" spc="-160" dirty="0"/>
              <a:t> </a:t>
            </a:r>
            <a:r>
              <a:rPr sz="3200" spc="-1445" dirty="0"/>
              <a:t>한줄</a:t>
            </a:r>
            <a:r>
              <a:rPr sz="3200" spc="-170" dirty="0"/>
              <a:t> </a:t>
            </a:r>
            <a:r>
              <a:rPr sz="3200" spc="-675" dirty="0"/>
              <a:t>씩</a:t>
            </a:r>
            <a:r>
              <a:rPr sz="3200" spc="-160" dirty="0"/>
              <a:t> </a:t>
            </a:r>
            <a:r>
              <a:rPr sz="3200" spc="-1185" dirty="0"/>
              <a:t>설명해주세요</a:t>
            </a:r>
            <a:r>
              <a:rPr sz="3200" spc="-1185" dirty="0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138430">
              <a:lnSpc>
                <a:spcPts val="3840"/>
              </a:lnSpc>
            </a:pPr>
            <a:r>
              <a:rPr sz="3200" spc="-1270" dirty="0"/>
              <a:t>교수</a:t>
            </a:r>
            <a:r>
              <a:rPr sz="3200" spc="-1270" dirty="0">
                <a:latin typeface="Tw Cen MT"/>
                <a:cs typeface="Tw Cen MT"/>
              </a:rPr>
              <a:t>&gt;</a:t>
            </a:r>
            <a:r>
              <a:rPr sz="3200" spc="20" dirty="0">
                <a:latin typeface="Tw Cen MT"/>
                <a:cs typeface="Tw Cen MT"/>
              </a:rPr>
              <a:t> </a:t>
            </a:r>
            <a:r>
              <a:rPr sz="3200" spc="-1714" dirty="0"/>
              <a:t>코드만으로</a:t>
            </a:r>
            <a:r>
              <a:rPr sz="3200" spc="-145" dirty="0"/>
              <a:t> </a:t>
            </a:r>
            <a:r>
              <a:rPr sz="3200" spc="-1445" dirty="0"/>
              <a:t>한줄</a:t>
            </a:r>
            <a:r>
              <a:rPr sz="3200" spc="-165" dirty="0"/>
              <a:t> </a:t>
            </a:r>
            <a:r>
              <a:rPr sz="3200" spc="-675" dirty="0"/>
              <a:t>씩</a:t>
            </a:r>
            <a:r>
              <a:rPr sz="3200" spc="-175" dirty="0"/>
              <a:t> </a:t>
            </a:r>
            <a:r>
              <a:rPr sz="3200" spc="-1260" dirty="0"/>
              <a:t>설명이</a:t>
            </a:r>
            <a:r>
              <a:rPr sz="3200" spc="-175" dirty="0"/>
              <a:t> </a:t>
            </a:r>
            <a:r>
              <a:rPr sz="3200" spc="-1300" dirty="0"/>
              <a:t>어려움</a:t>
            </a:r>
            <a:r>
              <a:rPr sz="3200" spc="-1300" dirty="0">
                <a:latin typeface="Tw Cen MT"/>
                <a:cs typeface="Tw Cen MT"/>
              </a:rPr>
              <a:t>.</a:t>
            </a:r>
            <a:r>
              <a:rPr sz="3200" spc="15" dirty="0">
                <a:latin typeface="Tw Cen MT"/>
                <a:cs typeface="Tw Cen MT"/>
              </a:rPr>
              <a:t> </a:t>
            </a:r>
            <a:r>
              <a:rPr sz="3200" spc="-1670" dirty="0"/>
              <a:t>자료구조</a:t>
            </a:r>
            <a:r>
              <a:rPr sz="3200" spc="-150" dirty="0"/>
              <a:t> </a:t>
            </a:r>
            <a:r>
              <a:rPr sz="3200" spc="-1370" dirty="0"/>
              <a:t>그림과</a:t>
            </a:r>
            <a:r>
              <a:rPr sz="3200" spc="-175" dirty="0"/>
              <a:t> </a:t>
            </a:r>
            <a:r>
              <a:rPr sz="3200" spc="-350" dirty="0">
                <a:latin typeface="Tw Cen MT"/>
                <a:cs typeface="Tw Cen MT"/>
              </a:rPr>
              <a:t>VS</a:t>
            </a:r>
            <a:r>
              <a:rPr sz="3200" spc="-350" dirty="0"/>
              <a:t>같이</a:t>
            </a:r>
            <a:r>
              <a:rPr sz="3200" spc="-350" dirty="0">
                <a:latin typeface="Tw Cen MT"/>
                <a:cs typeface="Tw Cen MT"/>
              </a:rPr>
              <a:t>(4/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893387"/>
            <a:ext cx="5116195" cy="3303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9395" indent="-226695">
              <a:lnSpc>
                <a:spcPts val="1825"/>
              </a:lnSpc>
              <a:spcBef>
                <a:spcPts val="95"/>
              </a:spcBef>
              <a:buAutoNum type="arabicPeriod"/>
              <a:tabLst>
                <a:tab pos="239395" algn="l"/>
              </a:tabLst>
            </a:pPr>
            <a:r>
              <a:rPr sz="1600" dirty="0">
                <a:latin typeface="Arial"/>
                <a:cs typeface="Arial"/>
              </a:rPr>
              <a:t>Step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Into</a:t>
            </a:r>
            <a:r>
              <a:rPr sz="1600" dirty="0">
                <a:latin typeface="Gulim"/>
                <a:cs typeface="Gulim"/>
              </a:rPr>
              <a:t>로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진행하면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dfs_mat()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Gulim"/>
                <a:cs typeface="Gulim"/>
              </a:rPr>
              <a:t>호출이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발생하지</a:t>
            </a:r>
            <a:r>
              <a:rPr sz="1600" spc="-125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않고</a:t>
            </a:r>
            <a:endParaRPr sz="1600">
              <a:latin typeface="Gulim"/>
              <a:cs typeface="Gulim"/>
            </a:endParaRPr>
          </a:p>
          <a:p>
            <a:pPr marL="240665">
              <a:lnSpc>
                <a:spcPts val="1825"/>
              </a:lnSpc>
            </a:pPr>
            <a:r>
              <a:rPr sz="1600" spc="-10" dirty="0">
                <a:latin typeface="Arial"/>
                <a:cs typeface="Arial"/>
              </a:rPr>
              <a:t>return</a:t>
            </a:r>
            <a:r>
              <a:rPr sz="1600" spc="-10" dirty="0">
                <a:latin typeface="Gulim"/>
                <a:cs typeface="Gulim"/>
              </a:rPr>
              <a:t>이</a:t>
            </a:r>
            <a:r>
              <a:rPr sz="1600" spc="-8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되어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로컬창에서</a:t>
            </a:r>
            <a:r>
              <a:rPr sz="1600" spc="-95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v=2.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Gulim"/>
                <a:cs typeface="Gulim"/>
              </a:rPr>
              <a:t>그림</a:t>
            </a:r>
            <a:r>
              <a:rPr sz="1600" spc="-10" dirty="0">
                <a:latin typeface="Arial"/>
                <a:cs typeface="Arial"/>
              </a:rPr>
              <a:t>(g)</a:t>
            </a:r>
            <a:r>
              <a:rPr sz="1600" spc="-10" dirty="0">
                <a:latin typeface="Gulim"/>
                <a:cs typeface="Gulim"/>
              </a:rPr>
              <a:t>상태</a:t>
            </a:r>
            <a:endParaRPr sz="1600">
              <a:latin typeface="Gulim"/>
              <a:cs typeface="Gulim"/>
            </a:endParaRPr>
          </a:p>
          <a:p>
            <a:pPr marL="240665">
              <a:lnSpc>
                <a:spcPct val="100000"/>
              </a:lnSpc>
              <a:spcBef>
                <a:spcPts val="500"/>
              </a:spcBef>
            </a:pPr>
            <a:r>
              <a:rPr sz="1600" spc="-10" dirty="0">
                <a:latin typeface="Gulim"/>
                <a:cs typeface="Gulim"/>
              </a:rPr>
              <a:t>호출스택은</a:t>
            </a:r>
            <a:r>
              <a:rPr sz="1600" spc="-95" dirty="0">
                <a:latin typeface="Gulim"/>
                <a:cs typeface="Gulim"/>
              </a:rPr>
              <a:t> </a:t>
            </a:r>
            <a:r>
              <a:rPr sz="1600" spc="-10" dirty="0">
                <a:latin typeface="Arial"/>
                <a:cs typeface="Arial"/>
              </a:rPr>
              <a:t>dfs_mat()</a:t>
            </a:r>
            <a:r>
              <a:rPr sz="1600" spc="-10" dirty="0">
                <a:latin typeface="Gulim"/>
                <a:cs typeface="Gulim"/>
              </a:rPr>
              <a:t>가</a:t>
            </a:r>
            <a:r>
              <a:rPr sz="1600" spc="-70" dirty="0">
                <a:latin typeface="Gulim"/>
                <a:cs typeface="Gulim"/>
              </a:rPr>
              <a:t> </a:t>
            </a:r>
            <a:r>
              <a:rPr sz="1600" spc="-10" dirty="0">
                <a:latin typeface="Arial"/>
                <a:cs typeface="Arial"/>
              </a:rPr>
              <a:t>4</a:t>
            </a:r>
            <a:r>
              <a:rPr sz="1600" spc="-10" dirty="0">
                <a:latin typeface="Gulim"/>
                <a:cs typeface="Gulim"/>
              </a:rPr>
              <a:t>개에서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3</a:t>
            </a:r>
            <a:r>
              <a:rPr sz="1600" dirty="0">
                <a:latin typeface="Gulim"/>
                <a:cs typeface="Gulim"/>
              </a:rPr>
              <a:t>개로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줄어듬</a:t>
            </a:r>
            <a:endParaRPr sz="1600">
              <a:latin typeface="Gulim"/>
              <a:cs typeface="Gulim"/>
            </a:endParaRPr>
          </a:p>
          <a:p>
            <a:pPr marL="239395" indent="-226695">
              <a:lnSpc>
                <a:spcPts val="1825"/>
              </a:lnSpc>
              <a:spcBef>
                <a:spcPts val="515"/>
              </a:spcBef>
              <a:buAutoNum type="arabicPeriod" startAt="2"/>
              <a:tabLst>
                <a:tab pos="239395" algn="l"/>
              </a:tabLst>
            </a:pPr>
            <a:r>
              <a:rPr sz="1600" dirty="0">
                <a:latin typeface="Arial"/>
                <a:cs typeface="Arial"/>
              </a:rPr>
              <a:t>Step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Into</a:t>
            </a:r>
            <a:r>
              <a:rPr sz="1600" dirty="0">
                <a:latin typeface="Gulim"/>
                <a:cs typeface="Gulim"/>
              </a:rPr>
              <a:t>로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진행하면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dfs_mat()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Gulim"/>
                <a:cs typeface="Gulim"/>
              </a:rPr>
              <a:t>호출이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발생하지</a:t>
            </a:r>
            <a:r>
              <a:rPr sz="1600" spc="-125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않고</a:t>
            </a:r>
            <a:endParaRPr sz="1600">
              <a:latin typeface="Gulim"/>
              <a:cs typeface="Gulim"/>
            </a:endParaRPr>
          </a:p>
          <a:p>
            <a:pPr marL="240665">
              <a:lnSpc>
                <a:spcPts val="1825"/>
              </a:lnSpc>
            </a:pPr>
            <a:r>
              <a:rPr sz="1600" spc="-10" dirty="0">
                <a:latin typeface="Arial"/>
                <a:cs typeface="Arial"/>
              </a:rPr>
              <a:t>return</a:t>
            </a:r>
            <a:r>
              <a:rPr sz="1600" spc="-10" dirty="0">
                <a:latin typeface="Gulim"/>
                <a:cs typeface="Gulim"/>
              </a:rPr>
              <a:t>이</a:t>
            </a:r>
            <a:r>
              <a:rPr sz="1600" spc="-8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되어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로컬창에서</a:t>
            </a:r>
            <a:r>
              <a:rPr sz="1600" spc="-10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v=1.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Gulim"/>
                <a:cs typeface="Gulim"/>
              </a:rPr>
              <a:t>그림</a:t>
            </a:r>
            <a:r>
              <a:rPr sz="1600" spc="-10" dirty="0">
                <a:latin typeface="Arial"/>
                <a:cs typeface="Arial"/>
              </a:rPr>
              <a:t>(g)</a:t>
            </a:r>
            <a:r>
              <a:rPr sz="1600" spc="-10" dirty="0">
                <a:latin typeface="Gulim"/>
                <a:cs typeface="Gulim"/>
              </a:rPr>
              <a:t>와</a:t>
            </a:r>
            <a:r>
              <a:rPr sz="1600" spc="-85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(h)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Gulim"/>
                <a:cs typeface="Gulim"/>
              </a:rPr>
              <a:t>사이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상태</a:t>
            </a:r>
            <a:endParaRPr sz="1600">
              <a:latin typeface="Gulim"/>
              <a:cs typeface="Gulim"/>
            </a:endParaRPr>
          </a:p>
          <a:p>
            <a:pPr marL="240665">
              <a:lnSpc>
                <a:spcPct val="100000"/>
              </a:lnSpc>
              <a:spcBef>
                <a:spcPts val="505"/>
              </a:spcBef>
            </a:pPr>
            <a:r>
              <a:rPr sz="1600" spc="-10" dirty="0">
                <a:latin typeface="Gulim"/>
                <a:cs typeface="Gulim"/>
              </a:rPr>
              <a:t>호출스택은</a:t>
            </a:r>
            <a:r>
              <a:rPr sz="1600" spc="-95" dirty="0">
                <a:latin typeface="Gulim"/>
                <a:cs typeface="Gulim"/>
              </a:rPr>
              <a:t> </a:t>
            </a:r>
            <a:r>
              <a:rPr sz="1600" spc="-10" dirty="0">
                <a:latin typeface="Arial"/>
                <a:cs typeface="Arial"/>
              </a:rPr>
              <a:t>dfs_mat()</a:t>
            </a:r>
            <a:r>
              <a:rPr sz="1600" spc="-10" dirty="0">
                <a:latin typeface="Gulim"/>
                <a:cs typeface="Gulim"/>
              </a:rPr>
              <a:t>가</a:t>
            </a:r>
            <a:r>
              <a:rPr sz="1600" spc="-70" dirty="0">
                <a:latin typeface="Gulim"/>
                <a:cs typeface="Gulim"/>
              </a:rPr>
              <a:t> </a:t>
            </a:r>
            <a:r>
              <a:rPr sz="1600" spc="-10" dirty="0">
                <a:latin typeface="Arial"/>
                <a:cs typeface="Arial"/>
              </a:rPr>
              <a:t>3</a:t>
            </a:r>
            <a:r>
              <a:rPr sz="1600" spc="-10" dirty="0">
                <a:latin typeface="Gulim"/>
                <a:cs typeface="Gulim"/>
              </a:rPr>
              <a:t>개에서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2</a:t>
            </a:r>
            <a:r>
              <a:rPr sz="1600" dirty="0">
                <a:latin typeface="Gulim"/>
                <a:cs typeface="Gulim"/>
              </a:rPr>
              <a:t>개로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줄어듬</a:t>
            </a:r>
            <a:endParaRPr sz="1600">
              <a:latin typeface="Gulim"/>
              <a:cs typeface="Gulim"/>
            </a:endParaRPr>
          </a:p>
          <a:p>
            <a:pPr marL="239395" indent="-226695">
              <a:lnSpc>
                <a:spcPts val="1825"/>
              </a:lnSpc>
              <a:spcBef>
                <a:spcPts val="500"/>
              </a:spcBef>
              <a:buAutoNum type="arabicPeriod" startAt="3"/>
              <a:tabLst>
                <a:tab pos="239395" algn="l"/>
              </a:tabLst>
            </a:pPr>
            <a:r>
              <a:rPr sz="1600" dirty="0">
                <a:latin typeface="Arial"/>
                <a:cs typeface="Arial"/>
              </a:rPr>
              <a:t>Step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Into</a:t>
            </a:r>
            <a:r>
              <a:rPr sz="1600" dirty="0">
                <a:latin typeface="Gulim"/>
                <a:cs typeface="Gulim"/>
              </a:rPr>
              <a:t>로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진행하면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dfs_mat()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Gulim"/>
                <a:cs typeface="Gulim"/>
              </a:rPr>
              <a:t>호출이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발생하지</a:t>
            </a:r>
            <a:r>
              <a:rPr sz="1600" spc="-125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않고</a:t>
            </a:r>
            <a:endParaRPr sz="1600">
              <a:latin typeface="Gulim"/>
              <a:cs typeface="Gulim"/>
            </a:endParaRPr>
          </a:p>
          <a:p>
            <a:pPr marL="240665">
              <a:lnSpc>
                <a:spcPts val="1825"/>
              </a:lnSpc>
            </a:pPr>
            <a:r>
              <a:rPr sz="1600" spc="-10" dirty="0">
                <a:latin typeface="Arial"/>
                <a:cs typeface="Arial"/>
              </a:rPr>
              <a:t>return</a:t>
            </a:r>
            <a:r>
              <a:rPr sz="1600" spc="-10" dirty="0">
                <a:latin typeface="Gulim"/>
                <a:cs typeface="Gulim"/>
              </a:rPr>
              <a:t>이</a:t>
            </a:r>
            <a:r>
              <a:rPr sz="1600" spc="-9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되어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로컬창에서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v=0.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Gulim"/>
                <a:cs typeface="Gulim"/>
              </a:rPr>
              <a:t>그림</a:t>
            </a:r>
            <a:r>
              <a:rPr sz="1600" dirty="0">
                <a:latin typeface="Arial"/>
                <a:cs typeface="Arial"/>
              </a:rPr>
              <a:t>(h)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Gulim"/>
                <a:cs typeface="Gulim"/>
              </a:rPr>
              <a:t>사이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상태</a:t>
            </a:r>
            <a:endParaRPr sz="1600">
              <a:latin typeface="Gulim"/>
              <a:cs typeface="Gulim"/>
            </a:endParaRPr>
          </a:p>
          <a:p>
            <a:pPr marL="240665">
              <a:lnSpc>
                <a:spcPct val="100000"/>
              </a:lnSpc>
              <a:spcBef>
                <a:spcPts val="515"/>
              </a:spcBef>
            </a:pPr>
            <a:r>
              <a:rPr sz="1600" spc="-10" dirty="0">
                <a:latin typeface="Gulim"/>
                <a:cs typeface="Gulim"/>
              </a:rPr>
              <a:t>호출스택은</a:t>
            </a:r>
            <a:r>
              <a:rPr sz="1600" spc="-95" dirty="0">
                <a:latin typeface="Gulim"/>
                <a:cs typeface="Gulim"/>
              </a:rPr>
              <a:t> </a:t>
            </a:r>
            <a:r>
              <a:rPr sz="1600" spc="-10" dirty="0">
                <a:latin typeface="Arial"/>
                <a:cs typeface="Arial"/>
              </a:rPr>
              <a:t>dfs_mat()</a:t>
            </a:r>
            <a:r>
              <a:rPr sz="1600" spc="-10" dirty="0">
                <a:latin typeface="Gulim"/>
                <a:cs typeface="Gulim"/>
              </a:rPr>
              <a:t>가</a:t>
            </a:r>
            <a:r>
              <a:rPr sz="1600" spc="-70" dirty="0">
                <a:latin typeface="Gulim"/>
                <a:cs typeface="Gulim"/>
              </a:rPr>
              <a:t> </a:t>
            </a:r>
            <a:r>
              <a:rPr sz="1600" spc="-10" dirty="0">
                <a:latin typeface="Arial"/>
                <a:cs typeface="Arial"/>
              </a:rPr>
              <a:t>2</a:t>
            </a:r>
            <a:r>
              <a:rPr sz="1600" spc="-10" dirty="0">
                <a:latin typeface="Gulim"/>
                <a:cs typeface="Gulim"/>
              </a:rPr>
              <a:t>개에서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1</a:t>
            </a:r>
            <a:r>
              <a:rPr sz="1600" dirty="0">
                <a:latin typeface="Gulim"/>
                <a:cs typeface="Gulim"/>
              </a:rPr>
              <a:t>개로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줄어듬</a:t>
            </a:r>
            <a:endParaRPr sz="1600">
              <a:latin typeface="Gulim"/>
              <a:cs typeface="Gulim"/>
            </a:endParaRPr>
          </a:p>
          <a:p>
            <a:pPr marL="239395" indent="-226695">
              <a:lnSpc>
                <a:spcPts val="1825"/>
              </a:lnSpc>
              <a:spcBef>
                <a:spcPts val="505"/>
              </a:spcBef>
              <a:buAutoNum type="arabicPeriod" startAt="4"/>
              <a:tabLst>
                <a:tab pos="239395" algn="l"/>
              </a:tabLst>
            </a:pPr>
            <a:r>
              <a:rPr sz="1600" dirty="0">
                <a:latin typeface="Arial"/>
                <a:cs typeface="Arial"/>
              </a:rPr>
              <a:t>Step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Into</a:t>
            </a:r>
            <a:r>
              <a:rPr sz="1600" dirty="0">
                <a:latin typeface="Gulim"/>
                <a:cs typeface="Gulim"/>
              </a:rPr>
              <a:t>로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진행하면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dfs_mat()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Gulim"/>
                <a:cs typeface="Gulim"/>
              </a:rPr>
              <a:t>호출이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발생하지</a:t>
            </a:r>
            <a:r>
              <a:rPr sz="1600" spc="-125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않고</a:t>
            </a:r>
            <a:endParaRPr sz="1600">
              <a:latin typeface="Gulim"/>
              <a:cs typeface="Gulim"/>
            </a:endParaRPr>
          </a:p>
          <a:p>
            <a:pPr marL="240665">
              <a:lnSpc>
                <a:spcPts val="1825"/>
              </a:lnSpc>
            </a:pPr>
            <a:r>
              <a:rPr sz="1600" spc="-10" dirty="0">
                <a:latin typeface="Arial"/>
                <a:cs typeface="Arial"/>
              </a:rPr>
              <a:t>return</a:t>
            </a:r>
            <a:r>
              <a:rPr sz="1600" spc="-10" dirty="0">
                <a:latin typeface="Gulim"/>
                <a:cs typeface="Gulim"/>
              </a:rPr>
              <a:t>이</a:t>
            </a:r>
            <a:r>
              <a:rPr sz="1600" spc="-7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되어</a:t>
            </a:r>
            <a:r>
              <a:rPr sz="1600" spc="-95" dirty="0">
                <a:latin typeface="Gulim"/>
                <a:cs typeface="Gulim"/>
              </a:rPr>
              <a:t> </a:t>
            </a:r>
            <a:r>
              <a:rPr sz="1600" spc="-10" dirty="0">
                <a:latin typeface="Arial"/>
                <a:cs typeface="Arial"/>
              </a:rPr>
              <a:t>main()</a:t>
            </a:r>
            <a:r>
              <a:rPr sz="1600" spc="-10" dirty="0">
                <a:latin typeface="Gulim"/>
                <a:cs typeface="Gulim"/>
              </a:rPr>
              <a:t>으로</a:t>
            </a:r>
            <a:r>
              <a:rPr sz="1600" spc="-90" dirty="0">
                <a:latin typeface="Gulim"/>
                <a:cs typeface="Gulim"/>
              </a:rPr>
              <a:t> </a:t>
            </a:r>
            <a:r>
              <a:rPr sz="1600" spc="-20" dirty="0">
                <a:latin typeface="Gulim"/>
                <a:cs typeface="Gulim"/>
              </a:rPr>
              <a:t>되돌아감</a:t>
            </a:r>
            <a:endParaRPr sz="1600">
              <a:latin typeface="Gulim"/>
              <a:cs typeface="Gulim"/>
            </a:endParaRPr>
          </a:p>
          <a:p>
            <a:pPr marL="240665">
              <a:lnSpc>
                <a:spcPct val="100000"/>
              </a:lnSpc>
              <a:spcBef>
                <a:spcPts val="500"/>
              </a:spcBef>
            </a:pPr>
            <a:r>
              <a:rPr sz="1600" spc="-10" dirty="0">
                <a:latin typeface="Gulim"/>
                <a:cs typeface="Gulim"/>
              </a:rPr>
              <a:t>호출스택은</a:t>
            </a:r>
            <a:r>
              <a:rPr sz="1600" spc="-95" dirty="0">
                <a:latin typeface="Gulim"/>
                <a:cs typeface="Gulim"/>
              </a:rPr>
              <a:t> </a:t>
            </a:r>
            <a:r>
              <a:rPr sz="1600" spc="-10" dirty="0">
                <a:latin typeface="Arial"/>
                <a:cs typeface="Arial"/>
              </a:rPr>
              <a:t>dfs_mat()</a:t>
            </a:r>
            <a:r>
              <a:rPr sz="1600" spc="-10" dirty="0">
                <a:latin typeface="Gulim"/>
                <a:cs typeface="Gulim"/>
              </a:rPr>
              <a:t>가</a:t>
            </a:r>
            <a:r>
              <a:rPr sz="1600" spc="-70" dirty="0">
                <a:latin typeface="Gulim"/>
                <a:cs typeface="Gulim"/>
              </a:rPr>
              <a:t> </a:t>
            </a:r>
            <a:r>
              <a:rPr sz="1600" spc="-10" dirty="0">
                <a:latin typeface="Arial"/>
                <a:cs typeface="Arial"/>
              </a:rPr>
              <a:t>1</a:t>
            </a:r>
            <a:r>
              <a:rPr sz="1600" spc="-10" dirty="0">
                <a:latin typeface="Gulim"/>
                <a:cs typeface="Gulim"/>
              </a:rPr>
              <a:t>개에서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0</a:t>
            </a:r>
            <a:r>
              <a:rPr sz="1600" dirty="0">
                <a:latin typeface="Gulim"/>
                <a:cs typeface="Gulim"/>
              </a:rPr>
              <a:t>개로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줄어듬</a:t>
            </a:r>
            <a:endParaRPr sz="16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5769" y="4973180"/>
            <a:ext cx="5034356" cy="21781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59066" y="1910079"/>
            <a:ext cx="2502712" cy="102814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37755" y="3021990"/>
            <a:ext cx="2520988" cy="93370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46886" y="4056227"/>
            <a:ext cx="2473794" cy="79053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48308" y="5556554"/>
            <a:ext cx="1542122" cy="6960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399" rIns="0" bIns="0" rtlCol="0">
            <a:spAutoFit/>
          </a:bodyPr>
          <a:lstStyle/>
          <a:p>
            <a:pPr marL="25146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w Cen MT"/>
                <a:cs typeface="Tw Cen MT"/>
              </a:rPr>
              <a:t>DFS</a:t>
            </a:r>
            <a:r>
              <a:rPr sz="3200" spc="-15" dirty="0">
                <a:latin typeface="Tw Cen MT"/>
                <a:cs typeface="Tw Cen MT"/>
              </a:rPr>
              <a:t> </a:t>
            </a:r>
            <a:r>
              <a:rPr sz="3200" spc="-1895" dirty="0"/>
              <a:t>코드</a:t>
            </a:r>
            <a:r>
              <a:rPr sz="3200" spc="-170" dirty="0"/>
              <a:t> </a:t>
            </a:r>
            <a:r>
              <a:rPr sz="3200" spc="-1220" dirty="0"/>
              <a:t>설명</a:t>
            </a:r>
            <a:r>
              <a:rPr sz="3200" spc="-175" dirty="0"/>
              <a:t> </a:t>
            </a:r>
            <a:r>
              <a:rPr sz="3200" spc="-1305" dirty="0"/>
              <a:t>정리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917758"/>
            <a:ext cx="4020185" cy="1695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765" indent="194945">
              <a:lnSpc>
                <a:spcPct val="100000"/>
              </a:lnSpc>
              <a:spcBef>
                <a:spcPts val="100"/>
              </a:spcBef>
              <a:buFont typeface="Arial"/>
              <a:buAutoNum type="arabicPeriod"/>
              <a:tabLst>
                <a:tab pos="207645" algn="l"/>
              </a:tabLst>
            </a:pPr>
            <a:r>
              <a:rPr sz="1400" spc="-10" dirty="0">
                <a:latin typeface="Gulim"/>
                <a:cs typeface="Gulim"/>
              </a:rPr>
              <a:t>그림</a:t>
            </a:r>
            <a:r>
              <a:rPr sz="1400" spc="-10" dirty="0">
                <a:latin typeface="Arial"/>
                <a:cs typeface="Arial"/>
              </a:rPr>
              <a:t>(a)~(d)</a:t>
            </a:r>
            <a:r>
              <a:rPr sz="1400" spc="-10" dirty="0">
                <a:latin typeface="Gulim"/>
                <a:cs typeface="Gulim"/>
              </a:rPr>
              <a:t>는</a:t>
            </a:r>
            <a:r>
              <a:rPr sz="1400" spc="-12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깊이</a:t>
            </a:r>
            <a:r>
              <a:rPr sz="1400" spc="-6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우선</a:t>
            </a:r>
            <a:r>
              <a:rPr sz="1400" spc="-6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탐색과정으로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spc="-20" dirty="0">
                <a:latin typeface="Arial"/>
                <a:cs typeface="Arial"/>
              </a:rPr>
              <a:t>66</a:t>
            </a:r>
            <a:r>
              <a:rPr sz="1400" spc="-20" dirty="0">
                <a:latin typeface="Gulim"/>
                <a:cs typeface="Gulim"/>
              </a:rPr>
              <a:t>번줄 </a:t>
            </a:r>
            <a:r>
              <a:rPr sz="1400" spc="-10" dirty="0">
                <a:latin typeface="Arial"/>
                <a:cs typeface="Arial"/>
              </a:rPr>
              <a:t>dfs_mat()</a:t>
            </a:r>
            <a:r>
              <a:rPr sz="1400" spc="-10" dirty="0">
                <a:latin typeface="Gulim"/>
                <a:cs typeface="Gulim"/>
              </a:rPr>
              <a:t>를</a:t>
            </a:r>
            <a:r>
              <a:rPr sz="1400" spc="-7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호출하고</a:t>
            </a:r>
            <a:r>
              <a:rPr sz="1400" spc="-40" dirty="0">
                <a:latin typeface="Gulim"/>
                <a:cs typeface="Gulim"/>
              </a:rPr>
              <a:t> </a:t>
            </a:r>
            <a:r>
              <a:rPr sz="1400" spc="-10" dirty="0">
                <a:latin typeface="Gulim"/>
                <a:cs typeface="Gulim"/>
              </a:rPr>
              <a:t>그림</a:t>
            </a:r>
            <a:r>
              <a:rPr sz="1400" spc="-10" dirty="0">
                <a:latin typeface="Arial"/>
                <a:cs typeface="Arial"/>
              </a:rPr>
              <a:t>(e)~(h)</a:t>
            </a:r>
            <a:r>
              <a:rPr sz="1400" spc="-10" dirty="0">
                <a:latin typeface="Gulim"/>
                <a:cs typeface="Gulim"/>
              </a:rPr>
              <a:t>는</a:t>
            </a:r>
            <a:r>
              <a:rPr sz="1400" spc="-70" dirty="0">
                <a:latin typeface="Gulim"/>
                <a:cs typeface="Gulim"/>
              </a:rPr>
              <a:t> </a:t>
            </a:r>
            <a:r>
              <a:rPr sz="1400" spc="-20" dirty="0">
                <a:latin typeface="Gulim"/>
                <a:cs typeface="Gulim"/>
              </a:rPr>
              <a:t>호출에서 </a:t>
            </a:r>
            <a:r>
              <a:rPr sz="1400" dirty="0">
                <a:latin typeface="Arial"/>
                <a:cs typeface="Arial"/>
              </a:rPr>
              <a:t>retrun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Gulim"/>
                <a:cs typeface="Gulim"/>
              </a:rPr>
              <a:t>하면서</a:t>
            </a:r>
            <a:r>
              <a:rPr sz="1400" spc="30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방문하지</a:t>
            </a:r>
            <a:r>
              <a:rPr sz="1400" spc="-11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않은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인접정점을</a:t>
            </a:r>
            <a:r>
              <a:rPr sz="1400" spc="-110" dirty="0">
                <a:latin typeface="Gulim"/>
                <a:cs typeface="Gulim"/>
              </a:rPr>
              <a:t> </a:t>
            </a:r>
            <a:r>
              <a:rPr sz="1400" spc="-10" dirty="0">
                <a:latin typeface="Arial"/>
                <a:cs typeface="Arial"/>
              </a:rPr>
              <a:t>64</a:t>
            </a:r>
            <a:r>
              <a:rPr sz="1400" spc="-10" dirty="0">
                <a:latin typeface="Gulim"/>
                <a:cs typeface="Gulim"/>
              </a:rPr>
              <a:t>번줄에 서점검한다</a:t>
            </a:r>
            <a:endParaRPr sz="1400">
              <a:latin typeface="Gulim"/>
              <a:cs typeface="Gulim"/>
            </a:endParaRPr>
          </a:p>
          <a:p>
            <a:pPr marL="12700" marR="5080" indent="194945">
              <a:lnSpc>
                <a:spcPct val="100000"/>
              </a:lnSpc>
              <a:spcBef>
                <a:spcPts val="695"/>
              </a:spcBef>
              <a:buFont typeface="Arial"/>
              <a:buAutoNum type="arabicPeriod"/>
              <a:tabLst>
                <a:tab pos="207645" algn="l"/>
              </a:tabLst>
            </a:pPr>
            <a:r>
              <a:rPr sz="1400" dirty="0">
                <a:latin typeface="Gulim"/>
                <a:cs typeface="Gulim"/>
              </a:rPr>
              <a:t>하나의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정점으로부터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시작하여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깊이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우선으로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spc="-50" dirty="0">
                <a:latin typeface="Gulim"/>
                <a:cs typeface="Gulim"/>
              </a:rPr>
              <a:t>모 </a:t>
            </a:r>
            <a:r>
              <a:rPr sz="1400" dirty="0">
                <a:latin typeface="Gulim"/>
                <a:cs typeface="Gulim"/>
              </a:rPr>
              <a:t>든</a:t>
            </a:r>
            <a:r>
              <a:rPr sz="1400" spc="-30" dirty="0">
                <a:latin typeface="Gulim"/>
                <a:cs typeface="Gulim"/>
              </a:rPr>
              <a:t> </a:t>
            </a:r>
            <a:r>
              <a:rPr sz="1400" spc="-10" dirty="0">
                <a:latin typeface="Gulim"/>
                <a:cs typeface="Gulim"/>
              </a:rPr>
              <a:t>정점</a:t>
            </a:r>
            <a:r>
              <a:rPr sz="1400" spc="-10" dirty="0">
                <a:latin typeface="Arial"/>
                <a:cs typeface="Arial"/>
              </a:rPr>
              <a:t>(64</a:t>
            </a:r>
            <a:r>
              <a:rPr sz="1400" spc="-10" dirty="0">
                <a:latin typeface="Gulim"/>
                <a:cs typeface="Gulim"/>
              </a:rPr>
              <a:t>번줄</a:t>
            </a:r>
            <a:r>
              <a:rPr sz="1400" spc="-10" dirty="0">
                <a:latin typeface="Arial"/>
                <a:cs typeface="Arial"/>
              </a:rPr>
              <a:t>)</a:t>
            </a:r>
            <a:r>
              <a:rPr sz="1400" spc="-10" dirty="0">
                <a:latin typeface="Gulim"/>
                <a:cs typeface="Gulim"/>
              </a:rPr>
              <a:t>들을</a:t>
            </a:r>
            <a:r>
              <a:rPr sz="1400" spc="-65" dirty="0">
                <a:latin typeface="Gulim"/>
                <a:cs typeface="Gulim"/>
              </a:rPr>
              <a:t> </a:t>
            </a:r>
            <a:r>
              <a:rPr sz="1400" spc="-10" dirty="0">
                <a:latin typeface="Gulim"/>
                <a:cs typeface="Gulim"/>
              </a:rPr>
              <a:t>한번씩</a:t>
            </a:r>
            <a:r>
              <a:rPr sz="1400" spc="-10" dirty="0">
                <a:latin typeface="Arial"/>
                <a:cs typeface="Arial"/>
              </a:rPr>
              <a:t>(65</a:t>
            </a:r>
            <a:r>
              <a:rPr sz="1400" spc="-10" dirty="0">
                <a:latin typeface="Gulim"/>
                <a:cs typeface="Gulim"/>
              </a:rPr>
              <a:t>번줄</a:t>
            </a:r>
            <a:r>
              <a:rPr sz="1400" spc="-10" dirty="0">
                <a:latin typeface="Arial"/>
                <a:cs typeface="Arial"/>
              </a:rPr>
              <a:t>)</a:t>
            </a:r>
            <a:r>
              <a:rPr sz="1400" spc="-10" dirty="0">
                <a:latin typeface="Gulim"/>
                <a:cs typeface="Gulim"/>
              </a:rPr>
              <a:t>만</a:t>
            </a:r>
            <a:r>
              <a:rPr sz="1400" spc="-65" dirty="0">
                <a:latin typeface="Gulim"/>
                <a:cs typeface="Gulim"/>
              </a:rPr>
              <a:t> </a:t>
            </a:r>
            <a:r>
              <a:rPr sz="1400" spc="-20" dirty="0">
                <a:latin typeface="Gulim"/>
                <a:cs typeface="Gulim"/>
              </a:rPr>
              <a:t>방문한다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400" spc="-10" dirty="0">
                <a:latin typeface="Arial"/>
                <a:cs typeface="Arial"/>
              </a:rPr>
              <a:t>g-</a:t>
            </a:r>
            <a:r>
              <a:rPr sz="1400" dirty="0">
                <a:latin typeface="Arial"/>
                <a:cs typeface="Arial"/>
              </a:rPr>
              <a:t>&gt;n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Gulim"/>
                <a:cs typeface="Gulim"/>
              </a:rPr>
              <a:t>은</a:t>
            </a:r>
            <a:r>
              <a:rPr sz="1400" spc="-90" dirty="0">
                <a:latin typeface="Gulim"/>
                <a:cs typeface="Gulim"/>
              </a:rPr>
              <a:t> </a:t>
            </a:r>
            <a:r>
              <a:rPr sz="1400" dirty="0">
                <a:latin typeface="Arial"/>
                <a:cs typeface="Arial"/>
              </a:rPr>
              <a:t>vertex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Gulim"/>
                <a:cs typeface="Gulim"/>
              </a:rPr>
              <a:t>갯수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69370" y="4947284"/>
            <a:ext cx="4766424" cy="21796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23869" y="2248204"/>
            <a:ext cx="4611937" cy="21796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2246" y="3771404"/>
            <a:ext cx="4071520" cy="17135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DFS</a:t>
            </a:r>
            <a:r>
              <a:rPr spc="-35" dirty="0">
                <a:latin typeface="Tw Cen MT"/>
                <a:cs typeface="Tw Cen MT"/>
              </a:rPr>
              <a:t> </a:t>
            </a:r>
            <a:r>
              <a:rPr spc="-1895" dirty="0"/>
              <a:t>프로그램</a:t>
            </a:r>
            <a:r>
              <a:rPr spc="-1895" dirty="0">
                <a:latin typeface="Tw Cen MT"/>
                <a:cs typeface="Tw Cen MT"/>
              </a:rPr>
              <a:t>(</a:t>
            </a:r>
            <a:r>
              <a:rPr spc="-1895" dirty="0"/>
              <a:t>인접</a:t>
            </a:r>
            <a:r>
              <a:rPr spc="-260" dirty="0"/>
              <a:t> </a:t>
            </a:r>
            <a:r>
              <a:rPr spc="-2350" dirty="0"/>
              <a:t>리스트</a:t>
            </a:r>
            <a:r>
              <a:rPr spc="-260" dirty="0"/>
              <a:t> </a:t>
            </a:r>
            <a:r>
              <a:rPr spc="-220" dirty="0"/>
              <a:t>버전</a:t>
            </a:r>
            <a:r>
              <a:rPr spc="-220" dirty="0">
                <a:latin typeface="Tw Cen MT"/>
                <a:cs typeface="Tw Cen MT"/>
              </a:rPr>
              <a:t>)(bfs_list.c)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64018" y="2281720"/>
            <a:ext cx="7937500" cy="3174365"/>
            <a:chOff x="1364018" y="2281720"/>
            <a:chExt cx="7937500" cy="3174365"/>
          </a:xfrm>
        </p:grpSpPr>
        <p:sp>
          <p:nvSpPr>
            <p:cNvPr id="4" name="object 4"/>
            <p:cNvSpPr/>
            <p:nvPr/>
          </p:nvSpPr>
          <p:spPr>
            <a:xfrm>
              <a:off x="1377708" y="2293899"/>
              <a:ext cx="7910195" cy="3150235"/>
            </a:xfrm>
            <a:custGeom>
              <a:avLst/>
              <a:gdLst/>
              <a:ahLst/>
              <a:cxnLst/>
              <a:rect l="l" t="t" r="r" b="b"/>
              <a:pathLst>
                <a:path w="7910195" h="3150235">
                  <a:moveTo>
                    <a:pt x="7910055" y="0"/>
                  </a:moveTo>
                  <a:lnTo>
                    <a:pt x="0" y="0"/>
                  </a:lnTo>
                  <a:lnTo>
                    <a:pt x="0" y="3149942"/>
                  </a:lnTo>
                  <a:lnTo>
                    <a:pt x="7910055" y="3149942"/>
                  </a:lnTo>
                  <a:lnTo>
                    <a:pt x="791005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64018" y="2281720"/>
              <a:ext cx="7937500" cy="3174365"/>
            </a:xfrm>
            <a:custGeom>
              <a:avLst/>
              <a:gdLst/>
              <a:ahLst/>
              <a:cxnLst/>
              <a:rect l="l" t="t" r="r" b="b"/>
              <a:pathLst>
                <a:path w="7937500" h="3174365">
                  <a:moveTo>
                    <a:pt x="7937449" y="0"/>
                  </a:moveTo>
                  <a:lnTo>
                    <a:pt x="0" y="0"/>
                  </a:lnTo>
                  <a:lnTo>
                    <a:pt x="0" y="3174314"/>
                  </a:lnTo>
                  <a:lnTo>
                    <a:pt x="7937449" y="3174314"/>
                  </a:lnTo>
                  <a:lnTo>
                    <a:pt x="7937449" y="3162122"/>
                  </a:lnTo>
                  <a:lnTo>
                    <a:pt x="25869" y="3162122"/>
                  </a:lnTo>
                  <a:lnTo>
                    <a:pt x="13690" y="3149942"/>
                  </a:lnTo>
                  <a:lnTo>
                    <a:pt x="25869" y="3149942"/>
                  </a:lnTo>
                  <a:lnTo>
                    <a:pt x="25869" y="24371"/>
                  </a:lnTo>
                  <a:lnTo>
                    <a:pt x="13690" y="24371"/>
                  </a:lnTo>
                  <a:lnTo>
                    <a:pt x="25869" y="12191"/>
                  </a:lnTo>
                  <a:lnTo>
                    <a:pt x="7937449" y="12191"/>
                  </a:lnTo>
                  <a:lnTo>
                    <a:pt x="7937449" y="0"/>
                  </a:lnTo>
                  <a:close/>
                </a:path>
                <a:path w="7937500" h="3174365">
                  <a:moveTo>
                    <a:pt x="25869" y="3149942"/>
                  </a:moveTo>
                  <a:lnTo>
                    <a:pt x="13690" y="3149942"/>
                  </a:lnTo>
                  <a:lnTo>
                    <a:pt x="25869" y="3162122"/>
                  </a:lnTo>
                  <a:lnTo>
                    <a:pt x="25869" y="3149942"/>
                  </a:lnTo>
                  <a:close/>
                </a:path>
                <a:path w="7937500" h="3174365">
                  <a:moveTo>
                    <a:pt x="7911566" y="3149942"/>
                  </a:moveTo>
                  <a:lnTo>
                    <a:pt x="25869" y="3149942"/>
                  </a:lnTo>
                  <a:lnTo>
                    <a:pt x="25869" y="3162122"/>
                  </a:lnTo>
                  <a:lnTo>
                    <a:pt x="7911566" y="3162122"/>
                  </a:lnTo>
                  <a:lnTo>
                    <a:pt x="7911566" y="3149942"/>
                  </a:lnTo>
                  <a:close/>
                </a:path>
                <a:path w="7937500" h="3174365">
                  <a:moveTo>
                    <a:pt x="7911566" y="12191"/>
                  </a:moveTo>
                  <a:lnTo>
                    <a:pt x="7911566" y="3162122"/>
                  </a:lnTo>
                  <a:lnTo>
                    <a:pt x="7923745" y="3149942"/>
                  </a:lnTo>
                  <a:lnTo>
                    <a:pt x="7937449" y="3149942"/>
                  </a:lnTo>
                  <a:lnTo>
                    <a:pt x="7937449" y="24371"/>
                  </a:lnTo>
                  <a:lnTo>
                    <a:pt x="7923745" y="24371"/>
                  </a:lnTo>
                  <a:lnTo>
                    <a:pt x="7911566" y="12191"/>
                  </a:lnTo>
                  <a:close/>
                </a:path>
                <a:path w="7937500" h="3174365">
                  <a:moveTo>
                    <a:pt x="7937449" y="3149942"/>
                  </a:moveTo>
                  <a:lnTo>
                    <a:pt x="7923745" y="3149942"/>
                  </a:lnTo>
                  <a:lnTo>
                    <a:pt x="7911566" y="3162122"/>
                  </a:lnTo>
                  <a:lnTo>
                    <a:pt x="7937449" y="3162122"/>
                  </a:lnTo>
                  <a:lnTo>
                    <a:pt x="7937449" y="3149942"/>
                  </a:lnTo>
                  <a:close/>
                </a:path>
                <a:path w="7937500" h="3174365">
                  <a:moveTo>
                    <a:pt x="25869" y="12191"/>
                  </a:moveTo>
                  <a:lnTo>
                    <a:pt x="13690" y="24371"/>
                  </a:lnTo>
                  <a:lnTo>
                    <a:pt x="25869" y="24371"/>
                  </a:lnTo>
                  <a:lnTo>
                    <a:pt x="25869" y="12191"/>
                  </a:lnTo>
                  <a:close/>
                </a:path>
                <a:path w="7937500" h="3174365">
                  <a:moveTo>
                    <a:pt x="7911566" y="12191"/>
                  </a:moveTo>
                  <a:lnTo>
                    <a:pt x="25869" y="12191"/>
                  </a:lnTo>
                  <a:lnTo>
                    <a:pt x="25869" y="24371"/>
                  </a:lnTo>
                  <a:lnTo>
                    <a:pt x="7911566" y="24371"/>
                  </a:lnTo>
                  <a:lnTo>
                    <a:pt x="7911566" y="12191"/>
                  </a:lnTo>
                  <a:close/>
                </a:path>
                <a:path w="7937500" h="3174365">
                  <a:moveTo>
                    <a:pt x="7937449" y="12191"/>
                  </a:moveTo>
                  <a:lnTo>
                    <a:pt x="7911566" y="12191"/>
                  </a:lnTo>
                  <a:lnTo>
                    <a:pt x="7923745" y="24371"/>
                  </a:lnTo>
                  <a:lnTo>
                    <a:pt x="7937449" y="24371"/>
                  </a:lnTo>
                  <a:lnTo>
                    <a:pt x="7937449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54988" y="2315458"/>
            <a:ext cx="4375150" cy="151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int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visited[MAX_VERTICES];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100" baseline="-3968" dirty="0">
                <a:latin typeface="Trebuchet MS"/>
                <a:cs typeface="Trebuchet MS"/>
              </a:rPr>
              <a:t>// </a:t>
            </a:r>
            <a:r>
              <a:rPr sz="1400" dirty="0">
                <a:latin typeface="Gulim"/>
                <a:cs typeface="Gulim"/>
              </a:rPr>
              <a:t>인접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리스트로</a:t>
            </a:r>
            <a:r>
              <a:rPr sz="1400" spc="-6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표현된</a:t>
            </a:r>
            <a:r>
              <a:rPr sz="1400" spc="-5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그래프에</a:t>
            </a:r>
            <a:r>
              <a:rPr sz="1400" spc="-6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대한</a:t>
            </a:r>
            <a:r>
              <a:rPr sz="1400" spc="-6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깊이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우선</a:t>
            </a:r>
            <a:r>
              <a:rPr sz="1400" spc="-50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탐색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400" dirty="0">
                <a:latin typeface="Trebuchet MS"/>
                <a:cs typeface="Trebuchet MS"/>
              </a:rPr>
              <a:t>void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dfs_list(GraphType*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g,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int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v)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spc="-50" dirty="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Trebuchet MS"/>
                <a:cs typeface="Trebuchet MS"/>
              </a:rPr>
              <a:t>GraphNode*</a:t>
            </a:r>
            <a:r>
              <a:rPr sz="1400" spc="-9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w;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68397" y="3808787"/>
            <a:ext cx="1871980" cy="537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visited[v]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TRUE; </a:t>
            </a:r>
            <a:r>
              <a:rPr sz="1400" dirty="0">
                <a:latin typeface="Trebuchet MS"/>
                <a:cs typeface="Trebuchet MS"/>
              </a:rPr>
              <a:t>printf("</a:t>
            </a:r>
            <a:r>
              <a:rPr sz="2100" baseline="3968" dirty="0">
                <a:latin typeface="Gulim"/>
                <a:cs typeface="Gulim"/>
              </a:rPr>
              <a:t>정점</a:t>
            </a:r>
            <a:r>
              <a:rPr sz="2100" spc="-104" baseline="3968" dirty="0">
                <a:latin typeface="Gulim"/>
                <a:cs typeface="Gulim"/>
              </a:rPr>
              <a:t> </a:t>
            </a:r>
            <a:r>
              <a:rPr sz="1400" dirty="0">
                <a:latin typeface="Trebuchet MS"/>
                <a:cs typeface="Trebuchet MS"/>
              </a:rPr>
              <a:t>%d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-&gt;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",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v);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08600" y="3793534"/>
            <a:ext cx="2531745" cy="5372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2100" spc="-7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정점</a:t>
            </a:r>
            <a:r>
              <a:rPr sz="1400" spc="-60" dirty="0">
                <a:latin typeface="Gulim"/>
                <a:cs typeface="Gulim"/>
              </a:rPr>
              <a:t> </a:t>
            </a:r>
            <a:r>
              <a:rPr sz="2100" baseline="-3968" dirty="0">
                <a:latin typeface="Trebuchet MS"/>
                <a:cs typeface="Trebuchet MS"/>
              </a:rPr>
              <a:t>v</a:t>
            </a:r>
            <a:r>
              <a:rPr sz="1400" dirty="0">
                <a:latin typeface="Gulim"/>
                <a:cs typeface="Gulim"/>
              </a:rPr>
              <a:t>의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방문</a:t>
            </a:r>
            <a:r>
              <a:rPr sz="1400" spc="-60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표시</a:t>
            </a:r>
            <a:endParaRPr sz="1400">
              <a:latin typeface="Gulim"/>
              <a:cs typeface="Gulim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2100" spc="-7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방문한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정점</a:t>
            </a:r>
            <a:r>
              <a:rPr sz="1400" spc="-6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출력</a:t>
            </a:r>
            <a:endParaRPr sz="1400">
              <a:latin typeface="Gulim"/>
              <a:cs typeface="Guli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54988" y="4320571"/>
            <a:ext cx="6839584" cy="10490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925830">
              <a:lnSpc>
                <a:spcPct val="100000"/>
              </a:lnSpc>
              <a:spcBef>
                <a:spcPts val="434"/>
              </a:spcBef>
            </a:pPr>
            <a:r>
              <a:rPr sz="1400" dirty="0">
                <a:latin typeface="Trebuchet MS"/>
                <a:cs typeface="Trebuchet MS"/>
              </a:rPr>
              <a:t>for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(w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g-&gt;adj_list[v];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w;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w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w-</a:t>
            </a:r>
            <a:r>
              <a:rPr sz="1400" dirty="0">
                <a:latin typeface="Trebuchet MS"/>
                <a:cs typeface="Trebuchet MS"/>
              </a:rPr>
              <a:t>&gt;link)//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2100" baseline="3968" dirty="0">
                <a:latin typeface="Gulim"/>
                <a:cs typeface="Gulim"/>
              </a:rPr>
              <a:t>인접</a:t>
            </a:r>
            <a:r>
              <a:rPr sz="2100" spc="-97" baseline="3968" dirty="0">
                <a:latin typeface="Gulim"/>
                <a:cs typeface="Gulim"/>
              </a:rPr>
              <a:t> </a:t>
            </a:r>
            <a:r>
              <a:rPr sz="2100" baseline="3968" dirty="0">
                <a:latin typeface="Gulim"/>
                <a:cs typeface="Gulim"/>
              </a:rPr>
              <a:t>정점</a:t>
            </a:r>
            <a:r>
              <a:rPr sz="2100" spc="-89" baseline="3968" dirty="0">
                <a:latin typeface="Gulim"/>
                <a:cs typeface="Gulim"/>
              </a:rPr>
              <a:t> </a:t>
            </a:r>
            <a:r>
              <a:rPr sz="2100" spc="-37" baseline="3968" dirty="0">
                <a:latin typeface="Gulim"/>
                <a:cs typeface="Gulim"/>
              </a:rPr>
              <a:t>탐색</a:t>
            </a:r>
            <a:endParaRPr sz="2100" baseline="3968">
              <a:latin typeface="Gulim"/>
              <a:cs typeface="Gulim"/>
            </a:endParaRPr>
          </a:p>
          <a:p>
            <a:pPr marL="1838960">
              <a:lnSpc>
                <a:spcPct val="100000"/>
              </a:lnSpc>
              <a:spcBef>
                <a:spcPts val="334"/>
              </a:spcBef>
            </a:pPr>
            <a:r>
              <a:rPr sz="1400" dirty="0">
                <a:latin typeface="Trebuchet MS"/>
                <a:cs typeface="Trebuchet MS"/>
              </a:rPr>
              <a:t>if</a:t>
            </a:r>
            <a:r>
              <a:rPr sz="1400" spc="6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(!visited[w-&gt;vertex])</a:t>
            </a:r>
            <a:endParaRPr sz="1400">
              <a:latin typeface="Trebuchet MS"/>
              <a:cs typeface="Trebuchet MS"/>
            </a:endParaRPr>
          </a:p>
          <a:p>
            <a:pPr marL="2752725">
              <a:lnSpc>
                <a:spcPct val="100000"/>
              </a:lnSpc>
              <a:spcBef>
                <a:spcPts val="334"/>
              </a:spcBef>
            </a:pPr>
            <a:r>
              <a:rPr sz="1400" dirty="0">
                <a:latin typeface="Trebuchet MS"/>
                <a:cs typeface="Trebuchet MS"/>
              </a:rPr>
              <a:t>dfs_list(g,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w-</a:t>
            </a:r>
            <a:r>
              <a:rPr sz="1400" dirty="0">
                <a:latin typeface="Trebuchet MS"/>
                <a:cs typeface="Trebuchet MS"/>
              </a:rPr>
              <a:t>&gt;vertex);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//</a:t>
            </a:r>
            <a:r>
              <a:rPr sz="2100" baseline="3968" dirty="0">
                <a:latin typeface="Gulim"/>
                <a:cs typeface="Gulim"/>
              </a:rPr>
              <a:t>정점</a:t>
            </a:r>
            <a:r>
              <a:rPr sz="2100" spc="-82" baseline="3968" dirty="0">
                <a:latin typeface="Gulim"/>
                <a:cs typeface="Gulim"/>
              </a:rPr>
              <a:t> </a:t>
            </a:r>
            <a:r>
              <a:rPr sz="1400" dirty="0">
                <a:latin typeface="Trebuchet MS"/>
                <a:cs typeface="Trebuchet MS"/>
              </a:rPr>
              <a:t>w</a:t>
            </a:r>
            <a:r>
              <a:rPr sz="2100" baseline="3968" dirty="0">
                <a:latin typeface="Gulim"/>
                <a:cs typeface="Gulim"/>
              </a:rPr>
              <a:t>에서</a:t>
            </a:r>
            <a:r>
              <a:rPr sz="2100" spc="-112" baseline="3968" dirty="0">
                <a:latin typeface="Gulim"/>
                <a:cs typeface="Gulim"/>
              </a:rPr>
              <a:t> </a:t>
            </a:r>
            <a:r>
              <a:rPr sz="1400" dirty="0">
                <a:latin typeface="Trebuchet MS"/>
                <a:cs typeface="Trebuchet MS"/>
              </a:rPr>
              <a:t>DFS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2100" baseline="3968" dirty="0">
                <a:latin typeface="Gulim"/>
                <a:cs typeface="Gulim"/>
              </a:rPr>
              <a:t>새로</a:t>
            </a:r>
            <a:r>
              <a:rPr sz="2100" spc="-104" baseline="3968" dirty="0">
                <a:latin typeface="Gulim"/>
                <a:cs typeface="Gulim"/>
              </a:rPr>
              <a:t> </a:t>
            </a:r>
            <a:r>
              <a:rPr sz="2100" spc="-37" baseline="3968" dirty="0">
                <a:latin typeface="Gulim"/>
                <a:cs typeface="Gulim"/>
              </a:rPr>
              <a:t>시작</a:t>
            </a:r>
            <a:endParaRPr sz="2100" baseline="3968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400" spc="-50" dirty="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399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sz="3200" spc="-675" dirty="0"/>
              <a:t>학생</a:t>
            </a:r>
            <a:r>
              <a:rPr sz="3200" spc="-675" dirty="0">
                <a:latin typeface="Tw Cen MT"/>
                <a:cs typeface="Tw Cen MT"/>
              </a:rPr>
              <a:t>&gt;</a:t>
            </a:r>
            <a:r>
              <a:rPr sz="3200" spc="45" dirty="0">
                <a:latin typeface="Tw Cen MT"/>
                <a:cs typeface="Tw Cen MT"/>
              </a:rPr>
              <a:t> </a:t>
            </a:r>
            <a:r>
              <a:rPr sz="3200" spc="-1260" dirty="0"/>
              <a:t>교수님</a:t>
            </a:r>
            <a:r>
              <a:rPr sz="3200" spc="-1260" dirty="0">
                <a:latin typeface="Tw Cen MT"/>
                <a:cs typeface="Tw Cen MT"/>
              </a:rPr>
              <a:t>~</a:t>
            </a:r>
            <a:r>
              <a:rPr sz="3200" spc="25" dirty="0">
                <a:latin typeface="Tw Cen MT"/>
                <a:cs typeface="Tw Cen MT"/>
              </a:rPr>
              <a:t> </a:t>
            </a:r>
            <a:r>
              <a:rPr sz="3200" spc="-95" dirty="0">
                <a:latin typeface="Tw Cen MT"/>
                <a:cs typeface="Tw Cen MT"/>
              </a:rPr>
              <a:t>dfs_list.c</a:t>
            </a:r>
            <a:r>
              <a:rPr sz="3200" spc="-95" dirty="0"/>
              <a:t>에</a:t>
            </a:r>
            <a:r>
              <a:rPr sz="3200" spc="-180" dirty="0"/>
              <a:t> </a:t>
            </a:r>
            <a:r>
              <a:rPr sz="3200" spc="-204" dirty="0">
                <a:latin typeface="Tw Cen MT"/>
                <a:cs typeface="Tw Cen MT"/>
              </a:rPr>
              <a:t>main()</a:t>
            </a:r>
            <a:r>
              <a:rPr sz="3200" spc="-204" dirty="0"/>
              <a:t>이</a:t>
            </a:r>
            <a:r>
              <a:rPr sz="3200" spc="-165" dirty="0"/>
              <a:t> </a:t>
            </a:r>
            <a:r>
              <a:rPr sz="3200" spc="-1425" dirty="0"/>
              <a:t>없어요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830024"/>
            <a:ext cx="4288155" cy="204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74445">
              <a:lnSpc>
                <a:spcPct val="141400"/>
              </a:lnSpc>
              <a:spcBef>
                <a:spcPts val="95"/>
              </a:spcBef>
            </a:pPr>
            <a:r>
              <a:rPr sz="1400" dirty="0">
                <a:latin typeface="Gulim"/>
                <a:cs typeface="Gulim"/>
              </a:rPr>
              <a:t>교수</a:t>
            </a:r>
            <a:r>
              <a:rPr sz="1400" dirty="0">
                <a:latin typeface="Arial"/>
                <a:cs typeface="Arial"/>
              </a:rPr>
              <a:t>&gt;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dfs_list_change.c</a:t>
            </a:r>
            <a:r>
              <a:rPr sz="1400" spc="-10" dirty="0">
                <a:latin typeface="Gulim"/>
                <a:cs typeface="Gulim"/>
              </a:rPr>
              <a:t>를</a:t>
            </a:r>
            <a:r>
              <a:rPr sz="1400" spc="-70" dirty="0">
                <a:latin typeface="Gulim"/>
                <a:cs typeface="Gulim"/>
              </a:rPr>
              <a:t> </a:t>
            </a:r>
            <a:r>
              <a:rPr sz="1400" spc="-10" dirty="0">
                <a:latin typeface="Gulim"/>
                <a:cs typeface="Gulim"/>
              </a:rPr>
              <a:t>만들었어요 </a:t>
            </a:r>
            <a:r>
              <a:rPr sz="1400" dirty="0">
                <a:latin typeface="Gulim"/>
                <a:cs typeface="Gulim"/>
              </a:rPr>
              <a:t>학생</a:t>
            </a:r>
            <a:r>
              <a:rPr sz="1400" dirty="0">
                <a:latin typeface="Arial"/>
                <a:cs typeface="Arial"/>
              </a:rPr>
              <a:t>&gt;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20" dirty="0">
                <a:latin typeface="Gulim"/>
                <a:cs typeface="Gulim"/>
              </a:rPr>
              <a:t>어떻게요</a:t>
            </a:r>
            <a:endParaRPr sz="1400">
              <a:latin typeface="Gulim"/>
              <a:cs typeface="Gulim"/>
            </a:endParaRPr>
          </a:p>
          <a:p>
            <a:pPr marL="12700" marR="516255">
              <a:lnSpc>
                <a:spcPts val="2390"/>
              </a:lnSpc>
              <a:spcBef>
                <a:spcPts val="185"/>
              </a:spcBef>
            </a:pPr>
            <a:r>
              <a:rPr sz="1400" dirty="0">
                <a:latin typeface="Gulim"/>
                <a:cs typeface="Gulim"/>
              </a:rPr>
              <a:t>교수</a:t>
            </a:r>
            <a:r>
              <a:rPr sz="1400" dirty="0">
                <a:latin typeface="Arial"/>
                <a:cs typeface="Arial"/>
              </a:rPr>
              <a:t>&gt;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adj_list.c</a:t>
            </a:r>
            <a:r>
              <a:rPr sz="1400" spc="-10" dirty="0">
                <a:latin typeface="Gulim"/>
                <a:cs typeface="Gulim"/>
              </a:rPr>
              <a:t>에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spc="-10" dirty="0">
                <a:latin typeface="Arial"/>
                <a:cs typeface="Arial"/>
              </a:rPr>
              <a:t>dfs_list.c</a:t>
            </a:r>
            <a:r>
              <a:rPr sz="1400" spc="-10" dirty="0">
                <a:latin typeface="Gulim"/>
                <a:cs typeface="Gulim"/>
              </a:rPr>
              <a:t>를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spc="-20" dirty="0">
                <a:latin typeface="Gulim"/>
                <a:cs typeface="Gulim"/>
              </a:rPr>
              <a:t>합쳤습니다 </a:t>
            </a:r>
            <a:r>
              <a:rPr sz="1400" dirty="0">
                <a:latin typeface="Gulim"/>
                <a:cs typeface="Gulim"/>
              </a:rPr>
              <a:t>인접배열방식의</a:t>
            </a:r>
            <a:r>
              <a:rPr sz="1400" spc="-110" dirty="0">
                <a:latin typeface="Gulim"/>
                <a:cs typeface="Gulim"/>
              </a:rPr>
              <a:t> </a:t>
            </a:r>
            <a:r>
              <a:rPr sz="1400" spc="-10" dirty="0">
                <a:latin typeface="Arial"/>
                <a:cs typeface="Arial"/>
              </a:rPr>
              <a:t>DFS</a:t>
            </a:r>
            <a:r>
              <a:rPr sz="1400" spc="-10" dirty="0">
                <a:latin typeface="Gulim"/>
                <a:cs typeface="Gulim"/>
              </a:rPr>
              <a:t>와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동일한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결과가</a:t>
            </a:r>
            <a:r>
              <a:rPr sz="1400" spc="-90" dirty="0">
                <a:latin typeface="Gulim"/>
                <a:cs typeface="Gulim"/>
              </a:rPr>
              <a:t> </a:t>
            </a:r>
            <a:r>
              <a:rPr sz="1400" spc="-20" dirty="0">
                <a:latin typeface="Gulim"/>
                <a:cs typeface="Gulim"/>
              </a:rPr>
              <a:t>나옵니다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400" spc="-10" dirty="0">
                <a:latin typeface="Arial"/>
                <a:cs typeface="Arial"/>
              </a:rPr>
              <a:t>dfs_change.c</a:t>
            </a:r>
            <a:r>
              <a:rPr sz="1400" spc="-10" dirty="0">
                <a:latin typeface="Gulim"/>
                <a:cs typeface="Gulim"/>
              </a:rPr>
              <a:t>와</a:t>
            </a:r>
            <a:r>
              <a:rPr sz="1400" spc="-65" dirty="0">
                <a:latin typeface="Gulim"/>
                <a:cs typeface="Gulim"/>
              </a:rPr>
              <a:t> </a:t>
            </a:r>
            <a:r>
              <a:rPr sz="1400" spc="-10" dirty="0">
                <a:latin typeface="Arial"/>
                <a:cs typeface="Arial"/>
              </a:rPr>
              <a:t>dfs_list_change.c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Gulim"/>
                <a:cs typeface="Gulim"/>
              </a:rPr>
              <a:t>코드를</a:t>
            </a:r>
            <a:r>
              <a:rPr sz="1400" spc="-35" dirty="0">
                <a:latin typeface="Gulim"/>
                <a:cs typeface="Gulim"/>
              </a:rPr>
              <a:t> </a:t>
            </a:r>
            <a:r>
              <a:rPr sz="1400" spc="-20" dirty="0">
                <a:latin typeface="Gulim"/>
                <a:cs typeface="Gulim"/>
              </a:rPr>
              <a:t>비교하면</a:t>
            </a:r>
            <a:endParaRPr sz="1400">
              <a:latin typeface="Gulim"/>
              <a:cs typeface="Gulim"/>
            </a:endParaRPr>
          </a:p>
          <a:p>
            <a:pPr marL="12700" marR="5080">
              <a:lnSpc>
                <a:spcPct val="100000"/>
              </a:lnSpc>
              <a:spcBef>
                <a:spcPts val="695"/>
              </a:spcBef>
            </a:pPr>
            <a:r>
              <a:rPr sz="1400" dirty="0">
                <a:latin typeface="Gulim"/>
                <a:cs typeface="Gulim"/>
              </a:rPr>
              <a:t>정점</a:t>
            </a:r>
            <a:r>
              <a:rPr sz="1400" spc="-100" dirty="0">
                <a:latin typeface="Gulim"/>
                <a:cs typeface="Gulim"/>
              </a:rPr>
              <a:t> </a:t>
            </a:r>
            <a:r>
              <a:rPr sz="1400" dirty="0">
                <a:latin typeface="Arial"/>
                <a:cs typeface="Arial"/>
              </a:rPr>
              <a:t>v</a:t>
            </a:r>
            <a:r>
              <a:rPr sz="1400" dirty="0">
                <a:latin typeface="Gulim"/>
                <a:cs typeface="Gulim"/>
              </a:rPr>
              <a:t>의</a:t>
            </a:r>
            <a:r>
              <a:rPr sz="1400" spc="-8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방문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표시</a:t>
            </a:r>
            <a:r>
              <a:rPr sz="1400" spc="-10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단계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Gulim"/>
                <a:cs typeface="Gulim"/>
              </a:rPr>
              <a:t>인접</a:t>
            </a:r>
            <a:r>
              <a:rPr sz="1400" spc="-9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정접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탐색단계등이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동일 </a:t>
            </a:r>
            <a:r>
              <a:rPr sz="1400" dirty="0">
                <a:latin typeface="Gulim"/>
                <a:cs typeface="Gulim"/>
              </a:rPr>
              <a:t>하게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있는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것을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알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수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spc="-10" dirty="0">
                <a:latin typeface="Gulim"/>
                <a:cs typeface="Gulim"/>
              </a:rPr>
              <a:t>있습니다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38699" y="4325835"/>
            <a:ext cx="8707755" cy="1656080"/>
            <a:chOff x="1138699" y="4325835"/>
            <a:chExt cx="8707755" cy="16560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699" y="4362399"/>
              <a:ext cx="4071881" cy="15993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69370" y="4325835"/>
              <a:ext cx="4777079" cy="165569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03240" y="1923783"/>
            <a:ext cx="3909352" cy="174099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75" dirty="0"/>
              <a:t>깊이우선탐색의</a:t>
            </a:r>
            <a:r>
              <a:rPr spc="-245" dirty="0"/>
              <a:t> </a:t>
            </a:r>
            <a:r>
              <a:rPr spc="-1610" dirty="0"/>
              <a:t>시간</a:t>
            </a:r>
            <a:r>
              <a:rPr spc="-245" dirty="0"/>
              <a:t> </a:t>
            </a:r>
            <a:r>
              <a:rPr spc="-2190" dirty="0"/>
              <a:t>복잡도</a:t>
            </a:r>
            <a:r>
              <a:rPr spc="-250" dirty="0"/>
              <a:t> </a:t>
            </a:r>
            <a:r>
              <a:rPr spc="-2165" dirty="0"/>
              <a:t>분석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37043" y="1979620"/>
            <a:ext cx="8011159" cy="20631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75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9375"/>
              <a:buFont typeface="Segoe UI Symbol"/>
              <a:buChar char="□"/>
              <a:tabLst>
                <a:tab pos="357505" algn="l"/>
              </a:tabLst>
            </a:pPr>
            <a:r>
              <a:rPr sz="1600" dirty="0">
                <a:latin typeface="Gulim"/>
                <a:cs typeface="Gulim"/>
              </a:rPr>
              <a:t>인접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행렬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spc="-25" dirty="0">
                <a:latin typeface="Arial"/>
                <a:cs typeface="Arial"/>
              </a:rPr>
              <a:t>-</a:t>
            </a:r>
            <a:r>
              <a:rPr sz="1600" spc="-10" dirty="0">
                <a:latin typeface="Arial"/>
                <a:cs typeface="Arial"/>
              </a:rPr>
              <a:t>&gt;O(n</a:t>
            </a:r>
            <a:r>
              <a:rPr sz="1575" spc="-15" baseline="26455" dirty="0">
                <a:latin typeface="Arial"/>
                <a:cs typeface="Arial"/>
              </a:rPr>
              <a:t>2</a:t>
            </a:r>
            <a:r>
              <a:rPr sz="1600" spc="-10" dirty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  <a:p>
            <a:pPr marL="357505">
              <a:lnSpc>
                <a:spcPts val="1910"/>
              </a:lnSpc>
            </a:pPr>
            <a:r>
              <a:rPr sz="1600" spc="-10" dirty="0">
                <a:latin typeface="Arial"/>
                <a:cs typeface="Arial"/>
              </a:rPr>
              <a:t>64</a:t>
            </a:r>
            <a:r>
              <a:rPr sz="1600" spc="-10" dirty="0">
                <a:latin typeface="Gulim"/>
                <a:cs typeface="Gulim"/>
              </a:rPr>
              <a:t>번줄에서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n</a:t>
            </a:r>
            <a:r>
              <a:rPr sz="1600" dirty="0">
                <a:latin typeface="Gulim"/>
                <a:cs typeface="Gulim"/>
              </a:rPr>
              <a:t>번의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loop</a:t>
            </a:r>
            <a:r>
              <a:rPr sz="1600" dirty="0">
                <a:latin typeface="Gulim"/>
                <a:cs typeface="Gulim"/>
              </a:rPr>
              <a:t>를</a:t>
            </a:r>
            <a:r>
              <a:rPr sz="1600" spc="-135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수행하므로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O(n). n</a:t>
            </a:r>
            <a:r>
              <a:rPr sz="1600" dirty="0">
                <a:latin typeface="Gulim"/>
                <a:cs typeface="Gulim"/>
              </a:rPr>
              <a:t>개의</a:t>
            </a:r>
            <a:r>
              <a:rPr sz="1600" spc="-12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정점을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모두</a:t>
            </a:r>
            <a:r>
              <a:rPr sz="1600" spc="-12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방문해야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하므로</a:t>
            </a:r>
            <a:endParaRPr sz="1600">
              <a:latin typeface="Gulim"/>
              <a:cs typeface="Gulim"/>
            </a:endParaRPr>
          </a:p>
          <a:p>
            <a:pPr marL="357505">
              <a:lnSpc>
                <a:spcPts val="1914"/>
              </a:lnSpc>
            </a:pPr>
            <a:r>
              <a:rPr sz="1600" dirty="0">
                <a:latin typeface="Arial"/>
                <a:cs typeface="Arial"/>
              </a:rPr>
              <a:t>n*O(n)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95" dirty="0">
                <a:latin typeface="Segoe UI Symbol"/>
                <a:cs typeface="Segoe UI Symbol"/>
              </a:rPr>
              <a:t>➔</a:t>
            </a:r>
            <a:r>
              <a:rPr sz="1600" spc="-20" dirty="0">
                <a:latin typeface="Segoe UI Symbol"/>
                <a:cs typeface="Segoe UI Symbol"/>
              </a:rPr>
              <a:t> </a:t>
            </a:r>
            <a:r>
              <a:rPr sz="1600" spc="-20" dirty="0">
                <a:latin typeface="Arial"/>
                <a:cs typeface="Arial"/>
              </a:rPr>
              <a:t>O(n</a:t>
            </a:r>
            <a:r>
              <a:rPr sz="1575" spc="-30" baseline="26455" dirty="0">
                <a:latin typeface="Arial"/>
                <a:cs typeface="Arial"/>
              </a:rPr>
              <a:t>2</a:t>
            </a:r>
            <a:r>
              <a:rPr sz="1600" spc="-20" dirty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  <a:p>
            <a:pPr marL="357505" indent="-31940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9375"/>
              <a:buFont typeface="Segoe UI Symbol"/>
              <a:buChar char="□"/>
              <a:tabLst>
                <a:tab pos="357505" algn="l"/>
              </a:tabLst>
            </a:pPr>
            <a:r>
              <a:rPr sz="1600" dirty="0">
                <a:latin typeface="Gulim"/>
                <a:cs typeface="Gulim"/>
              </a:rPr>
              <a:t>인접</a:t>
            </a:r>
            <a:r>
              <a:rPr sz="1600" spc="-85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리스트</a:t>
            </a:r>
            <a:r>
              <a:rPr sz="1600" spc="-25" dirty="0">
                <a:latin typeface="Arial"/>
                <a:cs typeface="Arial"/>
              </a:rPr>
              <a:t>-</a:t>
            </a:r>
            <a:r>
              <a:rPr sz="1600" spc="-10" dirty="0">
                <a:latin typeface="Arial"/>
                <a:cs typeface="Arial"/>
              </a:rPr>
              <a:t>&gt;O(n+e)</a:t>
            </a:r>
            <a:endParaRPr sz="1600">
              <a:latin typeface="Arial"/>
              <a:cs typeface="Arial"/>
            </a:endParaRPr>
          </a:p>
          <a:p>
            <a:pPr marL="357505" marR="3048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73</a:t>
            </a:r>
            <a:r>
              <a:rPr sz="1600" spc="-10" dirty="0">
                <a:latin typeface="Gulim"/>
                <a:cs typeface="Gulim"/>
              </a:rPr>
              <a:t>번줄에서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각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정점에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연결되어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있는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간선의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개수만큼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탐색을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하게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되므로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spc="-20" dirty="0">
                <a:latin typeface="Gulim"/>
                <a:cs typeface="Gulim"/>
              </a:rPr>
              <a:t>시간복잡 </a:t>
            </a:r>
            <a:r>
              <a:rPr sz="1600" dirty="0">
                <a:latin typeface="Gulim"/>
                <a:cs typeface="Gulim"/>
              </a:rPr>
              <a:t>도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계산이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불가능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하다</a:t>
            </a:r>
            <a:r>
              <a:rPr sz="1600" dirty="0">
                <a:latin typeface="Arial"/>
                <a:cs typeface="Arial"/>
              </a:rPr>
              <a:t>.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Gulim"/>
                <a:cs typeface="Gulim"/>
              </a:rPr>
              <a:t>하지만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DFS</a:t>
            </a:r>
            <a:r>
              <a:rPr sz="1600" dirty="0">
                <a:latin typeface="Gulim"/>
                <a:cs typeface="Gulim"/>
              </a:rPr>
              <a:t>가</a:t>
            </a:r>
            <a:r>
              <a:rPr sz="1600" spc="-13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다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끝난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후를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생각하면</a:t>
            </a:r>
            <a:r>
              <a:rPr sz="1600" dirty="0">
                <a:latin typeface="Arial"/>
                <a:cs typeface="Arial"/>
              </a:rPr>
              <a:t>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Gulim"/>
                <a:cs typeface="Gulim"/>
              </a:rPr>
              <a:t>모든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정점을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한번씩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spc="-50" dirty="0">
                <a:latin typeface="Gulim"/>
                <a:cs typeface="Gulim"/>
              </a:rPr>
              <a:t>다 </a:t>
            </a:r>
            <a:r>
              <a:rPr sz="1600" dirty="0">
                <a:latin typeface="Gulim"/>
                <a:cs typeface="Gulim"/>
              </a:rPr>
              <a:t>방문하고</a:t>
            </a:r>
            <a:r>
              <a:rPr sz="1600" dirty="0">
                <a:latin typeface="Arial"/>
                <a:cs typeface="Arial"/>
              </a:rPr>
              <a:t>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Gulim"/>
                <a:cs typeface="Gulim"/>
              </a:rPr>
              <a:t>모든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간선을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한번씩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모두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검사했다고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할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수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있으므로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spc="-10" dirty="0">
                <a:latin typeface="Arial"/>
                <a:cs typeface="Arial"/>
              </a:rPr>
              <a:t>O(n+e)</a:t>
            </a:r>
            <a:r>
              <a:rPr sz="1600" spc="-10" dirty="0">
                <a:latin typeface="Gulim"/>
                <a:cs typeface="Gulim"/>
              </a:rPr>
              <a:t>의</a:t>
            </a:r>
            <a:r>
              <a:rPr sz="1600" spc="-8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시간이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걸렸 </a:t>
            </a:r>
            <a:r>
              <a:rPr sz="1600" dirty="0">
                <a:latin typeface="Gulim"/>
                <a:cs typeface="Gulim"/>
              </a:rPr>
              <a:t>다고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할</a:t>
            </a:r>
            <a:r>
              <a:rPr sz="1600" spc="-10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수</a:t>
            </a:r>
            <a:r>
              <a:rPr sz="1600" spc="-100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있다</a:t>
            </a:r>
            <a:r>
              <a:rPr sz="1600" spc="-25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38699" y="4325835"/>
            <a:ext cx="8707755" cy="1656080"/>
            <a:chOff x="1138699" y="4325835"/>
            <a:chExt cx="8707755" cy="16560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8699" y="4362399"/>
              <a:ext cx="4071881" cy="15993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69370" y="4325835"/>
              <a:ext cx="4777079" cy="16556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3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675" dirty="0"/>
              <a:t>학생</a:t>
            </a:r>
            <a:r>
              <a:rPr sz="3200" spc="-675" dirty="0">
                <a:latin typeface="Tw Cen MT"/>
                <a:cs typeface="Tw Cen MT"/>
              </a:rPr>
              <a:t>&gt;</a:t>
            </a:r>
            <a:r>
              <a:rPr sz="3200" spc="35" dirty="0">
                <a:latin typeface="Tw Cen MT"/>
                <a:cs typeface="Tw Cen MT"/>
              </a:rPr>
              <a:t> </a:t>
            </a:r>
            <a:r>
              <a:rPr sz="3200" spc="-1255" dirty="0"/>
              <a:t>깊이우선탐색에서</a:t>
            </a:r>
            <a:r>
              <a:rPr sz="3200" spc="-150" dirty="0"/>
              <a:t> </a:t>
            </a:r>
            <a:r>
              <a:rPr sz="3200" spc="-994" dirty="0"/>
              <a:t>인접행렬</a:t>
            </a:r>
            <a:r>
              <a:rPr sz="3200" spc="-994" dirty="0">
                <a:latin typeface="Tw Cen MT"/>
                <a:cs typeface="Tw Cen MT"/>
              </a:rPr>
              <a:t>,</a:t>
            </a:r>
            <a:r>
              <a:rPr sz="3200" spc="10" dirty="0">
                <a:latin typeface="Tw Cen MT"/>
                <a:cs typeface="Tw Cen MT"/>
              </a:rPr>
              <a:t> </a:t>
            </a:r>
            <a:r>
              <a:rPr sz="3200" spc="-1515" dirty="0"/>
              <a:t>인접리스트</a:t>
            </a:r>
            <a:r>
              <a:rPr sz="3200" spc="-150" dirty="0"/>
              <a:t> </a:t>
            </a:r>
            <a:r>
              <a:rPr sz="3200" spc="-1410" dirty="0"/>
              <a:t>어느게</a:t>
            </a:r>
            <a:r>
              <a:rPr sz="3200" spc="-155" dirty="0"/>
              <a:t> </a:t>
            </a:r>
            <a:r>
              <a:rPr sz="3200" spc="-1070" dirty="0"/>
              <a:t>빠른가요</a:t>
            </a:r>
            <a:r>
              <a:rPr sz="3200" spc="-1070" dirty="0">
                <a:latin typeface="Tw Cen MT"/>
                <a:cs typeface="Tw Cen MT"/>
              </a:rPr>
              <a:t>?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37043" y="1890665"/>
            <a:ext cx="7927340" cy="159893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7505" indent="-31940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59375"/>
              <a:buFont typeface="Segoe UI Symbol"/>
              <a:buChar char="□"/>
              <a:tabLst>
                <a:tab pos="357505" algn="l"/>
              </a:tabLst>
            </a:pPr>
            <a:r>
              <a:rPr sz="1600" dirty="0">
                <a:latin typeface="Gulim"/>
                <a:cs typeface="Gulim"/>
              </a:rPr>
              <a:t>인접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행렬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spc="-25" dirty="0">
                <a:latin typeface="Arial"/>
                <a:cs typeface="Arial"/>
              </a:rPr>
              <a:t>-</a:t>
            </a:r>
            <a:r>
              <a:rPr sz="1600" spc="-10" dirty="0">
                <a:latin typeface="Arial"/>
                <a:cs typeface="Arial"/>
              </a:rPr>
              <a:t>&gt;O(n</a:t>
            </a:r>
            <a:r>
              <a:rPr sz="1575" spc="-15" baseline="26455" dirty="0">
                <a:latin typeface="Arial"/>
                <a:cs typeface="Arial"/>
              </a:rPr>
              <a:t>2</a:t>
            </a:r>
            <a:r>
              <a:rPr sz="1600" spc="-10" dirty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  <a:p>
            <a:pPr marL="3575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Segoe UI Symbol"/>
              <a:buChar char="□"/>
              <a:tabLst>
                <a:tab pos="357505" algn="l"/>
              </a:tabLst>
            </a:pPr>
            <a:r>
              <a:rPr sz="1600" dirty="0">
                <a:latin typeface="Gulim"/>
                <a:cs typeface="Gulim"/>
              </a:rPr>
              <a:t>인접</a:t>
            </a:r>
            <a:r>
              <a:rPr sz="1600" spc="-85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리스트</a:t>
            </a:r>
            <a:r>
              <a:rPr sz="1600" spc="-25" dirty="0">
                <a:latin typeface="Arial"/>
                <a:cs typeface="Arial"/>
              </a:rPr>
              <a:t>-</a:t>
            </a:r>
            <a:r>
              <a:rPr sz="1600" spc="-10" dirty="0">
                <a:latin typeface="Arial"/>
                <a:cs typeface="Arial"/>
              </a:rPr>
              <a:t>&gt;O(n+e)</a:t>
            </a:r>
            <a:endParaRPr sz="1600">
              <a:latin typeface="Arial"/>
              <a:cs typeface="Arial"/>
            </a:endParaRPr>
          </a:p>
          <a:p>
            <a:pPr marL="38100" marR="30480">
              <a:lnSpc>
                <a:spcPct val="100000"/>
              </a:lnSpc>
              <a:spcBef>
                <a:spcPts val="705"/>
              </a:spcBef>
            </a:pPr>
            <a:r>
              <a:rPr sz="1600" spc="-10" dirty="0">
                <a:latin typeface="Gulim"/>
                <a:cs typeface="Gulim"/>
              </a:rPr>
              <a:t>인접리스트는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edge</a:t>
            </a:r>
            <a:r>
              <a:rPr sz="1600" dirty="0">
                <a:latin typeface="Gulim"/>
                <a:cs typeface="Gulim"/>
              </a:rPr>
              <a:t>가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많을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수록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시간소요되지만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인접행렬은</a:t>
            </a:r>
            <a:r>
              <a:rPr sz="1600" spc="-90" dirty="0">
                <a:latin typeface="Gulim"/>
                <a:cs typeface="Gulim"/>
              </a:rPr>
              <a:t> </a:t>
            </a:r>
            <a:r>
              <a:rPr sz="1600" spc="-10" dirty="0">
                <a:latin typeface="Arial"/>
                <a:cs typeface="Arial"/>
              </a:rPr>
              <a:t>node</a:t>
            </a:r>
            <a:r>
              <a:rPr sz="1600" spc="-10" dirty="0">
                <a:latin typeface="Gulim"/>
                <a:cs typeface="Gulim"/>
              </a:rPr>
              <a:t>의</a:t>
            </a:r>
            <a:r>
              <a:rPr sz="1600" spc="-12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제곱으로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spc="-20" dirty="0">
                <a:latin typeface="Gulim"/>
                <a:cs typeface="Gulim"/>
              </a:rPr>
              <a:t>시간소요 </a:t>
            </a:r>
            <a:r>
              <a:rPr sz="1600" dirty="0">
                <a:latin typeface="Gulim"/>
                <a:cs typeface="Gulim"/>
              </a:rPr>
              <a:t>되기에</a:t>
            </a:r>
            <a:r>
              <a:rPr sz="1600" spc="-12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대부분의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그래프에서</a:t>
            </a:r>
            <a:r>
              <a:rPr sz="1600" spc="-100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인접리스트가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빠름</a:t>
            </a:r>
            <a:endParaRPr sz="1600">
              <a:latin typeface="Gulim"/>
              <a:cs typeface="Gulim"/>
            </a:endParaRPr>
          </a:p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1600" spc="-10" dirty="0">
                <a:latin typeface="Arial"/>
                <a:cs typeface="Arial"/>
              </a:rPr>
              <a:t>(a)</a:t>
            </a:r>
            <a:r>
              <a:rPr sz="1600" spc="-10" dirty="0">
                <a:latin typeface="Gulim"/>
                <a:cs typeface="Gulim"/>
              </a:rPr>
              <a:t>그래프에서</a:t>
            </a:r>
            <a:r>
              <a:rPr sz="1600" spc="-9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인접행렬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O(5</a:t>
            </a:r>
            <a:r>
              <a:rPr sz="1575" baseline="26455" dirty="0">
                <a:latin typeface="Arial"/>
                <a:cs typeface="Arial"/>
              </a:rPr>
              <a:t>2</a:t>
            </a:r>
            <a:r>
              <a:rPr sz="1600" dirty="0">
                <a:latin typeface="Arial"/>
                <a:cs typeface="Arial"/>
              </a:rPr>
              <a:t>)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=&gt;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O(25)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10" dirty="0">
                <a:latin typeface="Gulim"/>
                <a:cs typeface="Gulim"/>
              </a:rPr>
              <a:t>인접리스트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O(5+8)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=&gt;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O(13)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8373" y="3823182"/>
            <a:ext cx="5397004" cy="232285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spc="-2165" dirty="0"/>
              <a:t>휴식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1797" y="1923026"/>
            <a:ext cx="3390265" cy="357187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spc="-10" dirty="0">
                <a:latin typeface="Gulim"/>
                <a:cs typeface="Gulim"/>
              </a:rPr>
              <a:t>그래프란</a:t>
            </a:r>
            <a:r>
              <a:rPr sz="2400" spc="-10" dirty="0">
                <a:latin typeface="Arial"/>
                <a:cs typeface="Arial"/>
              </a:rPr>
              <a:t>?</a:t>
            </a:r>
            <a:endParaRPr sz="24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spc="-20" dirty="0">
                <a:latin typeface="Gulim"/>
                <a:cs typeface="Gulim"/>
              </a:rPr>
              <a:t>그래프의</a:t>
            </a:r>
            <a:r>
              <a:rPr sz="2400" spc="-170" dirty="0">
                <a:latin typeface="Gulim"/>
                <a:cs typeface="Gulim"/>
              </a:rPr>
              <a:t> </a:t>
            </a:r>
            <a:r>
              <a:rPr sz="2400" spc="-10" dirty="0">
                <a:latin typeface="Gulim"/>
                <a:cs typeface="Gulim"/>
              </a:rPr>
              <a:t>정의와</a:t>
            </a:r>
            <a:r>
              <a:rPr sz="2400" spc="-17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용어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spc="-20" dirty="0">
                <a:latin typeface="Gulim"/>
                <a:cs typeface="Gulim"/>
              </a:rPr>
              <a:t>그래프의</a:t>
            </a:r>
            <a:r>
              <a:rPr sz="2400" spc="-175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표현</a:t>
            </a:r>
            <a:r>
              <a:rPr sz="2400" spc="-17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방법</a:t>
            </a:r>
            <a:endParaRPr sz="24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1160"/>
              </a:spcBef>
              <a:buClr>
                <a:srgbClr val="DD8046"/>
              </a:buClr>
              <a:buFont typeface="Arial"/>
              <a:buAutoNum type="arabicPeriod"/>
            </a:pP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spc="-20" dirty="0">
                <a:latin typeface="Gulim"/>
                <a:cs typeface="Gulim"/>
              </a:rPr>
              <a:t>그래프의</a:t>
            </a:r>
            <a:r>
              <a:rPr sz="2400" spc="-16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탐색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dirty="0">
                <a:latin typeface="Gulim"/>
                <a:cs typeface="Gulim"/>
              </a:rPr>
              <a:t>깊이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우선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탐색</a:t>
            </a:r>
            <a:endParaRPr sz="24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465"/>
              </a:spcBef>
              <a:buClr>
                <a:srgbClr val="DD8046"/>
              </a:buClr>
              <a:buFont typeface="Arial"/>
              <a:buAutoNum type="arabicPeriod"/>
            </a:pP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2400" dirty="0">
                <a:latin typeface="Gulim"/>
                <a:cs typeface="Gulim"/>
              </a:rPr>
              <a:t>너비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우선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spc="-25" dirty="0">
                <a:latin typeface="Gulim"/>
                <a:cs typeface="Gulim"/>
              </a:rPr>
              <a:t>탐색</a:t>
            </a:r>
            <a:endParaRPr sz="2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46960" y="3777665"/>
            <a:ext cx="7263130" cy="3429000"/>
            <a:chOff x="2246960" y="3777665"/>
            <a:chExt cx="726313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6104" y="3781221"/>
              <a:ext cx="6278105" cy="25019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46960" y="3777665"/>
              <a:ext cx="1907489" cy="25146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95" dirty="0"/>
              <a:t>너비우선</a:t>
            </a:r>
            <a:r>
              <a:rPr spc="-254" dirty="0"/>
              <a:t> </a:t>
            </a:r>
            <a:r>
              <a:rPr spc="-409" dirty="0"/>
              <a:t>탐색</a:t>
            </a:r>
            <a:r>
              <a:rPr spc="-409" dirty="0">
                <a:latin typeface="Tw Cen MT"/>
                <a:cs typeface="Tw Cen MT"/>
              </a:rPr>
              <a:t>(BFS)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2443" y="1873500"/>
            <a:ext cx="7296784" cy="156273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75"/>
              </a:spcBef>
              <a:buClr>
                <a:srgbClr val="DD8046"/>
              </a:buClr>
              <a:buSzPct val="58333"/>
              <a:buFont typeface="Segoe UI Symbol"/>
              <a:buChar char="□"/>
              <a:tabLst>
                <a:tab pos="332105" algn="l"/>
              </a:tabLst>
            </a:pPr>
            <a:r>
              <a:rPr sz="2400" dirty="0">
                <a:latin typeface="Gulim"/>
                <a:cs typeface="Gulim"/>
              </a:rPr>
              <a:t>너비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우선</a:t>
            </a:r>
            <a:r>
              <a:rPr sz="2400" spc="-190" dirty="0">
                <a:latin typeface="Gulim"/>
                <a:cs typeface="Gulim"/>
              </a:rPr>
              <a:t> </a:t>
            </a:r>
            <a:r>
              <a:rPr sz="2400" dirty="0">
                <a:latin typeface="Gulim"/>
                <a:cs typeface="Gulim"/>
              </a:rPr>
              <a:t>탐색</a:t>
            </a:r>
            <a:r>
              <a:rPr sz="2400" dirty="0">
                <a:latin typeface="Lucida Console"/>
                <a:cs typeface="Lucida Console"/>
              </a:rPr>
              <a:t>(BFS:</a:t>
            </a:r>
            <a:r>
              <a:rPr sz="2400" spc="-120" dirty="0">
                <a:latin typeface="Lucida Console"/>
                <a:cs typeface="Lucida Console"/>
              </a:rPr>
              <a:t> </a:t>
            </a:r>
            <a:r>
              <a:rPr sz="2400" spc="-10" dirty="0">
                <a:latin typeface="Lucida Console"/>
                <a:cs typeface="Lucida Console"/>
              </a:rPr>
              <a:t>breadth-</a:t>
            </a:r>
            <a:r>
              <a:rPr sz="2400" dirty="0">
                <a:latin typeface="Lucida Console"/>
                <a:cs typeface="Lucida Console"/>
              </a:rPr>
              <a:t>first</a:t>
            </a:r>
            <a:r>
              <a:rPr sz="2400" spc="-130" dirty="0">
                <a:latin typeface="Lucida Console"/>
                <a:cs typeface="Lucida Console"/>
              </a:rPr>
              <a:t> </a:t>
            </a:r>
            <a:r>
              <a:rPr sz="2400" spc="-10" dirty="0">
                <a:latin typeface="Lucida Console"/>
                <a:cs typeface="Lucida Console"/>
              </a:rPr>
              <a:t>search)</a:t>
            </a:r>
            <a:endParaRPr sz="2400">
              <a:latin typeface="Lucida Console"/>
              <a:cs typeface="Lucida Console"/>
            </a:endParaRPr>
          </a:p>
          <a:p>
            <a:pPr marL="651510" marR="818515" indent="-274320">
              <a:lnSpc>
                <a:spcPct val="100000"/>
              </a:lnSpc>
              <a:spcBef>
                <a:spcPts val="650"/>
              </a:spcBef>
              <a:tabLst>
                <a:tab pos="721995" algn="l"/>
              </a:tabLst>
            </a:pPr>
            <a:r>
              <a:rPr sz="1400" spc="-730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400" dirty="0">
                <a:solidFill>
                  <a:srgbClr val="94B5D1"/>
                </a:solidFill>
                <a:latin typeface="Times New Roman"/>
                <a:cs typeface="Times New Roman"/>
              </a:rPr>
              <a:t>		</a:t>
            </a:r>
            <a:r>
              <a:rPr sz="2000" dirty="0">
                <a:latin typeface="Gulim"/>
                <a:cs typeface="Gulim"/>
              </a:rPr>
              <a:t>시작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정점으로부터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가까운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정점을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먼저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spc="-20" dirty="0">
                <a:latin typeface="Gulim"/>
                <a:cs typeface="Gulim"/>
              </a:rPr>
              <a:t>방문하고 </a:t>
            </a:r>
            <a:r>
              <a:rPr sz="2000" dirty="0">
                <a:latin typeface="Gulim"/>
                <a:cs typeface="Gulim"/>
              </a:rPr>
              <a:t>멀리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떨어져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있는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정점을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나중에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방문하는</a:t>
            </a:r>
            <a:r>
              <a:rPr sz="2000" spc="-14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순회</a:t>
            </a:r>
            <a:r>
              <a:rPr sz="2000" spc="-114" dirty="0">
                <a:latin typeface="Gulim"/>
                <a:cs typeface="Gulim"/>
              </a:rPr>
              <a:t> </a:t>
            </a:r>
            <a:r>
              <a:rPr sz="2000" spc="-25" dirty="0">
                <a:latin typeface="Gulim"/>
                <a:cs typeface="Gulim"/>
              </a:rPr>
              <a:t>방법</a:t>
            </a:r>
            <a:endParaRPr sz="20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595"/>
              </a:spcBef>
            </a:pPr>
            <a:r>
              <a:rPr sz="1400" spc="-705" dirty="0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sz="1400" spc="100" dirty="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latin typeface="Gulim"/>
                <a:cs typeface="Gulim"/>
              </a:rPr>
              <a:t>큐를</a:t>
            </a:r>
            <a:r>
              <a:rPr sz="2000" spc="-125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사용하여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구현됨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spc="-10" dirty="0">
                <a:latin typeface="Arial"/>
                <a:cs typeface="Arial"/>
              </a:rPr>
              <a:t>(DFS</a:t>
            </a:r>
            <a:r>
              <a:rPr sz="2000" spc="-10" dirty="0">
                <a:latin typeface="Gulim"/>
                <a:cs typeface="Gulim"/>
              </a:rPr>
              <a:t>는</a:t>
            </a:r>
            <a:r>
              <a:rPr sz="2000" spc="-130" dirty="0">
                <a:latin typeface="Gulim"/>
                <a:cs typeface="Gulim"/>
              </a:rPr>
              <a:t> </a:t>
            </a:r>
            <a:r>
              <a:rPr sz="2000" dirty="0">
                <a:latin typeface="Gulim"/>
                <a:cs typeface="Gulim"/>
              </a:rPr>
              <a:t>순환호출로</a:t>
            </a:r>
            <a:r>
              <a:rPr sz="2000" spc="-135" dirty="0">
                <a:latin typeface="Gulim"/>
                <a:cs typeface="Gulim"/>
              </a:rPr>
              <a:t> </a:t>
            </a:r>
            <a:r>
              <a:rPr sz="2000" spc="-20" dirty="0">
                <a:latin typeface="Gulim"/>
                <a:cs typeface="Gulim"/>
              </a:rPr>
              <a:t>구현됨</a:t>
            </a:r>
            <a:r>
              <a:rPr sz="2000" spc="-20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95" dirty="0"/>
              <a:t>너비우선</a:t>
            </a:r>
            <a:r>
              <a:rPr spc="-254" dirty="0"/>
              <a:t> </a:t>
            </a:r>
            <a:r>
              <a:rPr spc="-409" dirty="0"/>
              <a:t>탐색</a:t>
            </a:r>
            <a:r>
              <a:rPr spc="-409" dirty="0">
                <a:latin typeface="Tw Cen MT"/>
                <a:cs typeface="Tw Cen MT"/>
              </a:rPr>
              <a:t>(BFS)</a:t>
            </a:r>
          </a:p>
        </p:txBody>
      </p:sp>
      <p:sp>
        <p:nvSpPr>
          <p:cNvPr id="3" name="object 3"/>
          <p:cNvSpPr/>
          <p:nvPr/>
        </p:nvSpPr>
        <p:spPr>
          <a:xfrm>
            <a:off x="7127570" y="2149208"/>
            <a:ext cx="335280" cy="334010"/>
          </a:xfrm>
          <a:custGeom>
            <a:avLst/>
            <a:gdLst/>
            <a:ahLst/>
            <a:cxnLst/>
            <a:rect l="l" t="t" r="r" b="b"/>
            <a:pathLst>
              <a:path w="335279" h="334010">
                <a:moveTo>
                  <a:pt x="167462" y="0"/>
                </a:moveTo>
                <a:lnTo>
                  <a:pt x="117221" y="7620"/>
                </a:lnTo>
                <a:lnTo>
                  <a:pt x="74599" y="28943"/>
                </a:lnTo>
                <a:lnTo>
                  <a:pt x="38061" y="60921"/>
                </a:lnTo>
                <a:lnTo>
                  <a:pt x="13703" y="102057"/>
                </a:lnTo>
                <a:lnTo>
                  <a:pt x="1524" y="150799"/>
                </a:lnTo>
                <a:lnTo>
                  <a:pt x="0" y="167551"/>
                </a:lnTo>
                <a:lnTo>
                  <a:pt x="1524" y="184302"/>
                </a:lnTo>
                <a:lnTo>
                  <a:pt x="13703" y="233045"/>
                </a:lnTo>
                <a:lnTo>
                  <a:pt x="39585" y="274167"/>
                </a:lnTo>
                <a:lnTo>
                  <a:pt x="74599" y="306158"/>
                </a:lnTo>
                <a:lnTo>
                  <a:pt x="118745" y="327482"/>
                </a:lnTo>
                <a:lnTo>
                  <a:pt x="150710" y="333578"/>
                </a:lnTo>
                <a:lnTo>
                  <a:pt x="185724" y="333578"/>
                </a:lnTo>
                <a:lnTo>
                  <a:pt x="200952" y="330530"/>
                </a:lnTo>
                <a:lnTo>
                  <a:pt x="217690" y="325958"/>
                </a:lnTo>
                <a:lnTo>
                  <a:pt x="232918" y="321386"/>
                </a:lnTo>
                <a:lnTo>
                  <a:pt x="245094" y="315302"/>
                </a:lnTo>
                <a:lnTo>
                  <a:pt x="167462" y="315302"/>
                </a:lnTo>
                <a:lnTo>
                  <a:pt x="137007" y="312254"/>
                </a:lnTo>
                <a:lnTo>
                  <a:pt x="97434" y="297014"/>
                </a:lnTo>
                <a:lnTo>
                  <a:pt x="62420" y="271132"/>
                </a:lnTo>
                <a:lnTo>
                  <a:pt x="38061" y="237617"/>
                </a:lnTo>
                <a:lnTo>
                  <a:pt x="30441" y="223900"/>
                </a:lnTo>
                <a:lnTo>
                  <a:pt x="25882" y="210197"/>
                </a:lnTo>
                <a:lnTo>
                  <a:pt x="22834" y="196494"/>
                </a:lnTo>
                <a:lnTo>
                  <a:pt x="19786" y="181254"/>
                </a:lnTo>
                <a:lnTo>
                  <a:pt x="19786" y="166027"/>
                </a:lnTo>
                <a:lnTo>
                  <a:pt x="21310" y="152323"/>
                </a:lnTo>
                <a:lnTo>
                  <a:pt x="22834" y="137083"/>
                </a:lnTo>
                <a:lnTo>
                  <a:pt x="38061" y="95961"/>
                </a:lnTo>
                <a:lnTo>
                  <a:pt x="63931" y="62445"/>
                </a:lnTo>
                <a:lnTo>
                  <a:pt x="97434" y="36550"/>
                </a:lnTo>
                <a:lnTo>
                  <a:pt x="138531" y="22847"/>
                </a:lnTo>
                <a:lnTo>
                  <a:pt x="152234" y="19799"/>
                </a:lnTo>
                <a:lnTo>
                  <a:pt x="246621" y="19799"/>
                </a:lnTo>
                <a:lnTo>
                  <a:pt x="216166" y="7620"/>
                </a:lnTo>
                <a:lnTo>
                  <a:pt x="200952" y="3048"/>
                </a:lnTo>
                <a:lnTo>
                  <a:pt x="167462" y="0"/>
                </a:lnTo>
                <a:close/>
              </a:path>
              <a:path w="335279" h="334010">
                <a:moveTo>
                  <a:pt x="246621" y="19799"/>
                </a:moveTo>
                <a:lnTo>
                  <a:pt x="182676" y="19799"/>
                </a:lnTo>
                <a:lnTo>
                  <a:pt x="197904" y="22847"/>
                </a:lnTo>
                <a:lnTo>
                  <a:pt x="211607" y="25895"/>
                </a:lnTo>
                <a:lnTo>
                  <a:pt x="251180" y="44170"/>
                </a:lnTo>
                <a:lnTo>
                  <a:pt x="281635" y="73113"/>
                </a:lnTo>
                <a:lnTo>
                  <a:pt x="304469" y="109664"/>
                </a:lnTo>
                <a:lnTo>
                  <a:pt x="315125" y="152323"/>
                </a:lnTo>
                <a:lnTo>
                  <a:pt x="315125" y="182778"/>
                </a:lnTo>
                <a:lnTo>
                  <a:pt x="302945" y="225425"/>
                </a:lnTo>
                <a:lnTo>
                  <a:pt x="281635" y="261988"/>
                </a:lnTo>
                <a:lnTo>
                  <a:pt x="237490" y="297014"/>
                </a:lnTo>
                <a:lnTo>
                  <a:pt x="196380" y="312254"/>
                </a:lnTo>
                <a:lnTo>
                  <a:pt x="167462" y="315302"/>
                </a:lnTo>
                <a:lnTo>
                  <a:pt x="245094" y="315302"/>
                </a:lnTo>
                <a:lnTo>
                  <a:pt x="286194" y="284835"/>
                </a:lnTo>
                <a:lnTo>
                  <a:pt x="315125" y="246761"/>
                </a:lnTo>
                <a:lnTo>
                  <a:pt x="331863" y="199542"/>
                </a:lnTo>
                <a:lnTo>
                  <a:pt x="334911" y="166027"/>
                </a:lnTo>
                <a:lnTo>
                  <a:pt x="333387" y="149275"/>
                </a:lnTo>
                <a:lnTo>
                  <a:pt x="321208" y="102057"/>
                </a:lnTo>
                <a:lnTo>
                  <a:pt x="284683" y="48742"/>
                </a:lnTo>
                <a:lnTo>
                  <a:pt x="274015" y="38074"/>
                </a:lnTo>
                <a:lnTo>
                  <a:pt x="246621" y="19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219060" y="2153637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83425" y="3454577"/>
            <a:ext cx="334010" cy="334010"/>
          </a:xfrm>
          <a:custGeom>
            <a:avLst/>
            <a:gdLst/>
            <a:ahLst/>
            <a:cxnLst/>
            <a:rect l="l" t="t" r="r" b="b"/>
            <a:pathLst>
              <a:path w="334009" h="334010">
                <a:moveTo>
                  <a:pt x="182676" y="0"/>
                </a:moveTo>
                <a:lnTo>
                  <a:pt x="149186" y="0"/>
                </a:lnTo>
                <a:lnTo>
                  <a:pt x="132435" y="3048"/>
                </a:lnTo>
                <a:lnTo>
                  <a:pt x="86766" y="19799"/>
                </a:lnTo>
                <a:lnTo>
                  <a:pt x="48717" y="48742"/>
                </a:lnTo>
                <a:lnTo>
                  <a:pt x="19786" y="86817"/>
                </a:lnTo>
                <a:lnTo>
                  <a:pt x="3048" y="132511"/>
                </a:lnTo>
                <a:lnTo>
                  <a:pt x="0" y="149263"/>
                </a:lnTo>
                <a:lnTo>
                  <a:pt x="0" y="166027"/>
                </a:lnTo>
                <a:lnTo>
                  <a:pt x="7607" y="216293"/>
                </a:lnTo>
                <a:lnTo>
                  <a:pt x="28917" y="260464"/>
                </a:lnTo>
                <a:lnTo>
                  <a:pt x="60896" y="295490"/>
                </a:lnTo>
                <a:lnTo>
                  <a:pt x="101993" y="319862"/>
                </a:lnTo>
                <a:lnTo>
                  <a:pt x="167449" y="333578"/>
                </a:lnTo>
                <a:lnTo>
                  <a:pt x="184200" y="332054"/>
                </a:lnTo>
                <a:lnTo>
                  <a:pt x="200952" y="329006"/>
                </a:lnTo>
                <a:lnTo>
                  <a:pt x="216166" y="325958"/>
                </a:lnTo>
                <a:lnTo>
                  <a:pt x="232918" y="319862"/>
                </a:lnTo>
                <a:lnTo>
                  <a:pt x="243884" y="313766"/>
                </a:lnTo>
                <a:lnTo>
                  <a:pt x="150710" y="313766"/>
                </a:lnTo>
                <a:lnTo>
                  <a:pt x="137007" y="310730"/>
                </a:lnTo>
                <a:lnTo>
                  <a:pt x="121780" y="307682"/>
                </a:lnTo>
                <a:lnTo>
                  <a:pt x="108076" y="303110"/>
                </a:lnTo>
                <a:lnTo>
                  <a:pt x="95910" y="295490"/>
                </a:lnTo>
                <a:lnTo>
                  <a:pt x="83731" y="289394"/>
                </a:lnTo>
                <a:lnTo>
                  <a:pt x="51752" y="260464"/>
                </a:lnTo>
                <a:lnTo>
                  <a:pt x="30441" y="223900"/>
                </a:lnTo>
                <a:lnTo>
                  <a:pt x="19786" y="181254"/>
                </a:lnTo>
                <a:lnTo>
                  <a:pt x="18262" y="166027"/>
                </a:lnTo>
                <a:lnTo>
                  <a:pt x="21310" y="135559"/>
                </a:lnTo>
                <a:lnTo>
                  <a:pt x="36537" y="95961"/>
                </a:lnTo>
                <a:lnTo>
                  <a:pt x="62407" y="60921"/>
                </a:lnTo>
                <a:lnTo>
                  <a:pt x="97421" y="36550"/>
                </a:lnTo>
                <a:lnTo>
                  <a:pt x="109600" y="28930"/>
                </a:lnTo>
                <a:lnTo>
                  <a:pt x="123304" y="24371"/>
                </a:lnTo>
                <a:lnTo>
                  <a:pt x="137007" y="21323"/>
                </a:lnTo>
                <a:lnTo>
                  <a:pt x="152234" y="18275"/>
                </a:lnTo>
                <a:lnTo>
                  <a:pt x="243575" y="18275"/>
                </a:lnTo>
                <a:lnTo>
                  <a:pt x="231394" y="12179"/>
                </a:lnTo>
                <a:lnTo>
                  <a:pt x="216166" y="6083"/>
                </a:lnTo>
                <a:lnTo>
                  <a:pt x="182676" y="0"/>
                </a:lnTo>
                <a:close/>
              </a:path>
              <a:path w="334009" h="334010">
                <a:moveTo>
                  <a:pt x="243575" y="18275"/>
                </a:moveTo>
                <a:lnTo>
                  <a:pt x="167449" y="18275"/>
                </a:lnTo>
                <a:lnTo>
                  <a:pt x="182676" y="19799"/>
                </a:lnTo>
                <a:lnTo>
                  <a:pt x="196380" y="21323"/>
                </a:lnTo>
                <a:lnTo>
                  <a:pt x="237477" y="36550"/>
                </a:lnTo>
                <a:lnTo>
                  <a:pt x="270967" y="62445"/>
                </a:lnTo>
                <a:lnTo>
                  <a:pt x="281635" y="73113"/>
                </a:lnTo>
                <a:lnTo>
                  <a:pt x="302945" y="109664"/>
                </a:lnTo>
                <a:lnTo>
                  <a:pt x="313601" y="152311"/>
                </a:lnTo>
                <a:lnTo>
                  <a:pt x="315125" y="166027"/>
                </a:lnTo>
                <a:lnTo>
                  <a:pt x="302945" y="223900"/>
                </a:lnTo>
                <a:lnTo>
                  <a:pt x="270967" y="271119"/>
                </a:lnTo>
                <a:lnTo>
                  <a:pt x="237477" y="297014"/>
                </a:lnTo>
                <a:lnTo>
                  <a:pt x="196380" y="310730"/>
                </a:lnTo>
                <a:lnTo>
                  <a:pt x="181152" y="313766"/>
                </a:lnTo>
                <a:lnTo>
                  <a:pt x="243884" y="313766"/>
                </a:lnTo>
                <a:lnTo>
                  <a:pt x="295325" y="272643"/>
                </a:lnTo>
                <a:lnTo>
                  <a:pt x="321208" y="231521"/>
                </a:lnTo>
                <a:lnTo>
                  <a:pt x="325780" y="214769"/>
                </a:lnTo>
                <a:lnTo>
                  <a:pt x="330339" y="199529"/>
                </a:lnTo>
                <a:lnTo>
                  <a:pt x="333387" y="182778"/>
                </a:lnTo>
                <a:lnTo>
                  <a:pt x="333387" y="149263"/>
                </a:lnTo>
                <a:lnTo>
                  <a:pt x="319684" y="100520"/>
                </a:lnTo>
                <a:lnTo>
                  <a:pt x="295325" y="59397"/>
                </a:lnTo>
                <a:lnTo>
                  <a:pt x="260311" y="27419"/>
                </a:lnTo>
                <a:lnTo>
                  <a:pt x="246621" y="19799"/>
                </a:lnTo>
                <a:lnTo>
                  <a:pt x="243575" y="182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174115" y="345807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01965" y="2418816"/>
            <a:ext cx="335280" cy="335280"/>
          </a:xfrm>
          <a:custGeom>
            <a:avLst/>
            <a:gdLst/>
            <a:ahLst/>
            <a:cxnLst/>
            <a:rect l="l" t="t" r="r" b="b"/>
            <a:pathLst>
              <a:path w="335279" h="335280">
                <a:moveTo>
                  <a:pt x="167449" y="0"/>
                </a:moveTo>
                <a:lnTo>
                  <a:pt x="150710" y="1523"/>
                </a:lnTo>
                <a:lnTo>
                  <a:pt x="117221" y="7607"/>
                </a:lnTo>
                <a:lnTo>
                  <a:pt x="101993" y="13703"/>
                </a:lnTo>
                <a:lnTo>
                  <a:pt x="88290" y="21323"/>
                </a:lnTo>
                <a:lnTo>
                  <a:pt x="73075" y="28930"/>
                </a:lnTo>
                <a:lnTo>
                  <a:pt x="38061" y="60921"/>
                </a:lnTo>
                <a:lnTo>
                  <a:pt x="13703" y="103568"/>
                </a:lnTo>
                <a:lnTo>
                  <a:pt x="1524" y="150787"/>
                </a:lnTo>
                <a:lnTo>
                  <a:pt x="0" y="167538"/>
                </a:lnTo>
                <a:lnTo>
                  <a:pt x="1524" y="184302"/>
                </a:lnTo>
                <a:lnTo>
                  <a:pt x="13703" y="233044"/>
                </a:lnTo>
                <a:lnTo>
                  <a:pt x="39585" y="274167"/>
                </a:lnTo>
                <a:lnTo>
                  <a:pt x="74599" y="306158"/>
                </a:lnTo>
                <a:lnTo>
                  <a:pt x="118745" y="327482"/>
                </a:lnTo>
                <a:lnTo>
                  <a:pt x="167449" y="335089"/>
                </a:lnTo>
                <a:lnTo>
                  <a:pt x="185724" y="333565"/>
                </a:lnTo>
                <a:lnTo>
                  <a:pt x="200952" y="330530"/>
                </a:lnTo>
                <a:lnTo>
                  <a:pt x="217690" y="327482"/>
                </a:lnTo>
                <a:lnTo>
                  <a:pt x="232918" y="321386"/>
                </a:lnTo>
                <a:lnTo>
                  <a:pt x="245099" y="315290"/>
                </a:lnTo>
                <a:lnTo>
                  <a:pt x="167449" y="315290"/>
                </a:lnTo>
                <a:lnTo>
                  <a:pt x="137007" y="312242"/>
                </a:lnTo>
                <a:lnTo>
                  <a:pt x="97434" y="297014"/>
                </a:lnTo>
                <a:lnTo>
                  <a:pt x="62420" y="271119"/>
                </a:lnTo>
                <a:lnTo>
                  <a:pt x="36537" y="237616"/>
                </a:lnTo>
                <a:lnTo>
                  <a:pt x="22834" y="196481"/>
                </a:lnTo>
                <a:lnTo>
                  <a:pt x="19786" y="182778"/>
                </a:lnTo>
                <a:lnTo>
                  <a:pt x="19786" y="152311"/>
                </a:lnTo>
                <a:lnTo>
                  <a:pt x="22834" y="137083"/>
                </a:lnTo>
                <a:lnTo>
                  <a:pt x="38061" y="95961"/>
                </a:lnTo>
                <a:lnTo>
                  <a:pt x="63931" y="62445"/>
                </a:lnTo>
                <a:lnTo>
                  <a:pt x="97434" y="36550"/>
                </a:lnTo>
                <a:lnTo>
                  <a:pt x="138531" y="22847"/>
                </a:lnTo>
                <a:lnTo>
                  <a:pt x="152234" y="19799"/>
                </a:lnTo>
                <a:lnTo>
                  <a:pt x="246621" y="19799"/>
                </a:lnTo>
                <a:lnTo>
                  <a:pt x="216166" y="7607"/>
                </a:lnTo>
                <a:lnTo>
                  <a:pt x="200952" y="3035"/>
                </a:lnTo>
                <a:lnTo>
                  <a:pt x="167449" y="0"/>
                </a:lnTo>
                <a:close/>
              </a:path>
              <a:path w="335279" h="335280">
                <a:moveTo>
                  <a:pt x="246621" y="19799"/>
                </a:moveTo>
                <a:lnTo>
                  <a:pt x="182676" y="19799"/>
                </a:lnTo>
                <a:lnTo>
                  <a:pt x="197904" y="22847"/>
                </a:lnTo>
                <a:lnTo>
                  <a:pt x="211607" y="25882"/>
                </a:lnTo>
                <a:lnTo>
                  <a:pt x="251180" y="45694"/>
                </a:lnTo>
                <a:lnTo>
                  <a:pt x="281635" y="73101"/>
                </a:lnTo>
                <a:lnTo>
                  <a:pt x="304469" y="109664"/>
                </a:lnTo>
                <a:lnTo>
                  <a:pt x="312077" y="138607"/>
                </a:lnTo>
                <a:lnTo>
                  <a:pt x="315125" y="152311"/>
                </a:lnTo>
                <a:lnTo>
                  <a:pt x="315125" y="182778"/>
                </a:lnTo>
                <a:lnTo>
                  <a:pt x="312077" y="198005"/>
                </a:lnTo>
                <a:lnTo>
                  <a:pt x="296849" y="239128"/>
                </a:lnTo>
                <a:lnTo>
                  <a:pt x="272491" y="272643"/>
                </a:lnTo>
                <a:lnTo>
                  <a:pt x="237477" y="297014"/>
                </a:lnTo>
                <a:lnTo>
                  <a:pt x="225310" y="304634"/>
                </a:lnTo>
                <a:lnTo>
                  <a:pt x="211607" y="309194"/>
                </a:lnTo>
                <a:lnTo>
                  <a:pt x="196380" y="312242"/>
                </a:lnTo>
                <a:lnTo>
                  <a:pt x="182676" y="315290"/>
                </a:lnTo>
                <a:lnTo>
                  <a:pt x="245099" y="315290"/>
                </a:lnTo>
                <a:lnTo>
                  <a:pt x="248145" y="313766"/>
                </a:lnTo>
                <a:lnTo>
                  <a:pt x="286194" y="284822"/>
                </a:lnTo>
                <a:lnTo>
                  <a:pt x="315125" y="246748"/>
                </a:lnTo>
                <a:lnTo>
                  <a:pt x="330339" y="201053"/>
                </a:lnTo>
                <a:lnTo>
                  <a:pt x="334911" y="167538"/>
                </a:lnTo>
                <a:lnTo>
                  <a:pt x="333387" y="149263"/>
                </a:lnTo>
                <a:lnTo>
                  <a:pt x="330339" y="134035"/>
                </a:lnTo>
                <a:lnTo>
                  <a:pt x="327304" y="117284"/>
                </a:lnTo>
                <a:lnTo>
                  <a:pt x="305993" y="73101"/>
                </a:lnTo>
                <a:lnTo>
                  <a:pt x="274015" y="38074"/>
                </a:lnTo>
                <a:lnTo>
                  <a:pt x="246621" y="19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893405" y="242352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2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801965" y="3093580"/>
            <a:ext cx="335280" cy="334010"/>
          </a:xfrm>
          <a:custGeom>
            <a:avLst/>
            <a:gdLst/>
            <a:ahLst/>
            <a:cxnLst/>
            <a:rect l="l" t="t" r="r" b="b"/>
            <a:pathLst>
              <a:path w="335279" h="334010">
                <a:moveTo>
                  <a:pt x="167449" y="0"/>
                </a:moveTo>
                <a:lnTo>
                  <a:pt x="150710" y="1524"/>
                </a:lnTo>
                <a:lnTo>
                  <a:pt x="117221" y="7620"/>
                </a:lnTo>
                <a:lnTo>
                  <a:pt x="101993" y="13703"/>
                </a:lnTo>
                <a:lnTo>
                  <a:pt x="88290" y="21323"/>
                </a:lnTo>
                <a:lnTo>
                  <a:pt x="73075" y="28943"/>
                </a:lnTo>
                <a:lnTo>
                  <a:pt x="38061" y="60921"/>
                </a:lnTo>
                <a:lnTo>
                  <a:pt x="13703" y="102057"/>
                </a:lnTo>
                <a:lnTo>
                  <a:pt x="1524" y="150799"/>
                </a:lnTo>
                <a:lnTo>
                  <a:pt x="0" y="167551"/>
                </a:lnTo>
                <a:lnTo>
                  <a:pt x="1524" y="184302"/>
                </a:lnTo>
                <a:lnTo>
                  <a:pt x="13703" y="233045"/>
                </a:lnTo>
                <a:lnTo>
                  <a:pt x="39585" y="274167"/>
                </a:lnTo>
                <a:lnTo>
                  <a:pt x="74599" y="306158"/>
                </a:lnTo>
                <a:lnTo>
                  <a:pt x="118745" y="327482"/>
                </a:lnTo>
                <a:lnTo>
                  <a:pt x="150710" y="333578"/>
                </a:lnTo>
                <a:lnTo>
                  <a:pt x="185724" y="333578"/>
                </a:lnTo>
                <a:lnTo>
                  <a:pt x="200952" y="330530"/>
                </a:lnTo>
                <a:lnTo>
                  <a:pt x="217690" y="325958"/>
                </a:lnTo>
                <a:lnTo>
                  <a:pt x="232918" y="321386"/>
                </a:lnTo>
                <a:lnTo>
                  <a:pt x="245094" y="315302"/>
                </a:lnTo>
                <a:lnTo>
                  <a:pt x="167449" y="315302"/>
                </a:lnTo>
                <a:lnTo>
                  <a:pt x="137007" y="312254"/>
                </a:lnTo>
                <a:lnTo>
                  <a:pt x="97434" y="297014"/>
                </a:lnTo>
                <a:lnTo>
                  <a:pt x="62420" y="271119"/>
                </a:lnTo>
                <a:lnTo>
                  <a:pt x="36537" y="237616"/>
                </a:lnTo>
                <a:lnTo>
                  <a:pt x="19786" y="182778"/>
                </a:lnTo>
                <a:lnTo>
                  <a:pt x="19786" y="152323"/>
                </a:lnTo>
                <a:lnTo>
                  <a:pt x="38061" y="95961"/>
                </a:lnTo>
                <a:lnTo>
                  <a:pt x="63931" y="62445"/>
                </a:lnTo>
                <a:lnTo>
                  <a:pt x="97434" y="36550"/>
                </a:lnTo>
                <a:lnTo>
                  <a:pt x="138531" y="22847"/>
                </a:lnTo>
                <a:lnTo>
                  <a:pt x="152234" y="19799"/>
                </a:lnTo>
                <a:lnTo>
                  <a:pt x="246621" y="19799"/>
                </a:lnTo>
                <a:lnTo>
                  <a:pt x="216166" y="7620"/>
                </a:lnTo>
                <a:lnTo>
                  <a:pt x="200952" y="3048"/>
                </a:lnTo>
                <a:lnTo>
                  <a:pt x="167449" y="0"/>
                </a:lnTo>
                <a:close/>
              </a:path>
              <a:path w="335279" h="334010">
                <a:moveTo>
                  <a:pt x="246621" y="19799"/>
                </a:moveTo>
                <a:lnTo>
                  <a:pt x="182676" y="19799"/>
                </a:lnTo>
                <a:lnTo>
                  <a:pt x="197904" y="22847"/>
                </a:lnTo>
                <a:lnTo>
                  <a:pt x="211607" y="25895"/>
                </a:lnTo>
                <a:lnTo>
                  <a:pt x="251180" y="45694"/>
                </a:lnTo>
                <a:lnTo>
                  <a:pt x="281635" y="73113"/>
                </a:lnTo>
                <a:lnTo>
                  <a:pt x="304469" y="109664"/>
                </a:lnTo>
                <a:lnTo>
                  <a:pt x="312077" y="138607"/>
                </a:lnTo>
                <a:lnTo>
                  <a:pt x="315125" y="152323"/>
                </a:lnTo>
                <a:lnTo>
                  <a:pt x="315125" y="182778"/>
                </a:lnTo>
                <a:lnTo>
                  <a:pt x="312077" y="198018"/>
                </a:lnTo>
                <a:lnTo>
                  <a:pt x="296849" y="237616"/>
                </a:lnTo>
                <a:lnTo>
                  <a:pt x="272491" y="272643"/>
                </a:lnTo>
                <a:lnTo>
                  <a:pt x="237477" y="297014"/>
                </a:lnTo>
                <a:lnTo>
                  <a:pt x="225310" y="304634"/>
                </a:lnTo>
                <a:lnTo>
                  <a:pt x="211607" y="309206"/>
                </a:lnTo>
                <a:lnTo>
                  <a:pt x="196380" y="312254"/>
                </a:lnTo>
                <a:lnTo>
                  <a:pt x="182676" y="315302"/>
                </a:lnTo>
                <a:lnTo>
                  <a:pt x="245094" y="315302"/>
                </a:lnTo>
                <a:lnTo>
                  <a:pt x="248145" y="313778"/>
                </a:lnTo>
                <a:lnTo>
                  <a:pt x="286194" y="284835"/>
                </a:lnTo>
                <a:lnTo>
                  <a:pt x="315125" y="246761"/>
                </a:lnTo>
                <a:lnTo>
                  <a:pt x="330339" y="201053"/>
                </a:lnTo>
                <a:lnTo>
                  <a:pt x="334911" y="167551"/>
                </a:lnTo>
                <a:lnTo>
                  <a:pt x="333387" y="149275"/>
                </a:lnTo>
                <a:lnTo>
                  <a:pt x="330339" y="134035"/>
                </a:lnTo>
                <a:lnTo>
                  <a:pt x="327304" y="117284"/>
                </a:lnTo>
                <a:lnTo>
                  <a:pt x="305993" y="73113"/>
                </a:lnTo>
                <a:lnTo>
                  <a:pt x="274015" y="38074"/>
                </a:lnTo>
                <a:lnTo>
                  <a:pt x="246621" y="19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893405" y="3098238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3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522030" y="2149208"/>
            <a:ext cx="334010" cy="334010"/>
          </a:xfrm>
          <a:custGeom>
            <a:avLst/>
            <a:gdLst/>
            <a:ahLst/>
            <a:cxnLst/>
            <a:rect l="l" t="t" r="r" b="b"/>
            <a:pathLst>
              <a:path w="334009" h="334010">
                <a:moveTo>
                  <a:pt x="165938" y="0"/>
                </a:moveTo>
                <a:lnTo>
                  <a:pt x="117221" y="7620"/>
                </a:lnTo>
                <a:lnTo>
                  <a:pt x="73075" y="28943"/>
                </a:lnTo>
                <a:lnTo>
                  <a:pt x="38061" y="60921"/>
                </a:lnTo>
                <a:lnTo>
                  <a:pt x="12179" y="102057"/>
                </a:lnTo>
                <a:lnTo>
                  <a:pt x="0" y="150799"/>
                </a:lnTo>
                <a:lnTo>
                  <a:pt x="0" y="167551"/>
                </a:lnTo>
                <a:lnTo>
                  <a:pt x="7607" y="217817"/>
                </a:lnTo>
                <a:lnTo>
                  <a:pt x="38061" y="274167"/>
                </a:lnTo>
                <a:lnTo>
                  <a:pt x="74587" y="306158"/>
                </a:lnTo>
                <a:lnTo>
                  <a:pt x="117221" y="327482"/>
                </a:lnTo>
                <a:lnTo>
                  <a:pt x="150710" y="333578"/>
                </a:lnTo>
                <a:lnTo>
                  <a:pt x="184200" y="333578"/>
                </a:lnTo>
                <a:lnTo>
                  <a:pt x="200952" y="330530"/>
                </a:lnTo>
                <a:lnTo>
                  <a:pt x="231394" y="321386"/>
                </a:lnTo>
                <a:lnTo>
                  <a:pt x="243570" y="315302"/>
                </a:lnTo>
                <a:lnTo>
                  <a:pt x="165938" y="315302"/>
                </a:lnTo>
                <a:lnTo>
                  <a:pt x="150710" y="313778"/>
                </a:lnTo>
                <a:lnTo>
                  <a:pt x="108089" y="303110"/>
                </a:lnTo>
                <a:lnTo>
                  <a:pt x="62420" y="271132"/>
                </a:lnTo>
                <a:lnTo>
                  <a:pt x="36537" y="237617"/>
                </a:lnTo>
                <a:lnTo>
                  <a:pt x="21310" y="196494"/>
                </a:lnTo>
                <a:lnTo>
                  <a:pt x="18262" y="166027"/>
                </a:lnTo>
                <a:lnTo>
                  <a:pt x="19786" y="152323"/>
                </a:lnTo>
                <a:lnTo>
                  <a:pt x="21310" y="137083"/>
                </a:lnTo>
                <a:lnTo>
                  <a:pt x="36537" y="95961"/>
                </a:lnTo>
                <a:lnTo>
                  <a:pt x="62420" y="62445"/>
                </a:lnTo>
                <a:lnTo>
                  <a:pt x="97434" y="36550"/>
                </a:lnTo>
                <a:lnTo>
                  <a:pt x="137007" y="22847"/>
                </a:lnTo>
                <a:lnTo>
                  <a:pt x="152234" y="19799"/>
                </a:lnTo>
                <a:lnTo>
                  <a:pt x="246621" y="19799"/>
                </a:lnTo>
                <a:lnTo>
                  <a:pt x="216166" y="7620"/>
                </a:lnTo>
                <a:lnTo>
                  <a:pt x="199428" y="3048"/>
                </a:lnTo>
                <a:lnTo>
                  <a:pt x="165938" y="0"/>
                </a:lnTo>
                <a:close/>
              </a:path>
              <a:path w="334009" h="334010">
                <a:moveTo>
                  <a:pt x="246621" y="19799"/>
                </a:moveTo>
                <a:lnTo>
                  <a:pt x="182676" y="19799"/>
                </a:lnTo>
                <a:lnTo>
                  <a:pt x="196380" y="22847"/>
                </a:lnTo>
                <a:lnTo>
                  <a:pt x="211607" y="25895"/>
                </a:lnTo>
                <a:lnTo>
                  <a:pt x="225310" y="30467"/>
                </a:lnTo>
                <a:lnTo>
                  <a:pt x="261835" y="53314"/>
                </a:lnTo>
                <a:lnTo>
                  <a:pt x="296849" y="97485"/>
                </a:lnTo>
                <a:lnTo>
                  <a:pt x="312077" y="137083"/>
                </a:lnTo>
                <a:lnTo>
                  <a:pt x="315125" y="167551"/>
                </a:lnTo>
                <a:lnTo>
                  <a:pt x="312077" y="198018"/>
                </a:lnTo>
                <a:lnTo>
                  <a:pt x="296849" y="237617"/>
                </a:lnTo>
                <a:lnTo>
                  <a:pt x="270979" y="272643"/>
                </a:lnTo>
                <a:lnTo>
                  <a:pt x="237477" y="297014"/>
                </a:lnTo>
                <a:lnTo>
                  <a:pt x="196380" y="312254"/>
                </a:lnTo>
                <a:lnTo>
                  <a:pt x="165938" y="315302"/>
                </a:lnTo>
                <a:lnTo>
                  <a:pt x="243570" y="315302"/>
                </a:lnTo>
                <a:lnTo>
                  <a:pt x="284670" y="284835"/>
                </a:lnTo>
                <a:lnTo>
                  <a:pt x="313601" y="246761"/>
                </a:lnTo>
                <a:lnTo>
                  <a:pt x="330339" y="199542"/>
                </a:lnTo>
                <a:lnTo>
                  <a:pt x="333387" y="184302"/>
                </a:lnTo>
                <a:lnTo>
                  <a:pt x="333387" y="149275"/>
                </a:lnTo>
                <a:lnTo>
                  <a:pt x="313601" y="86817"/>
                </a:lnTo>
                <a:lnTo>
                  <a:pt x="284670" y="48742"/>
                </a:lnTo>
                <a:lnTo>
                  <a:pt x="260311" y="28943"/>
                </a:lnTo>
                <a:lnTo>
                  <a:pt x="246621" y="19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612695" y="2153637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1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476360" y="3408883"/>
            <a:ext cx="335280" cy="334010"/>
          </a:xfrm>
          <a:custGeom>
            <a:avLst/>
            <a:gdLst/>
            <a:ahLst/>
            <a:cxnLst/>
            <a:rect l="l" t="t" r="r" b="b"/>
            <a:pathLst>
              <a:path w="335279" h="334010">
                <a:moveTo>
                  <a:pt x="167449" y="0"/>
                </a:moveTo>
                <a:lnTo>
                  <a:pt x="117221" y="7607"/>
                </a:lnTo>
                <a:lnTo>
                  <a:pt x="73075" y="28930"/>
                </a:lnTo>
                <a:lnTo>
                  <a:pt x="38061" y="60921"/>
                </a:lnTo>
                <a:lnTo>
                  <a:pt x="13703" y="102044"/>
                </a:lnTo>
                <a:lnTo>
                  <a:pt x="1524" y="150787"/>
                </a:lnTo>
                <a:lnTo>
                  <a:pt x="0" y="167551"/>
                </a:lnTo>
                <a:lnTo>
                  <a:pt x="1524" y="184302"/>
                </a:lnTo>
                <a:lnTo>
                  <a:pt x="13703" y="233045"/>
                </a:lnTo>
                <a:lnTo>
                  <a:pt x="39573" y="274167"/>
                </a:lnTo>
                <a:lnTo>
                  <a:pt x="74587" y="306158"/>
                </a:lnTo>
                <a:lnTo>
                  <a:pt x="133959" y="330530"/>
                </a:lnTo>
                <a:lnTo>
                  <a:pt x="150710" y="333578"/>
                </a:lnTo>
                <a:lnTo>
                  <a:pt x="185724" y="333578"/>
                </a:lnTo>
                <a:lnTo>
                  <a:pt x="200952" y="330530"/>
                </a:lnTo>
                <a:lnTo>
                  <a:pt x="217690" y="325958"/>
                </a:lnTo>
                <a:lnTo>
                  <a:pt x="244338" y="315290"/>
                </a:lnTo>
                <a:lnTo>
                  <a:pt x="167449" y="315290"/>
                </a:lnTo>
                <a:lnTo>
                  <a:pt x="137007" y="312242"/>
                </a:lnTo>
                <a:lnTo>
                  <a:pt x="95910" y="297014"/>
                </a:lnTo>
                <a:lnTo>
                  <a:pt x="62407" y="271119"/>
                </a:lnTo>
                <a:lnTo>
                  <a:pt x="36537" y="237616"/>
                </a:lnTo>
                <a:lnTo>
                  <a:pt x="22834" y="196481"/>
                </a:lnTo>
                <a:lnTo>
                  <a:pt x="19786" y="181254"/>
                </a:lnTo>
                <a:lnTo>
                  <a:pt x="19786" y="150787"/>
                </a:lnTo>
                <a:lnTo>
                  <a:pt x="22834" y="137083"/>
                </a:lnTo>
                <a:lnTo>
                  <a:pt x="25882" y="121843"/>
                </a:lnTo>
                <a:lnTo>
                  <a:pt x="31965" y="109664"/>
                </a:lnTo>
                <a:lnTo>
                  <a:pt x="38061" y="95961"/>
                </a:lnTo>
                <a:lnTo>
                  <a:pt x="45669" y="83769"/>
                </a:lnTo>
                <a:lnTo>
                  <a:pt x="53276" y="73113"/>
                </a:lnTo>
                <a:lnTo>
                  <a:pt x="63931" y="62445"/>
                </a:lnTo>
                <a:lnTo>
                  <a:pt x="73075" y="51777"/>
                </a:lnTo>
                <a:lnTo>
                  <a:pt x="109600" y="30454"/>
                </a:lnTo>
                <a:lnTo>
                  <a:pt x="152234" y="19799"/>
                </a:lnTo>
                <a:lnTo>
                  <a:pt x="167449" y="18275"/>
                </a:lnTo>
                <a:lnTo>
                  <a:pt x="243575" y="18275"/>
                </a:lnTo>
                <a:lnTo>
                  <a:pt x="231394" y="12179"/>
                </a:lnTo>
                <a:lnTo>
                  <a:pt x="200952" y="3048"/>
                </a:lnTo>
                <a:lnTo>
                  <a:pt x="167449" y="0"/>
                </a:lnTo>
                <a:close/>
              </a:path>
              <a:path w="335279" h="334010">
                <a:moveTo>
                  <a:pt x="243575" y="18275"/>
                </a:moveTo>
                <a:lnTo>
                  <a:pt x="167449" y="18275"/>
                </a:lnTo>
                <a:lnTo>
                  <a:pt x="182676" y="19799"/>
                </a:lnTo>
                <a:lnTo>
                  <a:pt x="197904" y="22847"/>
                </a:lnTo>
                <a:lnTo>
                  <a:pt x="239001" y="36550"/>
                </a:lnTo>
                <a:lnTo>
                  <a:pt x="272491" y="62445"/>
                </a:lnTo>
                <a:lnTo>
                  <a:pt x="298373" y="97485"/>
                </a:lnTo>
                <a:lnTo>
                  <a:pt x="312077" y="137083"/>
                </a:lnTo>
                <a:lnTo>
                  <a:pt x="315125" y="152311"/>
                </a:lnTo>
                <a:lnTo>
                  <a:pt x="315125" y="182778"/>
                </a:lnTo>
                <a:lnTo>
                  <a:pt x="312077" y="196481"/>
                </a:lnTo>
                <a:lnTo>
                  <a:pt x="309029" y="211721"/>
                </a:lnTo>
                <a:lnTo>
                  <a:pt x="281635" y="261988"/>
                </a:lnTo>
                <a:lnTo>
                  <a:pt x="237477" y="297014"/>
                </a:lnTo>
                <a:lnTo>
                  <a:pt x="196380" y="312242"/>
                </a:lnTo>
                <a:lnTo>
                  <a:pt x="167449" y="315290"/>
                </a:lnTo>
                <a:lnTo>
                  <a:pt x="244338" y="315290"/>
                </a:lnTo>
                <a:lnTo>
                  <a:pt x="286194" y="284835"/>
                </a:lnTo>
                <a:lnTo>
                  <a:pt x="315125" y="246748"/>
                </a:lnTo>
                <a:lnTo>
                  <a:pt x="333387" y="182778"/>
                </a:lnTo>
                <a:lnTo>
                  <a:pt x="334911" y="166027"/>
                </a:lnTo>
                <a:lnTo>
                  <a:pt x="333387" y="149263"/>
                </a:lnTo>
                <a:lnTo>
                  <a:pt x="321208" y="102044"/>
                </a:lnTo>
                <a:lnTo>
                  <a:pt x="284670" y="48742"/>
                </a:lnTo>
                <a:lnTo>
                  <a:pt x="246621" y="19799"/>
                </a:lnTo>
                <a:lnTo>
                  <a:pt x="243575" y="182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567737" y="341310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55447" y="2306091"/>
            <a:ext cx="1458595" cy="1301115"/>
          </a:xfrm>
          <a:custGeom>
            <a:avLst/>
            <a:gdLst/>
            <a:ahLst/>
            <a:cxnLst/>
            <a:rect l="l" t="t" r="r" b="b"/>
            <a:pathLst>
              <a:path w="1458595" h="1301114">
                <a:moveTo>
                  <a:pt x="35013" y="167551"/>
                </a:moveTo>
                <a:lnTo>
                  <a:pt x="22834" y="167551"/>
                </a:lnTo>
                <a:lnTo>
                  <a:pt x="0" y="1157617"/>
                </a:lnTo>
                <a:lnTo>
                  <a:pt x="12179" y="1157617"/>
                </a:lnTo>
                <a:lnTo>
                  <a:pt x="35013" y="167551"/>
                </a:lnTo>
                <a:close/>
              </a:path>
              <a:path w="1458595" h="1301114">
                <a:moveTo>
                  <a:pt x="540423" y="234569"/>
                </a:moveTo>
                <a:lnTo>
                  <a:pt x="199428" y="65506"/>
                </a:lnTo>
                <a:lnTo>
                  <a:pt x="194856" y="76161"/>
                </a:lnTo>
                <a:lnTo>
                  <a:pt x="534339" y="246761"/>
                </a:lnTo>
                <a:lnTo>
                  <a:pt x="540423" y="234569"/>
                </a:lnTo>
                <a:close/>
              </a:path>
              <a:path w="1458595" h="1301114">
                <a:moveTo>
                  <a:pt x="701802" y="796632"/>
                </a:moveTo>
                <a:lnTo>
                  <a:pt x="698754" y="437159"/>
                </a:lnTo>
                <a:lnTo>
                  <a:pt x="685050" y="437159"/>
                </a:lnTo>
                <a:lnTo>
                  <a:pt x="688098" y="798156"/>
                </a:lnTo>
                <a:lnTo>
                  <a:pt x="701802" y="796632"/>
                </a:lnTo>
                <a:close/>
              </a:path>
              <a:path w="1458595" h="1301114">
                <a:moveTo>
                  <a:pt x="1233093" y="1148486"/>
                </a:moveTo>
                <a:lnTo>
                  <a:pt x="860120" y="994638"/>
                </a:lnTo>
                <a:lnTo>
                  <a:pt x="854024" y="1006830"/>
                </a:lnTo>
                <a:lnTo>
                  <a:pt x="1228521" y="1160665"/>
                </a:lnTo>
                <a:lnTo>
                  <a:pt x="1233093" y="1148486"/>
                </a:lnTo>
                <a:close/>
              </a:path>
              <a:path w="1458595" h="1301114">
                <a:moveTo>
                  <a:pt x="1236141" y="1282522"/>
                </a:moveTo>
                <a:lnTo>
                  <a:pt x="147662" y="1288618"/>
                </a:lnTo>
                <a:lnTo>
                  <a:pt x="147662" y="1300797"/>
                </a:lnTo>
                <a:lnTo>
                  <a:pt x="1236141" y="1294714"/>
                </a:lnTo>
                <a:lnTo>
                  <a:pt x="1236141" y="1282522"/>
                </a:lnTo>
                <a:close/>
              </a:path>
              <a:path w="1458595" h="1301114">
                <a:moveTo>
                  <a:pt x="1274191" y="10668"/>
                </a:moveTo>
                <a:lnTo>
                  <a:pt x="1268107" y="0"/>
                </a:lnTo>
                <a:lnTo>
                  <a:pt x="844892" y="205638"/>
                </a:lnTo>
                <a:lnTo>
                  <a:pt x="850988" y="216293"/>
                </a:lnTo>
                <a:lnTo>
                  <a:pt x="1274191" y="10668"/>
                </a:lnTo>
                <a:close/>
              </a:path>
              <a:path w="1458595" h="1301114">
                <a:moveTo>
                  <a:pt x="1335087" y="1104315"/>
                </a:moveTo>
                <a:lnTo>
                  <a:pt x="796175" y="386892"/>
                </a:lnTo>
                <a:lnTo>
                  <a:pt x="785520" y="394512"/>
                </a:lnTo>
                <a:lnTo>
                  <a:pt x="1325956" y="1111923"/>
                </a:lnTo>
                <a:lnTo>
                  <a:pt x="1335087" y="1104315"/>
                </a:lnTo>
                <a:close/>
              </a:path>
              <a:path w="1458595" h="1301114">
                <a:moveTo>
                  <a:pt x="1458391" y="1111923"/>
                </a:moveTo>
                <a:lnTo>
                  <a:pt x="1456880" y="167551"/>
                </a:lnTo>
                <a:lnTo>
                  <a:pt x="1444701" y="167551"/>
                </a:lnTo>
                <a:lnTo>
                  <a:pt x="1444701" y="1111923"/>
                </a:lnTo>
                <a:lnTo>
                  <a:pt x="1458391" y="11119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11797" y="1919253"/>
            <a:ext cx="4585335" cy="1023619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600" dirty="0">
                <a:latin typeface="Arial"/>
                <a:cs typeface="Arial"/>
              </a:rPr>
              <a:t>1</a:t>
            </a:r>
            <a:r>
              <a:rPr sz="1600" dirty="0">
                <a:latin typeface="Gulim"/>
                <a:cs typeface="Gulim"/>
              </a:rPr>
              <a:t>단계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Gulim"/>
                <a:cs typeface="Gulim"/>
              </a:rPr>
              <a:t>시작정점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0</a:t>
            </a:r>
            <a:r>
              <a:rPr sz="1600" dirty="0">
                <a:latin typeface="Gulim"/>
                <a:cs typeface="Gulim"/>
              </a:rPr>
              <a:t>부터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거리가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0</a:t>
            </a:r>
            <a:r>
              <a:rPr sz="1600" dirty="0">
                <a:latin typeface="Gulim"/>
                <a:cs typeface="Gulim"/>
              </a:rPr>
              <a:t>인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시작정점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0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5" dirty="0">
                <a:latin typeface="Gulim"/>
                <a:cs typeface="Gulim"/>
              </a:rPr>
              <a:t>방문</a:t>
            </a:r>
            <a:endParaRPr sz="16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dirty="0">
                <a:latin typeface="Arial"/>
                <a:cs typeface="Arial"/>
              </a:rPr>
              <a:t>2</a:t>
            </a:r>
            <a:r>
              <a:rPr sz="1600" dirty="0">
                <a:latin typeface="Gulim"/>
                <a:cs typeface="Gulim"/>
              </a:rPr>
              <a:t>단계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10" dirty="0">
                <a:latin typeface="Gulim"/>
                <a:cs typeface="Gulim"/>
              </a:rPr>
              <a:t>시작정점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0</a:t>
            </a:r>
            <a:r>
              <a:rPr sz="1600" dirty="0">
                <a:latin typeface="Gulim"/>
                <a:cs typeface="Gulim"/>
              </a:rPr>
              <a:t>부터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거리가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1</a:t>
            </a:r>
            <a:r>
              <a:rPr sz="1600" dirty="0">
                <a:latin typeface="Gulim"/>
                <a:cs typeface="Gulim"/>
              </a:rPr>
              <a:t>인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정점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2,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4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25" dirty="0">
                <a:latin typeface="Gulim"/>
                <a:cs typeface="Gulim"/>
              </a:rPr>
              <a:t>방문</a:t>
            </a:r>
            <a:endParaRPr sz="16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00" dirty="0">
                <a:latin typeface="Arial"/>
                <a:cs typeface="Arial"/>
              </a:rPr>
              <a:t>3</a:t>
            </a:r>
            <a:r>
              <a:rPr sz="1600" dirty="0">
                <a:latin typeface="Gulim"/>
                <a:cs typeface="Gulim"/>
              </a:rPr>
              <a:t>단계</a:t>
            </a:r>
            <a:r>
              <a:rPr sz="1600" dirty="0">
                <a:latin typeface="Arial"/>
                <a:cs typeface="Arial"/>
              </a:rPr>
              <a:t>: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Gulim"/>
                <a:cs typeface="Gulim"/>
              </a:rPr>
              <a:t>시작정점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0</a:t>
            </a:r>
            <a:r>
              <a:rPr sz="1600" dirty="0">
                <a:latin typeface="Gulim"/>
                <a:cs typeface="Gulim"/>
              </a:rPr>
              <a:t>부터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거리가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2</a:t>
            </a:r>
            <a:r>
              <a:rPr sz="1600" dirty="0">
                <a:latin typeface="Gulim"/>
                <a:cs typeface="Gulim"/>
              </a:rPr>
              <a:t>인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정점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1,3,5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25" dirty="0">
                <a:latin typeface="Gulim"/>
                <a:cs typeface="Gulim"/>
              </a:rPr>
              <a:t>방문</a:t>
            </a:r>
            <a:endParaRPr sz="1600">
              <a:latin typeface="Gulim"/>
              <a:cs typeface="Gulim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95" dirty="0"/>
              <a:t>너비우선</a:t>
            </a:r>
            <a:r>
              <a:rPr spc="-254" dirty="0"/>
              <a:t> </a:t>
            </a:r>
            <a:r>
              <a:rPr spc="-409" dirty="0"/>
              <a:t>탐색</a:t>
            </a:r>
            <a:r>
              <a:rPr spc="-409" dirty="0">
                <a:latin typeface="Tw Cen MT"/>
                <a:cs typeface="Tw Cen MT"/>
              </a:rPr>
              <a:t>(BFS)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75363" y="2149208"/>
            <a:ext cx="1771992" cy="16389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10745" y="2153637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65788" y="345807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5090" y="242352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2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5090" y="3098238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3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04380" y="2153637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1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59422" y="341310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73239" y="2565031"/>
            <a:ext cx="2492375" cy="1403350"/>
          </a:xfrm>
          <a:custGeom>
            <a:avLst/>
            <a:gdLst/>
            <a:ahLst/>
            <a:cxnLst/>
            <a:rect l="l" t="t" r="r" b="b"/>
            <a:pathLst>
              <a:path w="2492375" h="1403350">
                <a:moveTo>
                  <a:pt x="2084082" y="4572"/>
                </a:moveTo>
                <a:lnTo>
                  <a:pt x="2081034" y="0"/>
                </a:lnTo>
                <a:lnTo>
                  <a:pt x="2065807" y="0"/>
                </a:lnTo>
                <a:lnTo>
                  <a:pt x="2065807" y="18288"/>
                </a:lnTo>
                <a:lnTo>
                  <a:pt x="2065807" y="287883"/>
                </a:lnTo>
                <a:lnTo>
                  <a:pt x="1738503" y="287883"/>
                </a:lnTo>
                <a:lnTo>
                  <a:pt x="1738503" y="18288"/>
                </a:lnTo>
                <a:lnTo>
                  <a:pt x="2065807" y="18288"/>
                </a:lnTo>
                <a:lnTo>
                  <a:pt x="2065807" y="0"/>
                </a:lnTo>
                <a:lnTo>
                  <a:pt x="1733943" y="0"/>
                </a:lnTo>
                <a:lnTo>
                  <a:pt x="1723288" y="0"/>
                </a:lnTo>
                <a:lnTo>
                  <a:pt x="1718716" y="0"/>
                </a:lnTo>
                <a:lnTo>
                  <a:pt x="1718716" y="18288"/>
                </a:lnTo>
                <a:lnTo>
                  <a:pt x="1718716" y="287883"/>
                </a:lnTo>
                <a:lnTo>
                  <a:pt x="1392936" y="287883"/>
                </a:lnTo>
                <a:lnTo>
                  <a:pt x="1392936" y="18288"/>
                </a:lnTo>
                <a:lnTo>
                  <a:pt x="1718716" y="18288"/>
                </a:lnTo>
                <a:lnTo>
                  <a:pt x="1718716" y="0"/>
                </a:lnTo>
                <a:lnTo>
                  <a:pt x="1383804" y="0"/>
                </a:lnTo>
                <a:lnTo>
                  <a:pt x="1377708" y="0"/>
                </a:lnTo>
                <a:lnTo>
                  <a:pt x="1368577" y="0"/>
                </a:lnTo>
                <a:lnTo>
                  <a:pt x="1368577" y="18288"/>
                </a:lnTo>
                <a:lnTo>
                  <a:pt x="1368577" y="287883"/>
                </a:lnTo>
                <a:lnTo>
                  <a:pt x="1041273" y="287883"/>
                </a:lnTo>
                <a:lnTo>
                  <a:pt x="1041273" y="18288"/>
                </a:lnTo>
                <a:lnTo>
                  <a:pt x="1368577" y="18288"/>
                </a:lnTo>
                <a:lnTo>
                  <a:pt x="1368577" y="0"/>
                </a:lnTo>
                <a:lnTo>
                  <a:pt x="1035189" y="0"/>
                </a:lnTo>
                <a:lnTo>
                  <a:pt x="1027582" y="0"/>
                </a:lnTo>
                <a:lnTo>
                  <a:pt x="1019962" y="0"/>
                </a:lnTo>
                <a:lnTo>
                  <a:pt x="1019962" y="18288"/>
                </a:lnTo>
                <a:lnTo>
                  <a:pt x="1019962" y="287883"/>
                </a:lnTo>
                <a:lnTo>
                  <a:pt x="704837" y="287883"/>
                </a:lnTo>
                <a:lnTo>
                  <a:pt x="704837" y="18288"/>
                </a:lnTo>
                <a:lnTo>
                  <a:pt x="1019962" y="18288"/>
                </a:lnTo>
                <a:lnTo>
                  <a:pt x="1019962" y="0"/>
                </a:lnTo>
                <a:lnTo>
                  <a:pt x="700278" y="0"/>
                </a:lnTo>
                <a:lnTo>
                  <a:pt x="678967" y="0"/>
                </a:lnTo>
                <a:lnTo>
                  <a:pt x="674395" y="0"/>
                </a:lnTo>
                <a:lnTo>
                  <a:pt x="674395" y="18288"/>
                </a:lnTo>
                <a:lnTo>
                  <a:pt x="674395" y="287883"/>
                </a:lnTo>
                <a:lnTo>
                  <a:pt x="365366" y="287883"/>
                </a:lnTo>
                <a:lnTo>
                  <a:pt x="365366" y="18288"/>
                </a:lnTo>
                <a:lnTo>
                  <a:pt x="674395" y="18288"/>
                </a:lnTo>
                <a:lnTo>
                  <a:pt x="674395" y="0"/>
                </a:lnTo>
                <a:lnTo>
                  <a:pt x="360794" y="0"/>
                </a:lnTo>
                <a:lnTo>
                  <a:pt x="344043" y="0"/>
                </a:lnTo>
                <a:lnTo>
                  <a:pt x="339483" y="0"/>
                </a:lnTo>
                <a:lnTo>
                  <a:pt x="339483" y="18288"/>
                </a:lnTo>
                <a:lnTo>
                  <a:pt x="339483" y="287883"/>
                </a:lnTo>
                <a:lnTo>
                  <a:pt x="18262" y="287883"/>
                </a:lnTo>
                <a:lnTo>
                  <a:pt x="18262" y="18288"/>
                </a:lnTo>
                <a:lnTo>
                  <a:pt x="339483" y="18288"/>
                </a:lnTo>
                <a:lnTo>
                  <a:pt x="339483" y="0"/>
                </a:lnTo>
                <a:lnTo>
                  <a:pt x="4572" y="0"/>
                </a:lnTo>
                <a:lnTo>
                  <a:pt x="0" y="4572"/>
                </a:lnTo>
                <a:lnTo>
                  <a:pt x="0" y="303123"/>
                </a:lnTo>
                <a:lnTo>
                  <a:pt x="4572" y="306158"/>
                </a:lnTo>
                <a:lnTo>
                  <a:pt x="344043" y="306158"/>
                </a:lnTo>
                <a:lnTo>
                  <a:pt x="360794" y="306158"/>
                </a:lnTo>
                <a:lnTo>
                  <a:pt x="2081034" y="306158"/>
                </a:lnTo>
                <a:lnTo>
                  <a:pt x="2084082" y="303123"/>
                </a:lnTo>
                <a:lnTo>
                  <a:pt x="2084082" y="297027"/>
                </a:lnTo>
                <a:lnTo>
                  <a:pt x="2084082" y="287883"/>
                </a:lnTo>
                <a:lnTo>
                  <a:pt x="2084082" y="18288"/>
                </a:lnTo>
                <a:lnTo>
                  <a:pt x="2084082" y="9144"/>
                </a:lnTo>
                <a:lnTo>
                  <a:pt x="2084082" y="4572"/>
                </a:lnTo>
                <a:close/>
              </a:path>
              <a:path w="2492375" h="1403350">
                <a:moveTo>
                  <a:pt x="2492057" y="364045"/>
                </a:moveTo>
                <a:lnTo>
                  <a:pt x="2487498" y="359473"/>
                </a:lnTo>
                <a:lnTo>
                  <a:pt x="2472271" y="359473"/>
                </a:lnTo>
                <a:lnTo>
                  <a:pt x="2472271" y="377748"/>
                </a:lnTo>
                <a:lnTo>
                  <a:pt x="2472271" y="1383055"/>
                </a:lnTo>
                <a:lnTo>
                  <a:pt x="794664" y="1383055"/>
                </a:lnTo>
                <a:lnTo>
                  <a:pt x="794664" y="377748"/>
                </a:lnTo>
                <a:lnTo>
                  <a:pt x="2472271" y="377748"/>
                </a:lnTo>
                <a:lnTo>
                  <a:pt x="2472271" y="359473"/>
                </a:lnTo>
                <a:lnTo>
                  <a:pt x="779437" y="359473"/>
                </a:lnTo>
                <a:lnTo>
                  <a:pt x="774865" y="364045"/>
                </a:lnTo>
                <a:lnTo>
                  <a:pt x="774865" y="866622"/>
                </a:lnTo>
                <a:lnTo>
                  <a:pt x="403415" y="545299"/>
                </a:lnTo>
                <a:lnTo>
                  <a:pt x="391236" y="560539"/>
                </a:lnTo>
                <a:lnTo>
                  <a:pt x="773353" y="891070"/>
                </a:lnTo>
                <a:lnTo>
                  <a:pt x="774865" y="889177"/>
                </a:lnTo>
                <a:lnTo>
                  <a:pt x="774865" y="1398282"/>
                </a:lnTo>
                <a:lnTo>
                  <a:pt x="779437" y="1402854"/>
                </a:lnTo>
                <a:lnTo>
                  <a:pt x="2487498" y="1402854"/>
                </a:lnTo>
                <a:lnTo>
                  <a:pt x="2492057" y="1398282"/>
                </a:lnTo>
                <a:lnTo>
                  <a:pt x="2492057" y="1393710"/>
                </a:lnTo>
                <a:lnTo>
                  <a:pt x="2492057" y="1383055"/>
                </a:lnTo>
                <a:lnTo>
                  <a:pt x="2492057" y="377748"/>
                </a:lnTo>
                <a:lnTo>
                  <a:pt x="2492057" y="368617"/>
                </a:lnTo>
                <a:lnTo>
                  <a:pt x="2492057" y="364045"/>
                </a:lnTo>
                <a:close/>
              </a:path>
            </a:pathLst>
          </a:custGeom>
          <a:solidFill>
            <a:srgbClr val="6A85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278992" y="2555554"/>
            <a:ext cx="2284730" cy="1325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1790" algn="l"/>
                <a:tab pos="686435" algn="l"/>
                <a:tab pos="1035050" algn="l"/>
              </a:tabLst>
            </a:pPr>
            <a:r>
              <a:rPr sz="1800" spc="-50" dirty="0">
                <a:latin typeface="Tw Cen MT"/>
                <a:cs typeface="Tw Cen MT"/>
              </a:rPr>
              <a:t>4</a:t>
            </a:r>
            <a:r>
              <a:rPr sz="1800" dirty="0">
                <a:latin typeface="Tw Cen MT"/>
                <a:cs typeface="Tw Cen MT"/>
              </a:rPr>
              <a:t>	</a:t>
            </a:r>
            <a:r>
              <a:rPr sz="1800" spc="-50" dirty="0">
                <a:latin typeface="Tw Cen MT"/>
                <a:cs typeface="Tw Cen MT"/>
              </a:rPr>
              <a:t>1</a:t>
            </a:r>
            <a:r>
              <a:rPr sz="1800" dirty="0">
                <a:latin typeface="Tw Cen MT"/>
                <a:cs typeface="Tw Cen MT"/>
              </a:rPr>
              <a:t>	</a:t>
            </a:r>
            <a:r>
              <a:rPr sz="1800" spc="-50" dirty="0">
                <a:latin typeface="Tw Cen MT"/>
                <a:cs typeface="Tw Cen MT"/>
              </a:rPr>
              <a:t>3</a:t>
            </a:r>
            <a:r>
              <a:rPr sz="1800" dirty="0">
                <a:latin typeface="Tw Cen MT"/>
                <a:cs typeface="Tw Cen MT"/>
              </a:rPr>
              <a:t>	</a:t>
            </a:r>
            <a:r>
              <a:rPr sz="1800" spc="-50" dirty="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  <a:p>
            <a:pPr marL="782320" marR="5080" indent="-1905" algn="ctr">
              <a:lnSpc>
                <a:spcPct val="100000"/>
              </a:lnSpc>
              <a:spcBef>
                <a:spcPts val="1475"/>
              </a:spcBef>
            </a:pPr>
            <a:r>
              <a:rPr sz="1100" dirty="0">
                <a:latin typeface="Gulim"/>
                <a:cs typeface="Gulim"/>
              </a:rPr>
              <a:t>큐에서</a:t>
            </a:r>
            <a:r>
              <a:rPr sz="1100" spc="-25" dirty="0">
                <a:latin typeface="Gulim"/>
                <a:cs typeface="Gulim"/>
              </a:rPr>
              <a:t> </a:t>
            </a:r>
            <a:r>
              <a:rPr sz="1100" dirty="0">
                <a:latin typeface="Gulim"/>
                <a:cs typeface="Gulim"/>
              </a:rPr>
              <a:t>2을</a:t>
            </a:r>
            <a:r>
              <a:rPr sz="1100" spc="-10" dirty="0">
                <a:latin typeface="Gulim"/>
                <a:cs typeface="Gulim"/>
              </a:rPr>
              <a:t> </a:t>
            </a:r>
            <a:r>
              <a:rPr sz="1100" dirty="0">
                <a:latin typeface="Gulim"/>
                <a:cs typeface="Gulim"/>
              </a:rPr>
              <a:t>꺼내서</a:t>
            </a:r>
            <a:r>
              <a:rPr sz="1100" spc="-25" dirty="0">
                <a:latin typeface="Gulim"/>
                <a:cs typeface="Gulim"/>
              </a:rPr>
              <a:t> 인접 </a:t>
            </a:r>
            <a:r>
              <a:rPr sz="1100" dirty="0">
                <a:latin typeface="Gulim"/>
                <a:cs typeface="Gulim"/>
              </a:rPr>
              <a:t>정점들을</a:t>
            </a:r>
            <a:r>
              <a:rPr sz="1100" spc="-20" dirty="0">
                <a:latin typeface="Gulim"/>
                <a:cs typeface="Gulim"/>
              </a:rPr>
              <a:t> </a:t>
            </a:r>
            <a:r>
              <a:rPr sz="1100" spc="-10" dirty="0">
                <a:latin typeface="Gulim"/>
                <a:cs typeface="Gulim"/>
              </a:rPr>
              <a:t>방문처리하고 </a:t>
            </a:r>
            <a:r>
              <a:rPr sz="1100" dirty="0">
                <a:latin typeface="Gulim"/>
                <a:cs typeface="Gulim"/>
              </a:rPr>
              <a:t>큐에</a:t>
            </a:r>
            <a:r>
              <a:rPr sz="1100" spc="-20" dirty="0">
                <a:latin typeface="Gulim"/>
                <a:cs typeface="Gulim"/>
              </a:rPr>
              <a:t> </a:t>
            </a:r>
            <a:r>
              <a:rPr sz="1100" dirty="0">
                <a:latin typeface="Gulim"/>
                <a:cs typeface="Gulim"/>
              </a:rPr>
              <a:t>추가한다</a:t>
            </a:r>
            <a:r>
              <a:rPr sz="1100" spc="-35" dirty="0">
                <a:latin typeface="Gulim"/>
                <a:cs typeface="Gulim"/>
              </a:rPr>
              <a:t> </a:t>
            </a:r>
            <a:r>
              <a:rPr sz="1100" spc="-20" dirty="0">
                <a:latin typeface="Gulim"/>
                <a:cs typeface="Gulim"/>
              </a:rPr>
              <a:t>인접정점 </a:t>
            </a:r>
            <a:r>
              <a:rPr sz="1100" dirty="0">
                <a:latin typeface="Gulim"/>
                <a:cs typeface="Gulim"/>
              </a:rPr>
              <a:t>인0은</a:t>
            </a:r>
            <a:r>
              <a:rPr sz="1100" spc="-20" dirty="0">
                <a:latin typeface="Gulim"/>
                <a:cs typeface="Gulim"/>
              </a:rPr>
              <a:t> </a:t>
            </a:r>
            <a:r>
              <a:rPr sz="1100" dirty="0">
                <a:latin typeface="Gulim"/>
                <a:cs typeface="Gulim"/>
              </a:rPr>
              <a:t>방문했으므로</a:t>
            </a:r>
            <a:r>
              <a:rPr sz="1100" spc="-40" dirty="0">
                <a:latin typeface="Gulim"/>
                <a:cs typeface="Gulim"/>
              </a:rPr>
              <a:t> </a:t>
            </a:r>
            <a:r>
              <a:rPr sz="1100" spc="-50" dirty="0">
                <a:latin typeface="Gulim"/>
                <a:cs typeface="Gulim"/>
              </a:rPr>
              <a:t>추 </a:t>
            </a:r>
            <a:r>
              <a:rPr sz="1100" dirty="0">
                <a:latin typeface="Gulim"/>
                <a:cs typeface="Gulim"/>
              </a:rPr>
              <a:t>가하지</a:t>
            </a:r>
            <a:r>
              <a:rPr sz="1100" spc="-20" dirty="0">
                <a:latin typeface="Gulim"/>
                <a:cs typeface="Gulim"/>
              </a:rPr>
              <a:t> </a:t>
            </a:r>
            <a:r>
              <a:rPr sz="1100" spc="-25" dirty="0">
                <a:latin typeface="Gulim"/>
                <a:cs typeface="Gulim"/>
              </a:rPr>
              <a:t>않는다</a:t>
            </a:r>
            <a:endParaRPr sz="1100">
              <a:latin typeface="Gulim"/>
              <a:cs typeface="Gulim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50183" y="4083646"/>
            <a:ext cx="3851503" cy="163894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465788" y="4087821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20829" y="5392264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40132" y="4357696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2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40132" y="503240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3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59422" y="4087821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1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14464" y="5347280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173239" y="4309084"/>
            <a:ext cx="2084705" cy="306705"/>
          </a:xfrm>
          <a:custGeom>
            <a:avLst/>
            <a:gdLst/>
            <a:ahLst/>
            <a:cxnLst/>
            <a:rect l="l" t="t" r="r" b="b"/>
            <a:pathLst>
              <a:path w="2084704" h="306704">
                <a:moveTo>
                  <a:pt x="2084082" y="3035"/>
                </a:moveTo>
                <a:lnTo>
                  <a:pt x="2081034" y="0"/>
                </a:lnTo>
                <a:lnTo>
                  <a:pt x="2065807" y="0"/>
                </a:lnTo>
                <a:lnTo>
                  <a:pt x="2065807" y="18275"/>
                </a:lnTo>
                <a:lnTo>
                  <a:pt x="2065807" y="287870"/>
                </a:lnTo>
                <a:lnTo>
                  <a:pt x="1738503" y="287870"/>
                </a:lnTo>
                <a:lnTo>
                  <a:pt x="1738503" y="18275"/>
                </a:lnTo>
                <a:lnTo>
                  <a:pt x="2065807" y="18275"/>
                </a:lnTo>
                <a:lnTo>
                  <a:pt x="2065807" y="0"/>
                </a:lnTo>
                <a:lnTo>
                  <a:pt x="1733943" y="0"/>
                </a:lnTo>
                <a:lnTo>
                  <a:pt x="1723288" y="0"/>
                </a:lnTo>
                <a:lnTo>
                  <a:pt x="1718716" y="0"/>
                </a:lnTo>
                <a:lnTo>
                  <a:pt x="1718716" y="18275"/>
                </a:lnTo>
                <a:lnTo>
                  <a:pt x="1718716" y="287870"/>
                </a:lnTo>
                <a:lnTo>
                  <a:pt x="1392936" y="287870"/>
                </a:lnTo>
                <a:lnTo>
                  <a:pt x="1392936" y="18275"/>
                </a:lnTo>
                <a:lnTo>
                  <a:pt x="1718716" y="18275"/>
                </a:lnTo>
                <a:lnTo>
                  <a:pt x="1718716" y="0"/>
                </a:lnTo>
                <a:lnTo>
                  <a:pt x="1383804" y="0"/>
                </a:lnTo>
                <a:lnTo>
                  <a:pt x="1377708" y="0"/>
                </a:lnTo>
                <a:lnTo>
                  <a:pt x="1368577" y="0"/>
                </a:lnTo>
                <a:lnTo>
                  <a:pt x="1368577" y="18275"/>
                </a:lnTo>
                <a:lnTo>
                  <a:pt x="1368577" y="287870"/>
                </a:lnTo>
                <a:lnTo>
                  <a:pt x="1041273" y="287870"/>
                </a:lnTo>
                <a:lnTo>
                  <a:pt x="1041273" y="18275"/>
                </a:lnTo>
                <a:lnTo>
                  <a:pt x="1368577" y="18275"/>
                </a:lnTo>
                <a:lnTo>
                  <a:pt x="1368577" y="0"/>
                </a:lnTo>
                <a:lnTo>
                  <a:pt x="1035189" y="0"/>
                </a:lnTo>
                <a:lnTo>
                  <a:pt x="1027582" y="0"/>
                </a:lnTo>
                <a:lnTo>
                  <a:pt x="1019962" y="0"/>
                </a:lnTo>
                <a:lnTo>
                  <a:pt x="1019962" y="18275"/>
                </a:lnTo>
                <a:lnTo>
                  <a:pt x="1019962" y="287870"/>
                </a:lnTo>
                <a:lnTo>
                  <a:pt x="704837" y="287870"/>
                </a:lnTo>
                <a:lnTo>
                  <a:pt x="704837" y="18275"/>
                </a:lnTo>
                <a:lnTo>
                  <a:pt x="1019962" y="18275"/>
                </a:lnTo>
                <a:lnTo>
                  <a:pt x="1019962" y="0"/>
                </a:lnTo>
                <a:lnTo>
                  <a:pt x="700278" y="0"/>
                </a:lnTo>
                <a:lnTo>
                  <a:pt x="678967" y="0"/>
                </a:lnTo>
                <a:lnTo>
                  <a:pt x="674395" y="0"/>
                </a:lnTo>
                <a:lnTo>
                  <a:pt x="674395" y="18275"/>
                </a:lnTo>
                <a:lnTo>
                  <a:pt x="674395" y="287870"/>
                </a:lnTo>
                <a:lnTo>
                  <a:pt x="365366" y="287870"/>
                </a:lnTo>
                <a:lnTo>
                  <a:pt x="365366" y="18275"/>
                </a:lnTo>
                <a:lnTo>
                  <a:pt x="674395" y="18275"/>
                </a:lnTo>
                <a:lnTo>
                  <a:pt x="674395" y="0"/>
                </a:lnTo>
                <a:lnTo>
                  <a:pt x="360794" y="0"/>
                </a:lnTo>
                <a:lnTo>
                  <a:pt x="344043" y="0"/>
                </a:lnTo>
                <a:lnTo>
                  <a:pt x="339483" y="0"/>
                </a:lnTo>
                <a:lnTo>
                  <a:pt x="339483" y="18275"/>
                </a:lnTo>
                <a:lnTo>
                  <a:pt x="339483" y="287870"/>
                </a:lnTo>
                <a:lnTo>
                  <a:pt x="18262" y="287870"/>
                </a:lnTo>
                <a:lnTo>
                  <a:pt x="18262" y="18275"/>
                </a:lnTo>
                <a:lnTo>
                  <a:pt x="339483" y="18275"/>
                </a:lnTo>
                <a:lnTo>
                  <a:pt x="339483" y="0"/>
                </a:lnTo>
                <a:lnTo>
                  <a:pt x="4572" y="0"/>
                </a:lnTo>
                <a:lnTo>
                  <a:pt x="0" y="3035"/>
                </a:lnTo>
                <a:lnTo>
                  <a:pt x="0" y="303110"/>
                </a:lnTo>
                <a:lnTo>
                  <a:pt x="4572" y="306158"/>
                </a:lnTo>
                <a:lnTo>
                  <a:pt x="344043" y="306158"/>
                </a:lnTo>
                <a:lnTo>
                  <a:pt x="360794" y="306158"/>
                </a:lnTo>
                <a:lnTo>
                  <a:pt x="2081034" y="306158"/>
                </a:lnTo>
                <a:lnTo>
                  <a:pt x="2084082" y="303110"/>
                </a:lnTo>
                <a:lnTo>
                  <a:pt x="2084082" y="297014"/>
                </a:lnTo>
                <a:lnTo>
                  <a:pt x="2084082" y="287870"/>
                </a:lnTo>
                <a:lnTo>
                  <a:pt x="2084082" y="18275"/>
                </a:lnTo>
                <a:lnTo>
                  <a:pt x="2084082" y="9131"/>
                </a:lnTo>
                <a:lnTo>
                  <a:pt x="2084082" y="3035"/>
                </a:lnTo>
                <a:close/>
              </a:path>
            </a:pathLst>
          </a:custGeom>
          <a:solidFill>
            <a:srgbClr val="6A85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278992" y="4299429"/>
            <a:ext cx="826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1790" algn="l"/>
                <a:tab pos="686435" algn="l"/>
              </a:tabLst>
            </a:pPr>
            <a:r>
              <a:rPr sz="1800" spc="-50" dirty="0">
                <a:latin typeface="Tw Cen MT"/>
                <a:cs typeface="Tw Cen MT"/>
              </a:rPr>
              <a:t>1</a:t>
            </a:r>
            <a:r>
              <a:rPr sz="1800" dirty="0">
                <a:latin typeface="Tw Cen MT"/>
                <a:cs typeface="Tw Cen MT"/>
              </a:rPr>
              <a:t>	</a:t>
            </a:r>
            <a:r>
              <a:rPr sz="1800" spc="-50" dirty="0">
                <a:latin typeface="Tw Cen MT"/>
                <a:cs typeface="Tw Cen MT"/>
              </a:rPr>
              <a:t>3</a:t>
            </a:r>
            <a:r>
              <a:rPr sz="1800" dirty="0">
                <a:latin typeface="Tw Cen MT"/>
                <a:cs typeface="Tw Cen MT"/>
              </a:rPr>
              <a:t>	</a:t>
            </a:r>
            <a:r>
              <a:rPr sz="1800" spc="-50" dirty="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562964" y="4668545"/>
            <a:ext cx="2102485" cy="1403350"/>
          </a:xfrm>
          <a:custGeom>
            <a:avLst/>
            <a:gdLst/>
            <a:ahLst/>
            <a:cxnLst/>
            <a:rect l="l" t="t" r="r" b="b"/>
            <a:pathLst>
              <a:path w="2102484" h="1403350">
                <a:moveTo>
                  <a:pt x="2102332" y="4572"/>
                </a:moveTo>
                <a:lnTo>
                  <a:pt x="2097773" y="0"/>
                </a:lnTo>
                <a:lnTo>
                  <a:pt x="2082546" y="0"/>
                </a:lnTo>
                <a:lnTo>
                  <a:pt x="2082546" y="18300"/>
                </a:lnTo>
                <a:lnTo>
                  <a:pt x="2082546" y="1383055"/>
                </a:lnTo>
                <a:lnTo>
                  <a:pt x="404939" y="1383055"/>
                </a:lnTo>
                <a:lnTo>
                  <a:pt x="404939" y="18300"/>
                </a:lnTo>
                <a:lnTo>
                  <a:pt x="2082546" y="18300"/>
                </a:lnTo>
                <a:lnTo>
                  <a:pt x="2082546" y="0"/>
                </a:lnTo>
                <a:lnTo>
                  <a:pt x="389712" y="0"/>
                </a:lnTo>
                <a:lnTo>
                  <a:pt x="385140" y="4572"/>
                </a:lnTo>
                <a:lnTo>
                  <a:pt x="385140" y="684936"/>
                </a:lnTo>
                <a:lnTo>
                  <a:pt x="13690" y="251333"/>
                </a:lnTo>
                <a:lnTo>
                  <a:pt x="0" y="263512"/>
                </a:lnTo>
                <a:lnTo>
                  <a:pt x="382104" y="711327"/>
                </a:lnTo>
                <a:lnTo>
                  <a:pt x="385140" y="708901"/>
                </a:lnTo>
                <a:lnTo>
                  <a:pt x="385140" y="1398282"/>
                </a:lnTo>
                <a:lnTo>
                  <a:pt x="389712" y="1402854"/>
                </a:lnTo>
                <a:lnTo>
                  <a:pt x="2097773" y="1402854"/>
                </a:lnTo>
                <a:lnTo>
                  <a:pt x="2102332" y="1398282"/>
                </a:lnTo>
                <a:lnTo>
                  <a:pt x="2102332" y="1393710"/>
                </a:lnTo>
                <a:lnTo>
                  <a:pt x="2102332" y="1383055"/>
                </a:lnTo>
                <a:lnTo>
                  <a:pt x="2102332" y="18300"/>
                </a:lnTo>
                <a:lnTo>
                  <a:pt x="2102332" y="9144"/>
                </a:lnTo>
                <a:lnTo>
                  <a:pt x="2102332" y="4572"/>
                </a:lnTo>
                <a:close/>
              </a:path>
            </a:pathLst>
          </a:custGeom>
          <a:solidFill>
            <a:srgbClr val="6A85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047608" y="4856810"/>
            <a:ext cx="151638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Gulim"/>
                <a:cs typeface="Gulim"/>
              </a:rPr>
              <a:t>큐에서</a:t>
            </a:r>
            <a:r>
              <a:rPr sz="1100" spc="340" dirty="0">
                <a:latin typeface="Gulim"/>
                <a:cs typeface="Gulim"/>
              </a:rPr>
              <a:t> </a:t>
            </a:r>
            <a:r>
              <a:rPr sz="1100" dirty="0">
                <a:latin typeface="Gulim"/>
                <a:cs typeface="Gulim"/>
              </a:rPr>
              <a:t>4을</a:t>
            </a:r>
            <a:r>
              <a:rPr sz="1100" spc="-20" dirty="0">
                <a:latin typeface="Gulim"/>
                <a:cs typeface="Gulim"/>
              </a:rPr>
              <a:t> </a:t>
            </a:r>
            <a:r>
              <a:rPr sz="1100" dirty="0">
                <a:latin typeface="Gulim"/>
                <a:cs typeface="Gulim"/>
              </a:rPr>
              <a:t>꺼내서</a:t>
            </a:r>
            <a:r>
              <a:rPr sz="1100" spc="-15" dirty="0">
                <a:latin typeface="Gulim"/>
                <a:cs typeface="Gulim"/>
              </a:rPr>
              <a:t> </a:t>
            </a:r>
            <a:r>
              <a:rPr sz="1100" spc="-50" dirty="0">
                <a:latin typeface="Gulim"/>
                <a:cs typeface="Gulim"/>
              </a:rPr>
              <a:t>인 </a:t>
            </a:r>
            <a:r>
              <a:rPr sz="1100" dirty="0">
                <a:latin typeface="Gulim"/>
                <a:cs typeface="Gulim"/>
              </a:rPr>
              <a:t>접</a:t>
            </a:r>
            <a:r>
              <a:rPr sz="1100" spc="-10" dirty="0">
                <a:latin typeface="Gulim"/>
                <a:cs typeface="Gulim"/>
              </a:rPr>
              <a:t> </a:t>
            </a:r>
            <a:r>
              <a:rPr sz="1100" dirty="0">
                <a:latin typeface="Gulim"/>
                <a:cs typeface="Gulim"/>
              </a:rPr>
              <a:t>정점들을</a:t>
            </a:r>
            <a:r>
              <a:rPr sz="1100" spc="-20" dirty="0">
                <a:latin typeface="Gulim"/>
                <a:cs typeface="Gulim"/>
              </a:rPr>
              <a:t> 방문처리하 </a:t>
            </a:r>
            <a:r>
              <a:rPr sz="1100" dirty="0">
                <a:latin typeface="Gulim"/>
                <a:cs typeface="Gulim"/>
              </a:rPr>
              <a:t>고</a:t>
            </a:r>
            <a:r>
              <a:rPr sz="1100" spc="-20" dirty="0">
                <a:latin typeface="Gulim"/>
                <a:cs typeface="Gulim"/>
              </a:rPr>
              <a:t> </a:t>
            </a:r>
            <a:r>
              <a:rPr sz="1100" dirty="0">
                <a:latin typeface="Gulim"/>
                <a:cs typeface="Gulim"/>
              </a:rPr>
              <a:t>큐에</a:t>
            </a:r>
            <a:r>
              <a:rPr sz="1100" spc="-20" dirty="0">
                <a:latin typeface="Gulim"/>
                <a:cs typeface="Gulim"/>
              </a:rPr>
              <a:t> 추가한다 </a:t>
            </a:r>
            <a:r>
              <a:rPr sz="1100" dirty="0">
                <a:latin typeface="Gulim"/>
                <a:cs typeface="Gulim"/>
              </a:rPr>
              <a:t>인접정점0과</a:t>
            </a:r>
            <a:r>
              <a:rPr sz="1100" spc="-30" dirty="0">
                <a:latin typeface="Gulim"/>
                <a:cs typeface="Gulim"/>
              </a:rPr>
              <a:t> </a:t>
            </a:r>
            <a:r>
              <a:rPr sz="1100" dirty="0">
                <a:latin typeface="Gulim"/>
                <a:cs typeface="Gulim"/>
              </a:rPr>
              <a:t>5중에</a:t>
            </a:r>
            <a:r>
              <a:rPr sz="1100" spc="-25" dirty="0">
                <a:latin typeface="Gulim"/>
                <a:cs typeface="Gulim"/>
              </a:rPr>
              <a:t> 0과 </a:t>
            </a:r>
            <a:r>
              <a:rPr sz="1100" dirty="0">
                <a:latin typeface="Gulim"/>
                <a:cs typeface="Gulim"/>
              </a:rPr>
              <a:t>5는</a:t>
            </a:r>
            <a:r>
              <a:rPr sz="1100" spc="350" dirty="0">
                <a:latin typeface="Gulim"/>
                <a:cs typeface="Gulim"/>
              </a:rPr>
              <a:t> </a:t>
            </a:r>
            <a:r>
              <a:rPr sz="1100" dirty="0">
                <a:latin typeface="Gulim"/>
                <a:cs typeface="Gulim"/>
              </a:rPr>
              <a:t>이미</a:t>
            </a:r>
            <a:r>
              <a:rPr sz="1100" spc="-25" dirty="0">
                <a:latin typeface="Gulim"/>
                <a:cs typeface="Gulim"/>
              </a:rPr>
              <a:t> </a:t>
            </a:r>
            <a:r>
              <a:rPr sz="1100" spc="-10" dirty="0">
                <a:latin typeface="Gulim"/>
                <a:cs typeface="Gulim"/>
              </a:rPr>
              <a:t>방문처리했으 </a:t>
            </a:r>
            <a:r>
              <a:rPr sz="1100" dirty="0">
                <a:latin typeface="Gulim"/>
                <a:cs typeface="Gulim"/>
              </a:rPr>
              <a:t>므로</a:t>
            </a:r>
            <a:r>
              <a:rPr sz="1100" spc="-10" dirty="0">
                <a:latin typeface="Gulim"/>
                <a:cs typeface="Gulim"/>
              </a:rPr>
              <a:t> </a:t>
            </a:r>
            <a:r>
              <a:rPr sz="1100" dirty="0">
                <a:latin typeface="Gulim"/>
                <a:cs typeface="Gulim"/>
              </a:rPr>
              <a:t>추가하지</a:t>
            </a:r>
            <a:r>
              <a:rPr sz="1100" spc="-35" dirty="0">
                <a:latin typeface="Gulim"/>
                <a:cs typeface="Gulim"/>
              </a:rPr>
              <a:t> </a:t>
            </a:r>
            <a:r>
              <a:rPr sz="1100" spc="-25" dirty="0">
                <a:latin typeface="Gulim"/>
                <a:cs typeface="Gulim"/>
              </a:rPr>
              <a:t>않는다</a:t>
            </a:r>
            <a:endParaRPr sz="1100">
              <a:latin typeface="Gulim"/>
              <a:cs typeface="Gulim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9177" y="2149208"/>
            <a:ext cx="4110304" cy="1638947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374813" y="2153637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29855" y="345807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49145" y="242352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2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49145" y="3098238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3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68447" y="2153637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1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23489" y="341310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098101" y="2555554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92562" y="2935833"/>
            <a:ext cx="133032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Gulim"/>
                <a:cs typeface="Gulim"/>
              </a:rPr>
              <a:t>처음에는</a:t>
            </a:r>
            <a:r>
              <a:rPr sz="1100" spc="-20" dirty="0">
                <a:latin typeface="Gulim"/>
                <a:cs typeface="Gulim"/>
              </a:rPr>
              <a:t> 시작정점인 </a:t>
            </a:r>
            <a:r>
              <a:rPr sz="1100" dirty="0">
                <a:latin typeface="Gulim"/>
                <a:cs typeface="Gulim"/>
              </a:rPr>
              <a:t>0을</a:t>
            </a:r>
            <a:r>
              <a:rPr sz="1100" spc="-15" dirty="0">
                <a:latin typeface="Gulim"/>
                <a:cs typeface="Gulim"/>
              </a:rPr>
              <a:t> </a:t>
            </a:r>
            <a:r>
              <a:rPr sz="1100" dirty="0">
                <a:latin typeface="Gulim"/>
                <a:cs typeface="Gulim"/>
              </a:rPr>
              <a:t>방문처리하고</a:t>
            </a:r>
            <a:r>
              <a:rPr sz="1100" spc="-40" dirty="0">
                <a:latin typeface="Gulim"/>
                <a:cs typeface="Gulim"/>
              </a:rPr>
              <a:t> </a:t>
            </a:r>
            <a:r>
              <a:rPr sz="1100" spc="-50" dirty="0">
                <a:latin typeface="Gulim"/>
                <a:cs typeface="Gulim"/>
              </a:rPr>
              <a:t>큐 </a:t>
            </a:r>
            <a:r>
              <a:rPr sz="1100" dirty="0">
                <a:latin typeface="Gulim"/>
                <a:cs typeface="Gulim"/>
              </a:rPr>
              <a:t>에</a:t>
            </a:r>
            <a:r>
              <a:rPr sz="1100" spc="-10" dirty="0">
                <a:latin typeface="Gulim"/>
                <a:cs typeface="Gulim"/>
              </a:rPr>
              <a:t> </a:t>
            </a:r>
            <a:r>
              <a:rPr sz="1100" spc="-20" dirty="0">
                <a:latin typeface="Gulim"/>
                <a:cs typeface="Gulim"/>
              </a:rPr>
              <a:t>추가한다</a:t>
            </a:r>
            <a:endParaRPr sz="1100">
              <a:latin typeface="Gulim"/>
              <a:cs typeface="Gulim"/>
            </a:endParaRPr>
          </a:p>
        </p:txBody>
      </p:sp>
      <p:pic>
        <p:nvPicPr>
          <p:cNvPr id="32" name="object 3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4052" y="4219206"/>
            <a:ext cx="1772005" cy="1637423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060121" y="422275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15165" y="5527201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734464" y="4492647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2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34464" y="5167360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3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453754" y="422275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1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08796" y="5482218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857423" y="4309084"/>
            <a:ext cx="704850" cy="306705"/>
          </a:xfrm>
          <a:custGeom>
            <a:avLst/>
            <a:gdLst/>
            <a:ahLst/>
            <a:cxnLst/>
            <a:rect l="l" t="t" r="r" b="b"/>
            <a:pathLst>
              <a:path w="704850" h="306704">
                <a:moveTo>
                  <a:pt x="704837" y="3035"/>
                </a:moveTo>
                <a:lnTo>
                  <a:pt x="700278" y="0"/>
                </a:lnTo>
                <a:lnTo>
                  <a:pt x="685050" y="0"/>
                </a:lnTo>
                <a:lnTo>
                  <a:pt x="685050" y="18275"/>
                </a:lnTo>
                <a:lnTo>
                  <a:pt x="685050" y="287870"/>
                </a:lnTo>
                <a:lnTo>
                  <a:pt x="365353" y="287870"/>
                </a:lnTo>
                <a:lnTo>
                  <a:pt x="365353" y="18275"/>
                </a:lnTo>
                <a:lnTo>
                  <a:pt x="685050" y="18275"/>
                </a:lnTo>
                <a:lnTo>
                  <a:pt x="685050" y="0"/>
                </a:lnTo>
                <a:lnTo>
                  <a:pt x="360794" y="0"/>
                </a:lnTo>
                <a:lnTo>
                  <a:pt x="344043" y="0"/>
                </a:lnTo>
                <a:lnTo>
                  <a:pt x="339483" y="0"/>
                </a:lnTo>
                <a:lnTo>
                  <a:pt x="339483" y="18275"/>
                </a:lnTo>
                <a:lnTo>
                  <a:pt x="339483" y="287870"/>
                </a:lnTo>
                <a:lnTo>
                  <a:pt x="19786" y="287870"/>
                </a:lnTo>
                <a:lnTo>
                  <a:pt x="19786" y="18275"/>
                </a:lnTo>
                <a:lnTo>
                  <a:pt x="339483" y="18275"/>
                </a:lnTo>
                <a:lnTo>
                  <a:pt x="339483" y="0"/>
                </a:lnTo>
                <a:lnTo>
                  <a:pt x="4559" y="0"/>
                </a:lnTo>
                <a:lnTo>
                  <a:pt x="0" y="3035"/>
                </a:lnTo>
                <a:lnTo>
                  <a:pt x="0" y="303110"/>
                </a:lnTo>
                <a:lnTo>
                  <a:pt x="4559" y="306158"/>
                </a:lnTo>
                <a:lnTo>
                  <a:pt x="344043" y="306158"/>
                </a:lnTo>
                <a:lnTo>
                  <a:pt x="360794" y="306158"/>
                </a:lnTo>
                <a:lnTo>
                  <a:pt x="700278" y="306158"/>
                </a:lnTo>
                <a:lnTo>
                  <a:pt x="704837" y="303110"/>
                </a:lnTo>
                <a:lnTo>
                  <a:pt x="704837" y="297014"/>
                </a:lnTo>
                <a:lnTo>
                  <a:pt x="704837" y="287870"/>
                </a:lnTo>
                <a:lnTo>
                  <a:pt x="704837" y="18275"/>
                </a:lnTo>
                <a:lnTo>
                  <a:pt x="704837" y="9131"/>
                </a:lnTo>
                <a:lnTo>
                  <a:pt x="704837" y="3035"/>
                </a:lnTo>
                <a:close/>
              </a:path>
            </a:pathLst>
          </a:custGeom>
          <a:solidFill>
            <a:srgbClr val="6A85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963240" y="4299429"/>
            <a:ext cx="490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1790" algn="l"/>
              </a:tabLst>
            </a:pPr>
            <a:r>
              <a:rPr sz="1800" spc="-50" dirty="0">
                <a:latin typeface="Tw Cen MT"/>
                <a:cs typeface="Tw Cen MT"/>
              </a:rPr>
              <a:t>2</a:t>
            </a:r>
            <a:r>
              <a:rPr sz="1800" dirty="0">
                <a:latin typeface="Tw Cen MT"/>
                <a:cs typeface="Tw Cen MT"/>
              </a:rPr>
              <a:t>	</a:t>
            </a:r>
            <a:r>
              <a:rPr sz="1800" spc="-50" dirty="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531819" y="4309084"/>
            <a:ext cx="1409700" cy="306705"/>
          </a:xfrm>
          <a:custGeom>
            <a:avLst/>
            <a:gdLst/>
            <a:ahLst/>
            <a:cxnLst/>
            <a:rect l="l" t="t" r="r" b="b"/>
            <a:pathLst>
              <a:path w="1409700" h="306704">
                <a:moveTo>
                  <a:pt x="1409674" y="3035"/>
                </a:moveTo>
                <a:lnTo>
                  <a:pt x="1406639" y="0"/>
                </a:lnTo>
                <a:lnTo>
                  <a:pt x="1391412" y="0"/>
                </a:lnTo>
                <a:lnTo>
                  <a:pt x="1391412" y="18275"/>
                </a:lnTo>
                <a:lnTo>
                  <a:pt x="1391412" y="287870"/>
                </a:lnTo>
                <a:lnTo>
                  <a:pt x="1064107" y="287870"/>
                </a:lnTo>
                <a:lnTo>
                  <a:pt x="1064107" y="18275"/>
                </a:lnTo>
                <a:lnTo>
                  <a:pt x="1391412" y="18275"/>
                </a:lnTo>
                <a:lnTo>
                  <a:pt x="1391412" y="0"/>
                </a:lnTo>
                <a:lnTo>
                  <a:pt x="1059548" y="0"/>
                </a:lnTo>
                <a:lnTo>
                  <a:pt x="1048880" y="0"/>
                </a:lnTo>
                <a:lnTo>
                  <a:pt x="1045845" y="0"/>
                </a:lnTo>
                <a:lnTo>
                  <a:pt x="1045845" y="18275"/>
                </a:lnTo>
                <a:lnTo>
                  <a:pt x="1045845" y="287870"/>
                </a:lnTo>
                <a:lnTo>
                  <a:pt x="718540" y="287870"/>
                </a:lnTo>
                <a:lnTo>
                  <a:pt x="718540" y="18275"/>
                </a:lnTo>
                <a:lnTo>
                  <a:pt x="1045845" y="18275"/>
                </a:lnTo>
                <a:lnTo>
                  <a:pt x="1045845" y="0"/>
                </a:lnTo>
                <a:lnTo>
                  <a:pt x="709409" y="0"/>
                </a:lnTo>
                <a:lnTo>
                  <a:pt x="703313" y="0"/>
                </a:lnTo>
                <a:lnTo>
                  <a:pt x="694182" y="0"/>
                </a:lnTo>
                <a:lnTo>
                  <a:pt x="694182" y="18275"/>
                </a:lnTo>
                <a:lnTo>
                  <a:pt x="694182" y="287870"/>
                </a:lnTo>
                <a:lnTo>
                  <a:pt x="366877" y="287870"/>
                </a:lnTo>
                <a:lnTo>
                  <a:pt x="366877" y="18275"/>
                </a:lnTo>
                <a:lnTo>
                  <a:pt x="694182" y="18275"/>
                </a:lnTo>
                <a:lnTo>
                  <a:pt x="694182" y="0"/>
                </a:lnTo>
                <a:lnTo>
                  <a:pt x="360794" y="0"/>
                </a:lnTo>
                <a:lnTo>
                  <a:pt x="353174" y="0"/>
                </a:lnTo>
                <a:lnTo>
                  <a:pt x="345567" y="0"/>
                </a:lnTo>
                <a:lnTo>
                  <a:pt x="345567" y="18275"/>
                </a:lnTo>
                <a:lnTo>
                  <a:pt x="345567" y="287870"/>
                </a:lnTo>
                <a:lnTo>
                  <a:pt x="18262" y="287870"/>
                </a:lnTo>
                <a:lnTo>
                  <a:pt x="18262" y="18275"/>
                </a:lnTo>
                <a:lnTo>
                  <a:pt x="345567" y="18275"/>
                </a:lnTo>
                <a:lnTo>
                  <a:pt x="345567" y="0"/>
                </a:lnTo>
                <a:lnTo>
                  <a:pt x="4559" y="0"/>
                </a:lnTo>
                <a:lnTo>
                  <a:pt x="0" y="3035"/>
                </a:lnTo>
                <a:lnTo>
                  <a:pt x="0" y="303110"/>
                </a:lnTo>
                <a:lnTo>
                  <a:pt x="4559" y="306158"/>
                </a:lnTo>
                <a:lnTo>
                  <a:pt x="353174" y="306158"/>
                </a:lnTo>
                <a:lnTo>
                  <a:pt x="360794" y="306158"/>
                </a:lnTo>
                <a:lnTo>
                  <a:pt x="1406639" y="306158"/>
                </a:lnTo>
                <a:lnTo>
                  <a:pt x="1409674" y="303110"/>
                </a:lnTo>
                <a:lnTo>
                  <a:pt x="1409674" y="297014"/>
                </a:lnTo>
                <a:lnTo>
                  <a:pt x="1409674" y="287870"/>
                </a:lnTo>
                <a:lnTo>
                  <a:pt x="1409674" y="18275"/>
                </a:lnTo>
                <a:lnTo>
                  <a:pt x="1409674" y="9131"/>
                </a:lnTo>
                <a:lnTo>
                  <a:pt x="1409674" y="3035"/>
                </a:lnTo>
                <a:close/>
              </a:path>
            </a:pathLst>
          </a:custGeom>
          <a:solidFill>
            <a:srgbClr val="6A85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731856" y="4764988"/>
            <a:ext cx="151638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Gulim"/>
                <a:cs typeface="Gulim"/>
              </a:rPr>
              <a:t>큐에서</a:t>
            </a:r>
            <a:r>
              <a:rPr sz="1100" spc="340" dirty="0">
                <a:latin typeface="Gulim"/>
                <a:cs typeface="Gulim"/>
              </a:rPr>
              <a:t> </a:t>
            </a:r>
            <a:r>
              <a:rPr sz="1100" dirty="0">
                <a:latin typeface="Gulim"/>
                <a:cs typeface="Gulim"/>
              </a:rPr>
              <a:t>0을</a:t>
            </a:r>
            <a:r>
              <a:rPr sz="1100" spc="-20" dirty="0">
                <a:latin typeface="Gulim"/>
                <a:cs typeface="Gulim"/>
              </a:rPr>
              <a:t> </a:t>
            </a:r>
            <a:r>
              <a:rPr sz="1100" dirty="0">
                <a:latin typeface="Gulim"/>
                <a:cs typeface="Gulim"/>
              </a:rPr>
              <a:t>꺼내서</a:t>
            </a:r>
            <a:r>
              <a:rPr sz="1100" spc="-15" dirty="0">
                <a:latin typeface="Gulim"/>
                <a:cs typeface="Gulim"/>
              </a:rPr>
              <a:t> </a:t>
            </a:r>
            <a:r>
              <a:rPr sz="1100" spc="-50" dirty="0">
                <a:latin typeface="Gulim"/>
                <a:cs typeface="Gulim"/>
              </a:rPr>
              <a:t>인 </a:t>
            </a:r>
            <a:r>
              <a:rPr sz="1100" dirty="0">
                <a:latin typeface="Gulim"/>
                <a:cs typeface="Gulim"/>
              </a:rPr>
              <a:t>접</a:t>
            </a:r>
            <a:r>
              <a:rPr sz="1100" spc="-10" dirty="0">
                <a:latin typeface="Gulim"/>
                <a:cs typeface="Gulim"/>
              </a:rPr>
              <a:t> </a:t>
            </a:r>
            <a:r>
              <a:rPr sz="1100" dirty="0">
                <a:latin typeface="Gulim"/>
                <a:cs typeface="Gulim"/>
              </a:rPr>
              <a:t>정점들을</a:t>
            </a:r>
            <a:r>
              <a:rPr sz="1100" spc="-20" dirty="0">
                <a:latin typeface="Gulim"/>
                <a:cs typeface="Gulim"/>
              </a:rPr>
              <a:t> 방문처리하 </a:t>
            </a:r>
            <a:r>
              <a:rPr sz="1100" dirty="0">
                <a:latin typeface="Gulim"/>
                <a:cs typeface="Gulim"/>
              </a:rPr>
              <a:t>고</a:t>
            </a:r>
            <a:r>
              <a:rPr sz="1100" spc="-20" dirty="0">
                <a:latin typeface="Gulim"/>
                <a:cs typeface="Gulim"/>
              </a:rPr>
              <a:t> </a:t>
            </a:r>
            <a:r>
              <a:rPr sz="1100" dirty="0">
                <a:latin typeface="Gulim"/>
                <a:cs typeface="Gulim"/>
              </a:rPr>
              <a:t>큐에</a:t>
            </a:r>
            <a:r>
              <a:rPr sz="1100" spc="-20" dirty="0">
                <a:latin typeface="Gulim"/>
                <a:cs typeface="Gulim"/>
              </a:rPr>
              <a:t> 추가한다</a:t>
            </a:r>
            <a:endParaRPr sz="1100">
              <a:latin typeface="Gulim"/>
              <a:cs typeface="Gulim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BFS</a:t>
            </a:r>
            <a:r>
              <a:rPr spc="-50" dirty="0">
                <a:latin typeface="Tw Cen MT"/>
                <a:cs typeface="Tw Cen MT"/>
              </a:rPr>
              <a:t> </a:t>
            </a:r>
            <a:r>
              <a:rPr spc="-1655" dirty="0"/>
              <a:t>프로그램</a:t>
            </a:r>
            <a:r>
              <a:rPr spc="-1655" dirty="0">
                <a:latin typeface="Tw Cen MT"/>
                <a:cs typeface="Tw Cen MT"/>
              </a:rPr>
              <a:t>(</a:t>
            </a:r>
            <a:r>
              <a:rPr spc="-1655" dirty="0"/>
              <a:t>인접행렬</a:t>
            </a:r>
            <a:r>
              <a:rPr spc="-1655" dirty="0">
                <a:latin typeface="Tw Cen MT"/>
                <a:cs typeface="Tw Cen MT"/>
              </a:rPr>
              <a:t>)</a:t>
            </a:r>
            <a:r>
              <a:rPr dirty="0">
                <a:latin typeface="Tw Cen MT"/>
                <a:cs typeface="Tw Cen MT"/>
              </a:rPr>
              <a:t> </a:t>
            </a:r>
            <a:r>
              <a:rPr spc="-10" dirty="0">
                <a:latin typeface="Tw Cen MT"/>
                <a:cs typeface="Tw Cen MT"/>
              </a:rPr>
              <a:t>(bfs.c)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53350" y="2056295"/>
            <a:ext cx="7937500" cy="4208780"/>
            <a:chOff x="1353350" y="2056295"/>
            <a:chExt cx="7937500" cy="4208780"/>
          </a:xfrm>
        </p:grpSpPr>
        <p:sp>
          <p:nvSpPr>
            <p:cNvPr id="4" name="object 4"/>
            <p:cNvSpPr/>
            <p:nvPr/>
          </p:nvSpPr>
          <p:spPr>
            <a:xfrm>
              <a:off x="1367053" y="2068474"/>
              <a:ext cx="7910195" cy="4184650"/>
            </a:xfrm>
            <a:custGeom>
              <a:avLst/>
              <a:gdLst/>
              <a:ahLst/>
              <a:cxnLst/>
              <a:rect l="l" t="t" r="r" b="b"/>
              <a:pathLst>
                <a:path w="7910195" h="4184650">
                  <a:moveTo>
                    <a:pt x="7910055" y="0"/>
                  </a:moveTo>
                  <a:lnTo>
                    <a:pt x="0" y="0"/>
                  </a:lnTo>
                  <a:lnTo>
                    <a:pt x="0" y="4184180"/>
                  </a:lnTo>
                  <a:lnTo>
                    <a:pt x="7910055" y="4184180"/>
                  </a:lnTo>
                  <a:lnTo>
                    <a:pt x="791005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53350" y="2056295"/>
              <a:ext cx="7937500" cy="4208780"/>
            </a:xfrm>
            <a:custGeom>
              <a:avLst/>
              <a:gdLst/>
              <a:ahLst/>
              <a:cxnLst/>
              <a:rect l="l" t="t" r="r" b="b"/>
              <a:pathLst>
                <a:path w="7937500" h="4208780">
                  <a:moveTo>
                    <a:pt x="7937461" y="0"/>
                  </a:moveTo>
                  <a:lnTo>
                    <a:pt x="0" y="0"/>
                  </a:lnTo>
                  <a:lnTo>
                    <a:pt x="0" y="4208551"/>
                  </a:lnTo>
                  <a:lnTo>
                    <a:pt x="7937461" y="4208551"/>
                  </a:lnTo>
                  <a:lnTo>
                    <a:pt x="7937461" y="4196359"/>
                  </a:lnTo>
                  <a:lnTo>
                    <a:pt x="25882" y="4196359"/>
                  </a:lnTo>
                  <a:lnTo>
                    <a:pt x="13703" y="4184180"/>
                  </a:lnTo>
                  <a:lnTo>
                    <a:pt x="25882" y="4184180"/>
                  </a:lnTo>
                  <a:lnTo>
                    <a:pt x="25882" y="25895"/>
                  </a:lnTo>
                  <a:lnTo>
                    <a:pt x="13703" y="25895"/>
                  </a:lnTo>
                  <a:lnTo>
                    <a:pt x="25882" y="12179"/>
                  </a:lnTo>
                  <a:lnTo>
                    <a:pt x="7937461" y="12179"/>
                  </a:lnTo>
                  <a:lnTo>
                    <a:pt x="7937461" y="0"/>
                  </a:lnTo>
                  <a:close/>
                </a:path>
                <a:path w="7937500" h="4208780">
                  <a:moveTo>
                    <a:pt x="25882" y="4184180"/>
                  </a:moveTo>
                  <a:lnTo>
                    <a:pt x="13703" y="4184180"/>
                  </a:lnTo>
                  <a:lnTo>
                    <a:pt x="25882" y="4196359"/>
                  </a:lnTo>
                  <a:lnTo>
                    <a:pt x="25882" y="4184180"/>
                  </a:lnTo>
                  <a:close/>
                </a:path>
                <a:path w="7937500" h="4208780">
                  <a:moveTo>
                    <a:pt x="7911579" y="4184180"/>
                  </a:moveTo>
                  <a:lnTo>
                    <a:pt x="25882" y="4184180"/>
                  </a:lnTo>
                  <a:lnTo>
                    <a:pt x="25882" y="4196359"/>
                  </a:lnTo>
                  <a:lnTo>
                    <a:pt x="7911579" y="4196359"/>
                  </a:lnTo>
                  <a:lnTo>
                    <a:pt x="7911579" y="4184180"/>
                  </a:lnTo>
                  <a:close/>
                </a:path>
                <a:path w="7937500" h="4208780">
                  <a:moveTo>
                    <a:pt x="7911579" y="12179"/>
                  </a:moveTo>
                  <a:lnTo>
                    <a:pt x="7911579" y="4196359"/>
                  </a:lnTo>
                  <a:lnTo>
                    <a:pt x="7923758" y="4184180"/>
                  </a:lnTo>
                  <a:lnTo>
                    <a:pt x="7937461" y="4184180"/>
                  </a:lnTo>
                  <a:lnTo>
                    <a:pt x="7937461" y="25895"/>
                  </a:lnTo>
                  <a:lnTo>
                    <a:pt x="7923758" y="25895"/>
                  </a:lnTo>
                  <a:lnTo>
                    <a:pt x="7911579" y="12179"/>
                  </a:lnTo>
                  <a:close/>
                </a:path>
                <a:path w="7937500" h="4208780">
                  <a:moveTo>
                    <a:pt x="7937461" y="4184180"/>
                  </a:moveTo>
                  <a:lnTo>
                    <a:pt x="7923758" y="4184180"/>
                  </a:lnTo>
                  <a:lnTo>
                    <a:pt x="7911579" y="4196359"/>
                  </a:lnTo>
                  <a:lnTo>
                    <a:pt x="7937461" y="4196359"/>
                  </a:lnTo>
                  <a:lnTo>
                    <a:pt x="7937461" y="4184180"/>
                  </a:lnTo>
                  <a:close/>
                </a:path>
                <a:path w="7937500" h="4208780">
                  <a:moveTo>
                    <a:pt x="25882" y="12179"/>
                  </a:moveTo>
                  <a:lnTo>
                    <a:pt x="13703" y="25895"/>
                  </a:lnTo>
                  <a:lnTo>
                    <a:pt x="25882" y="25895"/>
                  </a:lnTo>
                  <a:lnTo>
                    <a:pt x="25882" y="12179"/>
                  </a:lnTo>
                  <a:close/>
                </a:path>
                <a:path w="7937500" h="4208780">
                  <a:moveTo>
                    <a:pt x="7911579" y="12179"/>
                  </a:moveTo>
                  <a:lnTo>
                    <a:pt x="25882" y="12179"/>
                  </a:lnTo>
                  <a:lnTo>
                    <a:pt x="25882" y="25895"/>
                  </a:lnTo>
                  <a:lnTo>
                    <a:pt x="7911579" y="25895"/>
                  </a:lnTo>
                  <a:lnTo>
                    <a:pt x="7911579" y="12179"/>
                  </a:lnTo>
                  <a:close/>
                </a:path>
                <a:path w="7937500" h="4208780">
                  <a:moveTo>
                    <a:pt x="7937461" y="12179"/>
                  </a:moveTo>
                  <a:lnTo>
                    <a:pt x="7911579" y="12179"/>
                  </a:lnTo>
                  <a:lnTo>
                    <a:pt x="7923758" y="25895"/>
                  </a:lnTo>
                  <a:lnTo>
                    <a:pt x="7937461" y="25895"/>
                  </a:lnTo>
                  <a:lnTo>
                    <a:pt x="7937461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44282" y="2090554"/>
            <a:ext cx="270954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void</a:t>
            </a:r>
            <a:r>
              <a:rPr sz="1400" spc="1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bfs_mat(GraphType*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g,</a:t>
            </a:r>
            <a:r>
              <a:rPr sz="1400" spc="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int</a:t>
            </a:r>
            <a:r>
              <a:rPr sz="1400" spc="2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v)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685165">
              <a:lnSpc>
                <a:spcPct val="100000"/>
              </a:lnSpc>
            </a:pPr>
            <a:r>
              <a:rPr sz="1400" dirty="0">
                <a:latin typeface="Trebuchet MS"/>
                <a:cs typeface="Trebuchet MS"/>
              </a:rPr>
              <a:t>int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w; </a:t>
            </a:r>
            <a:r>
              <a:rPr sz="1400" spc="-20" dirty="0">
                <a:latin typeface="Trebuchet MS"/>
                <a:cs typeface="Trebuchet MS"/>
              </a:rPr>
              <a:t>QueueType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q;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57678" y="3156783"/>
            <a:ext cx="14503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rebuchet MS"/>
                <a:cs typeface="Trebuchet MS"/>
              </a:rPr>
              <a:t>queue_init(&amp;q); </a:t>
            </a:r>
            <a:r>
              <a:rPr sz="1400" dirty="0">
                <a:latin typeface="Trebuchet MS"/>
                <a:cs typeface="Trebuchet MS"/>
              </a:rPr>
              <a:t>visited[v]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TRUE;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92185" y="3141543"/>
            <a:ext cx="200913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aseline="-3968" dirty="0">
                <a:latin typeface="Trebuchet MS"/>
                <a:cs typeface="Trebuchet MS"/>
              </a:rPr>
              <a:t>// </a:t>
            </a:r>
            <a:r>
              <a:rPr sz="1400" dirty="0">
                <a:latin typeface="Gulim"/>
                <a:cs typeface="Gulim"/>
              </a:rPr>
              <a:t>큐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초기화</a:t>
            </a:r>
            <a:endParaRPr sz="1400">
              <a:latin typeface="Gulim"/>
              <a:cs typeface="Gulim"/>
            </a:endParaRPr>
          </a:p>
          <a:p>
            <a:pPr marL="440055">
              <a:lnSpc>
                <a:spcPct val="100000"/>
              </a:lnSpc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2100" spc="-7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정점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2100" baseline="-3968" dirty="0">
                <a:latin typeface="Trebuchet MS"/>
                <a:cs typeface="Trebuchet MS"/>
              </a:rPr>
              <a:t>v</a:t>
            </a:r>
            <a:r>
              <a:rPr sz="2100" spc="-22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방문</a:t>
            </a:r>
            <a:r>
              <a:rPr sz="1400" spc="-60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표시</a:t>
            </a:r>
            <a:endParaRPr sz="1400">
              <a:latin typeface="Gulim"/>
              <a:cs typeface="Guli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11278" y="3781280"/>
            <a:ext cx="20275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2100" spc="-7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시작</a:t>
            </a:r>
            <a:r>
              <a:rPr sz="1400" spc="-5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정점을</a:t>
            </a:r>
            <a:r>
              <a:rPr sz="1400" spc="-6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큐에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저장</a:t>
            </a:r>
            <a:endParaRPr sz="1400">
              <a:latin typeface="Gulim"/>
              <a:cs typeface="Guli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57678" y="3583274"/>
            <a:ext cx="192532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printf("%d</a:t>
            </a:r>
            <a:r>
              <a:rPr sz="1400" spc="390" dirty="0">
                <a:latin typeface="Trebuchet MS"/>
                <a:cs typeface="Trebuchet MS"/>
              </a:rPr>
              <a:t> </a:t>
            </a:r>
            <a:r>
              <a:rPr sz="2100" baseline="3968" dirty="0">
                <a:latin typeface="Gulim"/>
                <a:cs typeface="Gulim"/>
              </a:rPr>
              <a:t>방문</a:t>
            </a:r>
            <a:r>
              <a:rPr sz="2100" spc="-82" baseline="3968" dirty="0">
                <a:latin typeface="Gulim"/>
                <a:cs typeface="Gulim"/>
              </a:rPr>
              <a:t> </a:t>
            </a:r>
            <a:r>
              <a:rPr sz="1400" dirty="0">
                <a:latin typeface="Trebuchet MS"/>
                <a:cs typeface="Trebuchet MS"/>
              </a:rPr>
              <a:t>-&gt;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",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v); </a:t>
            </a:r>
            <a:r>
              <a:rPr sz="1400" dirty="0">
                <a:latin typeface="Trebuchet MS"/>
                <a:cs typeface="Trebuchet MS"/>
              </a:rPr>
              <a:t>enqueue(&amp;q,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v);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80"/>
              </a:lnSpc>
            </a:pPr>
            <a:r>
              <a:rPr sz="1400" dirty="0">
                <a:latin typeface="Trebuchet MS"/>
                <a:cs typeface="Trebuchet MS"/>
              </a:rPr>
              <a:t>while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(!is_empty(&amp;q))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71075" y="4222998"/>
            <a:ext cx="199263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v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 </a:t>
            </a:r>
            <a:r>
              <a:rPr sz="1400" spc="-10" dirty="0">
                <a:latin typeface="Trebuchet MS"/>
                <a:cs typeface="Trebuchet MS"/>
              </a:rPr>
              <a:t>dequeue(&amp;q);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rebuchet MS"/>
                <a:cs typeface="Trebuchet MS"/>
              </a:rPr>
              <a:t>for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(w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</a:t>
            </a:r>
            <a:r>
              <a:rPr sz="1400" spc="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0;</a:t>
            </a:r>
            <a:r>
              <a:rPr sz="1400" spc="-10" dirty="0">
                <a:latin typeface="Trebuchet MS"/>
                <a:cs typeface="Trebuchet MS"/>
              </a:rPr>
              <a:t> w&lt;g-</a:t>
            </a:r>
            <a:r>
              <a:rPr sz="1400" dirty="0">
                <a:latin typeface="Trebuchet MS"/>
                <a:cs typeface="Trebuchet MS"/>
              </a:rPr>
              <a:t>&gt;n;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w++)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11278" y="4207771"/>
            <a:ext cx="14414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2100" spc="-7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큐에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정점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추출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2100" spc="-7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인접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정점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탐색</a:t>
            </a:r>
            <a:endParaRPr sz="1400">
              <a:latin typeface="Gulim"/>
              <a:cs typeface="Guli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84484" y="4649490"/>
            <a:ext cx="3042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if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(g-&gt;adj_mat[v][w]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&amp;&amp;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!visited[w])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97881" y="4862736"/>
            <a:ext cx="14947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visited[w]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TRUE;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80090" y="4847508"/>
            <a:ext cx="10318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aseline="-3968" dirty="0">
                <a:latin typeface="Trebuchet MS"/>
                <a:cs typeface="Trebuchet MS"/>
              </a:rPr>
              <a:t>// </a:t>
            </a:r>
            <a:r>
              <a:rPr sz="1400" dirty="0">
                <a:latin typeface="Gulim"/>
                <a:cs typeface="Gulim"/>
              </a:rPr>
              <a:t>방문</a:t>
            </a:r>
            <a:r>
              <a:rPr sz="1400" spc="-6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표시</a:t>
            </a:r>
            <a:endParaRPr sz="14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97881" y="5075981"/>
            <a:ext cx="19177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printf("%d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2100" baseline="3968" dirty="0">
                <a:latin typeface="Gulim"/>
                <a:cs typeface="Gulim"/>
              </a:rPr>
              <a:t>방문</a:t>
            </a:r>
            <a:r>
              <a:rPr sz="2100" spc="-89" baseline="3968" dirty="0">
                <a:latin typeface="Gulim"/>
                <a:cs typeface="Gulim"/>
              </a:rPr>
              <a:t> </a:t>
            </a:r>
            <a:r>
              <a:rPr sz="1400" dirty="0">
                <a:latin typeface="Trebuchet MS"/>
                <a:cs typeface="Trebuchet MS"/>
              </a:rPr>
              <a:t>-&gt;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",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w);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97881" y="5289227"/>
            <a:ext cx="13760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enqueue(&amp;q,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w);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24687" y="5274000"/>
            <a:ext cx="22059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2100" spc="-7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방문한</a:t>
            </a:r>
            <a:r>
              <a:rPr sz="1400" spc="-5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정점을</a:t>
            </a:r>
            <a:r>
              <a:rPr sz="1400" spc="-6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큐에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저장</a:t>
            </a:r>
            <a:endParaRPr sz="1400">
              <a:latin typeface="Gulim"/>
              <a:cs typeface="Guli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84484" y="5502473"/>
            <a:ext cx="908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44282" y="5715718"/>
            <a:ext cx="100456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583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362494" y="1629803"/>
            <a:ext cx="8543925" cy="228600"/>
          </a:xfrm>
          <a:custGeom>
            <a:avLst/>
            <a:gdLst/>
            <a:ahLst/>
            <a:cxnLst/>
            <a:rect l="l" t="t" r="r" b="b"/>
            <a:pathLst>
              <a:path w="8543925" h="228600">
                <a:moveTo>
                  <a:pt x="8543340" y="0"/>
                </a:moveTo>
                <a:lnTo>
                  <a:pt x="0" y="0"/>
                </a:lnTo>
                <a:lnTo>
                  <a:pt x="0" y="228473"/>
                </a:lnTo>
                <a:lnTo>
                  <a:pt x="8543340" y="228473"/>
                </a:lnTo>
                <a:lnTo>
                  <a:pt x="8543340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353350" y="2056295"/>
            <a:ext cx="8157209" cy="5150485"/>
            <a:chOff x="1353350" y="2056295"/>
            <a:chExt cx="8157209" cy="515048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67053" y="2068474"/>
              <a:ext cx="7910195" cy="4399280"/>
            </a:xfrm>
            <a:custGeom>
              <a:avLst/>
              <a:gdLst/>
              <a:ahLst/>
              <a:cxnLst/>
              <a:rect l="l" t="t" r="r" b="b"/>
              <a:pathLst>
                <a:path w="7910195" h="4399280">
                  <a:moveTo>
                    <a:pt x="7910055" y="0"/>
                  </a:moveTo>
                  <a:lnTo>
                    <a:pt x="0" y="0"/>
                  </a:lnTo>
                  <a:lnTo>
                    <a:pt x="0" y="4398949"/>
                  </a:lnTo>
                  <a:lnTo>
                    <a:pt x="7910055" y="4398949"/>
                  </a:lnTo>
                  <a:lnTo>
                    <a:pt x="791005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53350" y="2056295"/>
              <a:ext cx="7937500" cy="4425315"/>
            </a:xfrm>
            <a:custGeom>
              <a:avLst/>
              <a:gdLst/>
              <a:ahLst/>
              <a:cxnLst/>
              <a:rect l="l" t="t" r="r" b="b"/>
              <a:pathLst>
                <a:path w="7937500" h="4425315">
                  <a:moveTo>
                    <a:pt x="7937461" y="0"/>
                  </a:moveTo>
                  <a:lnTo>
                    <a:pt x="0" y="0"/>
                  </a:lnTo>
                  <a:lnTo>
                    <a:pt x="0" y="4424845"/>
                  </a:lnTo>
                  <a:lnTo>
                    <a:pt x="7937461" y="4424845"/>
                  </a:lnTo>
                  <a:lnTo>
                    <a:pt x="7937461" y="4411129"/>
                  </a:lnTo>
                  <a:lnTo>
                    <a:pt x="25882" y="4411129"/>
                  </a:lnTo>
                  <a:lnTo>
                    <a:pt x="13703" y="4398949"/>
                  </a:lnTo>
                  <a:lnTo>
                    <a:pt x="25882" y="4398949"/>
                  </a:lnTo>
                  <a:lnTo>
                    <a:pt x="25882" y="25895"/>
                  </a:lnTo>
                  <a:lnTo>
                    <a:pt x="13703" y="25895"/>
                  </a:lnTo>
                  <a:lnTo>
                    <a:pt x="25882" y="12179"/>
                  </a:lnTo>
                  <a:lnTo>
                    <a:pt x="7937461" y="12179"/>
                  </a:lnTo>
                  <a:lnTo>
                    <a:pt x="7937461" y="0"/>
                  </a:lnTo>
                  <a:close/>
                </a:path>
                <a:path w="7937500" h="4425315">
                  <a:moveTo>
                    <a:pt x="25882" y="4398949"/>
                  </a:moveTo>
                  <a:lnTo>
                    <a:pt x="13703" y="4398949"/>
                  </a:lnTo>
                  <a:lnTo>
                    <a:pt x="25882" y="4411129"/>
                  </a:lnTo>
                  <a:lnTo>
                    <a:pt x="25882" y="4398949"/>
                  </a:lnTo>
                  <a:close/>
                </a:path>
                <a:path w="7937500" h="4425315">
                  <a:moveTo>
                    <a:pt x="7911579" y="4398949"/>
                  </a:moveTo>
                  <a:lnTo>
                    <a:pt x="25882" y="4398949"/>
                  </a:lnTo>
                  <a:lnTo>
                    <a:pt x="25882" y="4411129"/>
                  </a:lnTo>
                  <a:lnTo>
                    <a:pt x="7911579" y="4411129"/>
                  </a:lnTo>
                  <a:lnTo>
                    <a:pt x="7911579" y="4398949"/>
                  </a:lnTo>
                  <a:close/>
                </a:path>
                <a:path w="7937500" h="4425315">
                  <a:moveTo>
                    <a:pt x="7911579" y="12179"/>
                  </a:moveTo>
                  <a:lnTo>
                    <a:pt x="7911579" y="4411129"/>
                  </a:lnTo>
                  <a:lnTo>
                    <a:pt x="7923758" y="4398949"/>
                  </a:lnTo>
                  <a:lnTo>
                    <a:pt x="7937461" y="4398949"/>
                  </a:lnTo>
                  <a:lnTo>
                    <a:pt x="7937461" y="25895"/>
                  </a:lnTo>
                  <a:lnTo>
                    <a:pt x="7923758" y="25895"/>
                  </a:lnTo>
                  <a:lnTo>
                    <a:pt x="7911579" y="12179"/>
                  </a:lnTo>
                  <a:close/>
                </a:path>
                <a:path w="7937500" h="4425315">
                  <a:moveTo>
                    <a:pt x="7937461" y="4398949"/>
                  </a:moveTo>
                  <a:lnTo>
                    <a:pt x="7923758" y="4398949"/>
                  </a:lnTo>
                  <a:lnTo>
                    <a:pt x="7911579" y="4411129"/>
                  </a:lnTo>
                  <a:lnTo>
                    <a:pt x="7937461" y="4411129"/>
                  </a:lnTo>
                  <a:lnTo>
                    <a:pt x="7937461" y="4398949"/>
                  </a:lnTo>
                  <a:close/>
                </a:path>
                <a:path w="7937500" h="4425315">
                  <a:moveTo>
                    <a:pt x="25882" y="12179"/>
                  </a:moveTo>
                  <a:lnTo>
                    <a:pt x="13703" y="25895"/>
                  </a:lnTo>
                  <a:lnTo>
                    <a:pt x="25882" y="25895"/>
                  </a:lnTo>
                  <a:lnTo>
                    <a:pt x="25882" y="12179"/>
                  </a:lnTo>
                  <a:close/>
                </a:path>
                <a:path w="7937500" h="4425315">
                  <a:moveTo>
                    <a:pt x="7911579" y="12179"/>
                  </a:moveTo>
                  <a:lnTo>
                    <a:pt x="25882" y="12179"/>
                  </a:lnTo>
                  <a:lnTo>
                    <a:pt x="25882" y="25895"/>
                  </a:lnTo>
                  <a:lnTo>
                    <a:pt x="7911579" y="25895"/>
                  </a:lnTo>
                  <a:lnTo>
                    <a:pt x="7911579" y="12179"/>
                  </a:lnTo>
                  <a:close/>
                </a:path>
                <a:path w="7937500" h="4425315">
                  <a:moveTo>
                    <a:pt x="7937461" y="12179"/>
                  </a:moveTo>
                  <a:lnTo>
                    <a:pt x="7911579" y="12179"/>
                  </a:lnTo>
                  <a:lnTo>
                    <a:pt x="7923758" y="25895"/>
                  </a:lnTo>
                  <a:lnTo>
                    <a:pt x="7937461" y="25895"/>
                  </a:lnTo>
                  <a:lnTo>
                    <a:pt x="7937461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BFS</a:t>
            </a:r>
            <a:r>
              <a:rPr spc="-65" dirty="0">
                <a:latin typeface="Tw Cen MT"/>
                <a:cs typeface="Tw Cen MT"/>
              </a:rPr>
              <a:t> </a:t>
            </a:r>
            <a:r>
              <a:rPr spc="-1625" dirty="0"/>
              <a:t>프로그램</a:t>
            </a:r>
            <a:r>
              <a:rPr spc="-1625" dirty="0">
                <a:latin typeface="Tw Cen MT"/>
                <a:cs typeface="Tw Cen MT"/>
              </a:rPr>
              <a:t>(</a:t>
            </a:r>
            <a:r>
              <a:rPr spc="-1625" dirty="0"/>
              <a:t>인접행렬</a:t>
            </a:r>
            <a:r>
              <a:rPr spc="-1625" dirty="0">
                <a:latin typeface="Tw Cen MT"/>
                <a:cs typeface="Tw Cen MT"/>
              </a:rPr>
              <a:t>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44282" y="2090554"/>
            <a:ext cx="4487545" cy="4291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int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main(void)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sz="1400" spc="-20" dirty="0">
                <a:latin typeface="Trebuchet MS"/>
                <a:cs typeface="Trebuchet MS"/>
              </a:rPr>
              <a:t>GraphType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*g;</a:t>
            </a:r>
            <a:endParaRPr sz="1400">
              <a:latin typeface="Trebuchet MS"/>
              <a:cs typeface="Trebuchet MS"/>
            </a:endParaRPr>
          </a:p>
          <a:p>
            <a:pPr marL="925830" marR="5080">
              <a:lnSpc>
                <a:spcPct val="100000"/>
              </a:lnSpc>
            </a:pPr>
            <a:r>
              <a:rPr sz="1400" dirty="0">
                <a:latin typeface="Trebuchet MS"/>
                <a:cs typeface="Trebuchet MS"/>
              </a:rPr>
              <a:t>g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 </a:t>
            </a:r>
            <a:r>
              <a:rPr sz="1400" spc="-20" dirty="0">
                <a:latin typeface="Trebuchet MS"/>
                <a:cs typeface="Trebuchet MS"/>
              </a:rPr>
              <a:t>(GraphType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*)malloc(sizeof(GraphType)); graph_init(g);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80"/>
              </a:lnSpc>
            </a:pPr>
            <a:r>
              <a:rPr sz="1400" dirty="0">
                <a:latin typeface="Trebuchet MS"/>
                <a:cs typeface="Trebuchet MS"/>
              </a:rPr>
              <a:t>for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(int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0;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i&lt;6;</a:t>
            </a:r>
            <a:r>
              <a:rPr sz="1400" spc="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i++)</a:t>
            </a:r>
            <a:endParaRPr sz="1400">
              <a:latin typeface="Trebuchet MS"/>
              <a:cs typeface="Trebuchet MS"/>
            </a:endParaRPr>
          </a:p>
          <a:p>
            <a:pPr marL="925830" marR="1128395" indent="913130">
              <a:lnSpc>
                <a:spcPct val="100000"/>
              </a:lnSpc>
            </a:pPr>
            <a:r>
              <a:rPr sz="1400" dirty="0">
                <a:latin typeface="Trebuchet MS"/>
                <a:cs typeface="Trebuchet MS"/>
              </a:rPr>
              <a:t>insert_vertex(g,</a:t>
            </a:r>
            <a:r>
              <a:rPr sz="1400" spc="-8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i); </a:t>
            </a:r>
            <a:r>
              <a:rPr sz="1400" dirty="0">
                <a:latin typeface="Trebuchet MS"/>
                <a:cs typeface="Trebuchet MS"/>
              </a:rPr>
              <a:t>insert_edge(g,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0,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2);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80"/>
              </a:lnSpc>
            </a:pPr>
            <a:r>
              <a:rPr sz="1400" dirty="0">
                <a:latin typeface="Trebuchet MS"/>
                <a:cs typeface="Trebuchet MS"/>
              </a:rPr>
              <a:t>insert_edge(g,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2,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1);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sz="1400" dirty="0">
                <a:latin typeface="Trebuchet MS"/>
                <a:cs typeface="Trebuchet MS"/>
              </a:rPr>
              <a:t>insert_edge(g,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2,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3);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sz="1400" dirty="0">
                <a:latin typeface="Trebuchet MS"/>
                <a:cs typeface="Trebuchet MS"/>
              </a:rPr>
              <a:t>insert_edge(g,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0,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4);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sz="1400" dirty="0">
                <a:latin typeface="Trebuchet MS"/>
                <a:cs typeface="Trebuchet MS"/>
              </a:rPr>
              <a:t>insert_edge(g,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4,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5);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sz="1400" dirty="0">
                <a:latin typeface="Trebuchet MS"/>
                <a:cs typeface="Trebuchet MS"/>
              </a:rPr>
              <a:t>insert_edge(g,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1,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5);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rebuchet MS"/>
              <a:cs typeface="Trebuchet MS"/>
            </a:endParaRPr>
          </a:p>
          <a:p>
            <a:pPr marL="925830" marR="145542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Trebuchet MS"/>
                <a:cs typeface="Trebuchet MS"/>
              </a:rPr>
              <a:t>printf("</a:t>
            </a:r>
            <a:r>
              <a:rPr sz="2100" baseline="3968" dirty="0">
                <a:latin typeface="Gulim"/>
                <a:cs typeface="Gulim"/>
              </a:rPr>
              <a:t>너비</a:t>
            </a:r>
            <a:r>
              <a:rPr sz="2100" spc="-112" baseline="3968" dirty="0">
                <a:latin typeface="Gulim"/>
                <a:cs typeface="Gulim"/>
              </a:rPr>
              <a:t> </a:t>
            </a:r>
            <a:r>
              <a:rPr sz="2100" baseline="3968" dirty="0">
                <a:latin typeface="Gulim"/>
                <a:cs typeface="Gulim"/>
              </a:rPr>
              <a:t>우선</a:t>
            </a:r>
            <a:r>
              <a:rPr sz="2100" spc="-89" baseline="3968" dirty="0">
                <a:latin typeface="Gulim"/>
                <a:cs typeface="Gulim"/>
              </a:rPr>
              <a:t> </a:t>
            </a:r>
            <a:r>
              <a:rPr sz="2100" spc="-15" baseline="3968" dirty="0">
                <a:latin typeface="Gulim"/>
                <a:cs typeface="Gulim"/>
              </a:rPr>
              <a:t>탐색</a:t>
            </a:r>
            <a:r>
              <a:rPr sz="1400" spc="-10" dirty="0">
                <a:latin typeface="Trebuchet MS"/>
                <a:cs typeface="Trebuchet MS"/>
              </a:rPr>
              <a:t>\n"); </a:t>
            </a:r>
            <a:r>
              <a:rPr sz="1400" dirty="0">
                <a:latin typeface="Trebuchet MS"/>
                <a:cs typeface="Trebuchet MS"/>
              </a:rPr>
              <a:t>bfs_mat(g,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0);</a:t>
            </a:r>
            <a:endParaRPr sz="1400">
              <a:latin typeface="Trebuchet MS"/>
              <a:cs typeface="Trebuchet MS"/>
            </a:endParaRPr>
          </a:p>
          <a:p>
            <a:pPr marL="925830" marR="2629535">
              <a:lnSpc>
                <a:spcPts val="1680"/>
              </a:lnSpc>
              <a:spcBef>
                <a:spcPts val="50"/>
              </a:spcBef>
            </a:pPr>
            <a:r>
              <a:rPr sz="1400" spc="-10" dirty="0">
                <a:latin typeface="Trebuchet MS"/>
                <a:cs typeface="Trebuchet MS"/>
              </a:rPr>
              <a:t>printf("\n"); free(g); </a:t>
            </a:r>
            <a:r>
              <a:rPr sz="1400" dirty="0">
                <a:latin typeface="Trebuchet MS"/>
                <a:cs typeface="Trebuchet MS"/>
              </a:rPr>
              <a:t>return</a:t>
            </a:r>
            <a:r>
              <a:rPr sz="1400" spc="-25" dirty="0">
                <a:latin typeface="Trebuchet MS"/>
                <a:cs typeface="Trebuchet MS"/>
              </a:rPr>
              <a:t> 0;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20"/>
              </a:lnSpc>
            </a:pPr>
            <a:r>
              <a:rPr sz="1400" spc="-50" dirty="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45" dirty="0"/>
              <a:t>실행결과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71625" y="2281720"/>
            <a:ext cx="7937500" cy="1366520"/>
            <a:chOff x="1371625" y="2281720"/>
            <a:chExt cx="7937500" cy="1366520"/>
          </a:xfrm>
        </p:grpSpPr>
        <p:sp>
          <p:nvSpPr>
            <p:cNvPr id="4" name="object 4"/>
            <p:cNvSpPr/>
            <p:nvPr/>
          </p:nvSpPr>
          <p:spPr>
            <a:xfrm>
              <a:off x="1383804" y="2293912"/>
              <a:ext cx="7912100" cy="1340485"/>
            </a:xfrm>
            <a:custGeom>
              <a:avLst/>
              <a:gdLst/>
              <a:ahLst/>
              <a:cxnLst/>
              <a:rect l="l" t="t" r="r" b="b"/>
              <a:pathLst>
                <a:path w="7912100" h="1340485">
                  <a:moveTo>
                    <a:pt x="7911566" y="0"/>
                  </a:moveTo>
                  <a:lnTo>
                    <a:pt x="0" y="0"/>
                  </a:lnTo>
                  <a:lnTo>
                    <a:pt x="0" y="1340396"/>
                  </a:lnTo>
                  <a:lnTo>
                    <a:pt x="7911566" y="1340396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71625" y="2281720"/>
              <a:ext cx="7937500" cy="1366520"/>
            </a:xfrm>
            <a:custGeom>
              <a:avLst/>
              <a:gdLst/>
              <a:ahLst/>
              <a:cxnLst/>
              <a:rect l="l" t="t" r="r" b="b"/>
              <a:pathLst>
                <a:path w="7937500" h="1366520">
                  <a:moveTo>
                    <a:pt x="7937449" y="0"/>
                  </a:moveTo>
                  <a:lnTo>
                    <a:pt x="0" y="0"/>
                  </a:lnTo>
                  <a:lnTo>
                    <a:pt x="0" y="1366304"/>
                  </a:lnTo>
                  <a:lnTo>
                    <a:pt x="7937449" y="1366304"/>
                  </a:lnTo>
                  <a:lnTo>
                    <a:pt x="7937449" y="1352588"/>
                  </a:lnTo>
                  <a:lnTo>
                    <a:pt x="25882" y="1352588"/>
                  </a:lnTo>
                  <a:lnTo>
                    <a:pt x="12179" y="1340408"/>
                  </a:lnTo>
                  <a:lnTo>
                    <a:pt x="25882" y="1340408"/>
                  </a:lnTo>
                  <a:lnTo>
                    <a:pt x="25882" y="24371"/>
                  </a:lnTo>
                  <a:lnTo>
                    <a:pt x="12179" y="24371"/>
                  </a:lnTo>
                  <a:lnTo>
                    <a:pt x="25882" y="12191"/>
                  </a:lnTo>
                  <a:lnTo>
                    <a:pt x="7937449" y="12191"/>
                  </a:lnTo>
                  <a:lnTo>
                    <a:pt x="7937449" y="0"/>
                  </a:lnTo>
                  <a:close/>
                </a:path>
                <a:path w="7937500" h="1366520">
                  <a:moveTo>
                    <a:pt x="25882" y="1340408"/>
                  </a:moveTo>
                  <a:lnTo>
                    <a:pt x="12179" y="1340408"/>
                  </a:lnTo>
                  <a:lnTo>
                    <a:pt x="25882" y="1352588"/>
                  </a:lnTo>
                  <a:lnTo>
                    <a:pt x="25882" y="1340408"/>
                  </a:lnTo>
                  <a:close/>
                </a:path>
                <a:path w="7937500" h="1366520">
                  <a:moveTo>
                    <a:pt x="7911566" y="1340408"/>
                  </a:moveTo>
                  <a:lnTo>
                    <a:pt x="25882" y="1340408"/>
                  </a:lnTo>
                  <a:lnTo>
                    <a:pt x="25882" y="1352588"/>
                  </a:lnTo>
                  <a:lnTo>
                    <a:pt x="7911566" y="1352588"/>
                  </a:lnTo>
                  <a:lnTo>
                    <a:pt x="7911566" y="1340408"/>
                  </a:lnTo>
                  <a:close/>
                </a:path>
                <a:path w="7937500" h="1366520">
                  <a:moveTo>
                    <a:pt x="7911566" y="12191"/>
                  </a:moveTo>
                  <a:lnTo>
                    <a:pt x="7911566" y="1352588"/>
                  </a:lnTo>
                  <a:lnTo>
                    <a:pt x="7923745" y="1340408"/>
                  </a:lnTo>
                  <a:lnTo>
                    <a:pt x="7937449" y="1340408"/>
                  </a:lnTo>
                  <a:lnTo>
                    <a:pt x="7937449" y="24371"/>
                  </a:lnTo>
                  <a:lnTo>
                    <a:pt x="7923745" y="24371"/>
                  </a:lnTo>
                  <a:lnTo>
                    <a:pt x="7911566" y="12191"/>
                  </a:lnTo>
                  <a:close/>
                </a:path>
                <a:path w="7937500" h="1366520">
                  <a:moveTo>
                    <a:pt x="7937449" y="1340408"/>
                  </a:moveTo>
                  <a:lnTo>
                    <a:pt x="7923745" y="1340408"/>
                  </a:lnTo>
                  <a:lnTo>
                    <a:pt x="7911566" y="1352588"/>
                  </a:lnTo>
                  <a:lnTo>
                    <a:pt x="7937449" y="1352588"/>
                  </a:lnTo>
                  <a:lnTo>
                    <a:pt x="7937449" y="1340408"/>
                  </a:lnTo>
                  <a:close/>
                </a:path>
                <a:path w="7937500" h="1366520">
                  <a:moveTo>
                    <a:pt x="25882" y="12191"/>
                  </a:moveTo>
                  <a:lnTo>
                    <a:pt x="12179" y="24371"/>
                  </a:lnTo>
                  <a:lnTo>
                    <a:pt x="25882" y="24371"/>
                  </a:lnTo>
                  <a:lnTo>
                    <a:pt x="25882" y="12191"/>
                  </a:lnTo>
                  <a:close/>
                </a:path>
                <a:path w="7937500" h="1366520">
                  <a:moveTo>
                    <a:pt x="7911566" y="12191"/>
                  </a:moveTo>
                  <a:lnTo>
                    <a:pt x="25882" y="12191"/>
                  </a:lnTo>
                  <a:lnTo>
                    <a:pt x="25882" y="24371"/>
                  </a:lnTo>
                  <a:lnTo>
                    <a:pt x="7911566" y="24371"/>
                  </a:lnTo>
                  <a:lnTo>
                    <a:pt x="7911566" y="12191"/>
                  </a:lnTo>
                  <a:close/>
                </a:path>
                <a:path w="7937500" h="1366520">
                  <a:moveTo>
                    <a:pt x="7937449" y="12191"/>
                  </a:moveTo>
                  <a:lnTo>
                    <a:pt x="7911566" y="12191"/>
                  </a:lnTo>
                  <a:lnTo>
                    <a:pt x="7923745" y="24371"/>
                  </a:lnTo>
                  <a:lnTo>
                    <a:pt x="7937449" y="24371"/>
                  </a:lnTo>
                  <a:lnTo>
                    <a:pt x="7937449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62443" y="2242940"/>
            <a:ext cx="4640580" cy="56769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400" dirty="0">
                <a:solidFill>
                  <a:srgbClr val="FFFFFF"/>
                </a:solidFill>
                <a:latin typeface="Gulim"/>
                <a:cs typeface="Gulim"/>
              </a:rPr>
              <a:t>너비</a:t>
            </a:r>
            <a:r>
              <a:rPr sz="1400" spc="-50" dirty="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FFFFFF"/>
                </a:solidFill>
                <a:latin typeface="Gulim"/>
                <a:cs typeface="Gulim"/>
              </a:rPr>
              <a:t>우선</a:t>
            </a:r>
            <a:r>
              <a:rPr sz="1400" spc="-60" dirty="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Gulim"/>
                <a:cs typeface="Gulim"/>
              </a:rPr>
              <a:t>탐색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sz="1400" spc="4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aseline="3968" dirty="0">
                <a:solidFill>
                  <a:srgbClr val="FFFFFF"/>
                </a:solidFill>
                <a:latin typeface="Gulim"/>
                <a:cs typeface="Gulim"/>
              </a:rPr>
              <a:t>방문</a:t>
            </a:r>
            <a:r>
              <a:rPr sz="2100" spc="-82" baseline="3968" dirty="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-&gt; 2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aseline="3968" dirty="0">
                <a:solidFill>
                  <a:srgbClr val="FFFFFF"/>
                </a:solidFill>
                <a:latin typeface="Gulim"/>
                <a:cs typeface="Gulim"/>
              </a:rPr>
              <a:t>방문</a:t>
            </a:r>
            <a:r>
              <a:rPr sz="2100" spc="-82" baseline="3968" dirty="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-&gt; 4 </a:t>
            </a:r>
            <a:r>
              <a:rPr sz="2100" baseline="3968" dirty="0">
                <a:solidFill>
                  <a:srgbClr val="FFFFFF"/>
                </a:solidFill>
                <a:latin typeface="Gulim"/>
                <a:cs typeface="Gulim"/>
              </a:rPr>
              <a:t>방문</a:t>
            </a:r>
            <a:r>
              <a:rPr sz="2100" spc="-97" baseline="3968" dirty="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-&gt; 1</a:t>
            </a: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aseline="3968" dirty="0">
                <a:solidFill>
                  <a:srgbClr val="FFFFFF"/>
                </a:solidFill>
                <a:latin typeface="Gulim"/>
                <a:cs typeface="Gulim"/>
              </a:rPr>
              <a:t>방문</a:t>
            </a:r>
            <a:r>
              <a:rPr sz="2100" spc="-82" baseline="3968" dirty="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-&gt;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3 </a:t>
            </a:r>
            <a:r>
              <a:rPr sz="2100" baseline="3968" dirty="0">
                <a:solidFill>
                  <a:srgbClr val="FFFFFF"/>
                </a:solidFill>
                <a:latin typeface="Gulim"/>
                <a:cs typeface="Gulim"/>
              </a:rPr>
              <a:t>방문</a:t>
            </a:r>
            <a:r>
              <a:rPr sz="2100" spc="-82" baseline="3968" dirty="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-&gt;</a:t>
            </a:r>
            <a:r>
              <a:rPr sz="1400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5 </a:t>
            </a:r>
            <a:r>
              <a:rPr sz="2100" baseline="3968" dirty="0">
                <a:solidFill>
                  <a:srgbClr val="FFFFFF"/>
                </a:solidFill>
                <a:latin typeface="Gulim"/>
                <a:cs typeface="Gulim"/>
              </a:rPr>
              <a:t>방문</a:t>
            </a:r>
            <a:r>
              <a:rPr sz="2100" spc="-82" baseline="3968" dirty="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sz="140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1400" spc="-50" dirty="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BFS</a:t>
            </a:r>
            <a:r>
              <a:rPr spc="-65" dirty="0">
                <a:latin typeface="Tw Cen MT"/>
                <a:cs typeface="Tw Cen MT"/>
              </a:rPr>
              <a:t> </a:t>
            </a:r>
            <a:r>
              <a:rPr spc="-1775" dirty="0"/>
              <a:t>가상실습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250"/>
              </a:spcBef>
              <a:buClr>
                <a:srgbClr val="DD8046"/>
              </a:buClr>
              <a:buSzPct val="58333"/>
              <a:buFont typeface="Segoe UI Symbol"/>
              <a:buChar char="□"/>
              <a:tabLst>
                <a:tab pos="332105" algn="l"/>
              </a:tabLst>
            </a:pPr>
            <a:r>
              <a:rPr spc="-20" dirty="0"/>
              <a:t>BFS</a:t>
            </a:r>
            <a:r>
              <a:rPr spc="-20" dirty="0">
                <a:latin typeface="Gulim"/>
                <a:cs typeface="Gulim"/>
              </a:rPr>
              <a:t>가상실습을</a:t>
            </a:r>
            <a:r>
              <a:rPr spc="-125" dirty="0">
                <a:latin typeface="Gulim"/>
                <a:cs typeface="Gulim"/>
              </a:rPr>
              <a:t> </a:t>
            </a:r>
            <a:r>
              <a:rPr spc="-20" dirty="0"/>
              <a:t>27-</a:t>
            </a:r>
            <a:r>
              <a:rPr spc="-10" dirty="0"/>
              <a:t>&gt;BfsDfs</a:t>
            </a:r>
            <a:r>
              <a:rPr spc="-10" dirty="0">
                <a:latin typeface="Gulim"/>
                <a:cs typeface="Gulim"/>
              </a:rPr>
              <a:t>로</a:t>
            </a:r>
            <a:r>
              <a:rPr spc="-135" dirty="0">
                <a:latin typeface="Gulim"/>
                <a:cs typeface="Gulim"/>
              </a:rPr>
              <a:t> </a:t>
            </a:r>
            <a:r>
              <a:rPr spc="-25" dirty="0">
                <a:latin typeface="Gulim"/>
                <a:cs typeface="Gulim"/>
              </a:rPr>
              <a:t>알아봄</a:t>
            </a:r>
          </a:p>
          <a:p>
            <a:pPr marL="4643120">
              <a:lnSpc>
                <a:spcPct val="100000"/>
              </a:lnSpc>
              <a:spcBef>
                <a:spcPts val="680"/>
              </a:spcBef>
            </a:pPr>
            <a:r>
              <a:rPr sz="1400" dirty="0">
                <a:latin typeface="Gulim"/>
                <a:cs typeface="Gulim"/>
              </a:rPr>
              <a:t>연산의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종류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/>
              <a:t>:</a:t>
            </a:r>
            <a:r>
              <a:rPr sz="1400" spc="-15" dirty="0"/>
              <a:t> </a:t>
            </a:r>
            <a:r>
              <a:rPr sz="1400" spc="-25" dirty="0"/>
              <a:t>BFS</a:t>
            </a:r>
            <a:endParaRPr sz="1400">
              <a:latin typeface="Gulim"/>
              <a:cs typeface="Gulim"/>
            </a:endParaRPr>
          </a:p>
          <a:p>
            <a:pPr marL="4643120">
              <a:lnSpc>
                <a:spcPct val="100000"/>
              </a:lnSpc>
              <a:spcBef>
                <a:spcPts val="695"/>
              </a:spcBef>
            </a:pPr>
            <a:r>
              <a:rPr sz="1400" dirty="0">
                <a:latin typeface="Gulim"/>
                <a:cs typeface="Gulim"/>
              </a:rPr>
              <a:t>정점의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개수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/>
              <a:t>:</a:t>
            </a:r>
            <a:r>
              <a:rPr sz="1400" spc="-15" dirty="0"/>
              <a:t> </a:t>
            </a:r>
            <a:r>
              <a:rPr sz="1400" spc="-50" dirty="0"/>
              <a:t>5</a:t>
            </a:r>
            <a:endParaRPr sz="1400">
              <a:latin typeface="Gulim"/>
              <a:cs typeface="Gulim"/>
            </a:endParaRPr>
          </a:p>
          <a:p>
            <a:pPr marL="4846955" lvl="1" indent="-203835">
              <a:lnSpc>
                <a:spcPct val="100000"/>
              </a:lnSpc>
              <a:spcBef>
                <a:spcPts val="69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sz="1400" dirty="0">
                <a:latin typeface="Gulim"/>
                <a:cs typeface="Gulim"/>
              </a:rPr>
              <a:t>마우스를</a:t>
            </a:r>
            <a:r>
              <a:rPr sz="1400" spc="-10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더블클릭하면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정점이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spc="-10" dirty="0">
                <a:latin typeface="Gulim"/>
                <a:cs typeface="Gulim"/>
              </a:rPr>
              <a:t>만들어진다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  <a:p>
            <a:pPr marL="4846955" lvl="1" indent="-203835">
              <a:lnSpc>
                <a:spcPct val="100000"/>
              </a:lnSpc>
              <a:spcBef>
                <a:spcPts val="70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sz="1400" dirty="0">
                <a:latin typeface="Gulim"/>
                <a:cs typeface="Gulim"/>
              </a:rPr>
              <a:t>마우스로</a:t>
            </a:r>
            <a:r>
              <a:rPr sz="1400" spc="-10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정점들을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드래그하여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간선을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만든다</a:t>
            </a:r>
            <a:endParaRPr sz="1400">
              <a:latin typeface="Gulim"/>
              <a:cs typeface="Gulim"/>
            </a:endParaRPr>
          </a:p>
          <a:p>
            <a:pPr marL="4643120" marR="5080" lvl="1" indent="203835">
              <a:lnSpc>
                <a:spcPct val="100000"/>
              </a:lnSpc>
              <a:spcBef>
                <a:spcPts val="695"/>
              </a:spcBef>
              <a:buFont typeface="Arial"/>
              <a:buAutoNum type="arabicParenR"/>
              <a:tabLst>
                <a:tab pos="4846955" algn="l"/>
              </a:tabLst>
            </a:pPr>
            <a:r>
              <a:rPr sz="1400" dirty="0">
                <a:latin typeface="Gulim"/>
                <a:cs typeface="Gulim"/>
              </a:rPr>
              <a:t>정점을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이동하고자</a:t>
            </a:r>
            <a:r>
              <a:rPr sz="1400" spc="-11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하는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경우에는</a:t>
            </a:r>
            <a:r>
              <a:rPr sz="1400" spc="-90" dirty="0">
                <a:latin typeface="Gulim"/>
                <a:cs typeface="Gulim"/>
              </a:rPr>
              <a:t> </a:t>
            </a:r>
            <a:r>
              <a:rPr sz="1400" dirty="0">
                <a:latin typeface="Arial"/>
                <a:cs typeface="Arial"/>
              </a:rPr>
              <a:t>ctrl</a:t>
            </a:r>
            <a:r>
              <a:rPr sz="1400" dirty="0">
                <a:latin typeface="Gulim"/>
                <a:cs typeface="Gulim"/>
              </a:rPr>
              <a:t>키를</a:t>
            </a:r>
            <a:r>
              <a:rPr sz="1400" spc="-110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누른 </a:t>
            </a:r>
            <a:r>
              <a:rPr sz="1400" dirty="0">
                <a:latin typeface="Gulim"/>
                <a:cs typeface="Gulim"/>
              </a:rPr>
              <a:t>채로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마우스로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원하는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정점을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spc="-10" dirty="0">
                <a:latin typeface="Gulim"/>
                <a:cs typeface="Gulim"/>
              </a:rPr>
              <a:t>드래그한다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348" y="2389873"/>
            <a:ext cx="4347781" cy="331139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68563" y="800675"/>
            <a:ext cx="38138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50" dirty="0">
                <a:latin typeface="Tw Cen MT"/>
                <a:cs typeface="Tw Cen MT"/>
              </a:rPr>
              <a:t>bfs_change.c</a:t>
            </a:r>
            <a:r>
              <a:rPr sz="3200" spc="-150" dirty="0"/>
              <a:t>로</a:t>
            </a:r>
            <a:r>
              <a:rPr sz="3200" spc="-160" dirty="0"/>
              <a:t> </a:t>
            </a:r>
            <a:r>
              <a:rPr sz="3200" spc="-975" dirty="0"/>
              <a:t>설명합니다</a:t>
            </a:r>
            <a:r>
              <a:rPr sz="3200" spc="-975" dirty="0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826374"/>
            <a:ext cx="5855970" cy="75374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800" dirty="0">
                <a:latin typeface="Gulim"/>
                <a:cs typeface="Gulim"/>
              </a:rPr>
              <a:t>학생</a:t>
            </a:r>
            <a:r>
              <a:rPr sz="1800" dirty="0">
                <a:latin typeface="Arial"/>
                <a:cs typeface="Arial"/>
              </a:rPr>
              <a:t>&gt;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bfs.c</a:t>
            </a:r>
            <a:r>
              <a:rPr sz="1800" spc="-10" dirty="0">
                <a:latin typeface="Gulim"/>
                <a:cs typeface="Gulim"/>
              </a:rPr>
              <a:t>를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왜</a:t>
            </a:r>
            <a:r>
              <a:rPr sz="1800" spc="-12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변경하시나요</a:t>
            </a:r>
            <a:r>
              <a:rPr sz="1800" spc="-10" dirty="0"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800" dirty="0">
                <a:latin typeface="Gulim"/>
                <a:cs typeface="Gulim"/>
              </a:rPr>
              <a:t>교수</a:t>
            </a:r>
            <a:r>
              <a:rPr sz="1800" dirty="0">
                <a:latin typeface="Arial"/>
                <a:cs typeface="Arial"/>
              </a:rPr>
              <a:t>&gt;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Gulim"/>
                <a:cs typeface="Gulim"/>
              </a:rPr>
              <a:t>코드</a:t>
            </a:r>
            <a:r>
              <a:rPr sz="1800" spc="-130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이해를</a:t>
            </a:r>
            <a:r>
              <a:rPr sz="1800" spc="-135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높이기</a:t>
            </a:r>
            <a:r>
              <a:rPr sz="1800" spc="-140" dirty="0">
                <a:latin typeface="Gulim"/>
                <a:cs typeface="Gulim"/>
              </a:rPr>
              <a:t> </a:t>
            </a:r>
            <a:r>
              <a:rPr sz="1800" dirty="0">
                <a:latin typeface="Gulim"/>
                <a:cs typeface="Gulim"/>
              </a:rPr>
              <a:t>위해</a:t>
            </a:r>
            <a:r>
              <a:rPr sz="1800" spc="-135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인접행렬도</a:t>
            </a:r>
            <a:r>
              <a:rPr sz="1800" spc="-135" dirty="0">
                <a:latin typeface="Gulim"/>
                <a:cs typeface="Gulim"/>
              </a:rPr>
              <a:t> </a:t>
            </a:r>
            <a:r>
              <a:rPr sz="1800" spc="-10" dirty="0">
                <a:latin typeface="Gulim"/>
                <a:cs typeface="Gulim"/>
              </a:rPr>
              <a:t>출력했습니다</a:t>
            </a:r>
            <a:r>
              <a:rPr sz="1800" spc="-1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5039" y="2744774"/>
            <a:ext cx="4643120" cy="20669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">
              <a:lnSpc>
                <a:spcPts val="3840"/>
              </a:lnSpc>
              <a:spcBef>
                <a:spcPts val="100"/>
              </a:spcBef>
            </a:pPr>
            <a:r>
              <a:rPr sz="3200" spc="-675" dirty="0"/>
              <a:t>학생</a:t>
            </a:r>
            <a:r>
              <a:rPr sz="3200" spc="-675" dirty="0">
                <a:latin typeface="Tw Cen MT"/>
                <a:cs typeface="Tw Cen MT"/>
              </a:rPr>
              <a:t>&gt;</a:t>
            </a:r>
            <a:r>
              <a:rPr sz="3200" spc="20" dirty="0">
                <a:latin typeface="Tw Cen MT"/>
                <a:cs typeface="Tw Cen MT"/>
              </a:rPr>
              <a:t> </a:t>
            </a:r>
            <a:r>
              <a:rPr sz="3200" spc="-1260" dirty="0"/>
              <a:t>교수님</a:t>
            </a:r>
            <a:r>
              <a:rPr sz="3200" spc="-1260" dirty="0">
                <a:latin typeface="Tw Cen MT"/>
                <a:cs typeface="Tw Cen MT"/>
              </a:rPr>
              <a:t>~</a:t>
            </a:r>
            <a:r>
              <a:rPr sz="3200" spc="10" dirty="0">
                <a:latin typeface="Tw Cen MT"/>
                <a:cs typeface="Tw Cen MT"/>
              </a:rPr>
              <a:t> </a:t>
            </a:r>
            <a:r>
              <a:rPr sz="3200" spc="-1310" dirty="0"/>
              <a:t>어려워요</a:t>
            </a:r>
            <a:r>
              <a:rPr sz="3200" spc="-1310" dirty="0">
                <a:latin typeface="Tw Cen MT"/>
                <a:cs typeface="Tw Cen MT"/>
              </a:rPr>
              <a:t>.</a:t>
            </a:r>
            <a:r>
              <a:rPr sz="3200" spc="30" dirty="0">
                <a:latin typeface="Tw Cen MT"/>
                <a:cs typeface="Tw Cen MT"/>
              </a:rPr>
              <a:t> </a:t>
            </a:r>
            <a:r>
              <a:rPr sz="3200" spc="-1895" dirty="0"/>
              <a:t>코드</a:t>
            </a:r>
            <a:r>
              <a:rPr sz="3200" spc="-160" dirty="0"/>
              <a:t> </a:t>
            </a:r>
            <a:r>
              <a:rPr sz="3200" spc="-1445" dirty="0"/>
              <a:t>한줄</a:t>
            </a:r>
            <a:r>
              <a:rPr sz="3200" spc="-170" dirty="0"/>
              <a:t> </a:t>
            </a:r>
            <a:r>
              <a:rPr sz="3200" spc="-675" dirty="0"/>
              <a:t>씩</a:t>
            </a:r>
            <a:r>
              <a:rPr sz="3200" spc="-160" dirty="0"/>
              <a:t> </a:t>
            </a:r>
            <a:r>
              <a:rPr sz="3200" spc="-1185" dirty="0"/>
              <a:t>설명해주세요</a:t>
            </a:r>
            <a:r>
              <a:rPr sz="3200" spc="-1185" dirty="0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138430">
              <a:lnSpc>
                <a:spcPts val="3840"/>
              </a:lnSpc>
            </a:pPr>
            <a:r>
              <a:rPr sz="3200" spc="-1270" dirty="0"/>
              <a:t>교수</a:t>
            </a:r>
            <a:r>
              <a:rPr sz="3200" spc="-1270" dirty="0">
                <a:latin typeface="Tw Cen MT"/>
                <a:cs typeface="Tw Cen MT"/>
              </a:rPr>
              <a:t>&gt;</a:t>
            </a:r>
            <a:r>
              <a:rPr sz="3200" spc="20" dirty="0">
                <a:latin typeface="Tw Cen MT"/>
                <a:cs typeface="Tw Cen MT"/>
              </a:rPr>
              <a:t> </a:t>
            </a:r>
            <a:r>
              <a:rPr sz="3200" spc="-1714" dirty="0"/>
              <a:t>코드만으로</a:t>
            </a:r>
            <a:r>
              <a:rPr sz="3200" spc="-145" dirty="0"/>
              <a:t> </a:t>
            </a:r>
            <a:r>
              <a:rPr sz="3200" spc="-1445" dirty="0"/>
              <a:t>한줄</a:t>
            </a:r>
            <a:r>
              <a:rPr sz="3200" spc="-165" dirty="0"/>
              <a:t> </a:t>
            </a:r>
            <a:r>
              <a:rPr sz="3200" spc="-675" dirty="0"/>
              <a:t>씩</a:t>
            </a:r>
            <a:r>
              <a:rPr sz="3200" spc="-175" dirty="0"/>
              <a:t> </a:t>
            </a:r>
            <a:r>
              <a:rPr sz="3200" spc="-1260" dirty="0"/>
              <a:t>설명이</a:t>
            </a:r>
            <a:r>
              <a:rPr sz="3200" spc="-175" dirty="0"/>
              <a:t> </a:t>
            </a:r>
            <a:r>
              <a:rPr sz="3200" spc="-1300" dirty="0"/>
              <a:t>어려움</a:t>
            </a:r>
            <a:r>
              <a:rPr sz="3200" spc="-1300" dirty="0">
                <a:latin typeface="Tw Cen MT"/>
                <a:cs typeface="Tw Cen MT"/>
              </a:rPr>
              <a:t>.</a:t>
            </a:r>
            <a:r>
              <a:rPr sz="3200" spc="15" dirty="0">
                <a:latin typeface="Tw Cen MT"/>
                <a:cs typeface="Tw Cen MT"/>
              </a:rPr>
              <a:t> </a:t>
            </a:r>
            <a:r>
              <a:rPr sz="3200" spc="-1670" dirty="0"/>
              <a:t>자료구조</a:t>
            </a:r>
            <a:r>
              <a:rPr sz="3200" spc="-150" dirty="0"/>
              <a:t> </a:t>
            </a:r>
            <a:r>
              <a:rPr sz="3200" spc="-1370" dirty="0"/>
              <a:t>그림과</a:t>
            </a:r>
            <a:r>
              <a:rPr sz="3200" spc="-175" dirty="0"/>
              <a:t> </a:t>
            </a:r>
            <a:r>
              <a:rPr sz="3200" spc="-350" dirty="0">
                <a:latin typeface="Tw Cen MT"/>
                <a:cs typeface="Tw Cen MT"/>
              </a:rPr>
              <a:t>VS</a:t>
            </a:r>
            <a:r>
              <a:rPr sz="3200" spc="-350" dirty="0"/>
              <a:t>같이</a:t>
            </a:r>
            <a:r>
              <a:rPr sz="3200" spc="-350" dirty="0">
                <a:latin typeface="Tw Cen MT"/>
                <a:cs typeface="Tw Cen MT"/>
              </a:rPr>
              <a:t>(1/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828803"/>
            <a:ext cx="5682615" cy="126682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795"/>
              </a:spcBef>
              <a:buAutoNum type="arabicPeriod"/>
              <a:tabLst>
                <a:tab pos="239395" algn="l"/>
              </a:tabLst>
            </a:pPr>
            <a:r>
              <a:rPr sz="1600" spc="-10" dirty="0">
                <a:latin typeface="Arial"/>
                <a:cs typeface="Arial"/>
              </a:rPr>
              <a:t>bfs_change.c</a:t>
            </a:r>
            <a:r>
              <a:rPr sz="1600" spc="-10" dirty="0">
                <a:latin typeface="Gulim"/>
                <a:cs typeface="Gulim"/>
              </a:rPr>
              <a:t>의</a:t>
            </a:r>
            <a:r>
              <a:rPr sz="1600" spc="-95" dirty="0">
                <a:latin typeface="Gulim"/>
                <a:cs typeface="Gulim"/>
              </a:rPr>
              <a:t> </a:t>
            </a:r>
            <a:r>
              <a:rPr sz="1600" spc="-30" dirty="0">
                <a:latin typeface="Arial"/>
                <a:cs typeface="Arial"/>
              </a:rPr>
              <a:t>118</a:t>
            </a:r>
            <a:r>
              <a:rPr sz="1600" spc="-30" dirty="0">
                <a:latin typeface="Gulim"/>
                <a:cs typeface="Gulim"/>
              </a:rPr>
              <a:t>번줄에</a:t>
            </a:r>
            <a:r>
              <a:rPr sz="1600" spc="-9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중단점</a:t>
            </a:r>
            <a:r>
              <a:rPr sz="1600" spc="-90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설정</a:t>
            </a:r>
            <a:endParaRPr sz="1600">
              <a:latin typeface="Gulim"/>
              <a:cs typeface="Gulim"/>
            </a:endParaRPr>
          </a:p>
          <a:p>
            <a:pPr marL="239395" indent="-226695">
              <a:lnSpc>
                <a:spcPct val="100000"/>
              </a:lnSpc>
              <a:spcBef>
                <a:spcPts val="695"/>
              </a:spcBef>
              <a:buFont typeface="Arial"/>
              <a:buAutoNum type="arabicPeriod"/>
              <a:tabLst>
                <a:tab pos="239395" algn="l"/>
              </a:tabLst>
            </a:pPr>
            <a:r>
              <a:rPr sz="1600" spc="-10" dirty="0">
                <a:latin typeface="Gulim"/>
                <a:cs typeface="Gulim"/>
              </a:rPr>
              <a:t>디버깅시작</a:t>
            </a:r>
            <a:endParaRPr sz="1600">
              <a:latin typeface="Gulim"/>
              <a:cs typeface="Gulim"/>
            </a:endParaRPr>
          </a:p>
          <a:p>
            <a:pPr marL="12700" marR="5080" indent="226695">
              <a:lnSpc>
                <a:spcPct val="100000"/>
              </a:lnSpc>
              <a:spcBef>
                <a:spcPts val="705"/>
              </a:spcBef>
              <a:buFont typeface="Arial"/>
              <a:buAutoNum type="arabicPeriod"/>
              <a:tabLst>
                <a:tab pos="239395" algn="l"/>
              </a:tabLst>
            </a:pPr>
            <a:r>
              <a:rPr sz="1600" dirty="0">
                <a:latin typeface="Gulim"/>
                <a:cs typeface="Gulim"/>
              </a:rPr>
              <a:t>중단점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도달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후</a:t>
            </a:r>
            <a:r>
              <a:rPr sz="1600" spc="-130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로컬창에서</a:t>
            </a:r>
            <a:r>
              <a:rPr sz="1600" spc="-95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front=0,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rear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=1,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queue[1]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0,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50" dirty="0">
                <a:latin typeface="Gulim"/>
                <a:cs typeface="Gulim"/>
              </a:rPr>
              <a:t>방 </a:t>
            </a:r>
            <a:r>
              <a:rPr sz="1600" dirty="0">
                <a:latin typeface="Gulim"/>
                <a:cs typeface="Gulim"/>
              </a:rPr>
              <a:t>문노드</a:t>
            </a:r>
            <a:r>
              <a:rPr sz="1600" spc="-135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printf</a:t>
            </a:r>
            <a:r>
              <a:rPr sz="1600" dirty="0">
                <a:latin typeface="Gulim"/>
                <a:cs typeface="Gulim"/>
              </a:rPr>
              <a:t>출력</a:t>
            </a:r>
            <a:r>
              <a:rPr sz="1600" spc="-13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그림</a:t>
            </a:r>
            <a:r>
              <a:rPr sz="1600" dirty="0">
                <a:latin typeface="Arial"/>
                <a:cs typeface="Arial"/>
              </a:rPr>
              <a:t>(a)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25" dirty="0">
                <a:latin typeface="Gulim"/>
                <a:cs typeface="Gulim"/>
              </a:rPr>
              <a:t>상태</a:t>
            </a:r>
            <a:endParaRPr sz="16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3156" y="5046294"/>
            <a:ext cx="2746298" cy="11256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40829" y="5001142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08710" y="5891984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22489" y="5185457"/>
            <a:ext cx="151765" cy="760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2</a:t>
            </a:r>
            <a:endParaRPr sz="18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800" spc="-50" dirty="0">
                <a:latin typeface="Tw Cen MT"/>
                <a:cs typeface="Tw Cen MT"/>
              </a:rPr>
              <a:t>3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36267" y="5001142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1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04162" y="5861262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72297" y="5275627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35177" y="1963381"/>
            <a:ext cx="2493581" cy="1626755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2026221" y="4135424"/>
            <a:ext cx="1951989" cy="1948180"/>
          </a:xfrm>
          <a:custGeom>
            <a:avLst/>
            <a:gdLst/>
            <a:ahLst/>
            <a:cxnLst/>
            <a:rect l="l" t="t" r="r" b="b"/>
            <a:pathLst>
              <a:path w="1951989" h="1948179">
                <a:moveTo>
                  <a:pt x="1951634" y="957554"/>
                </a:moveTo>
                <a:lnTo>
                  <a:pt x="1947075" y="881354"/>
                </a:lnTo>
                <a:lnTo>
                  <a:pt x="1944027" y="855954"/>
                </a:lnTo>
                <a:lnTo>
                  <a:pt x="1941461" y="841705"/>
                </a:lnTo>
                <a:lnTo>
                  <a:pt x="1941461" y="965708"/>
                </a:lnTo>
                <a:lnTo>
                  <a:pt x="1304137" y="965708"/>
                </a:lnTo>
                <a:lnTo>
                  <a:pt x="1303248" y="955040"/>
                </a:lnTo>
                <a:lnTo>
                  <a:pt x="1303121" y="936764"/>
                </a:lnTo>
                <a:lnTo>
                  <a:pt x="1300073" y="921537"/>
                </a:lnTo>
                <a:lnTo>
                  <a:pt x="1297025" y="904786"/>
                </a:lnTo>
                <a:lnTo>
                  <a:pt x="1295501" y="897140"/>
                </a:lnTo>
                <a:lnTo>
                  <a:pt x="1295501" y="971804"/>
                </a:lnTo>
                <a:lnTo>
                  <a:pt x="1293990" y="987031"/>
                </a:lnTo>
                <a:lnTo>
                  <a:pt x="1290942" y="1020546"/>
                </a:lnTo>
                <a:lnTo>
                  <a:pt x="1284846" y="1051001"/>
                </a:lnTo>
                <a:lnTo>
                  <a:pt x="1275715" y="1081468"/>
                </a:lnTo>
                <a:lnTo>
                  <a:pt x="1269631" y="1095184"/>
                </a:lnTo>
                <a:lnTo>
                  <a:pt x="1263535" y="1110411"/>
                </a:lnTo>
                <a:lnTo>
                  <a:pt x="1255928" y="1124115"/>
                </a:lnTo>
                <a:lnTo>
                  <a:pt x="1248321" y="1136307"/>
                </a:lnTo>
                <a:lnTo>
                  <a:pt x="1240701" y="1150010"/>
                </a:lnTo>
                <a:lnTo>
                  <a:pt x="1201127" y="1197229"/>
                </a:lnTo>
                <a:lnTo>
                  <a:pt x="1153934" y="1236827"/>
                </a:lnTo>
                <a:lnTo>
                  <a:pt x="1140231" y="1244447"/>
                </a:lnTo>
                <a:lnTo>
                  <a:pt x="1128052" y="1252067"/>
                </a:lnTo>
                <a:lnTo>
                  <a:pt x="1114348" y="1259687"/>
                </a:lnTo>
                <a:lnTo>
                  <a:pt x="1099134" y="1265770"/>
                </a:lnTo>
                <a:lnTo>
                  <a:pt x="1085430" y="1271866"/>
                </a:lnTo>
                <a:lnTo>
                  <a:pt x="1054989" y="1281010"/>
                </a:lnTo>
                <a:lnTo>
                  <a:pt x="1024534" y="1287094"/>
                </a:lnTo>
                <a:lnTo>
                  <a:pt x="992568" y="1290142"/>
                </a:lnTo>
                <a:lnTo>
                  <a:pt x="959078" y="1290142"/>
                </a:lnTo>
                <a:lnTo>
                  <a:pt x="910361" y="1284046"/>
                </a:lnTo>
                <a:lnTo>
                  <a:pt x="866216" y="1271866"/>
                </a:lnTo>
                <a:lnTo>
                  <a:pt x="809891" y="1244447"/>
                </a:lnTo>
                <a:lnTo>
                  <a:pt x="797712" y="1235316"/>
                </a:lnTo>
                <a:lnTo>
                  <a:pt x="784009" y="1227696"/>
                </a:lnTo>
                <a:lnTo>
                  <a:pt x="748995" y="1197229"/>
                </a:lnTo>
                <a:lnTo>
                  <a:pt x="710933" y="1150010"/>
                </a:lnTo>
                <a:lnTo>
                  <a:pt x="675919" y="1081468"/>
                </a:lnTo>
                <a:lnTo>
                  <a:pt x="666788" y="1051001"/>
                </a:lnTo>
                <a:lnTo>
                  <a:pt x="662216" y="1035773"/>
                </a:lnTo>
                <a:lnTo>
                  <a:pt x="659180" y="1019022"/>
                </a:lnTo>
                <a:lnTo>
                  <a:pt x="657656" y="1003782"/>
                </a:lnTo>
                <a:lnTo>
                  <a:pt x="656132" y="987031"/>
                </a:lnTo>
                <a:lnTo>
                  <a:pt x="656132" y="955040"/>
                </a:lnTo>
                <a:lnTo>
                  <a:pt x="662216" y="906297"/>
                </a:lnTo>
                <a:lnTo>
                  <a:pt x="675919" y="860602"/>
                </a:lnTo>
                <a:lnTo>
                  <a:pt x="694194" y="819480"/>
                </a:lnTo>
                <a:lnTo>
                  <a:pt x="729208" y="767689"/>
                </a:lnTo>
                <a:lnTo>
                  <a:pt x="771829" y="725043"/>
                </a:lnTo>
                <a:lnTo>
                  <a:pt x="797712" y="706767"/>
                </a:lnTo>
                <a:lnTo>
                  <a:pt x="809891" y="697623"/>
                </a:lnTo>
                <a:lnTo>
                  <a:pt x="823595" y="690016"/>
                </a:lnTo>
                <a:lnTo>
                  <a:pt x="837285" y="683920"/>
                </a:lnTo>
                <a:lnTo>
                  <a:pt x="850988" y="676300"/>
                </a:lnTo>
                <a:lnTo>
                  <a:pt x="866216" y="671728"/>
                </a:lnTo>
                <a:lnTo>
                  <a:pt x="881443" y="665645"/>
                </a:lnTo>
                <a:lnTo>
                  <a:pt x="895134" y="661073"/>
                </a:lnTo>
                <a:lnTo>
                  <a:pt x="911885" y="658025"/>
                </a:lnTo>
                <a:lnTo>
                  <a:pt x="927112" y="654977"/>
                </a:lnTo>
                <a:lnTo>
                  <a:pt x="959078" y="651929"/>
                </a:lnTo>
                <a:lnTo>
                  <a:pt x="992568" y="651929"/>
                </a:lnTo>
                <a:lnTo>
                  <a:pt x="1024534" y="654977"/>
                </a:lnTo>
                <a:lnTo>
                  <a:pt x="1054989" y="661073"/>
                </a:lnTo>
                <a:lnTo>
                  <a:pt x="1070203" y="665645"/>
                </a:lnTo>
                <a:lnTo>
                  <a:pt x="1085430" y="671728"/>
                </a:lnTo>
                <a:lnTo>
                  <a:pt x="1099134" y="676300"/>
                </a:lnTo>
                <a:lnTo>
                  <a:pt x="1114348" y="683920"/>
                </a:lnTo>
                <a:lnTo>
                  <a:pt x="1128052" y="690016"/>
                </a:lnTo>
                <a:lnTo>
                  <a:pt x="1141755" y="697623"/>
                </a:lnTo>
                <a:lnTo>
                  <a:pt x="1178293" y="725043"/>
                </a:lnTo>
                <a:lnTo>
                  <a:pt x="1222438" y="767689"/>
                </a:lnTo>
                <a:lnTo>
                  <a:pt x="1263535" y="833196"/>
                </a:lnTo>
                <a:lnTo>
                  <a:pt x="1280287" y="875842"/>
                </a:lnTo>
                <a:lnTo>
                  <a:pt x="1290942" y="923061"/>
                </a:lnTo>
                <a:lnTo>
                  <a:pt x="1295501" y="971804"/>
                </a:lnTo>
                <a:lnTo>
                  <a:pt x="1295501" y="897140"/>
                </a:lnTo>
                <a:lnTo>
                  <a:pt x="1284846" y="857567"/>
                </a:lnTo>
                <a:lnTo>
                  <a:pt x="1271155" y="828624"/>
                </a:lnTo>
                <a:lnTo>
                  <a:pt x="1265059" y="814908"/>
                </a:lnTo>
                <a:lnTo>
                  <a:pt x="1255928" y="801204"/>
                </a:lnTo>
                <a:lnTo>
                  <a:pt x="1248321" y="787501"/>
                </a:lnTo>
                <a:lnTo>
                  <a:pt x="1239189" y="773785"/>
                </a:lnTo>
                <a:lnTo>
                  <a:pt x="1228521" y="761606"/>
                </a:lnTo>
                <a:lnTo>
                  <a:pt x="1210881" y="742708"/>
                </a:lnTo>
                <a:lnTo>
                  <a:pt x="1657870" y="295478"/>
                </a:lnTo>
                <a:lnTo>
                  <a:pt x="1659356" y="297154"/>
                </a:lnTo>
                <a:lnTo>
                  <a:pt x="1691322" y="322554"/>
                </a:lnTo>
                <a:lnTo>
                  <a:pt x="1721764" y="360654"/>
                </a:lnTo>
                <a:lnTo>
                  <a:pt x="1750695" y="398754"/>
                </a:lnTo>
                <a:lnTo>
                  <a:pt x="1802447" y="474954"/>
                </a:lnTo>
                <a:lnTo>
                  <a:pt x="1825282" y="513054"/>
                </a:lnTo>
                <a:lnTo>
                  <a:pt x="1846592" y="563854"/>
                </a:lnTo>
                <a:lnTo>
                  <a:pt x="1866392" y="601954"/>
                </a:lnTo>
                <a:lnTo>
                  <a:pt x="1883130" y="640054"/>
                </a:lnTo>
                <a:lnTo>
                  <a:pt x="1898357" y="690854"/>
                </a:lnTo>
                <a:lnTo>
                  <a:pt x="1912061" y="741654"/>
                </a:lnTo>
                <a:lnTo>
                  <a:pt x="1916620" y="754354"/>
                </a:lnTo>
                <a:lnTo>
                  <a:pt x="1922716" y="779754"/>
                </a:lnTo>
                <a:lnTo>
                  <a:pt x="1927275" y="805154"/>
                </a:lnTo>
                <a:lnTo>
                  <a:pt x="1939455" y="906754"/>
                </a:lnTo>
                <a:lnTo>
                  <a:pt x="1940979" y="932154"/>
                </a:lnTo>
                <a:lnTo>
                  <a:pt x="1940979" y="957554"/>
                </a:lnTo>
                <a:lnTo>
                  <a:pt x="1941461" y="965708"/>
                </a:lnTo>
                <a:lnTo>
                  <a:pt x="1941461" y="841705"/>
                </a:lnTo>
                <a:lnTo>
                  <a:pt x="1939455" y="830554"/>
                </a:lnTo>
                <a:lnTo>
                  <a:pt x="1936419" y="805154"/>
                </a:lnTo>
                <a:lnTo>
                  <a:pt x="1931847" y="779754"/>
                </a:lnTo>
                <a:lnTo>
                  <a:pt x="1925764" y="754354"/>
                </a:lnTo>
                <a:lnTo>
                  <a:pt x="1921192" y="728954"/>
                </a:lnTo>
                <a:lnTo>
                  <a:pt x="1907489" y="690854"/>
                </a:lnTo>
                <a:lnTo>
                  <a:pt x="1892261" y="640054"/>
                </a:lnTo>
                <a:lnTo>
                  <a:pt x="1873999" y="601954"/>
                </a:lnTo>
                <a:lnTo>
                  <a:pt x="1855736" y="551154"/>
                </a:lnTo>
                <a:lnTo>
                  <a:pt x="1810067" y="474954"/>
                </a:lnTo>
                <a:lnTo>
                  <a:pt x="1758302" y="398754"/>
                </a:lnTo>
                <a:lnTo>
                  <a:pt x="1697405" y="322554"/>
                </a:lnTo>
                <a:lnTo>
                  <a:pt x="1665439" y="284454"/>
                </a:lnTo>
                <a:lnTo>
                  <a:pt x="1631950" y="259054"/>
                </a:lnTo>
                <a:lnTo>
                  <a:pt x="1596936" y="220954"/>
                </a:lnTo>
                <a:lnTo>
                  <a:pt x="1520812" y="170154"/>
                </a:lnTo>
                <a:lnTo>
                  <a:pt x="1481239" y="144754"/>
                </a:lnTo>
                <a:lnTo>
                  <a:pt x="1399032" y="93954"/>
                </a:lnTo>
                <a:lnTo>
                  <a:pt x="1354886" y="81254"/>
                </a:lnTo>
                <a:lnTo>
                  <a:pt x="1310741" y="55854"/>
                </a:lnTo>
                <a:lnTo>
                  <a:pt x="1265059" y="43154"/>
                </a:lnTo>
                <a:lnTo>
                  <a:pt x="1196555" y="30454"/>
                </a:lnTo>
                <a:lnTo>
                  <a:pt x="1172197" y="17754"/>
                </a:lnTo>
                <a:lnTo>
                  <a:pt x="1147851" y="17754"/>
                </a:lnTo>
                <a:lnTo>
                  <a:pt x="1050417" y="5054"/>
                </a:lnTo>
                <a:lnTo>
                  <a:pt x="1026058" y="5054"/>
                </a:lnTo>
                <a:lnTo>
                  <a:pt x="1050417" y="17754"/>
                </a:lnTo>
                <a:lnTo>
                  <a:pt x="1123492" y="17754"/>
                </a:lnTo>
                <a:lnTo>
                  <a:pt x="1146327" y="30454"/>
                </a:lnTo>
                <a:lnTo>
                  <a:pt x="1193520" y="30454"/>
                </a:lnTo>
                <a:lnTo>
                  <a:pt x="1217879" y="43154"/>
                </a:lnTo>
                <a:lnTo>
                  <a:pt x="1351838" y="81254"/>
                </a:lnTo>
                <a:lnTo>
                  <a:pt x="1437093" y="132054"/>
                </a:lnTo>
                <a:lnTo>
                  <a:pt x="1516253" y="170154"/>
                </a:lnTo>
                <a:lnTo>
                  <a:pt x="1554314" y="208254"/>
                </a:lnTo>
                <a:lnTo>
                  <a:pt x="1590840" y="233654"/>
                </a:lnTo>
                <a:lnTo>
                  <a:pt x="1625854" y="259054"/>
                </a:lnTo>
                <a:lnTo>
                  <a:pt x="1651457" y="288175"/>
                </a:lnTo>
                <a:lnTo>
                  <a:pt x="1204061" y="735825"/>
                </a:lnTo>
                <a:lnTo>
                  <a:pt x="1184376" y="717435"/>
                </a:lnTo>
                <a:lnTo>
                  <a:pt x="1172197" y="708291"/>
                </a:lnTo>
                <a:lnTo>
                  <a:pt x="1132624" y="682396"/>
                </a:lnTo>
                <a:lnTo>
                  <a:pt x="1073251" y="656501"/>
                </a:lnTo>
                <a:lnTo>
                  <a:pt x="1041285" y="648881"/>
                </a:lnTo>
                <a:lnTo>
                  <a:pt x="1026058" y="645845"/>
                </a:lnTo>
                <a:lnTo>
                  <a:pt x="992568" y="642797"/>
                </a:lnTo>
                <a:lnTo>
                  <a:pt x="980389" y="642797"/>
                </a:lnTo>
                <a:lnTo>
                  <a:pt x="980389" y="0"/>
                </a:lnTo>
                <a:lnTo>
                  <a:pt x="971257" y="0"/>
                </a:lnTo>
                <a:lnTo>
                  <a:pt x="971257" y="642797"/>
                </a:lnTo>
                <a:lnTo>
                  <a:pt x="959078" y="642797"/>
                </a:lnTo>
                <a:lnTo>
                  <a:pt x="908837" y="648881"/>
                </a:lnTo>
                <a:lnTo>
                  <a:pt x="861644" y="662597"/>
                </a:lnTo>
                <a:lnTo>
                  <a:pt x="847940" y="668693"/>
                </a:lnTo>
                <a:lnTo>
                  <a:pt x="832726" y="674776"/>
                </a:lnTo>
                <a:lnTo>
                  <a:pt x="805319" y="690016"/>
                </a:lnTo>
                <a:lnTo>
                  <a:pt x="791616" y="699147"/>
                </a:lnTo>
                <a:lnTo>
                  <a:pt x="779437" y="708291"/>
                </a:lnTo>
                <a:lnTo>
                  <a:pt x="765746" y="717435"/>
                </a:lnTo>
                <a:lnTo>
                  <a:pt x="746823" y="735088"/>
                </a:lnTo>
                <a:lnTo>
                  <a:pt x="739228" y="727519"/>
                </a:lnTo>
                <a:lnTo>
                  <a:pt x="739228" y="742696"/>
                </a:lnTo>
                <a:lnTo>
                  <a:pt x="712457" y="773785"/>
                </a:lnTo>
                <a:lnTo>
                  <a:pt x="678967" y="828624"/>
                </a:lnTo>
                <a:lnTo>
                  <a:pt x="672871" y="843851"/>
                </a:lnTo>
                <a:lnTo>
                  <a:pt x="666788" y="857567"/>
                </a:lnTo>
                <a:lnTo>
                  <a:pt x="662216" y="872794"/>
                </a:lnTo>
                <a:lnTo>
                  <a:pt x="657656" y="889546"/>
                </a:lnTo>
                <a:lnTo>
                  <a:pt x="653084" y="904786"/>
                </a:lnTo>
                <a:lnTo>
                  <a:pt x="650036" y="921537"/>
                </a:lnTo>
                <a:lnTo>
                  <a:pt x="647001" y="955040"/>
                </a:lnTo>
                <a:lnTo>
                  <a:pt x="647001" y="965708"/>
                </a:lnTo>
                <a:lnTo>
                  <a:pt x="9144" y="965708"/>
                </a:lnTo>
                <a:lnTo>
                  <a:pt x="9144" y="957554"/>
                </a:lnTo>
                <a:lnTo>
                  <a:pt x="13703" y="881354"/>
                </a:lnTo>
                <a:lnTo>
                  <a:pt x="19799" y="830554"/>
                </a:lnTo>
                <a:lnTo>
                  <a:pt x="33502" y="754354"/>
                </a:lnTo>
                <a:lnTo>
                  <a:pt x="51765" y="690854"/>
                </a:lnTo>
                <a:lnTo>
                  <a:pt x="66992" y="640054"/>
                </a:lnTo>
                <a:lnTo>
                  <a:pt x="85255" y="601954"/>
                </a:lnTo>
                <a:lnTo>
                  <a:pt x="105041" y="563854"/>
                </a:lnTo>
                <a:lnTo>
                  <a:pt x="126365" y="513054"/>
                </a:lnTo>
                <a:lnTo>
                  <a:pt x="149199" y="474954"/>
                </a:lnTo>
                <a:lnTo>
                  <a:pt x="173558" y="436854"/>
                </a:lnTo>
                <a:lnTo>
                  <a:pt x="200952" y="398754"/>
                </a:lnTo>
                <a:lnTo>
                  <a:pt x="229882" y="360654"/>
                </a:lnTo>
                <a:lnTo>
                  <a:pt x="260324" y="322554"/>
                </a:lnTo>
                <a:lnTo>
                  <a:pt x="292290" y="297154"/>
                </a:lnTo>
                <a:lnTo>
                  <a:pt x="293763" y="295478"/>
                </a:lnTo>
                <a:lnTo>
                  <a:pt x="739228" y="742696"/>
                </a:lnTo>
                <a:lnTo>
                  <a:pt x="739228" y="727519"/>
                </a:lnTo>
                <a:lnTo>
                  <a:pt x="299466" y="288988"/>
                </a:lnTo>
                <a:lnTo>
                  <a:pt x="325780" y="259054"/>
                </a:lnTo>
                <a:lnTo>
                  <a:pt x="360794" y="233654"/>
                </a:lnTo>
                <a:lnTo>
                  <a:pt x="397332" y="208254"/>
                </a:lnTo>
                <a:lnTo>
                  <a:pt x="435394" y="170154"/>
                </a:lnTo>
                <a:lnTo>
                  <a:pt x="514553" y="132054"/>
                </a:lnTo>
                <a:lnTo>
                  <a:pt x="599808" y="81254"/>
                </a:lnTo>
                <a:lnTo>
                  <a:pt x="688098" y="55854"/>
                </a:lnTo>
                <a:lnTo>
                  <a:pt x="756602" y="30454"/>
                </a:lnTo>
                <a:lnTo>
                  <a:pt x="803795" y="30454"/>
                </a:lnTo>
                <a:lnTo>
                  <a:pt x="828154" y="17754"/>
                </a:lnTo>
                <a:lnTo>
                  <a:pt x="901230" y="17754"/>
                </a:lnTo>
                <a:lnTo>
                  <a:pt x="925588" y="5054"/>
                </a:lnTo>
                <a:lnTo>
                  <a:pt x="899706" y="5054"/>
                </a:lnTo>
                <a:lnTo>
                  <a:pt x="802271" y="17754"/>
                </a:lnTo>
                <a:lnTo>
                  <a:pt x="779437" y="17754"/>
                </a:lnTo>
                <a:lnTo>
                  <a:pt x="755078" y="30454"/>
                </a:lnTo>
                <a:lnTo>
                  <a:pt x="732243" y="30454"/>
                </a:lnTo>
                <a:lnTo>
                  <a:pt x="639381" y="55854"/>
                </a:lnTo>
                <a:lnTo>
                  <a:pt x="595236" y="81254"/>
                </a:lnTo>
                <a:lnTo>
                  <a:pt x="552615" y="93954"/>
                </a:lnTo>
                <a:lnTo>
                  <a:pt x="509993" y="119354"/>
                </a:lnTo>
                <a:lnTo>
                  <a:pt x="468884" y="144754"/>
                </a:lnTo>
                <a:lnTo>
                  <a:pt x="429298" y="170154"/>
                </a:lnTo>
                <a:lnTo>
                  <a:pt x="391248" y="195554"/>
                </a:lnTo>
                <a:lnTo>
                  <a:pt x="354711" y="220954"/>
                </a:lnTo>
                <a:lnTo>
                  <a:pt x="319697" y="259054"/>
                </a:lnTo>
                <a:lnTo>
                  <a:pt x="284683" y="284454"/>
                </a:lnTo>
                <a:lnTo>
                  <a:pt x="252717" y="322554"/>
                </a:lnTo>
                <a:lnTo>
                  <a:pt x="222262" y="360654"/>
                </a:lnTo>
                <a:lnTo>
                  <a:pt x="193344" y="398754"/>
                </a:lnTo>
                <a:lnTo>
                  <a:pt x="165938" y="436854"/>
                </a:lnTo>
                <a:lnTo>
                  <a:pt x="140055" y="474954"/>
                </a:lnTo>
                <a:lnTo>
                  <a:pt x="117221" y="513054"/>
                </a:lnTo>
                <a:lnTo>
                  <a:pt x="95910" y="551154"/>
                </a:lnTo>
                <a:lnTo>
                  <a:pt x="76123" y="601954"/>
                </a:lnTo>
                <a:lnTo>
                  <a:pt x="59372" y="640054"/>
                </a:lnTo>
                <a:lnTo>
                  <a:pt x="42633" y="690854"/>
                </a:lnTo>
                <a:lnTo>
                  <a:pt x="30454" y="728954"/>
                </a:lnTo>
                <a:lnTo>
                  <a:pt x="10668" y="830554"/>
                </a:lnTo>
                <a:lnTo>
                  <a:pt x="4572" y="881354"/>
                </a:lnTo>
                <a:lnTo>
                  <a:pt x="3048" y="906754"/>
                </a:lnTo>
                <a:lnTo>
                  <a:pt x="0" y="932154"/>
                </a:lnTo>
                <a:lnTo>
                  <a:pt x="0" y="1021054"/>
                </a:lnTo>
                <a:lnTo>
                  <a:pt x="3048" y="1046454"/>
                </a:lnTo>
                <a:lnTo>
                  <a:pt x="4572" y="1071854"/>
                </a:lnTo>
                <a:lnTo>
                  <a:pt x="10668" y="1122654"/>
                </a:lnTo>
                <a:lnTo>
                  <a:pt x="24358" y="1198854"/>
                </a:lnTo>
                <a:lnTo>
                  <a:pt x="42633" y="1262354"/>
                </a:lnTo>
                <a:lnTo>
                  <a:pt x="59372" y="1313154"/>
                </a:lnTo>
                <a:lnTo>
                  <a:pt x="76123" y="1351254"/>
                </a:lnTo>
                <a:lnTo>
                  <a:pt x="95910" y="1402054"/>
                </a:lnTo>
                <a:lnTo>
                  <a:pt x="117221" y="1440154"/>
                </a:lnTo>
                <a:lnTo>
                  <a:pt x="140055" y="1478254"/>
                </a:lnTo>
                <a:lnTo>
                  <a:pt x="165938" y="1529054"/>
                </a:lnTo>
                <a:lnTo>
                  <a:pt x="193344" y="1567154"/>
                </a:lnTo>
                <a:lnTo>
                  <a:pt x="222262" y="1592554"/>
                </a:lnTo>
                <a:lnTo>
                  <a:pt x="252717" y="1630654"/>
                </a:lnTo>
                <a:lnTo>
                  <a:pt x="284683" y="1668754"/>
                </a:lnTo>
                <a:lnTo>
                  <a:pt x="319697" y="1694154"/>
                </a:lnTo>
                <a:lnTo>
                  <a:pt x="354711" y="1732254"/>
                </a:lnTo>
                <a:lnTo>
                  <a:pt x="391248" y="1757654"/>
                </a:lnTo>
                <a:lnTo>
                  <a:pt x="429298" y="1783054"/>
                </a:lnTo>
                <a:lnTo>
                  <a:pt x="468884" y="1808454"/>
                </a:lnTo>
                <a:lnTo>
                  <a:pt x="509993" y="1833854"/>
                </a:lnTo>
                <a:lnTo>
                  <a:pt x="552615" y="1859254"/>
                </a:lnTo>
                <a:lnTo>
                  <a:pt x="595236" y="1871954"/>
                </a:lnTo>
                <a:lnTo>
                  <a:pt x="639381" y="1897354"/>
                </a:lnTo>
                <a:lnTo>
                  <a:pt x="732243" y="1922754"/>
                </a:lnTo>
                <a:lnTo>
                  <a:pt x="755078" y="1922754"/>
                </a:lnTo>
                <a:lnTo>
                  <a:pt x="779437" y="1935454"/>
                </a:lnTo>
                <a:lnTo>
                  <a:pt x="802271" y="1935454"/>
                </a:lnTo>
                <a:lnTo>
                  <a:pt x="826630" y="1948154"/>
                </a:lnTo>
                <a:lnTo>
                  <a:pt x="901230" y="1948154"/>
                </a:lnTo>
                <a:lnTo>
                  <a:pt x="803795" y="1935454"/>
                </a:lnTo>
                <a:lnTo>
                  <a:pt x="780961" y="1922754"/>
                </a:lnTo>
                <a:lnTo>
                  <a:pt x="756602" y="1922754"/>
                </a:lnTo>
                <a:lnTo>
                  <a:pt x="733767" y="1910054"/>
                </a:lnTo>
                <a:lnTo>
                  <a:pt x="642429" y="1884654"/>
                </a:lnTo>
                <a:lnTo>
                  <a:pt x="599808" y="1871954"/>
                </a:lnTo>
                <a:lnTo>
                  <a:pt x="555663" y="1846554"/>
                </a:lnTo>
                <a:lnTo>
                  <a:pt x="514553" y="1833854"/>
                </a:lnTo>
                <a:lnTo>
                  <a:pt x="473456" y="1808454"/>
                </a:lnTo>
                <a:lnTo>
                  <a:pt x="397332" y="1757654"/>
                </a:lnTo>
                <a:lnTo>
                  <a:pt x="360794" y="1719554"/>
                </a:lnTo>
                <a:lnTo>
                  <a:pt x="325780" y="1694154"/>
                </a:lnTo>
                <a:lnTo>
                  <a:pt x="292290" y="1656054"/>
                </a:lnTo>
                <a:lnTo>
                  <a:pt x="260324" y="1630654"/>
                </a:lnTo>
                <a:lnTo>
                  <a:pt x="229882" y="1592554"/>
                </a:lnTo>
                <a:lnTo>
                  <a:pt x="200952" y="1554454"/>
                </a:lnTo>
                <a:lnTo>
                  <a:pt x="173558" y="1516354"/>
                </a:lnTo>
                <a:lnTo>
                  <a:pt x="124841" y="1440154"/>
                </a:lnTo>
                <a:lnTo>
                  <a:pt x="103530" y="1402054"/>
                </a:lnTo>
                <a:lnTo>
                  <a:pt x="85255" y="1351254"/>
                </a:lnTo>
                <a:lnTo>
                  <a:pt x="66992" y="1313154"/>
                </a:lnTo>
                <a:lnTo>
                  <a:pt x="51765" y="1262354"/>
                </a:lnTo>
                <a:lnTo>
                  <a:pt x="33502" y="1198854"/>
                </a:lnTo>
                <a:lnTo>
                  <a:pt x="19799" y="1122654"/>
                </a:lnTo>
                <a:lnTo>
                  <a:pt x="13703" y="1071854"/>
                </a:lnTo>
                <a:lnTo>
                  <a:pt x="9144" y="1008354"/>
                </a:lnTo>
                <a:lnTo>
                  <a:pt x="9144" y="976376"/>
                </a:lnTo>
                <a:lnTo>
                  <a:pt x="647001" y="976376"/>
                </a:lnTo>
                <a:lnTo>
                  <a:pt x="647001" y="988555"/>
                </a:lnTo>
                <a:lnTo>
                  <a:pt x="650036" y="1022070"/>
                </a:lnTo>
                <a:lnTo>
                  <a:pt x="666788" y="1084516"/>
                </a:lnTo>
                <a:lnTo>
                  <a:pt x="686574" y="1128687"/>
                </a:lnTo>
                <a:lnTo>
                  <a:pt x="703326" y="1154582"/>
                </a:lnTo>
                <a:lnTo>
                  <a:pt x="712457" y="1168285"/>
                </a:lnTo>
                <a:lnTo>
                  <a:pt x="721588" y="1180477"/>
                </a:lnTo>
                <a:lnTo>
                  <a:pt x="739228" y="1199400"/>
                </a:lnTo>
                <a:lnTo>
                  <a:pt x="292290" y="1648091"/>
                </a:lnTo>
                <a:lnTo>
                  <a:pt x="298386" y="1655711"/>
                </a:lnTo>
                <a:lnTo>
                  <a:pt x="746836" y="1207008"/>
                </a:lnTo>
                <a:lnTo>
                  <a:pt x="765746" y="1224648"/>
                </a:lnTo>
                <a:lnTo>
                  <a:pt x="779437" y="1235316"/>
                </a:lnTo>
                <a:lnTo>
                  <a:pt x="791616" y="1244447"/>
                </a:lnTo>
                <a:lnTo>
                  <a:pt x="805319" y="1252067"/>
                </a:lnTo>
                <a:lnTo>
                  <a:pt x="819023" y="1261198"/>
                </a:lnTo>
                <a:lnTo>
                  <a:pt x="832726" y="1267294"/>
                </a:lnTo>
                <a:lnTo>
                  <a:pt x="847940" y="1274914"/>
                </a:lnTo>
                <a:lnTo>
                  <a:pt x="863168" y="1279486"/>
                </a:lnTo>
                <a:lnTo>
                  <a:pt x="908837" y="1293190"/>
                </a:lnTo>
                <a:lnTo>
                  <a:pt x="971257" y="1300403"/>
                </a:lnTo>
                <a:lnTo>
                  <a:pt x="971257" y="1943595"/>
                </a:lnTo>
                <a:lnTo>
                  <a:pt x="980389" y="1943595"/>
                </a:lnTo>
                <a:lnTo>
                  <a:pt x="980389" y="1300403"/>
                </a:lnTo>
                <a:lnTo>
                  <a:pt x="1026058" y="1296238"/>
                </a:lnTo>
                <a:lnTo>
                  <a:pt x="1041285" y="1293190"/>
                </a:lnTo>
                <a:lnTo>
                  <a:pt x="1058024" y="1290142"/>
                </a:lnTo>
                <a:lnTo>
                  <a:pt x="1073251" y="1285570"/>
                </a:lnTo>
                <a:lnTo>
                  <a:pt x="1088478" y="1279486"/>
                </a:lnTo>
                <a:lnTo>
                  <a:pt x="1103693" y="1274914"/>
                </a:lnTo>
                <a:lnTo>
                  <a:pt x="1117396" y="1267294"/>
                </a:lnTo>
                <a:lnTo>
                  <a:pt x="1132624" y="1259687"/>
                </a:lnTo>
                <a:lnTo>
                  <a:pt x="1160030" y="1244447"/>
                </a:lnTo>
                <a:lnTo>
                  <a:pt x="1172197" y="1235316"/>
                </a:lnTo>
                <a:lnTo>
                  <a:pt x="1204658" y="1206893"/>
                </a:lnTo>
                <a:lnTo>
                  <a:pt x="1651736" y="1655711"/>
                </a:lnTo>
                <a:lnTo>
                  <a:pt x="1659356" y="1648091"/>
                </a:lnTo>
                <a:lnTo>
                  <a:pt x="1211567" y="1200061"/>
                </a:lnTo>
                <a:lnTo>
                  <a:pt x="1239189" y="1168285"/>
                </a:lnTo>
                <a:lnTo>
                  <a:pt x="1257452" y="1140879"/>
                </a:lnTo>
                <a:lnTo>
                  <a:pt x="1265059" y="1127163"/>
                </a:lnTo>
                <a:lnTo>
                  <a:pt x="1271155" y="1113459"/>
                </a:lnTo>
                <a:lnTo>
                  <a:pt x="1278763" y="1099743"/>
                </a:lnTo>
                <a:lnTo>
                  <a:pt x="1284846" y="1084516"/>
                </a:lnTo>
                <a:lnTo>
                  <a:pt x="1293990" y="1054049"/>
                </a:lnTo>
                <a:lnTo>
                  <a:pt x="1300073" y="1020546"/>
                </a:lnTo>
                <a:lnTo>
                  <a:pt x="1303121" y="1005306"/>
                </a:lnTo>
                <a:lnTo>
                  <a:pt x="1304645" y="988555"/>
                </a:lnTo>
                <a:lnTo>
                  <a:pt x="1304645" y="976376"/>
                </a:lnTo>
                <a:lnTo>
                  <a:pt x="1942096" y="976376"/>
                </a:lnTo>
                <a:lnTo>
                  <a:pt x="1942503" y="982954"/>
                </a:lnTo>
                <a:lnTo>
                  <a:pt x="1942503" y="1008354"/>
                </a:lnTo>
                <a:lnTo>
                  <a:pt x="1939455" y="1046454"/>
                </a:lnTo>
                <a:lnTo>
                  <a:pt x="1936419" y="1071854"/>
                </a:lnTo>
                <a:lnTo>
                  <a:pt x="1934895" y="1097254"/>
                </a:lnTo>
                <a:lnTo>
                  <a:pt x="1930323" y="1122654"/>
                </a:lnTo>
                <a:lnTo>
                  <a:pt x="1927275" y="1148054"/>
                </a:lnTo>
                <a:lnTo>
                  <a:pt x="1922716" y="1173454"/>
                </a:lnTo>
                <a:lnTo>
                  <a:pt x="1916620" y="1198854"/>
                </a:lnTo>
                <a:lnTo>
                  <a:pt x="1912061" y="1224254"/>
                </a:lnTo>
                <a:lnTo>
                  <a:pt x="1898357" y="1262354"/>
                </a:lnTo>
                <a:lnTo>
                  <a:pt x="1883130" y="1313154"/>
                </a:lnTo>
                <a:lnTo>
                  <a:pt x="1866392" y="1351254"/>
                </a:lnTo>
                <a:lnTo>
                  <a:pt x="1846592" y="1402054"/>
                </a:lnTo>
                <a:lnTo>
                  <a:pt x="1825282" y="1440154"/>
                </a:lnTo>
                <a:lnTo>
                  <a:pt x="1802447" y="1478254"/>
                </a:lnTo>
                <a:lnTo>
                  <a:pt x="1750695" y="1554454"/>
                </a:lnTo>
                <a:lnTo>
                  <a:pt x="1721764" y="1592554"/>
                </a:lnTo>
                <a:lnTo>
                  <a:pt x="1691322" y="1630654"/>
                </a:lnTo>
                <a:lnTo>
                  <a:pt x="1659356" y="1656054"/>
                </a:lnTo>
                <a:lnTo>
                  <a:pt x="1625854" y="1694154"/>
                </a:lnTo>
                <a:lnTo>
                  <a:pt x="1590840" y="1719554"/>
                </a:lnTo>
                <a:lnTo>
                  <a:pt x="1554314" y="1757654"/>
                </a:lnTo>
                <a:lnTo>
                  <a:pt x="1516253" y="1783054"/>
                </a:lnTo>
                <a:lnTo>
                  <a:pt x="1476667" y="1808454"/>
                </a:lnTo>
                <a:lnTo>
                  <a:pt x="1435569" y="1833854"/>
                </a:lnTo>
                <a:lnTo>
                  <a:pt x="1394460" y="1846554"/>
                </a:lnTo>
                <a:lnTo>
                  <a:pt x="1351838" y="1871954"/>
                </a:lnTo>
                <a:lnTo>
                  <a:pt x="1170686" y="1922754"/>
                </a:lnTo>
                <a:lnTo>
                  <a:pt x="1146327" y="1922754"/>
                </a:lnTo>
                <a:lnTo>
                  <a:pt x="1121968" y="1935454"/>
                </a:lnTo>
                <a:lnTo>
                  <a:pt x="1074775" y="1935454"/>
                </a:lnTo>
                <a:lnTo>
                  <a:pt x="1048893" y="1948154"/>
                </a:lnTo>
                <a:lnTo>
                  <a:pt x="1050417" y="1948154"/>
                </a:lnTo>
                <a:lnTo>
                  <a:pt x="1147851" y="1935454"/>
                </a:lnTo>
                <a:lnTo>
                  <a:pt x="1172197" y="1935454"/>
                </a:lnTo>
                <a:lnTo>
                  <a:pt x="1195044" y="1922754"/>
                </a:lnTo>
                <a:lnTo>
                  <a:pt x="1219390" y="1922754"/>
                </a:lnTo>
                <a:lnTo>
                  <a:pt x="1310741" y="1897354"/>
                </a:lnTo>
                <a:lnTo>
                  <a:pt x="1354886" y="1871954"/>
                </a:lnTo>
                <a:lnTo>
                  <a:pt x="1399032" y="1859254"/>
                </a:lnTo>
                <a:lnTo>
                  <a:pt x="1481239" y="1808454"/>
                </a:lnTo>
                <a:lnTo>
                  <a:pt x="1520812" y="1783054"/>
                </a:lnTo>
                <a:lnTo>
                  <a:pt x="1596936" y="1732254"/>
                </a:lnTo>
                <a:lnTo>
                  <a:pt x="1631950" y="1694154"/>
                </a:lnTo>
                <a:lnTo>
                  <a:pt x="1665439" y="1668754"/>
                </a:lnTo>
                <a:lnTo>
                  <a:pt x="1729371" y="1592554"/>
                </a:lnTo>
                <a:lnTo>
                  <a:pt x="1758302" y="1567154"/>
                </a:lnTo>
                <a:lnTo>
                  <a:pt x="1785708" y="1529054"/>
                </a:lnTo>
                <a:lnTo>
                  <a:pt x="1810067" y="1478254"/>
                </a:lnTo>
                <a:lnTo>
                  <a:pt x="1834413" y="1440154"/>
                </a:lnTo>
                <a:lnTo>
                  <a:pt x="1855736" y="1402054"/>
                </a:lnTo>
                <a:lnTo>
                  <a:pt x="1875523" y="1351254"/>
                </a:lnTo>
                <a:lnTo>
                  <a:pt x="1892261" y="1313154"/>
                </a:lnTo>
                <a:lnTo>
                  <a:pt x="1907489" y="1262354"/>
                </a:lnTo>
                <a:lnTo>
                  <a:pt x="1921192" y="1224254"/>
                </a:lnTo>
                <a:lnTo>
                  <a:pt x="1940979" y="1122654"/>
                </a:lnTo>
                <a:lnTo>
                  <a:pt x="1947075" y="1071854"/>
                </a:lnTo>
                <a:lnTo>
                  <a:pt x="1950110" y="1033754"/>
                </a:lnTo>
                <a:lnTo>
                  <a:pt x="1951634" y="1008354"/>
                </a:lnTo>
                <a:lnTo>
                  <a:pt x="1951634" y="9575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466733" y="6031607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0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9732" y="5384250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19732" y="4448133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95372" y="3872175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30968" y="3945162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77970" y="4519533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5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77970" y="5384250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30968" y="5960208"/>
            <a:ext cx="14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7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758465" y="5999810"/>
            <a:ext cx="126364" cy="502920"/>
          </a:xfrm>
          <a:custGeom>
            <a:avLst/>
            <a:gdLst/>
            <a:ahLst/>
            <a:cxnLst/>
            <a:rect l="l" t="t" r="r" b="b"/>
            <a:pathLst>
              <a:path w="126364" h="502920">
                <a:moveTo>
                  <a:pt x="68503" y="114236"/>
                </a:moveTo>
                <a:lnTo>
                  <a:pt x="57848" y="114236"/>
                </a:lnTo>
                <a:lnTo>
                  <a:pt x="57848" y="502653"/>
                </a:lnTo>
                <a:lnTo>
                  <a:pt x="68503" y="502653"/>
                </a:lnTo>
                <a:lnTo>
                  <a:pt x="68503" y="114236"/>
                </a:lnTo>
                <a:close/>
              </a:path>
              <a:path w="126364" h="502920">
                <a:moveTo>
                  <a:pt x="63944" y="0"/>
                </a:moveTo>
                <a:lnTo>
                  <a:pt x="0" y="126428"/>
                </a:lnTo>
                <a:lnTo>
                  <a:pt x="57848" y="126428"/>
                </a:lnTo>
                <a:lnTo>
                  <a:pt x="57848" y="114236"/>
                </a:lnTo>
                <a:lnTo>
                  <a:pt x="120345" y="114236"/>
                </a:lnTo>
                <a:lnTo>
                  <a:pt x="63944" y="0"/>
                </a:lnTo>
                <a:close/>
              </a:path>
              <a:path w="126364" h="502920">
                <a:moveTo>
                  <a:pt x="120345" y="114236"/>
                </a:moveTo>
                <a:lnTo>
                  <a:pt x="68503" y="114236"/>
                </a:lnTo>
                <a:lnTo>
                  <a:pt x="68503" y="126428"/>
                </a:lnTo>
                <a:lnTo>
                  <a:pt x="126364" y="126428"/>
                </a:lnTo>
                <a:lnTo>
                  <a:pt x="120345" y="1142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26702" y="6314030"/>
            <a:ext cx="534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rebuchet MS"/>
                <a:cs typeface="Trebuchet MS"/>
              </a:rPr>
              <a:t>front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61350" y="3872175"/>
            <a:ext cx="447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rebuchet MS"/>
                <a:cs typeface="Trebuchet MS"/>
              </a:rPr>
              <a:t>rear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11946" y="5213858"/>
            <a:ext cx="320040" cy="368935"/>
          </a:xfrm>
          <a:prstGeom prst="rect">
            <a:avLst/>
          </a:prstGeom>
          <a:solidFill>
            <a:srgbClr val="CCFF99"/>
          </a:solidFill>
        </p:spPr>
        <p:txBody>
          <a:bodyPr vert="horz" wrap="square" lIns="0" tIns="381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00"/>
              </a:spcBef>
            </a:pPr>
            <a:r>
              <a:rPr sz="1800" spc="-50" dirty="0"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75421" y="4638078"/>
            <a:ext cx="326390" cy="365760"/>
          </a:xfrm>
          <a:prstGeom prst="rect">
            <a:avLst/>
          </a:prstGeom>
          <a:solidFill>
            <a:srgbClr val="CCFF99"/>
          </a:solidFill>
        </p:spPr>
        <p:txBody>
          <a:bodyPr vert="horz" wrap="square" lIns="0" tIns="3810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300"/>
              </a:spcBef>
            </a:pPr>
            <a:r>
              <a:rPr sz="1800" spc="-50" dirty="0">
                <a:latin typeface="Trebuchet MS"/>
                <a:cs typeface="Trebuchet MS"/>
              </a:rPr>
              <a:t>B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740026" y="4130865"/>
            <a:ext cx="362585" cy="362585"/>
          </a:xfrm>
          <a:custGeom>
            <a:avLst/>
            <a:gdLst/>
            <a:ahLst/>
            <a:cxnLst/>
            <a:rect l="l" t="t" r="r" b="b"/>
            <a:pathLst>
              <a:path w="362585" h="362585">
                <a:moveTo>
                  <a:pt x="268694" y="276461"/>
                </a:moveTo>
                <a:lnTo>
                  <a:pt x="226834" y="318350"/>
                </a:lnTo>
                <a:lnTo>
                  <a:pt x="362318" y="362521"/>
                </a:lnTo>
                <a:lnTo>
                  <a:pt x="335851" y="284835"/>
                </a:lnTo>
                <a:lnTo>
                  <a:pt x="277063" y="284835"/>
                </a:lnTo>
                <a:lnTo>
                  <a:pt x="268694" y="276461"/>
                </a:lnTo>
                <a:close/>
              </a:path>
              <a:path w="362585" h="362585">
                <a:moveTo>
                  <a:pt x="275549" y="269601"/>
                </a:moveTo>
                <a:lnTo>
                  <a:pt x="268694" y="276461"/>
                </a:lnTo>
                <a:lnTo>
                  <a:pt x="277063" y="284835"/>
                </a:lnTo>
                <a:lnTo>
                  <a:pt x="284683" y="278739"/>
                </a:lnTo>
                <a:lnTo>
                  <a:pt x="275549" y="269601"/>
                </a:lnTo>
                <a:close/>
              </a:path>
              <a:path w="362585" h="362585">
                <a:moveTo>
                  <a:pt x="316649" y="228473"/>
                </a:moveTo>
                <a:lnTo>
                  <a:pt x="275549" y="269601"/>
                </a:lnTo>
                <a:lnTo>
                  <a:pt x="284683" y="278739"/>
                </a:lnTo>
                <a:lnTo>
                  <a:pt x="277063" y="284835"/>
                </a:lnTo>
                <a:lnTo>
                  <a:pt x="335851" y="284835"/>
                </a:lnTo>
                <a:lnTo>
                  <a:pt x="316649" y="228473"/>
                </a:lnTo>
                <a:close/>
              </a:path>
              <a:path w="362585" h="362585">
                <a:moveTo>
                  <a:pt x="6096" y="0"/>
                </a:moveTo>
                <a:lnTo>
                  <a:pt x="0" y="7620"/>
                </a:lnTo>
                <a:lnTo>
                  <a:pt x="268694" y="276461"/>
                </a:lnTo>
                <a:lnTo>
                  <a:pt x="275549" y="269601"/>
                </a:lnTo>
                <a:lnTo>
                  <a:pt x="60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">
              <a:lnSpc>
                <a:spcPts val="3840"/>
              </a:lnSpc>
              <a:spcBef>
                <a:spcPts val="100"/>
              </a:spcBef>
            </a:pPr>
            <a:r>
              <a:rPr sz="3200" spc="-675" dirty="0"/>
              <a:t>학생</a:t>
            </a:r>
            <a:r>
              <a:rPr sz="3200" spc="-675" dirty="0">
                <a:latin typeface="Tw Cen MT"/>
                <a:cs typeface="Tw Cen MT"/>
              </a:rPr>
              <a:t>&gt;</a:t>
            </a:r>
            <a:r>
              <a:rPr sz="3200" spc="20" dirty="0">
                <a:latin typeface="Tw Cen MT"/>
                <a:cs typeface="Tw Cen MT"/>
              </a:rPr>
              <a:t> </a:t>
            </a:r>
            <a:r>
              <a:rPr sz="3200" spc="-1260" dirty="0"/>
              <a:t>교수님</a:t>
            </a:r>
            <a:r>
              <a:rPr sz="3200" spc="-1260" dirty="0">
                <a:latin typeface="Tw Cen MT"/>
                <a:cs typeface="Tw Cen MT"/>
              </a:rPr>
              <a:t>~</a:t>
            </a:r>
            <a:r>
              <a:rPr sz="3200" spc="10" dirty="0">
                <a:latin typeface="Tw Cen MT"/>
                <a:cs typeface="Tw Cen MT"/>
              </a:rPr>
              <a:t> </a:t>
            </a:r>
            <a:r>
              <a:rPr sz="3200" spc="-1310" dirty="0"/>
              <a:t>어려워요</a:t>
            </a:r>
            <a:r>
              <a:rPr sz="3200" spc="-1310" dirty="0">
                <a:latin typeface="Tw Cen MT"/>
                <a:cs typeface="Tw Cen MT"/>
              </a:rPr>
              <a:t>.</a:t>
            </a:r>
            <a:r>
              <a:rPr sz="3200" spc="30" dirty="0">
                <a:latin typeface="Tw Cen MT"/>
                <a:cs typeface="Tw Cen MT"/>
              </a:rPr>
              <a:t> </a:t>
            </a:r>
            <a:r>
              <a:rPr sz="3200" spc="-1895" dirty="0"/>
              <a:t>코드</a:t>
            </a:r>
            <a:r>
              <a:rPr sz="3200" spc="-160" dirty="0"/>
              <a:t> </a:t>
            </a:r>
            <a:r>
              <a:rPr sz="3200" spc="-1445" dirty="0"/>
              <a:t>한줄</a:t>
            </a:r>
            <a:r>
              <a:rPr sz="3200" spc="-170" dirty="0"/>
              <a:t> </a:t>
            </a:r>
            <a:r>
              <a:rPr sz="3200" spc="-675" dirty="0"/>
              <a:t>씩</a:t>
            </a:r>
            <a:r>
              <a:rPr sz="3200" spc="-160" dirty="0"/>
              <a:t> </a:t>
            </a:r>
            <a:r>
              <a:rPr sz="3200" spc="-1185" dirty="0"/>
              <a:t>설명해주세요</a:t>
            </a:r>
            <a:r>
              <a:rPr sz="3200" spc="-1185" dirty="0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138430">
              <a:lnSpc>
                <a:spcPts val="3840"/>
              </a:lnSpc>
            </a:pPr>
            <a:r>
              <a:rPr sz="3200" spc="-1270" dirty="0"/>
              <a:t>교수</a:t>
            </a:r>
            <a:r>
              <a:rPr sz="3200" spc="-1270" dirty="0">
                <a:latin typeface="Tw Cen MT"/>
                <a:cs typeface="Tw Cen MT"/>
              </a:rPr>
              <a:t>&gt;</a:t>
            </a:r>
            <a:r>
              <a:rPr sz="3200" spc="20" dirty="0">
                <a:latin typeface="Tw Cen MT"/>
                <a:cs typeface="Tw Cen MT"/>
              </a:rPr>
              <a:t> </a:t>
            </a:r>
            <a:r>
              <a:rPr sz="3200" spc="-1714" dirty="0"/>
              <a:t>코드만으로</a:t>
            </a:r>
            <a:r>
              <a:rPr sz="3200" spc="-145" dirty="0"/>
              <a:t> </a:t>
            </a:r>
            <a:r>
              <a:rPr sz="3200" spc="-1445" dirty="0"/>
              <a:t>한줄</a:t>
            </a:r>
            <a:r>
              <a:rPr sz="3200" spc="-165" dirty="0"/>
              <a:t> </a:t>
            </a:r>
            <a:r>
              <a:rPr sz="3200" spc="-675" dirty="0"/>
              <a:t>씩</a:t>
            </a:r>
            <a:r>
              <a:rPr sz="3200" spc="-175" dirty="0"/>
              <a:t> </a:t>
            </a:r>
            <a:r>
              <a:rPr sz="3200" spc="-1260" dirty="0"/>
              <a:t>설명이</a:t>
            </a:r>
            <a:r>
              <a:rPr sz="3200" spc="-175" dirty="0"/>
              <a:t> </a:t>
            </a:r>
            <a:r>
              <a:rPr sz="3200" spc="-1300" dirty="0"/>
              <a:t>어려움</a:t>
            </a:r>
            <a:r>
              <a:rPr sz="3200" spc="-1300" dirty="0">
                <a:latin typeface="Tw Cen MT"/>
                <a:cs typeface="Tw Cen MT"/>
              </a:rPr>
              <a:t>.</a:t>
            </a:r>
            <a:r>
              <a:rPr sz="3200" spc="15" dirty="0">
                <a:latin typeface="Tw Cen MT"/>
                <a:cs typeface="Tw Cen MT"/>
              </a:rPr>
              <a:t> </a:t>
            </a:r>
            <a:r>
              <a:rPr sz="3200" spc="-1670" dirty="0"/>
              <a:t>자료구조</a:t>
            </a:r>
            <a:r>
              <a:rPr sz="3200" spc="-150" dirty="0"/>
              <a:t> </a:t>
            </a:r>
            <a:r>
              <a:rPr sz="3200" spc="-1370" dirty="0"/>
              <a:t>그림과</a:t>
            </a:r>
            <a:r>
              <a:rPr sz="3200" spc="-175" dirty="0"/>
              <a:t> </a:t>
            </a:r>
            <a:r>
              <a:rPr sz="3200" spc="-350" dirty="0">
                <a:latin typeface="Tw Cen MT"/>
                <a:cs typeface="Tw Cen MT"/>
              </a:rPr>
              <a:t>VS</a:t>
            </a:r>
            <a:r>
              <a:rPr sz="3200" spc="-350" dirty="0"/>
              <a:t>같이</a:t>
            </a:r>
            <a:r>
              <a:rPr sz="3200" spc="-350" dirty="0">
                <a:latin typeface="Tw Cen MT"/>
                <a:cs typeface="Tw Cen MT"/>
              </a:rPr>
              <a:t>(2/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893387"/>
            <a:ext cx="5865495" cy="176276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1080770" indent="226695">
              <a:lnSpc>
                <a:spcPts val="1730"/>
              </a:lnSpc>
              <a:spcBef>
                <a:spcPts val="310"/>
              </a:spcBef>
              <a:buFont typeface="Arial"/>
              <a:buAutoNum type="arabicPeriod"/>
              <a:tabLst>
                <a:tab pos="239395" algn="l"/>
              </a:tabLst>
            </a:pPr>
            <a:r>
              <a:rPr sz="1600" dirty="0">
                <a:latin typeface="Gulim"/>
                <a:cs typeface="Gulim"/>
              </a:rPr>
              <a:t>계속버튼</a:t>
            </a:r>
            <a:r>
              <a:rPr sz="1600" spc="-135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로컬창에서</a:t>
            </a:r>
            <a:r>
              <a:rPr sz="1600" spc="-125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front=1,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rear=3,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queue[2]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=2, </a:t>
            </a:r>
            <a:r>
              <a:rPr sz="1600" dirty="0">
                <a:latin typeface="Arial"/>
                <a:cs typeface="Arial"/>
              </a:rPr>
              <a:t>queue[3]=4,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Gulim"/>
                <a:cs typeface="Gulim"/>
              </a:rPr>
              <a:t>방문노드</a:t>
            </a:r>
            <a:r>
              <a:rPr sz="1600" spc="-125" dirty="0">
                <a:latin typeface="Gulim"/>
                <a:cs typeface="Gulim"/>
              </a:rPr>
              <a:t> </a:t>
            </a:r>
            <a:r>
              <a:rPr sz="1600" spc="-10" dirty="0">
                <a:latin typeface="Arial"/>
                <a:cs typeface="Arial"/>
              </a:rPr>
              <a:t>printf</a:t>
            </a:r>
            <a:r>
              <a:rPr sz="1600" spc="-10" dirty="0">
                <a:latin typeface="Gulim"/>
                <a:cs typeface="Gulim"/>
              </a:rPr>
              <a:t>출력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그림</a:t>
            </a:r>
            <a:r>
              <a:rPr sz="1600" spc="-10" dirty="0">
                <a:latin typeface="Arial"/>
                <a:cs typeface="Arial"/>
              </a:rPr>
              <a:t>(b)</a:t>
            </a:r>
            <a:r>
              <a:rPr sz="1600" spc="-10" dirty="0">
                <a:latin typeface="Gulim"/>
                <a:cs typeface="Gulim"/>
              </a:rPr>
              <a:t>상태</a:t>
            </a:r>
            <a:endParaRPr sz="1600">
              <a:latin typeface="Gulim"/>
              <a:cs typeface="Gulim"/>
            </a:endParaRPr>
          </a:p>
          <a:p>
            <a:pPr marL="12700" marR="12065" indent="226695">
              <a:lnSpc>
                <a:spcPts val="1730"/>
              </a:lnSpc>
              <a:spcBef>
                <a:spcPts val="690"/>
              </a:spcBef>
              <a:buFont typeface="Arial"/>
              <a:buAutoNum type="arabicPeriod"/>
              <a:tabLst>
                <a:tab pos="239395" algn="l"/>
              </a:tabLst>
            </a:pPr>
            <a:r>
              <a:rPr sz="1600" dirty="0">
                <a:latin typeface="Gulim"/>
                <a:cs typeface="Gulim"/>
              </a:rPr>
              <a:t>계속버튼</a:t>
            </a:r>
            <a:r>
              <a:rPr sz="1600" spc="-135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로컬창에서</a:t>
            </a:r>
            <a:r>
              <a:rPr sz="1600" spc="-125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front=2,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rear=6,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queue[3]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=4,</a:t>
            </a:r>
            <a:r>
              <a:rPr sz="1600" dirty="0">
                <a:latin typeface="Arial"/>
                <a:cs typeface="Arial"/>
              </a:rPr>
              <a:t> queue[4]=1,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queue[5]=3,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queue[6]=5,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10" dirty="0">
                <a:latin typeface="Gulim"/>
                <a:cs typeface="Gulim"/>
              </a:rPr>
              <a:t>방문노드</a:t>
            </a:r>
            <a:r>
              <a:rPr sz="1600" spc="-125" dirty="0">
                <a:latin typeface="Gulim"/>
                <a:cs typeface="Gulim"/>
              </a:rPr>
              <a:t> </a:t>
            </a:r>
            <a:r>
              <a:rPr sz="1600" spc="-10" dirty="0">
                <a:latin typeface="Arial"/>
                <a:cs typeface="Arial"/>
              </a:rPr>
              <a:t>printf</a:t>
            </a:r>
            <a:r>
              <a:rPr sz="1600" spc="-10" dirty="0">
                <a:latin typeface="Gulim"/>
                <a:cs typeface="Gulim"/>
              </a:rPr>
              <a:t>출력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그림</a:t>
            </a:r>
            <a:r>
              <a:rPr sz="1600" spc="-10" dirty="0">
                <a:latin typeface="Arial"/>
                <a:cs typeface="Arial"/>
              </a:rPr>
              <a:t>(c) </a:t>
            </a:r>
            <a:r>
              <a:rPr sz="1600" spc="-25" dirty="0">
                <a:latin typeface="Gulim"/>
                <a:cs typeface="Gulim"/>
              </a:rPr>
              <a:t>상태</a:t>
            </a:r>
            <a:endParaRPr sz="1600">
              <a:latin typeface="Gulim"/>
              <a:cs typeface="Gulim"/>
            </a:endParaRPr>
          </a:p>
          <a:p>
            <a:pPr marL="12700" marR="5080">
              <a:lnSpc>
                <a:spcPts val="1730"/>
              </a:lnSpc>
              <a:spcBef>
                <a:spcPts val="700"/>
              </a:spcBef>
            </a:pPr>
            <a:r>
              <a:rPr sz="1600" dirty="0">
                <a:latin typeface="Arial"/>
                <a:cs typeface="Arial"/>
              </a:rPr>
              <a:t>2.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dirty="0">
                <a:latin typeface="Gulim"/>
                <a:cs typeface="Gulim"/>
              </a:rPr>
              <a:t>계속버튼</a:t>
            </a:r>
            <a:r>
              <a:rPr sz="1600" spc="-130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로컬창에서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front=3,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rear=6,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queue[4]=1,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queue[5]=3, </a:t>
            </a:r>
            <a:r>
              <a:rPr sz="1600" dirty="0">
                <a:latin typeface="Arial"/>
                <a:cs typeface="Arial"/>
              </a:rPr>
              <a:t>queue[6]=5,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Gulim"/>
                <a:cs typeface="Gulim"/>
              </a:rPr>
              <a:t>방문노드</a:t>
            </a:r>
            <a:r>
              <a:rPr sz="1600" spc="-125" dirty="0">
                <a:latin typeface="Gulim"/>
                <a:cs typeface="Gulim"/>
              </a:rPr>
              <a:t> </a:t>
            </a:r>
            <a:r>
              <a:rPr sz="1600" spc="-10" dirty="0">
                <a:latin typeface="Arial"/>
                <a:cs typeface="Arial"/>
              </a:rPr>
              <a:t>printf</a:t>
            </a:r>
            <a:r>
              <a:rPr sz="1600" spc="-10" dirty="0">
                <a:latin typeface="Gulim"/>
                <a:cs typeface="Gulim"/>
              </a:rPr>
              <a:t>출력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그림</a:t>
            </a:r>
            <a:r>
              <a:rPr sz="1600" spc="-10" dirty="0">
                <a:latin typeface="Arial"/>
                <a:cs typeface="Arial"/>
              </a:rPr>
              <a:t>(d)</a:t>
            </a:r>
            <a:r>
              <a:rPr sz="1600" spc="-10" dirty="0">
                <a:latin typeface="Gulim"/>
                <a:cs typeface="Gulim"/>
              </a:rPr>
              <a:t>상태</a:t>
            </a:r>
            <a:endParaRPr sz="16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9520" y="5856630"/>
            <a:ext cx="1271142" cy="112410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67607" y="581080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5497" y="670163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9272" y="5995108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2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9272" y="6455891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3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3051" y="5810805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1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30945" y="6670922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70277" y="5917564"/>
            <a:ext cx="508634" cy="216535"/>
          </a:xfrm>
          <a:custGeom>
            <a:avLst/>
            <a:gdLst/>
            <a:ahLst/>
            <a:cxnLst/>
            <a:rect l="l" t="t" r="r" b="b"/>
            <a:pathLst>
              <a:path w="508635" h="216535">
                <a:moveTo>
                  <a:pt x="508457" y="4559"/>
                </a:moveTo>
                <a:lnTo>
                  <a:pt x="503885" y="0"/>
                </a:lnTo>
                <a:lnTo>
                  <a:pt x="490194" y="0"/>
                </a:lnTo>
                <a:lnTo>
                  <a:pt x="490194" y="19799"/>
                </a:lnTo>
                <a:lnTo>
                  <a:pt x="490194" y="196481"/>
                </a:lnTo>
                <a:lnTo>
                  <a:pt x="266407" y="196481"/>
                </a:lnTo>
                <a:lnTo>
                  <a:pt x="266407" y="19799"/>
                </a:lnTo>
                <a:lnTo>
                  <a:pt x="490194" y="19799"/>
                </a:lnTo>
                <a:lnTo>
                  <a:pt x="490194" y="0"/>
                </a:lnTo>
                <a:lnTo>
                  <a:pt x="261835" y="0"/>
                </a:lnTo>
                <a:lnTo>
                  <a:pt x="246621" y="0"/>
                </a:lnTo>
                <a:lnTo>
                  <a:pt x="242049" y="0"/>
                </a:lnTo>
                <a:lnTo>
                  <a:pt x="242049" y="19799"/>
                </a:lnTo>
                <a:lnTo>
                  <a:pt x="242049" y="196481"/>
                </a:lnTo>
                <a:lnTo>
                  <a:pt x="19786" y="196481"/>
                </a:lnTo>
                <a:lnTo>
                  <a:pt x="19786" y="19799"/>
                </a:lnTo>
                <a:lnTo>
                  <a:pt x="242049" y="19799"/>
                </a:lnTo>
                <a:lnTo>
                  <a:pt x="242049" y="0"/>
                </a:lnTo>
                <a:lnTo>
                  <a:pt x="4559" y="0"/>
                </a:lnTo>
                <a:lnTo>
                  <a:pt x="0" y="4559"/>
                </a:lnTo>
                <a:lnTo>
                  <a:pt x="0" y="211709"/>
                </a:lnTo>
                <a:lnTo>
                  <a:pt x="4559" y="216281"/>
                </a:lnTo>
                <a:lnTo>
                  <a:pt x="246621" y="216281"/>
                </a:lnTo>
                <a:lnTo>
                  <a:pt x="261835" y="216281"/>
                </a:lnTo>
                <a:lnTo>
                  <a:pt x="503885" y="216281"/>
                </a:lnTo>
                <a:lnTo>
                  <a:pt x="508457" y="211709"/>
                </a:lnTo>
                <a:lnTo>
                  <a:pt x="508457" y="207149"/>
                </a:lnTo>
                <a:lnTo>
                  <a:pt x="508457" y="196481"/>
                </a:lnTo>
                <a:lnTo>
                  <a:pt x="508457" y="19799"/>
                </a:lnTo>
                <a:lnTo>
                  <a:pt x="508457" y="9144"/>
                </a:lnTo>
                <a:lnTo>
                  <a:pt x="508457" y="4559"/>
                </a:lnTo>
                <a:close/>
              </a:path>
            </a:pathLst>
          </a:custGeom>
          <a:solidFill>
            <a:srgbClr val="6A85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427528" y="5863154"/>
            <a:ext cx="39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w Cen MT"/>
                <a:cs typeface="Tw Cen MT"/>
              </a:rPr>
              <a:t>2</a:t>
            </a:r>
            <a:r>
              <a:rPr sz="1800" spc="420" dirty="0">
                <a:latin typeface="Tw Cen MT"/>
                <a:cs typeface="Tw Cen MT"/>
              </a:rPr>
              <a:t> </a:t>
            </a:r>
            <a:r>
              <a:rPr sz="1800" spc="-50" dirty="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52852" y="5917564"/>
            <a:ext cx="1012825" cy="216535"/>
          </a:xfrm>
          <a:custGeom>
            <a:avLst/>
            <a:gdLst/>
            <a:ahLst/>
            <a:cxnLst/>
            <a:rect l="l" t="t" r="r" b="b"/>
            <a:pathLst>
              <a:path w="1012825" h="216535">
                <a:moveTo>
                  <a:pt x="1012355" y="4559"/>
                </a:moveTo>
                <a:lnTo>
                  <a:pt x="1007783" y="0"/>
                </a:lnTo>
                <a:lnTo>
                  <a:pt x="992568" y="0"/>
                </a:lnTo>
                <a:lnTo>
                  <a:pt x="992568" y="19799"/>
                </a:lnTo>
                <a:lnTo>
                  <a:pt x="992568" y="196481"/>
                </a:lnTo>
                <a:lnTo>
                  <a:pt x="764209" y="196481"/>
                </a:lnTo>
                <a:lnTo>
                  <a:pt x="764209" y="19799"/>
                </a:lnTo>
                <a:lnTo>
                  <a:pt x="992568" y="19799"/>
                </a:lnTo>
                <a:lnTo>
                  <a:pt x="992568" y="0"/>
                </a:lnTo>
                <a:lnTo>
                  <a:pt x="761174" y="0"/>
                </a:lnTo>
                <a:lnTo>
                  <a:pt x="750519" y="0"/>
                </a:lnTo>
                <a:lnTo>
                  <a:pt x="745947" y="0"/>
                </a:lnTo>
                <a:lnTo>
                  <a:pt x="745947" y="19799"/>
                </a:lnTo>
                <a:lnTo>
                  <a:pt x="745947" y="196481"/>
                </a:lnTo>
                <a:lnTo>
                  <a:pt x="517601" y="196481"/>
                </a:lnTo>
                <a:lnTo>
                  <a:pt x="517601" y="19799"/>
                </a:lnTo>
                <a:lnTo>
                  <a:pt x="745947" y="19799"/>
                </a:lnTo>
                <a:lnTo>
                  <a:pt x="745947" y="0"/>
                </a:lnTo>
                <a:lnTo>
                  <a:pt x="509981" y="0"/>
                </a:lnTo>
                <a:lnTo>
                  <a:pt x="502373" y="0"/>
                </a:lnTo>
                <a:lnTo>
                  <a:pt x="494766" y="0"/>
                </a:lnTo>
                <a:lnTo>
                  <a:pt x="494766" y="19799"/>
                </a:lnTo>
                <a:lnTo>
                  <a:pt x="494766" y="196481"/>
                </a:lnTo>
                <a:lnTo>
                  <a:pt x="266407" y="196481"/>
                </a:lnTo>
                <a:lnTo>
                  <a:pt x="266407" y="19799"/>
                </a:lnTo>
                <a:lnTo>
                  <a:pt x="494766" y="19799"/>
                </a:lnTo>
                <a:lnTo>
                  <a:pt x="494766" y="0"/>
                </a:lnTo>
                <a:lnTo>
                  <a:pt x="261848" y="0"/>
                </a:lnTo>
                <a:lnTo>
                  <a:pt x="252704" y="0"/>
                </a:lnTo>
                <a:lnTo>
                  <a:pt x="246621" y="0"/>
                </a:lnTo>
                <a:lnTo>
                  <a:pt x="246621" y="19799"/>
                </a:lnTo>
                <a:lnTo>
                  <a:pt x="246621" y="196481"/>
                </a:lnTo>
                <a:lnTo>
                  <a:pt x="18275" y="196481"/>
                </a:lnTo>
                <a:lnTo>
                  <a:pt x="18275" y="19799"/>
                </a:lnTo>
                <a:lnTo>
                  <a:pt x="246621" y="19799"/>
                </a:lnTo>
                <a:lnTo>
                  <a:pt x="246621" y="0"/>
                </a:lnTo>
                <a:lnTo>
                  <a:pt x="3048" y="0"/>
                </a:lnTo>
                <a:lnTo>
                  <a:pt x="0" y="4559"/>
                </a:lnTo>
                <a:lnTo>
                  <a:pt x="0" y="211709"/>
                </a:lnTo>
                <a:lnTo>
                  <a:pt x="3048" y="216281"/>
                </a:lnTo>
                <a:lnTo>
                  <a:pt x="252704" y="216281"/>
                </a:lnTo>
                <a:lnTo>
                  <a:pt x="261848" y="216281"/>
                </a:lnTo>
                <a:lnTo>
                  <a:pt x="1007783" y="216281"/>
                </a:lnTo>
                <a:lnTo>
                  <a:pt x="1012355" y="211709"/>
                </a:lnTo>
                <a:lnTo>
                  <a:pt x="1012355" y="207149"/>
                </a:lnTo>
                <a:lnTo>
                  <a:pt x="1012355" y="196481"/>
                </a:lnTo>
                <a:lnTo>
                  <a:pt x="1012355" y="19799"/>
                </a:lnTo>
                <a:lnTo>
                  <a:pt x="1012355" y="9144"/>
                </a:lnTo>
                <a:lnTo>
                  <a:pt x="1012355" y="4559"/>
                </a:lnTo>
                <a:close/>
              </a:path>
            </a:pathLst>
          </a:custGeom>
          <a:solidFill>
            <a:srgbClr val="6A85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2890" y="1916150"/>
            <a:ext cx="1656295" cy="83775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36758" y="5928220"/>
            <a:ext cx="1233093" cy="93980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009923" y="586420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8795" y="6606737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76826" y="5907950"/>
            <a:ext cx="151765" cy="79375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800" spc="-50" dirty="0">
                <a:latin typeface="Tw Cen MT"/>
                <a:cs typeface="Tw Cen MT"/>
              </a:rPr>
              <a:t>2</a:t>
            </a:r>
            <a:endParaRPr sz="18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1800" spc="-50" dirty="0">
                <a:latin typeface="Tw Cen MT"/>
                <a:cs typeface="Tw Cen MT"/>
              </a:rPr>
              <a:t>3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74856" y="586420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1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43728" y="658113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492585" y="6164313"/>
            <a:ext cx="1449705" cy="182880"/>
          </a:xfrm>
          <a:custGeom>
            <a:avLst/>
            <a:gdLst/>
            <a:ahLst/>
            <a:cxnLst/>
            <a:rect l="l" t="t" r="r" b="b"/>
            <a:pathLst>
              <a:path w="1449704" h="182879">
                <a:moveTo>
                  <a:pt x="1449260" y="4572"/>
                </a:moveTo>
                <a:lnTo>
                  <a:pt x="1444688" y="0"/>
                </a:lnTo>
                <a:lnTo>
                  <a:pt x="1430997" y="0"/>
                </a:lnTo>
                <a:lnTo>
                  <a:pt x="1430997" y="18275"/>
                </a:lnTo>
                <a:lnTo>
                  <a:pt x="1430997" y="164503"/>
                </a:lnTo>
                <a:lnTo>
                  <a:pt x="1210259" y="164503"/>
                </a:lnTo>
                <a:lnTo>
                  <a:pt x="1210259" y="18275"/>
                </a:lnTo>
                <a:lnTo>
                  <a:pt x="1430997" y="18275"/>
                </a:lnTo>
                <a:lnTo>
                  <a:pt x="1430997" y="0"/>
                </a:lnTo>
                <a:lnTo>
                  <a:pt x="1205687" y="0"/>
                </a:lnTo>
                <a:lnTo>
                  <a:pt x="1195031" y="0"/>
                </a:lnTo>
                <a:lnTo>
                  <a:pt x="1190459" y="0"/>
                </a:lnTo>
                <a:lnTo>
                  <a:pt x="1190459" y="18275"/>
                </a:lnTo>
                <a:lnTo>
                  <a:pt x="1190459" y="164503"/>
                </a:lnTo>
                <a:lnTo>
                  <a:pt x="969721" y="164503"/>
                </a:lnTo>
                <a:lnTo>
                  <a:pt x="969721" y="18275"/>
                </a:lnTo>
                <a:lnTo>
                  <a:pt x="1190459" y="18275"/>
                </a:lnTo>
                <a:lnTo>
                  <a:pt x="1190459" y="0"/>
                </a:lnTo>
                <a:lnTo>
                  <a:pt x="962113" y="0"/>
                </a:lnTo>
                <a:lnTo>
                  <a:pt x="954506" y="0"/>
                </a:lnTo>
                <a:lnTo>
                  <a:pt x="948410" y="0"/>
                </a:lnTo>
                <a:lnTo>
                  <a:pt x="948410" y="18275"/>
                </a:lnTo>
                <a:lnTo>
                  <a:pt x="948410" y="164503"/>
                </a:lnTo>
                <a:lnTo>
                  <a:pt x="727671" y="164503"/>
                </a:lnTo>
                <a:lnTo>
                  <a:pt x="727671" y="18275"/>
                </a:lnTo>
                <a:lnTo>
                  <a:pt x="948410" y="18275"/>
                </a:lnTo>
                <a:lnTo>
                  <a:pt x="948410" y="0"/>
                </a:lnTo>
                <a:lnTo>
                  <a:pt x="721588" y="0"/>
                </a:lnTo>
                <a:lnTo>
                  <a:pt x="712457" y="0"/>
                </a:lnTo>
                <a:lnTo>
                  <a:pt x="706361" y="0"/>
                </a:lnTo>
                <a:lnTo>
                  <a:pt x="706361" y="18275"/>
                </a:lnTo>
                <a:lnTo>
                  <a:pt x="706361" y="164503"/>
                </a:lnTo>
                <a:lnTo>
                  <a:pt x="493229" y="164503"/>
                </a:lnTo>
                <a:lnTo>
                  <a:pt x="493229" y="18275"/>
                </a:lnTo>
                <a:lnTo>
                  <a:pt x="706361" y="18275"/>
                </a:lnTo>
                <a:lnTo>
                  <a:pt x="706361" y="0"/>
                </a:lnTo>
                <a:lnTo>
                  <a:pt x="490194" y="0"/>
                </a:lnTo>
                <a:lnTo>
                  <a:pt x="471919" y="0"/>
                </a:lnTo>
                <a:lnTo>
                  <a:pt x="467360" y="0"/>
                </a:lnTo>
                <a:lnTo>
                  <a:pt x="467360" y="18275"/>
                </a:lnTo>
                <a:lnTo>
                  <a:pt x="467360" y="164503"/>
                </a:lnTo>
                <a:lnTo>
                  <a:pt x="258800" y="164503"/>
                </a:lnTo>
                <a:lnTo>
                  <a:pt x="258800" y="18275"/>
                </a:lnTo>
                <a:lnTo>
                  <a:pt x="467360" y="18275"/>
                </a:lnTo>
                <a:lnTo>
                  <a:pt x="467360" y="0"/>
                </a:lnTo>
                <a:lnTo>
                  <a:pt x="254228" y="0"/>
                </a:lnTo>
                <a:lnTo>
                  <a:pt x="239001" y="0"/>
                </a:lnTo>
                <a:lnTo>
                  <a:pt x="234442" y="0"/>
                </a:lnTo>
                <a:lnTo>
                  <a:pt x="234442" y="18275"/>
                </a:lnTo>
                <a:lnTo>
                  <a:pt x="234442" y="164503"/>
                </a:lnTo>
                <a:lnTo>
                  <a:pt x="19786" y="164503"/>
                </a:lnTo>
                <a:lnTo>
                  <a:pt x="19786" y="18275"/>
                </a:lnTo>
                <a:lnTo>
                  <a:pt x="234442" y="18275"/>
                </a:lnTo>
                <a:lnTo>
                  <a:pt x="234442" y="0"/>
                </a:lnTo>
                <a:lnTo>
                  <a:pt x="4559" y="0"/>
                </a:lnTo>
                <a:lnTo>
                  <a:pt x="0" y="4572"/>
                </a:lnTo>
                <a:lnTo>
                  <a:pt x="0" y="178206"/>
                </a:lnTo>
                <a:lnTo>
                  <a:pt x="4559" y="182778"/>
                </a:lnTo>
                <a:lnTo>
                  <a:pt x="239001" y="182778"/>
                </a:lnTo>
                <a:lnTo>
                  <a:pt x="254228" y="182778"/>
                </a:lnTo>
                <a:lnTo>
                  <a:pt x="1444688" y="182778"/>
                </a:lnTo>
                <a:lnTo>
                  <a:pt x="1449260" y="178206"/>
                </a:lnTo>
                <a:lnTo>
                  <a:pt x="1449260" y="173647"/>
                </a:lnTo>
                <a:lnTo>
                  <a:pt x="1449260" y="164503"/>
                </a:lnTo>
                <a:lnTo>
                  <a:pt x="1449260" y="18275"/>
                </a:lnTo>
                <a:lnTo>
                  <a:pt x="1449260" y="9144"/>
                </a:lnTo>
                <a:lnTo>
                  <a:pt x="1449260" y="4572"/>
                </a:lnTo>
                <a:close/>
              </a:path>
            </a:pathLst>
          </a:custGeom>
          <a:solidFill>
            <a:srgbClr val="6A85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546026" y="6092993"/>
            <a:ext cx="859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w Cen MT"/>
                <a:cs typeface="Tw Cen MT"/>
              </a:rPr>
              <a:t>4</a:t>
            </a:r>
            <a:r>
              <a:rPr sz="1800" spc="365" dirty="0">
                <a:latin typeface="Tw Cen MT"/>
                <a:cs typeface="Tw Cen MT"/>
              </a:rPr>
              <a:t> </a:t>
            </a:r>
            <a:r>
              <a:rPr sz="1800" dirty="0">
                <a:latin typeface="Tw Cen MT"/>
                <a:cs typeface="Tw Cen MT"/>
              </a:rPr>
              <a:t>1</a:t>
            </a:r>
            <a:r>
              <a:rPr sz="1800" spc="340" dirty="0">
                <a:latin typeface="Tw Cen MT"/>
                <a:cs typeface="Tw Cen MT"/>
              </a:rPr>
              <a:t> </a:t>
            </a:r>
            <a:r>
              <a:rPr sz="1800" dirty="0">
                <a:latin typeface="Tw Cen MT"/>
                <a:cs typeface="Tw Cen MT"/>
              </a:rPr>
              <a:t>3</a:t>
            </a:r>
            <a:r>
              <a:rPr sz="1800" spc="409" dirty="0">
                <a:latin typeface="Tw Cen MT"/>
                <a:cs typeface="Tw Cen MT"/>
              </a:rPr>
              <a:t> </a:t>
            </a:r>
            <a:r>
              <a:rPr sz="1800" spc="-50" dirty="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57073" y="5882525"/>
            <a:ext cx="1160017" cy="852982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022224" y="581070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0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92963" y="6482619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4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61186" y="5876342"/>
            <a:ext cx="151765" cy="7207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800" spc="-50" dirty="0">
                <a:latin typeface="Tw Cen MT"/>
                <a:cs typeface="Tw Cen MT"/>
              </a:rPr>
              <a:t>2</a:t>
            </a:r>
            <a:endParaRPr sz="18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800" spc="-50" dirty="0">
                <a:latin typeface="Tw Cen MT"/>
                <a:cs typeface="Tw Cen MT"/>
              </a:rPr>
              <a:t>3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29397" y="5810703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1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900136" y="6459451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91106" y="5929744"/>
            <a:ext cx="1364615" cy="167640"/>
          </a:xfrm>
          <a:custGeom>
            <a:avLst/>
            <a:gdLst/>
            <a:ahLst/>
            <a:cxnLst/>
            <a:rect l="l" t="t" r="r" b="b"/>
            <a:pathLst>
              <a:path w="1364615" h="167639">
                <a:moveTo>
                  <a:pt x="1364018" y="3048"/>
                </a:moveTo>
                <a:lnTo>
                  <a:pt x="1359446" y="0"/>
                </a:lnTo>
                <a:lnTo>
                  <a:pt x="1344218" y="0"/>
                </a:lnTo>
                <a:lnTo>
                  <a:pt x="1344218" y="18275"/>
                </a:lnTo>
                <a:lnTo>
                  <a:pt x="1344218" y="147751"/>
                </a:lnTo>
                <a:lnTo>
                  <a:pt x="1138707" y="147751"/>
                </a:lnTo>
                <a:lnTo>
                  <a:pt x="1138707" y="18275"/>
                </a:lnTo>
                <a:lnTo>
                  <a:pt x="1344218" y="18275"/>
                </a:lnTo>
                <a:lnTo>
                  <a:pt x="1344218" y="0"/>
                </a:lnTo>
                <a:lnTo>
                  <a:pt x="1134148" y="0"/>
                </a:lnTo>
                <a:lnTo>
                  <a:pt x="1123480" y="0"/>
                </a:lnTo>
                <a:lnTo>
                  <a:pt x="1118920" y="0"/>
                </a:lnTo>
                <a:lnTo>
                  <a:pt x="1118920" y="18275"/>
                </a:lnTo>
                <a:lnTo>
                  <a:pt x="1118920" y="147751"/>
                </a:lnTo>
                <a:lnTo>
                  <a:pt x="913396" y="147751"/>
                </a:lnTo>
                <a:lnTo>
                  <a:pt x="913396" y="18275"/>
                </a:lnTo>
                <a:lnTo>
                  <a:pt x="1118920" y="18275"/>
                </a:lnTo>
                <a:lnTo>
                  <a:pt x="1118920" y="0"/>
                </a:lnTo>
                <a:lnTo>
                  <a:pt x="905789" y="0"/>
                </a:lnTo>
                <a:lnTo>
                  <a:pt x="898182" y="0"/>
                </a:lnTo>
                <a:lnTo>
                  <a:pt x="890562" y="0"/>
                </a:lnTo>
                <a:lnTo>
                  <a:pt x="890562" y="18275"/>
                </a:lnTo>
                <a:lnTo>
                  <a:pt x="890562" y="147751"/>
                </a:lnTo>
                <a:lnTo>
                  <a:pt x="685050" y="147751"/>
                </a:lnTo>
                <a:lnTo>
                  <a:pt x="685050" y="18275"/>
                </a:lnTo>
                <a:lnTo>
                  <a:pt x="890562" y="18275"/>
                </a:lnTo>
                <a:lnTo>
                  <a:pt x="890562" y="0"/>
                </a:lnTo>
                <a:lnTo>
                  <a:pt x="678967" y="0"/>
                </a:lnTo>
                <a:lnTo>
                  <a:pt x="669823" y="0"/>
                </a:lnTo>
                <a:lnTo>
                  <a:pt x="663740" y="0"/>
                </a:lnTo>
                <a:lnTo>
                  <a:pt x="663740" y="18275"/>
                </a:lnTo>
                <a:lnTo>
                  <a:pt x="663740" y="147751"/>
                </a:lnTo>
                <a:lnTo>
                  <a:pt x="465836" y="147751"/>
                </a:lnTo>
                <a:lnTo>
                  <a:pt x="465836" y="18275"/>
                </a:lnTo>
                <a:lnTo>
                  <a:pt x="663740" y="18275"/>
                </a:lnTo>
                <a:lnTo>
                  <a:pt x="663740" y="0"/>
                </a:lnTo>
                <a:lnTo>
                  <a:pt x="461264" y="0"/>
                </a:lnTo>
                <a:lnTo>
                  <a:pt x="443001" y="0"/>
                </a:lnTo>
                <a:lnTo>
                  <a:pt x="438429" y="0"/>
                </a:lnTo>
                <a:lnTo>
                  <a:pt x="438429" y="18275"/>
                </a:lnTo>
                <a:lnTo>
                  <a:pt x="438429" y="147751"/>
                </a:lnTo>
                <a:lnTo>
                  <a:pt x="243573" y="147751"/>
                </a:lnTo>
                <a:lnTo>
                  <a:pt x="243573" y="18275"/>
                </a:lnTo>
                <a:lnTo>
                  <a:pt x="438429" y="18275"/>
                </a:lnTo>
                <a:lnTo>
                  <a:pt x="438429" y="0"/>
                </a:lnTo>
                <a:lnTo>
                  <a:pt x="240525" y="0"/>
                </a:lnTo>
                <a:lnTo>
                  <a:pt x="225310" y="0"/>
                </a:lnTo>
                <a:lnTo>
                  <a:pt x="220738" y="0"/>
                </a:lnTo>
                <a:lnTo>
                  <a:pt x="220738" y="18275"/>
                </a:lnTo>
                <a:lnTo>
                  <a:pt x="220738" y="147751"/>
                </a:lnTo>
                <a:lnTo>
                  <a:pt x="18275" y="147751"/>
                </a:lnTo>
                <a:lnTo>
                  <a:pt x="18275" y="18275"/>
                </a:lnTo>
                <a:lnTo>
                  <a:pt x="220738" y="18275"/>
                </a:lnTo>
                <a:lnTo>
                  <a:pt x="220738" y="0"/>
                </a:lnTo>
                <a:lnTo>
                  <a:pt x="4572" y="0"/>
                </a:lnTo>
                <a:lnTo>
                  <a:pt x="0" y="3048"/>
                </a:lnTo>
                <a:lnTo>
                  <a:pt x="0" y="162979"/>
                </a:lnTo>
                <a:lnTo>
                  <a:pt x="4572" y="167551"/>
                </a:lnTo>
                <a:lnTo>
                  <a:pt x="225310" y="167551"/>
                </a:lnTo>
                <a:lnTo>
                  <a:pt x="240525" y="167551"/>
                </a:lnTo>
                <a:lnTo>
                  <a:pt x="1359446" y="167551"/>
                </a:lnTo>
                <a:lnTo>
                  <a:pt x="1364018" y="162979"/>
                </a:lnTo>
                <a:lnTo>
                  <a:pt x="1364018" y="156883"/>
                </a:lnTo>
                <a:lnTo>
                  <a:pt x="1364018" y="147751"/>
                </a:lnTo>
                <a:lnTo>
                  <a:pt x="1364018" y="18275"/>
                </a:lnTo>
                <a:lnTo>
                  <a:pt x="1364018" y="9144"/>
                </a:lnTo>
                <a:lnTo>
                  <a:pt x="1364018" y="3048"/>
                </a:lnTo>
                <a:close/>
              </a:path>
            </a:pathLst>
          </a:custGeom>
          <a:solidFill>
            <a:srgbClr val="6A85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8437130" y="5850201"/>
            <a:ext cx="590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w Cen MT"/>
                <a:cs typeface="Tw Cen MT"/>
              </a:rPr>
              <a:t>1</a:t>
            </a:r>
            <a:r>
              <a:rPr sz="1800" spc="250" dirty="0">
                <a:latin typeface="Tw Cen MT"/>
                <a:cs typeface="Tw Cen MT"/>
              </a:rPr>
              <a:t> </a:t>
            </a:r>
            <a:r>
              <a:rPr sz="1800" dirty="0">
                <a:latin typeface="Tw Cen MT"/>
                <a:cs typeface="Tw Cen MT"/>
              </a:rPr>
              <a:t>3</a:t>
            </a:r>
            <a:r>
              <a:rPr sz="1800" spc="225" dirty="0">
                <a:latin typeface="Tw Cen MT"/>
                <a:cs typeface="Tw Cen MT"/>
              </a:rPr>
              <a:t> </a:t>
            </a:r>
            <a:r>
              <a:rPr sz="1800" spc="-50" dirty="0">
                <a:latin typeface="Tw Cen MT"/>
                <a:cs typeface="Tw Cen MT"/>
              </a:rPr>
              <a:t>5</a:t>
            </a:r>
            <a:endParaRPr sz="1800">
              <a:latin typeface="Tw Cen MT"/>
              <a:cs typeface="Tw Cen MT"/>
            </a:endParaRPr>
          </a:p>
        </p:txBody>
      </p: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24228" y="2878810"/>
            <a:ext cx="1540598" cy="85603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36407" y="3874973"/>
            <a:ext cx="1466011" cy="848410"/>
          </a:xfrm>
          <a:prstGeom prst="rect">
            <a:avLst/>
          </a:prstGeom>
        </p:spPr>
      </p:pic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BFS</a:t>
            </a:r>
            <a:r>
              <a:rPr spc="-60" dirty="0">
                <a:latin typeface="Tw Cen MT"/>
                <a:cs typeface="Tw Cen MT"/>
              </a:rPr>
              <a:t> </a:t>
            </a:r>
            <a:r>
              <a:rPr spc="-1914" dirty="0"/>
              <a:t>프로그램</a:t>
            </a:r>
            <a:r>
              <a:rPr spc="-1914" dirty="0">
                <a:latin typeface="Tw Cen MT"/>
                <a:cs typeface="Tw Cen MT"/>
              </a:rPr>
              <a:t>(</a:t>
            </a:r>
            <a:r>
              <a:rPr spc="-1914" dirty="0"/>
              <a:t>인접리스트</a:t>
            </a:r>
            <a:r>
              <a:rPr spc="-1914" dirty="0">
                <a:latin typeface="Tw Cen MT"/>
                <a:cs typeface="Tw Cen MT"/>
              </a:rPr>
              <a:t>)</a:t>
            </a:r>
            <a:r>
              <a:rPr spc="-10" dirty="0">
                <a:latin typeface="Tw Cen MT"/>
                <a:cs typeface="Tw Cen MT"/>
              </a:rPr>
              <a:t> (bfs_list.c)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80286" y="1696821"/>
            <a:ext cx="7936230" cy="4208780"/>
            <a:chOff x="1280286" y="1696821"/>
            <a:chExt cx="7936230" cy="4208780"/>
          </a:xfrm>
        </p:grpSpPr>
        <p:sp>
          <p:nvSpPr>
            <p:cNvPr id="4" name="object 4"/>
            <p:cNvSpPr/>
            <p:nvPr/>
          </p:nvSpPr>
          <p:spPr>
            <a:xfrm>
              <a:off x="1292466" y="1709000"/>
              <a:ext cx="7912100" cy="4184650"/>
            </a:xfrm>
            <a:custGeom>
              <a:avLst/>
              <a:gdLst/>
              <a:ahLst/>
              <a:cxnLst/>
              <a:rect l="l" t="t" r="r" b="b"/>
              <a:pathLst>
                <a:path w="7912100" h="4184650">
                  <a:moveTo>
                    <a:pt x="7911566" y="0"/>
                  </a:moveTo>
                  <a:lnTo>
                    <a:pt x="0" y="0"/>
                  </a:lnTo>
                  <a:lnTo>
                    <a:pt x="0" y="4184180"/>
                  </a:lnTo>
                  <a:lnTo>
                    <a:pt x="7911566" y="4184180"/>
                  </a:lnTo>
                  <a:lnTo>
                    <a:pt x="791156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80286" y="1696821"/>
              <a:ext cx="7936230" cy="4208780"/>
            </a:xfrm>
            <a:custGeom>
              <a:avLst/>
              <a:gdLst/>
              <a:ahLst/>
              <a:cxnLst/>
              <a:rect l="l" t="t" r="r" b="b"/>
              <a:pathLst>
                <a:path w="7936230" h="4208780">
                  <a:moveTo>
                    <a:pt x="7935925" y="0"/>
                  </a:moveTo>
                  <a:lnTo>
                    <a:pt x="0" y="0"/>
                  </a:lnTo>
                  <a:lnTo>
                    <a:pt x="0" y="4208551"/>
                  </a:lnTo>
                  <a:lnTo>
                    <a:pt x="7935925" y="4208551"/>
                  </a:lnTo>
                  <a:lnTo>
                    <a:pt x="7935925" y="4196359"/>
                  </a:lnTo>
                  <a:lnTo>
                    <a:pt x="24358" y="4196359"/>
                  </a:lnTo>
                  <a:lnTo>
                    <a:pt x="12179" y="4182656"/>
                  </a:lnTo>
                  <a:lnTo>
                    <a:pt x="24358" y="4182656"/>
                  </a:lnTo>
                  <a:lnTo>
                    <a:pt x="24358" y="24371"/>
                  </a:lnTo>
                  <a:lnTo>
                    <a:pt x="12179" y="24371"/>
                  </a:lnTo>
                  <a:lnTo>
                    <a:pt x="24358" y="12191"/>
                  </a:lnTo>
                  <a:lnTo>
                    <a:pt x="7935925" y="12191"/>
                  </a:lnTo>
                  <a:lnTo>
                    <a:pt x="7935925" y="0"/>
                  </a:lnTo>
                  <a:close/>
                </a:path>
                <a:path w="7936230" h="4208780">
                  <a:moveTo>
                    <a:pt x="24358" y="4182656"/>
                  </a:moveTo>
                  <a:lnTo>
                    <a:pt x="12179" y="4182656"/>
                  </a:lnTo>
                  <a:lnTo>
                    <a:pt x="24358" y="4196359"/>
                  </a:lnTo>
                  <a:lnTo>
                    <a:pt x="24358" y="4182656"/>
                  </a:lnTo>
                  <a:close/>
                </a:path>
                <a:path w="7936230" h="4208780">
                  <a:moveTo>
                    <a:pt x="7911566" y="4182656"/>
                  </a:moveTo>
                  <a:lnTo>
                    <a:pt x="24358" y="4182656"/>
                  </a:lnTo>
                  <a:lnTo>
                    <a:pt x="24358" y="4196359"/>
                  </a:lnTo>
                  <a:lnTo>
                    <a:pt x="7911566" y="4196359"/>
                  </a:lnTo>
                  <a:lnTo>
                    <a:pt x="7911566" y="4182656"/>
                  </a:lnTo>
                  <a:close/>
                </a:path>
                <a:path w="7936230" h="4208780">
                  <a:moveTo>
                    <a:pt x="7911566" y="12191"/>
                  </a:moveTo>
                  <a:lnTo>
                    <a:pt x="7911566" y="4196359"/>
                  </a:lnTo>
                  <a:lnTo>
                    <a:pt x="7923745" y="4182656"/>
                  </a:lnTo>
                  <a:lnTo>
                    <a:pt x="7935925" y="4182656"/>
                  </a:lnTo>
                  <a:lnTo>
                    <a:pt x="7935925" y="24371"/>
                  </a:lnTo>
                  <a:lnTo>
                    <a:pt x="7923745" y="24371"/>
                  </a:lnTo>
                  <a:lnTo>
                    <a:pt x="7911566" y="12191"/>
                  </a:lnTo>
                  <a:close/>
                </a:path>
                <a:path w="7936230" h="4208780">
                  <a:moveTo>
                    <a:pt x="7935925" y="4182656"/>
                  </a:moveTo>
                  <a:lnTo>
                    <a:pt x="7923745" y="4182656"/>
                  </a:lnTo>
                  <a:lnTo>
                    <a:pt x="7911566" y="4196359"/>
                  </a:lnTo>
                  <a:lnTo>
                    <a:pt x="7935925" y="4196359"/>
                  </a:lnTo>
                  <a:lnTo>
                    <a:pt x="7935925" y="4182656"/>
                  </a:lnTo>
                  <a:close/>
                </a:path>
                <a:path w="7936230" h="4208780">
                  <a:moveTo>
                    <a:pt x="24358" y="12191"/>
                  </a:moveTo>
                  <a:lnTo>
                    <a:pt x="12179" y="24371"/>
                  </a:lnTo>
                  <a:lnTo>
                    <a:pt x="24358" y="24371"/>
                  </a:lnTo>
                  <a:lnTo>
                    <a:pt x="24358" y="12191"/>
                  </a:lnTo>
                  <a:close/>
                </a:path>
                <a:path w="7936230" h="4208780">
                  <a:moveTo>
                    <a:pt x="7911566" y="12191"/>
                  </a:moveTo>
                  <a:lnTo>
                    <a:pt x="24358" y="12191"/>
                  </a:lnTo>
                  <a:lnTo>
                    <a:pt x="24358" y="24371"/>
                  </a:lnTo>
                  <a:lnTo>
                    <a:pt x="7911566" y="24371"/>
                  </a:lnTo>
                  <a:lnTo>
                    <a:pt x="7911566" y="12191"/>
                  </a:lnTo>
                  <a:close/>
                </a:path>
                <a:path w="7936230" h="4208780">
                  <a:moveTo>
                    <a:pt x="7935925" y="12191"/>
                  </a:moveTo>
                  <a:lnTo>
                    <a:pt x="7911566" y="12191"/>
                  </a:lnTo>
                  <a:lnTo>
                    <a:pt x="7923745" y="24371"/>
                  </a:lnTo>
                  <a:lnTo>
                    <a:pt x="7935925" y="24371"/>
                  </a:lnTo>
                  <a:lnTo>
                    <a:pt x="7935925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70596" y="1730839"/>
            <a:ext cx="264287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void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bfs_list(GraphType*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g,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int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v)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509905">
              <a:lnSpc>
                <a:spcPct val="100000"/>
              </a:lnSpc>
            </a:pPr>
            <a:r>
              <a:rPr sz="1400" dirty="0">
                <a:latin typeface="Trebuchet MS"/>
                <a:cs typeface="Trebuchet MS"/>
              </a:rPr>
              <a:t>GraphNode*</a:t>
            </a:r>
            <a:r>
              <a:rPr sz="1400" spc="-9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w; </a:t>
            </a:r>
            <a:r>
              <a:rPr sz="1400" spc="-20" dirty="0">
                <a:latin typeface="Trebuchet MS"/>
                <a:cs typeface="Trebuchet MS"/>
              </a:rPr>
              <a:t>QueueType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q;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937593" y="2781828"/>
            <a:ext cx="10852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2100" spc="-7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큐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초기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spc="-50" dirty="0">
                <a:latin typeface="Gulim"/>
                <a:cs typeface="Gulim"/>
              </a:rPr>
              <a:t>화</a:t>
            </a:r>
            <a:endParaRPr sz="1400">
              <a:latin typeface="Gulim"/>
              <a:cs typeface="Guli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83993" y="2797055"/>
            <a:ext cx="14503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rebuchet MS"/>
                <a:cs typeface="Trebuchet MS"/>
              </a:rPr>
              <a:t>init(&amp;q); </a:t>
            </a:r>
            <a:r>
              <a:rPr sz="1400" dirty="0">
                <a:latin typeface="Trebuchet MS"/>
                <a:cs typeface="Trebuchet MS"/>
              </a:rPr>
              <a:t>visited[v]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TRUE;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0127" y="2995073"/>
            <a:ext cx="15817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2100" spc="-7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정점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2100" baseline="-3968" dirty="0">
                <a:latin typeface="Trebuchet MS"/>
                <a:cs typeface="Trebuchet MS"/>
              </a:rPr>
              <a:t>v</a:t>
            </a:r>
            <a:r>
              <a:rPr sz="2100" spc="-7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방문</a:t>
            </a:r>
            <a:r>
              <a:rPr sz="1400" spc="-6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표시</a:t>
            </a:r>
            <a:endParaRPr sz="1400">
              <a:latin typeface="Gulim"/>
              <a:cs typeface="Guli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83993" y="3223547"/>
            <a:ext cx="18719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printf("%d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2100" baseline="3968" dirty="0">
                <a:latin typeface="Gulim"/>
                <a:cs typeface="Gulim"/>
              </a:rPr>
              <a:t>방문</a:t>
            </a:r>
            <a:r>
              <a:rPr sz="2100" spc="-89" baseline="3968" dirty="0">
                <a:latin typeface="Gulim"/>
                <a:cs typeface="Gulim"/>
              </a:rPr>
              <a:t> </a:t>
            </a:r>
            <a:r>
              <a:rPr sz="1400" dirty="0">
                <a:latin typeface="Trebuchet MS"/>
                <a:cs typeface="Trebuchet MS"/>
              </a:rPr>
              <a:t>-&gt;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",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v); </a:t>
            </a:r>
            <a:r>
              <a:rPr sz="1400" dirty="0">
                <a:latin typeface="Trebuchet MS"/>
                <a:cs typeface="Trebuchet MS"/>
              </a:rPr>
              <a:t>enqueue(&amp;q,</a:t>
            </a:r>
            <a:r>
              <a:rPr sz="1400" spc="-60" dirty="0">
                <a:latin typeface="Trebuchet MS"/>
                <a:cs typeface="Trebuchet MS"/>
              </a:rPr>
              <a:t> </a:t>
            </a:r>
            <a:r>
              <a:rPr sz="1400" spc="-25" dirty="0">
                <a:latin typeface="Trebuchet MS"/>
                <a:cs typeface="Trebuchet MS"/>
              </a:rPr>
              <a:t>v);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37593" y="3421565"/>
            <a:ext cx="197421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2100" spc="-7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시작정점을</a:t>
            </a:r>
            <a:r>
              <a:rPr sz="1400" spc="-6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큐에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저장</a:t>
            </a:r>
            <a:endParaRPr sz="1400">
              <a:latin typeface="Gulim"/>
              <a:cs typeface="Guli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83993" y="3650038"/>
            <a:ext cx="23317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while</a:t>
            </a:r>
            <a:r>
              <a:rPr sz="1400" spc="-5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(!is_empty(&amp;q))</a:t>
            </a:r>
            <a:r>
              <a:rPr sz="1400" spc="-65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sz="1400" dirty="0">
                <a:latin typeface="Trebuchet MS"/>
                <a:cs typeface="Trebuchet MS"/>
              </a:rPr>
              <a:t>v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 </a:t>
            </a:r>
            <a:r>
              <a:rPr sz="1400" spc="-10" dirty="0">
                <a:latin typeface="Trebuchet MS"/>
                <a:cs typeface="Trebuchet MS"/>
              </a:rPr>
              <a:t>dequeue(&amp;q);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37593" y="3848056"/>
            <a:ext cx="20275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2100" spc="-7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큐에</a:t>
            </a:r>
            <a:r>
              <a:rPr sz="1400" spc="-5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저장된</a:t>
            </a:r>
            <a:r>
              <a:rPr sz="1400" spc="-6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정점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선택</a:t>
            </a:r>
            <a:endParaRPr sz="1400">
              <a:latin typeface="Gulim"/>
              <a:cs typeface="Guli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97390" y="4076529"/>
            <a:ext cx="45288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for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(w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</a:t>
            </a:r>
            <a:r>
              <a:rPr sz="1400" spc="-1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g-&gt;adj_list[v];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w;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w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</a:t>
            </a:r>
            <a:r>
              <a:rPr sz="1400" spc="-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w-</a:t>
            </a:r>
            <a:r>
              <a:rPr sz="1400" dirty="0">
                <a:latin typeface="Trebuchet MS"/>
                <a:cs typeface="Trebuchet MS"/>
              </a:rPr>
              <a:t>&gt;link)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//</a:t>
            </a:r>
            <a:r>
              <a:rPr sz="2100" baseline="3968" dirty="0">
                <a:latin typeface="Gulim"/>
                <a:cs typeface="Gulim"/>
              </a:rPr>
              <a:t>인접</a:t>
            </a:r>
            <a:r>
              <a:rPr sz="2100" spc="-97" baseline="3968" dirty="0">
                <a:latin typeface="Gulim"/>
                <a:cs typeface="Gulim"/>
              </a:rPr>
              <a:t> </a:t>
            </a:r>
            <a:r>
              <a:rPr sz="2100" baseline="3968" dirty="0">
                <a:latin typeface="Gulim"/>
                <a:cs typeface="Gulim"/>
              </a:rPr>
              <a:t>정점</a:t>
            </a:r>
            <a:r>
              <a:rPr sz="2100" spc="-89" baseline="3968" dirty="0">
                <a:latin typeface="Gulim"/>
                <a:cs typeface="Gulim"/>
              </a:rPr>
              <a:t> </a:t>
            </a:r>
            <a:r>
              <a:rPr sz="2100" spc="-37" baseline="3968" dirty="0">
                <a:latin typeface="Gulim"/>
                <a:cs typeface="Gulim"/>
              </a:rPr>
              <a:t>탐색</a:t>
            </a:r>
            <a:endParaRPr sz="2100" baseline="3968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10799" y="4289775"/>
            <a:ext cx="19634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if</a:t>
            </a:r>
            <a:r>
              <a:rPr sz="1400" spc="5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(!visited[w-</a:t>
            </a:r>
            <a:r>
              <a:rPr sz="1400" dirty="0">
                <a:latin typeface="Trebuchet MS"/>
                <a:cs typeface="Trebuchet MS"/>
              </a:rPr>
              <a:t>&gt;vertex])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spc="-50" dirty="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51001" y="4274548"/>
            <a:ext cx="16179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aseline="-3968" dirty="0">
                <a:latin typeface="Trebuchet MS"/>
                <a:cs typeface="Trebuchet MS"/>
              </a:rPr>
              <a:t>//</a:t>
            </a:r>
            <a:r>
              <a:rPr sz="2100" spc="-7" baseline="-3968" dirty="0">
                <a:latin typeface="Trebuchet MS"/>
                <a:cs typeface="Trebuchet MS"/>
              </a:rPr>
              <a:t> </a:t>
            </a:r>
            <a:r>
              <a:rPr sz="1400" dirty="0">
                <a:latin typeface="Gulim"/>
                <a:cs typeface="Gulim"/>
              </a:rPr>
              <a:t>미방문</a:t>
            </a:r>
            <a:r>
              <a:rPr sz="1400" spc="-5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정점</a:t>
            </a:r>
            <a:r>
              <a:rPr sz="1400" spc="-6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탐색</a:t>
            </a:r>
            <a:endParaRPr sz="1400">
              <a:latin typeface="Gulim"/>
              <a:cs typeface="Guli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24196" y="4503021"/>
            <a:ext cx="21615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rebuchet MS"/>
                <a:cs typeface="Trebuchet MS"/>
              </a:rPr>
              <a:t>visited[w-</a:t>
            </a:r>
            <a:r>
              <a:rPr sz="1400" dirty="0">
                <a:latin typeface="Trebuchet MS"/>
                <a:cs typeface="Trebuchet MS"/>
              </a:rPr>
              <a:t>&gt;vertex]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=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TRUE;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19906" y="4487793"/>
            <a:ext cx="10318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aseline="-3968" dirty="0">
                <a:latin typeface="Trebuchet MS"/>
                <a:cs typeface="Trebuchet MS"/>
              </a:rPr>
              <a:t>// </a:t>
            </a:r>
            <a:r>
              <a:rPr sz="1400" dirty="0">
                <a:latin typeface="Gulim"/>
                <a:cs typeface="Gulim"/>
              </a:rPr>
              <a:t>방문</a:t>
            </a:r>
            <a:r>
              <a:rPr sz="1400" spc="-6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표시</a:t>
            </a:r>
            <a:endParaRPr sz="1400">
              <a:latin typeface="Gulim"/>
              <a:cs typeface="Guli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10799" y="4716266"/>
            <a:ext cx="449389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583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rebuchet MS"/>
                <a:cs typeface="Trebuchet MS"/>
              </a:rPr>
              <a:t>printf("%d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2100" baseline="3968" dirty="0">
                <a:latin typeface="Gulim"/>
                <a:cs typeface="Gulim"/>
              </a:rPr>
              <a:t>방문</a:t>
            </a:r>
            <a:r>
              <a:rPr sz="2100" spc="-82" baseline="3968" dirty="0">
                <a:latin typeface="Gulim"/>
                <a:cs typeface="Gulim"/>
              </a:rPr>
              <a:t> </a:t>
            </a:r>
            <a:r>
              <a:rPr sz="1400" dirty="0">
                <a:latin typeface="Trebuchet MS"/>
                <a:cs typeface="Trebuchet MS"/>
              </a:rPr>
              <a:t>-&gt;</a:t>
            </a:r>
            <a:r>
              <a:rPr sz="1400" spc="-1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",</a:t>
            </a:r>
            <a:r>
              <a:rPr sz="1400" spc="-10" dirty="0">
                <a:latin typeface="Trebuchet MS"/>
                <a:cs typeface="Trebuchet MS"/>
              </a:rPr>
              <a:t> w-&gt;vextex); </a:t>
            </a:r>
            <a:r>
              <a:rPr sz="1400" dirty="0">
                <a:latin typeface="Trebuchet MS"/>
                <a:cs typeface="Trebuchet MS"/>
              </a:rPr>
              <a:t>enqueue(&amp;q,</a:t>
            </a:r>
            <a:r>
              <a:rPr sz="1400" spc="-10" dirty="0">
                <a:latin typeface="Trebuchet MS"/>
                <a:cs typeface="Trebuchet MS"/>
              </a:rPr>
              <a:t> w-&gt;vertex);//</a:t>
            </a:r>
            <a:r>
              <a:rPr sz="2100" spc="-15" baseline="3968" dirty="0">
                <a:latin typeface="Gulim"/>
                <a:cs typeface="Gulim"/>
              </a:rPr>
              <a:t>정점을</a:t>
            </a:r>
            <a:r>
              <a:rPr sz="2100" spc="-89" baseline="3968" dirty="0">
                <a:latin typeface="Gulim"/>
                <a:cs typeface="Gulim"/>
              </a:rPr>
              <a:t> </a:t>
            </a:r>
            <a:r>
              <a:rPr sz="2100" baseline="3968" dirty="0">
                <a:latin typeface="Gulim"/>
                <a:cs typeface="Gulim"/>
              </a:rPr>
              <a:t>큐에</a:t>
            </a:r>
            <a:r>
              <a:rPr sz="2100" spc="-37" baseline="3968" dirty="0">
                <a:latin typeface="Gulim"/>
                <a:cs typeface="Gulim"/>
              </a:rPr>
              <a:t> 삽입</a:t>
            </a:r>
            <a:endParaRPr sz="2100" baseline="3968">
              <a:latin typeface="Gulim"/>
              <a:cs typeface="Gulim"/>
            </a:endParaRPr>
          </a:p>
          <a:p>
            <a:pPr marL="12700">
              <a:lnSpc>
                <a:spcPts val="1680"/>
              </a:lnSpc>
            </a:pPr>
            <a:r>
              <a:rPr sz="1400" spc="-50" dirty="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70596" y="5356004"/>
            <a:ext cx="100456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583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399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100"/>
              </a:spcBef>
            </a:pPr>
            <a:r>
              <a:rPr sz="3200" spc="-675" dirty="0"/>
              <a:t>학생</a:t>
            </a:r>
            <a:r>
              <a:rPr sz="3200" spc="-675" dirty="0">
                <a:latin typeface="Tw Cen MT"/>
                <a:cs typeface="Tw Cen MT"/>
              </a:rPr>
              <a:t>&gt;</a:t>
            </a:r>
            <a:r>
              <a:rPr sz="3200" spc="45" dirty="0">
                <a:latin typeface="Tw Cen MT"/>
                <a:cs typeface="Tw Cen MT"/>
              </a:rPr>
              <a:t> </a:t>
            </a:r>
            <a:r>
              <a:rPr sz="3200" spc="-1260" dirty="0"/>
              <a:t>교수님</a:t>
            </a:r>
            <a:r>
              <a:rPr sz="3200" spc="-1260" dirty="0">
                <a:latin typeface="Tw Cen MT"/>
                <a:cs typeface="Tw Cen MT"/>
              </a:rPr>
              <a:t>~</a:t>
            </a:r>
            <a:r>
              <a:rPr sz="3200" spc="25" dirty="0">
                <a:latin typeface="Tw Cen MT"/>
                <a:cs typeface="Tw Cen MT"/>
              </a:rPr>
              <a:t> </a:t>
            </a:r>
            <a:r>
              <a:rPr sz="3200" spc="-95" dirty="0">
                <a:latin typeface="Tw Cen MT"/>
                <a:cs typeface="Tw Cen MT"/>
              </a:rPr>
              <a:t>bfs_list.c</a:t>
            </a:r>
            <a:r>
              <a:rPr sz="3200" spc="-95" dirty="0"/>
              <a:t>에</a:t>
            </a:r>
            <a:r>
              <a:rPr sz="3200" spc="-180" dirty="0"/>
              <a:t> </a:t>
            </a:r>
            <a:r>
              <a:rPr sz="3200" spc="-204" dirty="0">
                <a:latin typeface="Tw Cen MT"/>
                <a:cs typeface="Tw Cen MT"/>
              </a:rPr>
              <a:t>main()</a:t>
            </a:r>
            <a:r>
              <a:rPr sz="3200" spc="-204" dirty="0"/>
              <a:t>이</a:t>
            </a:r>
            <a:r>
              <a:rPr sz="3200" spc="-165" dirty="0"/>
              <a:t> </a:t>
            </a:r>
            <a:r>
              <a:rPr sz="3200" spc="-1425" dirty="0"/>
              <a:t>없어요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751" y="1830024"/>
            <a:ext cx="4288155" cy="2263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74445">
              <a:lnSpc>
                <a:spcPct val="141400"/>
              </a:lnSpc>
              <a:spcBef>
                <a:spcPts val="95"/>
              </a:spcBef>
            </a:pPr>
            <a:r>
              <a:rPr sz="1400" dirty="0">
                <a:latin typeface="Gulim"/>
                <a:cs typeface="Gulim"/>
              </a:rPr>
              <a:t>교수</a:t>
            </a:r>
            <a:r>
              <a:rPr sz="1400" dirty="0">
                <a:latin typeface="Arial"/>
                <a:cs typeface="Arial"/>
              </a:rPr>
              <a:t>&gt;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bfs_list_change.c</a:t>
            </a:r>
            <a:r>
              <a:rPr sz="1400" spc="-10" dirty="0">
                <a:latin typeface="Gulim"/>
                <a:cs typeface="Gulim"/>
              </a:rPr>
              <a:t>를</a:t>
            </a:r>
            <a:r>
              <a:rPr sz="1400" spc="-70" dirty="0">
                <a:latin typeface="Gulim"/>
                <a:cs typeface="Gulim"/>
              </a:rPr>
              <a:t> </a:t>
            </a:r>
            <a:r>
              <a:rPr sz="1400" spc="-10" dirty="0">
                <a:latin typeface="Gulim"/>
                <a:cs typeface="Gulim"/>
              </a:rPr>
              <a:t>만들었어요 </a:t>
            </a:r>
            <a:r>
              <a:rPr sz="1400" dirty="0">
                <a:latin typeface="Gulim"/>
                <a:cs typeface="Gulim"/>
              </a:rPr>
              <a:t>학생</a:t>
            </a:r>
            <a:r>
              <a:rPr sz="1400" dirty="0">
                <a:latin typeface="Arial"/>
                <a:cs typeface="Arial"/>
              </a:rPr>
              <a:t>&gt;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20" dirty="0">
                <a:latin typeface="Gulim"/>
                <a:cs typeface="Gulim"/>
              </a:rPr>
              <a:t>어떻게요</a:t>
            </a:r>
            <a:endParaRPr sz="1400">
              <a:latin typeface="Gulim"/>
              <a:cs typeface="Gulim"/>
            </a:endParaRPr>
          </a:p>
          <a:p>
            <a:pPr marL="12700" marR="237490">
              <a:lnSpc>
                <a:spcPct val="100000"/>
              </a:lnSpc>
              <a:spcBef>
                <a:spcPts val="695"/>
              </a:spcBef>
            </a:pPr>
            <a:r>
              <a:rPr sz="1400" dirty="0">
                <a:latin typeface="Gulim"/>
                <a:cs typeface="Gulim"/>
              </a:rPr>
              <a:t>교수</a:t>
            </a:r>
            <a:r>
              <a:rPr sz="1400" dirty="0">
                <a:latin typeface="Arial"/>
                <a:cs typeface="Arial"/>
              </a:rPr>
              <a:t>&gt;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adj_list.c</a:t>
            </a:r>
            <a:r>
              <a:rPr sz="1400" dirty="0">
                <a:latin typeface="Gulim"/>
                <a:cs typeface="Gulim"/>
              </a:rPr>
              <a:t>와</a:t>
            </a:r>
            <a:r>
              <a:rPr sz="1400" spc="260" dirty="0">
                <a:latin typeface="Gulim"/>
                <a:cs typeface="Gulim"/>
              </a:rPr>
              <a:t> </a:t>
            </a:r>
            <a:r>
              <a:rPr sz="1400" dirty="0">
                <a:latin typeface="Arial"/>
                <a:cs typeface="Arial"/>
              </a:rPr>
              <a:t>bfs_list.c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Gulim"/>
                <a:cs typeface="Gulim"/>
              </a:rPr>
              <a:t>그리고</a:t>
            </a:r>
            <a:r>
              <a:rPr sz="1400" spc="-100" dirty="0">
                <a:latin typeface="Gulim"/>
                <a:cs typeface="Gulim"/>
              </a:rPr>
              <a:t> </a:t>
            </a:r>
            <a:r>
              <a:rPr sz="1400" spc="-10" dirty="0">
                <a:latin typeface="Arial"/>
                <a:cs typeface="Arial"/>
              </a:rPr>
              <a:t>bfs_change.c</a:t>
            </a:r>
            <a:r>
              <a:rPr sz="1400" spc="-10" dirty="0">
                <a:latin typeface="Gulim"/>
                <a:cs typeface="Gulim"/>
              </a:rPr>
              <a:t>의 </a:t>
            </a:r>
            <a:r>
              <a:rPr sz="1400" spc="-10" dirty="0">
                <a:latin typeface="Arial"/>
                <a:cs typeface="Arial"/>
              </a:rPr>
              <a:t>queue</a:t>
            </a:r>
            <a:r>
              <a:rPr sz="1400" spc="-10" dirty="0">
                <a:latin typeface="Gulim"/>
                <a:cs typeface="Gulim"/>
              </a:rPr>
              <a:t>관련</a:t>
            </a:r>
            <a:r>
              <a:rPr sz="1400" spc="-9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함수를</a:t>
            </a:r>
            <a:r>
              <a:rPr sz="1400" spc="-70" dirty="0">
                <a:latin typeface="Gulim"/>
                <a:cs typeface="Gulim"/>
              </a:rPr>
              <a:t> </a:t>
            </a:r>
            <a:r>
              <a:rPr sz="1400" spc="-10" dirty="0">
                <a:latin typeface="Gulim"/>
                <a:cs typeface="Gulim"/>
              </a:rPr>
              <a:t>합쳤습니다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400" dirty="0">
                <a:latin typeface="Gulim"/>
                <a:cs typeface="Gulim"/>
              </a:rPr>
              <a:t>인접배열방식의</a:t>
            </a:r>
            <a:r>
              <a:rPr sz="1400" spc="-110" dirty="0">
                <a:latin typeface="Gulim"/>
                <a:cs typeface="Gulim"/>
              </a:rPr>
              <a:t> </a:t>
            </a:r>
            <a:r>
              <a:rPr sz="1400" spc="-10" dirty="0">
                <a:latin typeface="Arial"/>
                <a:cs typeface="Arial"/>
              </a:rPr>
              <a:t>BFS</a:t>
            </a:r>
            <a:r>
              <a:rPr sz="1400" spc="-10" dirty="0">
                <a:latin typeface="Gulim"/>
                <a:cs typeface="Gulim"/>
              </a:rPr>
              <a:t>와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동일한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결과가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spc="-20" dirty="0">
                <a:latin typeface="Gulim"/>
                <a:cs typeface="Gulim"/>
              </a:rPr>
              <a:t>나옵니다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400" spc="-10" dirty="0">
                <a:latin typeface="Arial"/>
                <a:cs typeface="Arial"/>
              </a:rPr>
              <a:t>bfs_change.c</a:t>
            </a:r>
            <a:r>
              <a:rPr sz="1400" spc="-10" dirty="0">
                <a:latin typeface="Gulim"/>
                <a:cs typeface="Gulim"/>
              </a:rPr>
              <a:t>와</a:t>
            </a:r>
            <a:r>
              <a:rPr sz="1400" spc="-65" dirty="0">
                <a:latin typeface="Gulim"/>
                <a:cs typeface="Gulim"/>
              </a:rPr>
              <a:t> </a:t>
            </a:r>
            <a:r>
              <a:rPr sz="1400" spc="-10" dirty="0">
                <a:latin typeface="Arial"/>
                <a:cs typeface="Arial"/>
              </a:rPr>
              <a:t>bfs_list_change.c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Gulim"/>
                <a:cs typeface="Gulim"/>
              </a:rPr>
              <a:t>코드를</a:t>
            </a:r>
            <a:r>
              <a:rPr sz="1400" spc="-35" dirty="0">
                <a:latin typeface="Gulim"/>
                <a:cs typeface="Gulim"/>
              </a:rPr>
              <a:t> </a:t>
            </a:r>
            <a:r>
              <a:rPr sz="1400" spc="-20" dirty="0">
                <a:latin typeface="Gulim"/>
                <a:cs typeface="Gulim"/>
              </a:rPr>
              <a:t>비교하면</a:t>
            </a:r>
            <a:endParaRPr sz="1400">
              <a:latin typeface="Gulim"/>
              <a:cs typeface="Gulim"/>
            </a:endParaRPr>
          </a:p>
          <a:p>
            <a:pPr marL="12700" marR="5080">
              <a:lnSpc>
                <a:spcPct val="100000"/>
              </a:lnSpc>
              <a:spcBef>
                <a:spcPts val="695"/>
              </a:spcBef>
            </a:pPr>
            <a:r>
              <a:rPr sz="1400" dirty="0">
                <a:latin typeface="Gulim"/>
                <a:cs typeface="Gulim"/>
              </a:rPr>
              <a:t>정점</a:t>
            </a:r>
            <a:r>
              <a:rPr sz="1400" spc="-100" dirty="0">
                <a:latin typeface="Gulim"/>
                <a:cs typeface="Gulim"/>
              </a:rPr>
              <a:t> </a:t>
            </a:r>
            <a:r>
              <a:rPr sz="1400" dirty="0">
                <a:latin typeface="Arial"/>
                <a:cs typeface="Arial"/>
              </a:rPr>
              <a:t>v</a:t>
            </a:r>
            <a:r>
              <a:rPr sz="1400" dirty="0">
                <a:latin typeface="Gulim"/>
                <a:cs typeface="Gulim"/>
              </a:rPr>
              <a:t>의</a:t>
            </a:r>
            <a:r>
              <a:rPr sz="1400" spc="-8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방문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표시</a:t>
            </a:r>
            <a:r>
              <a:rPr sz="1400" spc="-10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단계</a:t>
            </a:r>
            <a:r>
              <a:rPr sz="1400" dirty="0">
                <a:latin typeface="Arial"/>
                <a:cs typeface="Arial"/>
              </a:rPr>
              <a:t>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Gulim"/>
                <a:cs typeface="Gulim"/>
              </a:rPr>
              <a:t>인접</a:t>
            </a:r>
            <a:r>
              <a:rPr sz="1400" spc="-90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정정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탐색단계등이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spc="-25" dirty="0">
                <a:latin typeface="Gulim"/>
                <a:cs typeface="Gulim"/>
              </a:rPr>
              <a:t>동일 </a:t>
            </a:r>
            <a:r>
              <a:rPr sz="1400" dirty="0">
                <a:latin typeface="Gulim"/>
                <a:cs typeface="Gulim"/>
              </a:rPr>
              <a:t>하게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있는</a:t>
            </a:r>
            <a:r>
              <a:rPr sz="1400" spc="-9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것을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알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dirty="0">
                <a:latin typeface="Gulim"/>
                <a:cs typeface="Gulim"/>
              </a:rPr>
              <a:t>수</a:t>
            </a:r>
            <a:r>
              <a:rPr sz="1400" spc="-85" dirty="0">
                <a:latin typeface="Gulim"/>
                <a:cs typeface="Gulim"/>
              </a:rPr>
              <a:t> </a:t>
            </a:r>
            <a:r>
              <a:rPr sz="1400" spc="-10" dirty="0">
                <a:latin typeface="Gulim"/>
                <a:cs typeface="Gulim"/>
              </a:rPr>
              <a:t>있습니다</a:t>
            </a:r>
            <a:r>
              <a:rPr sz="1400" spc="-1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2399" y="1939010"/>
            <a:ext cx="3920007" cy="179887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89038" y="4124769"/>
            <a:ext cx="8901430" cy="3027045"/>
            <a:chOff x="889038" y="4124769"/>
            <a:chExt cx="8901430" cy="302704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9038" y="4171988"/>
              <a:ext cx="4804486" cy="297934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4486" y="4124769"/>
              <a:ext cx="4985651" cy="302656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95" dirty="0"/>
              <a:t>너비우선탐색의</a:t>
            </a:r>
            <a:r>
              <a:rPr spc="-265" dirty="0"/>
              <a:t> </a:t>
            </a:r>
            <a:r>
              <a:rPr spc="-1610" dirty="0"/>
              <a:t>시간</a:t>
            </a:r>
            <a:r>
              <a:rPr spc="-254" dirty="0"/>
              <a:t> </a:t>
            </a:r>
            <a:r>
              <a:rPr spc="-2190" dirty="0"/>
              <a:t>복잡도</a:t>
            </a:r>
            <a:r>
              <a:rPr spc="-254" dirty="0"/>
              <a:t> </a:t>
            </a:r>
            <a:r>
              <a:rPr spc="-2165" dirty="0"/>
              <a:t>분석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37043" y="1877957"/>
            <a:ext cx="8011159" cy="20631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75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9375"/>
              <a:buFont typeface="Segoe UI Symbol"/>
              <a:buChar char="□"/>
              <a:tabLst>
                <a:tab pos="357505" algn="l"/>
              </a:tabLst>
            </a:pPr>
            <a:r>
              <a:rPr sz="1600" dirty="0">
                <a:latin typeface="Gulim"/>
                <a:cs typeface="Gulim"/>
              </a:rPr>
              <a:t>인접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행렬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spc="-25" dirty="0">
                <a:latin typeface="Arial"/>
                <a:cs typeface="Arial"/>
              </a:rPr>
              <a:t>-</a:t>
            </a:r>
            <a:r>
              <a:rPr sz="1600" spc="-10" dirty="0">
                <a:latin typeface="Arial"/>
                <a:cs typeface="Arial"/>
              </a:rPr>
              <a:t>&gt;O(n</a:t>
            </a:r>
            <a:r>
              <a:rPr sz="1575" spc="-15" baseline="26455" dirty="0">
                <a:latin typeface="Arial"/>
                <a:cs typeface="Arial"/>
              </a:rPr>
              <a:t>2</a:t>
            </a:r>
            <a:r>
              <a:rPr sz="1600" spc="-10" dirty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  <a:p>
            <a:pPr marL="357505">
              <a:lnSpc>
                <a:spcPts val="1914"/>
              </a:lnSpc>
            </a:pPr>
            <a:r>
              <a:rPr sz="1600" spc="-30" dirty="0">
                <a:latin typeface="Arial"/>
                <a:cs typeface="Arial"/>
              </a:rPr>
              <a:t>119</a:t>
            </a:r>
            <a:r>
              <a:rPr sz="1600" spc="-30" dirty="0">
                <a:latin typeface="Gulim"/>
                <a:cs typeface="Gulim"/>
              </a:rPr>
              <a:t>번줄에서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n</a:t>
            </a:r>
            <a:r>
              <a:rPr sz="1600" dirty="0">
                <a:latin typeface="Gulim"/>
                <a:cs typeface="Gulim"/>
              </a:rPr>
              <a:t>번의</a:t>
            </a:r>
            <a:r>
              <a:rPr sz="1600" spc="-13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loop</a:t>
            </a:r>
            <a:r>
              <a:rPr sz="1600" dirty="0">
                <a:latin typeface="Gulim"/>
                <a:cs typeface="Gulim"/>
              </a:rPr>
              <a:t>를</a:t>
            </a:r>
            <a:r>
              <a:rPr sz="1600" spc="-125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수행하므로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O(n). n</a:t>
            </a:r>
            <a:r>
              <a:rPr sz="1600" dirty="0">
                <a:latin typeface="Gulim"/>
                <a:cs typeface="Gulim"/>
              </a:rPr>
              <a:t>개의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정점을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모두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방문해야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하므로</a:t>
            </a:r>
            <a:endParaRPr sz="1600">
              <a:latin typeface="Gulim"/>
              <a:cs typeface="Gulim"/>
            </a:endParaRPr>
          </a:p>
          <a:p>
            <a:pPr marL="357505">
              <a:lnSpc>
                <a:spcPts val="1914"/>
              </a:lnSpc>
            </a:pPr>
            <a:r>
              <a:rPr sz="1600" dirty="0">
                <a:latin typeface="Arial"/>
                <a:cs typeface="Arial"/>
              </a:rPr>
              <a:t>n*O(n)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95" dirty="0">
                <a:latin typeface="Segoe UI Symbol"/>
                <a:cs typeface="Segoe UI Symbol"/>
              </a:rPr>
              <a:t>➔</a:t>
            </a:r>
            <a:r>
              <a:rPr sz="1600" spc="-20" dirty="0">
                <a:latin typeface="Segoe UI Symbol"/>
                <a:cs typeface="Segoe UI Symbol"/>
              </a:rPr>
              <a:t> </a:t>
            </a:r>
            <a:r>
              <a:rPr sz="1600" spc="-20" dirty="0">
                <a:latin typeface="Arial"/>
                <a:cs typeface="Arial"/>
              </a:rPr>
              <a:t>O(n</a:t>
            </a:r>
            <a:r>
              <a:rPr sz="1575" spc="-30" baseline="26455" dirty="0">
                <a:latin typeface="Arial"/>
                <a:cs typeface="Arial"/>
              </a:rPr>
              <a:t>2</a:t>
            </a:r>
            <a:r>
              <a:rPr sz="1600" spc="-20" dirty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  <a:p>
            <a:pPr marL="357505" indent="-319405">
              <a:lnSpc>
                <a:spcPts val="1920"/>
              </a:lnSpc>
              <a:spcBef>
                <a:spcPts val="705"/>
              </a:spcBef>
              <a:buClr>
                <a:srgbClr val="DD8046"/>
              </a:buClr>
              <a:buSzPct val="59375"/>
              <a:buFont typeface="Segoe UI Symbol"/>
              <a:buChar char="□"/>
              <a:tabLst>
                <a:tab pos="357505" algn="l"/>
              </a:tabLst>
            </a:pPr>
            <a:r>
              <a:rPr sz="1600" dirty="0">
                <a:latin typeface="Gulim"/>
                <a:cs typeface="Gulim"/>
              </a:rPr>
              <a:t>인접</a:t>
            </a:r>
            <a:r>
              <a:rPr sz="1600" spc="-85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리스트</a:t>
            </a:r>
            <a:r>
              <a:rPr sz="1600" spc="-25" dirty="0">
                <a:latin typeface="Arial"/>
                <a:cs typeface="Arial"/>
              </a:rPr>
              <a:t>-</a:t>
            </a:r>
            <a:r>
              <a:rPr sz="1600" spc="-10" dirty="0">
                <a:latin typeface="Arial"/>
                <a:cs typeface="Arial"/>
              </a:rPr>
              <a:t>&gt;O(n+e)</a:t>
            </a:r>
            <a:endParaRPr sz="1600">
              <a:latin typeface="Arial"/>
              <a:cs typeface="Arial"/>
            </a:endParaRPr>
          </a:p>
          <a:p>
            <a:pPr marL="357505" marR="30480">
              <a:lnSpc>
                <a:spcPct val="100000"/>
              </a:lnSpc>
            </a:pPr>
            <a:r>
              <a:rPr sz="1600" spc="-10" dirty="0">
                <a:latin typeface="Arial"/>
                <a:cs typeface="Arial"/>
              </a:rPr>
              <a:t>129</a:t>
            </a:r>
            <a:r>
              <a:rPr sz="1600" spc="-10" dirty="0">
                <a:latin typeface="Gulim"/>
                <a:cs typeface="Gulim"/>
              </a:rPr>
              <a:t>번줄에서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각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정점에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연결되어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있는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간선의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개수만큼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탐색을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하게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되므로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spc="-20" dirty="0">
                <a:latin typeface="Gulim"/>
                <a:cs typeface="Gulim"/>
              </a:rPr>
              <a:t>시간복잡 </a:t>
            </a:r>
            <a:r>
              <a:rPr sz="1600" dirty="0">
                <a:latin typeface="Gulim"/>
                <a:cs typeface="Gulim"/>
              </a:rPr>
              <a:t>도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계산이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불가능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하다</a:t>
            </a:r>
            <a:r>
              <a:rPr sz="1600" dirty="0">
                <a:latin typeface="Arial"/>
                <a:cs typeface="Arial"/>
              </a:rPr>
              <a:t>.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Gulim"/>
                <a:cs typeface="Gulim"/>
              </a:rPr>
              <a:t>하지만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Arial"/>
                <a:cs typeface="Arial"/>
              </a:rPr>
              <a:t>BFS</a:t>
            </a:r>
            <a:r>
              <a:rPr sz="1600" dirty="0">
                <a:latin typeface="Gulim"/>
                <a:cs typeface="Gulim"/>
              </a:rPr>
              <a:t>가</a:t>
            </a:r>
            <a:r>
              <a:rPr sz="1600" spc="-13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다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끝난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후를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생각하면</a:t>
            </a:r>
            <a:r>
              <a:rPr sz="1600" dirty="0">
                <a:latin typeface="Arial"/>
                <a:cs typeface="Arial"/>
              </a:rPr>
              <a:t>,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Gulim"/>
                <a:cs typeface="Gulim"/>
              </a:rPr>
              <a:t>모든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정점을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한번씩</a:t>
            </a:r>
            <a:r>
              <a:rPr sz="1600" spc="-110" dirty="0">
                <a:latin typeface="Gulim"/>
                <a:cs typeface="Gulim"/>
              </a:rPr>
              <a:t> </a:t>
            </a:r>
            <a:r>
              <a:rPr sz="1600" spc="-50" dirty="0">
                <a:latin typeface="Gulim"/>
                <a:cs typeface="Gulim"/>
              </a:rPr>
              <a:t>다 </a:t>
            </a:r>
            <a:r>
              <a:rPr sz="1600" dirty="0">
                <a:latin typeface="Gulim"/>
                <a:cs typeface="Gulim"/>
              </a:rPr>
              <a:t>방문하고</a:t>
            </a:r>
            <a:r>
              <a:rPr sz="1600" dirty="0">
                <a:latin typeface="Arial"/>
                <a:cs typeface="Arial"/>
              </a:rPr>
              <a:t>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Gulim"/>
                <a:cs typeface="Gulim"/>
              </a:rPr>
              <a:t>모든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간선을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한번씩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모두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검사했다고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할</a:t>
            </a:r>
            <a:r>
              <a:rPr sz="1600" spc="-12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수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spc="-10" dirty="0">
                <a:latin typeface="Gulim"/>
                <a:cs typeface="Gulim"/>
              </a:rPr>
              <a:t>있으므로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spc="-10" dirty="0">
                <a:latin typeface="Arial"/>
                <a:cs typeface="Arial"/>
              </a:rPr>
              <a:t>O(n+e)</a:t>
            </a:r>
            <a:r>
              <a:rPr sz="1600" spc="-10" dirty="0">
                <a:latin typeface="Gulim"/>
                <a:cs typeface="Gulim"/>
              </a:rPr>
              <a:t>의</a:t>
            </a:r>
            <a:r>
              <a:rPr sz="1600" spc="-8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시간이</a:t>
            </a:r>
            <a:r>
              <a:rPr sz="1600" spc="-114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걸렸 </a:t>
            </a:r>
            <a:r>
              <a:rPr sz="1600" dirty="0">
                <a:latin typeface="Gulim"/>
                <a:cs typeface="Gulim"/>
              </a:rPr>
              <a:t>다고</a:t>
            </a:r>
            <a:r>
              <a:rPr sz="1600" spc="-105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할</a:t>
            </a:r>
            <a:r>
              <a:rPr sz="1600" spc="-100" dirty="0">
                <a:latin typeface="Gulim"/>
                <a:cs typeface="Gulim"/>
              </a:rPr>
              <a:t> </a:t>
            </a:r>
            <a:r>
              <a:rPr sz="1600" dirty="0">
                <a:latin typeface="Gulim"/>
                <a:cs typeface="Gulim"/>
              </a:rPr>
              <a:t>수</a:t>
            </a:r>
            <a:r>
              <a:rPr sz="1600" spc="-100" dirty="0">
                <a:latin typeface="Gulim"/>
                <a:cs typeface="Gulim"/>
              </a:rPr>
              <a:t> </a:t>
            </a:r>
            <a:r>
              <a:rPr sz="1600" spc="-25" dirty="0">
                <a:latin typeface="Gulim"/>
                <a:cs typeface="Gulim"/>
              </a:rPr>
              <a:t>있다</a:t>
            </a:r>
            <a:r>
              <a:rPr sz="1600" spc="-25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89038" y="4124769"/>
            <a:ext cx="8901430" cy="3027045"/>
            <a:chOff x="889038" y="4124769"/>
            <a:chExt cx="8901430" cy="30270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038" y="4171988"/>
              <a:ext cx="4804486" cy="29793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4486" y="4124769"/>
              <a:ext cx="4985651" cy="302656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92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spc="-1610" dirty="0"/>
              <a:t>이제</a:t>
            </a:r>
            <a:r>
              <a:rPr spc="-260" dirty="0"/>
              <a:t> </a:t>
            </a:r>
            <a:r>
              <a:rPr spc="-1985" dirty="0"/>
              <a:t>나는</a:t>
            </a:r>
            <a:r>
              <a:rPr spc="-254" dirty="0"/>
              <a:t> </a:t>
            </a:r>
            <a:r>
              <a:rPr spc="-1365" dirty="0"/>
              <a:t>할</a:t>
            </a:r>
            <a:r>
              <a:rPr spc="-254" dirty="0"/>
              <a:t> </a:t>
            </a:r>
            <a:r>
              <a:rPr spc="-2600" dirty="0"/>
              <a:t>수</a:t>
            </a:r>
            <a:r>
              <a:rPr spc="-254" dirty="0"/>
              <a:t> </a:t>
            </a:r>
            <a:r>
              <a:rPr spc="-1375" dirty="0"/>
              <a:t>있다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spc="-35" dirty="0"/>
              <a:t> </a:t>
            </a:r>
            <a:r>
              <a:rPr dirty="0"/>
              <a:t>쉽게</a:t>
            </a:r>
            <a:r>
              <a:rPr spc="-20" dirty="0"/>
              <a:t> </a:t>
            </a:r>
            <a:r>
              <a:rPr dirty="0"/>
              <a:t>풀어쓴</a:t>
            </a:r>
            <a:r>
              <a:rPr spc="-35" dirty="0"/>
              <a:t> </a:t>
            </a:r>
            <a:r>
              <a:rPr spc="-20" dirty="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spc="-40" dirty="0"/>
              <a:t> </a:t>
            </a:r>
            <a:r>
              <a:rPr dirty="0"/>
              <a:t>생능출판사</a:t>
            </a:r>
            <a:r>
              <a:rPr spc="-25" dirty="0"/>
              <a:t> </a:t>
            </a:r>
            <a:r>
              <a:rPr spc="-20" dirty="0"/>
              <a:t>2019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1798" y="1874277"/>
            <a:ext cx="8498840" cy="415480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4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1900" spc="-10" dirty="0">
                <a:latin typeface="Gulim"/>
                <a:cs typeface="Gulim"/>
              </a:rPr>
              <a:t>그래프란</a:t>
            </a:r>
            <a:r>
              <a:rPr sz="1900" spc="-10" dirty="0">
                <a:latin typeface="Arial"/>
                <a:cs typeface="Arial"/>
              </a:rPr>
              <a:t>?</a:t>
            </a:r>
            <a:endParaRPr sz="19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23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1900" spc="-10" dirty="0">
                <a:latin typeface="Gulim"/>
                <a:cs typeface="Gulim"/>
              </a:rPr>
              <a:t>그래프의</a:t>
            </a:r>
            <a:r>
              <a:rPr sz="1900" spc="-14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정의와</a:t>
            </a:r>
            <a:r>
              <a:rPr sz="1900" spc="-140" dirty="0">
                <a:latin typeface="Gulim"/>
                <a:cs typeface="Gulim"/>
              </a:rPr>
              <a:t> </a:t>
            </a:r>
            <a:r>
              <a:rPr sz="1900" spc="-25" dirty="0">
                <a:latin typeface="Gulim"/>
                <a:cs typeface="Gulim"/>
              </a:rPr>
              <a:t>용어</a:t>
            </a:r>
            <a:endParaRPr sz="19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4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1900" spc="-10" dirty="0">
                <a:latin typeface="Gulim"/>
                <a:cs typeface="Gulim"/>
              </a:rPr>
              <a:t>그래프의</a:t>
            </a:r>
            <a:r>
              <a:rPr sz="1900" spc="-150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표현</a:t>
            </a:r>
            <a:r>
              <a:rPr sz="1900" dirty="0">
                <a:latin typeface="Arial"/>
                <a:cs typeface="Arial"/>
              </a:rPr>
              <a:t>(</a:t>
            </a:r>
            <a:r>
              <a:rPr sz="1900" dirty="0">
                <a:latin typeface="Gulim"/>
                <a:cs typeface="Gulim"/>
              </a:rPr>
              <a:t>구현</a:t>
            </a:r>
            <a:r>
              <a:rPr sz="1900" dirty="0">
                <a:latin typeface="Arial"/>
                <a:cs typeface="Arial"/>
              </a:rPr>
              <a:t>)</a:t>
            </a:r>
            <a:r>
              <a:rPr sz="1900" spc="-40" dirty="0">
                <a:latin typeface="Arial"/>
                <a:cs typeface="Arial"/>
              </a:rPr>
              <a:t> </a:t>
            </a:r>
            <a:r>
              <a:rPr sz="1900" dirty="0">
                <a:latin typeface="Gulim"/>
                <a:cs typeface="Gulim"/>
              </a:rPr>
              <a:t>방법</a:t>
            </a:r>
            <a:r>
              <a:rPr sz="1900" spc="-150" dirty="0">
                <a:latin typeface="Gulim"/>
                <a:cs typeface="Gulim"/>
              </a:rPr>
              <a:t> </a:t>
            </a:r>
            <a:r>
              <a:rPr sz="1900" dirty="0">
                <a:latin typeface="Arial"/>
                <a:cs typeface="Arial"/>
              </a:rPr>
              <a:t>(</a:t>
            </a:r>
            <a:r>
              <a:rPr sz="1900" spc="-55" dirty="0">
                <a:latin typeface="Arial"/>
                <a:cs typeface="Arial"/>
              </a:rPr>
              <a:t> </a:t>
            </a:r>
            <a:r>
              <a:rPr sz="1900" dirty="0">
                <a:latin typeface="Gulim"/>
                <a:cs typeface="Gulim"/>
              </a:rPr>
              <a:t>인접행렬</a:t>
            </a:r>
            <a:r>
              <a:rPr sz="1900" dirty="0">
                <a:latin typeface="Arial"/>
                <a:cs typeface="Arial"/>
              </a:rPr>
              <a:t>,</a:t>
            </a:r>
            <a:r>
              <a:rPr sz="1900" spc="-40" dirty="0">
                <a:latin typeface="Arial"/>
                <a:cs typeface="Arial"/>
              </a:rPr>
              <a:t> </a:t>
            </a:r>
            <a:r>
              <a:rPr sz="1900" spc="-10" dirty="0">
                <a:latin typeface="Gulim"/>
                <a:cs typeface="Gulim"/>
              </a:rPr>
              <a:t>인접리스트</a:t>
            </a:r>
            <a:r>
              <a:rPr sz="1900" spc="-1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25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1900" spc="-10" dirty="0">
                <a:latin typeface="Gulim"/>
                <a:cs typeface="Gulim"/>
              </a:rPr>
              <a:t>그래프의</a:t>
            </a:r>
            <a:r>
              <a:rPr sz="1900" spc="-135" dirty="0">
                <a:latin typeface="Gulim"/>
                <a:cs typeface="Gulim"/>
              </a:rPr>
              <a:t> </a:t>
            </a:r>
            <a:r>
              <a:rPr sz="1900" spc="-25" dirty="0">
                <a:latin typeface="Gulim"/>
                <a:cs typeface="Gulim"/>
              </a:rPr>
              <a:t>탐색</a:t>
            </a:r>
            <a:endParaRPr sz="19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4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1900" dirty="0">
                <a:latin typeface="Gulim"/>
                <a:cs typeface="Gulim"/>
              </a:rPr>
              <a:t>깊이</a:t>
            </a:r>
            <a:r>
              <a:rPr sz="1900" spc="-150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우선</a:t>
            </a:r>
            <a:r>
              <a:rPr sz="1900" spc="-135" dirty="0">
                <a:latin typeface="Gulim"/>
                <a:cs typeface="Gulim"/>
              </a:rPr>
              <a:t> </a:t>
            </a:r>
            <a:r>
              <a:rPr sz="1900" spc="-25" dirty="0">
                <a:latin typeface="Gulim"/>
                <a:cs typeface="Gulim"/>
              </a:rPr>
              <a:t>탐색</a:t>
            </a:r>
            <a:endParaRPr sz="19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24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1900" dirty="0">
                <a:latin typeface="Gulim"/>
                <a:cs typeface="Gulim"/>
              </a:rPr>
              <a:t>너비</a:t>
            </a:r>
            <a:r>
              <a:rPr sz="1900" spc="-150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우선</a:t>
            </a:r>
            <a:r>
              <a:rPr sz="1900" spc="-135" dirty="0">
                <a:latin typeface="Gulim"/>
                <a:cs typeface="Gulim"/>
              </a:rPr>
              <a:t> </a:t>
            </a:r>
            <a:r>
              <a:rPr sz="1900" spc="-25" dirty="0">
                <a:latin typeface="Gulim"/>
                <a:cs typeface="Gulim"/>
              </a:rPr>
              <a:t>탐색</a:t>
            </a:r>
            <a:endParaRPr sz="1900">
              <a:latin typeface="Gulim"/>
              <a:cs typeface="Gulim"/>
            </a:endParaRPr>
          </a:p>
          <a:p>
            <a:pPr marL="469265" marR="125095" indent="-457200">
              <a:lnSpc>
                <a:spcPct val="80000"/>
              </a:lnSpc>
              <a:spcBef>
                <a:spcPts val="70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1900" dirty="0">
                <a:latin typeface="Gulim"/>
                <a:cs typeface="Gulim"/>
              </a:rPr>
              <a:t>나는</a:t>
            </a:r>
            <a:r>
              <a:rPr sz="1900" spc="-150" dirty="0">
                <a:latin typeface="Gulim"/>
                <a:cs typeface="Gulim"/>
              </a:rPr>
              <a:t> </a:t>
            </a:r>
            <a:r>
              <a:rPr sz="1900" spc="-10" dirty="0">
                <a:latin typeface="Gulim"/>
                <a:cs typeface="Gulim"/>
              </a:rPr>
              <a:t>깊이우선탐색에</a:t>
            </a:r>
            <a:r>
              <a:rPr sz="1900" spc="-110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대해</a:t>
            </a:r>
            <a:r>
              <a:rPr sz="1900" spc="-150" dirty="0">
                <a:latin typeface="Gulim"/>
                <a:cs typeface="Gulim"/>
              </a:rPr>
              <a:t> </a:t>
            </a:r>
            <a:r>
              <a:rPr sz="1900" spc="-10" dirty="0">
                <a:latin typeface="Gulim"/>
                <a:cs typeface="Gulim"/>
              </a:rPr>
              <a:t>그림으로</a:t>
            </a:r>
            <a:r>
              <a:rPr sz="1900" spc="-130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그</a:t>
            </a:r>
            <a:r>
              <a:rPr sz="1900" spc="-150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과정을</a:t>
            </a:r>
            <a:r>
              <a:rPr sz="1900" spc="-13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그릴</a:t>
            </a:r>
            <a:r>
              <a:rPr sz="1900" spc="-14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수</a:t>
            </a:r>
            <a:r>
              <a:rPr sz="1900" spc="-150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있고</a:t>
            </a:r>
            <a:r>
              <a:rPr sz="1900" spc="-13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이</a:t>
            </a:r>
            <a:r>
              <a:rPr sz="1900" spc="-14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과정을</a:t>
            </a:r>
            <a:r>
              <a:rPr sz="1900" spc="-135" dirty="0">
                <a:latin typeface="Gulim"/>
                <a:cs typeface="Gulim"/>
              </a:rPr>
              <a:t> </a:t>
            </a:r>
            <a:r>
              <a:rPr sz="1900" spc="-25" dirty="0">
                <a:latin typeface="Arial"/>
                <a:cs typeface="Arial"/>
              </a:rPr>
              <a:t>C</a:t>
            </a:r>
            <a:r>
              <a:rPr sz="1900" spc="-25" dirty="0">
                <a:latin typeface="Gulim"/>
                <a:cs typeface="Gulim"/>
              </a:rPr>
              <a:t>코 </a:t>
            </a:r>
            <a:r>
              <a:rPr sz="1900" dirty="0">
                <a:latin typeface="Gulim"/>
                <a:cs typeface="Gulim"/>
              </a:rPr>
              <a:t>드로</a:t>
            </a:r>
            <a:r>
              <a:rPr sz="1900" spc="-150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작성할</a:t>
            </a:r>
            <a:r>
              <a:rPr sz="1900" spc="-13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수</a:t>
            </a:r>
            <a:r>
              <a:rPr sz="1900" spc="-145" dirty="0">
                <a:latin typeface="Gulim"/>
                <a:cs typeface="Gulim"/>
              </a:rPr>
              <a:t> </a:t>
            </a:r>
            <a:r>
              <a:rPr sz="1900" spc="-25" dirty="0">
                <a:latin typeface="Gulim"/>
                <a:cs typeface="Gulim"/>
              </a:rPr>
              <a:t>있다</a:t>
            </a:r>
            <a:endParaRPr sz="1900">
              <a:latin typeface="Gulim"/>
              <a:cs typeface="Gulim"/>
            </a:endParaRPr>
          </a:p>
          <a:p>
            <a:pPr marL="469265" marR="125095" indent="-457200">
              <a:lnSpc>
                <a:spcPct val="80000"/>
              </a:lnSpc>
              <a:spcBef>
                <a:spcPts val="6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1900" dirty="0">
                <a:latin typeface="Gulim"/>
                <a:cs typeface="Gulim"/>
              </a:rPr>
              <a:t>나는</a:t>
            </a:r>
            <a:r>
              <a:rPr sz="1900" spc="-150" dirty="0">
                <a:latin typeface="Gulim"/>
                <a:cs typeface="Gulim"/>
              </a:rPr>
              <a:t> </a:t>
            </a:r>
            <a:r>
              <a:rPr sz="1900" spc="-10" dirty="0">
                <a:latin typeface="Gulim"/>
                <a:cs typeface="Gulim"/>
              </a:rPr>
              <a:t>너비우선탐색에</a:t>
            </a:r>
            <a:r>
              <a:rPr sz="1900" spc="-110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대해</a:t>
            </a:r>
            <a:r>
              <a:rPr sz="1900" spc="-150" dirty="0">
                <a:latin typeface="Gulim"/>
                <a:cs typeface="Gulim"/>
              </a:rPr>
              <a:t> </a:t>
            </a:r>
            <a:r>
              <a:rPr sz="1900" spc="-10" dirty="0">
                <a:latin typeface="Gulim"/>
                <a:cs typeface="Gulim"/>
              </a:rPr>
              <a:t>그림으로</a:t>
            </a:r>
            <a:r>
              <a:rPr sz="1900" spc="-130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그</a:t>
            </a:r>
            <a:r>
              <a:rPr sz="1900" spc="-150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과정을</a:t>
            </a:r>
            <a:r>
              <a:rPr sz="1900" spc="-13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그릴</a:t>
            </a:r>
            <a:r>
              <a:rPr sz="1900" spc="-14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수</a:t>
            </a:r>
            <a:r>
              <a:rPr sz="1900" spc="-150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있고</a:t>
            </a:r>
            <a:r>
              <a:rPr sz="1900" spc="-13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이</a:t>
            </a:r>
            <a:r>
              <a:rPr sz="1900" spc="-14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과정을</a:t>
            </a:r>
            <a:r>
              <a:rPr sz="1900" spc="-135" dirty="0">
                <a:latin typeface="Gulim"/>
                <a:cs typeface="Gulim"/>
              </a:rPr>
              <a:t> </a:t>
            </a:r>
            <a:r>
              <a:rPr sz="1900" spc="-25" dirty="0">
                <a:latin typeface="Arial"/>
                <a:cs typeface="Arial"/>
              </a:rPr>
              <a:t>C</a:t>
            </a:r>
            <a:r>
              <a:rPr sz="1900" spc="-25" dirty="0">
                <a:latin typeface="Gulim"/>
                <a:cs typeface="Gulim"/>
              </a:rPr>
              <a:t>코 </a:t>
            </a:r>
            <a:r>
              <a:rPr sz="1900" dirty="0">
                <a:latin typeface="Gulim"/>
                <a:cs typeface="Gulim"/>
              </a:rPr>
              <a:t>드로</a:t>
            </a:r>
            <a:r>
              <a:rPr sz="1900" spc="-150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작성할</a:t>
            </a:r>
            <a:r>
              <a:rPr sz="1900" spc="-13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수</a:t>
            </a:r>
            <a:r>
              <a:rPr sz="1900" spc="-145" dirty="0">
                <a:latin typeface="Gulim"/>
                <a:cs typeface="Gulim"/>
              </a:rPr>
              <a:t> </a:t>
            </a:r>
            <a:r>
              <a:rPr sz="1900" spc="-25" dirty="0">
                <a:latin typeface="Gulim"/>
                <a:cs typeface="Gulim"/>
              </a:rPr>
              <a:t>있다</a:t>
            </a:r>
            <a:endParaRPr sz="1900">
              <a:latin typeface="Gulim"/>
              <a:cs typeface="Gulim"/>
            </a:endParaRPr>
          </a:p>
          <a:p>
            <a:pPr marL="469265" marR="5080" indent="-457200">
              <a:lnSpc>
                <a:spcPct val="80000"/>
              </a:lnSpc>
              <a:spcBef>
                <a:spcPts val="6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sz="1900" dirty="0">
                <a:latin typeface="Gulim"/>
                <a:cs typeface="Gulim"/>
              </a:rPr>
              <a:t>나는</a:t>
            </a:r>
            <a:r>
              <a:rPr sz="1900" spc="-160" dirty="0">
                <a:latin typeface="Gulim"/>
                <a:cs typeface="Gulim"/>
              </a:rPr>
              <a:t> </a:t>
            </a:r>
            <a:r>
              <a:rPr sz="1900" spc="-10" dirty="0">
                <a:latin typeface="Gulim"/>
                <a:cs typeface="Gulim"/>
              </a:rPr>
              <a:t>깊이우선탐색과</a:t>
            </a:r>
            <a:r>
              <a:rPr sz="1900" spc="-125" dirty="0">
                <a:latin typeface="Gulim"/>
                <a:cs typeface="Gulim"/>
              </a:rPr>
              <a:t> </a:t>
            </a:r>
            <a:r>
              <a:rPr sz="1900" spc="-10" dirty="0">
                <a:latin typeface="Gulim"/>
                <a:cs typeface="Gulim"/>
              </a:rPr>
              <a:t>너비우선탐색에</a:t>
            </a:r>
            <a:r>
              <a:rPr sz="1900" spc="-13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대해</a:t>
            </a:r>
            <a:r>
              <a:rPr sz="1900" spc="-160" dirty="0">
                <a:latin typeface="Gulim"/>
                <a:cs typeface="Gulim"/>
              </a:rPr>
              <a:t> </a:t>
            </a:r>
            <a:r>
              <a:rPr sz="1900" dirty="0">
                <a:latin typeface="Arial"/>
                <a:cs typeface="Arial"/>
              </a:rPr>
              <a:t>VS</a:t>
            </a:r>
            <a:r>
              <a:rPr sz="1900" dirty="0">
                <a:latin typeface="Gulim"/>
                <a:cs typeface="Gulim"/>
              </a:rPr>
              <a:t>에서</a:t>
            </a:r>
            <a:r>
              <a:rPr sz="1900" spc="-14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한줄씩</a:t>
            </a:r>
            <a:r>
              <a:rPr sz="1900" spc="-145" dirty="0">
                <a:latin typeface="Gulim"/>
                <a:cs typeface="Gulim"/>
              </a:rPr>
              <a:t> </a:t>
            </a:r>
            <a:r>
              <a:rPr sz="1900" spc="-10" dirty="0">
                <a:latin typeface="Gulim"/>
                <a:cs typeface="Gulim"/>
              </a:rPr>
              <a:t>수행하면서</a:t>
            </a:r>
            <a:r>
              <a:rPr sz="1900" spc="-145" dirty="0">
                <a:latin typeface="Gulim"/>
                <a:cs typeface="Gulim"/>
              </a:rPr>
              <a:t> </a:t>
            </a:r>
            <a:r>
              <a:rPr sz="1900" spc="-25" dirty="0">
                <a:latin typeface="Gulim"/>
                <a:cs typeface="Gulim"/>
              </a:rPr>
              <a:t>변수 </a:t>
            </a:r>
            <a:r>
              <a:rPr sz="1900" dirty="0">
                <a:latin typeface="Gulim"/>
                <a:cs typeface="Gulim"/>
              </a:rPr>
              <a:t>창에서</a:t>
            </a:r>
            <a:r>
              <a:rPr sz="1900" spc="-135" dirty="0">
                <a:latin typeface="Gulim"/>
                <a:cs typeface="Gulim"/>
              </a:rPr>
              <a:t> </a:t>
            </a:r>
            <a:r>
              <a:rPr sz="1900" spc="-10" dirty="0">
                <a:latin typeface="Gulim"/>
                <a:cs typeface="Gulim"/>
              </a:rPr>
              <a:t>자료구조가</a:t>
            </a:r>
            <a:r>
              <a:rPr sz="1900" spc="-135" dirty="0">
                <a:latin typeface="Gulim"/>
                <a:cs typeface="Gulim"/>
              </a:rPr>
              <a:t> </a:t>
            </a:r>
            <a:r>
              <a:rPr sz="1900" spc="-10" dirty="0">
                <a:latin typeface="Gulim"/>
                <a:cs typeface="Gulim"/>
              </a:rPr>
              <a:t>그림으로</a:t>
            </a:r>
            <a:r>
              <a:rPr sz="1900" spc="-13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된</a:t>
            </a:r>
            <a:r>
              <a:rPr sz="1900" spc="-14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과정과</a:t>
            </a:r>
            <a:r>
              <a:rPr sz="1900" spc="-135" dirty="0">
                <a:latin typeface="Gulim"/>
                <a:cs typeface="Gulim"/>
              </a:rPr>
              <a:t> </a:t>
            </a:r>
            <a:r>
              <a:rPr sz="1900" spc="-10" dirty="0">
                <a:latin typeface="Gulim"/>
                <a:cs typeface="Gulim"/>
              </a:rPr>
              <a:t>일치하는</a:t>
            </a:r>
            <a:r>
              <a:rPr sz="1900" spc="-13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지</a:t>
            </a:r>
            <a:r>
              <a:rPr sz="1900" spc="-14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확인할</a:t>
            </a:r>
            <a:r>
              <a:rPr sz="1900" spc="-13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수</a:t>
            </a:r>
            <a:r>
              <a:rPr sz="1900" spc="-145" dirty="0">
                <a:latin typeface="Gulim"/>
                <a:cs typeface="Gulim"/>
              </a:rPr>
              <a:t> </a:t>
            </a:r>
            <a:r>
              <a:rPr sz="1900" spc="-25" dirty="0">
                <a:latin typeface="Gulim"/>
                <a:cs typeface="Gulim"/>
              </a:rPr>
              <a:t>있다</a:t>
            </a:r>
            <a:endParaRPr sz="19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1900" dirty="0">
                <a:latin typeface="Arial"/>
                <a:cs typeface="Arial"/>
              </a:rPr>
              <a:t>*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dirty="0">
                <a:latin typeface="Gulim"/>
                <a:cs typeface="Gulim"/>
              </a:rPr>
              <a:t>정답이</a:t>
            </a:r>
            <a:r>
              <a:rPr sz="1900" spc="-125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있는</a:t>
            </a:r>
            <a:r>
              <a:rPr sz="1900" spc="-145" dirty="0">
                <a:latin typeface="Gulim"/>
                <a:cs typeface="Gulim"/>
              </a:rPr>
              <a:t> </a:t>
            </a:r>
            <a:r>
              <a:rPr sz="1900" spc="-10" dirty="0">
                <a:latin typeface="Gulim"/>
                <a:cs typeface="Gulim"/>
              </a:rPr>
              <a:t>연습문제</a:t>
            </a:r>
            <a:r>
              <a:rPr sz="1900" spc="-125" dirty="0">
                <a:latin typeface="Gulim"/>
                <a:cs typeface="Gulim"/>
              </a:rPr>
              <a:t> </a:t>
            </a:r>
            <a:r>
              <a:rPr sz="1900" spc="-10" dirty="0">
                <a:latin typeface="Gulim"/>
                <a:cs typeface="Gulim"/>
              </a:rPr>
              <a:t>홀수문제</a:t>
            </a:r>
            <a:r>
              <a:rPr sz="1900" spc="-120" dirty="0">
                <a:latin typeface="Gulim"/>
                <a:cs typeface="Gulim"/>
              </a:rPr>
              <a:t> </a:t>
            </a:r>
            <a:r>
              <a:rPr sz="1900" dirty="0">
                <a:latin typeface="Gulim"/>
                <a:cs typeface="Gulim"/>
              </a:rPr>
              <a:t>꼭</a:t>
            </a:r>
            <a:r>
              <a:rPr sz="1900" spc="-140" dirty="0">
                <a:latin typeface="Gulim"/>
                <a:cs typeface="Gulim"/>
              </a:rPr>
              <a:t> </a:t>
            </a:r>
            <a:r>
              <a:rPr sz="1900" spc="-10" dirty="0">
                <a:latin typeface="Gulim"/>
                <a:cs typeface="Gulim"/>
              </a:rPr>
              <a:t>해결해보세요</a:t>
            </a:r>
            <a:endParaRPr sz="19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4848</Words>
  <Application>Microsoft Office PowerPoint</Application>
  <PresentationFormat>사용자 지정</PresentationFormat>
  <Paragraphs>673</Paragraphs>
  <Slides>65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75" baseType="lpstr">
      <vt:lpstr>Gulim</vt:lpstr>
      <vt:lpstr>맑은 고딕</vt:lpstr>
      <vt:lpstr>Arial</vt:lpstr>
      <vt:lpstr>Lucida Console</vt:lpstr>
      <vt:lpstr>Segoe UI Symbol</vt:lpstr>
      <vt:lpstr>Times New Roman</vt:lpstr>
      <vt:lpstr>Trebuchet MS</vt:lpstr>
      <vt:lpstr>Tw Cen MT</vt:lpstr>
      <vt:lpstr>Wingdings 2</vt:lpstr>
      <vt:lpstr>Office Theme</vt:lpstr>
      <vt:lpstr>10장 그래프 I</vt:lpstr>
      <vt:lpstr>Q &amp; A</vt:lpstr>
      <vt:lpstr>목차</vt:lpstr>
      <vt:lpstr>그래프(graph)</vt:lpstr>
      <vt:lpstr>그래프 역사</vt:lpstr>
      <vt:lpstr>그래프로 표현하는 것들</vt:lpstr>
      <vt:lpstr>그래프 정의</vt:lpstr>
      <vt:lpstr>그래프 표현의 예</vt:lpstr>
      <vt:lpstr>그래프의 종류</vt:lpstr>
      <vt:lpstr>네트워크</vt:lpstr>
      <vt:lpstr>부분 그래프(subgraph)</vt:lpstr>
      <vt:lpstr>그래프</vt:lpstr>
      <vt:lpstr>그래프</vt:lpstr>
      <vt:lpstr>그래프의 경로(path)</vt:lpstr>
      <vt:lpstr>그래프의 경로(path)</vt:lpstr>
      <vt:lpstr>그래프의 연결정도</vt:lpstr>
      <vt:lpstr>그래프의 연결정도</vt:lpstr>
      <vt:lpstr>Graph 용어 가상실습</vt:lpstr>
      <vt:lpstr>휴식</vt:lpstr>
      <vt:lpstr>그래프 ADT</vt:lpstr>
      <vt:lpstr>그래프 표현(구현) 방법</vt:lpstr>
      <vt:lpstr>인접행렬 방법</vt:lpstr>
      <vt:lpstr>인접 리스트 방법</vt:lpstr>
      <vt:lpstr>인접 행렬 구현 (adj_mat.c)</vt:lpstr>
      <vt:lpstr>인접 행렬 구현</vt:lpstr>
      <vt:lpstr>인접 행렬 구현</vt:lpstr>
      <vt:lpstr>VS 솔류션 생성(프로젝트명: ch10 파일명 ch10.c)</vt:lpstr>
      <vt:lpstr>학생&gt; 교수님~ VS 변수창 보고 싶어요</vt:lpstr>
      <vt:lpstr>인접 리스트 구현 (adj_list.c)</vt:lpstr>
      <vt:lpstr>학생&gt; 제가 인접리스트 자료구조 단계별 그림으로 만들었는데 VS에서 인접리스트 자료구조 보고 싶어요</vt:lpstr>
      <vt:lpstr>휴식</vt:lpstr>
      <vt:lpstr>그래프 탐색</vt:lpstr>
      <vt:lpstr>그래프 탐색</vt:lpstr>
      <vt:lpstr>깊이 우선 탐색(DFS)</vt:lpstr>
      <vt:lpstr>DFS 알고리즘</vt:lpstr>
      <vt:lpstr>DFS 알고리즘</vt:lpstr>
      <vt:lpstr>DFS 프로그램 (bfs.c)</vt:lpstr>
      <vt:lpstr>DFS 프로그램</vt:lpstr>
      <vt:lpstr>실행결과</vt:lpstr>
      <vt:lpstr>DFS 가상실습</vt:lpstr>
      <vt:lpstr>dfs_change.c로 설명합니다.</vt:lpstr>
      <vt:lpstr>학생&gt; 교수님~ 어려워요. 코드 한줄 씩 설명해주세요. 교수&gt; 코드만으로 한줄 씩 설명이 어려움. 자료구조 그림과 VS같이 (1/</vt:lpstr>
      <vt:lpstr>학생&gt; 교수님~ 어려워요. 코드 한줄 씩 설명해주세요. 교수&gt; 코드만으로 한줄 씩 설명이 어려움. 자료구조 그림과 VS같이 (2/</vt:lpstr>
      <vt:lpstr>학생&gt; 교수님~ 어려워요. 코드 한줄 씩 설명해주세요. 교수&gt; 코드만으로 한줄 씩 설명이 어려움. 자료구조 그림과 VS같이 (3/</vt:lpstr>
      <vt:lpstr>학생&gt; 교수님~ 어려워요. 코드 한줄 씩 설명해주세요. 교수&gt; 코드만으로 한줄 씩 설명이 어려움. 자료구조 그림과 VS같이(4/</vt:lpstr>
      <vt:lpstr>DFS 코드 설명 정리</vt:lpstr>
      <vt:lpstr>DFS 프로그램(인접 리스트 버전)(bfs_list.c)</vt:lpstr>
      <vt:lpstr>학생&gt; 교수님~ dfs_list.c에 main()이 없어요</vt:lpstr>
      <vt:lpstr>깊이우선탐색의 시간 복잡도 분석</vt:lpstr>
      <vt:lpstr>학생&gt; 깊이우선탐색에서 인접행렬, 인접리스트 어느게 빠른가요?</vt:lpstr>
      <vt:lpstr>휴식</vt:lpstr>
      <vt:lpstr>너비우선 탐색(BFS)</vt:lpstr>
      <vt:lpstr>너비우선 탐색(BFS)</vt:lpstr>
      <vt:lpstr>너비우선 탐색(BFS)</vt:lpstr>
      <vt:lpstr>BFS 프로그램(인접행렬) (bfs.c)</vt:lpstr>
      <vt:lpstr>BFS 프로그램(인접행렬)</vt:lpstr>
      <vt:lpstr>실행결과</vt:lpstr>
      <vt:lpstr>BFS 가상실습</vt:lpstr>
      <vt:lpstr>bfs_change.c로 설명합니다.</vt:lpstr>
      <vt:lpstr>학생&gt; 교수님~ 어려워요. 코드 한줄 씩 설명해주세요. 교수&gt; 코드만으로 한줄 씩 설명이 어려움. 자료구조 그림과 VS같이(1/</vt:lpstr>
      <vt:lpstr>학생&gt; 교수님~ 어려워요. 코드 한줄 씩 설명해주세요. 교수&gt; 코드만으로 한줄 씩 설명이 어려움. 자료구조 그림과 VS같이(2/</vt:lpstr>
      <vt:lpstr>BFS 프로그램(인접리스트) (bfs_list.c)</vt:lpstr>
      <vt:lpstr>학생&gt; 교수님~ bfs_list.c에 main()이 없어요</vt:lpstr>
      <vt:lpstr>너비우선탐색의 시간 복잡도 분석</vt:lpstr>
      <vt:lpstr>이제 나는 할 수 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태호 안</cp:lastModifiedBy>
  <cp:revision>2</cp:revision>
  <dcterms:created xsi:type="dcterms:W3CDTF">2026-09-23T01:46:59Z</dcterms:created>
  <dcterms:modified xsi:type="dcterms:W3CDTF">2026-09-23T02:06:43Z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2023-09-24T00:00:00Z</vt:filetime>
  </property>
  <property fmtid="{D5CDD505-2E9C-101B-9397-08002B2CF9AE}" pid="3" name="Creator">
    <vt:lpwstr>Hancom PDF 1.3.0.443</vt:lpwstr>
  </property>
  <property fmtid="{D5CDD505-2E9C-101B-9397-08002B2CF9AE}" pid="4" name="LastSaved">
    <vt:filetime>2026-09-23T00:00:00Z</vt:filetime>
  </property>
  <property fmtid="{D5CDD505-2E9C-101B-9397-08002B2CF9AE}" pid="5" name="PDFVersion">
    <vt:lpwstr>1.4</vt:lpwstr>
  </property>
  <property fmtid="{D5CDD505-2E9C-101B-9397-08002B2CF9AE}" pid="6" name="Producer">
    <vt:lpwstr>Hancom PDF 1.3.0.443</vt:lpwstr>
  </property>
</Properties>
</file>