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7"/>
  </p:notesMasterIdLst>
  <p:sldIdLst>
    <p:sldId id="312" r:id="rId2"/>
    <p:sldId id="313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314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315" r:id="rId19"/>
    <p:sldId id="295" r:id="rId20"/>
    <p:sldId id="296" r:id="rId21"/>
    <p:sldId id="316" r:id="rId22"/>
    <p:sldId id="298" r:id="rId23"/>
    <p:sldId id="299" r:id="rId24"/>
    <p:sldId id="300" r:id="rId25"/>
    <p:sldId id="301" r:id="rId26"/>
    <p:sldId id="302" r:id="rId27"/>
    <p:sldId id="317" r:id="rId28"/>
    <p:sldId id="304" r:id="rId29"/>
    <p:sldId id="318" r:id="rId30"/>
    <p:sldId id="306" r:id="rId31"/>
    <p:sldId id="307" r:id="rId32"/>
    <p:sldId id="308" r:id="rId33"/>
    <p:sldId id="309" r:id="rId34"/>
    <p:sldId id="310" r:id="rId35"/>
    <p:sldId id="311" r:id="rId36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8"/>
    </p:embeddedFont>
    <p:embeddedFont>
      <p:font typeface="G마켓 산스 TTF Medium" panose="02000000000000000000" pitchFamily="2" charset="-127"/>
      <p:regular r:id="rId39"/>
    </p:embeddedFont>
    <p:embeddedFont>
      <p:font typeface="넥슨Lv1고딕" panose="00000500000000000000" pitchFamily="2" charset="-127"/>
      <p:regular r:id="rId40"/>
    </p:embeddedFont>
    <p:embeddedFont>
      <p:font typeface="넥슨Lv1고딕 Bold" panose="00000800000000000000" pitchFamily="2" charset="-127"/>
      <p:bold r:id="rId4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19" userDrawn="1">
          <p15:clr>
            <a:srgbClr val="A4A3A4"/>
          </p15:clr>
        </p15:guide>
        <p15:guide id="2" orient="horz" pos="21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5BA0"/>
    <a:srgbClr val="F27037"/>
    <a:srgbClr val="FFE699"/>
    <a:srgbClr val="EFF5FB"/>
    <a:srgbClr val="E1ECF7"/>
    <a:srgbClr val="098983"/>
    <a:srgbClr val="F2FBFB"/>
    <a:srgbClr val="D0F1F0"/>
    <a:srgbClr val="83C4C1"/>
    <a:srgbClr val="F8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1745" autoAdjust="0"/>
  </p:normalViewPr>
  <p:slideViewPr>
    <p:cSldViewPr snapToGrid="0">
      <p:cViewPr varScale="1">
        <p:scale>
          <a:sx n="114" d="100"/>
          <a:sy n="114" d="100"/>
        </p:scale>
        <p:origin x="480" y="96"/>
      </p:cViewPr>
      <p:guideLst>
        <p:guide pos="619"/>
        <p:guide orient="horz" pos="213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E140C150-30F4-4EB8-A68E-9542B6266399}" type="datetimeFigureOut">
              <a:rPr lang="ko-KR" altLang="en-US" smtClean="0"/>
              <a:pPr/>
              <a:t>2022-02-15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83CE925C-F659-44E3-9F87-D3B4F55FEB4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G마켓 산스 TTF Medium" panose="02000000000000000000" pitchFamily="2" charset="-127"/>
        <a:ea typeface="G마켓 산스 TTF Medium" panose="020000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8E58B23-F003-438F-9390-0AE2D7CD0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텍스트 개체 틀 19">
            <a:extLst>
              <a:ext uri="{FF2B5EF4-FFF2-40B4-BE49-F238E27FC236}">
                <a16:creationId xmlns:a16="http://schemas.microsoft.com/office/drawing/2014/main" id="{86EBB590-FEE8-401E-8EA0-BCE5353BDCD0}"/>
              </a:ext>
            </a:extLst>
          </p:cNvPr>
          <p:cNvSpPr txBox="1">
            <a:spLocks/>
          </p:cNvSpPr>
          <p:nvPr/>
        </p:nvSpPr>
        <p:spPr>
          <a:xfrm>
            <a:off x="846203" y="2397206"/>
            <a:ext cx="5249797" cy="114492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66CCFF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데이터</a:t>
            </a:r>
            <a:r>
              <a:rPr lang="ko-KR" altLang="en-US" sz="6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  <a:sym typeface="Arial"/>
              </a:rPr>
              <a:t>통신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EC8F8-3EF6-4B10-A06F-EC62C7E0CD3E}"/>
              </a:ext>
            </a:extLst>
          </p:cNvPr>
          <p:cNvSpPr txBox="1"/>
          <p:nvPr/>
        </p:nvSpPr>
        <p:spPr>
          <a:xfrm>
            <a:off x="846203" y="5458844"/>
            <a:ext cx="3851275" cy="393954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latinLnBrk="1">
              <a:lnSpc>
                <a:spcPct val="130000"/>
              </a:lnSpc>
              <a:spcBef>
                <a:spcPts val="600"/>
              </a:spcBef>
              <a:defRPr/>
            </a:pP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한성대학교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황 호 영 </a:t>
            </a:r>
            <a:r>
              <a:rPr lang="ko-KR" altLang="en-US" sz="16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교수 </a:t>
            </a:r>
          </a:p>
        </p:txBody>
      </p:sp>
      <p:pic>
        <p:nvPicPr>
          <p:cNvPr id="12" name="그림 11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84D97AAB-4486-4F3F-86BE-841ABC35D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202" y="770137"/>
            <a:ext cx="1068323" cy="422954"/>
          </a:xfrm>
          <a:prstGeom prst="rect">
            <a:avLst/>
          </a:prstGeom>
        </p:spPr>
      </p:pic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7B09D02F-4765-492A-A03F-2CC73DC21629}"/>
              </a:ext>
            </a:extLst>
          </p:cNvPr>
          <p:cNvSpPr/>
          <p:nvPr/>
        </p:nvSpPr>
        <p:spPr>
          <a:xfrm>
            <a:off x="561974" y="2337557"/>
            <a:ext cx="354331" cy="354331"/>
          </a:xfrm>
          <a:custGeom>
            <a:avLst/>
            <a:gdLst>
              <a:gd name="connsiteX0" fmla="*/ 0 w 646331"/>
              <a:gd name="connsiteY0" fmla="*/ 0 h 646331"/>
              <a:gd name="connsiteX1" fmla="*/ 646331 w 646331"/>
              <a:gd name="connsiteY1" fmla="*/ 0 h 646331"/>
              <a:gd name="connsiteX2" fmla="*/ 646331 w 646331"/>
              <a:gd name="connsiteY2" fmla="*/ 278601 h 646331"/>
              <a:gd name="connsiteX3" fmla="*/ 323165 w 646331"/>
              <a:gd name="connsiteY3" fmla="*/ 278601 h 646331"/>
              <a:gd name="connsiteX4" fmla="*/ 323165 w 646331"/>
              <a:gd name="connsiteY4" fmla="*/ 646331 h 646331"/>
              <a:gd name="connsiteX5" fmla="*/ 0 w 646331"/>
              <a:gd name="connsiteY5" fmla="*/ 64633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6" fmla="*/ 414605 w 646331"/>
              <a:gd name="connsiteY6" fmla="*/ 370041 h 646331"/>
              <a:gd name="connsiteX0" fmla="*/ 323165 w 646331"/>
              <a:gd name="connsiteY0" fmla="*/ 278601 h 646331"/>
              <a:gd name="connsiteX1" fmla="*/ 323165 w 646331"/>
              <a:gd name="connsiteY1" fmla="*/ 646331 h 646331"/>
              <a:gd name="connsiteX2" fmla="*/ 0 w 646331"/>
              <a:gd name="connsiteY2" fmla="*/ 646331 h 646331"/>
              <a:gd name="connsiteX3" fmla="*/ 0 w 646331"/>
              <a:gd name="connsiteY3" fmla="*/ 0 h 646331"/>
              <a:gd name="connsiteX4" fmla="*/ 646331 w 646331"/>
              <a:gd name="connsiteY4" fmla="*/ 0 h 646331"/>
              <a:gd name="connsiteX5" fmla="*/ 646331 w 646331"/>
              <a:gd name="connsiteY5" fmla="*/ 278601 h 646331"/>
              <a:gd name="connsiteX0" fmla="*/ 323165 w 646331"/>
              <a:gd name="connsiteY0" fmla="*/ 646331 h 646331"/>
              <a:gd name="connsiteX1" fmla="*/ 0 w 646331"/>
              <a:gd name="connsiteY1" fmla="*/ 646331 h 646331"/>
              <a:gd name="connsiteX2" fmla="*/ 0 w 646331"/>
              <a:gd name="connsiteY2" fmla="*/ 0 h 646331"/>
              <a:gd name="connsiteX3" fmla="*/ 646331 w 646331"/>
              <a:gd name="connsiteY3" fmla="*/ 0 h 646331"/>
              <a:gd name="connsiteX4" fmla="*/ 646331 w 646331"/>
              <a:gd name="connsiteY4" fmla="*/ 278601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6331" h="646331">
                <a:moveTo>
                  <a:pt x="323165" y="646331"/>
                </a:moveTo>
                <a:lnTo>
                  <a:pt x="0" y="646331"/>
                </a:lnTo>
                <a:lnTo>
                  <a:pt x="0" y="0"/>
                </a:lnTo>
                <a:lnTo>
                  <a:pt x="646331" y="0"/>
                </a:lnTo>
                <a:lnTo>
                  <a:pt x="646331" y="278601"/>
                </a:lnTo>
              </a:path>
            </a:pathLst>
          </a:custGeom>
          <a:noFill/>
          <a:ln w="28575">
            <a:solidFill>
              <a:srgbClr val="66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latinLnBrk="0"/>
            <a:endParaRPr lang="ko-KR" altLang="en-US" dirty="0">
              <a:ln>
                <a:solidFill>
                  <a:schemeClr val="accent1">
                    <a:alpha val="0"/>
                  </a:scheme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06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8E84835-0DF2-4DD9-A283-A656C61EAB8C}"/>
              </a:ext>
            </a:extLst>
          </p:cNvPr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4EBD87E-3A54-41C8-9F34-AED9EBD1CB9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23F09C4-A7CA-4012-8905-5AEF03E22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625" b="570"/>
              <a:stretch/>
            </p:blipFill>
            <p:spPr>
              <a:xfrm>
                <a:off x="0" y="0"/>
                <a:ext cx="12192000" cy="2867025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6BDC9A2E-AA5F-4680-A3C9-D6DD489125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472" b="8334"/>
              <a:stretch/>
            </p:blipFill>
            <p:spPr>
              <a:xfrm>
                <a:off x="0" y="2867025"/>
                <a:ext cx="12192000" cy="3990975"/>
              </a:xfrm>
              <a:prstGeom prst="rect">
                <a:avLst/>
              </a:prstGeom>
            </p:spPr>
          </p:pic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DF38D8D-6B96-4687-9813-B6F30BDFF1A1}"/>
                </a:ext>
              </a:extLst>
            </p:cNvPr>
            <p:cNvSpPr/>
            <p:nvPr/>
          </p:nvSpPr>
          <p:spPr>
            <a:xfrm flipH="1">
              <a:off x="0" y="0"/>
              <a:ext cx="12189534" cy="6858001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95000"/>
                    <a:lumOff val="5000"/>
                    <a:alpha val="65000"/>
                  </a:schemeClr>
                </a:gs>
                <a:gs pos="100000">
                  <a:srgbClr val="09C9A9">
                    <a:alpha val="86000"/>
                  </a:srgbClr>
                </a:gs>
                <a:gs pos="76000">
                  <a:srgbClr val="00AFEF">
                    <a:alpha val="80000"/>
                  </a:srgbClr>
                </a:gs>
                <a:gs pos="42000">
                  <a:srgbClr val="0058A2">
                    <a:alpha val="51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넥슨Lv1고딕 Bold" panose="00000800000000000000" pitchFamily="2" charset="-127"/>
                <a:ea typeface="넥슨Lv1고딕 Bold" panose="00000800000000000000" pitchFamily="2" charset="-127"/>
                <a:cs typeface="+mn-cs"/>
              </a:endParaRPr>
            </a:p>
          </p:txBody>
        </p:sp>
      </p:grp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F0A33CB-60D6-4F92-BEB3-7CA6E3DF0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</a:t>
            </a:r>
            <a:r>
              <a:rPr lang="ko-KR" altLang="en-US"/>
              <a:t>편집하려면 클릭</a:t>
            </a:r>
            <a:endParaRPr lang="ko-KR" altLang="en-US" dirty="0"/>
          </a:p>
        </p:txBody>
      </p:sp>
      <p:pic>
        <p:nvPicPr>
          <p:cNvPr id="18" name="그림 17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104391FA-D3E0-4D50-B6D1-6871FE0B13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492" y="357964"/>
            <a:ext cx="904917" cy="358261"/>
          </a:xfrm>
          <a:prstGeom prst="rect">
            <a:avLst/>
          </a:prstGeom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95E1FDB4-6084-4885-9561-CE889B6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6FD91E-E9A9-4A78-A932-60E362AB8C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6"/>
            <a:ext cx="11510246" cy="57551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7346B59-9366-435F-8A40-43F67C5B6886}"/>
              </a:ext>
            </a:extLst>
          </p:cNvPr>
          <p:cNvSpPr txBox="1"/>
          <p:nvPr userDrawn="1"/>
        </p:nvSpPr>
        <p:spPr>
          <a:xfrm>
            <a:off x="696915" y="6166170"/>
            <a:ext cx="6113504" cy="323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*출처 </a:t>
            </a: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:  『Computer Networking : A Top Down  Approach Eighth Edition』 </a:t>
            </a:r>
          </a:p>
          <a:p>
            <a:pPr marL="144000" lvl="3" indent="-144000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32321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5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D418C24D-CC88-4BC0-957E-0F8F8C78A2A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B3B77CFE-DABC-4859-BAEC-3077D0B8EB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625" b="570"/>
            <a:stretch/>
          </p:blipFill>
          <p:spPr>
            <a:xfrm>
              <a:off x="0" y="0"/>
              <a:ext cx="12192000" cy="2867025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E42761C8-18CA-4130-B2F4-62F40C4D2D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472" b="8334"/>
            <a:stretch/>
          </p:blipFill>
          <p:spPr>
            <a:xfrm>
              <a:off x="0" y="2867025"/>
              <a:ext cx="12192000" cy="3990975"/>
            </a:xfrm>
            <a:prstGeom prst="rect">
              <a:avLst/>
            </a:prstGeom>
          </p:spPr>
        </p:pic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526B65B-B533-49E0-844F-3A380A12D9EA}"/>
              </a:ext>
            </a:extLst>
          </p:cNvPr>
          <p:cNvSpPr/>
          <p:nvPr/>
        </p:nvSpPr>
        <p:spPr>
          <a:xfrm flipH="1">
            <a:off x="0" y="0"/>
            <a:ext cx="12189534" cy="685800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65000"/>
                </a:schemeClr>
              </a:gs>
              <a:gs pos="100000">
                <a:srgbClr val="09C9A9">
                  <a:alpha val="86000"/>
                </a:srgbClr>
              </a:gs>
              <a:gs pos="76000">
                <a:srgbClr val="00AFEF">
                  <a:alpha val="80000"/>
                </a:srgbClr>
              </a:gs>
              <a:gs pos="42000">
                <a:srgbClr val="0058A2">
                  <a:alpha val="51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넥슨Lv1고딕 Bold" panose="00000800000000000000" pitchFamily="2" charset="-127"/>
              <a:ea typeface="넥슨Lv1고딕 Bold" panose="00000800000000000000" pitchFamily="2" charset="-127"/>
              <a:cs typeface="+mn-cs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CD982A44-53CC-437A-B1F2-363FE9109416}"/>
              </a:ext>
            </a:extLst>
          </p:cNvPr>
          <p:cNvGrpSpPr/>
          <p:nvPr/>
        </p:nvGrpSpPr>
        <p:grpSpPr>
          <a:xfrm>
            <a:off x="7029061" y="187414"/>
            <a:ext cx="5194689" cy="656355"/>
            <a:chOff x="7199219" y="187414"/>
            <a:chExt cx="5046121" cy="656355"/>
          </a:xfrm>
        </p:grpSpPr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2154770F-0A7B-41FD-A565-0836865DDE4E}"/>
                </a:ext>
              </a:extLst>
            </p:cNvPr>
            <p:cNvSpPr/>
            <p:nvPr/>
          </p:nvSpPr>
          <p:spPr>
            <a:xfrm>
              <a:off x="7540777" y="187414"/>
              <a:ext cx="4704563" cy="436126"/>
            </a:xfrm>
            <a:custGeom>
              <a:avLst/>
              <a:gdLst>
                <a:gd name="connsiteX0" fmla="*/ 265745 w 4547246"/>
                <a:gd name="connsiteY0" fmla="*/ 0 h 419100"/>
                <a:gd name="connsiteX1" fmla="*/ 995371 w 4547246"/>
                <a:gd name="connsiteY1" fmla="*/ 0 h 419100"/>
                <a:gd name="connsiteX2" fmla="*/ 1436134 w 4547246"/>
                <a:gd name="connsiteY2" fmla="*/ 0 h 419100"/>
                <a:gd name="connsiteX3" fmla="*/ 2165760 w 4547246"/>
                <a:gd name="connsiteY3" fmla="*/ 0 h 419100"/>
                <a:gd name="connsiteX4" fmla="*/ 2379395 w 4547246"/>
                <a:gd name="connsiteY4" fmla="*/ 0 h 419100"/>
                <a:gd name="connsiteX5" fmla="*/ 3109021 w 4547246"/>
                <a:gd name="connsiteY5" fmla="*/ 0 h 419100"/>
                <a:gd name="connsiteX6" fmla="*/ 3817620 w 4547246"/>
                <a:gd name="connsiteY6" fmla="*/ 0 h 419100"/>
                <a:gd name="connsiteX7" fmla="*/ 4547246 w 4547246"/>
                <a:gd name="connsiteY7" fmla="*/ 0 h 419100"/>
                <a:gd name="connsiteX8" fmla="*/ 4547246 w 4547246"/>
                <a:gd name="connsiteY8" fmla="*/ 419100 h 419100"/>
                <a:gd name="connsiteX9" fmla="*/ 3817620 w 4547246"/>
                <a:gd name="connsiteY9" fmla="*/ 419100 h 419100"/>
                <a:gd name="connsiteX10" fmla="*/ 2165760 w 4547246"/>
                <a:gd name="connsiteY10" fmla="*/ 419100 h 419100"/>
                <a:gd name="connsiteX11" fmla="*/ 1436134 w 4547246"/>
                <a:gd name="connsiteY11" fmla="*/ 419100 h 419100"/>
                <a:gd name="connsiteX12" fmla="*/ 1436134 w 4547246"/>
                <a:gd name="connsiteY12" fmla="*/ 417862 h 419100"/>
                <a:gd name="connsiteX13" fmla="*/ 729626 w 4547246"/>
                <a:gd name="connsiteY13" fmla="*/ 417862 h 419100"/>
                <a:gd name="connsiteX14" fmla="*/ 0 w 4547246"/>
                <a:gd name="connsiteY14" fmla="*/ 417862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47246" h="419100">
                  <a:moveTo>
                    <a:pt x="265745" y="0"/>
                  </a:moveTo>
                  <a:lnTo>
                    <a:pt x="995371" y="0"/>
                  </a:lnTo>
                  <a:lnTo>
                    <a:pt x="1436134" y="0"/>
                  </a:lnTo>
                  <a:lnTo>
                    <a:pt x="2165760" y="0"/>
                  </a:lnTo>
                  <a:lnTo>
                    <a:pt x="2379395" y="0"/>
                  </a:lnTo>
                  <a:lnTo>
                    <a:pt x="3109021" y="0"/>
                  </a:lnTo>
                  <a:lnTo>
                    <a:pt x="3817620" y="0"/>
                  </a:lnTo>
                  <a:lnTo>
                    <a:pt x="4547246" y="0"/>
                  </a:lnTo>
                  <a:lnTo>
                    <a:pt x="4547246" y="419100"/>
                  </a:lnTo>
                  <a:lnTo>
                    <a:pt x="3817620" y="419100"/>
                  </a:lnTo>
                  <a:lnTo>
                    <a:pt x="2165760" y="419100"/>
                  </a:lnTo>
                  <a:lnTo>
                    <a:pt x="1436134" y="419100"/>
                  </a:lnTo>
                  <a:lnTo>
                    <a:pt x="1436134" y="417862"/>
                  </a:lnTo>
                  <a:lnTo>
                    <a:pt x="729626" y="417862"/>
                  </a:lnTo>
                  <a:lnTo>
                    <a:pt x="0" y="417862"/>
                  </a:lnTo>
                  <a:close/>
                </a:path>
              </a:pathLst>
            </a:custGeom>
            <a:gradFill>
              <a:gsLst>
                <a:gs pos="0">
                  <a:srgbClr val="CAD3DC"/>
                </a:gs>
                <a:gs pos="68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AE9A2CA9-A205-4255-9267-D4309E033CC6}"/>
                </a:ext>
              </a:extLst>
            </p:cNvPr>
            <p:cNvSpPr/>
            <p:nvPr/>
          </p:nvSpPr>
          <p:spPr>
            <a:xfrm>
              <a:off x="7199219" y="267834"/>
              <a:ext cx="5046120" cy="575935"/>
            </a:xfrm>
            <a:custGeom>
              <a:avLst/>
              <a:gdLst>
                <a:gd name="connsiteX0" fmla="*/ 336567 w 5046120"/>
                <a:gd name="connsiteY0" fmla="*/ 0 h 575935"/>
                <a:gd name="connsiteX1" fmla="*/ 1216719 w 5046120"/>
                <a:gd name="connsiteY1" fmla="*/ 0 h 575935"/>
                <a:gd name="connsiteX2" fmla="*/ 1818865 w 5046120"/>
                <a:gd name="connsiteY2" fmla="*/ 0 h 575935"/>
                <a:gd name="connsiteX3" fmla="*/ 2699017 w 5046120"/>
                <a:gd name="connsiteY3" fmla="*/ 0 h 575935"/>
                <a:gd name="connsiteX4" fmla="*/ 3013506 w 5046120"/>
                <a:gd name="connsiteY4" fmla="*/ 0 h 575935"/>
                <a:gd name="connsiteX5" fmla="*/ 3893658 w 5046120"/>
                <a:gd name="connsiteY5" fmla="*/ 0 h 575935"/>
                <a:gd name="connsiteX6" fmla="*/ 4835020 w 5046120"/>
                <a:gd name="connsiteY6" fmla="*/ 0 h 575935"/>
                <a:gd name="connsiteX7" fmla="*/ 5046120 w 5046120"/>
                <a:gd name="connsiteY7" fmla="*/ 0 h 575935"/>
                <a:gd name="connsiteX8" fmla="*/ 5046120 w 5046120"/>
                <a:gd name="connsiteY8" fmla="*/ 575935 h 575935"/>
                <a:gd name="connsiteX9" fmla="*/ 4835020 w 5046120"/>
                <a:gd name="connsiteY9" fmla="*/ 575935 h 575935"/>
                <a:gd name="connsiteX10" fmla="*/ 2699017 w 5046120"/>
                <a:gd name="connsiteY10" fmla="*/ 575935 h 575935"/>
                <a:gd name="connsiteX11" fmla="*/ 1818865 w 5046120"/>
                <a:gd name="connsiteY11" fmla="*/ 575935 h 575935"/>
                <a:gd name="connsiteX12" fmla="*/ 1818865 w 5046120"/>
                <a:gd name="connsiteY12" fmla="*/ 574234 h 575935"/>
                <a:gd name="connsiteX13" fmla="*/ 880153 w 5046120"/>
                <a:gd name="connsiteY13" fmla="*/ 574234 h 575935"/>
                <a:gd name="connsiteX14" fmla="*/ 0 w 5046120"/>
                <a:gd name="connsiteY14" fmla="*/ 574234 h 575935"/>
                <a:gd name="connsiteX15" fmla="*/ 336567 w 5046120"/>
                <a:gd name="connsiteY15" fmla="*/ 0 h 5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46120" h="575935">
                  <a:moveTo>
                    <a:pt x="336567" y="0"/>
                  </a:moveTo>
                  <a:lnTo>
                    <a:pt x="1216719" y="0"/>
                  </a:lnTo>
                  <a:lnTo>
                    <a:pt x="1818865" y="0"/>
                  </a:lnTo>
                  <a:lnTo>
                    <a:pt x="2699017" y="0"/>
                  </a:lnTo>
                  <a:lnTo>
                    <a:pt x="3013506" y="0"/>
                  </a:lnTo>
                  <a:lnTo>
                    <a:pt x="3893658" y="0"/>
                  </a:lnTo>
                  <a:lnTo>
                    <a:pt x="4835020" y="0"/>
                  </a:lnTo>
                  <a:lnTo>
                    <a:pt x="5046120" y="0"/>
                  </a:lnTo>
                  <a:lnTo>
                    <a:pt x="5046120" y="575935"/>
                  </a:lnTo>
                  <a:lnTo>
                    <a:pt x="4835020" y="575935"/>
                  </a:lnTo>
                  <a:lnTo>
                    <a:pt x="2699017" y="575935"/>
                  </a:lnTo>
                  <a:lnTo>
                    <a:pt x="1818865" y="575935"/>
                  </a:lnTo>
                  <a:lnTo>
                    <a:pt x="1818865" y="574234"/>
                  </a:lnTo>
                  <a:lnTo>
                    <a:pt x="880153" y="574234"/>
                  </a:lnTo>
                  <a:lnTo>
                    <a:pt x="0" y="574234"/>
                  </a:lnTo>
                  <a:lnTo>
                    <a:pt x="336567" y="0"/>
                  </a:lnTo>
                  <a:close/>
                </a:path>
              </a:pathLst>
            </a:custGeom>
            <a:gradFill>
              <a:gsLst>
                <a:gs pos="32000">
                  <a:srgbClr val="EDF0F3"/>
                </a:gs>
                <a:gs pos="100000">
                  <a:schemeClr val="bg1"/>
                </a:gs>
              </a:gsLst>
              <a:lin ang="5400000" scaled="1"/>
            </a:gradFill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>
                <a:solidFill>
                  <a:schemeClr val="tx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pic>
        <p:nvPicPr>
          <p:cNvPr id="75" name="그림 74" descr="텍스트, 표지판, 클립아트이(가) 표시된 사진&#10;&#10;자동 생성된 설명">
            <a:extLst>
              <a:ext uri="{FF2B5EF4-FFF2-40B4-BE49-F238E27FC236}">
                <a16:creationId xmlns:a16="http://schemas.microsoft.com/office/drawing/2014/main" id="{FCA79763-5F57-4F6F-B6F4-E6BC8E9AF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660" y="392547"/>
            <a:ext cx="904918" cy="35826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19D1B3F-476C-4A72-B5FB-4FB156D7CB7A}"/>
              </a:ext>
            </a:extLst>
          </p:cNvPr>
          <p:cNvSpPr txBox="1"/>
          <p:nvPr/>
        </p:nvSpPr>
        <p:spPr>
          <a:xfrm>
            <a:off x="7449340" y="426823"/>
            <a:ext cx="3170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Chapter 3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트랜스포트 계층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57300C3-1155-49E7-9A80-E2A1FD129979}"/>
              </a:ext>
            </a:extLst>
          </p:cNvPr>
          <p:cNvCxnSpPr/>
          <p:nvPr/>
        </p:nvCxnSpPr>
        <p:spPr>
          <a:xfrm>
            <a:off x="10693542" y="440813"/>
            <a:ext cx="0" cy="279797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텍스트 개체 틀 25">
            <a:extLst>
              <a:ext uri="{FF2B5EF4-FFF2-40B4-BE49-F238E27FC236}">
                <a16:creationId xmlns:a16="http://schemas.microsoft.com/office/drawing/2014/main" id="{185B5DF7-1CC0-4AEC-B4B5-50A9AFD05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188" y="340764"/>
            <a:ext cx="9863137" cy="4889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0" dirty="0" smtClean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defRPr>
            </a:lvl1pPr>
            <a:lvl2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2pPr>
            <a:lvl3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3pPr>
            <a:lvl4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smtClean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4pPr>
            <a:lvl5pPr marL="0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1800" kern="1200" spc="0" dirty="0">
                <a:ln>
                  <a:solidFill>
                    <a:srgbClr val="00CC99">
                      <a:alpha val="0"/>
                    </a:srgbClr>
                  </a:solidFill>
                </a:ln>
                <a:solidFill>
                  <a:srgbClr val="00CC99">
                    <a:lumMod val="40000"/>
                    <a:lumOff val="60000"/>
                  </a:srgbClr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5" name="슬라이드 번호 개체 틀 5">
            <a:extLst>
              <a:ext uri="{FF2B5EF4-FFF2-40B4-BE49-F238E27FC236}">
                <a16:creationId xmlns:a16="http://schemas.microsoft.com/office/drawing/2014/main" id="{D9EB6305-F0F6-4138-906E-FA19AC5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3" y="6445885"/>
            <a:ext cx="514728" cy="24193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/>
          <a:lstStyle>
            <a:lvl1pPr algn="l">
              <a:defRPr lang="ko-KR" altLang="en-US" sz="800" kern="1200" smtClean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Times New Roman"/>
              </a:defRPr>
            </a:lvl1pPr>
          </a:lstStyle>
          <a:p>
            <a:fld id="{F1F9D73E-270F-475A-B1DB-D9B489A24756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2BAA3B7-9251-44F2-B84D-DBA0CFF48C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42900" y="828675"/>
            <a:ext cx="11882134" cy="60355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70B58A-2EF0-4610-8BF1-747DAF7E9715}"/>
              </a:ext>
            </a:extLst>
          </p:cNvPr>
          <p:cNvSpPr txBox="1"/>
          <p:nvPr userDrawn="1"/>
        </p:nvSpPr>
        <p:spPr>
          <a:xfrm>
            <a:off x="658813" y="6413303"/>
            <a:ext cx="6113504" cy="3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ko-KR" altLang="en-US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*출처 </a:t>
            </a: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:  『Computer Networking : A Top Down  Approach Eighth Edition』 </a:t>
            </a:r>
          </a:p>
          <a:p>
            <a:pPr marL="144000" lvl="3" indent="-144000" algn="l" defTabSz="914400" rtl="0" eaLnBrk="1" latinLnBrk="1" hangingPunct="1">
              <a:lnSpc>
                <a:spcPct val="120000"/>
              </a:lnSpc>
              <a:spcBef>
                <a:spcPts val="0"/>
              </a:spcBef>
              <a:buClr>
                <a:srgbClr val="0B4CA2"/>
              </a:buClr>
              <a:buSzPct val="80000"/>
            </a:pPr>
            <a:r>
              <a:rPr lang="en-US" altLang="ko-KR" sz="650" kern="12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>
                    <a:lumMod val="50000"/>
                  </a:schemeClr>
                </a:solidFill>
                <a:latin typeface="넥슨Lv1고딕" panose="00000500000000000000" pitchFamily="2" charset="-127"/>
                <a:ea typeface="넥슨Lv1고딕" panose="00000500000000000000" pitchFamily="2" charset="-127"/>
                <a:cs typeface="+mn-cs"/>
              </a:rPr>
              <a:t>© All material copyright 1996-2016 J.F Kurose and K.W. Ross,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5617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415" userDrawn="1">
          <p15:clr>
            <a:srgbClr val="FBAE40"/>
          </p15:clr>
        </p15:guide>
        <p15:guide id="3" pos="61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56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5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5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047945F8-6079-4A77-8827-8D891FF7F40B}"/>
              </a:ext>
            </a:extLst>
          </p:cNvPr>
          <p:cNvGrpSpPr/>
          <p:nvPr userDrawn="1"/>
        </p:nvGrpSpPr>
        <p:grpSpPr>
          <a:xfrm>
            <a:off x="818582" y="3564481"/>
            <a:ext cx="1327718" cy="351599"/>
            <a:chOff x="880493" y="3554956"/>
            <a:chExt cx="1630298" cy="351599"/>
          </a:xfrm>
        </p:grpSpPr>
        <p:sp>
          <p:nvSpPr>
            <p:cNvPr id="15" name="사각형: 잘린 대각선 방향 모서리 14">
              <a:extLst>
                <a:ext uri="{FF2B5EF4-FFF2-40B4-BE49-F238E27FC236}">
                  <a16:creationId xmlns:a16="http://schemas.microsoft.com/office/drawing/2014/main" id="{5DC8F214-0E99-4614-BFA2-E88E4BD9962A}"/>
                </a:ext>
              </a:extLst>
            </p:cNvPr>
            <p:cNvSpPr/>
            <p:nvPr/>
          </p:nvSpPr>
          <p:spPr bwMode="auto">
            <a:xfrm>
              <a:off x="880493" y="3554956"/>
              <a:ext cx="1630298" cy="351599"/>
            </a:xfrm>
            <a:prstGeom prst="snip2DiagRect">
              <a:avLst>
                <a:gd name="adj1" fmla="val 0"/>
                <a:gd name="adj2" fmla="val 23443"/>
              </a:avLst>
            </a:prstGeom>
            <a:solidFill>
              <a:srgbClr val="47FFD1">
                <a:alpha val="90000"/>
              </a:srgbClr>
            </a:solidFill>
            <a:ln w="127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넥슨Lv1고딕 Bold" panose="00000800000000000000" pitchFamily="2" charset="-127"/>
                <a:ea typeface="굴림" pitchFamily="50" charset="-127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AC3E2ECC-989E-4137-85AD-EDA2E7C21B7D}"/>
                </a:ext>
              </a:extLst>
            </p:cNvPr>
            <p:cNvSpPr txBox="1">
              <a:spLocks/>
            </p:cNvSpPr>
            <p:nvPr/>
          </p:nvSpPr>
          <p:spPr>
            <a:xfrm>
              <a:off x="983123" y="3609623"/>
              <a:ext cx="1425038" cy="253916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>
                <a:lnSpc>
                  <a:spcPct val="110000"/>
                </a:lnSpc>
                <a:spcBef>
                  <a:spcPts val="600"/>
                </a:spcBef>
              </a:pPr>
              <a:r>
                <a:rPr lang="en-US" altLang="ko-KR" sz="1500" b="0" spc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81846"/>
                  </a:solidFill>
                  <a:effectLst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Microsoft GothicNeo" panose="020B0503020000020004" pitchFamily="34" charset="-127"/>
                </a:rPr>
                <a:t>Chapter 3</a:t>
              </a:r>
              <a:endParaRPr lang="ko-KR" altLang="en-US" sz="1500" b="0" spc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81846"/>
                </a:solidFill>
                <a:effectLst/>
                <a:latin typeface="G마켓 산스 TTF Bold" panose="02000000000000000000" pitchFamily="2" charset="-127"/>
                <a:ea typeface="G마켓 산스 TTF Bold" panose="02000000000000000000" pitchFamily="2" charset="-127"/>
                <a:cs typeface="Microsoft GothicNeo" panose="020B0503020000020004" pitchFamily="34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0DB3BC5-EF37-4421-A7D9-CA29AAD5DC6B}"/>
              </a:ext>
            </a:extLst>
          </p:cNvPr>
          <p:cNvSpPr txBox="1"/>
          <p:nvPr/>
        </p:nvSpPr>
        <p:spPr>
          <a:xfrm>
            <a:off x="2189092" y="3483502"/>
            <a:ext cx="4391731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ko-KR" altLang="en-US" sz="2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47FFD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트랜스포트 계층</a:t>
            </a:r>
            <a:endParaRPr lang="en-US" altLang="ko-KR" sz="22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47FFD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7533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148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 </a:t>
            </a:r>
            <a:r>
              <a:rPr lang="en-US" altLang="ko-KR">
                <a:solidFill>
                  <a:schemeClr val="bg1"/>
                </a:solidFill>
                <a:latin typeface="+mn-lt"/>
              </a:rPr>
              <a:t>:</a:t>
            </a:r>
            <a:r>
              <a:rPr lang="en-US" altLang="ko-KR"/>
              <a:t> </a:t>
            </a:r>
            <a:r>
              <a:rPr lang="ko-KR" altLang="en-US" dirty="0"/>
              <a:t>개요  </a:t>
            </a:r>
            <a:r>
              <a:rPr lang="en-US" altLang="ko-KR" sz="1600" dirty="0">
                <a:solidFill>
                  <a:schemeClr val="bg1"/>
                </a:solidFill>
                <a:latin typeface="+mj-lt"/>
              </a:rPr>
              <a:t>RFCs : 793,1122,1323, 2018, 2581</a:t>
            </a:r>
            <a:endParaRPr lang="ko-KR" alt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</a:t>
            </a:fld>
            <a:endParaRPr 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B5DB5D0-2015-4ED2-BF65-6D96BC0E5BA9}"/>
              </a:ext>
            </a:extLst>
          </p:cNvPr>
          <p:cNvGrpSpPr/>
          <p:nvPr/>
        </p:nvGrpSpPr>
        <p:grpSpPr>
          <a:xfrm>
            <a:off x="673655" y="1128713"/>
            <a:ext cx="7582933" cy="714019"/>
            <a:chOff x="673655" y="1052513"/>
            <a:chExt cx="7582933" cy="7140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C3AF21-ED7B-4E11-AB2A-7F18317FB8B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052513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점대점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(point-to-point)</a:t>
              </a:r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CEAB256-2703-4375-B69C-1328215883F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1433492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단일 송신 측</a:t>
              </a:r>
              <a:r>
                <a:rPr lang="en-US" altLang="ko-KR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, </a:t>
              </a:r>
              <a:r>
                <a:rPr lang="ko-KR" altLang="en-US" sz="14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단일 수신 측 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FF2CAA3-E55D-4354-B457-0DFB1AFAB35C}"/>
              </a:ext>
            </a:extLst>
          </p:cNvPr>
          <p:cNvGrpSpPr/>
          <p:nvPr/>
        </p:nvGrpSpPr>
        <p:grpSpPr>
          <a:xfrm>
            <a:off x="673655" y="1962113"/>
            <a:ext cx="7582933" cy="714019"/>
            <a:chOff x="673655" y="1933541"/>
            <a:chExt cx="7582933" cy="714019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C37423B-8CE7-443B-999A-53B8A8694D2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933541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신뢰적이고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,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순서가 유지된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byte stream</a:t>
              </a:r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D6B910CF-5A8D-4A9F-9482-DA21246B049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314520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“메시지 경계”가 없음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F71FD80-24F0-4FCE-B263-CF9F82847D68}"/>
              </a:ext>
            </a:extLst>
          </p:cNvPr>
          <p:cNvGrpSpPr/>
          <p:nvPr/>
        </p:nvGrpSpPr>
        <p:grpSpPr>
          <a:xfrm>
            <a:off x="673655" y="2795513"/>
            <a:ext cx="7582933" cy="714019"/>
            <a:chOff x="673655" y="2801220"/>
            <a:chExt cx="7582933" cy="71401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4EC696AA-5E31-4691-89B4-9068D80CD67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2801220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파이프 </a:t>
              </a:r>
              <a:r>
                <a:rPr lang="ko-KR" altLang="en-US" sz="1600" dirty="0" err="1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라이닝</a:t>
              </a:r>
              <a:endPara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72527C17-D034-4902-AEF0-BA18E9BDD59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182199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의 혼잡 제어 및 흐름 제어를 통해 윈도우 크기를 설정한다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38751EB-E7A3-4C23-B471-410D723A5F77}"/>
              </a:ext>
            </a:extLst>
          </p:cNvPr>
          <p:cNvGrpSpPr/>
          <p:nvPr/>
        </p:nvGrpSpPr>
        <p:grpSpPr>
          <a:xfrm>
            <a:off x="673655" y="3628913"/>
            <a:ext cx="7582933" cy="1049495"/>
            <a:chOff x="673655" y="3708946"/>
            <a:chExt cx="7582933" cy="1049495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A263CBBD-EE4F-4D29-8734-458D604D575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3708946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전이중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(full-duplex) data</a:t>
              </a: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F3175F1C-98E5-46EF-9167-F7B1BF51569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4089925"/>
              <a:ext cx="6774102" cy="668516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한 연결에 양방향 데이터 전송</a:t>
              </a:r>
            </a:p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MSS : maximum segment size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6C4830A-C420-4170-BCB5-B905FD3AE879}"/>
              </a:ext>
            </a:extLst>
          </p:cNvPr>
          <p:cNvGrpSpPr/>
          <p:nvPr/>
        </p:nvGrpSpPr>
        <p:grpSpPr>
          <a:xfrm>
            <a:off x="673655" y="4797789"/>
            <a:ext cx="7582933" cy="714019"/>
            <a:chOff x="673655" y="4917022"/>
            <a:chExt cx="7582933" cy="714019"/>
          </a:xfrm>
        </p:grpSpPr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65254C61-6E65-4A9A-8124-F20B59B487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4917022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연결 지향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(connection-oriented)</a:t>
              </a:r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F806C936-AA73-4F39-A17E-94A19115B57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7" y="5298001"/>
              <a:ext cx="701522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handshaking (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제어 메시지의 교환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)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으로 송수신 측의 상태를 초기화한 후 데이터 교환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2BDCFBF-E57A-4267-8EC0-F8AD9DD2675F}"/>
              </a:ext>
            </a:extLst>
          </p:cNvPr>
          <p:cNvGrpSpPr/>
          <p:nvPr/>
        </p:nvGrpSpPr>
        <p:grpSpPr>
          <a:xfrm>
            <a:off x="673655" y="5631188"/>
            <a:ext cx="7582933" cy="714019"/>
            <a:chOff x="673655" y="5631188"/>
            <a:chExt cx="7582933" cy="714019"/>
          </a:xfrm>
        </p:grpSpPr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5B12C297-611E-4EF2-B37E-20B965D580E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5631188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2"/>
                </a:buBlip>
              </a:pPr>
              <a:r>
                <a:rPr lang="ko-KR" altLang="en-US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흐름 제어</a:t>
              </a:r>
              <a:r>
                <a:rPr lang="en-US" altLang="ko-KR" sz="1600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(flow control)</a:t>
              </a:r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D477E368-9FAC-4CB8-BF7A-DF50E5E219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6012167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 측의 속도를 감안해 송신함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165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 segment </a:t>
            </a:r>
            <a:r>
              <a:rPr lang="ko-KR" altLang="en-US"/>
              <a:t>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1A6B81-E2F0-4FE2-BECF-2E290E6D0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7608" y="1628775"/>
            <a:ext cx="3951287" cy="4805363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EC2262D7-8AE3-4D0A-9235-0AEF58088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2715" y="1674601"/>
            <a:ext cx="154241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source port #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8E4E6168-4074-4824-BDE4-E853824EA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6725" y="1674601"/>
            <a:ext cx="12923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dest port #</a:t>
            </a: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D22F4A9F-D862-4365-A36F-5FBC1F73C4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70783" y="1984373"/>
            <a:ext cx="3946525" cy="4763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B1FACFDD-2852-4B46-B7EA-58C322ABD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4433" y="2341564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E272ACAA-03CB-4CCA-ACB5-7FF8943633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4851" y="1628773"/>
            <a:ext cx="0" cy="357189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B2740609-6EEE-4CA8-968E-D7AECA7161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3633" y="1412776"/>
            <a:ext cx="14271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56ED0E14-24AD-4E6D-B001-28E8F3708D61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2545383" y="1423888"/>
            <a:ext cx="13414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" name="Text Box 14">
            <a:extLst>
              <a:ext uri="{FF2B5EF4-FFF2-40B4-BE49-F238E27FC236}">
                <a16:creationId xmlns:a16="http://schemas.microsoft.com/office/drawing/2014/main" id="{274A2EB5-C4C0-413B-B6CF-7934F5FDC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2726" y="4993958"/>
            <a:ext cx="25972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응용 데이터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(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가변 길이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)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62F2DDC7-F50F-482B-9B3D-10932F5B4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0239" y="2015603"/>
            <a:ext cx="24860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sequence number</a:t>
            </a:r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DF404BF0-1DD0-4BFA-8AF3-3A2E4AD6D6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3958" y="2730497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BF9A5B3C-FB45-4A12-BA14-DED10F08B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970" y="2378075"/>
            <a:ext cx="340995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acknowledgement number</a:t>
            </a:r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301A1FD5-F43B-4385-9C1C-B307B403F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9195" y="3159125"/>
            <a:ext cx="3951288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F175E2EE-6A69-429E-B5B2-158ADB8C67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4433" y="3549650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8407BFCE-EDC7-4434-B8F8-67D48D8569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64433" y="4111625"/>
            <a:ext cx="3951287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E9881BF9-7DEC-4648-BED8-A0EF1905738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08795" y="2736056"/>
            <a:ext cx="0" cy="808832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CF98F98F-334D-4BEF-A2BB-C23EA2640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699" y="2813731"/>
            <a:ext cx="178125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receive window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670AFE6-DC45-4FB9-9DCB-625661296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8" y="3227679"/>
            <a:ext cx="18430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Urg data pointer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B7DAE23A-19EB-4942-8BF3-CFCBE006F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635" y="3227679"/>
            <a:ext cx="121539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checksum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F18C9A1B-73C3-4366-BC7F-4B712860A1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2822573"/>
            <a:ext cx="3097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F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3E95F7B-47BA-47B4-BACB-D3835CC2E9C6}"/>
              </a:ext>
            </a:extLst>
          </p:cNvPr>
          <p:cNvGrpSpPr/>
          <p:nvPr/>
        </p:nvGrpSpPr>
        <p:grpSpPr>
          <a:xfrm>
            <a:off x="3616763" y="2731295"/>
            <a:ext cx="891133" cy="432594"/>
            <a:chOff x="3548683" y="2771775"/>
            <a:chExt cx="891133" cy="392113"/>
          </a:xfrm>
        </p:grpSpPr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1E7F1693-AB48-4924-BA83-22A0C0046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39816" y="2771776"/>
              <a:ext cx="0" cy="392112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42370B40-90AF-4E78-A9CA-65AD7E471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1591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8ECF68BE-1034-4908-9517-EE14DE20D6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3364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84A15850-0A51-4C42-997C-D794BE17CB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5137" y="2771776"/>
              <a:ext cx="0" cy="392112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72EED202-9E39-46C3-B663-88F1726DA3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6910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D9F4C825-979D-4E1C-B0B7-DFC55A934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8683" y="2771775"/>
              <a:ext cx="0" cy="392113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endParaRPr>
            </a:p>
          </p:txBody>
        </p:sp>
      </p:grpSp>
      <p:sp>
        <p:nvSpPr>
          <p:cNvPr id="31" name="Text Box 32">
            <a:extLst>
              <a:ext uri="{FF2B5EF4-FFF2-40B4-BE49-F238E27FC236}">
                <a16:creationId xmlns:a16="http://schemas.microsoft.com/office/drawing/2014/main" id="{80435095-B3B5-4E05-97D1-FACAAC85F6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6829" y="2822573"/>
            <a:ext cx="3193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S</a:t>
            </a:r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7E3B352B-8520-416F-8CA9-A91C4C96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032" y="2822573"/>
            <a:ext cx="32412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R</a:t>
            </a:r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E25C763B-6963-4306-A121-8E201CE3A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6045" y="2822573"/>
            <a:ext cx="3193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P</a:t>
            </a: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BCDD0E4F-7138-45EC-8F04-98085BD79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7028" y="2822573"/>
            <a:ext cx="33534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A</a:t>
            </a:r>
          </a:p>
        </p:txBody>
      </p:sp>
      <p:sp>
        <p:nvSpPr>
          <p:cNvPr id="35" name="Text Box 36">
            <a:extLst>
              <a:ext uri="{FF2B5EF4-FFF2-40B4-BE49-F238E27FC236}">
                <a16:creationId xmlns:a16="http://schemas.microsoft.com/office/drawing/2014/main" id="{BD86861D-6A86-4016-A060-ED974872A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201" y="2822573"/>
            <a:ext cx="34015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U</a:t>
            </a:r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2A2072D2-7154-4EF4-83EC-3E79119005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97649" y="2743199"/>
            <a:ext cx="0" cy="411163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9" name="Text Box 40">
            <a:extLst>
              <a:ext uri="{FF2B5EF4-FFF2-40B4-BE49-F238E27FC236}">
                <a16:creationId xmlns:a16="http://schemas.microsoft.com/office/drawing/2014/main" id="{FEE218AA-2540-4787-ADEC-97AFCA06B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974" y="3670935"/>
            <a:ext cx="1832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options (</a:t>
            </a: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가변 길이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)</a:t>
            </a:r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BB30640E-CCC9-4737-8194-5C6DB0A79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169" y="1196752"/>
            <a:ext cx="1261499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URG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urgent data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안됨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1" name="Text Box 42">
            <a:extLst>
              <a:ext uri="{FF2B5EF4-FFF2-40B4-BE49-F238E27FC236}">
                <a16:creationId xmlns:a16="http://schemas.microsoft.com/office/drawing/2014/main" id="{AE6F841B-047F-443D-B19B-7F652ADFC3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82" y="2137799"/>
            <a:ext cx="1263486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ack. #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필드가 유효함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2" name="Text Box 43">
            <a:extLst>
              <a:ext uri="{FF2B5EF4-FFF2-40B4-BE49-F238E27FC236}">
                <a16:creationId xmlns:a16="http://schemas.microsoft.com/office/drawing/2014/main" id="{6F5DFFE6-AF37-4C2E-B301-36B497EEE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15" y="2996952"/>
            <a:ext cx="1613853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PSH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push data now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안됨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3" name="Text Box 44">
            <a:extLst>
              <a:ext uri="{FF2B5EF4-FFF2-40B4-BE49-F238E27FC236}">
                <a16:creationId xmlns:a16="http://schemas.microsoft.com/office/drawing/2014/main" id="{C5C2B9C6-6061-4100-90BB-B589F4C08A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70" y="3861048"/>
            <a:ext cx="1483098" cy="85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RST, SYN, FIN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관련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설립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해제 명령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8" name="Text Box 49">
            <a:extLst>
              <a:ext uri="{FF2B5EF4-FFF2-40B4-BE49-F238E27FC236}">
                <a16:creationId xmlns:a16="http://schemas.microsoft.com/office/drawing/2014/main" id="{9460C5A2-216C-4B76-A490-8646B9E71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782" y="2833886"/>
            <a:ext cx="1508746" cy="79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측이 받기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원하는 바이트 수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제어에 사용</a:t>
            </a: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49" name="Text Box 50">
            <a:extLst>
              <a:ext uri="{FF2B5EF4-FFF2-40B4-BE49-F238E27FC236}">
                <a16:creationId xmlns:a16="http://schemas.microsoft.com/office/drawing/2014/main" id="{6F1B3500-9C2A-48E0-A385-D4000B8C0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782" y="1522413"/>
            <a:ext cx="1396536" cy="1036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데이터를 바이트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단위로 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count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세그먼트 단위가</a:t>
            </a:r>
            <a:endParaRPr lang="en-US" altLang="ko-KR" sz="13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아니고</a:t>
            </a:r>
            <a:r>
              <a:rPr lang="en-US" altLang="ko-KR" sz="13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!)</a:t>
            </a:r>
          </a:p>
        </p:txBody>
      </p:sp>
      <p:sp>
        <p:nvSpPr>
          <p:cNvPr id="50" name="Text Box 51">
            <a:extLst>
              <a:ext uri="{FF2B5EF4-FFF2-40B4-BE49-F238E27FC236}">
                <a16:creationId xmlns:a16="http://schemas.microsoft.com/office/drawing/2014/main" id="{63CE0E27-8381-4603-B3BE-939D1C2A9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82" y="4797152"/>
            <a:ext cx="1263486" cy="59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인터넷 체크섬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solidFill>
                <a:srgbClr val="105BA0"/>
              </a:solidFill>
              <a:latin typeface="넥슨Lv1고딕 Bold" panose="00000800000000000000" pitchFamily="2" charset="-127"/>
              <a:ea typeface="넥슨Lv1고딕 Bold" panose="00000800000000000000" pitchFamily="2" charset="-127"/>
            </a:endParaRP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(UDP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참조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</p:txBody>
      </p:sp>
      <p:sp>
        <p:nvSpPr>
          <p:cNvPr id="56" name="Text Box 49">
            <a:extLst>
              <a:ext uri="{FF2B5EF4-FFF2-40B4-BE49-F238E27FC236}">
                <a16:creationId xmlns:a16="http://schemas.microsoft.com/office/drawing/2014/main" id="{3113F79B-5CF9-439C-B238-3AE7CF94B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6782" y="4032250"/>
            <a:ext cx="1393330" cy="555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MSS </a:t>
            </a: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협상 등의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3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부가 기능에 사용</a:t>
            </a:r>
            <a:endParaRPr lang="en-US" altLang="ko-KR" sz="13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E34A1F79-ECB2-4AE5-A9BB-A255D3A02406}"/>
              </a:ext>
            </a:extLst>
          </p:cNvPr>
          <p:cNvSpPr/>
          <p:nvPr/>
        </p:nvSpPr>
        <p:spPr>
          <a:xfrm>
            <a:off x="6456040" y="378136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81317C14-943C-4930-8166-DC4EF3DD6226}"/>
              </a:ext>
            </a:extLst>
          </p:cNvPr>
          <p:cNvSpPr/>
          <p:nvPr/>
        </p:nvSpPr>
        <p:spPr>
          <a:xfrm>
            <a:off x="6491107" y="3826669"/>
            <a:ext cx="290693" cy="490294"/>
          </a:xfrm>
          <a:custGeom>
            <a:avLst/>
            <a:gdLst>
              <a:gd name="connsiteX0" fmla="*/ 0 w 478971"/>
              <a:gd name="connsiteY0" fmla="*/ 0 h 516294"/>
              <a:gd name="connsiteX1" fmla="*/ 323461 w 478971"/>
              <a:gd name="connsiteY1" fmla="*/ 0 h 516294"/>
              <a:gd name="connsiteX2" fmla="*/ 323461 w 478971"/>
              <a:gd name="connsiteY2" fmla="*/ 516294 h 516294"/>
              <a:gd name="connsiteX3" fmla="*/ 478971 w 478971"/>
              <a:gd name="connsiteY3" fmla="*/ 516294 h 516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8971" h="516294">
                <a:moveTo>
                  <a:pt x="0" y="0"/>
                </a:moveTo>
                <a:lnTo>
                  <a:pt x="323461" y="0"/>
                </a:lnTo>
                <a:lnTo>
                  <a:pt x="323461" y="516294"/>
                </a:lnTo>
                <a:lnTo>
                  <a:pt x="478971" y="516294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1360EA77-420C-4C9B-96C1-411BA004BCE4}"/>
              </a:ext>
            </a:extLst>
          </p:cNvPr>
          <p:cNvSpPr/>
          <p:nvPr/>
        </p:nvSpPr>
        <p:spPr>
          <a:xfrm>
            <a:off x="6456040" y="294951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96C7777E-FBFB-42C6-BE02-F20B7746E102}"/>
              </a:ext>
            </a:extLst>
          </p:cNvPr>
          <p:cNvSpPr/>
          <p:nvPr/>
        </p:nvSpPr>
        <p:spPr>
          <a:xfrm>
            <a:off x="6456040" y="213988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2917AFF-9CE9-410D-8F8D-3288FD3DFED1}"/>
              </a:ext>
            </a:extLst>
          </p:cNvPr>
          <p:cNvCxnSpPr>
            <a:cxnSpLocks/>
          </p:cNvCxnSpPr>
          <p:nvPr/>
        </p:nvCxnSpPr>
        <p:spPr>
          <a:xfrm flipV="1">
            <a:off x="6483253" y="1662113"/>
            <a:ext cx="334266" cy="524943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858488B-69D9-4CB1-B00D-223D41956CA6}"/>
              </a:ext>
            </a:extLst>
          </p:cNvPr>
          <p:cNvCxnSpPr>
            <a:cxnSpLocks/>
            <a:stCxn id="76" idx="4"/>
          </p:cNvCxnSpPr>
          <p:nvPr/>
        </p:nvCxnSpPr>
        <p:spPr>
          <a:xfrm flipV="1">
            <a:off x="6492040" y="1664494"/>
            <a:ext cx="323098" cy="952206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76" name="타원 75">
            <a:extLst>
              <a:ext uri="{FF2B5EF4-FFF2-40B4-BE49-F238E27FC236}">
                <a16:creationId xmlns:a16="http://schemas.microsoft.com/office/drawing/2014/main" id="{DA75DE5B-BC19-4DAC-9492-5AD0CB20D10A}"/>
              </a:ext>
            </a:extLst>
          </p:cNvPr>
          <p:cNvSpPr/>
          <p:nvPr/>
        </p:nvSpPr>
        <p:spPr>
          <a:xfrm>
            <a:off x="6456040" y="2544700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B58F7EF9-968A-42BA-8670-3AF5B0DB769F}"/>
              </a:ext>
            </a:extLst>
          </p:cNvPr>
          <p:cNvCxnSpPr>
            <a:cxnSpLocks/>
          </p:cNvCxnSpPr>
          <p:nvPr/>
        </p:nvCxnSpPr>
        <p:spPr>
          <a:xfrm flipV="1">
            <a:off x="6481440" y="2984500"/>
            <a:ext cx="294010" cy="1012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4806C4AD-C159-4411-9C61-40CA566514F8}"/>
              </a:ext>
            </a:extLst>
          </p:cNvPr>
          <p:cNvSpPr/>
          <p:nvPr/>
        </p:nvSpPr>
        <p:spPr>
          <a:xfrm>
            <a:off x="3550915" y="350831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88" name="자유형: 도형 87">
            <a:extLst>
              <a:ext uri="{FF2B5EF4-FFF2-40B4-BE49-F238E27FC236}">
                <a16:creationId xmlns:a16="http://schemas.microsoft.com/office/drawing/2014/main" id="{966E2F66-8D88-4AD1-984F-7B730BD10489}"/>
              </a:ext>
            </a:extLst>
          </p:cNvPr>
          <p:cNvSpPr/>
          <p:nvPr/>
        </p:nvSpPr>
        <p:spPr>
          <a:xfrm>
            <a:off x="2127380" y="3559176"/>
            <a:ext cx="1454020" cy="1398490"/>
          </a:xfrm>
          <a:custGeom>
            <a:avLst/>
            <a:gdLst>
              <a:gd name="connsiteX0" fmla="*/ 1489075 w 1489075"/>
              <a:gd name="connsiteY0" fmla="*/ 0 h 1571625"/>
              <a:gd name="connsiteX1" fmla="*/ 1489075 w 1489075"/>
              <a:gd name="connsiteY1" fmla="*/ 822325 h 1571625"/>
              <a:gd name="connsiteX2" fmla="*/ 0 w 1489075"/>
              <a:gd name="connsiteY2" fmla="*/ 1571625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89075" h="1571625">
                <a:moveTo>
                  <a:pt x="1489075" y="0"/>
                </a:moveTo>
                <a:lnTo>
                  <a:pt x="1489075" y="822325"/>
                </a:lnTo>
                <a:lnTo>
                  <a:pt x="0" y="1571625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9B2F64AF-D3D0-4764-B1DD-65A4052E349B}"/>
              </a:ext>
            </a:extLst>
          </p:cNvPr>
          <p:cNvSpPr/>
          <p:nvPr/>
        </p:nvSpPr>
        <p:spPr>
          <a:xfrm>
            <a:off x="2178050" y="3119438"/>
            <a:ext cx="2432050" cy="836612"/>
          </a:xfrm>
          <a:custGeom>
            <a:avLst/>
            <a:gdLst>
              <a:gd name="connsiteX0" fmla="*/ 0 w 2432050"/>
              <a:gd name="connsiteY0" fmla="*/ 793750 h 793750"/>
              <a:gd name="connsiteX1" fmla="*/ 647700 w 2432050"/>
              <a:gd name="connsiteY1" fmla="*/ 488950 h 793750"/>
              <a:gd name="connsiteX2" fmla="*/ 647700 w 2432050"/>
              <a:gd name="connsiteY2" fmla="*/ 95250 h 793750"/>
              <a:gd name="connsiteX3" fmla="*/ 1955800 w 2432050"/>
              <a:gd name="connsiteY3" fmla="*/ 95250 h 793750"/>
              <a:gd name="connsiteX4" fmla="*/ 2051050 w 2432050"/>
              <a:gd name="connsiteY4" fmla="*/ 0 h 793750"/>
              <a:gd name="connsiteX5" fmla="*/ 2432050 w 2432050"/>
              <a:gd name="connsiteY5" fmla="*/ 0 h 79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32050" h="793750">
                <a:moveTo>
                  <a:pt x="0" y="793750"/>
                </a:moveTo>
                <a:lnTo>
                  <a:pt x="647700" y="488950"/>
                </a:lnTo>
                <a:lnTo>
                  <a:pt x="647700" y="95250"/>
                </a:lnTo>
                <a:lnTo>
                  <a:pt x="1955800" y="95250"/>
                </a:lnTo>
                <a:lnTo>
                  <a:pt x="2051050" y="0"/>
                </a:lnTo>
                <a:lnTo>
                  <a:pt x="2432050" y="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70C7C5B6-6096-4190-9EC8-0F5C5EF824BD}"/>
              </a:ext>
            </a:extLst>
          </p:cNvPr>
          <p:cNvSpPr/>
          <p:nvPr/>
        </p:nvSpPr>
        <p:spPr>
          <a:xfrm>
            <a:off x="4217665" y="307254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39CF4639-2B66-47A7-B320-685798714063}"/>
              </a:ext>
            </a:extLst>
          </p:cNvPr>
          <p:cNvSpPr/>
          <p:nvPr/>
        </p:nvSpPr>
        <p:spPr>
          <a:xfrm>
            <a:off x="4541515" y="307254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F111BC16-4BD4-4251-B159-6BE1074726CF}"/>
              </a:ext>
            </a:extLst>
          </p:cNvPr>
          <p:cNvSpPr/>
          <p:nvPr/>
        </p:nvSpPr>
        <p:spPr>
          <a:xfrm>
            <a:off x="4379590" y="3072547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ED7047F0-2939-4130-A8E4-E383C9C15276}"/>
              </a:ext>
            </a:extLst>
          </p:cNvPr>
          <p:cNvSpPr/>
          <p:nvPr/>
        </p:nvSpPr>
        <p:spPr>
          <a:xfrm>
            <a:off x="3665215" y="2708216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5" name="자유형: 도형 94">
            <a:extLst>
              <a:ext uri="{FF2B5EF4-FFF2-40B4-BE49-F238E27FC236}">
                <a16:creationId xmlns:a16="http://schemas.microsoft.com/office/drawing/2014/main" id="{5A056882-3D2E-40F7-A4DB-96D61B726BC0}"/>
              </a:ext>
            </a:extLst>
          </p:cNvPr>
          <p:cNvSpPr/>
          <p:nvPr/>
        </p:nvSpPr>
        <p:spPr>
          <a:xfrm>
            <a:off x="2171700" y="1614489"/>
            <a:ext cx="1524000" cy="1135856"/>
          </a:xfrm>
          <a:custGeom>
            <a:avLst/>
            <a:gdLst>
              <a:gd name="connsiteX0" fmla="*/ 0 w 1524000"/>
              <a:gd name="connsiteY0" fmla="*/ 0 h 1135856"/>
              <a:gd name="connsiteX1" fmla="*/ 150019 w 1524000"/>
              <a:gd name="connsiteY1" fmla="*/ 0 h 1135856"/>
              <a:gd name="connsiteX2" fmla="*/ 866775 w 1524000"/>
              <a:gd name="connsiteY2" fmla="*/ 1052513 h 1135856"/>
              <a:gd name="connsiteX3" fmla="*/ 1416844 w 1524000"/>
              <a:gd name="connsiteY3" fmla="*/ 1052513 h 1135856"/>
              <a:gd name="connsiteX4" fmla="*/ 1524000 w 1524000"/>
              <a:gd name="connsiteY4" fmla="*/ 1135856 h 1135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135856">
                <a:moveTo>
                  <a:pt x="0" y="0"/>
                </a:moveTo>
                <a:lnTo>
                  <a:pt x="150019" y="0"/>
                </a:lnTo>
                <a:lnTo>
                  <a:pt x="866775" y="1052513"/>
                </a:lnTo>
                <a:lnTo>
                  <a:pt x="1416844" y="1052513"/>
                </a:lnTo>
                <a:lnTo>
                  <a:pt x="1524000" y="1135856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A5DAA713-AA22-4522-9F5B-8484E375D6FB}"/>
              </a:ext>
            </a:extLst>
          </p:cNvPr>
          <p:cNvSpPr/>
          <p:nvPr/>
        </p:nvSpPr>
        <p:spPr>
          <a:xfrm>
            <a:off x="3855715" y="2764261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97" name="자유형: 도형 96">
            <a:extLst>
              <a:ext uri="{FF2B5EF4-FFF2-40B4-BE49-F238E27FC236}">
                <a16:creationId xmlns:a16="http://schemas.microsoft.com/office/drawing/2014/main" id="{E8971FB5-859E-4615-BCCB-7E0258398C28}"/>
              </a:ext>
            </a:extLst>
          </p:cNvPr>
          <p:cNvSpPr/>
          <p:nvPr/>
        </p:nvSpPr>
        <p:spPr>
          <a:xfrm>
            <a:off x="2139951" y="2309814"/>
            <a:ext cx="1743868" cy="495299"/>
          </a:xfrm>
          <a:custGeom>
            <a:avLst/>
            <a:gdLst>
              <a:gd name="connsiteX0" fmla="*/ 0 w 1721643"/>
              <a:gd name="connsiteY0" fmla="*/ 0 h 519112"/>
              <a:gd name="connsiteX1" fmla="*/ 519112 w 1721643"/>
              <a:gd name="connsiteY1" fmla="*/ 519112 h 519112"/>
              <a:gd name="connsiteX2" fmla="*/ 1721643 w 1721643"/>
              <a:gd name="connsiteY2" fmla="*/ 519112 h 51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1643" h="519112">
                <a:moveTo>
                  <a:pt x="0" y="0"/>
                </a:moveTo>
                <a:lnTo>
                  <a:pt x="519112" y="519112"/>
                </a:lnTo>
                <a:lnTo>
                  <a:pt x="1721643" y="519112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 Box 37">
            <a:extLst>
              <a:ext uri="{FF2B5EF4-FFF2-40B4-BE49-F238E27FC236}">
                <a16:creationId xmlns:a16="http://schemas.microsoft.com/office/drawing/2014/main" id="{16A2014C-F58A-4A2B-9090-30123D952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595" y="2723629"/>
            <a:ext cx="6142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head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len</a:t>
            </a: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B7CBE4ED-D966-4D3D-86D0-1844A4881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0834" y="2723629"/>
            <a:ext cx="5982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not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used</a:t>
            </a: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61EEA42E-77D2-4064-BBFA-AC73109D60D2}"/>
              </a:ext>
            </a:extLst>
          </p:cNvPr>
          <p:cNvSpPr/>
          <p:nvPr/>
        </p:nvSpPr>
        <p:spPr>
          <a:xfrm>
            <a:off x="4027165" y="3083343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5D2A9C2-C1CC-4EF7-900B-2212BB058AD2}"/>
              </a:ext>
            </a:extLst>
          </p:cNvPr>
          <p:cNvCxnSpPr>
            <a:cxnSpLocks/>
          </p:cNvCxnSpPr>
          <p:nvPr/>
        </p:nvCxnSpPr>
        <p:spPr>
          <a:xfrm>
            <a:off x="2162174" y="3128960"/>
            <a:ext cx="1855118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06D8AB1-636A-4A9C-9867-F2A7B372415A}"/>
              </a:ext>
            </a:extLst>
          </p:cNvPr>
          <p:cNvSpPr txBox="1"/>
          <p:nvPr/>
        </p:nvSpPr>
        <p:spPr>
          <a:xfrm>
            <a:off x="3652664" y="1240909"/>
            <a:ext cx="17811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32 bits</a:t>
            </a:r>
          </a:p>
        </p:txBody>
      </p:sp>
    </p:spTree>
    <p:extLst>
      <p:ext uri="{BB962C8B-B14F-4D97-AF65-F5344CB8AC3E}">
        <p14:creationId xmlns:p14="http://schemas.microsoft.com/office/powerpoint/2010/main" val="4022340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F0542E02-E86E-4FCF-9F2A-38F9F56219F7}"/>
              </a:ext>
            </a:extLst>
          </p:cNvPr>
          <p:cNvSpPr/>
          <p:nvPr/>
        </p:nvSpPr>
        <p:spPr>
          <a:xfrm>
            <a:off x="889955" y="3877816"/>
            <a:ext cx="2627945" cy="2173734"/>
          </a:xfrm>
          <a:prstGeom prst="snip1Rect">
            <a:avLst>
              <a:gd name="adj" fmla="val 5220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B67B85A3-7740-41ED-910B-00FAE5B14D7E}"/>
              </a:ext>
            </a:extLst>
          </p:cNvPr>
          <p:cNvGrpSpPr/>
          <p:nvPr/>
        </p:nvGrpSpPr>
        <p:grpSpPr>
          <a:xfrm>
            <a:off x="1162051" y="4695512"/>
            <a:ext cx="2133600" cy="1184588"/>
            <a:chOff x="1268565" y="4733612"/>
            <a:chExt cx="2382685" cy="1184588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B6D2BE5-771B-49C1-B08D-420E13E0FAAA}"/>
                </a:ext>
              </a:extLst>
            </p:cNvPr>
            <p:cNvSpPr/>
            <p:nvPr/>
          </p:nvSpPr>
          <p:spPr>
            <a:xfrm>
              <a:off x="1268565" y="4741912"/>
              <a:ext cx="2376335" cy="1176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/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9BC01CA-FF58-424C-9FA6-BFEB7C551C3F}"/>
                </a:ext>
              </a:extLst>
            </p:cNvPr>
            <p:cNvCxnSpPr>
              <a:cxnSpLocks/>
            </p:cNvCxnSpPr>
            <p:nvPr/>
          </p:nvCxnSpPr>
          <p:spPr>
            <a:xfrm>
              <a:off x="1276349" y="4733612"/>
              <a:ext cx="2374901" cy="0"/>
            </a:xfrm>
            <a:prstGeom prst="line">
              <a:avLst/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순서 번호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ACK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8829C45-A430-44B5-A150-21E128F5FEC4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1503452"/>
            <a:ext cx="22719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세그먼트 내 데이터의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첫 바이트의 번호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37FA95C-7BFA-482F-BCE6-E08472997AE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9" y="2636912"/>
            <a:ext cx="227195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상대로부터 기대하는 다음 바이트의 번호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누적 확인 응답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83459D75-6E51-4725-9EAA-857613752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3979056"/>
            <a:ext cx="2535749" cy="636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j-cs"/>
              </a:rPr>
              <a:t>수신 측은 순서가 뒤바뀐 세그먼트를 어떻게 하는가</a:t>
            </a:r>
            <a:endParaRPr lang="en-US" altLang="ko-KR" sz="14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  <a:cs typeface="+mj-cs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F53A84F-54B9-402F-9364-7BB47687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4774292"/>
            <a:ext cx="2102293" cy="1026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atinLnBrk="0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: </a:t>
            </a:r>
            <a:b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스펙에 명시 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 됨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–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구현자의 재량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E2BD8D2-5DE4-44AE-87A5-E90F3CD5BA43}"/>
              </a:ext>
            </a:extLst>
          </p:cNvPr>
          <p:cNvSpPr/>
          <p:nvPr/>
        </p:nvSpPr>
        <p:spPr>
          <a:xfrm>
            <a:off x="750612" y="4338579"/>
            <a:ext cx="285872" cy="76765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6" name="그래픽 9">
            <a:extLst>
              <a:ext uri="{FF2B5EF4-FFF2-40B4-BE49-F238E27FC236}">
                <a16:creationId xmlns:a16="http://schemas.microsoft.com/office/drawing/2014/main" id="{8754518C-A2B3-41D4-B393-20EBCE23CE20}"/>
              </a:ext>
            </a:extLst>
          </p:cNvPr>
          <p:cNvSpPr/>
          <p:nvPr/>
        </p:nvSpPr>
        <p:spPr>
          <a:xfrm rot="5400000">
            <a:off x="640956" y="3903738"/>
            <a:ext cx="512174" cy="453816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1D1530D-7192-4BCC-9834-57013EC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6" y="3872096"/>
            <a:ext cx="498162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0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 Box 166">
            <a:extLst>
              <a:ext uri="{FF2B5EF4-FFF2-40B4-BE49-F238E27FC236}">
                <a16:creationId xmlns:a16="http://schemas.microsoft.com/office/drawing/2014/main" id="{794D230F-2DB1-4019-BD07-FA1DF42D0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072" y="4908550"/>
            <a:ext cx="25715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측으로 들어오는 세그먼트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7" name="Rectangle 37">
            <a:extLst>
              <a:ext uri="{FF2B5EF4-FFF2-40B4-BE49-F238E27FC236}">
                <a16:creationId xmlns:a16="http://schemas.microsoft.com/office/drawing/2014/main" id="{6C64AC03-D4D3-40F8-9830-3E2168354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333" y="3038475"/>
            <a:ext cx="65087" cy="622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33CC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48" name="Rectangle 39">
            <a:extLst>
              <a:ext uri="{FF2B5EF4-FFF2-40B4-BE49-F238E27FC236}">
                <a16:creationId xmlns:a16="http://schemas.microsoft.com/office/drawing/2014/main" id="{C43F2888-0C50-47B5-97F4-FE43AA4B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170" y="3040063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49" name="Rectangle 40">
            <a:extLst>
              <a:ext uri="{FF2B5EF4-FFF2-40B4-BE49-F238E27FC236}">
                <a16:creationId xmlns:a16="http://schemas.microsoft.com/office/drawing/2014/main" id="{466E8E1F-057A-4475-AC65-CA0AB6F72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659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0" name="Rectangle 41">
            <a:extLst>
              <a:ext uri="{FF2B5EF4-FFF2-40B4-BE49-F238E27FC236}">
                <a16:creationId xmlns:a16="http://schemas.microsoft.com/office/drawing/2014/main" id="{1A3EFD51-698A-48D3-A53A-3DD0E9CD5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43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1" name="Rectangle 42">
            <a:extLst>
              <a:ext uri="{FF2B5EF4-FFF2-40B4-BE49-F238E27FC236}">
                <a16:creationId xmlns:a16="http://schemas.microsoft.com/office/drawing/2014/main" id="{BFD4BD3E-0B2E-4944-AC05-61BBADBD6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8683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DD826C56-F850-4AFB-B33A-F62DD2918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520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3" name="Rectangle 45">
            <a:extLst>
              <a:ext uri="{FF2B5EF4-FFF2-40B4-BE49-F238E27FC236}">
                <a16:creationId xmlns:a16="http://schemas.microsoft.com/office/drawing/2014/main" id="{6FC03993-A64B-4D44-8687-1C8AE9A26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59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4" name="Rectangle 46">
            <a:extLst>
              <a:ext uri="{FF2B5EF4-FFF2-40B4-BE49-F238E27FC236}">
                <a16:creationId xmlns:a16="http://schemas.microsoft.com/office/drawing/2014/main" id="{7CD32CA8-F063-4457-B648-06E27E8B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84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5" name="Rectangle 47">
            <a:extLst>
              <a:ext uri="{FF2B5EF4-FFF2-40B4-BE49-F238E27FC236}">
                <a16:creationId xmlns:a16="http://schemas.microsoft.com/office/drawing/2014/main" id="{0D4CA36B-240C-414D-972A-118696DD8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8095" y="3038475"/>
            <a:ext cx="65088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6" name="Rectangle 50">
            <a:extLst>
              <a:ext uri="{FF2B5EF4-FFF2-40B4-BE49-F238E27FC236}">
                <a16:creationId xmlns:a16="http://schemas.microsoft.com/office/drawing/2014/main" id="{A2892BE4-6345-4C92-A7C3-26735FD3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458" y="3038475"/>
            <a:ext cx="65087" cy="622300"/>
          </a:xfrm>
          <a:prstGeom prst="rect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7" name="Rectangle 51">
            <a:extLst>
              <a:ext uri="{FF2B5EF4-FFF2-40B4-BE49-F238E27FC236}">
                <a16:creationId xmlns:a16="http://schemas.microsoft.com/office/drawing/2014/main" id="{0CE2B106-09DF-4E40-8A74-E1905F8D7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83" y="3040063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8" name="Rectangle 52">
            <a:extLst>
              <a:ext uri="{FF2B5EF4-FFF2-40B4-BE49-F238E27FC236}">
                <a16:creationId xmlns:a16="http://schemas.microsoft.com/office/drawing/2014/main" id="{68950891-C711-44B9-98B3-A4F11A0C3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72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59" name="Rectangle 53">
            <a:extLst>
              <a:ext uri="{FF2B5EF4-FFF2-40B4-BE49-F238E27FC236}">
                <a16:creationId xmlns:a16="http://schemas.microsoft.com/office/drawing/2014/main" id="{69ECE958-C58B-4430-ACE5-71A33501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55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0" name="Rectangle 54">
            <a:extLst>
              <a:ext uri="{FF2B5EF4-FFF2-40B4-BE49-F238E27FC236}">
                <a16:creationId xmlns:a16="http://schemas.microsoft.com/office/drawing/2014/main" id="{4C16F929-2B07-4033-8857-3123306AF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339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1" name="Rectangle 55">
            <a:extLst>
              <a:ext uri="{FF2B5EF4-FFF2-40B4-BE49-F238E27FC236}">
                <a16:creationId xmlns:a16="http://schemas.microsoft.com/office/drawing/2014/main" id="{44DF8FC4-6AD1-4879-84B7-C0706873D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8645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2" name="Rectangle 56">
            <a:extLst>
              <a:ext uri="{FF2B5EF4-FFF2-40B4-BE49-F238E27FC236}">
                <a16:creationId xmlns:a16="http://schemas.microsoft.com/office/drawing/2014/main" id="{E48C969D-303D-4CCC-A6D2-48387F917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72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3" name="Rectangle 57">
            <a:extLst>
              <a:ext uri="{FF2B5EF4-FFF2-40B4-BE49-F238E27FC236}">
                <a16:creationId xmlns:a16="http://schemas.microsoft.com/office/drawing/2014/main" id="{C516A585-364E-40C9-B81F-419CAFA0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5970" y="3038475"/>
            <a:ext cx="65088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4" name="Rectangle 58">
            <a:extLst>
              <a:ext uri="{FF2B5EF4-FFF2-40B4-BE49-F238E27FC236}">
                <a16:creationId xmlns:a16="http://schemas.microsoft.com/office/drawing/2014/main" id="{0F77A2F7-6B1A-4163-9001-C5CA0B33F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280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5" name="Rectangle 59">
            <a:extLst>
              <a:ext uri="{FF2B5EF4-FFF2-40B4-BE49-F238E27FC236}">
                <a16:creationId xmlns:a16="http://schemas.microsoft.com/office/drawing/2014/main" id="{6B342F7A-EEBD-44C0-A22C-5B365A4CA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170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6" name="Rectangle 60">
            <a:extLst>
              <a:ext uri="{FF2B5EF4-FFF2-40B4-BE49-F238E27FC236}">
                <a16:creationId xmlns:a16="http://schemas.microsoft.com/office/drawing/2014/main" id="{088E1B4B-5062-472E-A790-B835F8DB0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958" y="3038475"/>
            <a:ext cx="65087" cy="6223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7" name="Rectangle 61">
            <a:extLst>
              <a:ext uri="{FF2B5EF4-FFF2-40B4-BE49-F238E27FC236}">
                <a16:creationId xmlns:a16="http://schemas.microsoft.com/office/drawing/2014/main" id="{64772080-3581-41DA-A0B2-7E9EB83B4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620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8" name="Rectangle 62">
            <a:extLst>
              <a:ext uri="{FF2B5EF4-FFF2-40B4-BE49-F238E27FC236}">
                <a16:creationId xmlns:a16="http://schemas.microsoft.com/office/drawing/2014/main" id="{DEF3FC1B-6C68-4514-AD75-F4EAA70FF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695" y="3036888"/>
            <a:ext cx="65088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69" name="Rectangle 63">
            <a:extLst>
              <a:ext uri="{FF2B5EF4-FFF2-40B4-BE49-F238E27FC236}">
                <a16:creationId xmlns:a16="http://schemas.microsoft.com/office/drawing/2014/main" id="{012C72C4-DC8F-445F-9756-6B50A519A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953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0" name="Rectangle 64">
            <a:extLst>
              <a:ext uri="{FF2B5EF4-FFF2-40B4-BE49-F238E27FC236}">
                <a16:creationId xmlns:a16="http://schemas.microsoft.com/office/drawing/2014/main" id="{EABDCEBA-553C-40D7-B87B-394D794E8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78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1" name="Rectangle 65">
            <a:extLst>
              <a:ext uri="{FF2B5EF4-FFF2-40B4-BE49-F238E27FC236}">
                <a16:creationId xmlns:a16="http://schemas.microsoft.com/office/drawing/2014/main" id="{E913F9BE-6B85-4814-B8C8-D8745329F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368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2" name="Rectangle 66">
            <a:extLst>
              <a:ext uri="{FF2B5EF4-FFF2-40B4-BE49-F238E27FC236}">
                <a16:creationId xmlns:a16="http://schemas.microsoft.com/office/drawing/2014/main" id="{F01E5B5D-1EBF-4E8E-93E7-3CC443D36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933" y="3036888"/>
            <a:ext cx="65087" cy="6223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3" name="Rectangle 68">
            <a:extLst>
              <a:ext uri="{FF2B5EF4-FFF2-40B4-BE49-F238E27FC236}">
                <a16:creationId xmlns:a16="http://schemas.microsoft.com/office/drawing/2014/main" id="{A71BDF62-355A-45EE-A22F-17EB50458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77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4" name="Rectangle 69">
            <a:extLst>
              <a:ext uri="{FF2B5EF4-FFF2-40B4-BE49-F238E27FC236}">
                <a16:creationId xmlns:a16="http://schemas.microsoft.com/office/drawing/2014/main" id="{0FD5C621-198E-45AF-B57E-7A3907529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608" y="3040063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5" name="Rectangle 70">
            <a:extLst>
              <a:ext uri="{FF2B5EF4-FFF2-40B4-BE49-F238E27FC236}">
                <a16:creationId xmlns:a16="http://schemas.microsoft.com/office/drawing/2014/main" id="{70002B48-58C1-441C-B1CF-DADEFDC61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944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6" name="Rectangle 71">
            <a:extLst>
              <a:ext uri="{FF2B5EF4-FFF2-40B4-BE49-F238E27FC236}">
                <a16:creationId xmlns:a16="http://schemas.microsoft.com/office/drawing/2014/main" id="{D6232CBF-9C97-4795-A9A8-F5EB5ED68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787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7" name="Rectangle 72">
            <a:extLst>
              <a:ext uri="{FF2B5EF4-FFF2-40B4-BE49-F238E27FC236}">
                <a16:creationId xmlns:a16="http://schemas.microsoft.com/office/drawing/2014/main" id="{27FFE2F4-15E9-4790-AC4C-75C141D79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312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8" name="Rectangle 73">
            <a:extLst>
              <a:ext uri="{FF2B5EF4-FFF2-40B4-BE49-F238E27FC236}">
                <a16:creationId xmlns:a16="http://schemas.microsoft.com/office/drawing/2014/main" id="{3CA6ABB9-96C6-4070-B464-CA2D36A2A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8370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9" name="Rectangle 74">
            <a:extLst>
              <a:ext uri="{FF2B5EF4-FFF2-40B4-BE49-F238E27FC236}">
                <a16:creationId xmlns:a16="http://schemas.microsoft.com/office/drawing/2014/main" id="{05DFB8FB-5890-45F4-BA66-58E518A89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0445" y="3038475"/>
            <a:ext cx="65088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0" name="Rectangle 75">
            <a:extLst>
              <a:ext uri="{FF2B5EF4-FFF2-40B4-BE49-F238E27FC236}">
                <a16:creationId xmlns:a16="http://schemas.microsoft.com/office/drawing/2014/main" id="{B7F56ECC-074E-4E46-8E01-E6F13B286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83" y="3038475"/>
            <a:ext cx="65087" cy="6223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1" name="Rectangle 76">
            <a:extLst>
              <a:ext uri="{FF2B5EF4-FFF2-40B4-BE49-F238E27FC236}">
                <a16:creationId xmlns:a16="http://schemas.microsoft.com/office/drawing/2014/main" id="{3C46CFC3-AF4B-4480-9DC5-6F8B69CF1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2533" y="3038475"/>
            <a:ext cx="65087" cy="622300"/>
          </a:xfrm>
          <a:prstGeom prst="rect">
            <a:avLst/>
          </a:pr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2" name="Rectangle 78">
            <a:extLst>
              <a:ext uri="{FF2B5EF4-FFF2-40B4-BE49-F238E27FC236}">
                <a16:creationId xmlns:a16="http://schemas.microsoft.com/office/drawing/2014/main" id="{052334D0-9571-4E0F-A248-5B4E963DC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470" y="3890764"/>
            <a:ext cx="3408363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84" name="Line 80">
            <a:extLst>
              <a:ext uri="{FF2B5EF4-FFF2-40B4-BE49-F238E27FC236}">
                <a16:creationId xmlns:a16="http://schemas.microsoft.com/office/drawing/2014/main" id="{BE35AB90-21DA-4547-89CB-8B4607EAF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6420" y="4005064"/>
            <a:ext cx="868363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5" name="Line 82">
            <a:extLst>
              <a:ext uri="{FF2B5EF4-FFF2-40B4-BE49-F238E27FC236}">
                <a16:creationId xmlns:a16="http://schemas.microsoft.com/office/drawing/2014/main" id="{F021B626-00AC-40F3-8F38-58710C464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1458" y="4006651"/>
            <a:ext cx="868362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6" name="Line 83">
            <a:extLst>
              <a:ext uri="{FF2B5EF4-FFF2-40B4-BE49-F238E27FC236}">
                <a16:creationId xmlns:a16="http://schemas.microsoft.com/office/drawing/2014/main" id="{C626313A-48A8-405D-AFF2-88B6ECF45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5295" y="4005064"/>
            <a:ext cx="801688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7" name="Line 84">
            <a:extLst>
              <a:ext uri="{FF2B5EF4-FFF2-40B4-BE49-F238E27FC236}">
                <a16:creationId xmlns:a16="http://schemas.microsoft.com/office/drawing/2014/main" id="{525EAC14-5D38-4FDF-929B-1BAB12E24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5383" y="4006651"/>
            <a:ext cx="528637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8" name="Line 87">
            <a:extLst>
              <a:ext uri="{FF2B5EF4-FFF2-40B4-BE49-F238E27FC236}">
                <a16:creationId xmlns:a16="http://schemas.microsoft.com/office/drawing/2014/main" id="{92ADE127-A2AC-4501-97D7-2D1E3A843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495" y="4005062"/>
            <a:ext cx="0" cy="233363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9" name="Line 88">
            <a:extLst>
              <a:ext uri="{FF2B5EF4-FFF2-40B4-BE49-F238E27FC236}">
                <a16:creationId xmlns:a16="http://schemas.microsoft.com/office/drawing/2014/main" id="{FBE0252B-B615-461A-AADE-C556260CCD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920" y="4005062"/>
            <a:ext cx="0" cy="233362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0" name="Line 89">
            <a:extLst>
              <a:ext uri="{FF2B5EF4-FFF2-40B4-BE49-F238E27FC236}">
                <a16:creationId xmlns:a16="http://schemas.microsoft.com/office/drawing/2014/main" id="{6A4E4754-BE84-4FE3-9A49-5BD2A1344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66370" y="4005062"/>
            <a:ext cx="0" cy="233362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1" name="Line 90">
            <a:extLst>
              <a:ext uri="{FF2B5EF4-FFF2-40B4-BE49-F238E27FC236}">
                <a16:creationId xmlns:a16="http://schemas.microsoft.com/office/drawing/2014/main" id="{90D06FC2-4E2D-4227-8EDD-38D47BBF9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9970" y="4005062"/>
            <a:ext cx="0" cy="233362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2" name="Text Box 91">
            <a:extLst>
              <a:ext uri="{FF2B5EF4-FFF2-40B4-BE49-F238E27FC236}">
                <a16:creationId xmlns:a16="http://schemas.microsoft.com/office/drawing/2014/main" id="{CD216BBF-B967-4F7D-B131-81B284F80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6974" y="4252714"/>
            <a:ext cx="6719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보냈고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됨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3" name="Text Box 92">
            <a:extLst>
              <a:ext uri="{FF2B5EF4-FFF2-40B4-BE49-F238E27FC236}">
                <a16:creationId xmlns:a16="http://schemas.microsoft.com/office/drawing/2014/main" id="{57F719FF-1F20-4E74-8188-A084CCD7A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216" y="4259064"/>
            <a:ext cx="11112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보냈지만</a:t>
            </a: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</a:t>
            </a:r>
            <a:r>
              <a:rPr lang="ko-KR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안됨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ja-JP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</a:t>
            </a:r>
            <a:r>
              <a:rPr lang="en-US" altLang="ja-JP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in-flight</a:t>
            </a:r>
            <a:r>
              <a:rPr lang="ja-JP" altLang="en-US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”</a:t>
            </a:r>
            <a:r>
              <a:rPr lang="en-US" altLang="ja-JP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endParaRPr lang="en-US" altLang="ko-KR" sz="12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4" name="Text Box 93">
            <a:extLst>
              <a:ext uri="{FF2B5EF4-FFF2-40B4-BE49-F238E27FC236}">
                <a16:creationId xmlns:a16="http://schemas.microsoft.com/office/drawing/2014/main" id="{4CC7EC19-28B4-4C98-AC35-61C1E39EF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0320" y="4254301"/>
            <a:ext cx="10731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가능</a:t>
            </a:r>
            <a:br>
              <a: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하지만 아직 </a:t>
            </a:r>
            <a:r>
              <a:rPr lang="ko-KR" altLang="en-US" sz="12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안보냄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5" name="Text Box 94">
            <a:extLst>
              <a:ext uri="{FF2B5EF4-FFF2-40B4-BE49-F238E27FC236}">
                <a16:creationId xmlns:a16="http://schemas.microsoft.com/office/drawing/2014/main" id="{AB167D33-7CAC-4A6D-83B8-B8EAC5EEA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4416" y="4259064"/>
            <a:ext cx="9540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사용 불가</a:t>
            </a:r>
            <a:endParaRPr lang="en-US" altLang="ko-KR" sz="12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6" name="Text Box 96">
            <a:extLst>
              <a:ext uri="{FF2B5EF4-FFF2-40B4-BE49-F238E27FC236}">
                <a16:creationId xmlns:a16="http://schemas.microsoft.com/office/drawing/2014/main" id="{868AD1A4-B863-4612-9CF2-4DB5FF417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455" y="2545286"/>
            <a:ext cx="10935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윈도우 크기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N</a:t>
            </a:r>
          </a:p>
        </p:txBody>
      </p:sp>
      <p:sp>
        <p:nvSpPr>
          <p:cNvPr id="98" name="Line 97">
            <a:extLst>
              <a:ext uri="{FF2B5EF4-FFF2-40B4-BE49-F238E27FC236}">
                <a16:creationId xmlns:a16="http://schemas.microsoft.com/office/drawing/2014/main" id="{587F1F2C-1F30-45AC-AD96-7AE53D014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1883" y="2920209"/>
            <a:ext cx="593725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99" name="Line 98">
            <a:extLst>
              <a:ext uri="{FF2B5EF4-FFF2-40B4-BE49-F238E27FC236}">
                <a16:creationId xmlns:a16="http://schemas.microsoft.com/office/drawing/2014/main" id="{AC623946-0307-4CA6-8A0F-B984BE1BDA8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6565" y="2851947"/>
            <a:ext cx="0" cy="136525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1" name="Line 101">
            <a:extLst>
              <a:ext uri="{FF2B5EF4-FFF2-40B4-BE49-F238E27FC236}">
                <a16:creationId xmlns:a16="http://schemas.microsoft.com/office/drawing/2014/main" id="{725C3DA6-D021-4C72-A9D6-DF75F8710F0A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5318596" y="2920209"/>
            <a:ext cx="593725" cy="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" name="Line 102">
            <a:extLst>
              <a:ext uri="{FF2B5EF4-FFF2-40B4-BE49-F238E27FC236}">
                <a16:creationId xmlns:a16="http://schemas.microsoft.com/office/drawing/2014/main" id="{41E63110-812C-4DD6-8010-63807358EDC3}"/>
              </a:ext>
            </a:extLst>
          </p:cNvPr>
          <p:cNvSpPr>
            <a:spLocks noChangeShapeType="1"/>
          </p:cNvSpPr>
          <p:nvPr/>
        </p:nvSpPr>
        <p:spPr bwMode="auto">
          <a:xfrm rot="10800000">
            <a:off x="6826131" y="2851947"/>
            <a:ext cx="0" cy="136525"/>
          </a:xfrm>
          <a:prstGeom prst="line">
            <a:avLst/>
          </a:prstGeom>
          <a:noFill/>
          <a:ln w="9525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" name="Text Box 196">
            <a:extLst>
              <a:ext uri="{FF2B5EF4-FFF2-40B4-BE49-F238E27FC236}">
                <a16:creationId xmlns:a16="http://schemas.microsoft.com/office/drawing/2014/main" id="{C3988412-10C2-4E36-A923-D7949DBA8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5755" y="3682048"/>
            <a:ext cx="212109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1" algn="ctr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측의 순서 번호 공간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DD3AE8E9-5AD6-41AD-A4E7-591A2BEFD2BD}"/>
              </a:ext>
            </a:extLst>
          </p:cNvPr>
          <p:cNvGrpSpPr/>
          <p:nvPr/>
        </p:nvGrpSpPr>
        <p:grpSpPr>
          <a:xfrm>
            <a:off x="3822700" y="1068388"/>
            <a:ext cx="2496022" cy="1954212"/>
            <a:chOff x="3822700" y="1068388"/>
            <a:chExt cx="2496022" cy="1954212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053A85CD-C8BB-4437-A9AC-30BC24085753}"/>
                </a:ext>
              </a:extLst>
            </p:cNvPr>
            <p:cNvGrpSpPr/>
            <p:nvPr/>
          </p:nvGrpSpPr>
          <p:grpSpPr>
            <a:xfrm>
              <a:off x="3822700" y="1384300"/>
              <a:ext cx="2453604" cy="1150610"/>
              <a:chOff x="4080300" y="1384300"/>
              <a:chExt cx="2196004" cy="1150610"/>
            </a:xfrm>
          </p:grpSpPr>
          <p:sp>
            <p:nvSpPr>
              <p:cNvPr id="105" name="Rectangle 171">
                <a:extLst>
                  <a:ext uri="{FF2B5EF4-FFF2-40B4-BE49-F238E27FC236}">
                    <a16:creationId xmlns:a16="http://schemas.microsoft.com/office/drawing/2014/main" id="{49194913-C880-4D90-9F51-1A945E4F0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5270" y="1631950"/>
                <a:ext cx="2138363" cy="215900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109" name="Rectangle 173">
                <a:extLst>
                  <a:ext uri="{FF2B5EF4-FFF2-40B4-BE49-F238E27FC236}">
                    <a16:creationId xmlns:a16="http://schemas.microsoft.com/office/drawing/2014/main" id="{54F6796C-4070-4CE8-A9AC-47D8A4F71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6065" y="1401763"/>
                <a:ext cx="2138366" cy="11160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110" name="Text Box 174">
                <a:extLst>
                  <a:ext uri="{FF2B5EF4-FFF2-40B4-BE49-F238E27FC236}">
                    <a16:creationId xmlns:a16="http://schemas.microsoft.com/office/drawing/2014/main" id="{8DBB614E-8365-465C-AD6E-D35F774A86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300" y="1384300"/>
                <a:ext cx="112562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source port #</a:t>
                </a:r>
              </a:p>
            </p:txBody>
          </p:sp>
          <p:sp>
            <p:nvSpPr>
              <p:cNvPr id="111" name="Text Box 175">
                <a:extLst>
                  <a:ext uri="{FF2B5EF4-FFF2-40B4-BE49-F238E27FC236}">
                    <a16:creationId xmlns:a16="http://schemas.microsoft.com/office/drawing/2014/main" id="{52640CA7-5D58-407D-BFD4-A657523317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8192" y="1384300"/>
                <a:ext cx="96051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dest port #</a:t>
                </a:r>
              </a:p>
            </p:txBody>
          </p:sp>
          <p:sp>
            <p:nvSpPr>
              <p:cNvPr id="112" name="Text Box 176">
                <a:extLst>
                  <a:ext uri="{FF2B5EF4-FFF2-40B4-BE49-F238E27FC236}">
                    <a16:creationId xmlns:a16="http://schemas.microsoft.com/office/drawing/2014/main" id="{C759538B-2E22-4F8E-9C79-95B4B1AA06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8810" y="1610678"/>
                <a:ext cx="1447800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sequence number</a:t>
                </a:r>
              </a:p>
            </p:txBody>
          </p:sp>
          <p:sp>
            <p:nvSpPr>
              <p:cNvPr id="113" name="Text Box 177">
                <a:extLst>
                  <a:ext uri="{FF2B5EF4-FFF2-40B4-BE49-F238E27FC236}">
                    <a16:creationId xmlns:a16="http://schemas.microsoft.com/office/drawing/2014/main" id="{B8B8D25A-0B52-45B6-90FC-A7892A719E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03716" y="1817688"/>
                <a:ext cx="2172588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acknowledgement number</a:t>
                </a:r>
              </a:p>
            </p:txBody>
          </p:sp>
          <p:sp>
            <p:nvSpPr>
              <p:cNvPr id="114" name="Text Box 178">
                <a:extLst>
                  <a:ext uri="{FF2B5EF4-FFF2-40B4-BE49-F238E27FC236}">
                    <a16:creationId xmlns:a16="http://schemas.microsoft.com/office/drawing/2014/main" id="{08309076-9D51-412C-9EEA-B22AFD3902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6922" y="2273300"/>
                <a:ext cx="877163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checksum</a:t>
                </a:r>
              </a:p>
            </p:txBody>
          </p:sp>
          <p:grpSp>
            <p:nvGrpSpPr>
              <p:cNvPr id="127" name="그룹 126">
                <a:extLst>
                  <a:ext uri="{FF2B5EF4-FFF2-40B4-BE49-F238E27FC236}">
                    <a16:creationId xmlns:a16="http://schemas.microsoft.com/office/drawing/2014/main" id="{3F4BAA22-5370-40AC-9F6F-9375C0CE7DEF}"/>
                  </a:ext>
                </a:extLst>
              </p:cNvPr>
              <p:cNvGrpSpPr/>
              <p:nvPr/>
            </p:nvGrpSpPr>
            <p:grpSpPr>
              <a:xfrm>
                <a:off x="4116065" y="1628775"/>
                <a:ext cx="2137568" cy="215900"/>
                <a:chOff x="3900490" y="1628775"/>
                <a:chExt cx="1924050" cy="215900"/>
              </a:xfrm>
            </p:grpSpPr>
            <p:sp>
              <p:nvSpPr>
                <p:cNvPr id="115" name="Line 179">
                  <a:extLst>
                    <a:ext uri="{FF2B5EF4-FFF2-40B4-BE49-F238E27FC236}">
                      <a16:creationId xmlns:a16="http://schemas.microsoft.com/office/drawing/2014/main" id="{2150EA4F-D7C6-495A-87E2-4E43614B83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490" y="1628775"/>
                  <a:ext cx="19240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  <p:sp>
              <p:nvSpPr>
                <p:cNvPr id="116" name="Line 180">
                  <a:extLst>
                    <a:ext uri="{FF2B5EF4-FFF2-40B4-BE49-F238E27FC236}">
                      <a16:creationId xmlns:a16="http://schemas.microsoft.com/office/drawing/2014/main" id="{06B51B5B-6B11-45C6-99C8-63876ADB7C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00490" y="1844675"/>
                  <a:ext cx="19240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ko-KR" altLang="en-US"/>
                </a:p>
              </p:txBody>
            </p:sp>
          </p:grpSp>
          <p:sp>
            <p:nvSpPr>
              <p:cNvPr id="117" name="Line 181">
                <a:extLst>
                  <a:ext uri="{FF2B5EF4-FFF2-40B4-BE49-F238E27FC236}">
                    <a16:creationId xmlns:a16="http://schemas.microsoft.com/office/drawing/2014/main" id="{AE2AAB36-0000-42D2-B8CE-6C3C507E9B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4795" y="2066925"/>
                <a:ext cx="21264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18" name="Line 182">
                <a:extLst>
                  <a:ext uri="{FF2B5EF4-FFF2-40B4-BE49-F238E27FC236}">
                    <a16:creationId xmlns:a16="http://schemas.microsoft.com/office/drawing/2014/main" id="{D21350B6-CF59-4BFD-A77B-85083D6E8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8266" y="1400175"/>
                <a:ext cx="0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19" name="Line 183">
                <a:extLst>
                  <a:ext uri="{FF2B5EF4-FFF2-40B4-BE49-F238E27FC236}">
                    <a16:creationId xmlns:a16="http://schemas.microsoft.com/office/drawing/2014/main" id="{8E367221-8C8A-4C72-B4F1-8400507BDC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67785" y="2070100"/>
                <a:ext cx="0" cy="444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20" name="Line 184">
                <a:extLst>
                  <a:ext uri="{FF2B5EF4-FFF2-40B4-BE49-F238E27FC236}">
                    <a16:creationId xmlns:a16="http://schemas.microsoft.com/office/drawing/2014/main" id="{5DDE8AC8-924C-4E59-B17A-9A2CBFDBF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7653" y="2279650"/>
                <a:ext cx="21359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21" name="Text Box 185">
                <a:extLst>
                  <a:ext uri="{FF2B5EF4-FFF2-40B4-BE49-F238E27FC236}">
                    <a16:creationId xmlns:a16="http://schemas.microsoft.com/office/drawing/2014/main" id="{1530166E-DDC9-4454-9274-84B01CEFCF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60310" y="2028825"/>
                <a:ext cx="535724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rwnd</a:t>
                </a:r>
              </a:p>
            </p:txBody>
          </p:sp>
          <p:sp>
            <p:nvSpPr>
              <p:cNvPr id="122" name="Text Box 186">
                <a:extLst>
                  <a:ext uri="{FF2B5EF4-FFF2-40B4-BE49-F238E27FC236}">
                    <a16:creationId xmlns:a16="http://schemas.microsoft.com/office/drawing/2014/main" id="{083667AA-79EB-4608-8610-F588E3C08A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46309" y="2273300"/>
                <a:ext cx="963726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urg pointer</a:t>
                </a:r>
              </a:p>
            </p:txBody>
          </p:sp>
          <p:sp>
            <p:nvSpPr>
              <p:cNvPr id="123" name="Line 187">
                <a:extLst>
                  <a:ext uri="{FF2B5EF4-FFF2-40B4-BE49-F238E27FC236}">
                    <a16:creationId xmlns:a16="http://schemas.microsoft.com/office/drawing/2014/main" id="{2FD9E4FB-AE0B-447B-8596-8977AF8B9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6160" y="2065338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24" name="Line 188">
                <a:extLst>
                  <a:ext uri="{FF2B5EF4-FFF2-40B4-BE49-F238E27FC236}">
                    <a16:creationId xmlns:a16="http://schemas.microsoft.com/office/drawing/2014/main" id="{845FFECD-9F68-4B89-AA91-C0B0780EB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1347" y="2063750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107" name="Text Box 189">
              <a:extLst>
                <a:ext uri="{FF2B5EF4-FFF2-40B4-BE49-F238E27FC236}">
                  <a16:creationId xmlns:a16="http://schemas.microsoft.com/office/drawing/2014/main" id="{0B0656B2-AA14-4F34-B5F9-B5C0830EF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693" y="1068388"/>
              <a:ext cx="2401619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 측에서 나가는 세그먼트</a:t>
              </a:r>
              <a:endPara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08" name="Freeform 190">
              <a:extLst>
                <a:ext uri="{FF2B5EF4-FFF2-40B4-BE49-F238E27FC236}">
                  <a16:creationId xmlns:a16="http://schemas.microsoft.com/office/drawing/2014/main" id="{9639C4D9-42DC-484D-9AD6-34725E416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859" y="1714500"/>
              <a:ext cx="169863" cy="1308100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92 h 910"/>
                <a:gd name="T6" fmla="*/ 0 60000 65536"/>
                <a:gd name="T7" fmla="*/ 0 60000 65536"/>
                <a:gd name="T8" fmla="*/ 0 60000 65536"/>
                <a:gd name="T9" fmla="*/ 0 w 107"/>
                <a:gd name="T10" fmla="*/ 0 h 910"/>
                <a:gd name="T11" fmla="*/ 107 w 107"/>
                <a:gd name="T12" fmla="*/ 910 h 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>
              <a:solidFill>
                <a:srgbClr val="105B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D438CCD1-FFE4-4430-85C5-36F2FF44F20A}"/>
              </a:ext>
            </a:extLst>
          </p:cNvPr>
          <p:cNvGrpSpPr/>
          <p:nvPr/>
        </p:nvGrpSpPr>
        <p:grpSpPr>
          <a:xfrm>
            <a:off x="5415432" y="4000498"/>
            <a:ext cx="2644483" cy="2369813"/>
            <a:chOff x="5415432" y="4000498"/>
            <a:chExt cx="2644483" cy="2369813"/>
          </a:xfrm>
        </p:grpSpPr>
        <p:sp>
          <p:nvSpPr>
            <p:cNvPr id="27" name="Freeform 168">
              <a:extLst>
                <a:ext uri="{FF2B5EF4-FFF2-40B4-BE49-F238E27FC236}">
                  <a16:creationId xmlns:a16="http://schemas.microsoft.com/office/drawing/2014/main" id="{D4756FD4-FDA7-4741-BB1F-C6485BEBBBB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5415432" y="4000498"/>
              <a:ext cx="261937" cy="1980405"/>
            </a:xfrm>
            <a:custGeom>
              <a:avLst/>
              <a:gdLst>
                <a:gd name="T0" fmla="*/ 0 w 107"/>
                <a:gd name="T1" fmla="*/ 0 h 910"/>
                <a:gd name="T2" fmla="*/ 107 w 107"/>
                <a:gd name="T3" fmla="*/ 0 h 910"/>
                <a:gd name="T4" fmla="*/ 107 w 107"/>
                <a:gd name="T5" fmla="*/ 470324 h 910"/>
                <a:gd name="T6" fmla="*/ 0 60000 65536"/>
                <a:gd name="T7" fmla="*/ 0 60000 65536"/>
                <a:gd name="T8" fmla="*/ 0 60000 65536"/>
                <a:gd name="T9" fmla="*/ 0 w 107"/>
                <a:gd name="T10" fmla="*/ 0 h 910"/>
                <a:gd name="T11" fmla="*/ 107 w 107"/>
                <a:gd name="T12" fmla="*/ 910 h 9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" h="910">
                  <a:moveTo>
                    <a:pt x="0" y="0"/>
                  </a:moveTo>
                  <a:lnTo>
                    <a:pt x="107" y="0"/>
                  </a:lnTo>
                  <a:lnTo>
                    <a:pt x="107" y="910"/>
                  </a:lnTo>
                </a:path>
              </a:pathLst>
            </a:custGeom>
            <a:noFill/>
            <a:ln w="9525">
              <a:solidFill>
                <a:srgbClr val="105B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CB396B92-0167-4583-9CE7-57CBE3242E8F}"/>
                </a:ext>
              </a:extLst>
            </p:cNvPr>
            <p:cNvGrpSpPr/>
            <p:nvPr/>
          </p:nvGrpSpPr>
          <p:grpSpPr>
            <a:xfrm>
              <a:off x="5678593" y="5224463"/>
              <a:ext cx="2381322" cy="1145848"/>
              <a:chOff x="5678593" y="5224463"/>
              <a:chExt cx="2381322" cy="1145848"/>
            </a:xfrm>
          </p:grpSpPr>
          <p:sp>
            <p:nvSpPr>
              <p:cNvPr id="24" name="Rectangle 167">
                <a:extLst>
                  <a:ext uri="{FF2B5EF4-FFF2-40B4-BE49-F238E27FC236}">
                    <a16:creationId xmlns:a16="http://schemas.microsoft.com/office/drawing/2014/main" id="{EAEC7F7A-4B5E-4F74-A5C6-C12529FB5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6439" y="5684044"/>
                <a:ext cx="2367419" cy="227013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endParaRPr lang="ko-KR" altLang="ko-KR" sz="1600">
                  <a:latin typeface="G마켓 산스 TTF Medium" panose="02000000000000000000" pitchFamily="2" charset="-127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8" name="Rectangle 149">
                <a:extLst>
                  <a:ext uri="{FF2B5EF4-FFF2-40B4-BE49-F238E27FC236}">
                    <a16:creationId xmlns:a16="http://schemas.microsoft.com/office/drawing/2014/main" id="{969090DE-D4E8-4F8A-990B-CD0F62136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2516" y="5241926"/>
                <a:ext cx="2373476" cy="111601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29" name="Text Box 150">
                <a:extLst>
                  <a:ext uri="{FF2B5EF4-FFF2-40B4-BE49-F238E27FC236}">
                    <a16:creationId xmlns:a16="http://schemas.microsoft.com/office/drawing/2014/main" id="{DF410434-C601-419B-B364-38BCF6F6E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02282" y="5224463"/>
                <a:ext cx="112562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source port #</a:t>
                </a:r>
              </a:p>
            </p:txBody>
          </p:sp>
          <p:sp>
            <p:nvSpPr>
              <p:cNvPr id="30" name="Text Box 151">
                <a:extLst>
                  <a:ext uri="{FF2B5EF4-FFF2-40B4-BE49-F238E27FC236}">
                    <a16:creationId xmlns:a16="http://schemas.microsoft.com/office/drawing/2014/main" id="{45B206BA-8938-4C76-8A3F-825F72F114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66671" y="5229226"/>
                <a:ext cx="960519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dest port #</a:t>
                </a:r>
              </a:p>
            </p:txBody>
          </p:sp>
          <p:sp>
            <p:nvSpPr>
              <p:cNvPr id="31" name="Text Box 152">
                <a:extLst>
                  <a:ext uri="{FF2B5EF4-FFF2-40B4-BE49-F238E27FC236}">
                    <a16:creationId xmlns:a16="http://schemas.microsoft.com/office/drawing/2014/main" id="{2351DED6-5D7E-459F-A98A-D58445FBC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96364" y="5435601"/>
                <a:ext cx="1788934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sequence number</a:t>
                </a:r>
              </a:p>
            </p:txBody>
          </p:sp>
          <p:sp>
            <p:nvSpPr>
              <p:cNvPr id="32" name="Text Box 153">
                <a:extLst>
                  <a:ext uri="{FF2B5EF4-FFF2-40B4-BE49-F238E27FC236}">
                    <a16:creationId xmlns:a16="http://schemas.microsoft.com/office/drawing/2014/main" id="{F91AD0A5-E5FC-41EC-9716-D39F209992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17789" y="5669368"/>
                <a:ext cx="2114700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acknowledgement number</a:t>
                </a:r>
              </a:p>
            </p:txBody>
          </p:sp>
          <p:sp>
            <p:nvSpPr>
              <p:cNvPr id="33" name="Text Box 154">
                <a:extLst>
                  <a:ext uri="{FF2B5EF4-FFF2-40B4-BE49-F238E27FC236}">
                    <a16:creationId xmlns:a16="http://schemas.microsoft.com/office/drawing/2014/main" id="{E62352D7-9953-4C47-9B6D-3A197CB9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25535" y="6108701"/>
                <a:ext cx="877163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checksum</a:t>
                </a:r>
              </a:p>
            </p:txBody>
          </p:sp>
          <p:sp>
            <p:nvSpPr>
              <p:cNvPr id="34" name="Line 155">
                <a:extLst>
                  <a:ext uri="{FF2B5EF4-FFF2-40B4-BE49-F238E27FC236}">
                    <a16:creationId xmlns:a16="http://schemas.microsoft.com/office/drawing/2014/main" id="{4D0A53A8-1E86-47D4-BBE7-A0BC10B94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2516" y="5468938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5" name="Line 156">
                <a:extLst>
                  <a:ext uri="{FF2B5EF4-FFF2-40B4-BE49-F238E27FC236}">
                    <a16:creationId xmlns:a16="http://schemas.microsoft.com/office/drawing/2014/main" id="{FF4181E9-17C0-4323-B799-5D6254B48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2516" y="5684838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6" name="Line 157">
                <a:extLst>
                  <a:ext uri="{FF2B5EF4-FFF2-40B4-BE49-F238E27FC236}">
                    <a16:creationId xmlns:a16="http://schemas.microsoft.com/office/drawing/2014/main" id="{A9AAF8AA-E3BB-4EBC-B351-E5A4C3037F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8593" y="5907088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7" name="Line 158">
                <a:extLst>
                  <a:ext uri="{FF2B5EF4-FFF2-40B4-BE49-F238E27FC236}">
                    <a16:creationId xmlns:a16="http://schemas.microsoft.com/office/drawing/2014/main" id="{43755D15-DD7C-4E4C-911D-9A39FC9AA2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7677" y="5240338"/>
                <a:ext cx="0" cy="2254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8" name="Line 159">
                <a:extLst>
                  <a:ext uri="{FF2B5EF4-FFF2-40B4-BE49-F238E27FC236}">
                    <a16:creationId xmlns:a16="http://schemas.microsoft.com/office/drawing/2014/main" id="{6E39B1A7-3ED0-47A4-953E-3CB94F115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47677" y="5910263"/>
                <a:ext cx="0" cy="444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9" name="Line 160">
                <a:extLst>
                  <a:ext uri="{FF2B5EF4-FFF2-40B4-BE49-F238E27FC236}">
                    <a16:creationId xmlns:a16="http://schemas.microsoft.com/office/drawing/2014/main" id="{DE8349E9-C1A5-4E3B-95CF-7BB74DE964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82516" y="6119813"/>
                <a:ext cx="23773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0" name="Text Box 161">
                <a:extLst>
                  <a:ext uri="{FF2B5EF4-FFF2-40B4-BE49-F238E27FC236}">
                    <a16:creationId xmlns:a16="http://schemas.microsoft.com/office/drawing/2014/main" id="{A00A371E-A9DB-4E9F-84D8-CC8C009E07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65328" y="5873750"/>
                <a:ext cx="535724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rwnd</a:t>
                </a:r>
              </a:p>
            </p:txBody>
          </p:sp>
          <p:sp>
            <p:nvSpPr>
              <p:cNvPr id="41" name="Text Box 162">
                <a:extLst>
                  <a:ext uri="{FF2B5EF4-FFF2-40B4-BE49-F238E27FC236}">
                    <a16:creationId xmlns:a16="http://schemas.microsoft.com/office/drawing/2014/main" id="{6F7B02D3-4EFD-494D-8CE9-6CAD8D461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75857" y="6108701"/>
                <a:ext cx="963726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urg pointer</a:t>
                </a:r>
              </a:p>
            </p:txBody>
          </p:sp>
          <p:sp>
            <p:nvSpPr>
              <p:cNvPr id="43" name="Line 164">
                <a:extLst>
                  <a:ext uri="{FF2B5EF4-FFF2-40B4-BE49-F238E27FC236}">
                    <a16:creationId xmlns:a16="http://schemas.microsoft.com/office/drawing/2014/main" id="{3F35A9A5-6BF6-4312-A37D-21687BEA9E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74788" y="5903913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5" name="Rectangle 194">
                <a:extLst>
                  <a:ext uri="{FF2B5EF4-FFF2-40B4-BE49-F238E27FC236}">
                    <a16:creationId xmlns:a16="http://schemas.microsoft.com/office/drawing/2014/main" id="{2D1BCBC4-78F3-49DA-9263-BB791F6D6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76942" y="5911851"/>
                <a:ext cx="172616" cy="206375"/>
              </a:xfrm>
              <a:prstGeom prst="rect">
                <a:avLst/>
              </a:prstGeom>
              <a:solidFill>
                <a:srgbClr val="105BA0"/>
              </a:solidFill>
              <a:ln>
                <a:noFill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ko-KR" altLang="ko-KR" sz="1600">
                  <a:latin typeface="G마켓 산스 TTF Medium" panose="02000000000000000000" pitchFamily="2" charset="-127"/>
                </a:endParaRPr>
              </a:p>
            </p:txBody>
          </p:sp>
          <p:sp>
            <p:nvSpPr>
              <p:cNvPr id="46" name="Text Box 193">
                <a:extLst>
                  <a:ext uri="{FF2B5EF4-FFF2-40B4-BE49-F238E27FC236}">
                    <a16:creationId xmlns:a16="http://schemas.microsoft.com/office/drawing/2014/main" id="{5BB95284-B0A0-472E-B7CA-D8B75D93E5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4032" y="5880894"/>
                <a:ext cx="443310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ko-KR" sz="11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A</a:t>
                </a:r>
              </a:p>
            </p:txBody>
          </p:sp>
          <p:sp>
            <p:nvSpPr>
              <p:cNvPr id="42" name="Line 163">
                <a:extLst>
                  <a:ext uri="{FF2B5EF4-FFF2-40B4-BE49-F238E27FC236}">
                    <a16:creationId xmlns:a16="http://schemas.microsoft.com/office/drawing/2014/main" id="{6C53F8D1-A627-44D1-8F68-CCEEC7641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74982" y="5905501"/>
                <a:ext cx="0" cy="2127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</p:grpSp>
      <p:sp>
        <p:nvSpPr>
          <p:cNvPr id="130" name="Rectangle 3">
            <a:extLst>
              <a:ext uri="{FF2B5EF4-FFF2-40B4-BE49-F238E27FC236}">
                <a16:creationId xmlns:a16="http://schemas.microsoft.com/office/drawing/2014/main" id="{583CDE4A-44A2-409F-B277-1531049EF0D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7001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sequence numbers</a:t>
            </a: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FFC43C0C-B184-484E-BAD4-0EB82BB899D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215241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315538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순서 번호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와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bg1"/>
                </a:solidFill>
              </a:rPr>
              <a:t>ACK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6</a:t>
            </a:fld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CB9DDA2-6A50-4529-83B9-8FCFC04A91C7}"/>
              </a:ext>
            </a:extLst>
          </p:cNvPr>
          <p:cNvGrpSpPr/>
          <p:nvPr/>
        </p:nvGrpSpPr>
        <p:grpSpPr>
          <a:xfrm>
            <a:off x="676345" y="1398588"/>
            <a:ext cx="7272268" cy="4572254"/>
            <a:chOff x="676345" y="1398588"/>
            <a:chExt cx="7272268" cy="4572254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5921F8D2-D4A2-417D-83D7-05DACD853F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520" y="2738438"/>
              <a:ext cx="1241425" cy="59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사용자가</a:t>
              </a:r>
              <a:b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</a:b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 입력</a:t>
              </a:r>
              <a:endPara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1C3CA096-3A9C-4931-81D2-1944894CD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345" y="4357688"/>
              <a:ext cx="1537600" cy="59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echo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된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</a:t>
              </a:r>
              <a:b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</a:b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받은 것을 </a:t>
              </a: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ACK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함</a:t>
              </a:r>
              <a:endPara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9905274E-BB34-48CA-B145-A43D43011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7294" y="3341688"/>
              <a:ext cx="2241319" cy="591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 받은 것을 </a:t>
              </a: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ACK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하고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, </a:t>
              </a:r>
            </a:p>
            <a:p>
              <a:pPr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를 </a:t>
              </a: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echo</a:t>
              </a:r>
              <a:r>
                <a:rPr lang="ko-KR" altLang="en-US" sz="14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함</a:t>
              </a:r>
              <a:endPara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E3B97C24-48F4-422C-9029-0F42DE16D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247" y="4768851"/>
              <a:ext cx="3316358" cy="412749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977487B6-FBF4-4759-BC2C-C3CFA5B53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1239" y="2876550"/>
              <a:ext cx="3300412" cy="714375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980A06FB-DB9C-4819-AA91-FA51B0C41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3597" y="5576888"/>
              <a:ext cx="2350323" cy="3939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30000"/>
                </a:lnSpc>
                <a:spcBef>
                  <a:spcPct val="0"/>
                </a:spcBef>
                <a:buClr>
                  <a:schemeClr val="accent2"/>
                </a:buClr>
                <a:buSzPct val="85000"/>
                <a:buFontTx/>
                <a:buNone/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간단한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 telnet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시나리오</a:t>
              </a:r>
              <a:endPara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11" name="Text Box 13">
              <a:extLst>
                <a:ext uri="{FF2B5EF4-FFF2-40B4-BE49-F238E27FC236}">
                  <a16:creationId xmlns:a16="http://schemas.microsoft.com/office/drawing/2014/main" id="{DA2393DB-A1C4-4596-A4CC-AE0208012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1712" y="1398588"/>
              <a:ext cx="84029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B</a:t>
              </a:r>
            </a:p>
          </p:txBody>
        </p: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7EC95078-6FBE-4D1B-A441-D43271B04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7165" y="1404938"/>
              <a:ext cx="8451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A</a:t>
              </a:r>
            </a:p>
          </p:txBody>
        </p:sp>
        <p:sp>
          <p:nvSpPr>
            <p:cNvPr id="15" name="Rectangle 20">
              <a:extLst>
                <a:ext uri="{FF2B5EF4-FFF2-40B4-BE49-F238E27FC236}">
                  <a16:creationId xmlns:a16="http://schemas.microsoft.com/office/drawing/2014/main" id="{A5B5E361-7E82-42B8-B468-19F53CC74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6463" y="4051300"/>
              <a:ext cx="823912" cy="246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06382389-B03D-43BC-9643-F9EC4CC412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945" y="3091651"/>
              <a:ext cx="2527000" cy="3518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36000"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Seq=42, ACK=79, data = </a:t>
              </a:r>
              <a:r>
                <a:rPr lang="ja-JP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‘</a:t>
              </a:r>
              <a:r>
                <a:rPr lang="en-US" altLang="ja-JP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C</a:t>
              </a:r>
              <a:r>
                <a:rPr lang="ja-JP" altLang="en-US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’</a:t>
              </a:r>
              <a:endPara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489592DF-C565-413B-A8CF-40551101C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559" y="2759075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875EB4F4-22C3-48E4-A4B4-0E4855C18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2659" y="2759075"/>
              <a:ext cx="0" cy="25876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3E7688A-13BF-45A1-9345-E76F43FE143A}"/>
                </a:ext>
              </a:extLst>
            </p:cNvPr>
            <p:cNvGrpSpPr/>
            <p:nvPr/>
          </p:nvGrpSpPr>
          <p:grpSpPr>
            <a:xfrm>
              <a:off x="1810569" y="1774973"/>
              <a:ext cx="878294" cy="888376"/>
              <a:chOff x="7003085" y="1565423"/>
              <a:chExt cx="878294" cy="888376"/>
            </a:xfrm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46C2AFBD-C082-4B88-BCB5-26D988457A2C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0D175D34-CE9E-4C50-8D03-F55BA984A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B775CA96-9C4A-4274-A2F8-8818469D0CA8}"/>
                </a:ext>
              </a:extLst>
            </p:cNvPr>
            <p:cNvGrpSpPr/>
            <p:nvPr/>
          </p:nvGrpSpPr>
          <p:grpSpPr>
            <a:xfrm>
              <a:off x="5122712" y="1774973"/>
              <a:ext cx="878294" cy="888376"/>
              <a:chOff x="7003085" y="1565423"/>
              <a:chExt cx="878294" cy="888376"/>
            </a:xfrm>
          </p:grpSpPr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B00882E9-90FA-4CD7-8C2A-E9B9984A01B5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777734D1-A643-4221-917E-30C90712F4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sp>
          <p:nvSpPr>
            <p:cNvPr id="37" name="Line 4">
              <a:extLst>
                <a:ext uri="{FF2B5EF4-FFF2-40B4-BE49-F238E27FC236}">
                  <a16:creationId xmlns:a16="http://schemas.microsoft.com/office/drawing/2014/main" id="{D7D84FF6-6641-421B-9D1D-A5D3438FC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1875" y="3651250"/>
              <a:ext cx="3282950" cy="72390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6" name="Text Box 19">
              <a:extLst>
                <a:ext uri="{FF2B5EF4-FFF2-40B4-BE49-F238E27FC236}">
                  <a16:creationId xmlns:a16="http://schemas.microsoft.com/office/drawing/2014/main" id="{4CDCB830-E0BC-4647-BDC9-712549788E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945" y="3955251"/>
              <a:ext cx="2527000" cy="3518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36000"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Seq=79, ACK=43, data = ‘C’</a:t>
              </a:r>
            </a:p>
          </p:txBody>
        </p:sp>
        <p:sp>
          <p:nvSpPr>
            <p:cNvPr id="38" name="Text Box 19">
              <a:extLst>
                <a:ext uri="{FF2B5EF4-FFF2-40B4-BE49-F238E27FC236}">
                  <a16:creationId xmlns:a16="http://schemas.microsoft.com/office/drawing/2014/main" id="{39ECF3ED-E6C6-4B6E-BC41-C3999ADD5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945" y="4812501"/>
              <a:ext cx="2527000" cy="35185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36000"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Seq=43, ACK=80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51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 </a:t>
            </a:r>
            <a:r>
              <a:rPr lang="ko-KR" altLang="en-US"/>
              <a:t>왕복시간</a:t>
            </a:r>
            <a:r>
              <a:rPr lang="en-US" altLang="ko-KR" dirty="0"/>
              <a:t>(round trip </a:t>
            </a:r>
            <a:r>
              <a:rPr lang="en-US" altLang="ko-KR"/>
              <a:t>time)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timeout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09030659-F610-43C6-B894-41EFAA402A9E}"/>
              </a:ext>
            </a:extLst>
          </p:cNvPr>
          <p:cNvSpPr/>
          <p:nvPr/>
        </p:nvSpPr>
        <p:spPr>
          <a:xfrm>
            <a:off x="844235" y="1124076"/>
            <a:ext cx="4436425" cy="441525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1F8656B-6397-45BB-A3B5-D6D331127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871" y="1139984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TCP timeout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값을 어떻게 설정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301C59C-2153-4518-B395-D114D633CF07}"/>
              </a:ext>
            </a:extLst>
          </p:cNvPr>
          <p:cNvGrpSpPr/>
          <p:nvPr/>
        </p:nvGrpSpPr>
        <p:grpSpPr>
          <a:xfrm>
            <a:off x="595909" y="1063268"/>
            <a:ext cx="507687" cy="593792"/>
            <a:chOff x="595909" y="5784951"/>
            <a:chExt cx="507687" cy="593792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DED7B90-CA67-4763-81E6-141167E5B6A6}"/>
                </a:ext>
              </a:extLst>
            </p:cNvPr>
            <p:cNvSpPr/>
            <p:nvPr/>
          </p:nvSpPr>
          <p:spPr>
            <a:xfrm>
              <a:off x="693394" y="6294322"/>
              <a:ext cx="314384" cy="84421"/>
            </a:xfrm>
            <a:prstGeom prst="ellipse">
              <a:avLst/>
            </a:prstGeom>
            <a:solidFill>
              <a:srgbClr val="DCF5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F3F96F6A-4A5A-4116-B53E-D27C11BD9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572859" y="5816110"/>
              <a:ext cx="558670" cy="502804"/>
            </a:xfrm>
            <a:prstGeom prst="rect">
              <a:avLst/>
            </a:prstGeom>
          </p:spPr>
        </p:pic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F0B01646-D7E8-4AA6-9E46-A57BD50B9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909" y="5784951"/>
              <a:ext cx="498162" cy="507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en-US" altLang="ko-KR" sz="22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Q</a:t>
              </a:r>
              <a:endParaRPr lang="en-US" altLang="ko-KR" sz="22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AFB8FDB-A24C-4BBE-A453-3BD089C8DA4E}"/>
              </a:ext>
            </a:extLst>
          </p:cNvPr>
          <p:cNvGrpSpPr/>
          <p:nvPr/>
        </p:nvGrpSpPr>
        <p:grpSpPr>
          <a:xfrm>
            <a:off x="673655" y="1776285"/>
            <a:ext cx="7582933" cy="714019"/>
            <a:chOff x="673655" y="1933541"/>
            <a:chExt cx="7582933" cy="714019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2BEBC434-D13B-4D19-B13A-9B1E5BE43D5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933541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4"/>
                </a:buBlip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RTT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보다 길게</a:t>
              </a:r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1668227F-0A73-44FA-BDAA-E1B1F1B5544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314520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그러나 </a:t>
              </a: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RTT</a:t>
              </a: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는 가변적</a:t>
              </a:r>
            </a:p>
          </p:txBody>
        </p:sp>
      </p:grpSp>
      <p:sp>
        <p:nvSpPr>
          <p:cNvPr id="21" name="사각형: 잘린 한쪽 모서리 20">
            <a:extLst>
              <a:ext uri="{FF2B5EF4-FFF2-40B4-BE49-F238E27FC236}">
                <a16:creationId xmlns:a16="http://schemas.microsoft.com/office/drawing/2014/main" id="{3873759F-3D35-4469-A8E4-3D7EB0301BB8}"/>
              </a:ext>
            </a:extLst>
          </p:cNvPr>
          <p:cNvSpPr/>
          <p:nvPr/>
        </p:nvSpPr>
        <p:spPr>
          <a:xfrm>
            <a:off x="844235" y="3890745"/>
            <a:ext cx="4436425" cy="441525"/>
          </a:xfrm>
          <a:prstGeom prst="snip1Rect">
            <a:avLst>
              <a:gd name="adj" fmla="val 2498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C0BF3DD-2340-4081-B4BB-46EEAC970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871" y="3906653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RTT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추정 방법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99610BE-7090-4E52-AE4B-610AE895BA84}"/>
              </a:ext>
            </a:extLst>
          </p:cNvPr>
          <p:cNvSpPr/>
          <p:nvPr/>
        </p:nvSpPr>
        <p:spPr>
          <a:xfrm>
            <a:off x="693394" y="4339308"/>
            <a:ext cx="314384" cy="84421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그래픽 24">
            <a:extLst>
              <a:ext uri="{FF2B5EF4-FFF2-40B4-BE49-F238E27FC236}">
                <a16:creationId xmlns:a16="http://schemas.microsoft.com/office/drawing/2014/main" id="{09065E9B-DD2A-4F84-8E5E-6882D2F80903}"/>
              </a:ext>
            </a:extLst>
          </p:cNvPr>
          <p:cNvSpPr/>
          <p:nvPr/>
        </p:nvSpPr>
        <p:spPr>
          <a:xfrm rot="5400000">
            <a:off x="572801" y="386109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D1A83C57-7914-499B-9EF6-646CB4C13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909" y="3829937"/>
            <a:ext cx="498162" cy="507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2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2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FF3C245-3D3A-4696-A30A-E22BAD6A6656}"/>
              </a:ext>
            </a:extLst>
          </p:cNvPr>
          <p:cNvGrpSpPr/>
          <p:nvPr/>
        </p:nvGrpSpPr>
        <p:grpSpPr>
          <a:xfrm>
            <a:off x="673655" y="4550574"/>
            <a:ext cx="7582933" cy="1595047"/>
            <a:chOff x="673655" y="1933541"/>
            <a:chExt cx="7582933" cy="1595047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C3C569BC-87FB-4FCA-9FDA-E8B50ECFD1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3655" y="1933541"/>
              <a:ext cx="7582933" cy="520721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16000" lvl="2" indent="-216000" latinLnBrk="0">
                <a:lnSpc>
                  <a:spcPct val="130000"/>
                </a:lnSpc>
                <a:spcBef>
                  <a:spcPts val="1200"/>
                </a:spcBef>
                <a:buBlip>
                  <a:blip r:embed="rId4"/>
                </a:buBlip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SampleRTT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: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세그먼트 전송부터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ACK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rPr>
                <a:t>수신 때까지의 측정된 시간</a:t>
              </a:r>
            </a:p>
          </p:txBody>
        </p:sp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764B8AFC-81FF-4BBC-90A7-BA85567B46B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2314520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재전송은 무시</a:t>
              </a:r>
            </a:p>
          </p:txBody>
        </p:sp>
        <p:sp>
          <p:nvSpPr>
            <p:cNvPr id="31" name="Rectangle 3">
              <a:extLst>
                <a:ext uri="{FF2B5EF4-FFF2-40B4-BE49-F238E27FC236}">
                  <a16:creationId xmlns:a16="http://schemas.microsoft.com/office/drawing/2014/main" id="{AB2B09A8-E1C3-4C9A-BAE6-9C21315D5E5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79248" y="3195548"/>
              <a:ext cx="6774102" cy="333040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현재 </a:t>
              </a:r>
              <a:r>
                <a:rPr lang="en-US" altLang="ko-KR" sz="1400" dirty="0" err="1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SampleRTT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뿐만 아니라</a:t>
              </a:r>
              <a:r>
                <a:rPr lang="en-US" altLang="ko-KR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4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최근의 측정값들을 평균함</a:t>
              </a:r>
            </a:p>
          </p:txBody>
        </p:sp>
      </p:grpSp>
      <p:sp>
        <p:nvSpPr>
          <p:cNvPr id="30" name="Rectangle 3">
            <a:extLst>
              <a:ext uri="{FF2B5EF4-FFF2-40B4-BE49-F238E27FC236}">
                <a16:creationId xmlns:a16="http://schemas.microsoft.com/office/drawing/2014/main" id="{27111F05-BBA8-4FBA-9BA0-58AF5922784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5384425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4"/>
              </a:buBlip>
            </a:pP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SampleRTT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변하므로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RTT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“좀 더 유연하게” 추정하고 싶음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FF7EDF0-9407-4EC8-8558-AE0BF135433A}"/>
              </a:ext>
            </a:extLst>
          </p:cNvPr>
          <p:cNvGrpSpPr/>
          <p:nvPr/>
        </p:nvGrpSpPr>
        <p:grpSpPr>
          <a:xfrm>
            <a:off x="1112519" y="2598811"/>
            <a:ext cx="5905501" cy="952955"/>
            <a:chOff x="1112519" y="2636911"/>
            <a:chExt cx="6033347" cy="952955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7A11659-AEBE-4662-ABB2-8B7A974CD34D}"/>
                </a:ext>
              </a:extLst>
            </p:cNvPr>
            <p:cNvSpPr/>
            <p:nvPr/>
          </p:nvSpPr>
          <p:spPr>
            <a:xfrm>
              <a:off x="1112519" y="2636911"/>
              <a:ext cx="2981079" cy="9529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1E12DE2-CF41-486E-AE02-D0CD02A6B5B2}"/>
                </a:ext>
              </a:extLst>
            </p:cNvPr>
            <p:cNvSpPr/>
            <p:nvPr/>
          </p:nvSpPr>
          <p:spPr>
            <a:xfrm>
              <a:off x="4164787" y="2636911"/>
              <a:ext cx="2981079" cy="95295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F4B318F-2A4A-4818-AA22-1F8C89A6AF46}"/>
                </a:ext>
              </a:extLst>
            </p:cNvPr>
            <p:cNvSpPr txBox="1"/>
            <p:nvPr/>
          </p:nvSpPr>
          <p:spPr>
            <a:xfrm>
              <a:off x="1325438" y="2760375"/>
              <a:ext cx="2555240" cy="7060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 latinLnBrk="0">
                <a:lnSpc>
                  <a:spcPct val="130000"/>
                </a:lnSpc>
                <a:spcBef>
                  <a:spcPts val="1200"/>
                </a:spcBef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너무 짧으면 </a:t>
              </a:r>
              <a:b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</a:b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불필요한 재전송이 발생함</a:t>
              </a:r>
              <a:endPara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F0A3E8-308A-4F3B-892E-FE5950637DBD}"/>
                </a:ext>
              </a:extLst>
            </p:cNvPr>
            <p:cNvSpPr txBox="1"/>
            <p:nvPr/>
          </p:nvSpPr>
          <p:spPr>
            <a:xfrm>
              <a:off x="4377706" y="2760375"/>
              <a:ext cx="2555240" cy="7060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lvl="2" algn="ctr" latinLnBrk="0">
                <a:lnSpc>
                  <a:spcPct val="130000"/>
                </a:lnSpc>
                <a:spcBef>
                  <a:spcPts val="1200"/>
                </a:spcBef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너무 길면 </a:t>
              </a:r>
              <a:b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</a:br>
              <a:r>
                <a:rPr lang="ko-KR" altLang="en-US" sz="16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손실에 늦게 반응</a:t>
              </a:r>
              <a:endPara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1467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직사각형 845">
            <a:extLst>
              <a:ext uri="{FF2B5EF4-FFF2-40B4-BE49-F238E27FC236}">
                <a16:creationId xmlns:a16="http://schemas.microsoft.com/office/drawing/2014/main" id="{59EDA1A9-540F-4484-AB94-D871D96FA6F3}"/>
              </a:ext>
            </a:extLst>
          </p:cNvPr>
          <p:cNvSpPr/>
          <p:nvPr/>
        </p:nvSpPr>
        <p:spPr>
          <a:xfrm>
            <a:off x="1325382" y="3299460"/>
            <a:ext cx="5076505" cy="280416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round </a:t>
            </a:r>
            <a:r>
              <a:rPr lang="en-US" altLang="ko-KR"/>
              <a:t>trip time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timeout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8</a:t>
            </a:fld>
            <a:endParaRPr lang="en-US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E1B1E46-D4AA-49A4-9D35-E19B24BFB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116901"/>
            <a:ext cx="7456487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EstimatedRTT = (1- α)*EstimatedRTT + α*SampleRTT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153D0FD-CD9B-4C80-A141-D91D6B1F492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62118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지수적 가중 이동 평균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(exponential weighted moving average)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과거 샘플의 영향은 지수 함수적으로 감소함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전형적인 권장 값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: </a:t>
            </a:r>
            <a:r>
              <a:rPr lang="el-GR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α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 = 0.125</a:t>
            </a:r>
          </a:p>
        </p:txBody>
      </p:sp>
      <p:pic>
        <p:nvPicPr>
          <p:cNvPr id="845" name="그림 844">
            <a:extLst>
              <a:ext uri="{FF2B5EF4-FFF2-40B4-BE49-F238E27FC236}">
                <a16:creationId xmlns:a16="http://schemas.microsoft.com/office/drawing/2014/main" id="{891646FA-B53D-409F-9A27-4D9F53DED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3204824"/>
            <a:ext cx="5366251" cy="3122891"/>
          </a:xfrm>
          <a:prstGeom prst="rect">
            <a:avLst/>
          </a:prstGeom>
        </p:spPr>
      </p:pic>
      <p:sp>
        <p:nvSpPr>
          <p:cNvPr id="847" name="Text Box 19">
            <a:extLst>
              <a:ext uri="{FF2B5EF4-FFF2-40B4-BE49-F238E27FC236}">
                <a16:creationId xmlns:a16="http://schemas.microsoft.com/office/drawing/2014/main" id="{2A10B861-01D2-441E-8C23-7BCC2B8CD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241" y="2978150"/>
            <a:ext cx="369473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RTT : gaia.cs.umass.edu to fantasia.eurecom.fr</a:t>
            </a: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A9204896-C2B2-4C20-98F1-8EC6E9CCAA80}"/>
              </a:ext>
            </a:extLst>
          </p:cNvPr>
          <p:cNvSpPr txBox="1"/>
          <p:nvPr/>
        </p:nvSpPr>
        <p:spPr>
          <a:xfrm rot="16200000">
            <a:off x="178252" y="5336024"/>
            <a:ext cx="15297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RTT (milliseconds)</a:t>
            </a:r>
          </a:p>
        </p:txBody>
      </p:sp>
      <p:sp>
        <p:nvSpPr>
          <p:cNvPr id="850" name="Text Box 17">
            <a:extLst>
              <a:ext uri="{FF2B5EF4-FFF2-40B4-BE49-F238E27FC236}">
                <a16:creationId xmlns:a16="http://schemas.microsoft.com/office/drawing/2014/main" id="{1226CF5D-8644-4C81-81ED-2F6772222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68" y="6279763"/>
            <a:ext cx="15128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시간 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(</a:t>
            </a:r>
            <a:r>
              <a:rPr lang="ko-KR" altLang="en-US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초</a:t>
            </a: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)</a:t>
            </a:r>
          </a:p>
        </p:txBody>
      </p:sp>
      <p:grpSp>
        <p:nvGrpSpPr>
          <p:cNvPr id="857" name="그룹 856">
            <a:extLst>
              <a:ext uri="{FF2B5EF4-FFF2-40B4-BE49-F238E27FC236}">
                <a16:creationId xmlns:a16="http://schemas.microsoft.com/office/drawing/2014/main" id="{51C608C5-968D-426A-8423-C777B2F53308}"/>
              </a:ext>
            </a:extLst>
          </p:cNvPr>
          <p:cNvGrpSpPr/>
          <p:nvPr/>
        </p:nvGrpSpPr>
        <p:grpSpPr>
          <a:xfrm>
            <a:off x="6619571" y="5513704"/>
            <a:ext cx="1366415" cy="568559"/>
            <a:chOff x="6957650" y="5513704"/>
            <a:chExt cx="1366415" cy="568559"/>
          </a:xfrm>
        </p:grpSpPr>
        <p:sp>
          <p:nvSpPr>
            <p:cNvPr id="851" name="Text Box 20">
              <a:extLst>
                <a:ext uri="{FF2B5EF4-FFF2-40B4-BE49-F238E27FC236}">
                  <a16:creationId xmlns:a16="http://schemas.microsoft.com/office/drawing/2014/main" id="{A5DE9EE7-A8FF-42BE-94FA-463CB578C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227" y="5513704"/>
              <a:ext cx="102624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sampleRTT</a:t>
              </a:r>
            </a:p>
          </p:txBody>
        </p:sp>
        <p:sp>
          <p:nvSpPr>
            <p:cNvPr id="852" name="Text Box 21">
              <a:extLst>
                <a:ext uri="{FF2B5EF4-FFF2-40B4-BE49-F238E27FC236}">
                  <a16:creationId xmlns:a16="http://schemas.microsoft.com/office/drawing/2014/main" id="{8350B119-5A39-4583-8153-849A9CCC71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227" y="5805264"/>
              <a:ext cx="123783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EstimatedRTT</a:t>
              </a:r>
            </a:p>
          </p:txBody>
        </p:sp>
        <p:sp>
          <p:nvSpPr>
            <p:cNvPr id="853" name="AutoShape 22">
              <a:extLst>
                <a:ext uri="{FF2B5EF4-FFF2-40B4-BE49-F238E27FC236}">
                  <a16:creationId xmlns:a16="http://schemas.microsoft.com/office/drawing/2014/main" id="{564959E3-19D6-4CB8-A997-AC52FCE70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7650" y="5602604"/>
              <a:ext cx="147637" cy="142875"/>
            </a:xfrm>
            <a:prstGeom prst="diamond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854" name="AutoShape 23">
              <a:extLst>
                <a:ext uri="{FF2B5EF4-FFF2-40B4-BE49-F238E27FC236}">
                  <a16:creationId xmlns:a16="http://schemas.microsoft.com/office/drawing/2014/main" id="{7BB1DD4C-F8B5-43A6-BFBC-021F6FFC1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2691" y="5877272"/>
              <a:ext cx="108668" cy="105162"/>
            </a:xfrm>
            <a:prstGeom prst="rect">
              <a:avLst/>
            </a:prstGeom>
            <a:solidFill>
              <a:srgbClr val="FF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856" name="직사각형 855">
            <a:extLst>
              <a:ext uri="{FF2B5EF4-FFF2-40B4-BE49-F238E27FC236}">
                <a16:creationId xmlns:a16="http://schemas.microsoft.com/office/drawing/2014/main" id="{997B18C0-74CF-42B5-8199-0B09B4E2D0F3}"/>
              </a:ext>
            </a:extLst>
          </p:cNvPr>
          <p:cNvSpPr/>
          <p:nvPr/>
        </p:nvSpPr>
        <p:spPr>
          <a:xfrm>
            <a:off x="6534904" y="5445223"/>
            <a:ext cx="1535748" cy="683161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7296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9C2101D4-961C-4A14-A9A0-0EC9E2BC5BCC}"/>
              </a:ext>
            </a:extLst>
          </p:cNvPr>
          <p:cNvSpPr/>
          <p:nvPr/>
        </p:nvSpPr>
        <p:spPr>
          <a:xfrm>
            <a:off x="982663" y="3794760"/>
            <a:ext cx="2309177" cy="1691640"/>
          </a:xfrm>
          <a:prstGeom prst="snip1Rect">
            <a:avLst>
              <a:gd name="adj" fmla="val 9621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5E75481-ACD8-4CF7-A816-F7ED159A0217}"/>
              </a:ext>
            </a:extLst>
          </p:cNvPr>
          <p:cNvSpPr/>
          <p:nvPr/>
        </p:nvSpPr>
        <p:spPr>
          <a:xfrm>
            <a:off x="1661001" y="4365104"/>
            <a:ext cx="952500" cy="9525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TCP round </a:t>
            </a:r>
            <a:r>
              <a:rPr lang="en-US" altLang="ko-KR"/>
              <a:t>trip time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,</a:t>
            </a:r>
            <a:r>
              <a:rPr lang="en-US" altLang="ko-KR"/>
              <a:t> </a:t>
            </a:r>
            <a:r>
              <a:rPr lang="en-US" altLang="ko-KR" dirty="0">
                <a:solidFill>
                  <a:schemeClr val="bg1"/>
                </a:solidFill>
              </a:rPr>
              <a:t>timeout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C88361-D905-4D5D-B063-293CA46F342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6013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timeout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간격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EstimatedRTT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+ “</a:t>
            </a:r>
            <a:r>
              <a:rPr lang="ko-KR" altLang="en-US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여유 값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(safety margin)”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latin typeface="+mn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C093E13-0206-42CE-86DF-C58A3102E56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4784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EstimatedRTT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변동이 크면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Arial" panose="020B0604020202020204" pitchFamily="34" charset="0"/>
                <a:ea typeface="넥슨Lv1고딕" panose="00000500000000000000" pitchFamily="2" charset="-127"/>
                <a:cs typeface="Arial" panose="020B0604020202020204" pitchFamily="34" charset="0"/>
              </a:rPr>
              <a:t>→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여유 값도 크게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C4E9FA-936C-42B1-B4B0-6505D5FDFF1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06597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SampleRTT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의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EstimatedRTT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에 대한 편차를 추정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726CFC12-3D78-47B4-8B2F-DB2728EC9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988" y="2564904"/>
            <a:ext cx="6975475" cy="589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DevRTT = (1-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  <a:sym typeface="Symbol" panose="05050102010706020507" pitchFamily="18" charset="2"/>
              </a:rPr>
              <a:t>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)*DevRTT +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                 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  <a:sym typeface="Symbol" panose="05050102010706020507" pitchFamily="18" charset="2"/>
              </a:rPr>
              <a:t>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*|SampleRTT-EstimatedRTT|</a:t>
            </a: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D12E8E45-BF93-4BCA-9089-6A604282C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3473" y="3178949"/>
            <a:ext cx="33861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전형적으로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  <a:sym typeface="Symbol" panose="05050102010706020507" pitchFamily="18" charset="2"/>
              </a:rPr>
              <a:t> = 0.25)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91B0460-F866-4A6D-A490-7FA969EE9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392" y="3963421"/>
            <a:ext cx="361950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= EstimatedRTT + 4*DevRTT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71B020E-9D40-4B09-849A-1501D5890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91" y="4494869"/>
            <a:ext cx="688920" cy="692971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4913021-F2F9-403D-AD75-94E21ED6817C}"/>
              </a:ext>
            </a:extLst>
          </p:cNvPr>
          <p:cNvCxnSpPr>
            <a:cxnSpLocks/>
          </p:cNvCxnSpPr>
          <p:nvPr/>
        </p:nvCxnSpPr>
        <p:spPr>
          <a:xfrm>
            <a:off x="4248814" y="4400262"/>
            <a:ext cx="0" cy="654338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23237783-2ECE-4C88-B362-AEE7B2CB97BC}"/>
              </a:ext>
            </a:extLst>
          </p:cNvPr>
          <p:cNvSpPr/>
          <p:nvPr/>
        </p:nvSpPr>
        <p:spPr>
          <a:xfrm>
            <a:off x="4207321" y="4310845"/>
            <a:ext cx="82986" cy="82986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5408A50-BB18-41C0-9802-831981A17720}"/>
              </a:ext>
            </a:extLst>
          </p:cNvPr>
          <p:cNvCxnSpPr>
            <a:cxnSpLocks/>
          </p:cNvCxnSpPr>
          <p:nvPr/>
        </p:nvCxnSpPr>
        <p:spPr>
          <a:xfrm>
            <a:off x="5868064" y="4400262"/>
            <a:ext cx="0" cy="654338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</p:spPr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1CD156E5-F75D-4E50-B9C6-D5E55C556448}"/>
              </a:ext>
            </a:extLst>
          </p:cNvPr>
          <p:cNvSpPr/>
          <p:nvPr/>
        </p:nvSpPr>
        <p:spPr>
          <a:xfrm>
            <a:off x="5826571" y="4310845"/>
            <a:ext cx="82986" cy="82986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9467DA-3331-4A14-8488-9383A9D7F579}"/>
              </a:ext>
            </a:extLst>
          </p:cNvPr>
          <p:cNvSpPr txBox="1"/>
          <p:nvPr/>
        </p:nvSpPr>
        <p:spPr>
          <a:xfrm>
            <a:off x="3508375" y="5114409"/>
            <a:ext cx="14890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추정된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RTT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4B2309-84AA-4E51-B4DE-4DABF2C9B631}"/>
              </a:ext>
            </a:extLst>
          </p:cNvPr>
          <p:cNvSpPr txBox="1"/>
          <p:nvPr/>
        </p:nvSpPr>
        <p:spPr>
          <a:xfrm>
            <a:off x="5119638" y="5114409"/>
            <a:ext cx="14890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“여유 값”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CE516E-FCB3-4D2F-8CAD-9FBA0CDB24DA}"/>
              </a:ext>
            </a:extLst>
          </p:cNvPr>
          <p:cNvSpPr txBox="1"/>
          <p:nvPr/>
        </p:nvSpPr>
        <p:spPr>
          <a:xfrm>
            <a:off x="673655" y="5910793"/>
            <a:ext cx="6115050" cy="484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ko-KR" sz="105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more examples: </a:t>
            </a:r>
            <a:br>
              <a:rPr lang="en-US" altLang="ko-KR" sz="105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05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http://gaia.cs.umass.edu/kurose_ross/interactive/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7BDD52-19F9-433B-BC71-2DA37E651454}"/>
              </a:ext>
            </a:extLst>
          </p:cNvPr>
          <p:cNvSpPr txBox="1"/>
          <p:nvPr/>
        </p:nvSpPr>
        <p:spPr>
          <a:xfrm>
            <a:off x="1051361" y="3987284"/>
            <a:ext cx="21717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000000"/>
              </a:buClr>
              <a:buFont typeface="Arial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TimeoutInterval</a:t>
            </a: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471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9027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TCP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bg1"/>
                </a:solidFill>
              </a:rPr>
              <a:t>신뢰적인 데이터 전달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D3736A0-0705-4C50-A870-4F9F64E9ED12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2871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는 비신뢰적인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IP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서비스상에서 신뢰적 데이터 전달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(rdt)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서비스를 제공함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AC73DF-FB25-430C-A0A2-7C8FFF39448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568604"/>
            <a:ext cx="6774102" cy="105817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파이프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라이닝</a:t>
            </a:r>
            <a:endParaRPr lang="ko-KR" altLang="en-US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누적 확인 응답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(cumulative ACKs)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단일 재전송 타이머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12F0370-672C-43C8-B538-1C48B2A93F9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865509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재전송하는 경우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7F48E12-6983-4B1B-99C4-0DC7333CF5B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328260"/>
            <a:ext cx="677410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발생 시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 시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BF6DD45-E77B-46C3-B700-593FC4010B4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4266828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우선 단순화된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송신자를 고려해 보자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626BDDAD-3BA0-46B0-99C2-ADED1BC5E62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729579"/>
            <a:ext cx="6774102" cy="7042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중복된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무시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 무시</a:t>
            </a:r>
          </a:p>
        </p:txBody>
      </p:sp>
    </p:spTree>
    <p:extLst>
      <p:ext uri="{BB962C8B-B14F-4D97-AF65-F5344CB8AC3E}">
        <p14:creationId xmlns:p14="http://schemas.microsoft.com/office/powerpoint/2010/main" val="4245722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cs typeface="+mj-cs"/>
              </a:rPr>
              <a:t>TCP </a:t>
            </a:r>
            <a:r>
              <a:rPr lang="ko-KR" altLang="en-US" dirty="0">
                <a:cs typeface="+mj-cs"/>
              </a:rPr>
              <a:t>송신 측</a:t>
            </a:r>
            <a:r>
              <a:rPr lang="ko-KR" altLang="en-US" dirty="0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dirty="0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이벤트들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4A81-F16E-4245-B810-D4E0F861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045116"/>
            <a:ext cx="7456487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위로부터 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data 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</a:t>
            </a:r>
            <a:endParaRPr lang="en-US" altLang="ko-KR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BD174AE-D8E3-4A03-A42F-4BBE6FA319F0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48478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segment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생성하고 순서 번호 부여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순서 번호는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segment 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내 첫 데이터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byte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의 바이트열 번호이다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.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timer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가 동작 중이 아니었으면 시작한다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.</a:t>
            </a:r>
            <a:r>
              <a:rPr lang="ko-KR" altLang="en-US" sz="15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6BCFE8-4865-49CC-AF00-4B6C18F88E6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608332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timer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확인되지 않은 가장 오래된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위한 것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만료 주기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TimeOutInterval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73E14BAB-3BBA-4C14-9043-E7AFFF04C096}"/>
              </a:ext>
            </a:extLst>
          </p:cNvPr>
          <p:cNvSpPr/>
          <p:nvPr/>
        </p:nvSpPr>
        <p:spPr>
          <a:xfrm>
            <a:off x="715645" y="3462908"/>
            <a:ext cx="1402715" cy="401386"/>
          </a:xfrm>
          <a:prstGeom prst="snip1Rect">
            <a:avLst>
              <a:gd name="adj" fmla="val 24985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60762038-F9BC-488F-93FC-057384FE8997}"/>
              </a:ext>
            </a:extLst>
          </p:cNvPr>
          <p:cNvSpPr/>
          <p:nvPr/>
        </p:nvSpPr>
        <p:spPr>
          <a:xfrm>
            <a:off x="716281" y="4797152"/>
            <a:ext cx="1395778" cy="401386"/>
          </a:xfrm>
          <a:prstGeom prst="snip1Rect">
            <a:avLst>
              <a:gd name="adj" fmla="val 24985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D3E686D-EB87-4F91-9AB6-553D9FB76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3454473"/>
            <a:ext cx="1573848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timeout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753B862-4374-40F5-9FB5-7BADA780B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4795728"/>
            <a:ext cx="1573848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ACK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43AD552-4817-4DEA-B804-BDFCA83628D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94410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유발한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재전송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timer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재시작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A420BD6-DED2-4FC7-995A-91DD80BFC736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246667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이전의 확인 안 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확인 시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C1E988F5-F635-4551-BB65-6B794C74ABCF}"/>
              </a:ext>
            </a:extLst>
          </p:cNvPr>
          <p:cNvSpPr txBox="1">
            <a:spLocks noChangeArrowheads="1"/>
          </p:cNvSpPr>
          <p:nvPr/>
        </p:nvSpPr>
        <p:spPr>
          <a:xfrm>
            <a:off x="1199456" y="5612100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확인 상태 갱신</a:t>
            </a:r>
          </a:p>
          <a:p>
            <a:pPr marL="180000" lvl="3" indent="-180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Font typeface="G마켓 산스 TTF Medium" panose="02000000000000000000" pitchFamily="2" charset="-127"/>
              <a:buChar char="‐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아직 확인 안된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있으면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timer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402694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Box 214">
            <a:extLst>
              <a:ext uri="{FF2B5EF4-FFF2-40B4-BE49-F238E27FC236}">
                <a16:creationId xmlns:a16="http://schemas.microsoft.com/office/drawing/2014/main" id="{DB4C7364-B1CF-4E4D-A62E-8B3435EF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7768" y="2266950"/>
            <a:ext cx="1199367" cy="27699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SendBase=92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재전송 시나리오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106" name="Text Box 172">
            <a:extLst>
              <a:ext uri="{FF2B5EF4-FFF2-40B4-BE49-F238E27FC236}">
                <a16:creationId xmlns:a16="http://schemas.microsoft.com/office/drawing/2014/main" id="{EBA30B7F-D90F-4988-9FCA-FB1526902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7393" y="5953125"/>
            <a:ext cx="1523174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None/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조기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timeout</a:t>
            </a:r>
          </a:p>
        </p:txBody>
      </p:sp>
      <p:sp>
        <p:nvSpPr>
          <p:cNvPr id="107" name="Line 173">
            <a:extLst>
              <a:ext uri="{FF2B5EF4-FFF2-40B4-BE49-F238E27FC236}">
                <a16:creationId xmlns:a16="http://schemas.microsoft.com/office/drawing/2014/main" id="{8C3D682C-1032-43C5-9DC7-C38B79DF5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609" y="4088296"/>
            <a:ext cx="2697811" cy="704684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8" name="Line 174">
            <a:extLst>
              <a:ext uri="{FF2B5EF4-FFF2-40B4-BE49-F238E27FC236}">
                <a16:creationId xmlns:a16="http://schemas.microsoft.com/office/drawing/2014/main" id="{97857934-7FF0-4F62-9FCA-729C125AA1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1477" y="2372138"/>
            <a:ext cx="2763079" cy="66923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9" name="Line 175">
            <a:extLst>
              <a:ext uri="{FF2B5EF4-FFF2-40B4-BE49-F238E27FC236}">
                <a16:creationId xmlns:a16="http://schemas.microsoft.com/office/drawing/2014/main" id="{B9BD7D8A-9CA4-4891-9437-10B0488D25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3987" y="3090862"/>
            <a:ext cx="2709862" cy="154305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0" name="Rectangle 182">
            <a:extLst>
              <a:ext uri="{FF2B5EF4-FFF2-40B4-BE49-F238E27FC236}">
                <a16:creationId xmlns:a16="http://schemas.microsoft.com/office/drawing/2014/main" id="{298EAD8A-AD0F-46F6-A6D7-A332F03BA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5920" y="2503488"/>
            <a:ext cx="824980" cy="401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11" name="Text Box 183">
            <a:extLst>
              <a:ext uri="{FF2B5EF4-FFF2-40B4-BE49-F238E27FC236}">
                <a16:creationId xmlns:a16="http://schemas.microsoft.com/office/drawing/2014/main" id="{B705AF05-A51F-4B2E-88F4-BDB595B55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4764" y="2538967"/>
            <a:ext cx="2236435" cy="2769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ko-KR"/>
              <a:t>Seq=92, 8 bytes of data</a:t>
            </a:r>
          </a:p>
        </p:txBody>
      </p:sp>
      <p:sp>
        <p:nvSpPr>
          <p:cNvPr id="115" name="Line 186">
            <a:extLst>
              <a:ext uri="{FF2B5EF4-FFF2-40B4-BE49-F238E27FC236}">
                <a16:creationId xmlns:a16="http://schemas.microsoft.com/office/drawing/2014/main" id="{598C28AA-7DB9-43A2-8702-20384EB302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8258" y="218122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6" name="Line 187">
            <a:extLst>
              <a:ext uri="{FF2B5EF4-FFF2-40B4-BE49-F238E27FC236}">
                <a16:creationId xmlns:a16="http://schemas.microsoft.com/office/drawing/2014/main" id="{D1C0322D-DBB2-44C9-A1B6-1EE6C5DA3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852" y="2176463"/>
            <a:ext cx="0" cy="3538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20" name="Line 192">
            <a:extLst>
              <a:ext uri="{FF2B5EF4-FFF2-40B4-BE49-F238E27FC236}">
                <a16:creationId xmlns:a16="http://schemas.microsoft.com/office/drawing/2014/main" id="{E0F16C53-DC5D-447D-863C-839E1F3F4B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34939" y="4853940"/>
            <a:ext cx="2689859" cy="85344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0" name="Line 203">
            <a:extLst>
              <a:ext uri="{FF2B5EF4-FFF2-40B4-BE49-F238E27FC236}">
                <a16:creationId xmlns:a16="http://schemas.microsoft.com/office/drawing/2014/main" id="{FBD3BD67-08A9-49EA-B44C-3B57C22BE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357" y="2789583"/>
            <a:ext cx="2736573" cy="639417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2" name="Text Box 205">
            <a:extLst>
              <a:ext uri="{FF2B5EF4-FFF2-40B4-BE49-F238E27FC236}">
                <a16:creationId xmlns:a16="http://schemas.microsoft.com/office/drawing/2014/main" id="{871EF3B5-46BF-49B3-89B2-E7BC9A8B0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181" y="2941638"/>
            <a:ext cx="2235600" cy="27699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ko-KR"/>
              <a:t>Seq=100, 20 bytes of data</a:t>
            </a:r>
          </a:p>
        </p:txBody>
      </p:sp>
      <p:sp>
        <p:nvSpPr>
          <p:cNvPr id="133" name="Line 207">
            <a:extLst>
              <a:ext uri="{FF2B5EF4-FFF2-40B4-BE49-F238E27FC236}">
                <a16:creationId xmlns:a16="http://schemas.microsoft.com/office/drawing/2014/main" id="{AACAE78D-2E28-416B-B88A-4C5E8A400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9225" y="3471863"/>
            <a:ext cx="2700337" cy="15811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7" name="Text Box 211">
            <a:extLst>
              <a:ext uri="{FF2B5EF4-FFF2-40B4-BE49-F238E27FC236}">
                <a16:creationId xmlns:a16="http://schemas.microsoft.com/office/drawing/2014/main" id="{37FF612F-0084-40B0-BF49-D8B8FFA9D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528" y="4495800"/>
            <a:ext cx="132760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SendBase=100</a:t>
            </a:r>
          </a:p>
        </p:txBody>
      </p:sp>
      <p:sp>
        <p:nvSpPr>
          <p:cNvPr id="138" name="Text Box 212">
            <a:extLst>
              <a:ext uri="{FF2B5EF4-FFF2-40B4-BE49-F238E27FC236}">
                <a16:creationId xmlns:a16="http://schemas.microsoft.com/office/drawing/2014/main" id="{0136B2E9-BFF2-463E-B2B9-D69A1C8E8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765" y="4837113"/>
            <a:ext cx="13083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SendBase=120</a:t>
            </a:r>
          </a:p>
        </p:txBody>
      </p:sp>
      <p:sp>
        <p:nvSpPr>
          <p:cNvPr id="139" name="Text Box 213">
            <a:extLst>
              <a:ext uri="{FF2B5EF4-FFF2-40B4-BE49-F238E27FC236}">
                <a16:creationId xmlns:a16="http://schemas.microsoft.com/office/drawing/2014/main" id="{0EDE1F83-63CA-40A8-BDC8-6B6FDA78D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765" y="5572760"/>
            <a:ext cx="13083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SendBase=120</a:t>
            </a:r>
          </a:p>
        </p:txBody>
      </p: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87A730A1-5335-4B23-B7E5-1E990EB5CA59}"/>
              </a:ext>
            </a:extLst>
          </p:cNvPr>
          <p:cNvGrpSpPr/>
          <p:nvPr/>
        </p:nvGrpSpPr>
        <p:grpSpPr>
          <a:xfrm>
            <a:off x="551384" y="1104866"/>
            <a:ext cx="3146955" cy="5242213"/>
            <a:chOff x="551384" y="1104866"/>
            <a:chExt cx="3146955" cy="5242213"/>
          </a:xfrm>
        </p:grpSpPr>
        <p:sp>
          <p:nvSpPr>
            <p:cNvPr id="5" name="Text Box 17">
              <a:extLst>
                <a:ext uri="{FF2B5EF4-FFF2-40B4-BE49-F238E27FC236}">
                  <a16:creationId xmlns:a16="http://schemas.microsoft.com/office/drawing/2014/main" id="{EF5F9691-4416-43AE-8F78-1E142D8DF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3" y="1104866"/>
              <a:ext cx="84510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A</a:t>
              </a: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7FA84A9-C7EB-4CFE-B88D-B7980D60C0DE}"/>
                </a:ext>
              </a:extLst>
            </p:cNvPr>
            <p:cNvGrpSpPr/>
            <p:nvPr/>
          </p:nvGrpSpPr>
          <p:grpSpPr>
            <a:xfrm>
              <a:off x="766042" y="1453296"/>
              <a:ext cx="634916" cy="642204"/>
              <a:chOff x="7003085" y="1565423"/>
              <a:chExt cx="878294" cy="888376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E3D5E893-CEDB-46A7-B8F0-C8E280DC309E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70EEA43A-C525-4779-B07D-ECCC5E9A4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sp>
          <p:nvSpPr>
            <p:cNvPr id="83" name="Text Box 105">
              <a:extLst>
                <a:ext uri="{FF2B5EF4-FFF2-40B4-BE49-F238E27FC236}">
                  <a16:creationId xmlns:a16="http://schemas.microsoft.com/office/drawing/2014/main" id="{7455A0E3-585C-40C2-9AA2-9199390108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0335" y="5953125"/>
              <a:ext cx="2212465" cy="3939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30000"/>
                </a:lnSpc>
                <a:spcBef>
                  <a:spcPct val="0"/>
                </a:spcBef>
                <a:buClr>
                  <a:schemeClr val="accent2"/>
                </a:buClr>
                <a:buSzPct val="85000"/>
                <a:buNone/>
              </a:pP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손실된 </a:t>
              </a: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 </a:t>
              </a:r>
              <a:r>
                <a:rPr lang="ko-KR" altLang="en-US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시나리오</a:t>
              </a:r>
              <a:endPara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endParaRPr>
            </a:p>
          </p:txBody>
        </p:sp>
        <p:sp>
          <p:nvSpPr>
            <p:cNvPr id="84" name="Line 99">
              <a:extLst>
                <a:ext uri="{FF2B5EF4-FFF2-40B4-BE49-F238E27FC236}">
                  <a16:creationId xmlns:a16="http://schemas.microsoft.com/office/drawing/2014/main" id="{2A441C2A-640A-4162-B614-258452110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9163" y="4143375"/>
              <a:ext cx="2557462" cy="590549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5" name="Line 100">
              <a:extLst>
                <a:ext uri="{FF2B5EF4-FFF2-40B4-BE49-F238E27FC236}">
                  <a16:creationId xmlns:a16="http://schemas.microsoft.com/office/drawing/2014/main" id="{11079407-ED10-458A-B853-F968ED2A7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925" y="2371725"/>
              <a:ext cx="2543175" cy="62865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86" name="Line 104">
              <a:extLst>
                <a:ext uri="{FF2B5EF4-FFF2-40B4-BE49-F238E27FC236}">
                  <a16:creationId xmlns:a16="http://schemas.microsoft.com/office/drawing/2014/main" id="{79C676EC-FA38-4190-9528-E2AE31AC60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9836" y="3062289"/>
              <a:ext cx="1426788" cy="442912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1" name="Line 118">
              <a:extLst>
                <a:ext uri="{FF2B5EF4-FFF2-40B4-BE49-F238E27FC236}">
                  <a16:creationId xmlns:a16="http://schemas.microsoft.com/office/drawing/2014/main" id="{3E0CC4D8-A478-4A09-9FD3-F9121ECB2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578" y="2174875"/>
              <a:ext cx="0" cy="352583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2" name="Line 119">
              <a:extLst>
                <a:ext uri="{FF2B5EF4-FFF2-40B4-BE49-F238E27FC236}">
                  <a16:creationId xmlns:a16="http://schemas.microsoft.com/office/drawing/2014/main" id="{24A63A7D-DF4C-4CC4-932F-98522B3DF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2855" y="2170113"/>
              <a:ext cx="0" cy="353853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94" name="Text Box 123">
              <a:extLst>
                <a:ext uri="{FF2B5EF4-FFF2-40B4-BE49-F238E27FC236}">
                  <a16:creationId xmlns:a16="http://schemas.microsoft.com/office/drawing/2014/main" id="{89674A65-BC36-4B0C-A5A7-14ECE8118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2953" y="4301091"/>
              <a:ext cx="2138727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Seq=92, 8 bytes of data</a:t>
              </a:r>
            </a:p>
          </p:txBody>
        </p:sp>
        <p:sp>
          <p:nvSpPr>
            <p:cNvPr id="95" name="Text Box 124">
              <a:extLst>
                <a:ext uri="{FF2B5EF4-FFF2-40B4-BE49-F238E27FC236}">
                  <a16:creationId xmlns:a16="http://schemas.microsoft.com/office/drawing/2014/main" id="{ED6E4BBC-4F29-4ABE-B856-2AD2E2A6E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591" y="3260726"/>
              <a:ext cx="510076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b="1">
                  <a:solidFill>
                    <a:srgbClr val="F27037"/>
                  </a:solidFill>
                  <a:latin typeface="+mj-ea"/>
                  <a:ea typeface="+mj-ea"/>
                </a:rPr>
                <a:t>X</a:t>
              </a:r>
            </a:p>
          </p:txBody>
        </p:sp>
        <p:sp>
          <p:nvSpPr>
            <p:cNvPr id="96" name="Text Box 126">
              <a:extLst>
                <a:ext uri="{FF2B5EF4-FFF2-40B4-BE49-F238E27FC236}">
                  <a16:creationId xmlns:a16="http://schemas.microsoft.com/office/drawing/2014/main" id="{7F7B9B4D-A3FE-49BB-A728-ED2307730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551384" y="2972842"/>
              <a:ext cx="369332" cy="671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ea typeface="+mn-ea"/>
                  <a:cs typeface="+mj-cs"/>
                </a:rPr>
                <a:t>timeout</a:t>
              </a:r>
            </a:p>
          </p:txBody>
        </p:sp>
        <p:sp>
          <p:nvSpPr>
            <p:cNvPr id="97" name="Line 127">
              <a:extLst>
                <a:ext uri="{FF2B5EF4-FFF2-40B4-BE49-F238E27FC236}">
                  <a16:creationId xmlns:a16="http://schemas.microsoft.com/office/drawing/2014/main" id="{3CB06E44-7316-4704-9D31-115243F26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9163" y="4791075"/>
              <a:ext cx="2533650" cy="714375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100" name="Group 134">
              <a:extLst>
                <a:ext uri="{FF2B5EF4-FFF2-40B4-BE49-F238E27FC236}">
                  <a16:creationId xmlns:a16="http://schemas.microsoft.com/office/drawing/2014/main" id="{26654190-9B3B-4085-A97F-6B5C4A5CD9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2647" y="2420938"/>
              <a:ext cx="99359" cy="508000"/>
              <a:chOff x="3099" y="1749"/>
              <a:chExt cx="66" cy="320"/>
            </a:xfrm>
          </p:grpSpPr>
          <p:sp>
            <p:nvSpPr>
              <p:cNvPr id="101" name="Line 132">
                <a:extLst>
                  <a:ext uri="{FF2B5EF4-FFF2-40B4-BE49-F238E27FC236}">
                    <a16:creationId xmlns:a16="http://schemas.microsoft.com/office/drawing/2014/main" id="{1480D79C-101E-4757-9FE0-EE8E05CEA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9" y="1749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02" name="Line 133">
                <a:extLst>
                  <a:ext uri="{FF2B5EF4-FFF2-40B4-BE49-F238E27FC236}">
                    <a16:creationId xmlns:a16="http://schemas.microsoft.com/office/drawing/2014/main" id="{A8AC0F7B-5FA9-41E1-8658-11770BD7B7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1752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grpSp>
          <p:nvGrpSpPr>
            <p:cNvPr id="103" name="Group 135">
              <a:extLst>
                <a:ext uri="{FF2B5EF4-FFF2-40B4-BE49-F238E27FC236}">
                  <a16:creationId xmlns:a16="http://schemas.microsoft.com/office/drawing/2014/main" id="{9A74D704-5930-4B02-895D-39673992BDB1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722647" y="3663950"/>
              <a:ext cx="99359" cy="508000"/>
              <a:chOff x="3099" y="1749"/>
              <a:chExt cx="66" cy="320"/>
            </a:xfrm>
          </p:grpSpPr>
          <p:sp>
            <p:nvSpPr>
              <p:cNvPr id="104" name="Line 136">
                <a:extLst>
                  <a:ext uri="{FF2B5EF4-FFF2-40B4-BE49-F238E27FC236}">
                    <a16:creationId xmlns:a16="http://schemas.microsoft.com/office/drawing/2014/main" id="{47DCEE87-7E73-4AA8-BD34-751817681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6" y="1756"/>
                <a:ext cx="0" cy="3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105" name="Line 137">
                <a:extLst>
                  <a:ext uri="{FF2B5EF4-FFF2-40B4-BE49-F238E27FC236}">
                    <a16:creationId xmlns:a16="http://schemas.microsoft.com/office/drawing/2014/main" id="{16AA8950-DB88-46C2-BFB1-F70835CBF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6" y="1759"/>
                <a:ext cx="6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154" name="Text Box 17">
              <a:extLst>
                <a:ext uri="{FF2B5EF4-FFF2-40B4-BE49-F238E27FC236}">
                  <a16:creationId xmlns:a16="http://schemas.microsoft.com/office/drawing/2014/main" id="{B7C934E6-282D-4C70-A1DD-7451D1A162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8044" y="1104866"/>
              <a:ext cx="84029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  <a:cs typeface="+mj-cs"/>
                </a:rPr>
                <a:t>Host B</a:t>
              </a:r>
            </a:p>
          </p:txBody>
        </p: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A55DCA69-031B-4066-B206-8466448F3DB3}"/>
                </a:ext>
              </a:extLst>
            </p:cNvPr>
            <p:cNvGrpSpPr/>
            <p:nvPr/>
          </p:nvGrpSpPr>
          <p:grpSpPr>
            <a:xfrm>
              <a:off x="2962869" y="1453296"/>
              <a:ext cx="634916" cy="642204"/>
              <a:chOff x="7003085" y="1565423"/>
              <a:chExt cx="878294" cy="888376"/>
            </a:xfrm>
          </p:grpSpPr>
          <p:sp>
            <p:nvSpPr>
              <p:cNvPr id="156" name="타원 155">
                <a:extLst>
                  <a:ext uri="{FF2B5EF4-FFF2-40B4-BE49-F238E27FC236}">
                    <a16:creationId xmlns:a16="http://schemas.microsoft.com/office/drawing/2014/main" id="{288D632C-B266-433C-AEAD-FFA5A33679D0}"/>
                  </a:ext>
                </a:extLst>
              </p:cNvPr>
              <p:cNvSpPr/>
              <p:nvPr/>
            </p:nvSpPr>
            <p:spPr>
              <a:xfrm>
                <a:off x="7003085" y="1575505"/>
                <a:ext cx="878294" cy="878294"/>
              </a:xfrm>
              <a:prstGeom prst="ellipse">
                <a:avLst/>
              </a:prstGeom>
              <a:solidFill>
                <a:srgbClr val="BDD7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rgbClr val="000000"/>
                  </a:buClr>
                  <a:buFont typeface="Arial"/>
                </a:pPr>
                <a:endParaRPr lang="ko-KR" altLang="en-US" sz="1400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pic>
            <p:nvPicPr>
              <p:cNvPr id="157" name="그림 156">
                <a:extLst>
                  <a:ext uri="{FF2B5EF4-FFF2-40B4-BE49-F238E27FC236}">
                    <a16:creationId xmlns:a16="http://schemas.microsoft.com/office/drawing/2014/main" id="{688D4A1C-D4B5-4F03-870F-EFD1BE6349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04112" y="1565423"/>
                <a:ext cx="754308" cy="863858"/>
              </a:xfrm>
              <a:prstGeom prst="rect">
                <a:avLst/>
              </a:prstGeom>
            </p:spPr>
          </p:pic>
        </p:grpSp>
        <p:sp>
          <p:nvSpPr>
            <p:cNvPr id="180" name="Text Box 123">
              <a:extLst>
                <a:ext uri="{FF2B5EF4-FFF2-40B4-BE49-F238E27FC236}">
                  <a16:creationId xmlns:a16="http://schemas.microsoft.com/office/drawing/2014/main" id="{18EFD1C8-6530-4AF2-BAFE-5798879AE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1001" y="4954420"/>
              <a:ext cx="1202632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ACK=100</a:t>
              </a:r>
            </a:p>
          </p:txBody>
        </p:sp>
        <p:sp>
          <p:nvSpPr>
            <p:cNvPr id="181" name="Text Box 123">
              <a:extLst>
                <a:ext uri="{FF2B5EF4-FFF2-40B4-BE49-F238E27FC236}">
                  <a16:creationId xmlns:a16="http://schemas.microsoft.com/office/drawing/2014/main" id="{0A5F3A7F-0C16-405F-95A5-C226BC6E6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0575" y="3048553"/>
              <a:ext cx="1202632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ACK=100</a:t>
              </a:r>
            </a:p>
          </p:txBody>
        </p:sp>
        <p:sp>
          <p:nvSpPr>
            <p:cNvPr id="182" name="Text Box 123">
              <a:extLst>
                <a:ext uri="{FF2B5EF4-FFF2-40B4-BE49-F238E27FC236}">
                  <a16:creationId xmlns:a16="http://schemas.microsoft.com/office/drawing/2014/main" id="{A22F141C-F58D-4711-A204-76985A1FA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2953" y="2586592"/>
              <a:ext cx="2138727" cy="277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rgbClr val="E1ECF7"/>
              </a:solidFill>
            </a:ln>
          </p:spPr>
          <p:txBody>
            <a:bodyPr wrap="square" tIns="0" rIns="36000" bIns="0" anchor="ctr">
              <a:noAutofit/>
            </a:bodyPr>
            <a:lstStyle>
              <a:defPPr>
                <a:defRPr lang="ko-KR"/>
              </a:defPPr>
              <a:lvl1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300">
                  <a:ln>
                    <a:solidFill>
                      <a:srgbClr val="AF3C5E">
                        <a:alpha val="0"/>
                      </a:srgbClr>
                    </a:solidFill>
                  </a:ln>
                  <a:latin typeface="+mn-ea"/>
                  <a:cs typeface="+mj-cs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en-US" altLang="ko-KR" sz="1200"/>
                <a:t>Seq=92, 8 bytes of data</a:t>
              </a:r>
            </a:p>
          </p:txBody>
        </p:sp>
      </p:grpSp>
      <p:sp>
        <p:nvSpPr>
          <p:cNvPr id="183" name="Text Box 17">
            <a:extLst>
              <a:ext uri="{FF2B5EF4-FFF2-40B4-BE49-F238E27FC236}">
                <a16:creationId xmlns:a16="http://schemas.microsoft.com/office/drawing/2014/main" id="{02D7C649-120E-4E51-B3FC-0547640EC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0" y="1104866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A</a:t>
            </a:r>
          </a:p>
        </p:txBody>
      </p: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33098E9A-ABF6-4388-9692-214F0301A9ED}"/>
              </a:ext>
            </a:extLst>
          </p:cNvPr>
          <p:cNvGrpSpPr/>
          <p:nvPr/>
        </p:nvGrpSpPr>
        <p:grpSpPr>
          <a:xfrm>
            <a:off x="5123109" y="1453296"/>
            <a:ext cx="634916" cy="642204"/>
            <a:chOff x="7003085" y="1565423"/>
            <a:chExt cx="878294" cy="888376"/>
          </a:xfrm>
        </p:grpSpPr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9FF6B3F5-E02F-4831-8482-12C321FECAB6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6" name="그림 185">
              <a:extLst>
                <a:ext uri="{FF2B5EF4-FFF2-40B4-BE49-F238E27FC236}">
                  <a16:creationId xmlns:a16="http://schemas.microsoft.com/office/drawing/2014/main" id="{4115F035-95D7-4E4B-BE14-447116D68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187" name="Text Box 17">
            <a:extLst>
              <a:ext uri="{FF2B5EF4-FFF2-40B4-BE49-F238E27FC236}">
                <a16:creationId xmlns:a16="http://schemas.microsoft.com/office/drawing/2014/main" id="{D8A970E9-3458-43CF-826C-7440BE731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11" y="1104866"/>
            <a:ext cx="8402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B</a:t>
            </a: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28E168FA-5108-4476-99B0-52108750CC6C}"/>
              </a:ext>
            </a:extLst>
          </p:cNvPr>
          <p:cNvGrpSpPr/>
          <p:nvPr/>
        </p:nvGrpSpPr>
        <p:grpSpPr>
          <a:xfrm>
            <a:off x="7319936" y="1453296"/>
            <a:ext cx="634916" cy="642204"/>
            <a:chOff x="7003085" y="1565423"/>
            <a:chExt cx="878294" cy="888376"/>
          </a:xfrm>
        </p:grpSpPr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FE851D4B-336A-4E12-817F-CBE4235EFDA3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90" name="그림 189">
              <a:extLst>
                <a:ext uri="{FF2B5EF4-FFF2-40B4-BE49-F238E27FC236}">
                  <a16:creationId xmlns:a16="http://schemas.microsoft.com/office/drawing/2014/main" id="{089D96B0-6A48-45D6-946B-504761E11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197" name="Text Box 126">
            <a:extLst>
              <a:ext uri="{FF2B5EF4-FFF2-40B4-BE49-F238E27FC236}">
                <a16:creationId xmlns:a16="http://schemas.microsoft.com/office/drawing/2014/main" id="{B0B895AA-3D9F-45A3-AAE5-9B824FDD562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4871864" y="2972842"/>
            <a:ext cx="369332" cy="671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timeout</a:t>
            </a:r>
          </a:p>
        </p:txBody>
      </p:sp>
      <p:sp>
        <p:nvSpPr>
          <p:cNvPr id="199" name="Line 132">
            <a:extLst>
              <a:ext uri="{FF2B5EF4-FFF2-40B4-BE49-F238E27FC236}">
                <a16:creationId xmlns:a16="http://schemas.microsoft.com/office/drawing/2014/main" id="{720FD23C-59DB-47FF-A25B-4464AF0021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88290" y="2492896"/>
            <a:ext cx="0" cy="43604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201" name="Group 135">
            <a:extLst>
              <a:ext uri="{FF2B5EF4-FFF2-40B4-BE49-F238E27FC236}">
                <a16:creationId xmlns:a16="http://schemas.microsoft.com/office/drawing/2014/main" id="{1B10C958-36BE-4B2B-A650-3488A0958C9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5043127" y="3663950"/>
            <a:ext cx="99359" cy="508000"/>
            <a:chOff x="3099" y="1749"/>
            <a:chExt cx="66" cy="320"/>
          </a:xfrm>
        </p:grpSpPr>
        <p:sp>
          <p:nvSpPr>
            <p:cNvPr id="202" name="Line 136">
              <a:extLst>
                <a:ext uri="{FF2B5EF4-FFF2-40B4-BE49-F238E27FC236}">
                  <a16:creationId xmlns:a16="http://schemas.microsoft.com/office/drawing/2014/main" id="{55628F4E-4468-4185-892E-B39D7BEED9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3" name="Line 137">
              <a:extLst>
                <a:ext uri="{FF2B5EF4-FFF2-40B4-BE49-F238E27FC236}">
                  <a16:creationId xmlns:a16="http://schemas.microsoft.com/office/drawing/2014/main" id="{DAEF1344-0EDA-4E93-B896-A32BCB951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204" name="Text Box 123">
            <a:extLst>
              <a:ext uri="{FF2B5EF4-FFF2-40B4-BE49-F238E27FC236}">
                <a16:creationId xmlns:a16="http://schemas.microsoft.com/office/drawing/2014/main" id="{46779267-F7AE-4DF5-A2AA-B7DBE0C59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064" y="3649081"/>
            <a:ext cx="966390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205" name="Text Box 123">
            <a:extLst>
              <a:ext uri="{FF2B5EF4-FFF2-40B4-BE49-F238E27FC236}">
                <a16:creationId xmlns:a16="http://schemas.microsoft.com/office/drawing/2014/main" id="{45829995-48C4-4F28-928C-0D27C8A53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064" y="4005064"/>
            <a:ext cx="966390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ACK=120</a:t>
            </a:r>
          </a:p>
        </p:txBody>
      </p:sp>
      <p:sp>
        <p:nvSpPr>
          <p:cNvPr id="206" name="Text Box 123">
            <a:extLst>
              <a:ext uri="{FF2B5EF4-FFF2-40B4-BE49-F238E27FC236}">
                <a16:creationId xmlns:a16="http://schemas.microsoft.com/office/drawing/2014/main" id="{FD32BCA4-7B1E-4301-8F46-A1757AEAE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714" y="5171256"/>
            <a:ext cx="966390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ACK=120</a:t>
            </a:r>
          </a:p>
        </p:txBody>
      </p:sp>
      <p:sp>
        <p:nvSpPr>
          <p:cNvPr id="207" name="Text Box 123">
            <a:extLst>
              <a:ext uri="{FF2B5EF4-FFF2-40B4-BE49-F238E27FC236}">
                <a16:creationId xmlns:a16="http://schemas.microsoft.com/office/drawing/2014/main" id="{9C0D1A17-71B2-4022-9BF0-43B0F80FF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064" y="4419600"/>
            <a:ext cx="1203542" cy="488949"/>
          </a:xfrm>
          <a:prstGeom prst="roundRect">
            <a:avLst>
              <a:gd name="adj" fmla="val 14175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Seq=92,  8</a:t>
            </a:r>
          </a:p>
          <a:p>
            <a:pPr>
              <a:lnSpc>
                <a:spcPct val="100000"/>
              </a:lnSpc>
            </a:pPr>
            <a:r>
              <a:rPr lang="en-US" altLang="ko-KR" sz="1200"/>
              <a:t>bytes of data</a:t>
            </a:r>
          </a:p>
        </p:txBody>
      </p:sp>
    </p:spTree>
    <p:extLst>
      <p:ext uri="{BB962C8B-B14F-4D97-AF65-F5344CB8AC3E}">
        <p14:creationId xmlns:p14="http://schemas.microsoft.com/office/powerpoint/2010/main" val="159195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119">
            <a:extLst>
              <a:ext uri="{FF2B5EF4-FFF2-40B4-BE49-F238E27FC236}">
                <a16:creationId xmlns:a16="http://schemas.microsoft.com/office/drawing/2014/main" id="{0D1CD73B-C0C2-42D6-ADA3-0D8E01EB3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975" y="2170113"/>
            <a:ext cx="0" cy="3538537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>
                <a:cs typeface="+mj-cs"/>
              </a:rPr>
              <a:t> </a:t>
            </a:r>
            <a:r>
              <a:rPr lang="ko-KR" altLang="en-US" dirty="0">
                <a:solidFill>
                  <a:schemeClr val="bg1"/>
                </a:solidFill>
                <a:cs typeface="+mj-cs"/>
              </a:rPr>
              <a:t>재전송 시나리오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4C9C1664-DA5B-43BA-A93C-C555143A2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1104866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A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921A0C-7CF9-42AD-90A8-47F9F81853AB}"/>
              </a:ext>
            </a:extLst>
          </p:cNvPr>
          <p:cNvGrpSpPr/>
          <p:nvPr/>
        </p:nvGrpSpPr>
        <p:grpSpPr>
          <a:xfrm>
            <a:off x="1147042" y="1453296"/>
            <a:ext cx="634916" cy="642204"/>
            <a:chOff x="7003085" y="1565423"/>
            <a:chExt cx="878294" cy="88837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135E238-BCD3-4A9A-9587-889A1ED3EDC8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4632CA69-7C32-416A-8A58-BCFDBCA9E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7" name="Text Box 105">
            <a:extLst>
              <a:ext uri="{FF2B5EF4-FFF2-40B4-BE49-F238E27FC236}">
                <a16:creationId xmlns:a16="http://schemas.microsoft.com/office/drawing/2014/main" id="{F26ED366-94AB-470B-A4C1-91F349172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5228" y="5953125"/>
            <a:ext cx="1483098" cy="393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누적 확인 응답</a:t>
            </a:r>
          </a:p>
        </p:txBody>
      </p:sp>
      <p:sp>
        <p:nvSpPr>
          <p:cNvPr id="10" name="Line 104">
            <a:extLst>
              <a:ext uri="{FF2B5EF4-FFF2-40B4-BE49-F238E27FC236}">
                <a16:creationId xmlns:a16="http://schemas.microsoft.com/office/drawing/2014/main" id="{4B019C68-1689-47E9-81E3-753E50AAE5C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0300" y="3009900"/>
            <a:ext cx="2019300" cy="78486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118">
            <a:extLst>
              <a:ext uri="{FF2B5EF4-FFF2-40B4-BE49-F238E27FC236}">
                <a16:creationId xmlns:a16="http://schemas.microsoft.com/office/drawing/2014/main" id="{2A5BFC8D-5D27-4F97-94C1-3DAA6763A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0578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4" name="Text Box 124">
            <a:extLst>
              <a:ext uri="{FF2B5EF4-FFF2-40B4-BE49-F238E27FC236}">
                <a16:creationId xmlns:a16="http://schemas.microsoft.com/office/drawing/2014/main" id="{F070B05A-E87E-4147-8BF6-199AB0652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3243" y="3429000"/>
            <a:ext cx="550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3600" b="1">
                <a:solidFill>
                  <a:srgbClr val="F27037"/>
                </a:solidFill>
                <a:latin typeface="+mj-ea"/>
                <a:ea typeface="+mj-ea"/>
              </a:rPr>
              <a:t>X</a:t>
            </a:r>
          </a:p>
        </p:txBody>
      </p:sp>
      <p:sp>
        <p:nvSpPr>
          <p:cNvPr id="15" name="Text Box 126">
            <a:extLst>
              <a:ext uri="{FF2B5EF4-FFF2-40B4-BE49-F238E27FC236}">
                <a16:creationId xmlns:a16="http://schemas.microsoft.com/office/drawing/2014/main" id="{624226CA-ED49-4094-BB14-9F6EA8F74062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31633" y="3302291"/>
            <a:ext cx="369332" cy="671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timeout</a:t>
            </a:r>
          </a:p>
        </p:txBody>
      </p:sp>
      <p:grpSp>
        <p:nvGrpSpPr>
          <p:cNvPr id="17" name="Group 134">
            <a:extLst>
              <a:ext uri="{FF2B5EF4-FFF2-40B4-BE49-F238E27FC236}">
                <a16:creationId xmlns:a16="http://schemas.microsoft.com/office/drawing/2014/main" id="{B36F04C2-9171-4349-B1B4-B6435C239302}"/>
              </a:ext>
            </a:extLst>
          </p:cNvPr>
          <p:cNvGrpSpPr>
            <a:grpSpLocks/>
          </p:cNvGrpSpPr>
          <p:nvPr/>
        </p:nvGrpSpPr>
        <p:grpSpPr bwMode="auto">
          <a:xfrm>
            <a:off x="1103647" y="2256546"/>
            <a:ext cx="99359" cy="1046163"/>
            <a:chOff x="3099" y="1749"/>
            <a:chExt cx="66" cy="659"/>
          </a:xfrm>
        </p:grpSpPr>
        <p:sp>
          <p:nvSpPr>
            <p:cNvPr id="28" name="Line 132">
              <a:extLst>
                <a:ext uri="{FF2B5EF4-FFF2-40B4-BE49-F238E27FC236}">
                  <a16:creationId xmlns:a16="http://schemas.microsoft.com/office/drawing/2014/main" id="{911EF7A2-5571-4E58-83ED-4691A7AC6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6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9" name="Line 133">
              <a:extLst>
                <a:ext uri="{FF2B5EF4-FFF2-40B4-BE49-F238E27FC236}">
                  <a16:creationId xmlns:a16="http://schemas.microsoft.com/office/drawing/2014/main" id="{6E2338C5-2F40-40AD-8790-317851AF7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8" name="Group 135">
            <a:extLst>
              <a:ext uri="{FF2B5EF4-FFF2-40B4-BE49-F238E27FC236}">
                <a16:creationId xmlns:a16="http://schemas.microsoft.com/office/drawing/2014/main" id="{0CFC3EFA-CEA0-4311-88C3-BA6E3E59FBC9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093109" y="3955072"/>
            <a:ext cx="99359" cy="1138238"/>
            <a:chOff x="3106" y="1756"/>
            <a:chExt cx="66" cy="717"/>
          </a:xfrm>
        </p:grpSpPr>
        <p:sp>
          <p:nvSpPr>
            <p:cNvPr id="26" name="Line 136">
              <a:extLst>
                <a:ext uri="{FF2B5EF4-FFF2-40B4-BE49-F238E27FC236}">
                  <a16:creationId xmlns:a16="http://schemas.microsoft.com/office/drawing/2014/main" id="{1C4D07BB-17B2-4C21-803B-7B521F799B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7" name="Line 137">
              <a:extLst>
                <a:ext uri="{FF2B5EF4-FFF2-40B4-BE49-F238E27FC236}">
                  <a16:creationId xmlns:a16="http://schemas.microsoft.com/office/drawing/2014/main" id="{D345E588-973E-4A37-B56C-F8ECCD291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19" name="Text Box 17">
            <a:extLst>
              <a:ext uri="{FF2B5EF4-FFF2-40B4-BE49-F238E27FC236}">
                <a16:creationId xmlns:a16="http://schemas.microsoft.com/office/drawing/2014/main" id="{E17462C4-828C-4BE4-9093-90CA49A00A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0064" y="1104866"/>
            <a:ext cx="8402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B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8AEE8D9-27D9-460E-AB9C-9C2CC21DF551}"/>
              </a:ext>
            </a:extLst>
          </p:cNvPr>
          <p:cNvGrpSpPr/>
          <p:nvPr/>
        </p:nvGrpSpPr>
        <p:grpSpPr>
          <a:xfrm>
            <a:off x="3884889" y="1453296"/>
            <a:ext cx="634916" cy="642204"/>
            <a:chOff x="7003085" y="1565423"/>
            <a:chExt cx="878294" cy="888376"/>
          </a:xfrm>
        </p:grpSpPr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1349FC1C-D90A-4657-A2F8-9930B56E1533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758BFDA7-B5A9-4142-BC12-A1FD6BD96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8" name="Line 99">
            <a:extLst>
              <a:ext uri="{FF2B5EF4-FFF2-40B4-BE49-F238E27FC236}">
                <a16:creationId xmlns:a16="http://schemas.microsoft.com/office/drawing/2014/main" id="{9404ED47-93B1-4774-A0CA-37D0775A00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0162" y="4869160"/>
            <a:ext cx="3149918" cy="59438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Line 100">
            <a:extLst>
              <a:ext uri="{FF2B5EF4-FFF2-40B4-BE49-F238E27FC236}">
                <a16:creationId xmlns:a16="http://schemas.microsoft.com/office/drawing/2014/main" id="{7EA8A1D3-A6F9-47C0-96BE-30433A866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5686" y="2276872"/>
            <a:ext cx="3152013" cy="63396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6" name="Line 127">
            <a:extLst>
              <a:ext uri="{FF2B5EF4-FFF2-40B4-BE49-F238E27FC236}">
                <a16:creationId xmlns:a16="http://schemas.microsoft.com/office/drawing/2014/main" id="{70674D00-3DE9-4FEF-94B2-A31E152E9D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87780" y="3375660"/>
            <a:ext cx="3162300" cy="147828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2" name="Line 100">
            <a:extLst>
              <a:ext uri="{FF2B5EF4-FFF2-40B4-BE49-F238E27FC236}">
                <a16:creationId xmlns:a16="http://schemas.microsoft.com/office/drawing/2014/main" id="{F40E8313-A1A1-461F-89BB-BBD23C498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5687" y="2714625"/>
            <a:ext cx="2950462" cy="6286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3" name="Text Box 123">
            <a:extLst>
              <a:ext uri="{FF2B5EF4-FFF2-40B4-BE49-F238E27FC236}">
                <a16:creationId xmlns:a16="http://schemas.microsoft.com/office/drawing/2014/main" id="{26586739-EB19-4A7D-A8C0-D9F0CC96D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1259" y="3933056"/>
            <a:ext cx="1031683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ACK=120</a:t>
            </a:r>
          </a:p>
        </p:txBody>
      </p:sp>
      <p:sp>
        <p:nvSpPr>
          <p:cNvPr id="22" name="Text Box 123">
            <a:extLst>
              <a:ext uri="{FF2B5EF4-FFF2-40B4-BE49-F238E27FC236}">
                <a16:creationId xmlns:a16="http://schemas.microsoft.com/office/drawing/2014/main" id="{826D13F3-A8A3-4B9D-8CED-CDF75AB6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839" y="3356992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38" name="Text Box 123">
            <a:extLst>
              <a:ext uri="{FF2B5EF4-FFF2-40B4-BE49-F238E27FC236}">
                <a16:creationId xmlns:a16="http://schemas.microsoft.com/office/drawing/2014/main" id="{681EDCEE-3914-47E4-AAF2-BFE5C2963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123" y="2860912"/>
            <a:ext cx="230080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Seq=100, 20 bytes of data</a:t>
            </a:r>
          </a:p>
        </p:txBody>
      </p:sp>
      <p:sp>
        <p:nvSpPr>
          <p:cNvPr id="23" name="Text Box 123">
            <a:extLst>
              <a:ext uri="{FF2B5EF4-FFF2-40B4-BE49-F238E27FC236}">
                <a16:creationId xmlns:a16="http://schemas.microsoft.com/office/drawing/2014/main" id="{F1EE7F78-BFD0-4B2F-9D4F-17DBDAEED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4933" y="2266552"/>
            <a:ext cx="229318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Seq=92, 8 bytes of data</a:t>
            </a:r>
          </a:p>
        </p:txBody>
      </p:sp>
      <p:sp>
        <p:nvSpPr>
          <p:cNvPr id="21" name="Text Box 123">
            <a:extLst>
              <a:ext uri="{FF2B5EF4-FFF2-40B4-BE49-F238E27FC236}">
                <a16:creationId xmlns:a16="http://schemas.microsoft.com/office/drawing/2014/main" id="{62CEC957-EB99-4248-A941-2E7B4BECF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162" y="4887725"/>
            <a:ext cx="1287780" cy="463400"/>
          </a:xfrm>
          <a:prstGeom prst="roundRect">
            <a:avLst>
              <a:gd name="adj" fmla="val 17113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ko-KR" sz="1200"/>
              <a:t>Seq=120,  15 bytes of data</a:t>
            </a:r>
          </a:p>
        </p:txBody>
      </p:sp>
    </p:spTree>
    <p:extLst>
      <p:ext uri="{BB962C8B-B14F-4D97-AF65-F5344CB8AC3E}">
        <p14:creationId xmlns:p14="http://schemas.microsoft.com/office/powerpoint/2010/main" val="4237801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1D78B45-1FD7-4AA9-B1CE-6CBDA8AE4117}"/>
              </a:ext>
            </a:extLst>
          </p:cNvPr>
          <p:cNvSpPr/>
          <p:nvPr/>
        </p:nvSpPr>
        <p:spPr>
          <a:xfrm>
            <a:off x="658813" y="1744980"/>
            <a:ext cx="3806507" cy="44119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ACK </a:t>
            </a:r>
            <a:r>
              <a:rPr lang="ko-KR" altLang="en-US">
                <a:cs typeface="+mj-cs"/>
              </a:rPr>
              <a:t>생성 </a:t>
            </a:r>
            <a:r>
              <a:rPr lang="en-US" altLang="ko-KR" sz="1600">
                <a:solidFill>
                  <a:schemeClr val="bg1"/>
                </a:solidFill>
                <a:cs typeface="+mj-cs"/>
              </a:rPr>
              <a:t>[RFC 1122, RFC 2581]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979D8CB9-7E8C-4417-92BC-ACF996F94163}"/>
              </a:ext>
            </a:extLst>
          </p:cNvPr>
          <p:cNvSpPr/>
          <p:nvPr/>
        </p:nvSpPr>
        <p:spPr>
          <a:xfrm>
            <a:off x="4465320" y="1196340"/>
            <a:ext cx="3791268" cy="5059679"/>
          </a:xfrm>
          <a:prstGeom prst="snip1Rect">
            <a:avLst>
              <a:gd name="adj" fmla="val 6892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j-ea"/>
              <a:ea typeface="+mj-ea"/>
              <a:cs typeface="+mj-cs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75A90-2E23-4B5B-82D1-DFDC65CE37DC}"/>
              </a:ext>
            </a:extLst>
          </p:cNvPr>
          <p:cNvSpPr txBox="1"/>
          <p:nvPr/>
        </p:nvSpPr>
        <p:spPr>
          <a:xfrm>
            <a:off x="708343" y="1320284"/>
            <a:ext cx="3707447" cy="39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FontTx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수신 측에서의 이벤트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098983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55BAAF-EB16-492F-ABA7-01BD15586231}"/>
              </a:ext>
            </a:extLst>
          </p:cNvPr>
          <p:cNvSpPr txBox="1"/>
          <p:nvPr/>
        </p:nvSpPr>
        <p:spPr>
          <a:xfrm>
            <a:off x="4648200" y="1320284"/>
            <a:ext cx="3238500" cy="3939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accent2"/>
              </a:buClr>
              <a:buSzPct val="85000"/>
              <a:buFontTx/>
              <a:buNone/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수신 측의 동작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A58D6A9-E100-4AD9-9CCD-D3ADF66C8E59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1988840"/>
            <a:ext cx="375697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번호를 가진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맞는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도착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번호까지의 모든 데이터들은 이미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됨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F2A427D-08F6-4CF6-A61D-14D3411A9BD3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2996195"/>
            <a:ext cx="363124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번호를 가진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맞는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도착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전송을 기다리는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순서에 맞는 다른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하나 더 있음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B42488C-8C2C-46DE-9892-0B44523C2ED7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4136380"/>
            <a:ext cx="368458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기다리는 순서 번호보다 높은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순서가 틀린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도착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갭을 감지함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90FFA31-0A35-4A0B-89CB-90C2BA0537B1}"/>
              </a:ext>
            </a:extLst>
          </p:cNvPr>
          <p:cNvSpPr txBox="1">
            <a:spLocks noChangeArrowheads="1"/>
          </p:cNvSpPr>
          <p:nvPr/>
        </p:nvSpPr>
        <p:spPr>
          <a:xfrm>
            <a:off x="658813" y="5010904"/>
            <a:ext cx="3684587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갭을 부분적으로 또는 완전히 채우는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도착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41F80C7-20BD-4D9C-8D78-DAEA2156C46B}"/>
              </a:ext>
            </a:extLst>
          </p:cNvPr>
          <p:cNvCxnSpPr/>
          <p:nvPr/>
        </p:nvCxnSpPr>
        <p:spPr>
          <a:xfrm>
            <a:off x="769620" y="2887980"/>
            <a:ext cx="35280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6CA969F-D4B2-4F8D-A974-9082DD41BB6C}"/>
              </a:ext>
            </a:extLst>
          </p:cNvPr>
          <p:cNvCxnSpPr/>
          <p:nvPr/>
        </p:nvCxnSpPr>
        <p:spPr>
          <a:xfrm>
            <a:off x="769620" y="3893820"/>
            <a:ext cx="35280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1ACF69F-D3CB-42B7-BDE0-97507C78423D}"/>
              </a:ext>
            </a:extLst>
          </p:cNvPr>
          <p:cNvCxnSpPr/>
          <p:nvPr/>
        </p:nvCxnSpPr>
        <p:spPr>
          <a:xfrm>
            <a:off x="769620" y="4899660"/>
            <a:ext cx="352806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543BA15A-035A-4E92-8570-1F0CF374B7F6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1916832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ACK.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다음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500ms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까지 기다려봄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다음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오지 않으면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보냄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F48D68F-5862-4DA3-A837-473D41B0A215}"/>
              </a:ext>
            </a:extLst>
          </p:cNvPr>
          <p:cNvCxnSpPr>
            <a:cxnSpLocks/>
          </p:cNvCxnSpPr>
          <p:nvPr/>
        </p:nvCxnSpPr>
        <p:spPr>
          <a:xfrm>
            <a:off x="4585494" y="2887980"/>
            <a:ext cx="3528060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C5FC8B1-F44B-4736-8F79-C04BDCE1820C}"/>
              </a:ext>
            </a:extLst>
          </p:cNvPr>
          <p:cNvCxnSpPr>
            <a:cxnSpLocks/>
          </p:cNvCxnSpPr>
          <p:nvPr/>
        </p:nvCxnSpPr>
        <p:spPr>
          <a:xfrm>
            <a:off x="4585494" y="3893820"/>
            <a:ext cx="3528060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E69D53C-13CF-4B23-AE1F-90DC3073E5E7}"/>
              </a:ext>
            </a:extLst>
          </p:cNvPr>
          <p:cNvCxnSpPr>
            <a:cxnSpLocks/>
          </p:cNvCxnSpPr>
          <p:nvPr/>
        </p:nvCxnSpPr>
        <p:spPr>
          <a:xfrm>
            <a:off x="4585494" y="4899660"/>
            <a:ext cx="3528060" cy="0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Rectangle 3">
            <a:extLst>
              <a:ext uri="{FF2B5EF4-FFF2-40B4-BE49-F238E27FC236}">
                <a16:creationId xmlns:a16="http://schemas.microsoft.com/office/drawing/2014/main" id="{47F5D44A-3C1B-429E-BD30-0BF2817798F1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2989332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두 순서에 맞는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들을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하기 위해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즉시 누적된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 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9617ABC4-73D0-42AD-8823-0D331CE35C0B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4005064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기다리고 있는 바이트의 순서 번호를 지닌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중복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즉시 전송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C1E2E5D-DE88-49A7-9823-1B65DF3AA7B1}"/>
              </a:ext>
            </a:extLst>
          </p:cNvPr>
          <p:cNvSpPr txBox="1">
            <a:spLocks noChangeArrowheads="1"/>
          </p:cNvSpPr>
          <p:nvPr/>
        </p:nvSpPr>
        <p:spPr>
          <a:xfrm>
            <a:off x="4655841" y="5013176"/>
            <a:ext cx="3264812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갭의 하단이 채워졌을 경우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즉시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 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전송</a:t>
            </a:r>
          </a:p>
        </p:txBody>
      </p:sp>
      <p:sp>
        <p:nvSpPr>
          <p:cNvPr id="28" name="직각 삼각형 27">
            <a:extLst>
              <a:ext uri="{FF2B5EF4-FFF2-40B4-BE49-F238E27FC236}">
                <a16:creationId xmlns:a16="http://schemas.microsoft.com/office/drawing/2014/main" id="{3DCAF49F-E3D3-4AC1-BE0B-9E1B5A1F6FB2}"/>
              </a:ext>
            </a:extLst>
          </p:cNvPr>
          <p:cNvSpPr/>
          <p:nvPr/>
        </p:nvSpPr>
        <p:spPr>
          <a:xfrm rot="10800000">
            <a:off x="4137660" y="4602480"/>
            <a:ext cx="327660" cy="1645920"/>
          </a:xfrm>
          <a:prstGeom prst="rtTriangle">
            <a:avLst/>
          </a:prstGeom>
          <a:gradFill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chemeClr val="bg2">
                  <a:lumMod val="1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375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cs typeface="+mj-cs"/>
              </a:rPr>
              <a:t>빠른 재전송 </a:t>
            </a:r>
            <a:r>
              <a:rPr lang="en-US" altLang="ko-KR">
                <a:solidFill>
                  <a:schemeClr val="bg1"/>
                </a:solidFill>
                <a:cs typeface="+mj-cs"/>
              </a:rPr>
              <a:t>(fast retransmit)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FCA8C-DA20-4A55-8F9F-B36B3CE3BB2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6013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timeout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주기는 상대적으로 길다</a:t>
            </a:r>
            <a:endParaRPr lang="en-US" altLang="ko-KR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FFB3EF2-17A3-4C1B-9B76-6BC035C91A1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84784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손실된 패킷을 재전송하기까지의 지연이 길어짐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86B535B-40C0-4633-8AF5-92DBB369D8B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06597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중복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를 통해 손실을 감지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CE84AAC-66AF-417F-8499-679822BC9E0B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513484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측은 자주 여러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들을 연속으로 전송함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손실되면 중복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받을 것이다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1E5A5E0D-1AD7-4268-8297-2C73BC96D9FC}"/>
              </a:ext>
            </a:extLst>
          </p:cNvPr>
          <p:cNvSpPr/>
          <p:nvPr/>
        </p:nvSpPr>
        <p:spPr>
          <a:xfrm>
            <a:off x="869636" y="3429000"/>
            <a:ext cx="6521764" cy="1771650"/>
          </a:xfrm>
          <a:prstGeom prst="snip1Rect">
            <a:avLst>
              <a:gd name="adj" fmla="val 10966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  <a:sym typeface="Arial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CE97A92-E337-44BD-9B2D-2DFFA6DDB9DC}"/>
              </a:ext>
            </a:extLst>
          </p:cNvPr>
          <p:cNvSpPr/>
          <p:nvPr/>
        </p:nvSpPr>
        <p:spPr>
          <a:xfrm>
            <a:off x="693394" y="3927828"/>
            <a:ext cx="314384" cy="84421"/>
          </a:xfrm>
          <a:prstGeom prst="ellipse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그래픽 24">
            <a:extLst>
              <a:ext uri="{FF2B5EF4-FFF2-40B4-BE49-F238E27FC236}">
                <a16:creationId xmlns:a16="http://schemas.microsoft.com/office/drawing/2014/main" id="{B0B9A949-53D4-43BE-857B-60EA99E1E381}"/>
              </a:ext>
            </a:extLst>
          </p:cNvPr>
          <p:cNvSpPr/>
          <p:nvPr/>
        </p:nvSpPr>
        <p:spPr>
          <a:xfrm rot="5400000">
            <a:off x="572801" y="3449616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105BA0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5F4D3FB-CBD4-4C6A-A30E-7E40B91765EA}"/>
              </a:ext>
            </a:extLst>
          </p:cNvPr>
          <p:cNvSpPr txBox="1">
            <a:spLocks noChangeArrowheads="1"/>
          </p:cNvSpPr>
          <p:nvPr/>
        </p:nvSpPr>
        <p:spPr>
          <a:xfrm>
            <a:off x="1184195" y="358014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latinLnBrk="0">
              <a:lnSpc>
                <a:spcPct val="130000"/>
              </a:lnSpc>
              <a:spcBef>
                <a:spcPts val="1200"/>
              </a:spcBef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TCP fast retransmit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10C9AD75-6605-40FE-9FF3-DA79EECE759F}"/>
              </a:ext>
            </a:extLst>
          </p:cNvPr>
          <p:cNvSpPr txBox="1">
            <a:spLocks noChangeArrowheads="1"/>
          </p:cNvSpPr>
          <p:nvPr/>
        </p:nvSpPr>
        <p:spPr>
          <a:xfrm>
            <a:off x="1211658" y="4029979"/>
            <a:ext cx="6484542" cy="5915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  <a:buNone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만일 송신 측이 같은 데이터에 대해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세 번 받으면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ACK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안된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segment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중 가장 작은 순서 번호의 것 재전송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CD341B55-C2E6-47E2-B199-F2F508BF2064}"/>
              </a:ext>
            </a:extLst>
          </p:cNvPr>
          <p:cNvSpPr txBox="1">
            <a:spLocks noChangeArrowheads="1"/>
          </p:cNvSpPr>
          <p:nvPr/>
        </p:nvSpPr>
        <p:spPr>
          <a:xfrm>
            <a:off x="1211659" y="4687219"/>
            <a:ext cx="5980047" cy="33304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손실됐을 가능성이 높으므로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timeout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까지 기다리지 않는다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E1C9C46-7B01-4DC4-A871-C44CCE40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84" y="3528283"/>
            <a:ext cx="277090" cy="3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76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cs typeface="+mj-cs"/>
              </a:rPr>
              <a:t>빠른 재전송 </a:t>
            </a:r>
            <a:r>
              <a:rPr lang="en-US" altLang="ko-KR">
                <a:solidFill>
                  <a:schemeClr val="bg1"/>
                </a:solidFill>
                <a:cs typeface="+mj-cs"/>
              </a:rPr>
              <a:t>(fast retransmit)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5" name="Text Box 17">
            <a:extLst>
              <a:ext uri="{FF2B5EF4-FFF2-40B4-BE49-F238E27FC236}">
                <a16:creationId xmlns:a16="http://schemas.microsoft.com/office/drawing/2014/main" id="{CE866C88-3A0E-4A21-9B48-9D3DFACAE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1104866"/>
            <a:ext cx="84510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A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24861D6-8027-4379-B383-35965C381BD4}"/>
              </a:ext>
            </a:extLst>
          </p:cNvPr>
          <p:cNvGrpSpPr/>
          <p:nvPr/>
        </p:nvGrpSpPr>
        <p:grpSpPr>
          <a:xfrm>
            <a:off x="1147042" y="1453296"/>
            <a:ext cx="634916" cy="642204"/>
            <a:chOff x="7003085" y="1565423"/>
            <a:chExt cx="878294" cy="888376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C75745F-15C7-4AC6-A05E-03DD3BA8A01F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E81B8E28-835B-4207-A79F-2361A2A3B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11" name="Line 118">
            <a:extLst>
              <a:ext uri="{FF2B5EF4-FFF2-40B4-BE49-F238E27FC236}">
                <a16:creationId xmlns:a16="http://schemas.microsoft.com/office/drawing/2014/main" id="{ACC9E2B3-D190-4C23-86F9-419FA7480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0578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3" name="Text Box 126">
            <a:extLst>
              <a:ext uri="{FF2B5EF4-FFF2-40B4-BE49-F238E27FC236}">
                <a16:creationId xmlns:a16="http://schemas.microsoft.com/office/drawing/2014/main" id="{222643CD-6C5F-4681-ABC7-50A917E01534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958123" y="3599357"/>
            <a:ext cx="369332" cy="671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200" dirty="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timeout</a:t>
            </a:r>
          </a:p>
        </p:txBody>
      </p:sp>
      <p:grpSp>
        <p:nvGrpSpPr>
          <p:cNvPr id="14" name="Group 134">
            <a:extLst>
              <a:ext uri="{FF2B5EF4-FFF2-40B4-BE49-F238E27FC236}">
                <a16:creationId xmlns:a16="http://schemas.microsoft.com/office/drawing/2014/main" id="{6C1FAFCB-49EA-4706-BECE-DB1E8A4E057A}"/>
              </a:ext>
            </a:extLst>
          </p:cNvPr>
          <p:cNvGrpSpPr>
            <a:grpSpLocks/>
          </p:cNvGrpSpPr>
          <p:nvPr/>
        </p:nvGrpSpPr>
        <p:grpSpPr bwMode="auto">
          <a:xfrm>
            <a:off x="1103647" y="2344737"/>
            <a:ext cx="99359" cy="1254125"/>
            <a:chOff x="3099" y="1749"/>
            <a:chExt cx="66" cy="790"/>
          </a:xfrm>
        </p:grpSpPr>
        <p:sp>
          <p:nvSpPr>
            <p:cNvPr id="15" name="Line 132">
              <a:extLst>
                <a:ext uri="{FF2B5EF4-FFF2-40B4-BE49-F238E27FC236}">
                  <a16:creationId xmlns:a16="http://schemas.microsoft.com/office/drawing/2014/main" id="{212EF9A8-5F91-4759-8C3E-A60CE8AD4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9" y="1749"/>
              <a:ext cx="0" cy="7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6" name="Line 133">
              <a:extLst>
                <a:ext uri="{FF2B5EF4-FFF2-40B4-BE49-F238E27FC236}">
                  <a16:creationId xmlns:a16="http://schemas.microsoft.com/office/drawing/2014/main" id="{E069B1F3-150B-457E-9DDC-558C2A04E3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9" y="1752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7" name="Group 135">
            <a:extLst>
              <a:ext uri="{FF2B5EF4-FFF2-40B4-BE49-F238E27FC236}">
                <a16:creationId xmlns:a16="http://schemas.microsoft.com/office/drawing/2014/main" id="{76D73C08-B1FC-4645-9BAB-B5622798356D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1093109" y="4251324"/>
            <a:ext cx="99359" cy="1404938"/>
            <a:chOff x="3106" y="1756"/>
            <a:chExt cx="66" cy="885"/>
          </a:xfrm>
        </p:grpSpPr>
        <p:sp>
          <p:nvSpPr>
            <p:cNvPr id="18" name="Line 136">
              <a:extLst>
                <a:ext uri="{FF2B5EF4-FFF2-40B4-BE49-F238E27FC236}">
                  <a16:creationId xmlns:a16="http://schemas.microsoft.com/office/drawing/2014/main" id="{49FD710D-DE54-4D0D-A3AA-B0616B508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6" y="1756"/>
              <a:ext cx="0" cy="8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9" name="Line 137">
              <a:extLst>
                <a:ext uri="{FF2B5EF4-FFF2-40B4-BE49-F238E27FC236}">
                  <a16:creationId xmlns:a16="http://schemas.microsoft.com/office/drawing/2014/main" id="{91577C5A-3504-47B1-A309-6BA70EC0C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6" y="1759"/>
              <a:ext cx="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20" name="Text Box 17">
            <a:extLst>
              <a:ext uri="{FF2B5EF4-FFF2-40B4-BE49-F238E27FC236}">
                <a16:creationId xmlns:a16="http://schemas.microsoft.com/office/drawing/2014/main" id="{D6600A6F-790F-4B4F-AE19-956248A34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0064" y="1104866"/>
            <a:ext cx="8402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Host B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5F7E8112-DF14-4728-ACE6-51E4879FD20E}"/>
              </a:ext>
            </a:extLst>
          </p:cNvPr>
          <p:cNvGrpSpPr/>
          <p:nvPr/>
        </p:nvGrpSpPr>
        <p:grpSpPr>
          <a:xfrm>
            <a:off x="3884889" y="1453296"/>
            <a:ext cx="634916" cy="642204"/>
            <a:chOff x="7003085" y="1565423"/>
            <a:chExt cx="878294" cy="888376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1FFF5668-B84C-4E35-8274-8F766E5EF005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2C67CBBD-9520-4C4E-8892-D0D8C1BB1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sp>
        <p:nvSpPr>
          <p:cNvPr id="33" name="Line 3">
            <a:extLst>
              <a:ext uri="{FF2B5EF4-FFF2-40B4-BE49-F238E27FC236}">
                <a16:creationId xmlns:a16="http://schemas.microsoft.com/office/drawing/2014/main" id="{58AEACD6-2909-492E-8EFA-0AD00C9E3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23574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" name="Line 9">
            <a:extLst>
              <a:ext uri="{FF2B5EF4-FFF2-40B4-BE49-F238E27FC236}">
                <a16:creationId xmlns:a16="http://schemas.microsoft.com/office/drawing/2014/main" id="{9049CD5F-5451-426D-8318-9F41A681D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2586038"/>
            <a:ext cx="2097669" cy="414337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5" name="Line 12">
            <a:extLst>
              <a:ext uri="{FF2B5EF4-FFF2-40B4-BE49-F238E27FC236}">
                <a16:creationId xmlns:a16="http://schemas.microsoft.com/office/drawing/2014/main" id="{529851DF-0CDD-4D23-8681-6A1E939868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49044" y="3000375"/>
            <a:ext cx="3007229" cy="8096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6" name="Line 14">
            <a:extLst>
              <a:ext uri="{FF2B5EF4-FFF2-40B4-BE49-F238E27FC236}">
                <a16:creationId xmlns:a16="http://schemas.microsoft.com/office/drawing/2014/main" id="{307482F8-6B12-419F-B203-AC869D662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28146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7" name="Line 15">
            <a:extLst>
              <a:ext uri="{FF2B5EF4-FFF2-40B4-BE49-F238E27FC236}">
                <a16:creationId xmlns:a16="http://schemas.microsoft.com/office/drawing/2014/main" id="{437855BE-D8AA-4100-85BB-49A1E316F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32718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8" name="Line 16">
            <a:extLst>
              <a:ext uri="{FF2B5EF4-FFF2-40B4-BE49-F238E27FC236}">
                <a16:creationId xmlns:a16="http://schemas.microsoft.com/office/drawing/2014/main" id="{EA65146B-3FAC-4DBF-8F2B-166A2B7B8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2628" y="3043238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17">
            <a:extLst>
              <a:ext uri="{FF2B5EF4-FFF2-40B4-BE49-F238E27FC236}">
                <a16:creationId xmlns:a16="http://schemas.microsoft.com/office/drawing/2014/main" id="{865B378D-E7DA-4FFB-A3AE-11E5944A13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0940" y="3424238"/>
            <a:ext cx="3020493" cy="83026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0" name="Line 18">
            <a:extLst>
              <a:ext uri="{FF2B5EF4-FFF2-40B4-BE49-F238E27FC236}">
                <a16:creationId xmlns:a16="http://schemas.microsoft.com/office/drawing/2014/main" id="{CB675885-E749-43B2-AD92-0310829E75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2628" y="3652838"/>
            <a:ext cx="2992069" cy="8874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" name="Line 19">
            <a:extLst>
              <a:ext uri="{FF2B5EF4-FFF2-40B4-BE49-F238E27FC236}">
                <a16:creationId xmlns:a16="http://schemas.microsoft.com/office/drawing/2014/main" id="{8C3ECE4C-AD7F-4C29-BDB5-A9364A31E0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92628" y="3881438"/>
            <a:ext cx="2978805" cy="9001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2" name="Text Box 20">
            <a:extLst>
              <a:ext uri="{FF2B5EF4-FFF2-40B4-BE49-F238E27FC236}">
                <a16:creationId xmlns:a16="http://schemas.microsoft.com/office/drawing/2014/main" id="{376EFC3A-4CF6-4BE5-8D13-A049D169B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967" y="2803525"/>
            <a:ext cx="3372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2400" b="1">
                <a:solidFill>
                  <a:srgbClr val="F27037"/>
                </a:solidFill>
                <a:latin typeface="+mj-ea"/>
                <a:ea typeface="+mj-ea"/>
              </a:rPr>
              <a:t>X</a:t>
            </a:r>
          </a:p>
        </p:txBody>
      </p:sp>
      <p:sp>
        <p:nvSpPr>
          <p:cNvPr id="43" name="Line 24">
            <a:extLst>
              <a:ext uri="{FF2B5EF4-FFF2-40B4-BE49-F238E27FC236}">
                <a16:creationId xmlns:a16="http://schemas.microsoft.com/office/drawing/2014/main" id="{E3FA738A-DFC2-4CAB-9839-7701C79A9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2946" y="4822825"/>
            <a:ext cx="3024283" cy="590550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4" name="Text Box 29">
            <a:extLst>
              <a:ext uri="{FF2B5EF4-FFF2-40B4-BE49-F238E27FC236}">
                <a16:creationId xmlns:a16="http://schemas.microsoft.com/office/drawing/2014/main" id="{78F93A5E-F4F4-4619-ADC8-8D1DF7989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787" y="5730875"/>
            <a:ext cx="2585964" cy="5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“triple duplicate ACK”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</a:t>
            </a:r>
            <a:b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받고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fast retransmit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함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63" name="Line 118">
            <a:extLst>
              <a:ext uri="{FF2B5EF4-FFF2-40B4-BE49-F238E27FC236}">
                <a16:creationId xmlns:a16="http://schemas.microsoft.com/office/drawing/2014/main" id="{BA17C55D-6EBC-4744-A964-1E6FCDCF7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818" y="2174875"/>
            <a:ext cx="0" cy="3525838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Text Box 123">
            <a:extLst>
              <a:ext uri="{FF2B5EF4-FFF2-40B4-BE49-F238E27FC236}">
                <a16:creationId xmlns:a16="http://schemas.microsoft.com/office/drawing/2014/main" id="{ED4D6FFE-EA6E-489D-90AD-AEF057ED0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3541142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64" name="Text Box 123">
            <a:extLst>
              <a:ext uri="{FF2B5EF4-FFF2-40B4-BE49-F238E27FC236}">
                <a16:creationId xmlns:a16="http://schemas.microsoft.com/office/drawing/2014/main" id="{3E6CE50E-56B5-43D5-8404-1133AA22E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3860759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65" name="Text Box 123">
            <a:extLst>
              <a:ext uri="{FF2B5EF4-FFF2-40B4-BE49-F238E27FC236}">
                <a16:creationId xmlns:a16="http://schemas.microsoft.com/office/drawing/2014/main" id="{E948B33D-DCED-4171-A5BC-0C4B76174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4180376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66" name="Text Box 123">
            <a:extLst>
              <a:ext uri="{FF2B5EF4-FFF2-40B4-BE49-F238E27FC236}">
                <a16:creationId xmlns:a16="http://schemas.microsoft.com/office/drawing/2014/main" id="{05F72892-B0A3-4DC7-AB17-23705F499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409" y="4499992"/>
            <a:ext cx="1040104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ACK=100</a:t>
            </a:r>
          </a:p>
        </p:txBody>
      </p:sp>
      <p:sp>
        <p:nvSpPr>
          <p:cNvPr id="32" name="Text Box 123">
            <a:extLst>
              <a:ext uri="{FF2B5EF4-FFF2-40B4-BE49-F238E27FC236}">
                <a16:creationId xmlns:a16="http://schemas.microsoft.com/office/drawing/2014/main" id="{9FB69FDC-72D4-4CBB-9505-4B0D20C62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240" y="5040125"/>
            <a:ext cx="1287780" cy="463400"/>
          </a:xfrm>
          <a:prstGeom prst="roundRect">
            <a:avLst>
              <a:gd name="adj" fmla="val 17113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Seq=100, 20 bytes of data</a:t>
            </a:r>
          </a:p>
        </p:txBody>
      </p:sp>
      <p:sp>
        <p:nvSpPr>
          <p:cNvPr id="30" name="Text Box 123">
            <a:extLst>
              <a:ext uri="{FF2B5EF4-FFF2-40B4-BE49-F238E27FC236}">
                <a16:creationId xmlns:a16="http://schemas.microsoft.com/office/drawing/2014/main" id="{F4D512A9-FCF5-4B71-B124-B738A7886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543" y="2537062"/>
            <a:ext cx="230080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Seq=100, 20 bytes of data</a:t>
            </a:r>
          </a:p>
        </p:txBody>
      </p:sp>
      <p:sp>
        <p:nvSpPr>
          <p:cNvPr id="31" name="Text Box 123">
            <a:extLst>
              <a:ext uri="{FF2B5EF4-FFF2-40B4-BE49-F238E27FC236}">
                <a16:creationId xmlns:a16="http://schemas.microsoft.com/office/drawing/2014/main" id="{B5FEBB7B-0DE0-4B4E-AD76-965EDB873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353" y="2209402"/>
            <a:ext cx="2293187" cy="27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rgbClr val="E1ECF7"/>
            </a:solidFill>
          </a:ln>
        </p:spPr>
        <p:txBody>
          <a:bodyPr wrap="square" tIns="0" rIns="36000" bIns="0" anchor="ctr">
            <a:noAutofit/>
          </a:bodyPr>
          <a:lstStyle>
            <a:defPPr>
              <a:defRPr lang="ko-KR"/>
            </a:defPPr>
            <a:lvl1pPr algn="ctr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200"/>
              <a:t>Seq=92, 8 bytes of data</a:t>
            </a:r>
          </a:p>
        </p:txBody>
      </p:sp>
    </p:spTree>
    <p:extLst>
      <p:ext uri="{BB962C8B-B14F-4D97-AF65-F5344CB8AC3E}">
        <p14:creationId xmlns:p14="http://schemas.microsoft.com/office/powerpoint/2010/main" val="1023099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5710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자유형: 도형 64">
            <a:extLst>
              <a:ext uri="{FF2B5EF4-FFF2-40B4-BE49-F238E27FC236}">
                <a16:creationId xmlns:a16="http://schemas.microsoft.com/office/drawing/2014/main" id="{37A87705-2D65-4545-B8A9-80ABBB2CE707}"/>
              </a:ext>
            </a:extLst>
          </p:cNvPr>
          <p:cNvSpPr/>
          <p:nvPr/>
        </p:nvSpPr>
        <p:spPr>
          <a:xfrm>
            <a:off x="6697980" y="1280160"/>
            <a:ext cx="1112520" cy="4396740"/>
          </a:xfrm>
          <a:custGeom>
            <a:avLst/>
            <a:gdLst>
              <a:gd name="connsiteX0" fmla="*/ 15240 w 1112520"/>
              <a:gd name="connsiteY0" fmla="*/ 0 h 4396740"/>
              <a:gd name="connsiteX1" fmla="*/ 1112520 w 1112520"/>
              <a:gd name="connsiteY1" fmla="*/ 3566160 h 4396740"/>
              <a:gd name="connsiteX2" fmla="*/ 1112520 w 1112520"/>
              <a:gd name="connsiteY2" fmla="*/ 4396740 h 4396740"/>
              <a:gd name="connsiteX3" fmla="*/ 731520 w 1112520"/>
              <a:gd name="connsiteY3" fmla="*/ 4396740 h 4396740"/>
              <a:gd name="connsiteX4" fmla="*/ 0 w 1112520"/>
              <a:gd name="connsiteY4" fmla="*/ 3794760 h 4396740"/>
              <a:gd name="connsiteX5" fmla="*/ 15240 w 1112520"/>
              <a:gd name="connsiteY5" fmla="*/ 0 h 4396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2520" h="4396740">
                <a:moveTo>
                  <a:pt x="15240" y="0"/>
                </a:moveTo>
                <a:lnTo>
                  <a:pt x="1112520" y="3566160"/>
                </a:lnTo>
                <a:lnTo>
                  <a:pt x="1112520" y="4396740"/>
                </a:lnTo>
                <a:lnTo>
                  <a:pt x="731520" y="4396740"/>
                </a:lnTo>
                <a:lnTo>
                  <a:pt x="0" y="3794760"/>
                </a:lnTo>
                <a:lnTo>
                  <a:pt x="15240" y="0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solidFill>
                  <a:schemeClr val="bg1"/>
                </a:solidFill>
                <a:cs typeface="+mj-cs"/>
              </a:rPr>
              <a:t>흐름 제어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17CA9017-5BAF-4707-947C-702FFD107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3855" y="1254443"/>
            <a:ext cx="2533650" cy="38147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" name="Oval 31">
            <a:extLst>
              <a:ext uri="{FF2B5EF4-FFF2-40B4-BE49-F238E27FC236}">
                <a16:creationId xmlns:a16="http://schemas.microsoft.com/office/drawing/2014/main" id="{54194D63-A7B3-4BC9-88D5-8E35B09C0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1236" y="1311593"/>
            <a:ext cx="1818888" cy="596900"/>
          </a:xfrm>
          <a:prstGeom prst="ellipse">
            <a:avLst/>
          </a:prstGeom>
          <a:solidFill>
            <a:srgbClr val="EFF5FB"/>
          </a:solidFill>
          <a:ln w="9525">
            <a:solidFill>
              <a:srgbClr val="105BA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application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process</a:t>
            </a:r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439AD6B3-6E99-4989-B34C-BCBCCC54D9C6}"/>
              </a:ext>
            </a:extLst>
          </p:cNvPr>
          <p:cNvGrpSpPr>
            <a:grpSpLocks/>
          </p:cNvGrpSpPr>
          <p:nvPr/>
        </p:nvGrpSpPr>
        <p:grpSpPr bwMode="auto">
          <a:xfrm>
            <a:off x="4542949" y="2379980"/>
            <a:ext cx="1795463" cy="688975"/>
            <a:chOff x="1173" y="2345"/>
            <a:chExt cx="1131" cy="434"/>
          </a:xfrm>
        </p:grpSpPr>
        <p:sp>
          <p:nvSpPr>
            <p:cNvPr id="9" name="Rectangle 44">
              <a:extLst>
                <a:ext uri="{FF2B5EF4-FFF2-40B4-BE49-F238E27FC236}">
                  <a16:creationId xmlns:a16="http://schemas.microsoft.com/office/drawing/2014/main" id="{F4DCC9F7-579F-4D60-97C5-01B82217A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" y="2345"/>
              <a:ext cx="1131" cy="4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0" name="Text Box 46">
              <a:extLst>
                <a:ext uri="{FF2B5EF4-FFF2-40B4-BE49-F238E27FC236}">
                  <a16:creationId xmlns:a16="http://schemas.microsoft.com/office/drawing/2014/main" id="{2CAA33BA-EAEF-4661-88FE-38332CB1B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2" y="2388"/>
              <a:ext cx="1040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TCP socket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receiver buffers</a:t>
              </a:r>
            </a:p>
          </p:txBody>
        </p:sp>
      </p:grpSp>
      <p:sp>
        <p:nvSpPr>
          <p:cNvPr id="11" name="Oval 48">
            <a:extLst>
              <a:ext uri="{FF2B5EF4-FFF2-40B4-BE49-F238E27FC236}">
                <a16:creationId xmlns:a16="http://schemas.microsoft.com/office/drawing/2014/main" id="{91DBF88F-B004-4050-822A-9A8562717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286" y="3403918"/>
            <a:ext cx="1761738" cy="596900"/>
          </a:xfrm>
          <a:prstGeom prst="ellipse">
            <a:avLst/>
          </a:prstGeom>
          <a:solidFill>
            <a:srgbClr val="EFF5FB"/>
          </a:solidFill>
          <a:ln w="9525">
            <a:solidFill>
              <a:srgbClr val="105BA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5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2" name="Text Box 64">
            <a:extLst>
              <a:ext uri="{FF2B5EF4-FFF2-40B4-BE49-F238E27FC236}">
                <a16:creationId xmlns:a16="http://schemas.microsoft.com/office/drawing/2014/main" id="{3E50A8FB-1875-453C-BDA6-AB66D1E36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1944" y="3427730"/>
            <a:ext cx="66236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code</a:t>
            </a:r>
          </a:p>
        </p:txBody>
      </p:sp>
      <p:sp>
        <p:nvSpPr>
          <p:cNvPr id="13" name="Oval 65">
            <a:extLst>
              <a:ext uri="{FF2B5EF4-FFF2-40B4-BE49-F238E27FC236}">
                <a16:creationId xmlns:a16="http://schemas.microsoft.com/office/drawing/2014/main" id="{508CBF76-D989-4BFC-AE3C-325CC89FD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8224" y="4389755"/>
            <a:ext cx="1761738" cy="596900"/>
          </a:xfrm>
          <a:prstGeom prst="ellipse">
            <a:avLst/>
          </a:prstGeom>
          <a:solidFill>
            <a:srgbClr val="EFF5FB"/>
          </a:solidFill>
          <a:ln w="9525">
            <a:solidFill>
              <a:srgbClr val="105BA0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ko-KR" altLang="ko-KR" sz="15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4" name="Text Box 66">
            <a:extLst>
              <a:ext uri="{FF2B5EF4-FFF2-40B4-BE49-F238E27FC236}">
                <a16:creationId xmlns:a16="http://schemas.microsoft.com/office/drawing/2014/main" id="{646E2AB0-C0EE-4533-B851-F11D0507D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881" y="4413568"/>
            <a:ext cx="66236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IP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code</a:t>
            </a:r>
          </a:p>
        </p:txBody>
      </p:sp>
      <p:sp>
        <p:nvSpPr>
          <p:cNvPr id="16" name="Line 68">
            <a:extLst>
              <a:ext uri="{FF2B5EF4-FFF2-40B4-BE49-F238E27FC236}">
                <a16:creationId xmlns:a16="http://schemas.microsoft.com/office/drawing/2014/main" id="{A9E56354-5A3A-49FE-9B40-756E6D1F6A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7505" y="4138930"/>
            <a:ext cx="25463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69">
            <a:extLst>
              <a:ext uri="{FF2B5EF4-FFF2-40B4-BE49-F238E27FC236}">
                <a16:creationId xmlns:a16="http://schemas.microsoft.com/office/drawing/2014/main" id="{C02D3A5A-53C9-4FB7-BF35-2773242A8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0205" y="2287905"/>
            <a:ext cx="252539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18" name="Group 56">
            <a:extLst>
              <a:ext uri="{FF2B5EF4-FFF2-40B4-BE49-F238E27FC236}">
                <a16:creationId xmlns:a16="http://schemas.microsoft.com/office/drawing/2014/main" id="{28E8B806-5A52-4848-BABB-8E4DBE487386}"/>
              </a:ext>
            </a:extLst>
          </p:cNvPr>
          <p:cNvGrpSpPr>
            <a:grpSpLocks/>
          </p:cNvGrpSpPr>
          <p:nvPr/>
        </p:nvGrpSpPr>
        <p:grpSpPr bwMode="auto">
          <a:xfrm>
            <a:off x="4966460" y="2172018"/>
            <a:ext cx="913516" cy="206375"/>
            <a:chOff x="2003" y="1816"/>
            <a:chExt cx="336" cy="130"/>
          </a:xfrm>
        </p:grpSpPr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00F7A865-8F56-4795-AC2A-7DE0881D8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" y="1816"/>
              <a:ext cx="336" cy="130"/>
            </a:xfrm>
            <a:prstGeom prst="rect">
              <a:avLst/>
            </a:prstGeom>
            <a:solidFill>
              <a:srgbClr val="FFE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965D76E3-C0F1-45D3-8731-F6ED945C1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6" y="1833"/>
              <a:ext cx="110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B24F9D43-108B-4B66-9F21-870E9780F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9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EB16F990-843C-4EC9-A914-58D26046F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" y="189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25" name="Rectangle 74">
            <a:extLst>
              <a:ext uri="{FF2B5EF4-FFF2-40B4-BE49-F238E27FC236}">
                <a16:creationId xmlns:a16="http://schemas.microsoft.com/office/drawing/2014/main" id="{D7BBE63F-F013-4816-861D-9715CEC07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9418" y="5124768"/>
            <a:ext cx="142558" cy="20955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8" name="Rectangle 80">
            <a:extLst>
              <a:ext uri="{FF2B5EF4-FFF2-40B4-BE49-F238E27FC236}">
                <a16:creationId xmlns:a16="http://schemas.microsoft.com/office/drawing/2014/main" id="{5F6E0BFB-0B3A-422F-B80C-751D0761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265" y="4189730"/>
            <a:ext cx="149701" cy="20955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31" name="Rectangle 92">
            <a:extLst>
              <a:ext uri="{FF2B5EF4-FFF2-40B4-BE49-F238E27FC236}">
                <a16:creationId xmlns:a16="http://schemas.microsoft.com/office/drawing/2014/main" id="{8376D57B-4EA3-4638-BCDE-6F46CFA74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11" y="5121593"/>
            <a:ext cx="727200" cy="2127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grpSp>
        <p:nvGrpSpPr>
          <p:cNvPr id="32" name="Group 99">
            <a:extLst>
              <a:ext uri="{FF2B5EF4-FFF2-40B4-BE49-F238E27FC236}">
                <a16:creationId xmlns:a16="http://schemas.microsoft.com/office/drawing/2014/main" id="{66C66C79-9EF6-4886-87DF-240C0218D419}"/>
              </a:ext>
            </a:extLst>
          </p:cNvPr>
          <p:cNvGrpSpPr>
            <a:grpSpLocks/>
          </p:cNvGrpSpPr>
          <p:nvPr/>
        </p:nvGrpSpPr>
        <p:grpSpPr bwMode="auto">
          <a:xfrm>
            <a:off x="6740843" y="1916832"/>
            <a:ext cx="1257300" cy="717550"/>
            <a:chOff x="568" y="1651"/>
            <a:chExt cx="792" cy="452"/>
          </a:xfrm>
        </p:grpSpPr>
        <p:sp>
          <p:nvSpPr>
            <p:cNvPr id="33" name="Text Box 95">
              <a:extLst>
                <a:ext uri="{FF2B5EF4-FFF2-40B4-BE49-F238E27FC236}">
                  <a16:creationId xmlns:a16="http://schemas.microsoft.com/office/drawing/2014/main" id="{95C30E59-178A-454C-AA1C-BFF546D8CE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1651"/>
              <a:ext cx="79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application</a:t>
              </a:r>
            </a:p>
          </p:txBody>
        </p:sp>
        <p:sp>
          <p:nvSpPr>
            <p:cNvPr id="34" name="Text Box 96">
              <a:extLst>
                <a:ext uri="{FF2B5EF4-FFF2-40B4-BE49-F238E27FC236}">
                  <a16:creationId xmlns:a16="http://schemas.microsoft.com/office/drawing/2014/main" id="{7D59F8E0-EDA1-4E7C-985F-E671DB642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" y="1882"/>
              <a:ext cx="28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OS</a:t>
              </a:r>
            </a:p>
          </p:txBody>
        </p:sp>
        <p:sp>
          <p:nvSpPr>
            <p:cNvPr id="35" name="Line 98">
              <a:extLst>
                <a:ext uri="{FF2B5EF4-FFF2-40B4-BE49-F238E27FC236}">
                  <a16:creationId xmlns:a16="http://schemas.microsoft.com/office/drawing/2014/main" id="{CC915C30-2AA1-4945-9F2A-DAC2889FD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" y="1886"/>
              <a:ext cx="6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36" name="Text Box 103">
            <a:extLst>
              <a:ext uri="{FF2B5EF4-FFF2-40B4-BE49-F238E27FC236}">
                <a16:creationId xmlns:a16="http://schemas.microsoft.com/office/drawing/2014/main" id="{FB410A67-E051-4498-AA55-BC25D0E1DD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1017" y="6021288"/>
            <a:ext cx="271901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수신 측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 protocol stack</a:t>
            </a:r>
          </a:p>
        </p:txBody>
      </p:sp>
      <p:sp>
        <p:nvSpPr>
          <p:cNvPr id="37" name="Text Box 104">
            <a:extLst>
              <a:ext uri="{FF2B5EF4-FFF2-40B4-BE49-F238E27FC236}">
                <a16:creationId xmlns:a16="http://schemas.microsoft.com/office/drawing/2014/main" id="{D208E945-0057-45FB-9A33-4056A68DD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1922780"/>
            <a:ext cx="2170112" cy="90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latinLnBrk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애플리케이션이 소켓 버퍼에서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데이터를 읽어가는 속도가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</a:t>
            </a:r>
          </a:p>
        </p:txBody>
      </p:sp>
      <p:sp>
        <p:nvSpPr>
          <p:cNvPr id="38" name="Line 105">
            <a:extLst>
              <a:ext uri="{FF2B5EF4-FFF2-40B4-BE49-F238E27FC236}">
                <a16:creationId xmlns:a16="http://schemas.microsoft.com/office/drawing/2014/main" id="{5C8AB252-45FA-4292-8EBB-03E85A31E3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1744" y="2027555"/>
            <a:ext cx="1323499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 Box 106">
            <a:extLst>
              <a:ext uri="{FF2B5EF4-FFF2-40B4-BE49-F238E27FC236}">
                <a16:creationId xmlns:a16="http://schemas.microsoft.com/office/drawing/2014/main" id="{AF3650F0-A7D3-4EE4-9E1B-372360ED0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316" y="3068960"/>
            <a:ext cx="2273300" cy="90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 TCP 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수신부가 전달해주는 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측이 보내오는</a:t>
            </a:r>
            <a:r>
              <a:rPr lang="en-US" altLang="ko-KR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속도보다 느릴 수 있다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0" name="Line 108">
            <a:extLst>
              <a:ext uri="{FF2B5EF4-FFF2-40B4-BE49-F238E27FC236}">
                <a16:creationId xmlns:a16="http://schemas.microsoft.com/office/drawing/2014/main" id="{8DADE348-31EE-456B-9015-550FDE39A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9050" y="3232468"/>
            <a:ext cx="709930" cy="0"/>
          </a:xfrm>
          <a:prstGeom prst="line">
            <a:avLst/>
          </a:pr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Line 115">
            <a:extLst>
              <a:ext uri="{FF2B5EF4-FFF2-40B4-BE49-F238E27FC236}">
                <a16:creationId xmlns:a16="http://schemas.microsoft.com/office/drawing/2014/main" id="{05E13B61-9CAA-497A-98A8-82510DCEF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4150" y="5378450"/>
            <a:ext cx="10160" cy="316865"/>
          </a:xfrm>
          <a:prstGeom prst="line">
            <a:avLst/>
          </a:prstGeom>
          <a:noFill/>
          <a:ln w="57150" cap="sq">
            <a:solidFill>
              <a:srgbClr val="F27037"/>
            </a:solidFill>
            <a:prstDash val="sysDot"/>
            <a:bevel/>
            <a:tailEnd type="none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42" name="Text Box 116">
            <a:extLst>
              <a:ext uri="{FF2B5EF4-FFF2-40B4-BE49-F238E27FC236}">
                <a16:creationId xmlns:a16="http://schemas.microsoft.com/office/drawing/2014/main" id="{415764CB-65AC-4B07-8551-859B76F54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216" y="5661248"/>
            <a:ext cx="1515159" cy="323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5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송신 </a:t>
            </a:r>
            <a:r>
              <a:rPr lang="ko-KR" altLang="en-US" sz="15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측으로부터</a:t>
            </a:r>
            <a:endParaRPr lang="en-US" altLang="ko-KR" sz="15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3" name="Line 118">
            <a:extLst>
              <a:ext uri="{FF2B5EF4-FFF2-40B4-BE49-F238E27FC236}">
                <a16:creationId xmlns:a16="http://schemas.microsoft.com/office/drawing/2014/main" id="{DE1570D2-4E31-4704-A384-76FDDFDF03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6393" y="5064443"/>
            <a:ext cx="0" cy="4635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9C00C74-3908-4844-BA13-4B1B70D2EDB3}"/>
              </a:ext>
            </a:extLst>
          </p:cNvPr>
          <p:cNvGrpSpPr/>
          <p:nvPr/>
        </p:nvGrpSpPr>
        <p:grpSpPr>
          <a:xfrm>
            <a:off x="7146249" y="4722276"/>
            <a:ext cx="987074" cy="998404"/>
            <a:chOff x="7003085" y="1565423"/>
            <a:chExt cx="878294" cy="888376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A404E77A-6B68-4575-A8D6-10DE7F7693F1}"/>
                </a:ext>
              </a:extLst>
            </p:cNvPr>
            <p:cNvSpPr/>
            <p:nvPr/>
          </p:nvSpPr>
          <p:spPr>
            <a:xfrm>
              <a:off x="7003085" y="1575505"/>
              <a:ext cx="878294" cy="878294"/>
            </a:xfrm>
            <a:prstGeom prst="ellipse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C36073F7-4DF6-42A9-A3AA-3B38E3F7D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4112" y="1565423"/>
              <a:ext cx="754308" cy="863858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B06B767-0C91-4132-8EC0-11BD72A752E4}"/>
              </a:ext>
            </a:extLst>
          </p:cNvPr>
          <p:cNvGrpSpPr/>
          <p:nvPr/>
        </p:nvGrpSpPr>
        <p:grpSpPr>
          <a:xfrm>
            <a:off x="659985" y="4005064"/>
            <a:ext cx="3208019" cy="2327156"/>
            <a:chOff x="579120" y="4005064"/>
            <a:chExt cx="3208019" cy="2327156"/>
          </a:xfrm>
        </p:grpSpPr>
        <p:sp>
          <p:nvSpPr>
            <p:cNvPr id="63" name="사각형: 잘린 한쪽 모서리 62">
              <a:extLst>
                <a:ext uri="{FF2B5EF4-FFF2-40B4-BE49-F238E27FC236}">
                  <a16:creationId xmlns:a16="http://schemas.microsoft.com/office/drawing/2014/main" id="{9B8C9585-8951-4C02-ADFC-EF333CE17B4C}"/>
                </a:ext>
              </a:extLst>
            </p:cNvPr>
            <p:cNvSpPr/>
            <p:nvPr/>
          </p:nvSpPr>
          <p:spPr>
            <a:xfrm>
              <a:off x="579120" y="4381500"/>
              <a:ext cx="3208019" cy="1950720"/>
            </a:xfrm>
            <a:prstGeom prst="snip1Rect">
              <a:avLst>
                <a:gd name="adj" fmla="val 4626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sym typeface="Arial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6066C1D9-157A-4201-8F4E-5B62D4F56984}"/>
                </a:ext>
              </a:extLst>
            </p:cNvPr>
            <p:cNvSpPr/>
            <p:nvPr/>
          </p:nvSpPr>
          <p:spPr>
            <a:xfrm>
              <a:off x="758638" y="4515365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9" name="그래픽 9">
              <a:extLst>
                <a:ext uri="{FF2B5EF4-FFF2-40B4-BE49-F238E27FC236}">
                  <a16:creationId xmlns:a16="http://schemas.microsoft.com/office/drawing/2014/main" id="{02C81674-B11B-4DD9-9AE3-9EC6524C04BA}"/>
                </a:ext>
              </a:extLst>
            </p:cNvPr>
            <p:cNvSpPr/>
            <p:nvPr/>
          </p:nvSpPr>
          <p:spPr>
            <a:xfrm rot="5400000">
              <a:off x="638045" y="4037153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rgbClr val="09898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Rectangle 5">
              <a:extLst>
                <a:ext uri="{FF2B5EF4-FFF2-40B4-BE49-F238E27FC236}">
                  <a16:creationId xmlns:a16="http://schemas.microsoft.com/office/drawing/2014/main" id="{A9B64292-D0BA-4077-957C-EC8A020C4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293" y="4576470"/>
              <a:ext cx="2815938" cy="4316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buClr>
                  <a:schemeClr val="accent2"/>
                </a:buClr>
                <a:buSzPct val="85000"/>
              </a:pPr>
              <a:r>
                <a:rPr lang="ko-KR" altLang="en-US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흐름 제어</a:t>
              </a:r>
              <a:r>
                <a:rPr lang="en-US" altLang="ko-KR" dirty="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+mj-ea"/>
                  <a:ea typeface="+mj-ea"/>
                  <a:cs typeface="+mj-cs"/>
                </a:rPr>
                <a:t>(flow control)</a:t>
              </a:r>
            </a:p>
          </p:txBody>
        </p:sp>
        <p:sp>
          <p:nvSpPr>
            <p:cNvPr id="61" name="Rectangle 3">
              <a:extLst>
                <a:ext uri="{FF2B5EF4-FFF2-40B4-BE49-F238E27FC236}">
                  <a16:creationId xmlns:a16="http://schemas.microsoft.com/office/drawing/2014/main" id="{D5F9EE33-19F8-46EA-B235-D577E705809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9293" y="4999504"/>
              <a:ext cx="3028872" cy="1181285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44000" lvl="3" indent="-144000" latinLnBrk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송신자가 너무 빨리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너무 많이 전송하여 수신자의 버퍼가 넘치는 일이 생기지 않도록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, </a:t>
              </a: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수신자가 송신자를 제어한다</a:t>
              </a:r>
              <a:r>
                <a:rPr lang="en-US" altLang="ko-KR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1F87300B-F1A4-4898-A293-6F1FD28E8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1128" y="4115820"/>
              <a:ext cx="277090" cy="341744"/>
            </a:xfrm>
            <a:prstGeom prst="rect">
              <a:avLst/>
            </a:prstGeom>
          </p:spPr>
        </p:pic>
      </p:grpSp>
      <p:sp>
        <p:nvSpPr>
          <p:cNvPr id="66" name="타원 65">
            <a:extLst>
              <a:ext uri="{FF2B5EF4-FFF2-40B4-BE49-F238E27FC236}">
                <a16:creationId xmlns:a16="http://schemas.microsoft.com/office/drawing/2014/main" id="{75E28808-2DFB-47B5-8538-372C6FC2B9A2}"/>
              </a:ext>
            </a:extLst>
          </p:cNvPr>
          <p:cNvSpPr/>
          <p:nvPr/>
        </p:nvSpPr>
        <p:spPr>
          <a:xfrm>
            <a:off x="5074915" y="199193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0470E2F5-8B35-46AB-9C00-CE5357EFE273}"/>
              </a:ext>
            </a:extLst>
          </p:cNvPr>
          <p:cNvSpPr/>
          <p:nvPr/>
        </p:nvSpPr>
        <p:spPr>
          <a:xfrm>
            <a:off x="4484365" y="3198432"/>
            <a:ext cx="72000" cy="720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583"/>
            <a:endParaRPr lang="ko-KR" altLang="en-US" b="1" dirty="0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69" name="Rectangle 74">
            <a:extLst>
              <a:ext uri="{FF2B5EF4-FFF2-40B4-BE49-F238E27FC236}">
                <a16:creationId xmlns:a16="http://schemas.microsoft.com/office/drawing/2014/main" id="{2330688F-299D-4F28-81AD-7339FA6A3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1265" y="5124768"/>
            <a:ext cx="142558" cy="209550"/>
          </a:xfrm>
          <a:prstGeom prst="rect">
            <a:avLst/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72" name="그래픽 70">
            <a:extLst>
              <a:ext uri="{FF2B5EF4-FFF2-40B4-BE49-F238E27FC236}">
                <a16:creationId xmlns:a16="http://schemas.microsoft.com/office/drawing/2014/main" id="{BEA9B853-C64C-4CF6-B8BF-F67102B9CDB6}"/>
              </a:ext>
            </a:extLst>
          </p:cNvPr>
          <p:cNvSpPr/>
          <p:nvPr/>
        </p:nvSpPr>
        <p:spPr>
          <a:xfrm>
            <a:off x="5269676" y="1860803"/>
            <a:ext cx="346452" cy="544260"/>
          </a:xfrm>
          <a:custGeom>
            <a:avLst/>
            <a:gdLst>
              <a:gd name="connsiteX0" fmla="*/ 282218 w 283758"/>
              <a:gd name="connsiteY0" fmla="*/ 71149 h 445770"/>
              <a:gd name="connsiteX1" fmla="*/ 142295 w 283758"/>
              <a:gd name="connsiteY1" fmla="*/ 445577 h 445770"/>
              <a:gd name="connsiteX2" fmla="*/ 27138 w 283758"/>
              <a:gd name="connsiteY2" fmla="*/ -193 h 445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758" h="445770">
                <a:moveTo>
                  <a:pt x="282218" y="71149"/>
                </a:moveTo>
                <a:cubicBezTo>
                  <a:pt x="283456" y="203642"/>
                  <a:pt x="302792" y="445577"/>
                  <a:pt x="142295" y="445577"/>
                </a:cubicBezTo>
                <a:cubicBezTo>
                  <a:pt x="-56587" y="445577"/>
                  <a:pt x="3230" y="98581"/>
                  <a:pt x="27138" y="-193"/>
                </a:cubicBezTo>
              </a:path>
            </a:pathLst>
          </a:custGeom>
          <a:noFill/>
          <a:ln w="57150" cap="flat">
            <a:solidFill>
              <a:srgbClr val="F27037"/>
            </a:solidFill>
            <a:prstDash val="solid"/>
            <a:round/>
            <a:head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5" name="그래픽 73">
            <a:extLst>
              <a:ext uri="{FF2B5EF4-FFF2-40B4-BE49-F238E27FC236}">
                <a16:creationId xmlns:a16="http://schemas.microsoft.com/office/drawing/2014/main" id="{A56E7231-1623-4453-8560-73643E6CE8C2}"/>
              </a:ext>
            </a:extLst>
          </p:cNvPr>
          <p:cNvSpPr/>
          <p:nvPr/>
        </p:nvSpPr>
        <p:spPr>
          <a:xfrm>
            <a:off x="5252623" y="3098523"/>
            <a:ext cx="366297" cy="2318554"/>
          </a:xfrm>
          <a:custGeom>
            <a:avLst/>
            <a:gdLst>
              <a:gd name="connsiteX0" fmla="*/ 11233 w 296688"/>
              <a:gd name="connsiteY0" fmla="*/ 1877791 h 1877949"/>
              <a:gd name="connsiteX1" fmla="*/ 156013 w 296688"/>
              <a:gd name="connsiteY1" fmla="*/ -158 h 1877949"/>
              <a:gd name="connsiteX2" fmla="*/ 276409 w 296688"/>
              <a:gd name="connsiteY2" fmla="*/ 1805211 h 1877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688" h="1877949">
                <a:moveTo>
                  <a:pt x="11233" y="1877791"/>
                </a:moveTo>
                <a:cubicBezTo>
                  <a:pt x="1041" y="1561371"/>
                  <a:pt x="-42869" y="-158"/>
                  <a:pt x="156013" y="-158"/>
                </a:cubicBezTo>
                <a:cubicBezTo>
                  <a:pt x="344132" y="-158"/>
                  <a:pt x="296030" y="1342201"/>
                  <a:pt x="276409" y="1805211"/>
                </a:cubicBezTo>
              </a:path>
            </a:pathLst>
          </a:custGeom>
          <a:noFill/>
          <a:ln w="57150" cap="flat">
            <a:solidFill>
              <a:srgbClr val="F27037"/>
            </a:solidFill>
            <a:prstDash val="solid"/>
            <a:round/>
            <a:tailEnd type="triangle"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6" name="Line 108">
            <a:extLst>
              <a:ext uri="{FF2B5EF4-FFF2-40B4-BE49-F238E27FC236}">
                <a16:creationId xmlns:a16="http://schemas.microsoft.com/office/drawing/2014/main" id="{6FEF386A-3284-434C-8140-A0F77FB25C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0695" y="5392571"/>
            <a:ext cx="0" cy="266107"/>
          </a:xfrm>
          <a:prstGeom prst="line">
            <a:avLst/>
          </a:prstGeom>
          <a:noFill/>
          <a:ln w="9525" cap="rnd">
            <a:solidFill>
              <a:schemeClr val="bg2">
                <a:lumMod val="10000"/>
              </a:schemeClr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91">
            <a:extLst>
              <a:ext uri="{FF2B5EF4-FFF2-40B4-BE49-F238E27FC236}">
                <a16:creationId xmlns:a16="http://schemas.microsoft.com/office/drawing/2014/main" id="{5EFB6DE0-7E61-4D85-81E8-6F43188FA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10" y="4189730"/>
            <a:ext cx="727200" cy="2095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  <p:sp>
        <p:nvSpPr>
          <p:cNvPr id="29" name="Rectangle 86">
            <a:extLst>
              <a:ext uri="{FF2B5EF4-FFF2-40B4-BE49-F238E27FC236}">
                <a16:creationId xmlns:a16="http://schemas.microsoft.com/office/drawing/2014/main" id="{91F23D6A-BD0A-4A75-B653-C0BF347FA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11" y="3148330"/>
            <a:ext cx="725446" cy="2095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endParaRPr lang="ko-KR" altLang="ko-KR" sz="1600">
              <a:latin typeface="G마켓 산스 TTF Medium" panose="02000000000000000000" pitchFamily="2" charset="-127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46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cs typeface="+mj-cs"/>
              </a:rPr>
              <a:t>TCP </a:t>
            </a:r>
            <a:r>
              <a:rPr lang="ko-KR" altLang="en-US">
                <a:solidFill>
                  <a:schemeClr val="bg1"/>
                </a:solidFill>
                <a:cs typeface="+mj-cs"/>
              </a:rPr>
              <a:t>흐름 제어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E7674-2EC9-490B-BCDD-C1558CED92C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60133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수신 측이 보내는 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TCP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헤더의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rwnd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값을 통해 </a:t>
            </a:r>
            <a:r>
              <a:rPr lang="ko-KR" altLang="en-US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비어있는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버퍼 공간을 </a:t>
            </a:r>
            <a:b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</a:b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알려줄 수 있다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519DA10-7329-421F-8037-15F9FF4B4D1E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844824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RcvBuffer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크기는 소켓 옵션으로 설정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전형적인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default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는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4096 byte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임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많은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OS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가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RcvBuffer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자동 조정함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0B25E7E-DE43-4CE5-91DD-044278681A3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6" y="2690150"/>
            <a:ext cx="3317320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송신 측은 </a:t>
            </a:r>
            <a:r>
              <a:rPr lang="en-US" altLang="ko-KR" sz="16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ACK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안된 데이터의 양을 수신 측의 </a:t>
            </a:r>
            <a:r>
              <a:rPr lang="en-US" altLang="ko-KR" sz="16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rwnd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 </a:t>
            </a: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값으로 제한한다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</a:p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수신 측 버퍼가 넘치지 않도록 보장한다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.</a:t>
            </a:r>
            <a:endParaRPr lang="ko-KR" altLang="en-US" sz="16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+mn-ea"/>
              <a:cs typeface="+mj-cs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1C81A5B6-8D9D-46CC-8BC8-2C4308130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0222" y="3293270"/>
            <a:ext cx="931882" cy="270098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E612AE92-1C2E-4A3A-8896-40CC7925B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246" y="3362326"/>
            <a:ext cx="499834" cy="157163"/>
          </a:xfrm>
          <a:prstGeom prst="rect">
            <a:avLst/>
          </a:prstGeom>
          <a:solidFill>
            <a:schemeClr val="bg1"/>
          </a:solidFill>
          <a:ln w="15875">
            <a:solidFill>
              <a:srgbClr val="CC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BFE4C04B-A0A9-49C2-AFFF-FCBEB5470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109" y="3430297"/>
            <a:ext cx="61579" cy="89484"/>
          </a:xfrm>
          <a:prstGeom prst="rect">
            <a:avLst/>
          </a:prstGeom>
          <a:solidFill>
            <a:srgbClr val="CC9900"/>
          </a:solidFill>
          <a:ln w="9525">
            <a:solidFill>
              <a:srgbClr val="CC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12E13251-F7DC-4E6E-A6D0-AB2A63E07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222" y="3431884"/>
            <a:ext cx="63777" cy="89484"/>
          </a:xfrm>
          <a:prstGeom prst="rect">
            <a:avLst/>
          </a:prstGeom>
          <a:solidFill>
            <a:srgbClr val="CC9900"/>
          </a:solidFill>
          <a:ln w="9525">
            <a:solidFill>
              <a:srgbClr val="CC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9" name="Rectangle 52">
            <a:extLst>
              <a:ext uri="{FF2B5EF4-FFF2-40B4-BE49-F238E27FC236}">
                <a16:creationId xmlns:a16="http://schemas.microsoft.com/office/drawing/2014/main" id="{161D48ED-0DF5-4379-A751-C075AF9C6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8720" y="3513138"/>
            <a:ext cx="2554886" cy="1422400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3" name="AutoShape 56">
            <a:extLst>
              <a:ext uri="{FF2B5EF4-FFF2-40B4-BE49-F238E27FC236}">
                <a16:creationId xmlns:a16="http://schemas.microsoft.com/office/drawing/2014/main" id="{4C5690D2-CABA-48AD-A3C4-E85B17212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254" y="4740057"/>
            <a:ext cx="355818" cy="390525"/>
          </a:xfrm>
          <a:prstGeom prst="upArrow">
            <a:avLst>
              <a:gd name="adj1" fmla="val 76769"/>
              <a:gd name="adj2" fmla="val 45860"/>
            </a:avLst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4" name="Text Box 57">
            <a:extLst>
              <a:ext uri="{FF2B5EF4-FFF2-40B4-BE49-F238E27FC236}">
                <a16:creationId xmlns:a16="http://schemas.microsoft.com/office/drawing/2014/main" id="{436F783F-8D17-4601-9878-4F636350E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806" y="3639171"/>
            <a:ext cx="149271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버퍼링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된 데이터</a:t>
            </a:r>
            <a:endParaRPr lang="en-US" altLang="ko-KR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Line 58">
            <a:extLst>
              <a:ext uri="{FF2B5EF4-FFF2-40B4-BE49-F238E27FC236}">
                <a16:creationId xmlns:a16="http://schemas.microsoft.com/office/drawing/2014/main" id="{D87AF8AA-A8EB-49E7-AF7B-F0CEB8520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3258" y="4017963"/>
            <a:ext cx="256444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6" name="Text Box 59">
            <a:extLst>
              <a:ext uri="{FF2B5EF4-FFF2-40B4-BE49-F238E27FC236}">
                <a16:creationId xmlns:a16="http://schemas.microsoft.com/office/drawing/2014/main" id="{399705C7-CE5E-4D17-8B04-24173FB32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9723" y="4303713"/>
            <a:ext cx="115288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빈 버퍼 공간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1" name="Text Box 62">
            <a:extLst>
              <a:ext uri="{FF2B5EF4-FFF2-40B4-BE49-F238E27FC236}">
                <a16:creationId xmlns:a16="http://schemas.microsoft.com/office/drawing/2014/main" id="{E45D2E55-7A6C-4B72-87FF-29ECEC08D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9816" y="4295775"/>
            <a:ext cx="70884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rwnd</a:t>
            </a:r>
          </a:p>
        </p:txBody>
      </p:sp>
      <p:sp>
        <p:nvSpPr>
          <p:cNvPr id="22" name="Line 64">
            <a:extLst>
              <a:ext uri="{FF2B5EF4-FFF2-40B4-BE49-F238E27FC236}">
                <a16:creationId xmlns:a16="http://schemas.microsoft.com/office/drawing/2014/main" id="{37813543-401E-479E-9776-1EFE11F49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3365" y="4029075"/>
            <a:ext cx="0" cy="322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65">
            <a:extLst>
              <a:ext uri="{FF2B5EF4-FFF2-40B4-BE49-F238E27FC236}">
                <a16:creationId xmlns:a16="http://schemas.microsoft.com/office/drawing/2014/main" id="{07FFC039-6F53-425E-B3F6-6BDB7CD959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3365" y="4587898"/>
            <a:ext cx="0" cy="322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4" name="Line 66">
            <a:extLst>
              <a:ext uri="{FF2B5EF4-FFF2-40B4-BE49-F238E27FC236}">
                <a16:creationId xmlns:a16="http://schemas.microsoft.com/office/drawing/2014/main" id="{CD36AD22-3C29-4034-82FB-961D45B61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9378" y="4941168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Line 67">
            <a:extLst>
              <a:ext uri="{FF2B5EF4-FFF2-40B4-BE49-F238E27FC236}">
                <a16:creationId xmlns:a16="http://schemas.microsoft.com/office/drawing/2014/main" id="{82A43021-6BB3-44A4-B914-7D0A59A25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8590" y="4017963"/>
            <a:ext cx="196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6" name="Line 68">
            <a:extLst>
              <a:ext uri="{FF2B5EF4-FFF2-40B4-BE49-F238E27FC236}">
                <a16:creationId xmlns:a16="http://schemas.microsoft.com/office/drawing/2014/main" id="{E7C69508-C34D-4A1A-A7F4-E565A827C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1603" y="3492500"/>
            <a:ext cx="4762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7" name="Line 69">
            <a:extLst>
              <a:ext uri="{FF2B5EF4-FFF2-40B4-BE49-F238E27FC236}">
                <a16:creationId xmlns:a16="http://schemas.microsoft.com/office/drawing/2014/main" id="{B62B26F8-87D6-4514-98FD-40C29C19D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0539" y="3497263"/>
            <a:ext cx="2485" cy="207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70">
            <a:extLst>
              <a:ext uri="{FF2B5EF4-FFF2-40B4-BE49-F238E27FC236}">
                <a16:creationId xmlns:a16="http://schemas.microsoft.com/office/drawing/2014/main" id="{B278C6D0-E941-4232-8CE3-399EEEACF3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48953" y="3924300"/>
            <a:ext cx="0" cy="98427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Text Box 71">
            <a:extLst>
              <a:ext uri="{FF2B5EF4-FFF2-40B4-BE49-F238E27FC236}">
                <a16:creationId xmlns:a16="http://schemas.microsoft.com/office/drawing/2014/main" id="{FFC1E53C-C6DD-4E49-A423-32F361FDA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0142" y="3661693"/>
            <a:ext cx="11929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RcvBuffer</a:t>
            </a:r>
          </a:p>
        </p:txBody>
      </p:sp>
      <p:sp>
        <p:nvSpPr>
          <p:cNvPr id="30" name="Text Box 73">
            <a:extLst>
              <a:ext uri="{FF2B5EF4-FFF2-40B4-BE49-F238E27FC236}">
                <a16:creationId xmlns:a16="http://schemas.microsoft.com/office/drawing/2014/main" id="{3380BCA7-4F9E-4DB1-811A-0CAACE426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412" y="5157192"/>
            <a:ext cx="21175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의 데이터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1" name="Text Box 74">
            <a:extLst>
              <a:ext uri="{FF2B5EF4-FFF2-40B4-BE49-F238E27FC236}">
                <a16:creationId xmlns:a16="http://schemas.microsoft.com/office/drawing/2014/main" id="{85F61E67-9339-4C91-B7C0-E760ACB67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919" y="2727970"/>
            <a:ext cx="177324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애플리케이션 쪽으로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2" name="Text Box 76">
            <a:extLst>
              <a:ext uri="{FF2B5EF4-FFF2-40B4-BE49-F238E27FC236}">
                <a16:creationId xmlns:a16="http://schemas.microsoft.com/office/drawing/2014/main" id="{565692C7-3DBD-49C2-96C5-41C4877BA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939" y="5733256"/>
            <a:ext cx="177644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수신 측의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버퍼링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sp>
        <p:nvSpPr>
          <p:cNvPr id="34" name="AutoShape 56">
            <a:extLst>
              <a:ext uri="{FF2B5EF4-FFF2-40B4-BE49-F238E27FC236}">
                <a16:creationId xmlns:a16="http://schemas.microsoft.com/office/drawing/2014/main" id="{5559907A-723C-4977-ADA6-AA289D07C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254" y="3074194"/>
            <a:ext cx="355818" cy="521494"/>
          </a:xfrm>
          <a:prstGeom prst="upArrow">
            <a:avLst>
              <a:gd name="adj1" fmla="val 76769"/>
              <a:gd name="adj2" fmla="val 40506"/>
            </a:avLst>
          </a:prstGeom>
          <a:solidFill>
            <a:srgbClr val="105BA0"/>
          </a:solidFill>
          <a:ln>
            <a:noFill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5684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solidFill>
                    <a:srgbClr val="105BA0"/>
                  </a:solidFill>
                  <a:latin typeface="넥슨Lv1고딕 Bold" panose="00000800000000000000" pitchFamily="2" charset="-127"/>
                  <a:ea typeface="넥슨Lv1고딕 Bold" panose="000008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00466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eeform 8">
            <a:extLst>
              <a:ext uri="{FF2B5EF4-FFF2-40B4-BE49-F238E27FC236}">
                <a16:creationId xmlns:a16="http://schemas.microsoft.com/office/drawing/2014/main" id="{D42933D6-1A71-41D5-ABC1-18A1936F58CF}"/>
              </a:ext>
            </a:extLst>
          </p:cNvPr>
          <p:cNvSpPr>
            <a:spLocks/>
          </p:cNvSpPr>
          <p:nvPr/>
        </p:nvSpPr>
        <p:spPr bwMode="auto">
          <a:xfrm>
            <a:off x="7026650" y="2624236"/>
            <a:ext cx="468313" cy="2490788"/>
          </a:xfrm>
          <a:custGeom>
            <a:avLst/>
            <a:gdLst>
              <a:gd name="T0" fmla="*/ 2147483646 w 366"/>
              <a:gd name="T1" fmla="*/ 2147483646 h 1284"/>
              <a:gd name="T2" fmla="*/ 2147483646 w 366"/>
              <a:gd name="T3" fmla="*/ 0 h 1284"/>
              <a:gd name="T4" fmla="*/ 0 w 366"/>
              <a:gd name="T5" fmla="*/ 2147483646 h 1284"/>
              <a:gd name="T6" fmla="*/ 2147483646 w 366"/>
              <a:gd name="T7" fmla="*/ 2147483646 h 1284"/>
              <a:gd name="T8" fmla="*/ 2147483646 w 366"/>
              <a:gd name="T9" fmla="*/ 2147483646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"/>
              <a:gd name="T16" fmla="*/ 0 h 1284"/>
              <a:gd name="T17" fmla="*/ 366 w 366"/>
              <a:gd name="T18" fmla="*/ 1284 h 1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6B03E9F3-D529-40A9-AD77-4A439AF48D30}"/>
              </a:ext>
            </a:extLst>
          </p:cNvPr>
          <p:cNvSpPr>
            <a:spLocks/>
          </p:cNvSpPr>
          <p:nvPr/>
        </p:nvSpPr>
        <p:spPr bwMode="auto">
          <a:xfrm flipH="1">
            <a:off x="1098290" y="2624236"/>
            <a:ext cx="468313" cy="2490788"/>
          </a:xfrm>
          <a:custGeom>
            <a:avLst/>
            <a:gdLst>
              <a:gd name="T0" fmla="*/ 2147483646 w 366"/>
              <a:gd name="T1" fmla="*/ 2147483646 h 1284"/>
              <a:gd name="T2" fmla="*/ 2147483646 w 366"/>
              <a:gd name="T3" fmla="*/ 0 h 1284"/>
              <a:gd name="T4" fmla="*/ 0 w 366"/>
              <a:gd name="T5" fmla="*/ 2147483646 h 1284"/>
              <a:gd name="T6" fmla="*/ 2147483646 w 366"/>
              <a:gd name="T7" fmla="*/ 2147483646 h 1284"/>
              <a:gd name="T8" fmla="*/ 2147483646 w 366"/>
              <a:gd name="T9" fmla="*/ 2147483646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6"/>
              <a:gd name="T16" fmla="*/ 0 h 1284"/>
              <a:gd name="T17" fmla="*/ 366 w 366"/>
              <a:gd name="T18" fmla="*/ 1284 h 1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>
                <a:cs typeface="+mj-cs"/>
              </a:rPr>
              <a:t>연결 관리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C5FCEED-2A76-4B1E-AFC4-6489247B7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045116"/>
            <a:ext cx="7456487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데이터 교환 전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, 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송수신 측은 “악수</a:t>
            </a:r>
            <a:r>
              <a:rPr lang="en-US" altLang="ko-KR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(handshaking)”</a:t>
            </a:r>
            <a:r>
              <a:rPr lang="ko-KR" altLang="en-US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를 한다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8412E6-73E1-4FDE-9A6D-172E929F8563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55679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연결을 만들기로 합의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(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서로 상대방이 연결을 설립하기 원하는 것을 알 때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)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연결 조건</a:t>
            </a:r>
            <a:r>
              <a:rPr lang="en-US" altLang="ko-KR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(connection parameters)</a:t>
            </a:r>
            <a:r>
              <a:rPr lang="ko-KR" altLang="en-US" sz="15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cs typeface="+mj-cs"/>
              </a:rPr>
              <a:t>에 합의</a:t>
            </a:r>
          </a:p>
        </p:txBody>
      </p:sp>
      <p:sp>
        <p:nvSpPr>
          <p:cNvPr id="44" name="Text Box 83">
            <a:extLst>
              <a:ext uri="{FF2B5EF4-FFF2-40B4-BE49-F238E27FC236}">
                <a16:creationId xmlns:a16="http://schemas.microsoft.com/office/drawing/2014/main" id="{3939D541-F532-431B-A1D0-6CE131BE5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759" y="5445224"/>
            <a:ext cx="3080371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Socket clientSocket =  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    newSocket("hostname","port </a:t>
            </a:r>
            <a:b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</a:b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      number");</a:t>
            </a:r>
          </a:p>
        </p:txBody>
      </p:sp>
      <p:sp>
        <p:nvSpPr>
          <p:cNvPr id="45" name="Text Box 85">
            <a:extLst>
              <a:ext uri="{FF2B5EF4-FFF2-40B4-BE49-F238E27FC236}">
                <a16:creationId xmlns:a16="http://schemas.microsoft.com/office/drawing/2014/main" id="{40D6C214-A9ED-4D0E-93A6-3D9F848A7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3906" y="5445224"/>
            <a:ext cx="2894013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31775" indent="-231775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Socket connectionSocket = </a:t>
            </a:r>
            <a:b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</a:br>
            <a:r>
              <a:rPr lang="en-US" altLang="ko-KR" sz="1200">
                <a:ln>
                  <a:solidFill>
                    <a:srgbClr val="AF3C5E">
                      <a:alpha val="0"/>
                    </a:srgbClr>
                  </a:solidFill>
                </a:ln>
                <a:latin typeface="+mn-lt"/>
                <a:ea typeface="+mn-ea"/>
                <a:cs typeface="+mj-cs"/>
              </a:rPr>
              <a:t>     welcomeSocket.accept();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F58DAA1-A1BC-4BE3-B60E-FB4FD89CFC9E}"/>
              </a:ext>
            </a:extLst>
          </p:cNvPr>
          <p:cNvSpPr/>
          <p:nvPr/>
        </p:nvSpPr>
        <p:spPr>
          <a:xfrm>
            <a:off x="604731" y="4670062"/>
            <a:ext cx="746274" cy="746273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26C8688-B72D-42D4-94A5-803015AA3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2" y="4661495"/>
            <a:ext cx="640925" cy="734007"/>
          </a:xfrm>
          <a:prstGeom prst="rect">
            <a:avLst/>
          </a:prstGeom>
        </p:spPr>
      </p:pic>
      <p:sp>
        <p:nvSpPr>
          <p:cNvPr id="13" name="Rectangle 45">
            <a:extLst>
              <a:ext uri="{FF2B5EF4-FFF2-40B4-BE49-F238E27FC236}">
                <a16:creationId xmlns:a16="http://schemas.microsoft.com/office/drawing/2014/main" id="{341DEDA6-C8B7-46AC-8917-1DED7E05F19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638589" y="2532613"/>
            <a:ext cx="2364579" cy="2554179"/>
          </a:xfrm>
          <a:prstGeom prst="rightBracke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F178C75B-E0CA-4A6A-97D9-B60BD5793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54" y="3175099"/>
            <a:ext cx="2605546" cy="151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2301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state : ESTAB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variables :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seq # client-to-server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      server-to-client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rcvBuffer size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at server,client </a:t>
            </a:r>
          </a:p>
        </p:txBody>
      </p:sp>
      <p:sp>
        <p:nvSpPr>
          <p:cNvPr id="21" name="Text Box 54">
            <a:extLst>
              <a:ext uri="{FF2B5EF4-FFF2-40B4-BE49-F238E27FC236}">
                <a16:creationId xmlns:a16="http://schemas.microsoft.com/office/drawing/2014/main" id="{EF952956-3938-4DBF-9561-1E965F081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354" y="2690911"/>
            <a:ext cx="123983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application</a:t>
            </a: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3EC09CE-EAEE-4896-ACFC-6DD1DD72B707}"/>
              </a:ext>
            </a:extLst>
          </p:cNvPr>
          <p:cNvGrpSpPr/>
          <p:nvPr/>
        </p:nvGrpSpPr>
        <p:grpSpPr>
          <a:xfrm>
            <a:off x="1536700" y="3062386"/>
            <a:ext cx="2563036" cy="1644650"/>
            <a:chOff x="1558925" y="3101975"/>
            <a:chExt cx="2274888" cy="1644650"/>
          </a:xfrm>
        </p:grpSpPr>
        <p:sp>
          <p:nvSpPr>
            <p:cNvPr id="14" name="Line 55">
              <a:extLst>
                <a:ext uri="{FF2B5EF4-FFF2-40B4-BE49-F238E27FC236}">
                  <a16:creationId xmlns:a16="http://schemas.microsoft.com/office/drawing/2014/main" id="{D8F09333-7E9E-462F-AE03-FFD0A97B0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925" y="3101975"/>
              <a:ext cx="227012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Line 56">
              <a:extLst>
                <a:ext uri="{FF2B5EF4-FFF2-40B4-BE49-F238E27FC236}">
                  <a16:creationId xmlns:a16="http://schemas.microsoft.com/office/drawing/2014/main" id="{7A2F054C-2377-4147-8583-5D78B9596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275" y="4746625"/>
              <a:ext cx="2268538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23" name="Text Box 57">
            <a:extLst>
              <a:ext uri="{FF2B5EF4-FFF2-40B4-BE49-F238E27FC236}">
                <a16:creationId xmlns:a16="http://schemas.microsoft.com/office/drawing/2014/main" id="{38F9104B-217C-4BBC-A7C6-D9019FCC4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499" y="4731275"/>
            <a:ext cx="93105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network</a:t>
            </a:r>
          </a:p>
        </p:txBody>
      </p:sp>
      <p:sp>
        <p:nvSpPr>
          <p:cNvPr id="25" name="Line 59">
            <a:extLst>
              <a:ext uri="{FF2B5EF4-FFF2-40B4-BE49-F238E27FC236}">
                <a16:creationId xmlns:a16="http://schemas.microsoft.com/office/drawing/2014/main" id="{C19E42AC-4BAD-4F74-8CF4-5FC4732F6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3787" y="4968974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6" name="Line 60">
            <a:extLst>
              <a:ext uri="{FF2B5EF4-FFF2-40B4-BE49-F238E27FC236}">
                <a16:creationId xmlns:a16="http://schemas.microsoft.com/office/drawing/2014/main" id="{D3D15F35-D8C4-48FD-822C-17AE71FA65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7969" y="4940399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7" name="Rectangle 47">
            <a:extLst>
              <a:ext uri="{FF2B5EF4-FFF2-40B4-BE49-F238E27FC236}">
                <a16:creationId xmlns:a16="http://schemas.microsoft.com/office/drawing/2014/main" id="{62DFD6FB-A689-4A54-84CF-2F123670E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758" y="2976661"/>
            <a:ext cx="611256" cy="206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0DF7792-EDB4-40EA-B6A5-27315CC8A5F1}"/>
              </a:ext>
            </a:extLst>
          </p:cNvPr>
          <p:cNvGrpSpPr/>
          <p:nvPr/>
        </p:nvGrpSpPr>
        <p:grpSpPr>
          <a:xfrm>
            <a:off x="2665092" y="3003649"/>
            <a:ext cx="396588" cy="157163"/>
            <a:chOff x="2561061" y="3043238"/>
            <a:chExt cx="355441" cy="157163"/>
          </a:xfrm>
        </p:grpSpPr>
        <p:sp>
          <p:nvSpPr>
            <p:cNvPr id="18" name="Rectangle 48">
              <a:extLst>
                <a:ext uri="{FF2B5EF4-FFF2-40B4-BE49-F238E27FC236}">
                  <a16:creationId xmlns:a16="http://schemas.microsoft.com/office/drawing/2014/main" id="{2060ECC3-0207-4175-8562-A7B789B35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476" y="3043238"/>
              <a:ext cx="182612" cy="15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9" name="Rectangle 49">
              <a:extLst>
                <a:ext uri="{FF2B5EF4-FFF2-40B4-BE49-F238E27FC236}">
                  <a16:creationId xmlns:a16="http://schemas.microsoft.com/office/drawing/2014/main" id="{3CA1DBF3-96A0-4435-B6F4-9FA73BAD8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219" y="3135313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20" name="Rectangle 50">
              <a:extLst>
                <a:ext uri="{FF2B5EF4-FFF2-40B4-BE49-F238E27FC236}">
                  <a16:creationId xmlns:a16="http://schemas.microsoft.com/office/drawing/2014/main" id="{F2BF7237-9E8A-47D8-96AB-58169026A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061" y="3136900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84" name="타원 83">
            <a:extLst>
              <a:ext uri="{FF2B5EF4-FFF2-40B4-BE49-F238E27FC236}">
                <a16:creationId xmlns:a16="http://schemas.microsoft.com/office/drawing/2014/main" id="{5E2C384B-69FB-4D26-AAA6-FE54508E5377}"/>
              </a:ext>
            </a:extLst>
          </p:cNvPr>
          <p:cNvSpPr/>
          <p:nvPr/>
        </p:nvSpPr>
        <p:spPr>
          <a:xfrm>
            <a:off x="7285916" y="4670062"/>
            <a:ext cx="746274" cy="746273"/>
          </a:xfrm>
          <a:prstGeom prst="ellipse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pic>
        <p:nvPicPr>
          <p:cNvPr id="6" name="그림 5" descr="텍스트, 파일, 컴퓨터이(가) 표시된 사진&#10;&#10;자동 생성된 설명">
            <a:extLst>
              <a:ext uri="{FF2B5EF4-FFF2-40B4-BE49-F238E27FC236}">
                <a16:creationId xmlns:a16="http://schemas.microsoft.com/office/drawing/2014/main" id="{6BDB7857-24F1-4A56-9BA6-1A37E0407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382" y="4594615"/>
            <a:ext cx="408403" cy="880080"/>
          </a:xfrm>
          <a:prstGeom prst="rect">
            <a:avLst/>
          </a:prstGeom>
        </p:spPr>
      </p:pic>
      <p:sp>
        <p:nvSpPr>
          <p:cNvPr id="87" name="Rectangle 45">
            <a:extLst>
              <a:ext uri="{FF2B5EF4-FFF2-40B4-BE49-F238E27FC236}">
                <a16:creationId xmlns:a16="http://schemas.microsoft.com/office/drawing/2014/main" id="{0C185939-9BB4-4D2F-93B3-EE7F78E8723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90654" y="2554765"/>
            <a:ext cx="2364579" cy="2509876"/>
          </a:xfrm>
          <a:prstGeom prst="rightBracke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  <a:buChar char="§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9" name="Text Box 54">
            <a:extLst>
              <a:ext uri="{FF2B5EF4-FFF2-40B4-BE49-F238E27FC236}">
                <a16:creationId xmlns:a16="http://schemas.microsoft.com/office/drawing/2014/main" id="{5E459713-2B31-4902-A4F9-DCBB42B3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510" y="2690911"/>
            <a:ext cx="121833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application</a:t>
            </a: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1C33EEC-1A8A-4E9A-BE32-91B030969CF1}"/>
              </a:ext>
            </a:extLst>
          </p:cNvPr>
          <p:cNvGrpSpPr/>
          <p:nvPr/>
        </p:nvGrpSpPr>
        <p:grpSpPr>
          <a:xfrm>
            <a:off x="4511040" y="3062386"/>
            <a:ext cx="2518579" cy="1644650"/>
            <a:chOff x="1558925" y="3101975"/>
            <a:chExt cx="2274888" cy="1644650"/>
          </a:xfrm>
        </p:grpSpPr>
        <p:sp>
          <p:nvSpPr>
            <p:cNvPr id="91" name="Line 55">
              <a:extLst>
                <a:ext uri="{FF2B5EF4-FFF2-40B4-BE49-F238E27FC236}">
                  <a16:creationId xmlns:a16="http://schemas.microsoft.com/office/drawing/2014/main" id="{01AAE4DE-5039-40D5-B240-A0F4203363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8925" y="3101975"/>
              <a:ext cx="2270125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92" name="Line 56">
              <a:extLst>
                <a:ext uri="{FF2B5EF4-FFF2-40B4-BE49-F238E27FC236}">
                  <a16:creationId xmlns:a16="http://schemas.microsoft.com/office/drawing/2014/main" id="{F1E270FF-E60E-430B-9DAA-5227C4CF8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275" y="4746625"/>
              <a:ext cx="2268538" cy="0"/>
            </a:xfrm>
            <a:prstGeom prst="line">
              <a:avLst/>
            </a:prstGeom>
            <a:solidFill>
              <a:srgbClr val="EFF5FB"/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solidFill>
                  <a:schemeClr val="lt1"/>
                </a:solidFill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93" name="Text Box 57">
            <a:extLst>
              <a:ext uri="{FF2B5EF4-FFF2-40B4-BE49-F238E27FC236}">
                <a16:creationId xmlns:a16="http://schemas.microsoft.com/office/drawing/2014/main" id="{CD29F14C-D78C-435C-BDB3-B87049735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0496" y="4731275"/>
            <a:ext cx="91491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network</a:t>
            </a:r>
          </a:p>
        </p:txBody>
      </p:sp>
      <p:sp>
        <p:nvSpPr>
          <p:cNvPr id="94" name="Line 59">
            <a:extLst>
              <a:ext uri="{FF2B5EF4-FFF2-40B4-BE49-F238E27FC236}">
                <a16:creationId xmlns:a16="http://schemas.microsoft.com/office/drawing/2014/main" id="{2DF70D0D-6B2E-408C-99D9-F8127FEB4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18004" y="4968974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5" name="Line 60">
            <a:extLst>
              <a:ext uri="{FF2B5EF4-FFF2-40B4-BE49-F238E27FC236}">
                <a16:creationId xmlns:a16="http://schemas.microsoft.com/office/drawing/2014/main" id="{34D9B4C5-9961-4F5A-9D6C-5E4A44B073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7883" y="4940399"/>
            <a:ext cx="0" cy="236537"/>
          </a:xfrm>
          <a:prstGeom prst="line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96" name="Rectangle 47">
            <a:extLst>
              <a:ext uri="{FF2B5EF4-FFF2-40B4-BE49-F238E27FC236}">
                <a16:creationId xmlns:a16="http://schemas.microsoft.com/office/drawing/2014/main" id="{8334566F-B293-4A1A-BD37-835A41443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4387" y="2976661"/>
            <a:ext cx="600653" cy="2063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D5B7FB1-4888-4D66-8599-C0281A7EA2F3}"/>
              </a:ext>
            </a:extLst>
          </p:cNvPr>
          <p:cNvGrpSpPr/>
          <p:nvPr/>
        </p:nvGrpSpPr>
        <p:grpSpPr>
          <a:xfrm>
            <a:off x="5619860" y="3003649"/>
            <a:ext cx="389709" cy="157163"/>
            <a:chOff x="2561061" y="3043238"/>
            <a:chExt cx="355441" cy="157163"/>
          </a:xfrm>
        </p:grpSpPr>
        <p:sp>
          <p:nvSpPr>
            <p:cNvPr id="98" name="Rectangle 48">
              <a:extLst>
                <a:ext uri="{FF2B5EF4-FFF2-40B4-BE49-F238E27FC236}">
                  <a16:creationId xmlns:a16="http://schemas.microsoft.com/office/drawing/2014/main" id="{741AAC0C-31FB-4D79-9BEB-806AF99F0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7476" y="3043238"/>
              <a:ext cx="182612" cy="1571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99" name="Rectangle 49">
              <a:extLst>
                <a:ext uri="{FF2B5EF4-FFF2-40B4-BE49-F238E27FC236}">
                  <a16:creationId xmlns:a16="http://schemas.microsoft.com/office/drawing/2014/main" id="{5F581919-A2D8-4990-B193-7DF514E14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9219" y="3135313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  <p:sp>
          <p:nvSpPr>
            <p:cNvPr id="100" name="Rectangle 50">
              <a:extLst>
                <a:ext uri="{FF2B5EF4-FFF2-40B4-BE49-F238E27FC236}">
                  <a16:creationId xmlns:a16="http://schemas.microsoft.com/office/drawing/2014/main" id="{806B2029-72AA-48E4-BF87-9624701AA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1061" y="3136900"/>
              <a:ext cx="47283" cy="55563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ko-KR" altLang="ko-KR" sz="1600">
                <a:latin typeface="G마켓 산스 TTF Medium" panose="02000000000000000000" pitchFamily="2" charset="-127"/>
              </a:endParaRPr>
            </a:p>
          </p:txBody>
        </p:sp>
      </p:grpSp>
      <p:sp>
        <p:nvSpPr>
          <p:cNvPr id="31" name="Text Box 66">
            <a:extLst>
              <a:ext uri="{FF2B5EF4-FFF2-40B4-BE49-F238E27FC236}">
                <a16:creationId xmlns:a16="http://schemas.microsoft.com/office/drawing/2014/main" id="{0EB5E9B0-37AA-4B61-BE98-5DF9D1C59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510" y="3175099"/>
            <a:ext cx="2335212" cy="175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23018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state : ESTAB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connection Variables :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seq # client-to-server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       server-to-client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rcvBuffer size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at server,client </a:t>
            </a: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ko-KR" sz="1300">
                <a:ln>
                  <a:solidFill>
                    <a:srgbClr val="AF3C5E">
                      <a:alpha val="0"/>
                    </a:srgbClr>
                  </a:solidFill>
                </a:ln>
                <a:latin typeface="+mn-ea"/>
                <a:ea typeface="+mn-ea"/>
                <a:cs typeface="+mj-cs"/>
              </a:rPr>
              <a:t>           </a:t>
            </a:r>
          </a:p>
        </p:txBody>
      </p:sp>
    </p:spTree>
    <p:extLst>
      <p:ext uri="{BB962C8B-B14F-4D97-AF65-F5344CB8AC3E}">
        <p14:creationId xmlns:p14="http://schemas.microsoft.com/office/powerpoint/2010/main" val="154571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타원 85">
            <a:extLst>
              <a:ext uri="{FF2B5EF4-FFF2-40B4-BE49-F238E27FC236}">
                <a16:creationId xmlns:a16="http://schemas.microsoft.com/office/drawing/2014/main" id="{9C8F9776-2A88-4ED9-BC4C-B21A869D9A0D}"/>
              </a:ext>
            </a:extLst>
          </p:cNvPr>
          <p:cNvSpPr/>
          <p:nvPr/>
        </p:nvSpPr>
        <p:spPr>
          <a:xfrm>
            <a:off x="6321753" y="2529505"/>
            <a:ext cx="520696" cy="520695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7D3631E3-40B6-4254-9865-A61ECFDEE5D9}"/>
              </a:ext>
            </a:extLst>
          </p:cNvPr>
          <p:cNvSpPr/>
          <p:nvPr/>
        </p:nvSpPr>
        <p:spPr>
          <a:xfrm>
            <a:off x="4405123" y="2529505"/>
            <a:ext cx="520696" cy="520695"/>
          </a:xfrm>
          <a:prstGeom prst="ellipse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000000"/>
              </a:buClr>
              <a:buSzPct val="100000"/>
              <a:buFont typeface="Arial"/>
              <a:buChar char="§"/>
            </a:pPr>
            <a:endParaRPr lang="ko-KR" altLang="en-US" sz="1400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연결 설립</a:t>
            </a:r>
            <a:r>
              <a:rPr lang="ko-KR" altLang="en-US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의</a:t>
            </a:r>
            <a:r>
              <a:rPr lang="ko-KR" altLang="en-US" sz="2000" dirty="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합의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23</a:t>
            </a:fld>
            <a:endParaRPr lang="en-US" dirty="0"/>
          </a:p>
        </p:txBody>
      </p:sp>
      <p:sp>
        <p:nvSpPr>
          <p:cNvPr id="9" name="Line 51">
            <a:extLst>
              <a:ext uri="{FF2B5EF4-FFF2-40B4-BE49-F238E27FC236}">
                <a16:creationId xmlns:a16="http://schemas.microsoft.com/office/drawing/2014/main" id="{8BEF221C-804C-4B6E-9455-0345DC885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5840" y="3126431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" name="Line 53">
            <a:extLst>
              <a:ext uri="{FF2B5EF4-FFF2-40B4-BE49-F238E27FC236}">
                <a16:creationId xmlns:a16="http://schemas.microsoft.com/office/drawing/2014/main" id="{F70ACBBE-CD48-4EEF-A6AC-59C1CA751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7015" y="3153419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2" name="Rectangle 56">
            <a:extLst>
              <a:ext uri="{FF2B5EF4-FFF2-40B4-BE49-F238E27FC236}">
                <a16:creationId xmlns:a16="http://schemas.microsoft.com/office/drawing/2014/main" id="{F5335984-0744-48B5-B9D6-2FF53F248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240" y="3194694"/>
            <a:ext cx="890588" cy="327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4" name="Rectangle 57">
            <a:extLst>
              <a:ext uri="{FF2B5EF4-FFF2-40B4-BE49-F238E27FC236}">
                <a16:creationId xmlns:a16="http://schemas.microsoft.com/office/drawing/2014/main" id="{DDBEDE5F-A22E-4ECA-B16B-73868DAB5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415" y="3681622"/>
            <a:ext cx="439738" cy="327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ko-KR" altLang="ko-KR" sz="1600">
              <a:latin typeface="G마켓 산스 TTF Medium" panose="02000000000000000000" pitchFamily="2" charset="-127"/>
            </a:endParaRPr>
          </a:p>
        </p:txBody>
      </p:sp>
      <p:sp>
        <p:nvSpPr>
          <p:cNvPr id="16" name="Text Box 60">
            <a:extLst>
              <a:ext uri="{FF2B5EF4-FFF2-40B4-BE49-F238E27FC236}">
                <a16:creationId xmlns:a16="http://schemas.microsoft.com/office/drawing/2014/main" id="{C010FB6F-FF7E-46DC-A7B7-9C6831FF1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198" y="3429644"/>
            <a:ext cx="8819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17" name="Text Box 61">
            <a:extLst>
              <a:ext uri="{FF2B5EF4-FFF2-40B4-BE49-F238E27FC236}">
                <a16:creationId xmlns:a16="http://schemas.microsoft.com/office/drawing/2014/main" id="{488F8F87-6994-4FDE-B90A-07D535F1F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960" y="3863408"/>
            <a:ext cx="8819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18" name="Oval 66">
            <a:extLst>
              <a:ext uri="{FF2B5EF4-FFF2-40B4-BE49-F238E27FC236}">
                <a16:creationId xmlns:a16="http://schemas.microsoft.com/office/drawing/2014/main" id="{A02BAB0D-D5E2-4C13-8310-EA965E7C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803" y="3943560"/>
            <a:ext cx="90487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19" name="Oval 67">
            <a:extLst>
              <a:ext uri="{FF2B5EF4-FFF2-40B4-BE49-F238E27FC236}">
                <a16:creationId xmlns:a16="http://schemas.microsoft.com/office/drawing/2014/main" id="{C1796C4B-5B5F-4A08-85F2-4377E410A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9390" y="3600660"/>
            <a:ext cx="90488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20" name="Text Box 72">
            <a:extLst>
              <a:ext uri="{FF2B5EF4-FFF2-40B4-BE49-F238E27FC236}">
                <a16:creationId xmlns:a16="http://schemas.microsoft.com/office/drawing/2014/main" id="{6D45FF46-7764-4235-BF96-911D7FE28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6170" y="5164781"/>
            <a:ext cx="108555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+mn-lt"/>
                <a:ea typeface="+mj-ea"/>
                <a:cs typeface="+mj-cs"/>
              </a:rPr>
              <a:t>choose x</a:t>
            </a:r>
          </a:p>
        </p:txBody>
      </p:sp>
      <p:sp>
        <p:nvSpPr>
          <p:cNvPr id="22" name="Line 74">
            <a:extLst>
              <a:ext uri="{FF2B5EF4-FFF2-40B4-BE49-F238E27FC236}">
                <a16:creationId xmlns:a16="http://schemas.microsoft.com/office/drawing/2014/main" id="{B1FFD5BA-1360-44F6-B622-AF5BF680BB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4415" y="5255269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3" name="Line 75">
            <a:extLst>
              <a:ext uri="{FF2B5EF4-FFF2-40B4-BE49-F238E27FC236}">
                <a16:creationId xmlns:a16="http://schemas.microsoft.com/office/drawing/2014/main" id="{EDE3525F-9DD7-4A6E-9D90-C96D94EA22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5590" y="5282256"/>
            <a:ext cx="0" cy="109537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Line 50">
            <a:extLst>
              <a:ext uri="{FF2B5EF4-FFF2-40B4-BE49-F238E27FC236}">
                <a16:creationId xmlns:a16="http://schemas.microsoft.com/office/drawing/2014/main" id="{17DA008A-4037-4FBA-AB40-336DFCDC8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8428" y="3208981"/>
            <a:ext cx="1776503" cy="3159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1" name="Line 54">
            <a:extLst>
              <a:ext uri="{FF2B5EF4-FFF2-40B4-BE49-F238E27FC236}">
                <a16:creationId xmlns:a16="http://schemas.microsoft.com/office/drawing/2014/main" id="{92CD587E-E634-4F86-A8C9-8938F813ED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9800" y="3649872"/>
            <a:ext cx="1863722" cy="357304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73">
            <a:extLst>
              <a:ext uri="{FF2B5EF4-FFF2-40B4-BE49-F238E27FC236}">
                <a16:creationId xmlns:a16="http://schemas.microsoft.com/office/drawing/2014/main" id="{353C5724-2DFD-4A50-B54A-B6B66C255F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2650" y="5347026"/>
            <a:ext cx="1926591" cy="30670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4" name="Line 76">
            <a:extLst>
              <a:ext uri="{FF2B5EF4-FFF2-40B4-BE49-F238E27FC236}">
                <a16:creationId xmlns:a16="http://schemas.microsoft.com/office/drawing/2014/main" id="{05FFAA56-3B36-47E5-A727-2269E0182C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85554" y="5734694"/>
            <a:ext cx="1776503" cy="315912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6" name="Text Box 78">
            <a:extLst>
              <a:ext uri="{FF2B5EF4-FFF2-40B4-BE49-F238E27FC236}">
                <a16:creationId xmlns:a16="http://schemas.microsoft.com/office/drawing/2014/main" id="{5AC05703-5573-4452-8981-F642A8ECF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887" y="5323531"/>
            <a:ext cx="1227837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req_conn(x)</a:t>
            </a:r>
          </a:p>
        </p:txBody>
      </p:sp>
      <p:sp>
        <p:nvSpPr>
          <p:cNvPr id="28" name="Text Box 81">
            <a:extLst>
              <a:ext uri="{FF2B5EF4-FFF2-40B4-BE49-F238E27FC236}">
                <a16:creationId xmlns:a16="http://schemas.microsoft.com/office/drawing/2014/main" id="{34B1F3E0-9803-49B1-9D56-71B979589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1198" y="5558481"/>
            <a:ext cx="8819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29" name="Text Box 82">
            <a:extLst>
              <a:ext uri="{FF2B5EF4-FFF2-40B4-BE49-F238E27FC236}">
                <a16:creationId xmlns:a16="http://schemas.microsoft.com/office/drawing/2014/main" id="{D0D3E8F5-29EF-4776-81BF-D33ED3B28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959" y="5951640"/>
            <a:ext cx="88197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F27037"/>
                </a:solidFill>
                <a:latin typeface="+mj-ea"/>
                <a:ea typeface="+mj-ea"/>
                <a:cs typeface="+mj-cs"/>
              </a:rPr>
              <a:t>ESTAB</a:t>
            </a:r>
          </a:p>
        </p:txBody>
      </p:sp>
      <p:sp>
        <p:nvSpPr>
          <p:cNvPr id="30" name="Oval 83">
            <a:extLst>
              <a:ext uri="{FF2B5EF4-FFF2-40B4-BE49-F238E27FC236}">
                <a16:creationId xmlns:a16="http://schemas.microsoft.com/office/drawing/2014/main" id="{F288549D-8C85-489A-B60B-2D20518DE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8378" y="6009331"/>
            <a:ext cx="90487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1" name="Oval 84">
            <a:extLst>
              <a:ext uri="{FF2B5EF4-FFF2-40B4-BE49-F238E27FC236}">
                <a16:creationId xmlns:a16="http://schemas.microsoft.com/office/drawing/2014/main" id="{CD6843CC-A3EA-4C30-AB9F-921CBCDE5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965" y="5666431"/>
            <a:ext cx="90488" cy="88900"/>
          </a:xfrm>
          <a:prstGeom prst="ellipse">
            <a:avLst/>
          </a:prstGeom>
          <a:solidFill>
            <a:srgbClr val="105BA0"/>
          </a:solidFill>
          <a:ln>
            <a:solidFill>
              <a:schemeClr val="bg1"/>
            </a:solidFill>
          </a:ln>
          <a:effectLst>
            <a:outerShdw blurRad="38100" dist="12700" dir="5400000" algn="t" rotWithShape="0">
              <a:srgbClr val="105BA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defTabSz="914583"/>
            <a:endParaRPr lang="ko-KR" altLang="ko-KR">
              <a:solidFill>
                <a:prstClr val="white"/>
              </a:solidFill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  <p:sp>
        <p:nvSpPr>
          <p:cNvPr id="33" name="Text Box 85">
            <a:extLst>
              <a:ext uri="{FF2B5EF4-FFF2-40B4-BE49-F238E27FC236}">
                <a16:creationId xmlns:a16="http://schemas.microsoft.com/office/drawing/2014/main" id="{888AF614-44EF-4165-97A4-27008523A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4466" y="5796606"/>
            <a:ext cx="1258678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acc_conn(x)</a:t>
            </a:r>
          </a:p>
        </p:txBody>
      </p:sp>
      <p:sp>
        <p:nvSpPr>
          <p:cNvPr id="70" name="Rectangle 5">
            <a:extLst>
              <a:ext uri="{FF2B5EF4-FFF2-40B4-BE49-F238E27FC236}">
                <a16:creationId xmlns:a16="http://schemas.microsoft.com/office/drawing/2014/main" id="{75F5FC7A-3C06-4F7E-98C0-C3DA395C0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" y="1045116"/>
            <a:ext cx="7456487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2-</a:t>
            </a:r>
            <a:r>
              <a:rPr lang="ko-KR" altLang="en-US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단계 핸드셰이킹</a:t>
            </a: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:</a:t>
            </a:r>
          </a:p>
        </p:txBody>
      </p:sp>
      <p:sp>
        <p:nvSpPr>
          <p:cNvPr id="71" name="사각형: 잘린 한쪽 모서리 70">
            <a:extLst>
              <a:ext uri="{FF2B5EF4-FFF2-40B4-BE49-F238E27FC236}">
                <a16:creationId xmlns:a16="http://schemas.microsoft.com/office/drawing/2014/main" id="{2635F811-336C-45D6-AD8E-D05A3B99883B}"/>
              </a:ext>
            </a:extLst>
          </p:cNvPr>
          <p:cNvSpPr/>
          <p:nvPr/>
        </p:nvSpPr>
        <p:spPr>
          <a:xfrm>
            <a:off x="889955" y="1733714"/>
            <a:ext cx="4116385" cy="458432"/>
          </a:xfrm>
          <a:prstGeom prst="snip1Rect">
            <a:avLst>
              <a:gd name="adj" fmla="val 19087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72" name="Rectangle 5">
            <a:extLst>
              <a:ext uri="{FF2B5EF4-FFF2-40B4-BE49-F238E27FC236}">
                <a16:creationId xmlns:a16="http://schemas.microsoft.com/office/drawing/2014/main" id="{71968146-5464-4B46-B7FF-209495554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1772816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2-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단계 핸드셰이킹이 항상 잘 동작할까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?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50203016-40C0-4A56-B7D8-11D9B92D22B4}"/>
              </a:ext>
            </a:extLst>
          </p:cNvPr>
          <p:cNvSpPr/>
          <p:nvPr/>
        </p:nvSpPr>
        <p:spPr>
          <a:xfrm>
            <a:off x="750612" y="2161581"/>
            <a:ext cx="285872" cy="76765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74" name="그래픽 9">
            <a:extLst>
              <a:ext uri="{FF2B5EF4-FFF2-40B4-BE49-F238E27FC236}">
                <a16:creationId xmlns:a16="http://schemas.microsoft.com/office/drawing/2014/main" id="{4A26603C-F227-4FBE-B36A-BE0913E84E04}"/>
              </a:ext>
            </a:extLst>
          </p:cNvPr>
          <p:cNvSpPr/>
          <p:nvPr/>
        </p:nvSpPr>
        <p:spPr>
          <a:xfrm rot="5400000">
            <a:off x="640956" y="1726740"/>
            <a:ext cx="512174" cy="453816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75" name="Rectangle 5">
            <a:extLst>
              <a:ext uri="{FF2B5EF4-FFF2-40B4-BE49-F238E27FC236}">
                <a16:creationId xmlns:a16="http://schemas.microsoft.com/office/drawing/2014/main" id="{5A94DC8F-E3A1-4DB8-88BE-A9048060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6" y="1695098"/>
            <a:ext cx="498162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0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B02B98E3-EF53-407B-A6B3-50965128C028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385844"/>
            <a:ext cx="2663112" cy="211506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지연 시간이 가변적이다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손실 때문에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메시지를 재전송할 수 있다 </a:t>
            </a:r>
            <a:b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예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req_conn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(x))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메시지 순서가 바뀔 수 있다</a:t>
            </a:r>
          </a:p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상대방의 상황을 “볼” 수가 없다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C1E979A7-ECAA-4438-9B65-0ED9F583F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7036" y="2559525"/>
            <a:ext cx="259822" cy="645017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551AF4CF-635D-4E6A-9149-3A7AA7848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402805" y="2492896"/>
            <a:ext cx="258843" cy="679997"/>
          </a:xfrm>
          <a:prstGeom prst="rect">
            <a:avLst/>
          </a:prstGeom>
        </p:spPr>
      </p:pic>
      <p:grpSp>
        <p:nvGrpSpPr>
          <p:cNvPr id="88" name="그룹 87">
            <a:extLst>
              <a:ext uri="{FF2B5EF4-FFF2-40B4-BE49-F238E27FC236}">
                <a16:creationId xmlns:a16="http://schemas.microsoft.com/office/drawing/2014/main" id="{18E281D2-7629-4F09-A21F-DC12BA02A6A3}"/>
              </a:ext>
            </a:extLst>
          </p:cNvPr>
          <p:cNvGrpSpPr/>
          <p:nvPr/>
        </p:nvGrpSpPr>
        <p:grpSpPr>
          <a:xfrm>
            <a:off x="4405123" y="4577716"/>
            <a:ext cx="527383" cy="533436"/>
            <a:chOff x="4405123" y="4577716"/>
            <a:chExt cx="527383" cy="53343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E2921AA1-D5DF-467A-9EAD-1FAAB242210B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3A5C2396-AB85-4DDE-93A0-4EE20F472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CE85046-2AD9-4EBE-A5C0-1F2013838F03}"/>
              </a:ext>
            </a:extLst>
          </p:cNvPr>
          <p:cNvGrpSpPr/>
          <p:nvPr/>
        </p:nvGrpSpPr>
        <p:grpSpPr>
          <a:xfrm>
            <a:off x="6321753" y="4534264"/>
            <a:ext cx="520696" cy="614056"/>
            <a:chOff x="6321753" y="4534264"/>
            <a:chExt cx="520696" cy="614056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2D6C14D8-CDB1-4BC0-8055-B3A2A613353C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2" name="그림 81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E2B4166C-7F9E-4E5C-BFC7-8A8FFB901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  <p:sp>
        <p:nvSpPr>
          <p:cNvPr id="13" name="Text Box 55">
            <a:extLst>
              <a:ext uri="{FF2B5EF4-FFF2-40B4-BE49-F238E27FC236}">
                <a16:creationId xmlns:a16="http://schemas.microsoft.com/office/drawing/2014/main" id="{710AA076-9D8D-477B-81F0-BC64EDB12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295" y="3172469"/>
            <a:ext cx="1015021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Let</a:t>
            </a:r>
            <a:r>
              <a:rPr lang="ja-JP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</a:rPr>
              <a:t>’</a:t>
            </a:r>
            <a:r>
              <a:rPr lang="en-US" altLang="ja-JP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 talk</a:t>
            </a:r>
            <a:endParaRPr lang="en-US" altLang="ko-KR" sz="140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15" name="Text Box 58">
            <a:extLst>
              <a:ext uri="{FF2B5EF4-FFF2-40B4-BE49-F238E27FC236}">
                <a16:creationId xmlns:a16="http://schemas.microsoft.com/office/drawing/2014/main" id="{9629F130-959C-4A77-BA20-C95B37C9E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423" y="3659397"/>
            <a:ext cx="450764" cy="30777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786086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3-</a:t>
            </a:r>
            <a:r>
              <a:rPr lang="ko-KR" altLang="en-US" sz="2000">
                <a:cs typeface="+mj-cs"/>
              </a:rPr>
              <a:t>단계 </a:t>
            </a:r>
            <a:r>
              <a:rPr lang="ko-KR" altLang="en-US" sz="2000">
                <a:solidFill>
                  <a:schemeClr val="bg1"/>
                </a:solidFill>
                <a:cs typeface="+mj-cs"/>
              </a:rPr>
              <a:t>핸드셰이킹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24</a:t>
            </a:fld>
            <a:endParaRPr lang="en-US" dirty="0"/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3D449A34-BB38-4CE6-A4C0-609AA9F149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9998" y="2314575"/>
            <a:ext cx="1246" cy="2470150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0DB3B482-17D4-4033-9DFB-CD1034AE1DB6}"/>
              </a:ext>
            </a:extLst>
          </p:cNvPr>
          <p:cNvGrpSpPr/>
          <p:nvPr/>
        </p:nvGrpSpPr>
        <p:grpSpPr>
          <a:xfrm>
            <a:off x="2200464" y="2241550"/>
            <a:ext cx="3345483" cy="963469"/>
            <a:chOff x="2200464" y="2241550"/>
            <a:chExt cx="3345483" cy="963469"/>
          </a:xfrm>
        </p:grpSpPr>
        <p:sp>
          <p:nvSpPr>
            <p:cNvPr id="6" name="Line 10">
              <a:extLst>
                <a:ext uri="{FF2B5EF4-FFF2-40B4-BE49-F238E27FC236}">
                  <a16:creationId xmlns:a16="http://schemas.microsoft.com/office/drawing/2014/main" id="{3E7DB6B4-CAFA-4A2B-A93D-98C14DFFA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2360" y="2453641"/>
              <a:ext cx="1903587" cy="743586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B753BF95-6AE1-401B-A283-DE1BEDF0B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7707" y="2574636"/>
              <a:ext cx="938077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SYNbit=1, </a:t>
              </a:r>
              <a:br>
                <a:rPr lang="en-US" altLang="ko-KR"/>
              </a:br>
              <a:r>
                <a:rPr lang="en-US" altLang="ko-KR"/>
                <a:t>Seq=x</a:t>
              </a:r>
            </a:p>
          </p:txBody>
        </p:sp>
        <p:sp>
          <p:nvSpPr>
            <p:cNvPr id="9" name="Text Box 21">
              <a:extLst>
                <a:ext uri="{FF2B5EF4-FFF2-40B4-BE49-F238E27FC236}">
                  <a16:creationId xmlns:a16="http://schemas.microsoft.com/office/drawing/2014/main" id="{791D0CE2-08D4-4B04-951B-A7F3C0BAA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464" y="2241550"/>
              <a:ext cx="1236609" cy="963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초기 순서 번호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x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고르고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 SYN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메시지 송신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sp>
        <p:nvSpPr>
          <p:cNvPr id="10" name="Line 22">
            <a:extLst>
              <a:ext uri="{FF2B5EF4-FFF2-40B4-BE49-F238E27FC236}">
                <a16:creationId xmlns:a16="http://schemas.microsoft.com/office/drawing/2014/main" id="{7CAB5FBF-0E9D-4D07-B233-D550BFEC5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45954" y="2226906"/>
            <a:ext cx="0" cy="357540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3A98B63-FA7A-41A9-994B-C420AC4F6F53}"/>
              </a:ext>
            </a:extLst>
          </p:cNvPr>
          <p:cNvGrpSpPr/>
          <p:nvPr/>
        </p:nvGrpSpPr>
        <p:grpSpPr>
          <a:xfrm>
            <a:off x="3623098" y="2911475"/>
            <a:ext cx="3627084" cy="1425575"/>
            <a:chOff x="3623098" y="2911475"/>
            <a:chExt cx="3627084" cy="1425575"/>
          </a:xfrm>
        </p:grpSpPr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8FF716C8-66D3-431E-8AD3-33F47E6DC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3098" y="3302000"/>
              <a:ext cx="1967294" cy="103505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5" name="Text Box 83">
              <a:extLst>
                <a:ext uri="{FF2B5EF4-FFF2-40B4-BE49-F238E27FC236}">
                  <a16:creationId xmlns:a16="http://schemas.microsoft.com/office/drawing/2014/main" id="{6C599BFD-56F8-4DA8-B91A-891A9D5BD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6349" y="3484745"/>
              <a:ext cx="1960793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SYNbit=1, Seq=y</a:t>
              </a:r>
            </a:p>
            <a:p>
              <a: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ACKbit=1; ACKnum=x+1</a:t>
              </a:r>
            </a:p>
          </p:txBody>
        </p:sp>
        <p:sp>
          <p:nvSpPr>
            <p:cNvPr id="16" name="Text Box 93">
              <a:extLst>
                <a:ext uri="{FF2B5EF4-FFF2-40B4-BE49-F238E27FC236}">
                  <a16:creationId xmlns:a16="http://schemas.microsoft.com/office/drawing/2014/main" id="{DE067B6F-A041-4DE2-B657-94771D895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952" y="2911475"/>
              <a:ext cx="1586230" cy="1406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초기 순서 번호 </a:t>
              </a:r>
              <a:b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y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를 고르고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 대한 응답으로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TCP SYNACK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메시지 송신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D14BB12E-3BE8-4AA3-A219-11ABB71C36B0}"/>
              </a:ext>
            </a:extLst>
          </p:cNvPr>
          <p:cNvGrpSpPr/>
          <p:nvPr/>
        </p:nvGrpSpPr>
        <p:grpSpPr>
          <a:xfrm>
            <a:off x="1494102" y="4227738"/>
            <a:ext cx="5569469" cy="1421094"/>
            <a:chOff x="1494102" y="4227738"/>
            <a:chExt cx="5569469" cy="1421094"/>
          </a:xfrm>
        </p:grpSpPr>
        <p:sp>
          <p:nvSpPr>
            <p:cNvPr id="18" name="Line 84">
              <a:extLst>
                <a:ext uri="{FF2B5EF4-FFF2-40B4-BE49-F238E27FC236}">
                  <a16:creationId xmlns:a16="http://schemas.microsoft.com/office/drawing/2014/main" id="{D1810DEE-D7A1-4D78-8C5B-3CDA91605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3596" y="4408487"/>
              <a:ext cx="1966049" cy="735013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0" name="Text Box 90">
              <a:extLst>
                <a:ext uri="{FF2B5EF4-FFF2-40B4-BE49-F238E27FC236}">
                  <a16:creationId xmlns:a16="http://schemas.microsoft.com/office/drawing/2014/main" id="{823949DB-ACA9-4896-A063-18991FB98D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0227" y="4437112"/>
              <a:ext cx="1193036" cy="5202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ACKbit=1, </a:t>
              </a:r>
              <a:b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</a:b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ACKnum=y+1</a:t>
              </a:r>
            </a:p>
          </p:txBody>
        </p:sp>
        <p:sp>
          <p:nvSpPr>
            <p:cNvPr id="21" name="Text Box 94">
              <a:extLst>
                <a:ext uri="{FF2B5EF4-FFF2-40B4-BE49-F238E27FC236}">
                  <a16:creationId xmlns:a16="http://schemas.microsoft.com/office/drawing/2014/main" id="{5D53E58D-04F8-47FC-96DE-BBAF30D78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102" y="4227738"/>
              <a:ext cx="2063386" cy="1406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SYNACK(x)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는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서버가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살아있음을 의미함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;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SYNACK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 대한 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송신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;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클라이언트에서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서버로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보내는 데이터를 이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segment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에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전송 가능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Text Box 95">
              <a:extLst>
                <a:ext uri="{FF2B5EF4-FFF2-40B4-BE49-F238E27FC236}">
                  <a16:creationId xmlns:a16="http://schemas.microsoft.com/office/drawing/2014/main" id="{48F25A94-0C0B-4D07-A85B-B23518731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3953" y="4906962"/>
              <a:ext cx="1399618" cy="7418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ACK(y)</a:t>
              </a: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는 클라이언트가</a:t>
              </a: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살아있음을 의미함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B641246-FF32-4377-A702-98BFE0935566}"/>
              </a:ext>
            </a:extLst>
          </p:cNvPr>
          <p:cNvGrpSpPr/>
          <p:nvPr/>
        </p:nvGrpSpPr>
        <p:grpSpPr>
          <a:xfrm>
            <a:off x="800538" y="2174376"/>
            <a:ext cx="1013418" cy="761349"/>
            <a:chOff x="800538" y="2174376"/>
            <a:chExt cx="1013418" cy="761349"/>
          </a:xfrm>
        </p:grpSpPr>
        <p:sp>
          <p:nvSpPr>
            <p:cNvPr id="24" name="Text Box 91">
              <a:extLst>
                <a:ext uri="{FF2B5EF4-FFF2-40B4-BE49-F238E27FC236}">
                  <a16:creationId xmlns:a16="http://schemas.microsoft.com/office/drawing/2014/main" id="{ACBF3243-4C86-4A17-8621-AB99A5A7D7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538" y="2627948"/>
              <a:ext cx="10134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SYNSENT</a:t>
              </a:r>
            </a:p>
          </p:txBody>
        </p:sp>
        <p:sp>
          <p:nvSpPr>
            <p:cNvPr id="25" name="Line 103">
              <a:extLst>
                <a:ext uri="{FF2B5EF4-FFF2-40B4-BE49-F238E27FC236}">
                  <a16:creationId xmlns:a16="http://schemas.microsoft.com/office/drawing/2014/main" id="{833C60EC-56C0-44AF-B79A-9FE8E27A4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7247" y="2174376"/>
              <a:ext cx="0" cy="4397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C1BED10-28C6-485B-969D-B61E3F6A9469}"/>
              </a:ext>
            </a:extLst>
          </p:cNvPr>
          <p:cNvGrpSpPr/>
          <p:nvPr/>
        </p:nvGrpSpPr>
        <p:grpSpPr>
          <a:xfrm>
            <a:off x="866474" y="2940050"/>
            <a:ext cx="881547" cy="1593850"/>
            <a:chOff x="866474" y="2940050"/>
            <a:chExt cx="881547" cy="1593850"/>
          </a:xfrm>
        </p:grpSpPr>
        <p:sp>
          <p:nvSpPr>
            <p:cNvPr id="27" name="Text Box 16">
              <a:extLst>
                <a:ext uri="{FF2B5EF4-FFF2-40B4-BE49-F238E27FC236}">
                  <a16:creationId xmlns:a16="http://schemas.microsoft.com/office/drawing/2014/main" id="{6F7709C4-6B0B-48B3-864A-60DB6A0A5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474" y="4225925"/>
              <a:ext cx="88154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ESTAB</a:t>
              </a:r>
            </a:p>
          </p:txBody>
        </p:sp>
        <p:sp>
          <p:nvSpPr>
            <p:cNvPr id="28" name="Line 104">
              <a:extLst>
                <a:ext uri="{FF2B5EF4-FFF2-40B4-BE49-F238E27FC236}">
                  <a16:creationId xmlns:a16="http://schemas.microsoft.com/office/drawing/2014/main" id="{91EE2463-684D-47C3-AE06-37088F879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7247" y="2940050"/>
              <a:ext cx="0" cy="1265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>
                <a:solidFill>
                  <a:srgbClr val="F27037"/>
                </a:solidFill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84CF67F-D2CE-4564-8A26-0E8ABEA2481F}"/>
              </a:ext>
            </a:extLst>
          </p:cNvPr>
          <p:cNvGrpSpPr/>
          <p:nvPr/>
        </p:nvGrpSpPr>
        <p:grpSpPr>
          <a:xfrm>
            <a:off x="7023516" y="2204864"/>
            <a:ext cx="1119365" cy="1286366"/>
            <a:chOff x="7023516" y="2204864"/>
            <a:chExt cx="1119365" cy="1286366"/>
          </a:xfrm>
        </p:grpSpPr>
        <p:sp>
          <p:nvSpPr>
            <p:cNvPr id="30" name="Text Box 99">
              <a:extLst>
                <a:ext uri="{FF2B5EF4-FFF2-40B4-BE49-F238E27FC236}">
                  <a16:creationId xmlns:a16="http://schemas.microsoft.com/office/drawing/2014/main" id="{371E8300-5CDE-442C-8091-FAD2BD84F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3516" y="3183255"/>
              <a:ext cx="111936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SYN RCVD</a:t>
              </a:r>
            </a:p>
          </p:txBody>
        </p:sp>
        <p:sp>
          <p:nvSpPr>
            <p:cNvPr id="31" name="Line 106">
              <a:extLst>
                <a:ext uri="{FF2B5EF4-FFF2-40B4-BE49-F238E27FC236}">
                  <a16:creationId xmlns:a16="http://schemas.microsoft.com/office/drawing/2014/main" id="{DADA37CE-35DF-4A50-89A7-FEDE62663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198" y="2204864"/>
              <a:ext cx="0" cy="903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E9CD48C2-06D5-400B-B475-49540B2BCD80}"/>
              </a:ext>
            </a:extLst>
          </p:cNvPr>
          <p:cNvGrpSpPr/>
          <p:nvPr/>
        </p:nvGrpSpPr>
        <p:grpSpPr>
          <a:xfrm>
            <a:off x="7142212" y="3536950"/>
            <a:ext cx="881973" cy="2072035"/>
            <a:chOff x="7142212" y="3536950"/>
            <a:chExt cx="881973" cy="2072035"/>
          </a:xfrm>
        </p:grpSpPr>
        <p:sp>
          <p:nvSpPr>
            <p:cNvPr id="11" name="Text Box 92">
              <a:extLst>
                <a:ext uri="{FF2B5EF4-FFF2-40B4-BE49-F238E27FC236}">
                  <a16:creationId xmlns:a16="http://schemas.microsoft.com/office/drawing/2014/main" id="{0F665823-4259-4F24-B977-9510124AA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2212" y="5301208"/>
              <a:ext cx="88197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F27037"/>
                  </a:solidFill>
                  <a:latin typeface="+mj-ea"/>
                  <a:ea typeface="+mj-ea"/>
                  <a:cs typeface="+mj-cs"/>
                </a:rPr>
                <a:t>ESTAB</a:t>
              </a:r>
            </a:p>
          </p:txBody>
        </p:sp>
        <p:sp>
          <p:nvSpPr>
            <p:cNvPr id="32" name="Line 107">
              <a:extLst>
                <a:ext uri="{FF2B5EF4-FFF2-40B4-BE49-F238E27FC236}">
                  <a16:creationId xmlns:a16="http://schemas.microsoft.com/office/drawing/2014/main" id="{467B38C7-A779-412F-9D5E-B7B810DD8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198" y="3536950"/>
              <a:ext cx="0" cy="1704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sp>
        <p:nvSpPr>
          <p:cNvPr id="34" name="Text Box 114">
            <a:extLst>
              <a:ext uri="{FF2B5EF4-FFF2-40B4-BE49-F238E27FC236}">
                <a16:creationId xmlns:a16="http://schemas.microsoft.com/office/drawing/2014/main" id="{7B0395FE-CB53-433B-B2FC-9DED4A8030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2" y="1590675"/>
            <a:ext cx="144683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클라이언트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5" name="Text Box 115">
            <a:extLst>
              <a:ext uri="{FF2B5EF4-FFF2-40B4-BE49-F238E27FC236}">
                <a16:creationId xmlns:a16="http://schemas.microsoft.com/office/drawing/2014/main" id="{3A44C5AB-B2AC-45CB-8DCA-0B83DA91F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931" y="1851343"/>
            <a:ext cx="8066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LISTEN</a:t>
            </a:r>
          </a:p>
        </p:txBody>
      </p:sp>
      <p:sp>
        <p:nvSpPr>
          <p:cNvPr id="36" name="Text Box 116">
            <a:extLst>
              <a:ext uri="{FF2B5EF4-FFF2-40B4-BE49-F238E27FC236}">
                <a16:creationId xmlns:a16="http://schemas.microsoft.com/office/drawing/2014/main" id="{D84D93CE-96A7-4088-883D-7B1163B8B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0013" y="1590675"/>
            <a:ext cx="92637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서버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37" name="Text Box 117">
            <a:extLst>
              <a:ext uri="{FF2B5EF4-FFF2-40B4-BE49-F238E27FC236}">
                <a16:creationId xmlns:a16="http://schemas.microsoft.com/office/drawing/2014/main" id="{F4A3E974-D900-4F29-AA87-27B0956A1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882" y="1851343"/>
            <a:ext cx="8066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LISTEN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B4D35CE-0188-4121-B60B-B374D7EBFEB8}"/>
              </a:ext>
            </a:extLst>
          </p:cNvPr>
          <p:cNvGrpSpPr/>
          <p:nvPr/>
        </p:nvGrpSpPr>
        <p:grpSpPr>
          <a:xfrm>
            <a:off x="3263393" y="1554454"/>
            <a:ext cx="639607" cy="646948"/>
            <a:chOff x="4405123" y="4577716"/>
            <a:chExt cx="527383" cy="533436"/>
          </a:xfrm>
        </p:grpSpPr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2530CE64-5FFB-424A-B6C2-C816C97D6764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E7EB1D78-0591-4781-839A-E5CDC5E7D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754E822-A894-445A-8A66-41E3509E6561}"/>
              </a:ext>
            </a:extLst>
          </p:cNvPr>
          <p:cNvGrpSpPr/>
          <p:nvPr/>
        </p:nvGrpSpPr>
        <p:grpSpPr>
          <a:xfrm>
            <a:off x="5322781" y="1456679"/>
            <a:ext cx="631497" cy="744723"/>
            <a:chOff x="6321753" y="4534264"/>
            <a:chExt cx="520696" cy="614056"/>
          </a:xfrm>
        </p:grpSpPr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39E5F1C3-DEE5-47A5-AF29-0C24C3A64600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0" name="그림 79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81F1E14B-0C6D-448C-9360-6A750DD50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564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연결 닫기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25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639EE2-7127-4545-B6D7-7E1942E3C6F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9675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클라이언트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, 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서버는 각각 자기 쪽의 연결을 닫는다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2109CCB-AE00-4FCD-8F10-1BD8A1FFC7F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621403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FIN bit = 1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인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TCP segment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보냄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B818FE-59B4-4CCE-920F-108AE9C9510C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197467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FIN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을 받으면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ACK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로 응답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F1D8EE4-916C-4F74-92CF-4A0EF588B7F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622118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FIN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을 받았을 때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이 쪽의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FIN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은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ACK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와 함께 전달 가능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719059D-373C-4580-9D3B-49D2AE6CC216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3205579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양쪽이 동시에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FIN</a:t>
            </a: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을 보내는 것도 처리 가능함</a:t>
            </a:r>
          </a:p>
        </p:txBody>
      </p:sp>
    </p:spTree>
    <p:extLst>
      <p:ext uri="{BB962C8B-B14F-4D97-AF65-F5344CB8AC3E}">
        <p14:creationId xmlns:p14="http://schemas.microsoft.com/office/powerpoint/2010/main" val="1206862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cs typeface="+mj-cs"/>
              </a:rPr>
              <a:t>연결 닫기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B48CA8F5-A6CC-4518-B905-FAFE3CE9A0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5542" y="2081212"/>
            <a:ext cx="0" cy="40782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1AA896CA-0A3F-45AA-BD0E-0572536376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0398" y="2151063"/>
            <a:ext cx="1414" cy="3417887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9374ED95-2D05-4087-A017-F596C2C8B377}"/>
              </a:ext>
            </a:extLst>
          </p:cNvPr>
          <p:cNvGrpSpPr/>
          <p:nvPr/>
        </p:nvGrpSpPr>
        <p:grpSpPr>
          <a:xfrm>
            <a:off x="822440" y="2736850"/>
            <a:ext cx="1218886" cy="850900"/>
            <a:chOff x="822440" y="2736850"/>
            <a:chExt cx="1218886" cy="850900"/>
          </a:xfrm>
        </p:grpSpPr>
        <p:sp>
          <p:nvSpPr>
            <p:cNvPr id="7" name="Text Box 34">
              <a:extLst>
                <a:ext uri="{FF2B5EF4-FFF2-40B4-BE49-F238E27FC236}">
                  <a16:creationId xmlns:a16="http://schemas.microsoft.com/office/drawing/2014/main" id="{AD6C8ADB-C16A-49F8-9B85-AEE90EEBE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440" y="3279775"/>
              <a:ext cx="1218886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FIN_WAIT_2</a:t>
              </a:r>
            </a:p>
          </p:txBody>
        </p:sp>
        <p:sp>
          <p:nvSpPr>
            <p:cNvPr id="8" name="Line 35">
              <a:extLst>
                <a:ext uri="{FF2B5EF4-FFF2-40B4-BE49-F238E27FC236}">
                  <a16:creationId xmlns:a16="http://schemas.microsoft.com/office/drawing/2014/main" id="{F6D60B46-7ABC-42DE-ADF5-F1CEC60A1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2736850"/>
              <a:ext cx="0" cy="565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C2CA6501-324B-4124-A859-1DA571B2B47C}"/>
              </a:ext>
            </a:extLst>
          </p:cNvPr>
          <p:cNvGrpSpPr/>
          <p:nvPr/>
        </p:nvGrpSpPr>
        <p:grpSpPr>
          <a:xfrm>
            <a:off x="6959298" y="2093914"/>
            <a:ext cx="1341908" cy="965201"/>
            <a:chOff x="6959298" y="2093914"/>
            <a:chExt cx="1341908" cy="965201"/>
          </a:xfrm>
        </p:grpSpPr>
        <p:sp>
          <p:nvSpPr>
            <p:cNvPr id="10" name="Text Box 37">
              <a:extLst>
                <a:ext uri="{FF2B5EF4-FFF2-40B4-BE49-F238E27FC236}">
                  <a16:creationId xmlns:a16="http://schemas.microsoft.com/office/drawing/2014/main" id="{D7ACD063-2396-4332-9A1F-C285750AB0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9298" y="2751140"/>
              <a:ext cx="134190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CLOSE_WAIT</a:t>
              </a:r>
            </a:p>
          </p:txBody>
        </p:sp>
        <p:sp>
          <p:nvSpPr>
            <p:cNvPr id="11" name="Line 38">
              <a:extLst>
                <a:ext uri="{FF2B5EF4-FFF2-40B4-BE49-F238E27FC236}">
                  <a16:creationId xmlns:a16="http://schemas.microsoft.com/office/drawing/2014/main" id="{DD0777D4-2314-41C3-BC90-A72EF7AC8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0252" y="2093914"/>
              <a:ext cx="0" cy="658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30314AB5-9BA8-4243-8E04-70F0B08288A4}"/>
              </a:ext>
            </a:extLst>
          </p:cNvPr>
          <p:cNvGrpSpPr/>
          <p:nvPr/>
        </p:nvGrpSpPr>
        <p:grpSpPr>
          <a:xfrm>
            <a:off x="3614506" y="3892798"/>
            <a:ext cx="2222843" cy="556965"/>
            <a:chOff x="3614506" y="3892798"/>
            <a:chExt cx="2222843" cy="556965"/>
          </a:xfrm>
        </p:grpSpPr>
        <p:sp>
          <p:nvSpPr>
            <p:cNvPr id="13" name="Line 41">
              <a:extLst>
                <a:ext uri="{FF2B5EF4-FFF2-40B4-BE49-F238E27FC236}">
                  <a16:creationId xmlns:a16="http://schemas.microsoft.com/office/drawing/2014/main" id="{05F49467-B07A-4BE7-80BD-B8427063D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14506" y="3941763"/>
              <a:ext cx="2222843" cy="50800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5" name="Text Box 43">
              <a:extLst>
                <a:ext uri="{FF2B5EF4-FFF2-40B4-BE49-F238E27FC236}">
                  <a16:creationId xmlns:a16="http://schemas.microsoft.com/office/drawing/2014/main" id="{72E28DB7-15B8-470D-8918-3FB21F53D2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350" y="3892798"/>
              <a:ext cx="1289050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FINbit=1, seq=y</a:t>
              </a: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D8BE48EA-5F9C-4FEC-B9B5-C5A71CD311CB}"/>
              </a:ext>
            </a:extLst>
          </p:cNvPr>
          <p:cNvGrpSpPr/>
          <p:nvPr/>
        </p:nvGrpSpPr>
        <p:grpSpPr>
          <a:xfrm>
            <a:off x="3637759" y="4578350"/>
            <a:ext cx="2234155" cy="582613"/>
            <a:chOff x="3637759" y="4578350"/>
            <a:chExt cx="2234155" cy="582613"/>
          </a:xfrm>
        </p:grpSpPr>
        <p:sp>
          <p:nvSpPr>
            <p:cNvPr id="17" name="Line 44">
              <a:extLst>
                <a:ext uri="{FF2B5EF4-FFF2-40B4-BE49-F238E27FC236}">
                  <a16:creationId xmlns:a16="http://schemas.microsoft.com/office/drawing/2014/main" id="{5778064D-BCAC-4B88-BEFB-038139EB7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7759" y="4578350"/>
              <a:ext cx="2234155" cy="582613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19" name="Text Box 47">
              <a:extLst>
                <a:ext uri="{FF2B5EF4-FFF2-40B4-BE49-F238E27FC236}">
                  <a16:creationId xmlns:a16="http://schemas.microsoft.com/office/drawing/2014/main" id="{8AC94F79-9350-4894-99AE-6EE4FFCF43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8708" y="4581128"/>
              <a:ext cx="1307212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ACKbit=1; ACKnum=y+1</a:t>
              </a:r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A00D9F7D-684C-471A-B2CE-9AA1BE172E8E}"/>
              </a:ext>
            </a:extLst>
          </p:cNvPr>
          <p:cNvGrpSpPr/>
          <p:nvPr/>
        </p:nvGrpSpPr>
        <p:grpSpPr>
          <a:xfrm>
            <a:off x="2254845" y="2901950"/>
            <a:ext cx="4740808" cy="898525"/>
            <a:chOff x="2254845" y="2901950"/>
            <a:chExt cx="4740808" cy="898525"/>
          </a:xfrm>
        </p:grpSpPr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7658C91B-093F-4366-B787-9E13A95BD0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3194" y="2901950"/>
              <a:ext cx="2234155" cy="582613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7B63432A-9D46-48C8-A7BE-F70D685CC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889" y="2996952"/>
              <a:ext cx="1292850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ACKbit=1; ACKnum=x+1</a:t>
              </a:r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50C1B5FE-AFC3-4114-9240-521A2FAA2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845" y="3279775"/>
              <a:ext cx="1315041" cy="520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wait for server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</a:t>
              </a:r>
            </a:p>
          </p:txBody>
        </p:sp>
        <p:sp>
          <p:nvSpPr>
            <p:cNvPr id="25" name="Text Box 49">
              <a:extLst>
                <a:ext uri="{FF2B5EF4-FFF2-40B4-BE49-F238E27FC236}">
                  <a16:creationId xmlns:a16="http://schemas.microsoft.com/office/drawing/2014/main" id="{8C904DC1-0718-4C29-AE0D-3B21147C4A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6054" y="2924944"/>
              <a:ext cx="1109599" cy="52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아직 데이터를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보낼 수 있다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17D8684-CF30-45BC-BEB6-61D7293EE239}"/>
              </a:ext>
            </a:extLst>
          </p:cNvPr>
          <p:cNvGrpSpPr/>
          <p:nvPr/>
        </p:nvGrpSpPr>
        <p:grpSpPr>
          <a:xfrm>
            <a:off x="5886054" y="3032126"/>
            <a:ext cx="2298495" cy="1779158"/>
            <a:chOff x="5886054" y="3032126"/>
            <a:chExt cx="2298495" cy="1779158"/>
          </a:xfrm>
        </p:grpSpPr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DF9DF767-65B5-4974-8192-1C72DA357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6054" y="4291013"/>
              <a:ext cx="1305165" cy="52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더 이상 데이터를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  <a:p>
              <a:pPr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보낼 수 없다</a:t>
              </a:r>
              <a:endPara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ABBFD079-A2CC-4CFB-9937-B593194DA073}"/>
                </a:ext>
              </a:extLst>
            </p:cNvPr>
            <p:cNvGrpSpPr/>
            <p:nvPr/>
          </p:nvGrpSpPr>
          <p:grpSpPr>
            <a:xfrm>
              <a:off x="7075956" y="3032126"/>
              <a:ext cx="1108593" cy="1196976"/>
              <a:chOff x="7075956" y="3032126"/>
              <a:chExt cx="1108593" cy="1196976"/>
            </a:xfrm>
          </p:grpSpPr>
          <p:sp>
            <p:nvSpPr>
              <p:cNvPr id="29" name="Line 39">
                <a:extLst>
                  <a:ext uri="{FF2B5EF4-FFF2-40B4-BE49-F238E27FC236}">
                    <a16:creationId xmlns:a16="http://schemas.microsoft.com/office/drawing/2014/main" id="{9AC24211-F325-4927-B239-C23C2F121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30252" y="3032126"/>
                <a:ext cx="0" cy="8921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30" name="Text Box 55">
                <a:extLst>
                  <a:ext uri="{FF2B5EF4-FFF2-40B4-BE49-F238E27FC236}">
                    <a16:creationId xmlns:a16="http://schemas.microsoft.com/office/drawing/2014/main" id="{52242498-0D66-4F3E-BE3C-8B573D331A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5956" y="3921127"/>
                <a:ext cx="1108593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</a:pPr>
                <a:r>
                  <a:rPr lang="en-US" altLang="ko-KR" sz="1400">
                    <a:ln>
                      <a:solidFill>
                        <a:srgbClr val="2D5897">
                          <a:alpha val="0"/>
                        </a:srgbClr>
                      </a:solidFill>
                    </a:ln>
                    <a:latin typeface="넥슨Lv1고딕" panose="00000500000000000000" pitchFamily="2" charset="-127"/>
                    <a:ea typeface="넥슨Lv1고딕" panose="00000500000000000000" pitchFamily="2" charset="-127"/>
                  </a:rPr>
                  <a:t>LAST_ACK</a:t>
                </a:r>
              </a:p>
            </p:txBody>
          </p:sp>
        </p:grp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E7A44C98-C7BC-40D4-92A2-9446F8CAB76B}"/>
              </a:ext>
            </a:extLst>
          </p:cNvPr>
          <p:cNvGrpSpPr/>
          <p:nvPr/>
        </p:nvGrpSpPr>
        <p:grpSpPr>
          <a:xfrm>
            <a:off x="7167867" y="4213225"/>
            <a:ext cx="924771" cy="1251942"/>
            <a:chOff x="7167867" y="4213225"/>
            <a:chExt cx="924771" cy="1251942"/>
          </a:xfrm>
        </p:grpSpPr>
        <p:sp>
          <p:nvSpPr>
            <p:cNvPr id="32" name="Text Box 11">
              <a:extLst>
                <a:ext uri="{FF2B5EF4-FFF2-40B4-BE49-F238E27FC236}">
                  <a16:creationId xmlns:a16="http://schemas.microsoft.com/office/drawing/2014/main" id="{DA52FAA5-8332-4C2E-BFFB-021283E12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7867" y="5157192"/>
              <a:ext cx="924771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CLOSED</a:t>
              </a:r>
            </a:p>
          </p:txBody>
        </p:sp>
        <p:sp>
          <p:nvSpPr>
            <p:cNvPr id="33" name="Line 57">
              <a:extLst>
                <a:ext uri="{FF2B5EF4-FFF2-40B4-BE49-F238E27FC236}">
                  <a16:creationId xmlns:a16="http://schemas.microsoft.com/office/drawing/2014/main" id="{D72E09C6-2A73-4F75-AC50-5741A10D0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30252" y="4213225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180BB29-FF4D-4F52-B8E0-990FE635800C}"/>
              </a:ext>
            </a:extLst>
          </p:cNvPr>
          <p:cNvGrpSpPr/>
          <p:nvPr/>
        </p:nvGrpSpPr>
        <p:grpSpPr>
          <a:xfrm>
            <a:off x="778605" y="3579813"/>
            <a:ext cx="1306557" cy="1041400"/>
            <a:chOff x="778605" y="3579813"/>
            <a:chExt cx="1306557" cy="1041400"/>
          </a:xfrm>
        </p:grpSpPr>
        <p:sp>
          <p:nvSpPr>
            <p:cNvPr id="35" name="Text Box 58">
              <a:extLst>
                <a:ext uri="{FF2B5EF4-FFF2-40B4-BE49-F238E27FC236}">
                  <a16:creationId xmlns:a16="http://schemas.microsoft.com/office/drawing/2014/main" id="{E0B89060-0B39-4C0E-85CC-D135C7EA37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8605" y="4313238"/>
              <a:ext cx="1306557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TIMED_WAIT</a:t>
              </a:r>
            </a:p>
          </p:txBody>
        </p:sp>
        <p:sp>
          <p:nvSpPr>
            <p:cNvPr id="36" name="Line 60">
              <a:extLst>
                <a:ext uri="{FF2B5EF4-FFF2-40B4-BE49-F238E27FC236}">
                  <a16:creationId xmlns:a16="http://schemas.microsoft.com/office/drawing/2014/main" id="{640378ED-BD22-4A6F-AF49-F3A4DD1DC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3579813"/>
              <a:ext cx="0" cy="766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7B293B55-D69F-4AE3-A359-BB72688F596C}"/>
              </a:ext>
            </a:extLst>
          </p:cNvPr>
          <p:cNvGrpSpPr/>
          <p:nvPr/>
        </p:nvGrpSpPr>
        <p:grpSpPr>
          <a:xfrm>
            <a:off x="2087773" y="4486275"/>
            <a:ext cx="1438279" cy="1692276"/>
            <a:chOff x="2087773" y="4486275"/>
            <a:chExt cx="1438279" cy="1692276"/>
          </a:xfrm>
        </p:grpSpPr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56AD241C-19E3-403F-94F6-79B4EF519FAD}"/>
                </a:ext>
              </a:extLst>
            </p:cNvPr>
            <p:cNvGrpSpPr/>
            <p:nvPr/>
          </p:nvGrpSpPr>
          <p:grpSpPr>
            <a:xfrm>
              <a:off x="3287688" y="4486275"/>
              <a:ext cx="200791" cy="1692276"/>
              <a:chOff x="2956908" y="4486275"/>
              <a:chExt cx="200791" cy="1692276"/>
            </a:xfrm>
          </p:grpSpPr>
          <p:sp>
            <p:nvSpPr>
              <p:cNvPr id="38" name="Line 52">
                <a:extLst>
                  <a:ext uri="{FF2B5EF4-FFF2-40B4-BE49-F238E27FC236}">
                    <a16:creationId xmlns:a16="http://schemas.microsoft.com/office/drawing/2014/main" id="{B3460C53-E9BB-4371-A549-EB7C70612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7303" y="4497388"/>
                <a:ext cx="0" cy="16811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0" name="Line 53">
                <a:extLst>
                  <a:ext uri="{FF2B5EF4-FFF2-40B4-BE49-F238E27FC236}">
                    <a16:creationId xmlns:a16="http://schemas.microsoft.com/office/drawing/2014/main" id="{EF621916-DB91-4D9C-82C4-8E1483841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6908" y="4486275"/>
                <a:ext cx="2007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41" name="Line 54">
                <a:extLst>
                  <a:ext uri="{FF2B5EF4-FFF2-40B4-BE49-F238E27FC236}">
                    <a16:creationId xmlns:a16="http://schemas.microsoft.com/office/drawing/2014/main" id="{4D6BF777-936A-46DF-918A-E65D7E93D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6908" y="6173788"/>
                <a:ext cx="20079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39" name="Text Box 51">
              <a:extLst>
                <a:ext uri="{FF2B5EF4-FFF2-40B4-BE49-F238E27FC236}">
                  <a16:creationId xmlns:a16="http://schemas.microsoft.com/office/drawing/2014/main" id="{DB2A48A8-EE44-42EB-98C9-4453F8CFB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7773" y="4910138"/>
              <a:ext cx="1438279" cy="7418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timed wait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for 2*max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segment lifetime</a:t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51F63F7-789F-4484-AD06-D63BD374C65C}"/>
              </a:ext>
            </a:extLst>
          </p:cNvPr>
          <p:cNvGrpSpPr/>
          <p:nvPr/>
        </p:nvGrpSpPr>
        <p:grpSpPr>
          <a:xfrm>
            <a:off x="969498" y="4606925"/>
            <a:ext cx="924771" cy="1619250"/>
            <a:chOff x="969498" y="4606925"/>
            <a:chExt cx="924771" cy="1619250"/>
          </a:xfrm>
        </p:grpSpPr>
        <p:sp>
          <p:nvSpPr>
            <p:cNvPr id="42" name="Text Box 59">
              <a:extLst>
                <a:ext uri="{FF2B5EF4-FFF2-40B4-BE49-F238E27FC236}">
                  <a16:creationId xmlns:a16="http://schemas.microsoft.com/office/drawing/2014/main" id="{E9BA7567-597C-42C1-974D-ADB733ED5C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9498" y="5918200"/>
              <a:ext cx="924771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CLOSED</a:t>
              </a:r>
            </a:p>
          </p:txBody>
        </p:sp>
        <p:sp>
          <p:nvSpPr>
            <p:cNvPr id="43" name="Line 61">
              <a:extLst>
                <a:ext uri="{FF2B5EF4-FFF2-40B4-BE49-F238E27FC236}">
                  <a16:creationId xmlns:a16="http://schemas.microsoft.com/office/drawing/2014/main" id="{84401EB4-5368-455B-91A2-7E9D321B68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4606925"/>
              <a:ext cx="0" cy="1331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FF23A1D-1CF7-4599-8986-F339A0E19EAF}"/>
              </a:ext>
            </a:extLst>
          </p:cNvPr>
          <p:cNvGrpSpPr/>
          <p:nvPr/>
        </p:nvGrpSpPr>
        <p:grpSpPr>
          <a:xfrm>
            <a:off x="2009302" y="2100263"/>
            <a:ext cx="3829462" cy="866346"/>
            <a:chOff x="2009302" y="2100263"/>
            <a:chExt cx="3829462" cy="866346"/>
          </a:xfrm>
        </p:grpSpPr>
        <p:sp>
          <p:nvSpPr>
            <p:cNvPr id="48" name="Line 6">
              <a:extLst>
                <a:ext uri="{FF2B5EF4-FFF2-40B4-BE49-F238E27FC236}">
                  <a16:creationId xmlns:a16="http://schemas.microsoft.com/office/drawing/2014/main" id="{AE01656B-FAA1-4C3F-A9F1-A1F06389D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5920" y="2289176"/>
              <a:ext cx="2222844" cy="508000"/>
            </a:xfrm>
            <a:prstGeom prst="line">
              <a:avLst/>
            </a:prstGeom>
            <a:noFill/>
            <a:ln w="28575">
              <a:solidFill>
                <a:srgbClr val="105BA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0" name="Text Box 8">
              <a:extLst>
                <a:ext uri="{FF2B5EF4-FFF2-40B4-BE49-F238E27FC236}">
                  <a16:creationId xmlns:a16="http://schemas.microsoft.com/office/drawing/2014/main" id="{8D52830D-247E-44F8-9BF8-8800346A48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9400" y="2276872"/>
              <a:ext cx="1257300" cy="5202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ct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  <a:defRPr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ko-KR"/>
                <a:t>FINbit=1, seq=x</a:t>
              </a:r>
            </a:p>
          </p:txBody>
        </p:sp>
        <p:sp>
          <p:nvSpPr>
            <p:cNvPr id="51" name="Text Box 9">
              <a:extLst>
                <a:ext uri="{FF2B5EF4-FFF2-40B4-BE49-F238E27FC236}">
                  <a16:creationId xmlns:a16="http://schemas.microsoft.com/office/drawing/2014/main" id="{5162BD54-3779-44CA-B659-FBDDFAE47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780" y="2446338"/>
              <a:ext cx="1463513" cy="520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더 이상 송신 불가</a:t>
              </a: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.</a:t>
              </a:r>
            </a:p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 </a:t>
              </a:r>
              <a:r>
                <a:rPr lang="ko-KR" altLang="en-US" sz="12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받을 수는 있음</a:t>
              </a:r>
              <a:endParaRPr lang="en-US" altLang="ko-KR" sz="12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52" name="Text Box 67">
              <a:extLst>
                <a:ext uri="{FF2B5EF4-FFF2-40B4-BE49-F238E27FC236}">
                  <a16:creationId xmlns:a16="http://schemas.microsoft.com/office/drawing/2014/main" id="{2E549307-2F62-4E2F-A938-4A23C893E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9302" y="2100263"/>
              <a:ext cx="1604991" cy="298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latinLnBrk="0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clientSocket.close()</a:t>
              </a:r>
            </a:p>
          </p:txBody>
        </p:sp>
      </p:grpSp>
      <p:sp>
        <p:nvSpPr>
          <p:cNvPr id="53" name="Text Box 84">
            <a:extLst>
              <a:ext uri="{FF2B5EF4-FFF2-40B4-BE49-F238E27FC236}">
                <a16:creationId xmlns:a16="http://schemas.microsoft.com/office/drawing/2014/main" id="{7E67FB72-A995-4AC9-BC55-E67C215F0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69" y="1368425"/>
            <a:ext cx="144622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클라이언트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4" name="Text Box 85">
            <a:extLst>
              <a:ext uri="{FF2B5EF4-FFF2-40B4-BE49-F238E27FC236}">
                <a16:creationId xmlns:a16="http://schemas.microsoft.com/office/drawing/2014/main" id="{E005FD97-8A92-4A7D-B128-32E72BFF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6824" y="1385888"/>
            <a:ext cx="9268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서버 상태</a:t>
            </a:r>
            <a:endParaRPr lang="en-US" altLang="ko-KR" sz="140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55" name="Text Box 86">
            <a:extLst>
              <a:ext uri="{FF2B5EF4-FFF2-40B4-BE49-F238E27FC236}">
                <a16:creationId xmlns:a16="http://schemas.microsoft.com/office/drawing/2014/main" id="{481CDDE2-3DCD-45A1-B9B6-7D136D328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060" y="1768475"/>
            <a:ext cx="75238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ESTAB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917B2CC0-15AA-417B-A8F3-DAB6EAE00F42}"/>
              </a:ext>
            </a:extLst>
          </p:cNvPr>
          <p:cNvGrpSpPr/>
          <p:nvPr/>
        </p:nvGrpSpPr>
        <p:grpSpPr>
          <a:xfrm>
            <a:off x="800994" y="1758633"/>
            <a:ext cx="1216058" cy="966787"/>
            <a:chOff x="823854" y="1751013"/>
            <a:chExt cx="1216058" cy="966787"/>
          </a:xfrm>
        </p:grpSpPr>
        <p:sp>
          <p:nvSpPr>
            <p:cNvPr id="45" name="Text Box 31">
              <a:extLst>
                <a:ext uri="{FF2B5EF4-FFF2-40B4-BE49-F238E27FC236}">
                  <a16:creationId xmlns:a16="http://schemas.microsoft.com/office/drawing/2014/main" id="{F53EE546-8922-45BB-AA2B-93B96CC554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854" y="2409825"/>
              <a:ext cx="121605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FIN_WAIT_1</a:t>
              </a:r>
            </a:p>
          </p:txBody>
        </p:sp>
        <p:sp>
          <p:nvSpPr>
            <p:cNvPr id="46" name="Line 32">
              <a:extLst>
                <a:ext uri="{FF2B5EF4-FFF2-40B4-BE49-F238E27FC236}">
                  <a16:creationId xmlns:a16="http://schemas.microsoft.com/office/drawing/2014/main" id="{0A79931B-E1EE-482A-B224-A46433C611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883" y="2046289"/>
              <a:ext cx="0" cy="398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sp>
          <p:nvSpPr>
            <p:cNvPr id="56" name="Text Box 87">
              <a:extLst>
                <a:ext uri="{FF2B5EF4-FFF2-40B4-BE49-F238E27FC236}">
                  <a16:creationId xmlns:a16="http://schemas.microsoft.com/office/drawing/2014/main" id="{DB3E303D-DD87-47E2-A756-1F79E3730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5691" y="1751013"/>
              <a:ext cx="75238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4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ESTAB</a:t>
              </a:r>
            </a:p>
          </p:txBody>
        </p: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0FBC505E-9297-41DD-8B02-9EDAC61E2699}"/>
              </a:ext>
            </a:extLst>
          </p:cNvPr>
          <p:cNvGrpSpPr/>
          <p:nvPr/>
        </p:nvGrpSpPr>
        <p:grpSpPr>
          <a:xfrm>
            <a:off x="3263393" y="1336029"/>
            <a:ext cx="639607" cy="646948"/>
            <a:chOff x="4405123" y="4577716"/>
            <a:chExt cx="527383" cy="533436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A06A7BB1-FACA-483F-872B-4DDD408767FA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E14EBC8F-3CE8-4ECC-B8F4-532776748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DF4122C-176C-4124-806A-1BAB5AAC3FA0}"/>
              </a:ext>
            </a:extLst>
          </p:cNvPr>
          <p:cNvGrpSpPr/>
          <p:nvPr/>
        </p:nvGrpSpPr>
        <p:grpSpPr>
          <a:xfrm>
            <a:off x="5538681" y="1336029"/>
            <a:ext cx="631497" cy="744723"/>
            <a:chOff x="6321753" y="4534264"/>
            <a:chExt cx="520696" cy="614056"/>
          </a:xfrm>
        </p:grpSpPr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EEFEE2B3-363F-4EE1-9A36-4E4F25970610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05" name="그림 104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F744CC8E-5096-4357-916E-1627B0A13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1789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7830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52">
            <a:extLst>
              <a:ext uri="{FF2B5EF4-FFF2-40B4-BE49-F238E27FC236}">
                <a16:creationId xmlns:a16="http://schemas.microsoft.com/office/drawing/2014/main" id="{439A9126-8A09-419D-8BE1-C3EDB69C9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100" y="4171127"/>
            <a:ext cx="2818960" cy="2011362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37" name="Rectangle 52">
            <a:extLst>
              <a:ext uri="{FF2B5EF4-FFF2-40B4-BE49-F238E27FC236}">
                <a16:creationId xmlns:a16="http://schemas.microsoft.com/office/drawing/2014/main" id="{D730F16E-4CEA-4862-80AA-E819D3328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140" y="4171127"/>
            <a:ext cx="2818960" cy="2011362"/>
          </a:xfrm>
          <a:prstGeom prst="rect">
            <a:avLst/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>
                <a:srgbClr val="000000"/>
              </a:buClr>
              <a:buFont typeface="Arial"/>
            </a:pPr>
            <a:endParaRPr lang="ko-KR" altLang="ko-KR" sz="1400">
              <a:solidFill>
                <a:schemeClr val="lt1"/>
              </a:solidFill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sz="2000" dirty="0">
                <a:cs typeface="+mj-cs"/>
              </a:rPr>
              <a:t>혼잡 제어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(congestion control)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28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14B52-9224-43A5-A7E7-0B3332F3CDF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700808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informally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5EF38B9-D0F8-4221-AFBA-6E8A8D8758BF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348990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lost packets (buffer overflow at routers)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long delays (queueing in router buffers)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4CE8B02-9E66-4C2A-A596-1E21612AB578}"/>
              </a:ext>
            </a:extLst>
          </p:cNvPr>
          <p:cNvGrpSpPr/>
          <p:nvPr/>
        </p:nvGrpSpPr>
        <p:grpSpPr>
          <a:xfrm>
            <a:off x="670135" y="1052736"/>
            <a:ext cx="453816" cy="540785"/>
            <a:chOff x="670134" y="1134217"/>
            <a:chExt cx="499079" cy="594722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83CC414-C3FF-408B-A375-F4F069F857E3}"/>
                </a:ext>
              </a:extLst>
            </p:cNvPr>
            <p:cNvSpPr/>
            <p:nvPr/>
          </p:nvSpPr>
          <p:spPr>
            <a:xfrm>
              <a:off x="758638" y="1644518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38" name="그래픽 9">
              <a:extLst>
                <a:ext uri="{FF2B5EF4-FFF2-40B4-BE49-F238E27FC236}">
                  <a16:creationId xmlns:a16="http://schemas.microsoft.com/office/drawing/2014/main" id="{9ABC91E9-B5C6-4205-811C-C4DE745943BA}"/>
                </a:ext>
              </a:extLst>
            </p:cNvPr>
            <p:cNvSpPr/>
            <p:nvPr/>
          </p:nvSpPr>
          <p:spPr>
            <a:xfrm rot="5400000">
              <a:off x="638045" y="1166306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0187560-4810-40FD-B7C6-7B35F2A19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9500" y="1317975"/>
              <a:ext cx="375876" cy="217726"/>
            </a:xfrm>
            <a:prstGeom prst="rect">
              <a:avLst/>
            </a:prstGeom>
          </p:spPr>
        </p:pic>
      </p:grpSp>
      <p:sp>
        <p:nvSpPr>
          <p:cNvPr id="12" name="Rectangle 5">
            <a:extLst>
              <a:ext uri="{FF2B5EF4-FFF2-40B4-BE49-F238E27FC236}">
                <a16:creationId xmlns:a16="http://schemas.microsoft.com/office/drawing/2014/main" id="{D772141B-46AD-4001-B2BE-833AF8B7C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96" y="1074631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congestion</a:t>
            </a:r>
            <a:endParaRPr lang="en-US" altLang="ko-KR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+mj-ea"/>
              <a:ea typeface="+mj-ea"/>
              <a:cs typeface="+mj-cs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6FD6D38-AEE8-4420-91AB-C1CFA2C2457E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54166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different from flow control!</a:t>
            </a:r>
          </a:p>
          <a:p>
            <a:pPr marL="216000" lvl="2" indent="-216000" latinLnBrk="0">
              <a:lnSpc>
                <a:spcPct val="130000"/>
              </a:lnSpc>
              <a:spcBef>
                <a:spcPts val="6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manifestations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750D652-1E86-48F2-B35C-AA87E889B681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123688"/>
            <a:ext cx="6774102" cy="33304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“too many sources sending too much data too fast for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network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to handle”</a:t>
            </a:r>
          </a:p>
        </p:txBody>
      </p:sp>
      <p:sp>
        <p:nvSpPr>
          <p:cNvPr id="16" name="Line 94">
            <a:extLst>
              <a:ext uri="{FF2B5EF4-FFF2-40B4-BE49-F238E27FC236}">
                <a16:creationId xmlns:a16="http://schemas.microsoft.com/office/drawing/2014/main" id="{1B6068B4-967E-4E6C-BB03-F2CCF05FB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74" y="4452476"/>
            <a:ext cx="0" cy="127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7" name="Line 95">
            <a:extLst>
              <a:ext uri="{FF2B5EF4-FFF2-40B4-BE49-F238E27FC236}">
                <a16:creationId xmlns:a16="http://schemas.microsoft.com/office/drawing/2014/main" id="{39C88A5B-01B9-4A57-9834-EB22BB6892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8749" y="5722476"/>
            <a:ext cx="14636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8" name="Line 96">
            <a:extLst>
              <a:ext uri="{FF2B5EF4-FFF2-40B4-BE49-F238E27FC236}">
                <a16:creationId xmlns:a16="http://schemas.microsoft.com/office/drawing/2014/main" id="{F0761CA5-2630-4C2E-9B20-EDC31551E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1749" y="4592176"/>
            <a:ext cx="0" cy="1104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9" name="Freeform 97">
            <a:extLst>
              <a:ext uri="{FF2B5EF4-FFF2-40B4-BE49-F238E27FC236}">
                <a16:creationId xmlns:a16="http://schemas.microsoft.com/office/drawing/2014/main" id="{40BBAAB3-BDA5-489C-BE5F-62AA8967C270}"/>
              </a:ext>
            </a:extLst>
          </p:cNvPr>
          <p:cNvSpPr>
            <a:spLocks/>
          </p:cNvSpPr>
          <p:nvPr/>
        </p:nvSpPr>
        <p:spPr bwMode="auto">
          <a:xfrm>
            <a:off x="2201924" y="4557251"/>
            <a:ext cx="1857375" cy="1162050"/>
          </a:xfrm>
          <a:custGeom>
            <a:avLst/>
            <a:gdLst>
              <a:gd name="T0" fmla="*/ 0 w 1170"/>
              <a:gd name="T1" fmla="*/ 732 h 732"/>
              <a:gd name="T2" fmla="*/ 720 w 1170"/>
              <a:gd name="T3" fmla="*/ 0 h 732"/>
              <a:gd name="T4" fmla="*/ 1170 w 1170"/>
              <a:gd name="T5" fmla="*/ 0 h 732"/>
              <a:gd name="T6" fmla="*/ 0 60000 65536"/>
              <a:gd name="T7" fmla="*/ 0 60000 65536"/>
              <a:gd name="T8" fmla="*/ 0 60000 65536"/>
              <a:gd name="T9" fmla="*/ 0 w 1170"/>
              <a:gd name="T10" fmla="*/ 0 h 732"/>
              <a:gd name="T11" fmla="*/ 1170 w 1170"/>
              <a:gd name="T12" fmla="*/ 732 h 7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70" h="732">
                <a:moveTo>
                  <a:pt x="0" y="732"/>
                </a:moveTo>
                <a:lnTo>
                  <a:pt x="720" y="0"/>
                </a:lnTo>
                <a:lnTo>
                  <a:pt x="1170" y="0"/>
                </a:ln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0" name="Line 98">
            <a:extLst>
              <a:ext uri="{FF2B5EF4-FFF2-40B4-BE49-F238E27FC236}">
                <a16:creationId xmlns:a16="http://schemas.microsoft.com/office/drawing/2014/main" id="{F6AD1095-0BDB-4AD4-8F7C-CB22BD863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5724" y="4557251"/>
            <a:ext cx="793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1" name="Line 99">
            <a:extLst>
              <a:ext uri="{FF2B5EF4-FFF2-40B4-BE49-F238E27FC236}">
                <a16:creationId xmlns:a16="http://schemas.microsoft.com/office/drawing/2014/main" id="{76BEB4E3-711E-4CEE-B31B-A521AE0EE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8574" y="5728826"/>
            <a:ext cx="0" cy="92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2" name="Text Box 100">
            <a:extLst>
              <a:ext uri="{FF2B5EF4-FFF2-40B4-BE49-F238E27FC236}">
                <a16:creationId xmlns:a16="http://schemas.microsoft.com/office/drawing/2014/main" id="{B836885E-0006-4F27-83C5-D82D11E83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1504" y="4385801"/>
            <a:ext cx="570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Max</a:t>
            </a:r>
          </a:p>
        </p:txBody>
      </p:sp>
      <p:sp>
        <p:nvSpPr>
          <p:cNvPr id="23" name="Text Box 101">
            <a:extLst>
              <a:ext uri="{FF2B5EF4-FFF2-40B4-BE49-F238E27FC236}">
                <a16:creationId xmlns:a16="http://schemas.microsoft.com/office/drawing/2014/main" id="{6EC7168E-715B-418E-91BD-492456A1C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542" y="5825961"/>
            <a:ext cx="570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Max</a:t>
            </a:r>
          </a:p>
        </p:txBody>
      </p:sp>
      <p:sp>
        <p:nvSpPr>
          <p:cNvPr id="24" name="Text Box 102">
            <a:extLst>
              <a:ext uri="{FF2B5EF4-FFF2-40B4-BE49-F238E27FC236}">
                <a16:creationId xmlns:a16="http://schemas.microsoft.com/office/drawing/2014/main" id="{46F801BE-9698-4A5D-8CB7-09431A693ED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83582" y="4979497"/>
            <a:ext cx="6286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+mn-ea"/>
                <a:ea typeface="+mn-ea"/>
              </a:rPr>
              <a:t>λ</a:t>
            </a:r>
            <a:r>
              <a:rPr lang="en-US" altLang="ko-KR" sz="2000" baseline="-25000">
                <a:latin typeface="+mn-ea"/>
                <a:ea typeface="+mn-ea"/>
              </a:rPr>
              <a:t>out</a:t>
            </a:r>
          </a:p>
        </p:txBody>
      </p:sp>
      <p:sp>
        <p:nvSpPr>
          <p:cNvPr id="25" name="Text Box 103">
            <a:extLst>
              <a:ext uri="{FF2B5EF4-FFF2-40B4-BE49-F238E27FC236}">
                <a16:creationId xmlns:a16="http://schemas.microsoft.com/office/drawing/2014/main" id="{B5B93C39-5F75-49B0-98F0-0BBC942D5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4330" y="5690726"/>
            <a:ext cx="4972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2000">
                <a:latin typeface="+mn-ea"/>
                <a:ea typeface="+mn-ea"/>
              </a:rPr>
              <a:t>λ</a:t>
            </a:r>
            <a:r>
              <a:rPr lang="en-US" altLang="ko-KR" sz="2000" baseline="-25000">
                <a:latin typeface="+mn-ea"/>
                <a:ea typeface="+mn-ea"/>
              </a:rPr>
              <a:t>in</a:t>
            </a:r>
          </a:p>
        </p:txBody>
      </p:sp>
      <p:sp>
        <p:nvSpPr>
          <p:cNvPr id="26" name="Line 106">
            <a:extLst>
              <a:ext uri="{FF2B5EF4-FFF2-40B4-BE49-F238E27FC236}">
                <a16:creationId xmlns:a16="http://schemas.microsoft.com/office/drawing/2014/main" id="{6768ADB1-DA22-44B4-9C1A-7AEDCA1297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7324" y="4558839"/>
            <a:ext cx="103981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8" name="Line 109">
            <a:extLst>
              <a:ext uri="{FF2B5EF4-FFF2-40B4-BE49-F238E27FC236}">
                <a16:creationId xmlns:a16="http://schemas.microsoft.com/office/drawing/2014/main" id="{CBA6DA8D-13B1-4155-811D-3DDE0F9CE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2080" y="4496355"/>
            <a:ext cx="0" cy="12763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" name="Line 110">
            <a:extLst>
              <a:ext uri="{FF2B5EF4-FFF2-40B4-BE49-F238E27FC236}">
                <a16:creationId xmlns:a16="http://schemas.microsoft.com/office/drawing/2014/main" id="{9E83CC87-25A0-4E3C-BAFB-62D573788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02555" y="5766355"/>
            <a:ext cx="1463675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0" name="Line 111">
            <a:extLst>
              <a:ext uri="{FF2B5EF4-FFF2-40B4-BE49-F238E27FC236}">
                <a16:creationId xmlns:a16="http://schemas.microsoft.com/office/drawing/2014/main" id="{8E652E15-BC5F-4581-B1F3-C54823F06E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5555" y="4636055"/>
            <a:ext cx="0" cy="11049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1" name="Freeform 112">
            <a:extLst>
              <a:ext uri="{FF2B5EF4-FFF2-40B4-BE49-F238E27FC236}">
                <a16:creationId xmlns:a16="http://schemas.microsoft.com/office/drawing/2014/main" id="{A04589B2-7176-4270-9E5C-6C5102C25A0F}"/>
              </a:ext>
            </a:extLst>
          </p:cNvPr>
          <p:cNvSpPr>
            <a:spLocks/>
          </p:cNvSpPr>
          <p:nvPr/>
        </p:nvSpPr>
        <p:spPr bwMode="auto">
          <a:xfrm>
            <a:off x="5205730" y="4326493"/>
            <a:ext cx="1147762" cy="1436687"/>
          </a:xfrm>
          <a:custGeom>
            <a:avLst/>
            <a:gdLst>
              <a:gd name="T0" fmla="*/ 0 w 723"/>
              <a:gd name="T1" fmla="*/ 905 h 905"/>
              <a:gd name="T2" fmla="*/ 573 w 723"/>
              <a:gd name="T3" fmla="*/ 732 h 905"/>
              <a:gd name="T4" fmla="*/ 680 w 723"/>
              <a:gd name="T5" fmla="*/ 0 h 905"/>
              <a:gd name="T6" fmla="*/ 0 60000 65536"/>
              <a:gd name="T7" fmla="*/ 0 60000 65536"/>
              <a:gd name="T8" fmla="*/ 0 60000 65536"/>
              <a:gd name="T9" fmla="*/ 0 w 723"/>
              <a:gd name="T10" fmla="*/ 0 h 905"/>
              <a:gd name="T11" fmla="*/ 723 w 723"/>
              <a:gd name="T12" fmla="*/ 905 h 9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3" h="905">
                <a:moveTo>
                  <a:pt x="0" y="905"/>
                </a:moveTo>
                <a:cubicBezTo>
                  <a:pt x="95" y="876"/>
                  <a:pt x="460" y="883"/>
                  <a:pt x="573" y="732"/>
                </a:cubicBezTo>
                <a:cubicBezTo>
                  <a:pt x="723" y="490"/>
                  <a:pt x="658" y="152"/>
                  <a:pt x="680" y="0"/>
                </a:cubicBezTo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2" name="Line 114">
            <a:extLst>
              <a:ext uri="{FF2B5EF4-FFF2-40B4-BE49-F238E27FC236}">
                <a16:creationId xmlns:a16="http://schemas.microsoft.com/office/drawing/2014/main" id="{1F995801-4939-4A94-A1DE-CDB2CC585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2380" y="5772705"/>
            <a:ext cx="0" cy="920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33" name="Text Box 116">
            <a:extLst>
              <a:ext uri="{FF2B5EF4-FFF2-40B4-BE49-F238E27FC236}">
                <a16:creationId xmlns:a16="http://schemas.microsoft.com/office/drawing/2014/main" id="{CD834A96-177D-4A88-BD7C-C2212FC28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5936" y="5807630"/>
            <a:ext cx="57099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Max</a:t>
            </a:r>
          </a:p>
        </p:txBody>
      </p:sp>
      <p:sp>
        <p:nvSpPr>
          <p:cNvPr id="34" name="Text Box 117">
            <a:extLst>
              <a:ext uri="{FF2B5EF4-FFF2-40B4-BE49-F238E27FC236}">
                <a16:creationId xmlns:a16="http://schemas.microsoft.com/office/drawing/2014/main" id="{4597E419-F59A-4CAF-9590-B070E3CEE38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659366" y="5056842"/>
            <a:ext cx="6783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atin typeface="+mn-ea"/>
                <a:ea typeface="+mn-ea"/>
              </a:rPr>
              <a:t>delay</a:t>
            </a:r>
          </a:p>
        </p:txBody>
      </p:sp>
      <p:sp>
        <p:nvSpPr>
          <p:cNvPr id="35" name="Text Box 118">
            <a:extLst>
              <a:ext uri="{FF2B5EF4-FFF2-40B4-BE49-F238E27FC236}">
                <a16:creationId xmlns:a16="http://schemas.microsoft.com/office/drawing/2014/main" id="{2F1377FF-A56D-4094-AE77-41B768382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136" y="5734605"/>
            <a:ext cx="4972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ko-KR" sz="2000">
                <a:latin typeface="+mn-ea"/>
                <a:ea typeface="+mn-ea"/>
              </a:rPr>
              <a:t>λ</a:t>
            </a:r>
            <a:r>
              <a:rPr lang="en-US" altLang="ko-KR" sz="2000" baseline="-25000">
                <a:latin typeface="+mn-ea"/>
                <a:ea typeface="+mn-ea"/>
              </a:rPr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3397103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56B70-66C1-4257-91C9-928E9E72BC88}"/>
              </a:ext>
            </a:extLst>
          </p:cNvPr>
          <p:cNvSpPr txBox="1"/>
          <p:nvPr/>
        </p:nvSpPr>
        <p:spPr>
          <a:xfrm>
            <a:off x="1419224" y="1642686"/>
            <a:ext cx="6929719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다중화와 </a:t>
            </a:r>
            <a:r>
              <a:rPr lang="ko-KR" altLang="en-US" sz="17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역다중화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비연결형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UDP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신뢰성 있는 데이터 전송의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연결 지향형 트랜스포트 </a:t>
            </a: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: TCP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4CEC9-E69E-421B-9909-FB8FF597893D}"/>
              </a:ext>
            </a:extLst>
          </p:cNvPr>
          <p:cNvSpPr txBox="1"/>
          <p:nvPr/>
        </p:nvSpPr>
        <p:spPr>
          <a:xfrm>
            <a:off x="860603" y="1642686"/>
            <a:ext cx="841382" cy="207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3.1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3.2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3.3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3.4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3.5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FAE1F1-5684-44F6-AD96-1924769FC886}"/>
              </a:ext>
            </a:extLst>
          </p:cNvPr>
          <p:cNvGrpSpPr/>
          <p:nvPr/>
        </p:nvGrpSpPr>
        <p:grpSpPr>
          <a:xfrm>
            <a:off x="696915" y="1007487"/>
            <a:ext cx="2027234" cy="590566"/>
            <a:chOff x="696915" y="1055112"/>
            <a:chExt cx="2027234" cy="590566"/>
          </a:xfrm>
        </p:grpSpPr>
        <p:sp>
          <p:nvSpPr>
            <p:cNvPr id="15" name="사각형: 잘린 한쪽 모서리 14">
              <a:extLst>
                <a:ext uri="{FF2B5EF4-FFF2-40B4-BE49-F238E27FC236}">
                  <a16:creationId xmlns:a16="http://schemas.microsoft.com/office/drawing/2014/main" id="{45BF07AB-5618-481B-88AE-44840C0BF85E}"/>
                </a:ext>
              </a:extLst>
            </p:cNvPr>
            <p:cNvSpPr/>
            <p:nvPr/>
          </p:nvSpPr>
          <p:spPr>
            <a:xfrm>
              <a:off x="923792" y="1143310"/>
              <a:ext cx="1757495" cy="391715"/>
            </a:xfrm>
            <a:prstGeom prst="snip1Rect">
              <a:avLst>
                <a:gd name="adj" fmla="val 37888"/>
              </a:avLst>
            </a:prstGeom>
            <a:solidFill>
              <a:srgbClr val="F2FBFB"/>
            </a:solidFill>
            <a:ln>
              <a:solidFill>
                <a:srgbClr val="05AAAC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rgbClr val="000000"/>
                </a:buClr>
                <a:buFont typeface="Arial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  <a:sym typeface="Arial"/>
              </a:endParaRPr>
            </a:p>
          </p:txBody>
        </p:sp>
        <p:sp>
          <p:nvSpPr>
            <p:cNvPr id="16" name="텍스트 개체 틀 19">
              <a:extLst>
                <a:ext uri="{FF2B5EF4-FFF2-40B4-BE49-F238E27FC236}">
                  <a16:creationId xmlns:a16="http://schemas.microsoft.com/office/drawing/2014/main" id="{D75128DC-39F1-47A6-8422-5C5D55755CB2}"/>
                </a:ext>
              </a:extLst>
            </p:cNvPr>
            <p:cNvSpPr txBox="1">
              <a:spLocks/>
            </p:cNvSpPr>
            <p:nvPr/>
          </p:nvSpPr>
          <p:spPr>
            <a:xfrm>
              <a:off x="1333506" y="1180731"/>
              <a:ext cx="1390643" cy="301621"/>
            </a:xfrm>
            <a:prstGeom prst="rect">
              <a:avLst/>
            </a:prstGeom>
            <a:effectLst/>
          </p:spPr>
          <p:txBody>
            <a:bodyPr vert="horz" wrap="square" lIns="0" tIns="0" rIns="0" bIns="0" rtlCol="0" anchor="t">
              <a:spAutoFit/>
            </a:bodyPr>
            <a:lstStyle>
              <a:defPPr>
                <a:defRPr lang="ko-KR"/>
              </a:defPPr>
              <a:lvl1pPr marL="0" indent="0" algn="l" defTabSz="914400" rtl="0" eaLnBrk="1" fontAlgn="base" latinLnBrk="1" hangingPunct="1">
                <a:lnSpc>
                  <a:spcPct val="100000"/>
                </a:lnSpc>
                <a:spcBef>
                  <a:spcPts val="100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 lang="ko-KR" altLang="en-US" sz="2000" kern="1200" spc="-80" dirty="0">
                  <a:ln>
                    <a:solidFill>
                      <a:srgbClr val="ED1B3A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고도 M" panose="02000503000000020004" pitchFamily="2" charset="-127"/>
                  <a:ea typeface="고도 M" panose="02000503000000020004" pitchFamily="2" charset="-127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2">
                <a:lnSpc>
                  <a:spcPct val="130000"/>
                </a:lnSpc>
                <a:spcBef>
                  <a:spcPts val="1200"/>
                </a:spcBef>
                <a:defRPr/>
              </a:pPr>
              <a:r>
                <a:rPr lang="en-US" altLang="ko-KR" sz="1600">
                  <a:ln>
                    <a:solidFill>
                      <a:srgbClr val="AF3C5E">
                        <a:alpha val="0"/>
                      </a:srgbClr>
                    </a:solidFill>
                  </a:ln>
                  <a:solidFill>
                    <a:srgbClr val="098983"/>
                  </a:solidFill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j-cs"/>
                </a:rPr>
                <a:t>Roadmap </a:t>
              </a: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3B9E0C4D-9091-48C7-8788-DD4EE6D3ED1E}"/>
                </a:ext>
              </a:extLst>
            </p:cNvPr>
            <p:cNvSpPr/>
            <p:nvPr/>
          </p:nvSpPr>
          <p:spPr>
            <a:xfrm>
              <a:off x="789517" y="1561257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75D824C6-C4C1-411B-B2C5-8F925DBC7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68982" y="1083045"/>
              <a:ext cx="558670" cy="502804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5F07BB2-52EE-4B67-9501-26B04B6F0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864" y="1145567"/>
              <a:ext cx="275112" cy="364836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69919038-FACA-4050-9E0D-E35026729EAB}"/>
              </a:ext>
            </a:extLst>
          </p:cNvPr>
          <p:cNvGrpSpPr/>
          <p:nvPr/>
        </p:nvGrpSpPr>
        <p:grpSpPr>
          <a:xfrm>
            <a:off x="1518597" y="3750940"/>
            <a:ext cx="5314727" cy="350289"/>
            <a:chOff x="1518597" y="4050376"/>
            <a:chExt cx="5314727" cy="350289"/>
          </a:xfrm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537B0C19-077B-4DF4-BC88-DD4DEC98EAD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05037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세그먼트 구조</a:t>
              </a:r>
              <a:endPara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6437D81E-7DCD-4263-8CCA-D229808966D1}"/>
                </a:ext>
              </a:extLst>
            </p:cNvPr>
            <p:cNvGrpSpPr/>
            <p:nvPr/>
          </p:nvGrpSpPr>
          <p:grpSpPr>
            <a:xfrm>
              <a:off x="1518597" y="4154963"/>
              <a:ext cx="171105" cy="171646"/>
              <a:chOff x="1029671" y="3159333"/>
              <a:chExt cx="387927" cy="389152"/>
            </a:xfrm>
          </p:grpSpPr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B2F48981-DC2F-4C20-B339-6F526A03565A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23" name="그래픽 40">
                <a:extLst>
                  <a:ext uri="{FF2B5EF4-FFF2-40B4-BE49-F238E27FC236}">
                    <a16:creationId xmlns:a16="http://schemas.microsoft.com/office/drawing/2014/main" id="{4CC25D0E-9E9E-4DFE-9CD5-3E593667B520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9F2503D0-CE94-4C0C-8C5A-983704847607}"/>
              </a:ext>
            </a:extLst>
          </p:cNvPr>
          <p:cNvGrpSpPr/>
          <p:nvPr/>
        </p:nvGrpSpPr>
        <p:grpSpPr>
          <a:xfrm>
            <a:off x="1518597" y="4141658"/>
            <a:ext cx="5314727" cy="350289"/>
            <a:chOff x="1518597" y="4410416"/>
            <a:chExt cx="5314727" cy="350289"/>
          </a:xfrm>
        </p:grpSpPr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B0E46BFD-2F5E-4C63-9E95-05495CDECC9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41041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신뢰적인 데이터 전달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E4DCAB9-9119-49E3-9574-B4A8E629C41D}"/>
                </a:ext>
              </a:extLst>
            </p:cNvPr>
            <p:cNvGrpSpPr/>
            <p:nvPr/>
          </p:nvGrpSpPr>
          <p:grpSpPr>
            <a:xfrm>
              <a:off x="1518597" y="4515003"/>
              <a:ext cx="171105" cy="171646"/>
              <a:chOff x="1029671" y="3159333"/>
              <a:chExt cx="387927" cy="389152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49AB4024-624A-4E72-B07F-9A6FFB6DF0A1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1" name="그래픽 40">
                <a:extLst>
                  <a:ext uri="{FF2B5EF4-FFF2-40B4-BE49-F238E27FC236}">
                    <a16:creationId xmlns:a16="http://schemas.microsoft.com/office/drawing/2014/main" id="{36B06E4A-EB8A-47ED-8941-99ACE9006F06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5C07EAC-8D24-43EA-B0F0-13C35DAAE69C}"/>
              </a:ext>
            </a:extLst>
          </p:cNvPr>
          <p:cNvGrpSpPr/>
          <p:nvPr/>
        </p:nvGrpSpPr>
        <p:grpSpPr>
          <a:xfrm>
            <a:off x="1518597" y="4532376"/>
            <a:ext cx="5314727" cy="350289"/>
            <a:chOff x="1518597" y="4770456"/>
            <a:chExt cx="5314727" cy="350289"/>
          </a:xfrm>
        </p:grpSpPr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E2A85775-1A87-4190-BAA4-7F5E1BD5B85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4770456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흐름 제어</a:t>
              </a: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9BA7F596-4541-46AD-9D49-889DC33C5D57}"/>
                </a:ext>
              </a:extLst>
            </p:cNvPr>
            <p:cNvGrpSpPr/>
            <p:nvPr/>
          </p:nvGrpSpPr>
          <p:grpSpPr>
            <a:xfrm>
              <a:off x="1518597" y="4875043"/>
              <a:ext cx="171105" cy="171646"/>
              <a:chOff x="1029671" y="3159333"/>
              <a:chExt cx="387927" cy="389152"/>
            </a:xfrm>
          </p:grpSpPr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1D4E5F55-AF2A-46AF-BA18-0A25407EF2EB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5" name="그래픽 40">
                <a:extLst>
                  <a:ext uri="{FF2B5EF4-FFF2-40B4-BE49-F238E27FC236}">
                    <a16:creationId xmlns:a16="http://schemas.microsoft.com/office/drawing/2014/main" id="{18003BC0-1F5A-4CEB-92E2-F2C6A9F486F8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3CFC05-AB33-4997-AD91-E29E8F61DDC8}"/>
              </a:ext>
            </a:extLst>
          </p:cNvPr>
          <p:cNvGrpSpPr/>
          <p:nvPr/>
        </p:nvGrpSpPr>
        <p:grpSpPr>
          <a:xfrm>
            <a:off x="1518597" y="4923094"/>
            <a:ext cx="5314727" cy="350289"/>
            <a:chOff x="1518597" y="5077104"/>
            <a:chExt cx="5314727" cy="350289"/>
          </a:xfrm>
        </p:grpSpPr>
        <p:sp>
          <p:nvSpPr>
            <p:cNvPr id="36" name="Rectangle 3">
              <a:extLst>
                <a:ext uri="{FF2B5EF4-FFF2-40B4-BE49-F238E27FC236}">
                  <a16:creationId xmlns:a16="http://schemas.microsoft.com/office/drawing/2014/main" id="{BE142833-0096-4612-9F11-6B2ACBE8C74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80377" y="5077104"/>
              <a:ext cx="5152947" cy="350289"/>
            </a:xfrm>
            <a:prstGeom prst="rect">
              <a:avLst/>
            </a:prstGeom>
          </p:spPr>
          <p:txBody>
            <a:bodyPr vert="horz" lIns="91440" tIns="45720" rIns="91440" bIns="45720" rtlCol="0">
              <a:spAutoFit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3" indent="0">
                <a:lnSpc>
                  <a:spcPct val="120000"/>
                </a:lnSpc>
                <a:spcBef>
                  <a:spcPts val="600"/>
                </a:spcBef>
                <a:buClr>
                  <a:srgbClr val="0B4CA2"/>
                </a:buClr>
                <a:buSzPct val="80000"/>
                <a:buNone/>
              </a:pPr>
              <a:r>
                <a:rPr lang="ko-KR" altLang="en-US" sz="1500" dirty="0">
                  <a:ln>
                    <a:solidFill>
                      <a:srgbClr val="2D5897">
                        <a:alpha val="0"/>
                      </a:srgbClr>
                    </a:solidFill>
                  </a:ln>
                  <a:latin typeface="넥슨Lv1고딕" panose="00000500000000000000" pitchFamily="2" charset="-127"/>
                  <a:ea typeface="넥슨Lv1고딕" panose="00000500000000000000" pitchFamily="2" charset="-127"/>
                </a:rPr>
                <a:t>연결 관리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EDF3711-5AC6-4D29-B6DB-AE6E61C79C85}"/>
                </a:ext>
              </a:extLst>
            </p:cNvPr>
            <p:cNvGrpSpPr/>
            <p:nvPr/>
          </p:nvGrpSpPr>
          <p:grpSpPr>
            <a:xfrm>
              <a:off x="1518597" y="5181691"/>
              <a:ext cx="171105" cy="171646"/>
              <a:chOff x="1029671" y="3159333"/>
              <a:chExt cx="387927" cy="389152"/>
            </a:xfrm>
          </p:grpSpPr>
          <p:sp>
            <p:nvSpPr>
              <p:cNvPr id="38" name="타원 37">
                <a:extLst>
                  <a:ext uri="{FF2B5EF4-FFF2-40B4-BE49-F238E27FC236}">
                    <a16:creationId xmlns:a16="http://schemas.microsoft.com/office/drawing/2014/main" id="{B9ADD2C8-6866-4B04-AB9C-155C1D4DA9D2}"/>
                  </a:ext>
                </a:extLst>
              </p:cNvPr>
              <p:cNvSpPr/>
              <p:nvPr/>
            </p:nvSpPr>
            <p:spPr>
              <a:xfrm>
                <a:off x="1029671" y="3159333"/>
                <a:ext cx="387927" cy="389152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  <p:sp>
            <p:nvSpPr>
              <p:cNvPr id="39" name="그래픽 40">
                <a:extLst>
                  <a:ext uri="{FF2B5EF4-FFF2-40B4-BE49-F238E27FC236}">
                    <a16:creationId xmlns:a16="http://schemas.microsoft.com/office/drawing/2014/main" id="{A99C57CE-3F76-43D2-8E9D-8B81D1D13D2C}"/>
                  </a:ext>
                </a:extLst>
              </p:cNvPr>
              <p:cNvSpPr/>
              <p:nvPr/>
            </p:nvSpPr>
            <p:spPr>
              <a:xfrm>
                <a:off x="1157596" y="3246355"/>
                <a:ext cx="132078" cy="215105"/>
              </a:xfrm>
              <a:custGeom>
                <a:avLst/>
                <a:gdLst>
                  <a:gd name="connsiteX0" fmla="*/ 18217 w 334851"/>
                  <a:gd name="connsiteY0" fmla="*/ 18217 h 545353"/>
                  <a:gd name="connsiteX1" fmla="*/ 18217 w 334851"/>
                  <a:gd name="connsiteY1" fmla="*/ 106132 h 545353"/>
                  <a:gd name="connsiteX2" fmla="*/ 184809 w 334851"/>
                  <a:gd name="connsiteY2" fmla="*/ 272725 h 545353"/>
                  <a:gd name="connsiteX3" fmla="*/ 18217 w 334851"/>
                  <a:gd name="connsiteY3" fmla="*/ 439222 h 545353"/>
                  <a:gd name="connsiteX4" fmla="*/ 18217 w 334851"/>
                  <a:gd name="connsiteY4" fmla="*/ 527137 h 545353"/>
                  <a:gd name="connsiteX5" fmla="*/ 106132 w 334851"/>
                  <a:gd name="connsiteY5" fmla="*/ 527137 h 545353"/>
                  <a:gd name="connsiteX6" fmla="*/ 316635 w 334851"/>
                  <a:gd name="connsiteY6" fmla="*/ 316635 h 545353"/>
                  <a:gd name="connsiteX7" fmla="*/ 316635 w 334851"/>
                  <a:gd name="connsiteY7" fmla="*/ 228719 h 545353"/>
                  <a:gd name="connsiteX8" fmla="*/ 106132 w 334851"/>
                  <a:gd name="connsiteY8" fmla="*/ 18217 h 545353"/>
                  <a:gd name="connsiteX9" fmla="*/ 18217 w 334851"/>
                  <a:gd name="connsiteY9" fmla="*/ 18217 h 545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4851" h="545353">
                    <a:moveTo>
                      <a:pt x="18217" y="18217"/>
                    </a:moveTo>
                    <a:cubicBezTo>
                      <a:pt x="-6072" y="42505"/>
                      <a:pt x="-6072" y="81844"/>
                      <a:pt x="18217" y="106132"/>
                    </a:cubicBezTo>
                    <a:lnTo>
                      <a:pt x="184809" y="272725"/>
                    </a:lnTo>
                    <a:lnTo>
                      <a:pt x="18217" y="439222"/>
                    </a:lnTo>
                    <a:cubicBezTo>
                      <a:pt x="-6072" y="463510"/>
                      <a:pt x="-6072" y="502849"/>
                      <a:pt x="18217" y="527137"/>
                    </a:cubicBezTo>
                    <a:cubicBezTo>
                      <a:pt x="42505" y="551426"/>
                      <a:pt x="81844" y="551426"/>
                      <a:pt x="106132" y="527137"/>
                    </a:cubicBezTo>
                    <a:lnTo>
                      <a:pt x="316635" y="316635"/>
                    </a:lnTo>
                    <a:cubicBezTo>
                      <a:pt x="340924" y="292346"/>
                      <a:pt x="340924" y="253008"/>
                      <a:pt x="316635" y="228719"/>
                    </a:cubicBezTo>
                    <a:lnTo>
                      <a:pt x="106132" y="18217"/>
                    </a:lnTo>
                    <a:cubicBezTo>
                      <a:pt x="81844" y="-6072"/>
                      <a:pt x="42505" y="-6072"/>
                      <a:pt x="18217" y="18217"/>
                    </a:cubicBezTo>
                    <a:close/>
                  </a:path>
                </a:pathLst>
              </a:custGeom>
              <a:solidFill>
                <a:srgbClr val="105BA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latin typeface="넥슨Lv1고딕" panose="00000500000000000000" pitchFamily="2" charset="-127"/>
                  <a:ea typeface="넥슨Lv1고딕" panose="00000500000000000000" pitchFamily="2" charset="-127"/>
                </a:endParaRPr>
              </a:p>
            </p:txBody>
          </p: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E3EF05-8B88-4182-AFCD-9E356DF1F9AA}"/>
              </a:ext>
            </a:extLst>
          </p:cNvPr>
          <p:cNvSpPr txBox="1"/>
          <p:nvPr/>
        </p:nvSpPr>
        <p:spPr>
          <a:xfrm>
            <a:off x="1419224" y="5407124"/>
            <a:ext cx="6929719" cy="826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2">
                    <a:lumMod val="1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혼잡 제어의 원리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TCP </a:t>
            </a:r>
            <a:r>
              <a:rPr lang="ko-KR" altLang="en-US" sz="17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혼잡 제어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5C4EEE-4470-4F4F-A28F-0F33549EF48B}"/>
              </a:ext>
            </a:extLst>
          </p:cNvPr>
          <p:cNvSpPr txBox="1"/>
          <p:nvPr/>
        </p:nvSpPr>
        <p:spPr>
          <a:xfrm>
            <a:off x="860603" y="5407124"/>
            <a:ext cx="841382" cy="84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3.6</a:t>
            </a:r>
          </a:p>
          <a:p>
            <a:pPr marL="0" lvl="1">
              <a:lnSpc>
                <a:spcPct val="120000"/>
              </a:lnSpc>
              <a:spcBef>
                <a:spcPts val="800"/>
              </a:spcBef>
            </a:pPr>
            <a:r>
              <a:rPr lang="en-US" altLang="ko-KR" sz="17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3.7</a:t>
            </a:r>
            <a:endParaRPr lang="en-US" altLang="ko-KR" sz="1700" dirty="0">
              <a:ln>
                <a:solidFill>
                  <a:srgbClr val="AF3C5E">
                    <a:alpha val="0"/>
                  </a:srgbClr>
                </a:solidFill>
              </a:ln>
              <a:solidFill>
                <a:srgbClr val="105BA0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7478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Line 20">
            <a:extLst>
              <a:ext uri="{FF2B5EF4-FFF2-40B4-BE49-F238E27FC236}">
                <a16:creationId xmlns:a16="http://schemas.microsoft.com/office/drawing/2014/main" id="{57C0C0B4-A4DC-42FC-8F00-F47415821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6615" y="4658995"/>
            <a:ext cx="0" cy="642938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0" name="Line 21">
            <a:extLst>
              <a:ext uri="{FF2B5EF4-FFF2-40B4-BE49-F238E27FC236}">
                <a16:creationId xmlns:a16="http://schemas.microsoft.com/office/drawing/2014/main" id="{BCB5A9E9-1CD9-4C43-B1D3-C15FADF8EA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0425" y="4355305"/>
            <a:ext cx="954881" cy="952501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71" name="Line 22">
            <a:extLst>
              <a:ext uri="{FF2B5EF4-FFF2-40B4-BE49-F238E27FC236}">
                <a16:creationId xmlns:a16="http://schemas.microsoft.com/office/drawing/2014/main" id="{DF6CA6F8-CBAC-45E1-87F7-039F8CA20D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2925" y="4357688"/>
            <a:ext cx="2381" cy="800100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grpSp>
        <p:nvGrpSpPr>
          <p:cNvPr id="72" name="Group 38">
            <a:extLst>
              <a:ext uri="{FF2B5EF4-FFF2-40B4-BE49-F238E27FC236}">
                <a16:creationId xmlns:a16="http://schemas.microsoft.com/office/drawing/2014/main" id="{558945A1-EA2A-4BB3-9F1E-E9F9F2371374}"/>
              </a:ext>
            </a:extLst>
          </p:cNvPr>
          <p:cNvGrpSpPr>
            <a:grpSpLocks/>
          </p:cNvGrpSpPr>
          <p:nvPr/>
        </p:nvGrpSpPr>
        <p:grpSpPr bwMode="auto">
          <a:xfrm>
            <a:off x="4357052" y="4200208"/>
            <a:ext cx="3051175" cy="1103312"/>
            <a:chOff x="2725" y="2718"/>
            <a:chExt cx="1922" cy="695"/>
          </a:xfrm>
        </p:grpSpPr>
        <p:sp>
          <p:nvSpPr>
            <p:cNvPr id="73" name="Line 23">
              <a:extLst>
                <a:ext uri="{FF2B5EF4-FFF2-40B4-BE49-F238E27FC236}">
                  <a16:creationId xmlns:a16="http://schemas.microsoft.com/office/drawing/2014/main" id="{2E34211E-5144-44FA-8331-3FFE7084C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5" y="2996"/>
              <a:ext cx="326" cy="321"/>
            </a:xfrm>
            <a:prstGeom prst="line">
              <a:avLst/>
            </a:prstGeom>
            <a:noFill/>
            <a:ln w="38100" cap="rnd">
              <a:solidFill>
                <a:srgbClr val="105B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ko-KR" altLang="en-US"/>
            </a:p>
          </p:txBody>
        </p:sp>
        <p:grpSp>
          <p:nvGrpSpPr>
            <p:cNvPr id="74" name="Group 37">
              <a:extLst>
                <a:ext uri="{FF2B5EF4-FFF2-40B4-BE49-F238E27FC236}">
                  <a16:creationId xmlns:a16="http://schemas.microsoft.com/office/drawing/2014/main" id="{392DC24C-A9EE-448F-AA30-5A4C1DFA8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1" y="2718"/>
              <a:ext cx="1596" cy="695"/>
              <a:chOff x="3051" y="2718"/>
              <a:chExt cx="1596" cy="695"/>
            </a:xfrm>
          </p:grpSpPr>
          <p:sp>
            <p:nvSpPr>
              <p:cNvPr id="75" name="Line 24">
                <a:extLst>
                  <a:ext uri="{FF2B5EF4-FFF2-40B4-BE49-F238E27FC236}">
                    <a16:creationId xmlns:a16="http://schemas.microsoft.com/office/drawing/2014/main" id="{CCEBDD95-262F-4371-9502-9A4064DC5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1" y="2993"/>
                <a:ext cx="6" cy="414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6" name="Line 25">
                <a:extLst>
                  <a:ext uri="{FF2B5EF4-FFF2-40B4-BE49-F238E27FC236}">
                    <a16:creationId xmlns:a16="http://schemas.microsoft.com/office/drawing/2014/main" id="{8208EE11-40E6-46AC-92FB-4DB5C605D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8" y="2795"/>
                <a:ext cx="611" cy="618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7" name="Line 26">
                <a:extLst>
                  <a:ext uri="{FF2B5EF4-FFF2-40B4-BE49-F238E27FC236}">
                    <a16:creationId xmlns:a16="http://schemas.microsoft.com/office/drawing/2014/main" id="{8E0128B2-D4D4-4140-BDAE-AACEA982D1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72" y="2793"/>
                <a:ext cx="1" cy="528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8" name="Line 29">
                <a:extLst>
                  <a:ext uri="{FF2B5EF4-FFF2-40B4-BE49-F238E27FC236}">
                    <a16:creationId xmlns:a16="http://schemas.microsoft.com/office/drawing/2014/main" id="{5C020674-F325-46E2-B275-A188DCFD1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73" y="2888"/>
                <a:ext cx="411" cy="435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79" name="Line 30">
                <a:extLst>
                  <a:ext uri="{FF2B5EF4-FFF2-40B4-BE49-F238E27FC236}">
                    <a16:creationId xmlns:a16="http://schemas.microsoft.com/office/drawing/2014/main" id="{462A6F11-683D-4DA6-B26E-B55F3723A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89" y="2889"/>
                <a:ext cx="0" cy="471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  <p:sp>
            <p:nvSpPr>
              <p:cNvPr id="80" name="Line 31">
                <a:extLst>
                  <a:ext uri="{FF2B5EF4-FFF2-40B4-BE49-F238E27FC236}">
                    <a16:creationId xmlns:a16="http://schemas.microsoft.com/office/drawing/2014/main" id="{E20A964D-E323-4213-9BEA-1AAEDDA551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95" y="2718"/>
                <a:ext cx="552" cy="639"/>
              </a:xfrm>
              <a:prstGeom prst="line">
                <a:avLst/>
              </a:prstGeom>
              <a:noFill/>
              <a:ln w="38100" cap="rnd">
                <a:solidFill>
                  <a:srgbClr val="105BA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</p:grp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40FD0273-1BDE-4729-AF21-8C916BDA05B7}"/>
              </a:ext>
            </a:extLst>
          </p:cNvPr>
          <p:cNvSpPr/>
          <p:nvPr/>
        </p:nvSpPr>
        <p:spPr>
          <a:xfrm>
            <a:off x="3215680" y="3501008"/>
            <a:ext cx="4254500" cy="2451100"/>
          </a:xfrm>
          <a:custGeom>
            <a:avLst/>
            <a:gdLst>
              <a:gd name="connsiteX0" fmla="*/ 0 w 4006850"/>
              <a:gd name="connsiteY0" fmla="*/ 0 h 2451100"/>
              <a:gd name="connsiteX1" fmla="*/ 0 w 4006850"/>
              <a:gd name="connsiteY1" fmla="*/ 2451100 h 2451100"/>
              <a:gd name="connsiteX2" fmla="*/ 4006850 w 4006850"/>
              <a:gd name="connsiteY2" fmla="*/ 2451100 h 245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6850" h="2451100">
                <a:moveTo>
                  <a:pt x="0" y="0"/>
                </a:moveTo>
                <a:lnTo>
                  <a:pt x="0" y="2451100"/>
                </a:lnTo>
                <a:lnTo>
                  <a:pt x="4006850" y="245110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 dirty="0">
                <a:cs typeface="+mj-cs"/>
              </a:rPr>
              <a:t>TCP </a:t>
            </a:r>
            <a:r>
              <a:rPr lang="ko-KR" altLang="en-US" sz="2000" dirty="0">
                <a:cs typeface="+mj-cs"/>
              </a:rPr>
              <a:t>혼잡 제어 </a:t>
            </a:r>
            <a:r>
              <a:rPr lang="en-US" altLang="ko-KR" sz="1400" dirty="0">
                <a:solidFill>
                  <a:schemeClr val="bg1"/>
                </a:solidFill>
              </a:rPr>
              <a:t>:</a:t>
            </a:r>
            <a:r>
              <a:rPr lang="en-US" altLang="ko-KR" sz="1400" dirty="0">
                <a:cs typeface="+mj-cs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cs typeface="+mj-cs"/>
              </a:rPr>
              <a:t>additive increase,  multiplicative decrease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87F95F-B5C5-47D6-B5F6-C8C8B6918E64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96752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approach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: sender increases transmission rate (window size), probing for usable bandwidth, until loss occurs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0FED39E-EE92-46FD-B7EF-F78F32B497F0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988840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additive increase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increase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by 1 MSS every RTT until loss detected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multiplicative decrease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: cut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in half after loss 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7C591CA3-82CC-4AA7-B816-683F0F25C7C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691095" y="4317058"/>
            <a:ext cx="2261773" cy="59157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cwnd: TCP sender </a:t>
            </a:r>
          </a:p>
          <a:p>
            <a:pPr algn="r"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congestion window size</a:t>
            </a:r>
          </a:p>
        </p:txBody>
      </p:sp>
      <p:sp>
        <p:nvSpPr>
          <p:cNvPr id="24" name="Text Box 32">
            <a:extLst>
              <a:ext uri="{FF2B5EF4-FFF2-40B4-BE49-F238E27FC236}">
                <a16:creationId xmlns:a16="http://schemas.microsoft.com/office/drawing/2014/main" id="{740AE5CD-9465-4E34-BCF4-77EB2CCC8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1680" y="3383533"/>
            <a:ext cx="4092018" cy="591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additively increase window size …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…. until loss occurs (then cut window in half)</a:t>
            </a:r>
          </a:p>
        </p:txBody>
      </p:sp>
      <p:sp>
        <p:nvSpPr>
          <p:cNvPr id="25" name="Freeform 33">
            <a:extLst>
              <a:ext uri="{FF2B5EF4-FFF2-40B4-BE49-F238E27FC236}">
                <a16:creationId xmlns:a16="http://schemas.microsoft.com/office/drawing/2014/main" id="{F61CC66E-975A-4812-A898-10BF0ABE2E56}"/>
              </a:ext>
            </a:extLst>
          </p:cNvPr>
          <p:cNvSpPr>
            <a:spLocks/>
          </p:cNvSpPr>
          <p:nvPr/>
        </p:nvSpPr>
        <p:spPr bwMode="auto">
          <a:xfrm>
            <a:off x="3322044" y="3577207"/>
            <a:ext cx="519112" cy="1114425"/>
          </a:xfrm>
          <a:custGeom>
            <a:avLst/>
            <a:gdLst>
              <a:gd name="T0" fmla="*/ 2147483646 w 541"/>
              <a:gd name="T1" fmla="*/ 0 h 640"/>
              <a:gd name="T2" fmla="*/ 0 w 541"/>
              <a:gd name="T3" fmla="*/ 0 h 640"/>
              <a:gd name="T4" fmla="*/ 0 w 541"/>
              <a:gd name="T5" fmla="*/ 2147483646 h 640"/>
              <a:gd name="T6" fmla="*/ 0 60000 65536"/>
              <a:gd name="T7" fmla="*/ 0 60000 65536"/>
              <a:gd name="T8" fmla="*/ 0 60000 65536"/>
              <a:gd name="T9" fmla="*/ 0 w 541"/>
              <a:gd name="T10" fmla="*/ 0 h 640"/>
              <a:gd name="T11" fmla="*/ 541 w 541"/>
              <a:gd name="T12" fmla="*/ 640 h 6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1" h="640">
                <a:moveTo>
                  <a:pt x="541" y="0"/>
                </a:moveTo>
                <a:lnTo>
                  <a:pt x="0" y="0"/>
                </a:lnTo>
                <a:lnTo>
                  <a:pt x="0" y="64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Freeform 34">
            <a:extLst>
              <a:ext uri="{FF2B5EF4-FFF2-40B4-BE49-F238E27FC236}">
                <a16:creationId xmlns:a16="http://schemas.microsoft.com/office/drawing/2014/main" id="{EAD03A81-0785-4264-833C-050935751840}"/>
              </a:ext>
            </a:extLst>
          </p:cNvPr>
          <p:cNvSpPr>
            <a:spLocks/>
          </p:cNvSpPr>
          <p:nvPr/>
        </p:nvSpPr>
        <p:spPr bwMode="auto">
          <a:xfrm>
            <a:off x="3395663" y="3780408"/>
            <a:ext cx="867767" cy="1025525"/>
          </a:xfrm>
          <a:custGeom>
            <a:avLst/>
            <a:gdLst>
              <a:gd name="T0" fmla="*/ 2147483646 w 502"/>
              <a:gd name="T1" fmla="*/ 0 h 630"/>
              <a:gd name="T2" fmla="*/ 2147483646 w 502"/>
              <a:gd name="T3" fmla="*/ 2147483646 h 630"/>
              <a:gd name="T4" fmla="*/ 2147483646 w 502"/>
              <a:gd name="T5" fmla="*/ 2147483646 h 630"/>
              <a:gd name="T6" fmla="*/ 0 w 502"/>
              <a:gd name="T7" fmla="*/ 2147483646 h 630"/>
              <a:gd name="T8" fmla="*/ 0 60000 65536"/>
              <a:gd name="T9" fmla="*/ 0 60000 65536"/>
              <a:gd name="T10" fmla="*/ 0 60000 65536"/>
              <a:gd name="T11" fmla="*/ 0 60000 65536"/>
              <a:gd name="T12" fmla="*/ 0 w 502"/>
              <a:gd name="T13" fmla="*/ 0 h 630"/>
              <a:gd name="T14" fmla="*/ 502 w 502"/>
              <a:gd name="T15" fmla="*/ 630 h 63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2" h="630">
                <a:moveTo>
                  <a:pt x="502" y="0"/>
                </a:moveTo>
                <a:lnTo>
                  <a:pt x="56" y="2"/>
                </a:lnTo>
                <a:lnTo>
                  <a:pt x="54" y="630"/>
                </a:lnTo>
                <a:lnTo>
                  <a:pt x="0" y="63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Freeform 35">
            <a:extLst>
              <a:ext uri="{FF2B5EF4-FFF2-40B4-BE49-F238E27FC236}">
                <a16:creationId xmlns:a16="http://schemas.microsoft.com/office/drawing/2014/main" id="{3642671C-8992-44FF-AC8C-953F2358727B}"/>
              </a:ext>
            </a:extLst>
          </p:cNvPr>
          <p:cNvSpPr>
            <a:spLocks/>
          </p:cNvSpPr>
          <p:nvPr/>
        </p:nvSpPr>
        <p:spPr bwMode="auto">
          <a:xfrm>
            <a:off x="3864967" y="3575621"/>
            <a:ext cx="385763" cy="1234504"/>
          </a:xfrm>
          <a:custGeom>
            <a:avLst/>
            <a:gdLst>
              <a:gd name="T0" fmla="*/ 2147483646 w 256"/>
              <a:gd name="T1" fmla="*/ 0 h 736"/>
              <a:gd name="T2" fmla="*/ 0 w 256"/>
              <a:gd name="T3" fmla="*/ 0 h 736"/>
              <a:gd name="T4" fmla="*/ 0 w 256"/>
              <a:gd name="T5" fmla="*/ 2147483646 h 736"/>
              <a:gd name="T6" fmla="*/ 0 60000 65536"/>
              <a:gd name="T7" fmla="*/ 0 60000 65536"/>
              <a:gd name="T8" fmla="*/ 0 60000 65536"/>
              <a:gd name="T9" fmla="*/ 0 w 256"/>
              <a:gd name="T10" fmla="*/ 0 h 736"/>
              <a:gd name="T11" fmla="*/ 256 w 256"/>
              <a:gd name="T12" fmla="*/ 736 h 7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6" h="736">
                <a:moveTo>
                  <a:pt x="256" y="0"/>
                </a:moveTo>
                <a:lnTo>
                  <a:pt x="0" y="0"/>
                </a:lnTo>
                <a:lnTo>
                  <a:pt x="0" y="736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 Box 40">
            <a:extLst>
              <a:ext uri="{FF2B5EF4-FFF2-40B4-BE49-F238E27FC236}">
                <a16:creationId xmlns:a16="http://schemas.microsoft.com/office/drawing/2014/main" id="{5EE47E9E-549F-4610-BE7E-C845DAF1F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987" y="5901308"/>
            <a:ext cx="6687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>
                <a:latin typeface="G마켓 산스 TTF Medium" panose="02000000000000000000" pitchFamily="2" charset="-127"/>
              </a:rPr>
              <a:t>time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286E243D-C5B8-4D65-B665-73047935F786}"/>
              </a:ext>
            </a:extLst>
          </p:cNvPr>
          <p:cNvSpPr>
            <a:spLocks/>
          </p:cNvSpPr>
          <p:nvPr/>
        </p:nvSpPr>
        <p:spPr bwMode="auto">
          <a:xfrm>
            <a:off x="4381500" y="3966146"/>
            <a:ext cx="254993" cy="635000"/>
          </a:xfrm>
          <a:custGeom>
            <a:avLst/>
            <a:gdLst>
              <a:gd name="T0" fmla="*/ 2147483646 w 106"/>
              <a:gd name="T1" fmla="*/ 0 h 400"/>
              <a:gd name="T2" fmla="*/ 2147483646 w 106"/>
              <a:gd name="T3" fmla="*/ 2147483646 h 400"/>
              <a:gd name="T4" fmla="*/ 0 w 106"/>
              <a:gd name="T5" fmla="*/ 2147483646 h 400"/>
              <a:gd name="T6" fmla="*/ 0 60000 65536"/>
              <a:gd name="T7" fmla="*/ 0 60000 65536"/>
              <a:gd name="T8" fmla="*/ 0 60000 65536"/>
              <a:gd name="T9" fmla="*/ 0 w 106"/>
              <a:gd name="T10" fmla="*/ 0 h 400"/>
              <a:gd name="T11" fmla="*/ 106 w 106"/>
              <a:gd name="T12" fmla="*/ 400 h 4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" h="400">
                <a:moveTo>
                  <a:pt x="106" y="0"/>
                </a:moveTo>
                <a:lnTo>
                  <a:pt x="106" y="400"/>
                </a:lnTo>
                <a:lnTo>
                  <a:pt x="0" y="400"/>
                </a:lnTo>
              </a:path>
            </a:pathLst>
          </a:custGeom>
          <a:noFill/>
          <a:ln w="9525" cap="rnd">
            <a:solidFill>
              <a:srgbClr val="105BA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잘린 한쪽 모서리 38">
            <a:extLst>
              <a:ext uri="{FF2B5EF4-FFF2-40B4-BE49-F238E27FC236}">
                <a16:creationId xmlns:a16="http://schemas.microsoft.com/office/drawing/2014/main" id="{80D3AC98-1E04-45ED-83D6-57BDC2A3D9EE}"/>
              </a:ext>
            </a:extLst>
          </p:cNvPr>
          <p:cNvSpPr/>
          <p:nvPr/>
        </p:nvSpPr>
        <p:spPr>
          <a:xfrm>
            <a:off x="658813" y="4015740"/>
            <a:ext cx="1684019" cy="1950720"/>
          </a:xfrm>
          <a:prstGeom prst="snip1Rect">
            <a:avLst>
              <a:gd name="adj" fmla="val 4626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2BABB68-B9F1-4425-85AF-40C46BB056CB}"/>
              </a:ext>
            </a:extLst>
          </p:cNvPr>
          <p:cNvSpPr/>
          <p:nvPr/>
        </p:nvSpPr>
        <p:spPr>
          <a:xfrm>
            <a:off x="838330" y="4149605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41" name="그래픽 9">
            <a:extLst>
              <a:ext uri="{FF2B5EF4-FFF2-40B4-BE49-F238E27FC236}">
                <a16:creationId xmlns:a16="http://schemas.microsoft.com/office/drawing/2014/main" id="{0C832038-2762-49CC-BC3C-EF0D1065B327}"/>
              </a:ext>
            </a:extLst>
          </p:cNvPr>
          <p:cNvSpPr/>
          <p:nvPr/>
        </p:nvSpPr>
        <p:spPr>
          <a:xfrm rot="5400000">
            <a:off x="717737" y="3671393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9898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A2E8A41E-BB76-41DF-921A-F0E60B81B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985" y="4240520"/>
            <a:ext cx="1467167" cy="916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AIMD saw tooth</a:t>
            </a:r>
          </a:p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4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behavior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A174F379-9FF4-4D52-91A8-AE4FE8DC703F}"/>
              </a:ext>
            </a:extLst>
          </p:cNvPr>
          <p:cNvSpPr txBox="1">
            <a:spLocks noChangeArrowheads="1"/>
          </p:cNvSpPr>
          <p:nvPr/>
        </p:nvSpPr>
        <p:spPr>
          <a:xfrm>
            <a:off x="768985" y="5157192"/>
            <a:ext cx="2031047" cy="62728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 latinLnBrk="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5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probing for bandwidth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60357F0E-11ED-4AA5-B1FF-BCCFC2DFA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820" y="3750060"/>
            <a:ext cx="277090" cy="341744"/>
          </a:xfrm>
          <a:prstGeom prst="rect">
            <a:avLst/>
          </a:prstGeom>
        </p:spPr>
      </p:pic>
      <p:sp>
        <p:nvSpPr>
          <p:cNvPr id="81" name="Line 19">
            <a:extLst>
              <a:ext uri="{FF2B5EF4-FFF2-40B4-BE49-F238E27FC236}">
                <a16:creationId xmlns:a16="http://schemas.microsoft.com/office/drawing/2014/main" id="{06D0E515-6B24-45D4-8CA4-31F7877C7E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3737" y="4662488"/>
            <a:ext cx="164307" cy="150812"/>
          </a:xfrm>
          <a:prstGeom prst="line">
            <a:avLst/>
          </a:prstGeom>
          <a:noFill/>
          <a:ln w="38100" cap="rnd">
            <a:solidFill>
              <a:srgbClr val="105B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2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Slow Start </a:t>
            </a:r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84CD0-698B-4079-AF1F-4D07F750D4F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196752"/>
            <a:ext cx="3639265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when connection begins, increase rate exponentially until first loss event: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5293E30-075E-400D-A7D4-1B96FAF292C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283498"/>
            <a:ext cx="3188892" cy="126252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initially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= 1 MSS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double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every RTT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done by incrementing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for every ACK received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14343B5-6410-4244-BBF0-BF0F8AADDED7}"/>
              </a:ext>
            </a:extLst>
          </p:cNvPr>
          <p:cNvGrpSpPr/>
          <p:nvPr/>
        </p:nvGrpSpPr>
        <p:grpSpPr>
          <a:xfrm>
            <a:off x="670135" y="4055177"/>
            <a:ext cx="453816" cy="540785"/>
            <a:chOff x="670134" y="1134217"/>
            <a:chExt cx="499079" cy="594722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E6C7301-D8E8-4BCD-997D-888A5832433F}"/>
                </a:ext>
              </a:extLst>
            </p:cNvPr>
            <p:cNvSpPr/>
            <p:nvPr/>
          </p:nvSpPr>
          <p:spPr>
            <a:xfrm>
              <a:off x="758638" y="1644518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14" name="그래픽 9">
              <a:extLst>
                <a:ext uri="{FF2B5EF4-FFF2-40B4-BE49-F238E27FC236}">
                  <a16:creationId xmlns:a16="http://schemas.microsoft.com/office/drawing/2014/main" id="{DDEE8752-04FD-4984-944E-74A766D13936}"/>
                </a:ext>
              </a:extLst>
            </p:cNvPr>
            <p:cNvSpPr/>
            <p:nvPr/>
          </p:nvSpPr>
          <p:spPr>
            <a:xfrm rot="5400000">
              <a:off x="638045" y="1166306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11A2F73B-BC5A-4638-A98B-D8E82379F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729500" y="1317975"/>
              <a:ext cx="375876" cy="217726"/>
            </a:xfrm>
            <a:prstGeom prst="rect">
              <a:avLst/>
            </a:prstGeom>
          </p:spPr>
        </p:pic>
      </p:grpSp>
      <p:sp>
        <p:nvSpPr>
          <p:cNvPr id="16" name="Rectangle 5">
            <a:extLst>
              <a:ext uri="{FF2B5EF4-FFF2-40B4-BE49-F238E27FC236}">
                <a16:creationId xmlns:a16="http://schemas.microsoft.com/office/drawing/2014/main" id="{90CE3B36-4AE0-49A3-98EB-0F5261F2A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96" y="4077072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summary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4D9792A-3530-4B9D-BF6F-36EDECB39F88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4653136"/>
            <a:ext cx="3643441" cy="59157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initial rate is slow but ramps up exponentially fast</a:t>
            </a:r>
          </a:p>
        </p:txBody>
      </p:sp>
      <p:sp>
        <p:nvSpPr>
          <p:cNvPr id="19" name="Text Box 8">
            <a:extLst>
              <a:ext uri="{FF2B5EF4-FFF2-40B4-BE49-F238E27FC236}">
                <a16:creationId xmlns:a16="http://schemas.microsoft.com/office/drawing/2014/main" id="{30341834-F7FF-4C80-B98E-7EA5606CD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990" y="1285875"/>
            <a:ext cx="7633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A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2618B3C3-5919-4E74-B74A-FBC98ABD8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128" y="1271588"/>
            <a:ext cx="75854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Host B</a:t>
            </a:r>
          </a:p>
        </p:txBody>
      </p:sp>
      <p:sp>
        <p:nvSpPr>
          <p:cNvPr id="23" name="Line 13">
            <a:extLst>
              <a:ext uri="{FF2B5EF4-FFF2-40B4-BE49-F238E27FC236}">
                <a16:creationId xmlns:a16="http://schemas.microsoft.com/office/drawing/2014/main" id="{A83CD0E8-2E15-4B6C-9341-089363D3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441" y="23907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3691F1E8-3E65-413F-8DD0-D830F6209F0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470700" y="2779018"/>
            <a:ext cx="5341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RTT</a:t>
            </a:r>
          </a:p>
        </p:txBody>
      </p:sp>
      <p:sp>
        <p:nvSpPr>
          <p:cNvPr id="24" name="Line 14">
            <a:extLst>
              <a:ext uri="{FF2B5EF4-FFF2-40B4-BE49-F238E27FC236}">
                <a16:creationId xmlns:a16="http://schemas.microsoft.com/office/drawing/2014/main" id="{11097CCC-896F-4F42-936B-A9430A22ED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8984" y="2428875"/>
            <a:ext cx="0" cy="384810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5" name="Line 15">
            <a:extLst>
              <a:ext uri="{FF2B5EF4-FFF2-40B4-BE49-F238E27FC236}">
                <a16:creationId xmlns:a16="http://schemas.microsoft.com/office/drawing/2014/main" id="{98A4C07D-C21B-40B2-8A53-F78E5ECA2B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29106" y="2376195"/>
            <a:ext cx="0" cy="33311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6" name="Line 16">
            <a:extLst>
              <a:ext uri="{FF2B5EF4-FFF2-40B4-BE49-F238E27FC236}">
                <a16:creationId xmlns:a16="http://schemas.microsoft.com/office/drawing/2014/main" id="{401F389C-2C43-4C9D-9986-02DD25BD2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9492" y="3212976"/>
            <a:ext cx="0" cy="33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0" name="Text Box 20">
            <a:extLst>
              <a:ext uri="{FF2B5EF4-FFF2-40B4-BE49-F238E27FC236}">
                <a16:creationId xmlns:a16="http://schemas.microsoft.com/office/drawing/2014/main" id="{96C90D65-252A-4807-8D50-6CFB76C7D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116" y="6295214"/>
            <a:ext cx="566039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time</a:t>
            </a: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2D200D4C-C1D5-44D9-84EA-06D42D4AE8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059" y="2576513"/>
            <a:ext cx="2863909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20" name="Text Box 9">
            <a:extLst>
              <a:ext uri="{FF2B5EF4-FFF2-40B4-BE49-F238E27FC236}">
                <a16:creationId xmlns:a16="http://schemas.microsoft.com/office/drawing/2014/main" id="{35CFC419-F056-47A5-AEE8-7D073156D076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538876" y="2583272"/>
            <a:ext cx="12356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one segment</a:t>
            </a:r>
          </a:p>
        </p:txBody>
      </p:sp>
      <p:sp>
        <p:nvSpPr>
          <p:cNvPr id="27" name="Line 17">
            <a:extLst>
              <a:ext uri="{FF2B5EF4-FFF2-40B4-BE49-F238E27FC236}">
                <a16:creationId xmlns:a16="http://schemas.microsoft.com/office/drawing/2014/main" id="{B14A92D5-FFE6-4A49-97F5-FE19B38E4B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40300" y="2981324"/>
            <a:ext cx="2829446" cy="3270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1" name="Line 21">
            <a:extLst>
              <a:ext uri="{FF2B5EF4-FFF2-40B4-BE49-F238E27FC236}">
                <a16:creationId xmlns:a16="http://schemas.microsoft.com/office/drawing/2014/main" id="{30DEB6A5-B666-4882-87A1-F11328EC0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505" y="3357563"/>
            <a:ext cx="2863909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2" name="Line 22">
            <a:extLst>
              <a:ext uri="{FF2B5EF4-FFF2-40B4-BE49-F238E27FC236}">
                <a16:creationId xmlns:a16="http://schemas.microsoft.com/office/drawing/2014/main" id="{B384EB61-C215-417E-8E19-1DC8872070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059" y="3443288"/>
            <a:ext cx="2863909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3" name="Line 23">
            <a:extLst>
              <a:ext uri="{FF2B5EF4-FFF2-40B4-BE49-F238E27FC236}">
                <a16:creationId xmlns:a16="http://schemas.microsoft.com/office/drawing/2014/main" id="{DE7BB383-6C9A-4317-B4B8-FA3190D6C7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3060" y="3975099"/>
            <a:ext cx="2867916" cy="354013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4" name="Line 24">
            <a:extLst>
              <a:ext uri="{FF2B5EF4-FFF2-40B4-BE49-F238E27FC236}">
                <a16:creationId xmlns:a16="http://schemas.microsoft.com/office/drawing/2014/main" id="{AD305766-7CA3-4FF4-B05E-6E73B38D91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2206" y="4216400"/>
            <a:ext cx="2889244" cy="36353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5" name="Text Box 25">
            <a:extLst>
              <a:ext uri="{FF2B5EF4-FFF2-40B4-BE49-F238E27FC236}">
                <a16:creationId xmlns:a16="http://schemas.microsoft.com/office/drawing/2014/main" id="{2F689A40-1C45-4E9E-A2A4-3C90C9501EB6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513969" y="3378791"/>
            <a:ext cx="128545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two segments</a:t>
            </a:r>
          </a:p>
        </p:txBody>
      </p:sp>
      <p:sp>
        <p:nvSpPr>
          <p:cNvPr id="36" name="Text Box 26">
            <a:extLst>
              <a:ext uri="{FF2B5EF4-FFF2-40B4-BE49-F238E27FC236}">
                <a16:creationId xmlns:a16="http://schemas.microsoft.com/office/drawing/2014/main" id="{8A223DF5-C3AB-4D21-9286-4A0EDE2FFF64}"/>
              </a:ext>
            </a:extLst>
          </p:cNvPr>
          <p:cNvSpPr txBox="1">
            <a:spLocks noChangeArrowheads="1"/>
          </p:cNvSpPr>
          <p:nvPr/>
        </p:nvSpPr>
        <p:spPr bwMode="auto">
          <a:xfrm rot="408567">
            <a:off x="6494303" y="4389259"/>
            <a:ext cx="132478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2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four segments</a:t>
            </a:r>
          </a:p>
        </p:txBody>
      </p:sp>
      <p:sp>
        <p:nvSpPr>
          <p:cNvPr id="38" name="Line 28">
            <a:extLst>
              <a:ext uri="{FF2B5EF4-FFF2-40B4-BE49-F238E27FC236}">
                <a16:creationId xmlns:a16="http://schemas.microsoft.com/office/drawing/2014/main" id="{DDC9354A-F849-4B25-A686-78018B66F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1250" y="4381500"/>
            <a:ext cx="2886603" cy="34607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1198EE0E-6A56-4F66-9023-8DC4A33ED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7612" y="4475163"/>
            <a:ext cx="2863907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0" name="Line 30">
            <a:extLst>
              <a:ext uri="{FF2B5EF4-FFF2-40B4-BE49-F238E27FC236}">
                <a16:creationId xmlns:a16="http://schemas.microsoft.com/office/drawing/2014/main" id="{D0B75DEA-A61A-4FFC-9238-F84B7EFCB7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3946" y="4575176"/>
            <a:ext cx="2863907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1" name="Line 31">
            <a:extLst>
              <a:ext uri="{FF2B5EF4-FFF2-40B4-BE49-F238E27FC236}">
                <a16:creationId xmlns:a16="http://schemas.microsoft.com/office/drawing/2014/main" id="{B030AD7C-B89C-4111-9EF7-434BD150F3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3057" y="4675188"/>
            <a:ext cx="2863907" cy="352425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3" name="Line 33">
            <a:extLst>
              <a:ext uri="{FF2B5EF4-FFF2-40B4-BE49-F238E27FC236}">
                <a16:creationId xmlns:a16="http://schemas.microsoft.com/office/drawing/2014/main" id="{080F6E1C-EC09-495A-90DC-B20EF007B9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5015237"/>
            <a:ext cx="2533665" cy="32670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4" name="Line 34">
            <a:extLst>
              <a:ext uri="{FF2B5EF4-FFF2-40B4-BE49-F238E27FC236}">
                <a16:creationId xmlns:a16="http://schemas.microsoft.com/office/drawing/2014/main" id="{B3007E12-C261-4A8C-815A-1207490970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4926708"/>
            <a:ext cx="2533665" cy="323758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5" name="Line 35">
            <a:extLst>
              <a:ext uri="{FF2B5EF4-FFF2-40B4-BE49-F238E27FC236}">
                <a16:creationId xmlns:a16="http://schemas.microsoft.com/office/drawing/2014/main" id="{22968A0F-7EFE-4E64-98A3-F196B81C71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4826637"/>
            <a:ext cx="2533665" cy="32670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46" name="Line 36">
            <a:extLst>
              <a:ext uri="{FF2B5EF4-FFF2-40B4-BE49-F238E27FC236}">
                <a16:creationId xmlns:a16="http://schemas.microsoft.com/office/drawing/2014/main" id="{8B43F1F3-8763-4664-8D8A-5B2C30471A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68746" y="4733925"/>
            <a:ext cx="2533665" cy="326701"/>
          </a:xfrm>
          <a:prstGeom prst="line">
            <a:avLst/>
          </a:prstGeom>
          <a:noFill/>
          <a:ln w="28575">
            <a:solidFill>
              <a:srgbClr val="105BA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C8D0EB0-1914-4333-B0E6-296AF0B76FDD}"/>
              </a:ext>
            </a:extLst>
          </p:cNvPr>
          <p:cNvGrpSpPr/>
          <p:nvPr/>
        </p:nvGrpSpPr>
        <p:grpSpPr>
          <a:xfrm>
            <a:off x="4642613" y="1671309"/>
            <a:ext cx="639607" cy="646948"/>
            <a:chOff x="4405123" y="4577716"/>
            <a:chExt cx="527383" cy="533436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B8410082-F149-4EC6-A943-70CC12856687}"/>
                </a:ext>
              </a:extLst>
            </p:cNvPr>
            <p:cNvSpPr/>
            <p:nvPr/>
          </p:nvSpPr>
          <p:spPr>
            <a:xfrm>
              <a:off x="4405123" y="4583770"/>
              <a:ext cx="527383" cy="527382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18AB351C-02F2-4C53-8E21-C4F84B33D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5786" y="4577716"/>
              <a:ext cx="452934" cy="518714"/>
            </a:xfrm>
            <a:prstGeom prst="rect">
              <a:avLst/>
            </a:prstGeom>
          </p:spPr>
        </p:pic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A25BA92A-5864-47C1-88BB-57A1E830CE2B}"/>
              </a:ext>
            </a:extLst>
          </p:cNvPr>
          <p:cNvGrpSpPr/>
          <p:nvPr/>
        </p:nvGrpSpPr>
        <p:grpSpPr>
          <a:xfrm>
            <a:off x="7298362" y="1671309"/>
            <a:ext cx="631497" cy="744723"/>
            <a:chOff x="6321753" y="4534264"/>
            <a:chExt cx="520696" cy="614056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A7372C2-4208-407B-B506-CC2CE5ADB30F}"/>
                </a:ext>
              </a:extLst>
            </p:cNvPr>
            <p:cNvSpPr/>
            <p:nvPr/>
          </p:nvSpPr>
          <p:spPr>
            <a:xfrm>
              <a:off x="6321753" y="4586905"/>
              <a:ext cx="520696" cy="520695"/>
            </a:xfrm>
            <a:prstGeom prst="ellipse">
              <a:avLst/>
            </a:prstGeom>
            <a:solidFill>
              <a:srgbClr val="EFF5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  <a:spcBef>
                  <a:spcPct val="20000"/>
                </a:spcBef>
                <a:buClr>
                  <a:srgbClr val="000000"/>
                </a:buClr>
                <a:buSzPct val="100000"/>
                <a:buFont typeface="Arial"/>
                <a:buChar char="§"/>
              </a:pPr>
              <a:endParaRPr lang="ko-KR" altLang="en-US" sz="1400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pic>
          <p:nvPicPr>
            <p:cNvPr id="88" name="그림 87" descr="텍스트, 파일, 컴퓨터이(가) 표시된 사진&#10;&#10;자동 생성된 설명">
              <a:extLst>
                <a:ext uri="{FF2B5EF4-FFF2-40B4-BE49-F238E27FC236}">
                  <a16:creationId xmlns:a16="http://schemas.microsoft.com/office/drawing/2014/main" id="{CB13C907-BD81-426E-A4A1-757C80851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2319" y="4534264"/>
              <a:ext cx="284954" cy="6140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1002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detecting, reacting to loss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32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32973B-9BD4-40FA-AC9B-64EE2E1E5F5B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050856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loss indicated by timeout 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F2290B-6ACF-4E01-9D4C-5C75A3911813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1496596"/>
            <a:ext cx="6774102" cy="92704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set to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1 MSS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;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window then grows exponentially (as in slow start) to threshold, then grows linearly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B86DA6-F2C0-46DC-A54E-BED2F474C26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2620576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loss indicated by 3 duplicate ACKs : TCP RENO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7CDBE9-BC5D-4732-B11C-CB3F733B123D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073936"/>
            <a:ext cx="6774102" cy="68634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dup 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ACK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 indicate network capable of  delivering some segments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is cut in half window then grows linearly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C151B27-2C4A-4472-80AC-6FDCF9D080ED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4005064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2"/>
              </a:buBlip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 Tahoe always sets cwnd to 1 </a:t>
            </a: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n-ea"/>
                <a:cs typeface="+mj-cs"/>
              </a:rPr>
              <a:t>(timeout or 3 duplicate acks)</a:t>
            </a:r>
          </a:p>
        </p:txBody>
      </p:sp>
    </p:spTree>
    <p:extLst>
      <p:ext uri="{BB962C8B-B14F-4D97-AF65-F5344CB8AC3E}">
        <p14:creationId xmlns:p14="http://schemas.microsoft.com/office/powerpoint/2010/main" val="4119884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잘린 한쪽 모서리 3">
            <a:extLst>
              <a:ext uri="{FF2B5EF4-FFF2-40B4-BE49-F238E27FC236}">
                <a16:creationId xmlns:a16="http://schemas.microsoft.com/office/drawing/2014/main" id="{C21436F6-1BA3-4898-A301-EDBA3B9DD5FA}"/>
              </a:ext>
            </a:extLst>
          </p:cNvPr>
          <p:cNvSpPr/>
          <p:nvPr/>
        </p:nvSpPr>
        <p:spPr>
          <a:xfrm>
            <a:off x="889955" y="1357918"/>
            <a:ext cx="7095805" cy="1193125"/>
          </a:xfrm>
          <a:prstGeom prst="snip1Rect">
            <a:avLst>
              <a:gd name="adj" fmla="val 19087"/>
            </a:avLst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>
              <a:sym typeface="Arial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2EDD57E-4DF3-499E-8A60-362322BE3883}"/>
              </a:ext>
            </a:extLst>
          </p:cNvPr>
          <p:cNvSpPr/>
          <p:nvPr/>
        </p:nvSpPr>
        <p:spPr>
          <a:xfrm>
            <a:off x="1268564" y="1951400"/>
            <a:ext cx="6545911" cy="454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 sz="140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TCP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</a:t>
            </a:r>
            <a:r>
              <a:rPr lang="en-US" altLang="ko-KR" sz="2000">
                <a:cs typeface="+mj-cs"/>
              </a:rPr>
              <a:t>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switching from slow start to CA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33</a:t>
            </a:fld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4530E0-8D72-42D2-A6E2-DFAC6D58E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351" y="1459158"/>
            <a:ext cx="6826930" cy="393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+mj-ea"/>
                <a:ea typeface="+mj-ea"/>
                <a:cs typeface="+mj-cs"/>
              </a:rPr>
              <a:t>when should the exponential increase switch to linear? 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AF22A6D2-CF54-4553-A30C-DB10EF9FF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7507" y="1912971"/>
            <a:ext cx="5844927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098983"/>
                </a:solidFill>
                <a:latin typeface="+mj-ea"/>
                <a:ea typeface="+mj-ea"/>
                <a:cs typeface="+mj-cs"/>
              </a:rPr>
              <a:t>A</a:t>
            </a:r>
            <a:r>
              <a:rPr lang="en-US" altLang="ko-KR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: 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when </a:t>
            </a:r>
            <a:r>
              <a:rPr lang="en-US" altLang="ko-KR" sz="16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5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ea typeface="넥슨Lv1고딕 Bold" panose="00000800000000000000" pitchFamily="2" charset="-127"/>
                <a:cs typeface="+mj-cs"/>
              </a:rPr>
              <a:t> gets to 1/2 of its value before timeout.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49E14A3-DC8F-4539-A8FB-3B36D3D24E5C}"/>
              </a:ext>
            </a:extLst>
          </p:cNvPr>
          <p:cNvGrpSpPr/>
          <p:nvPr/>
        </p:nvGrpSpPr>
        <p:grpSpPr>
          <a:xfrm>
            <a:off x="670135" y="2903049"/>
            <a:ext cx="453816" cy="540785"/>
            <a:chOff x="670134" y="1134217"/>
            <a:chExt cx="499079" cy="594722"/>
          </a:xfrm>
        </p:grpSpPr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494F9C5-A76F-4373-B0A0-B65C754DF5C5}"/>
                </a:ext>
              </a:extLst>
            </p:cNvPr>
            <p:cNvSpPr/>
            <p:nvPr/>
          </p:nvSpPr>
          <p:spPr>
            <a:xfrm>
              <a:off x="758638" y="1644518"/>
              <a:ext cx="314384" cy="84421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넥슨Lv1고딕" panose="00000500000000000000" pitchFamily="2" charset="-127"/>
                <a:ea typeface="넥슨Lv1고딕" panose="00000500000000000000" pitchFamily="2" charset="-127"/>
              </a:endParaRPr>
            </a:p>
          </p:txBody>
        </p:sp>
        <p:sp>
          <p:nvSpPr>
            <p:cNvPr id="22" name="그래픽 9">
              <a:extLst>
                <a:ext uri="{FF2B5EF4-FFF2-40B4-BE49-F238E27FC236}">
                  <a16:creationId xmlns:a16="http://schemas.microsoft.com/office/drawing/2014/main" id="{DAC6D89D-E880-4DA4-8A60-FD7E69B4A84A}"/>
                </a:ext>
              </a:extLst>
            </p:cNvPr>
            <p:cNvSpPr/>
            <p:nvPr/>
          </p:nvSpPr>
          <p:spPr>
            <a:xfrm rot="5400000">
              <a:off x="638045" y="1166306"/>
              <a:ext cx="563257" cy="499079"/>
            </a:xfrm>
            <a:custGeom>
              <a:avLst/>
              <a:gdLst>
                <a:gd name="connsiteX0" fmla="*/ 399978 w 563257"/>
                <a:gd name="connsiteY0" fmla="*/ 29 h 499079"/>
                <a:gd name="connsiteX1" fmla="*/ 163102 w 563257"/>
                <a:gd name="connsiteY1" fmla="*/ 29 h 499079"/>
                <a:gd name="connsiteX2" fmla="*/ 124367 w 563257"/>
                <a:gd name="connsiteY2" fmla="*/ 22376 h 499079"/>
                <a:gd name="connsiteX3" fmla="*/ 5929 w 563257"/>
                <a:gd name="connsiteY3" fmla="*/ 227222 h 499079"/>
                <a:gd name="connsiteX4" fmla="*/ 5929 w 563257"/>
                <a:gd name="connsiteY4" fmla="*/ 271916 h 499079"/>
                <a:gd name="connsiteX5" fmla="*/ 124367 w 563257"/>
                <a:gd name="connsiteY5" fmla="*/ 476762 h 499079"/>
                <a:gd name="connsiteX6" fmla="*/ 163102 w 563257"/>
                <a:gd name="connsiteY6" fmla="*/ 499109 h 499079"/>
                <a:gd name="connsiteX7" fmla="*/ 399978 w 563257"/>
                <a:gd name="connsiteY7" fmla="*/ 499109 h 499079"/>
                <a:gd name="connsiteX8" fmla="*/ 438712 w 563257"/>
                <a:gd name="connsiteY8" fmla="*/ 476762 h 499079"/>
                <a:gd name="connsiteX9" fmla="*/ 557150 w 563257"/>
                <a:gd name="connsiteY9" fmla="*/ 271916 h 499079"/>
                <a:gd name="connsiteX10" fmla="*/ 557150 w 563257"/>
                <a:gd name="connsiteY10" fmla="*/ 227222 h 499079"/>
                <a:gd name="connsiteX11" fmla="*/ 438712 w 563257"/>
                <a:gd name="connsiteY11" fmla="*/ 22376 h 499079"/>
                <a:gd name="connsiteX12" fmla="*/ 399978 w 563257"/>
                <a:gd name="connsiteY12" fmla="*/ 29 h 499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3257" h="499079">
                  <a:moveTo>
                    <a:pt x="399978" y="29"/>
                  </a:moveTo>
                  <a:lnTo>
                    <a:pt x="163102" y="29"/>
                  </a:lnTo>
                  <a:cubicBezTo>
                    <a:pt x="147135" y="57"/>
                    <a:pt x="132384" y="8568"/>
                    <a:pt x="124367" y="22376"/>
                  </a:cubicBezTo>
                  <a:lnTo>
                    <a:pt x="5929" y="227222"/>
                  </a:lnTo>
                  <a:cubicBezTo>
                    <a:pt x="-2093" y="241040"/>
                    <a:pt x="-2093" y="258098"/>
                    <a:pt x="5929" y="271916"/>
                  </a:cubicBezTo>
                  <a:lnTo>
                    <a:pt x="124367" y="476762"/>
                  </a:lnTo>
                  <a:cubicBezTo>
                    <a:pt x="132384" y="490571"/>
                    <a:pt x="147135" y="499081"/>
                    <a:pt x="163102" y="499109"/>
                  </a:cubicBezTo>
                  <a:lnTo>
                    <a:pt x="399978" y="499109"/>
                  </a:lnTo>
                  <a:cubicBezTo>
                    <a:pt x="415937" y="499081"/>
                    <a:pt x="430704" y="490571"/>
                    <a:pt x="438712" y="476762"/>
                  </a:cubicBezTo>
                  <a:lnTo>
                    <a:pt x="557150" y="271916"/>
                  </a:lnTo>
                  <a:cubicBezTo>
                    <a:pt x="565176" y="258098"/>
                    <a:pt x="565176" y="241040"/>
                    <a:pt x="557150" y="227222"/>
                  </a:cubicBezTo>
                  <a:lnTo>
                    <a:pt x="438712" y="22376"/>
                  </a:lnTo>
                  <a:cubicBezTo>
                    <a:pt x="430704" y="8568"/>
                    <a:pt x="415937" y="57"/>
                    <a:pt x="399978" y="2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AE80AE0-F7CB-4A39-971E-7BBB5BEAF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29500" y="1317975"/>
              <a:ext cx="375876" cy="217726"/>
            </a:xfrm>
            <a:prstGeom prst="rect">
              <a:avLst/>
            </a:prstGeom>
          </p:spPr>
        </p:pic>
      </p:grpSp>
      <p:sp>
        <p:nvSpPr>
          <p:cNvPr id="24" name="Rectangle 5">
            <a:extLst>
              <a:ext uri="{FF2B5EF4-FFF2-40B4-BE49-F238E27FC236}">
                <a16:creationId xmlns:a16="http://schemas.microsoft.com/office/drawing/2014/main" id="{CCDB1D14-CE98-4CCC-934B-CBA09422E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796" y="2924944"/>
            <a:ext cx="6826930" cy="431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+mj-ea"/>
                <a:ea typeface="+mj-ea"/>
                <a:cs typeface="+mj-cs"/>
              </a:rPr>
              <a:t>Implementation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B5A394A-4216-4687-8828-2094E3091CF4}"/>
              </a:ext>
            </a:extLst>
          </p:cNvPr>
          <p:cNvSpPr/>
          <p:nvPr/>
        </p:nvSpPr>
        <p:spPr>
          <a:xfrm>
            <a:off x="750612" y="1818681"/>
            <a:ext cx="285872" cy="76765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7" name="그래픽 9">
            <a:extLst>
              <a:ext uri="{FF2B5EF4-FFF2-40B4-BE49-F238E27FC236}">
                <a16:creationId xmlns:a16="http://schemas.microsoft.com/office/drawing/2014/main" id="{DB60707A-686F-458E-AED1-E4208F119DAC}"/>
              </a:ext>
            </a:extLst>
          </p:cNvPr>
          <p:cNvSpPr/>
          <p:nvPr/>
        </p:nvSpPr>
        <p:spPr>
          <a:xfrm rot="5400000">
            <a:off x="640956" y="1383840"/>
            <a:ext cx="512174" cy="453816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rgbClr val="0B9D96"/>
          </a:solidFill>
          <a:ln w="1713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F385A5F-FA6F-4CDA-93A6-5B7F3C078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06" y="1352198"/>
            <a:ext cx="498162" cy="469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buClr>
                <a:schemeClr val="accent2"/>
              </a:buClr>
              <a:buSzPct val="85000"/>
            </a:pPr>
            <a:r>
              <a:rPr lang="en-US" altLang="ko-KR" sz="20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+mj-cs"/>
              </a:rPr>
              <a:t>Q</a:t>
            </a:r>
            <a:endParaRPr lang="en-US" altLang="ko-KR" sz="2000">
              <a:ln>
                <a:solidFill>
                  <a:srgbClr val="2D5897">
                    <a:alpha val="0"/>
                  </a:srgbClr>
                </a:solidFill>
              </a:ln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1" name="Picture 7">
            <a:extLst>
              <a:ext uri="{FF2B5EF4-FFF2-40B4-BE49-F238E27FC236}">
                <a16:creationId xmlns:a16="http://schemas.microsoft.com/office/drawing/2014/main" id="{291217AE-C8A6-4D01-84D9-47ACDA35C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2933144"/>
            <a:ext cx="4814203" cy="274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">
            <a:extLst>
              <a:ext uri="{FF2B5EF4-FFF2-40B4-BE49-F238E27FC236}">
                <a16:creationId xmlns:a16="http://schemas.microsoft.com/office/drawing/2014/main" id="{44188494-A2F4-446D-B911-1265DA94F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969" y="5888249"/>
            <a:ext cx="4506913" cy="484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* Check out the online interactive exercises for more </a:t>
            </a:r>
            <a:b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</a:br>
            <a:r>
              <a:rPr lang="en-US" altLang="ko-KR" sz="11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  examples: http://gaia.cs.umass.edu/kurose_ross/interactive/</a:t>
            </a: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B53FBBD-8D42-450A-A863-1E231179610F}"/>
              </a:ext>
            </a:extLst>
          </p:cNvPr>
          <p:cNvSpPr txBox="1">
            <a:spLocks noChangeArrowheads="1"/>
          </p:cNvSpPr>
          <p:nvPr/>
        </p:nvSpPr>
        <p:spPr>
          <a:xfrm>
            <a:off x="707579" y="3566390"/>
            <a:ext cx="2625343" cy="1222514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variable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ssthresh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on loss event, </a:t>
            </a:r>
            <a:r>
              <a:rPr lang="en-US" altLang="ko-KR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ssthresh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is set to 1/2 of </a:t>
            </a:r>
            <a:r>
              <a:rPr lang="en-US" altLang="ko-KR" sz="1400" dirty="0" err="1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</a:rPr>
              <a:t>cwnd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just before loss event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827825A-5061-4EF6-8AE1-7BC32EA86B87}"/>
              </a:ext>
            </a:extLst>
          </p:cNvPr>
          <p:cNvCxnSpPr>
            <a:cxnSpLocks/>
          </p:cNvCxnSpPr>
          <p:nvPr/>
        </p:nvCxnSpPr>
        <p:spPr>
          <a:xfrm>
            <a:off x="1276349" y="1943100"/>
            <a:ext cx="6530340" cy="0"/>
          </a:xfrm>
          <a:prstGeom prst="line">
            <a:avLst/>
          </a:prstGeom>
          <a:solidFill>
            <a:srgbClr val="F2FBFB"/>
          </a:solidFill>
          <a:ln>
            <a:solidFill>
              <a:srgbClr val="05AAAC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70352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F91034-92FC-451F-A952-8C8BB54CB4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000">
                <a:cs typeface="+mj-cs"/>
              </a:rPr>
              <a:t>Summary </a:t>
            </a:r>
            <a:r>
              <a:rPr lang="en-US" altLang="ko-KR"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rPr>
              <a:t>: </a:t>
            </a:r>
            <a:r>
              <a:rPr lang="en-US" altLang="ko-KR" sz="2000">
                <a:solidFill>
                  <a:schemeClr val="bg1"/>
                </a:solidFill>
                <a:cs typeface="+mj-cs"/>
              </a:rPr>
              <a:t>TCP </a:t>
            </a:r>
            <a:r>
              <a:rPr lang="en-US" altLang="ko-KR" sz="2000" dirty="0">
                <a:solidFill>
                  <a:schemeClr val="bg1"/>
                </a:solidFill>
                <a:cs typeface="+mj-cs"/>
              </a:rPr>
              <a:t>Congestion Control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4848C92-526C-4683-9C17-A9A2A880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34</a:t>
            </a:fld>
            <a:endParaRPr lang="en-US" dirty="0"/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81A4DF33-BF54-4134-B747-BFD7DA41DACF}"/>
              </a:ext>
            </a:extLst>
          </p:cNvPr>
          <p:cNvGrpSpPr/>
          <p:nvPr/>
        </p:nvGrpSpPr>
        <p:grpSpPr>
          <a:xfrm>
            <a:off x="3242310" y="3022269"/>
            <a:ext cx="2133600" cy="1001713"/>
            <a:chOff x="3242310" y="2969261"/>
            <a:chExt cx="2133600" cy="1001713"/>
          </a:xfrm>
        </p:grpSpPr>
        <p:grpSp>
          <p:nvGrpSpPr>
            <p:cNvPr id="5" name="Group 171">
              <a:extLst>
                <a:ext uri="{FF2B5EF4-FFF2-40B4-BE49-F238E27FC236}">
                  <a16:creationId xmlns:a16="http://schemas.microsoft.com/office/drawing/2014/main" id="{5F4260D8-CBB5-4975-80BB-9F059233C5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6448" y="2969261"/>
              <a:ext cx="1960563" cy="1001713"/>
              <a:chOff x="2221" y="1727"/>
              <a:chExt cx="1235" cy="631"/>
            </a:xfrm>
          </p:grpSpPr>
          <p:sp>
            <p:nvSpPr>
              <p:cNvPr id="7" name="Text Box 172">
                <a:extLst>
                  <a:ext uri="{FF2B5EF4-FFF2-40B4-BE49-F238E27FC236}">
                    <a16:creationId xmlns:a16="http://schemas.microsoft.com/office/drawing/2014/main" id="{7EBB9AAE-D00A-4EDB-BBF6-3C514B4CD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727"/>
                <a:ext cx="420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timeout</a:t>
                </a:r>
              </a:p>
            </p:txBody>
          </p:sp>
          <p:sp>
            <p:nvSpPr>
              <p:cNvPr id="8" name="Text Box 173">
                <a:extLst>
                  <a:ext uri="{FF2B5EF4-FFF2-40B4-BE49-F238E27FC236}">
                    <a16:creationId xmlns:a16="http://schemas.microsoft.com/office/drawing/2014/main" id="{21752219-1B30-4F4A-BF91-1E954F007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1" y="1859"/>
                <a:ext cx="1235" cy="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32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ssthresh = cwnd/2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cwnd = 1 MSS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dupACKcount = 0</a:t>
                </a:r>
              </a:p>
              <a:p>
                <a:pPr algn="ctr" eaLnBrk="1" hangingPunct="1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ko-KR" sz="1000" i="1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solidFill>
                      <a:srgbClr val="000099"/>
                    </a:solidFill>
                    <a:latin typeface="+mn-ea"/>
                    <a:ea typeface="+mn-ea"/>
                  </a:rPr>
                  <a:t>retransmit missing segment</a:t>
                </a:r>
                <a:r>
                  <a:rPr lang="en-US" altLang="ko-KR" sz="1200">
                    <a:ln>
                      <a:solidFill>
                        <a:schemeClr val="bg2">
                          <a:lumMod val="10000"/>
                          <a:alpha val="0"/>
                        </a:schemeClr>
                      </a:solidFill>
                    </a:ln>
                    <a:latin typeface="+mn-ea"/>
                    <a:ea typeface="+mn-ea"/>
                  </a:rPr>
                  <a:t> </a:t>
                </a:r>
              </a:p>
            </p:txBody>
          </p:sp>
          <p:sp>
            <p:nvSpPr>
              <p:cNvPr id="9" name="Line 174">
                <a:extLst>
                  <a:ext uri="{FF2B5EF4-FFF2-40B4-BE49-F238E27FC236}">
                    <a16:creationId xmlns:a16="http://schemas.microsoft.com/office/drawing/2014/main" id="{91BB97E9-298D-4BE2-A67D-4EA45A0C5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1" y="1857"/>
                <a:ext cx="69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ko-KR" altLang="en-US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</p:grpSp>
        <p:sp>
          <p:nvSpPr>
            <p:cNvPr id="6" name="Line 175">
              <a:extLst>
                <a:ext uri="{FF2B5EF4-FFF2-40B4-BE49-F238E27FC236}">
                  <a16:creationId xmlns:a16="http://schemas.microsoft.com/office/drawing/2014/main" id="{98A15B72-27D2-4C09-84D3-4DFCF90DD2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2310" y="2980375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10BA4B7-6E75-4A9C-926E-F558B4777356}"/>
              </a:ext>
            </a:extLst>
          </p:cNvPr>
          <p:cNvGrpSpPr/>
          <p:nvPr/>
        </p:nvGrpSpPr>
        <p:grpSpPr>
          <a:xfrm>
            <a:off x="550161" y="3615994"/>
            <a:ext cx="4089381" cy="2085832"/>
            <a:chOff x="550161" y="3562986"/>
            <a:chExt cx="4089381" cy="2085832"/>
          </a:xfrm>
        </p:grpSpPr>
        <p:sp>
          <p:nvSpPr>
            <p:cNvPr id="50" name="Text Box 213">
              <a:extLst>
                <a:ext uri="{FF2B5EF4-FFF2-40B4-BE49-F238E27FC236}">
                  <a16:creationId xmlns:a16="http://schemas.microsoft.com/office/drawing/2014/main" id="{7E67426F-0C83-41B6-8654-11CAF4EC2A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161" y="5057502"/>
              <a:ext cx="1911100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= </a:t>
              </a: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/2</a:t>
              </a:r>
            </a:p>
            <a:p>
              <a:pPr algn="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= </a:t>
              </a: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+ 3</a:t>
              </a:r>
            </a:p>
            <a:p>
              <a:pPr algn="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</a:p>
          </p:txBody>
        </p:sp>
        <p:sp>
          <p:nvSpPr>
            <p:cNvPr id="51" name="Line 214">
              <a:extLst>
                <a:ext uri="{FF2B5EF4-FFF2-40B4-BE49-F238E27FC236}">
                  <a16:creationId xmlns:a16="http://schemas.microsoft.com/office/drawing/2014/main" id="{D2023D72-3EDA-44AD-9CCE-B6A1FF6234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948" y="5059090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" name="Text Box 215">
              <a:extLst>
                <a:ext uri="{FF2B5EF4-FFF2-40B4-BE49-F238E27FC236}">
                  <a16:creationId xmlns:a16="http://schemas.microsoft.com/office/drawing/2014/main" id="{F45BB3EF-9CB5-4B16-8635-1571828C0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6785" y="4797152"/>
              <a:ext cx="1364476" cy="252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== 3</a:t>
              </a:r>
            </a:p>
          </p:txBody>
        </p:sp>
        <p:sp>
          <p:nvSpPr>
            <p:cNvPr id="47" name="Text Box 217">
              <a:extLst>
                <a:ext uri="{FF2B5EF4-FFF2-40B4-BE49-F238E27FC236}">
                  <a16:creationId xmlns:a16="http://schemas.microsoft.com/office/drawing/2014/main" id="{AED50D61-B109-4993-AA8F-561D1EB37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492" y="3912607"/>
              <a:ext cx="66675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timeout</a:t>
              </a:r>
            </a:p>
          </p:txBody>
        </p:sp>
        <p:sp>
          <p:nvSpPr>
            <p:cNvPr id="48" name="Text Box 218">
              <a:extLst>
                <a:ext uri="{FF2B5EF4-FFF2-40B4-BE49-F238E27FC236}">
                  <a16:creationId xmlns:a16="http://schemas.microsoft.com/office/drawing/2014/main" id="{52EAD121-5977-40E5-8806-C6A6E32D1B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749" y="4117395"/>
              <a:ext cx="1960793" cy="792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 = cwnd/2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1 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49" name="Line 219">
              <a:extLst>
                <a:ext uri="{FF2B5EF4-FFF2-40B4-BE49-F238E27FC236}">
                  <a16:creationId xmlns:a16="http://schemas.microsoft.com/office/drawing/2014/main" id="{8D640AE8-9130-4CFA-85B1-DA0F27B86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92" y="4138032"/>
              <a:ext cx="1106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71EE0E9-669E-4D72-ADAA-E51A6987E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286" y="3562986"/>
              <a:ext cx="1174750" cy="1819275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  <a:gd name="T9" fmla="*/ 0 w 740"/>
                <a:gd name="T10" fmla="*/ 0 h 1146"/>
                <a:gd name="T11" fmla="*/ 740 w 740"/>
                <a:gd name="T12" fmla="*/ 1146 h 1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3B6706D0-F4D2-44D3-AFDA-2D5863EA5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824" y="3589974"/>
              <a:ext cx="1111250" cy="1668463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  <a:gd name="T9" fmla="*/ 0 w 700"/>
                <a:gd name="T10" fmla="*/ 0 h 1051"/>
                <a:gd name="T11" fmla="*/ 700 w 700"/>
                <a:gd name="T12" fmla="*/ 1051 h 10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B0A294A2-72E7-4D58-80ED-3A80951D5576}"/>
              </a:ext>
            </a:extLst>
          </p:cNvPr>
          <p:cNvGrpSpPr/>
          <p:nvPr/>
        </p:nvGrpSpPr>
        <p:grpSpPr>
          <a:xfrm>
            <a:off x="5152074" y="3608055"/>
            <a:ext cx="3100139" cy="2103927"/>
            <a:chOff x="5152074" y="3555047"/>
            <a:chExt cx="3100139" cy="2103927"/>
          </a:xfrm>
        </p:grpSpPr>
        <p:sp>
          <p:nvSpPr>
            <p:cNvPr id="56" name="Text Box 202">
              <a:extLst>
                <a:ext uri="{FF2B5EF4-FFF2-40B4-BE49-F238E27FC236}">
                  <a16:creationId xmlns:a16="http://schemas.microsoft.com/office/drawing/2014/main" id="{2F06EF73-4249-4FFF-BA71-EEE016B20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1112" y="4866321"/>
              <a:ext cx="1911101" cy="792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ssthresh= cwnd/2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ssthresh + 3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200" i="1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57" name="Line 203">
              <a:extLst>
                <a:ext uri="{FF2B5EF4-FFF2-40B4-BE49-F238E27FC236}">
                  <a16:creationId xmlns:a16="http://schemas.microsoft.com/office/drawing/2014/main" id="{CF1CC3CE-BDC5-46BE-AA3E-00CC89C1E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8184" y="4856796"/>
              <a:ext cx="934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8" name="Text Box 204">
              <a:extLst>
                <a:ext uri="{FF2B5EF4-FFF2-40B4-BE49-F238E27FC236}">
                  <a16:creationId xmlns:a16="http://schemas.microsoft.com/office/drawing/2014/main" id="{A32636D6-2D36-4015-898D-C62DFB61A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1112" y="4596911"/>
              <a:ext cx="136525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 err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</a:t>
              </a: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== 3</a:t>
              </a:r>
            </a:p>
          </p:txBody>
        </p:sp>
        <p:sp>
          <p:nvSpPr>
            <p:cNvPr id="55" name="Freeform 227">
              <a:extLst>
                <a:ext uri="{FF2B5EF4-FFF2-40B4-BE49-F238E27FC236}">
                  <a16:creationId xmlns:a16="http://schemas.microsoft.com/office/drawing/2014/main" id="{369B63D4-0D60-4EE3-9DD6-A3BD531B4AD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52074" y="3555047"/>
              <a:ext cx="1174750" cy="1819274"/>
            </a:xfrm>
            <a:custGeom>
              <a:avLst/>
              <a:gdLst>
                <a:gd name="T0" fmla="*/ 0 w 740"/>
                <a:gd name="T1" fmla="*/ 0 h 1146"/>
                <a:gd name="T2" fmla="*/ 0 w 740"/>
                <a:gd name="T3" fmla="*/ 1146 h 1146"/>
                <a:gd name="T4" fmla="*/ 740 w 740"/>
                <a:gd name="T5" fmla="*/ 1146 h 1146"/>
                <a:gd name="T6" fmla="*/ 0 60000 65536"/>
                <a:gd name="T7" fmla="*/ 0 60000 65536"/>
                <a:gd name="T8" fmla="*/ 0 60000 65536"/>
                <a:gd name="T9" fmla="*/ 0 w 740"/>
                <a:gd name="T10" fmla="*/ 0 h 1146"/>
                <a:gd name="T11" fmla="*/ 740 w 740"/>
                <a:gd name="T12" fmla="*/ 1146 h 1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0" h="1146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3FB6A74C-7ABB-4975-A173-2447DB84971C}"/>
              </a:ext>
            </a:extLst>
          </p:cNvPr>
          <p:cNvGrpSpPr/>
          <p:nvPr/>
        </p:nvGrpSpPr>
        <p:grpSpPr>
          <a:xfrm>
            <a:off x="4802146" y="3633456"/>
            <a:ext cx="1391329" cy="1668462"/>
            <a:chOff x="4802146" y="3580448"/>
            <a:chExt cx="1391329" cy="1668462"/>
          </a:xfrm>
        </p:grpSpPr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44358EA-6EC4-4F64-B69A-03EF3D7754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82225" y="3580448"/>
              <a:ext cx="1111250" cy="1668462"/>
            </a:xfrm>
            <a:custGeom>
              <a:avLst/>
              <a:gdLst>
                <a:gd name="T0" fmla="*/ 700 w 700"/>
                <a:gd name="T1" fmla="*/ 1051 h 1051"/>
                <a:gd name="T2" fmla="*/ 0 w 700"/>
                <a:gd name="T3" fmla="*/ 1051 h 1051"/>
                <a:gd name="T4" fmla="*/ 0 w 700"/>
                <a:gd name="T5" fmla="*/ 0 h 1051"/>
                <a:gd name="T6" fmla="*/ 0 60000 65536"/>
                <a:gd name="T7" fmla="*/ 0 60000 65536"/>
                <a:gd name="T8" fmla="*/ 0 60000 65536"/>
                <a:gd name="T9" fmla="*/ 0 w 700"/>
                <a:gd name="T10" fmla="*/ 0 h 1051"/>
                <a:gd name="T11" fmla="*/ 700 w 700"/>
                <a:gd name="T12" fmla="*/ 1051 h 10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0" h="1051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62" name="Text Box 230">
              <a:extLst>
                <a:ext uri="{FF2B5EF4-FFF2-40B4-BE49-F238E27FC236}">
                  <a16:creationId xmlns:a16="http://schemas.microsoft.com/office/drawing/2014/main" id="{F94E544B-FA95-4ACB-A268-B501C68B9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2146" y="4617085"/>
              <a:ext cx="1314784" cy="422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ssthresh</a:t>
              </a:r>
            </a:p>
            <a:p>
              <a:pPr algn="r">
                <a:lnSpc>
                  <a:spcPct val="11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</p:txBody>
        </p:sp>
        <p:sp>
          <p:nvSpPr>
            <p:cNvPr id="64" name="Line 232">
              <a:extLst>
                <a:ext uri="{FF2B5EF4-FFF2-40B4-BE49-F238E27FC236}">
                  <a16:creationId xmlns:a16="http://schemas.microsoft.com/office/drawing/2014/main" id="{BAA69256-709E-4FF1-BE6C-0934AEEFF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4937" y="4618673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65" name="Text Box 233">
              <a:extLst>
                <a:ext uri="{FF2B5EF4-FFF2-40B4-BE49-F238E27FC236}">
                  <a16:creationId xmlns:a16="http://schemas.microsoft.com/office/drawing/2014/main" id="{DB937D36-1C80-48EE-BD2F-5FC5A67602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7467" y="4388485"/>
              <a:ext cx="779463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New ACK</a:t>
              </a:r>
            </a:p>
          </p:txBody>
        </p: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DD56DEBF-B77F-439C-BC66-D6D9531C0861}"/>
              </a:ext>
            </a:extLst>
          </p:cNvPr>
          <p:cNvGrpSpPr/>
          <p:nvPr/>
        </p:nvGrpSpPr>
        <p:grpSpPr>
          <a:xfrm>
            <a:off x="5479098" y="1351516"/>
            <a:ext cx="2641265" cy="2388956"/>
            <a:chOff x="5479098" y="1298508"/>
            <a:chExt cx="2641265" cy="2388956"/>
          </a:xfrm>
        </p:grpSpPr>
        <p:sp>
          <p:nvSpPr>
            <p:cNvPr id="30" name="Oval 165">
              <a:extLst>
                <a:ext uri="{FF2B5EF4-FFF2-40B4-BE49-F238E27FC236}">
                  <a16:creationId xmlns:a16="http://schemas.microsoft.com/office/drawing/2014/main" id="{D2A91DA6-36C4-4271-804A-240A630E5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9098" y="2294572"/>
              <a:ext cx="1270000" cy="1270800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31" name="Text Box 166">
              <a:extLst>
                <a:ext uri="{FF2B5EF4-FFF2-40B4-BE49-F238E27FC236}">
                  <a16:creationId xmlns:a16="http://schemas.microsoft.com/office/drawing/2014/main" id="{10D86958-AEB9-45DD-85A9-3E2D40BFE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1666" y="2662207"/>
              <a:ext cx="1144865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congestion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avoidance </a:t>
              </a:r>
            </a:p>
          </p:txBody>
        </p:sp>
        <p:sp>
          <p:nvSpPr>
            <p:cNvPr id="26" name="Text Box 191">
              <a:extLst>
                <a:ext uri="{FF2B5EF4-FFF2-40B4-BE49-F238E27FC236}">
                  <a16:creationId xmlns:a16="http://schemas.microsoft.com/office/drawing/2014/main" id="{F0673E66-993A-43C1-BB9E-99F3558CD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1051" y="1479483"/>
              <a:ext cx="2480166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cwnd + MSS·(MSS/cwnd)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transmit new segment(s), as allowed</a:t>
              </a:r>
            </a:p>
          </p:txBody>
        </p:sp>
        <p:sp>
          <p:nvSpPr>
            <p:cNvPr id="27" name="Line 192">
              <a:extLst>
                <a:ext uri="{FF2B5EF4-FFF2-40B4-BE49-F238E27FC236}">
                  <a16:creationId xmlns:a16="http://schemas.microsoft.com/office/drawing/2014/main" id="{36008702-2DCF-4A07-BF91-CF2CD580D3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0921" y="1506470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8" name="Text Box 193">
              <a:extLst>
                <a:ext uri="{FF2B5EF4-FFF2-40B4-BE49-F238E27FC236}">
                  <a16:creationId xmlns:a16="http://schemas.microsoft.com/office/drawing/2014/main" id="{5B3D61DD-DF68-4F97-8B96-12437BA5F3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1246" y="1298508"/>
              <a:ext cx="76200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new ACK</a:t>
              </a:r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4A0A75A0-133D-41F1-88ED-05048BD5BF91}"/>
                </a:ext>
              </a:extLst>
            </p:cNvPr>
            <p:cNvSpPr>
              <a:spLocks/>
            </p:cNvSpPr>
            <p:nvPr/>
          </p:nvSpPr>
          <p:spPr bwMode="auto">
            <a:xfrm rot="9705213">
              <a:off x="6487161" y="2000886"/>
              <a:ext cx="528638" cy="717550"/>
            </a:xfrm>
            <a:custGeom>
              <a:avLst/>
              <a:gdLst>
                <a:gd name="T0" fmla="*/ 24 w 376"/>
                <a:gd name="T1" fmla="*/ 306 h 452"/>
                <a:gd name="T2" fmla="*/ 5 w 376"/>
                <a:gd name="T3" fmla="*/ 269 h 452"/>
                <a:gd name="T4" fmla="*/ 13 w 376"/>
                <a:gd name="T5" fmla="*/ 0 h 452"/>
                <a:gd name="T6" fmla="*/ 0 60000 65536"/>
                <a:gd name="T7" fmla="*/ 0 60000 65536"/>
                <a:gd name="T8" fmla="*/ 0 60000 65536"/>
                <a:gd name="T9" fmla="*/ 0 w 376"/>
                <a:gd name="T10" fmla="*/ 0 h 452"/>
                <a:gd name="T11" fmla="*/ 376 w 376"/>
                <a:gd name="T12" fmla="*/ 452 h 4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3" name="Text Box 197">
              <a:extLst>
                <a:ext uri="{FF2B5EF4-FFF2-40B4-BE49-F238E27FC236}">
                  <a16:creationId xmlns:a16="http://schemas.microsoft.com/office/drawing/2014/main" id="{27CFDAEC-4C76-4580-A8B7-AD57244990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09775" y="3469327"/>
              <a:ext cx="1210588" cy="21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dupACKcount++</a:t>
              </a:r>
            </a:p>
          </p:txBody>
        </p:sp>
        <p:sp>
          <p:nvSpPr>
            <p:cNvPr id="24" name="Line 198">
              <a:extLst>
                <a:ext uri="{FF2B5EF4-FFF2-40B4-BE49-F238E27FC236}">
                  <a16:creationId xmlns:a16="http://schemas.microsoft.com/office/drawing/2014/main" id="{1CC991CB-087E-47B0-AC72-BF7D6CA70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1597" y="3450274"/>
              <a:ext cx="934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25" name="Text Box 199">
              <a:extLst>
                <a:ext uri="{FF2B5EF4-FFF2-40B4-BE49-F238E27FC236}">
                  <a16:creationId xmlns:a16="http://schemas.microsoft.com/office/drawing/2014/main" id="{FBC82082-CC4D-4A96-B11F-10B61E081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988" y="3194684"/>
              <a:ext cx="1096963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duplicate ACK</a:t>
              </a:r>
            </a:p>
          </p:txBody>
        </p:sp>
        <p:sp>
          <p:nvSpPr>
            <p:cNvPr id="22" name="Freeform 200">
              <a:extLst>
                <a:ext uri="{FF2B5EF4-FFF2-40B4-BE49-F238E27FC236}">
                  <a16:creationId xmlns:a16="http://schemas.microsoft.com/office/drawing/2014/main" id="{6D9E00F7-DCA5-46CB-AEE9-EADE7A0F7D48}"/>
                </a:ext>
              </a:extLst>
            </p:cNvPr>
            <p:cNvSpPr>
              <a:spLocks/>
            </p:cNvSpPr>
            <p:nvPr/>
          </p:nvSpPr>
          <p:spPr bwMode="auto">
            <a:xfrm rot="14083979">
              <a:off x="6610986" y="2839086"/>
              <a:ext cx="528638" cy="717550"/>
            </a:xfrm>
            <a:custGeom>
              <a:avLst/>
              <a:gdLst>
                <a:gd name="T0" fmla="*/ 24 w 376"/>
                <a:gd name="T1" fmla="*/ 306 h 452"/>
                <a:gd name="T2" fmla="*/ 5 w 376"/>
                <a:gd name="T3" fmla="*/ 269 h 452"/>
                <a:gd name="T4" fmla="*/ 13 w 376"/>
                <a:gd name="T5" fmla="*/ 0 h 452"/>
                <a:gd name="T6" fmla="*/ 0 60000 65536"/>
                <a:gd name="T7" fmla="*/ 0 60000 65536"/>
                <a:gd name="T8" fmla="*/ 0 60000 65536"/>
                <a:gd name="T9" fmla="*/ 0 w 376"/>
                <a:gd name="T10" fmla="*/ 0 h 452"/>
                <a:gd name="T11" fmla="*/ 376 w 376"/>
                <a:gd name="T12" fmla="*/ 452 h 4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6" h="452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12" name="Oval 165">
              <a:extLst>
                <a:ext uri="{FF2B5EF4-FFF2-40B4-BE49-F238E27FC236}">
                  <a16:creationId xmlns:a16="http://schemas.microsoft.com/office/drawing/2014/main" id="{4981B55A-C72B-4F61-8B90-4BE18ECCE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7464" y="2352975"/>
              <a:ext cx="1153268" cy="1153994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B48327A7-0B37-489A-AAFB-B7FF153D8A1A}"/>
              </a:ext>
            </a:extLst>
          </p:cNvPr>
          <p:cNvGrpSpPr/>
          <p:nvPr/>
        </p:nvGrpSpPr>
        <p:grpSpPr>
          <a:xfrm>
            <a:off x="3272473" y="2525331"/>
            <a:ext cx="2133600" cy="443037"/>
            <a:chOff x="3272473" y="2472323"/>
            <a:chExt cx="2133600" cy="443037"/>
          </a:xfrm>
        </p:grpSpPr>
        <p:sp>
          <p:nvSpPr>
            <p:cNvPr id="11" name="Line 176">
              <a:extLst>
                <a:ext uri="{FF2B5EF4-FFF2-40B4-BE49-F238E27FC236}">
                  <a16:creationId xmlns:a16="http://schemas.microsoft.com/office/drawing/2014/main" id="{F75FB1A2-CEE5-4919-A7BE-A2A9E9820A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2473" y="2883535"/>
              <a:ext cx="213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2" name="Text Box 181">
              <a:extLst>
                <a:ext uri="{FF2B5EF4-FFF2-40B4-BE49-F238E27FC236}">
                  <a16:creationId xmlns:a16="http://schemas.microsoft.com/office/drawing/2014/main" id="{E55A8959-A8BC-4094-8539-227018A46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3483" y="2697872"/>
              <a:ext cx="261938" cy="217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L</a:t>
              </a:r>
              <a:endParaRPr lang="en-US" altLang="ko-KR" sz="120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13" name="Line 182">
              <a:extLst>
                <a:ext uri="{FF2B5EF4-FFF2-40B4-BE49-F238E27FC236}">
                  <a16:creationId xmlns:a16="http://schemas.microsoft.com/office/drawing/2014/main" id="{3B16D990-0036-4023-B3EA-3D86ACD02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796" y="2694623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5" name="Text Box 184">
              <a:extLst>
                <a:ext uri="{FF2B5EF4-FFF2-40B4-BE49-F238E27FC236}">
                  <a16:creationId xmlns:a16="http://schemas.microsoft.com/office/drawing/2014/main" id="{B09836B6-C245-48CE-8679-1DA6D1715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7136" y="2472323"/>
              <a:ext cx="123463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</a:t>
              </a:r>
              <a:r>
                <a:rPr lang="ko-KR" altLang="en-US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≥</a:t>
              </a: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ssthresh</a:t>
              </a: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553EE9BA-CCDD-4AE8-9464-61EF8ABC5A61}"/>
              </a:ext>
            </a:extLst>
          </p:cNvPr>
          <p:cNvGrpSpPr/>
          <p:nvPr/>
        </p:nvGrpSpPr>
        <p:grpSpPr>
          <a:xfrm>
            <a:off x="3829685" y="4935205"/>
            <a:ext cx="3523155" cy="1842577"/>
            <a:chOff x="3829685" y="4882197"/>
            <a:chExt cx="3523155" cy="1842577"/>
          </a:xfrm>
        </p:grpSpPr>
        <p:sp>
          <p:nvSpPr>
            <p:cNvPr id="39" name="Oval 168">
              <a:extLst>
                <a:ext uri="{FF2B5EF4-FFF2-40B4-BE49-F238E27FC236}">
                  <a16:creationId xmlns:a16="http://schemas.microsoft.com/office/drawing/2014/main" id="{C0EA1C50-C450-4D30-BBD0-B2C99591C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9685" y="4882197"/>
              <a:ext cx="1270000" cy="1270800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Text Box 169">
              <a:extLst>
                <a:ext uri="{FF2B5EF4-FFF2-40B4-BE49-F238E27FC236}">
                  <a16:creationId xmlns:a16="http://schemas.microsoft.com/office/drawing/2014/main" id="{C18BE632-8B24-486E-A856-F534C948F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6260" y="5147311"/>
              <a:ext cx="260350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8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80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1" name="Text Box 170">
              <a:extLst>
                <a:ext uri="{FF2B5EF4-FFF2-40B4-BE49-F238E27FC236}">
                  <a16:creationId xmlns:a16="http://schemas.microsoft.com/office/drawing/2014/main" id="{81C61987-35D9-4814-8535-FD966BE3C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381" y="5249832"/>
              <a:ext cx="1008609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fast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recovery </a:t>
              </a:r>
            </a:p>
          </p:txBody>
        </p:sp>
        <p:sp>
          <p:nvSpPr>
            <p:cNvPr id="34" name="Freeform 220">
              <a:extLst>
                <a:ext uri="{FF2B5EF4-FFF2-40B4-BE49-F238E27FC236}">
                  <a16:creationId xmlns:a16="http://schemas.microsoft.com/office/drawing/2014/main" id="{CCB1FFAB-E702-4693-A80E-F1D553A7F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923" y="6154256"/>
              <a:ext cx="609600" cy="255588"/>
            </a:xfrm>
            <a:custGeom>
              <a:avLst/>
              <a:gdLst>
                <a:gd name="T0" fmla="*/ 317 w 384"/>
                <a:gd name="T1" fmla="*/ 0 h 161"/>
                <a:gd name="T2" fmla="*/ 189 w 384"/>
                <a:gd name="T3" fmla="*/ 155 h 161"/>
                <a:gd name="T4" fmla="*/ 59 w 384"/>
                <a:gd name="T5" fmla="*/ 13 h 161"/>
                <a:gd name="T6" fmla="*/ 0 60000 65536"/>
                <a:gd name="T7" fmla="*/ 0 60000 65536"/>
                <a:gd name="T8" fmla="*/ 0 60000 65536"/>
                <a:gd name="T9" fmla="*/ 0 w 384"/>
                <a:gd name="T10" fmla="*/ 0 h 161"/>
                <a:gd name="T11" fmla="*/ 384 w 384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161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36" name="Text Box 222">
              <a:extLst>
                <a:ext uri="{FF2B5EF4-FFF2-40B4-BE49-F238E27FC236}">
                  <a16:creationId xmlns:a16="http://schemas.microsoft.com/office/drawing/2014/main" id="{4CBEC0F7-20DE-4B95-AD4C-346D89CCD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2674" y="6101398"/>
              <a:ext cx="2480166" cy="6233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cwnd + MSS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transmit new segment(s), as allowed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200" i="1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solidFill>
                  <a:schemeClr val="bg2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Line 223">
              <a:extLst>
                <a:ext uri="{FF2B5EF4-FFF2-40B4-BE49-F238E27FC236}">
                  <a16:creationId xmlns:a16="http://schemas.microsoft.com/office/drawing/2014/main" id="{2D79E4EE-407E-4B9F-90F9-42AA8B642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8399" y="6122036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38" name="Text Box 224">
              <a:extLst>
                <a:ext uri="{FF2B5EF4-FFF2-40B4-BE49-F238E27FC236}">
                  <a16:creationId xmlns:a16="http://schemas.microsoft.com/office/drawing/2014/main" id="{9B464B76-B0E9-4AE5-A8CD-4E4920E58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6324" y="5885498"/>
              <a:ext cx="1096963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duplicate ACK</a:t>
              </a:r>
            </a:p>
          </p:txBody>
        </p:sp>
        <p:sp>
          <p:nvSpPr>
            <p:cNvPr id="116" name="Oval 165">
              <a:extLst>
                <a:ext uri="{FF2B5EF4-FFF2-40B4-BE49-F238E27FC236}">
                  <a16:creationId xmlns:a16="http://schemas.microsoft.com/office/drawing/2014/main" id="{89A8398A-E67C-4C60-B456-817343E34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051" y="4940600"/>
              <a:ext cx="1153268" cy="1153994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0B017A1E-58B5-4C44-9193-E04115290CEF}"/>
              </a:ext>
            </a:extLst>
          </p:cNvPr>
          <p:cNvGrpSpPr/>
          <p:nvPr/>
        </p:nvGrpSpPr>
        <p:grpSpPr>
          <a:xfrm>
            <a:off x="548208" y="1526981"/>
            <a:ext cx="5182205" cy="2963704"/>
            <a:chOff x="548208" y="1473973"/>
            <a:chExt cx="5182205" cy="2963704"/>
          </a:xfrm>
        </p:grpSpPr>
        <p:sp>
          <p:nvSpPr>
            <p:cNvPr id="74" name="Line 234">
              <a:extLst>
                <a:ext uri="{FF2B5EF4-FFF2-40B4-BE49-F238E27FC236}">
                  <a16:creationId xmlns:a16="http://schemas.microsoft.com/office/drawing/2014/main" id="{78E0BDF9-351F-4DBB-AB79-FEE440DC6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1510" y="2800985"/>
              <a:ext cx="1193800" cy="15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5" name="Text Box 178">
              <a:extLst>
                <a:ext uri="{FF2B5EF4-FFF2-40B4-BE49-F238E27FC236}">
                  <a16:creationId xmlns:a16="http://schemas.microsoft.com/office/drawing/2014/main" id="{232F0104-DA79-4A08-B013-1FB6DF9420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898" y="3443411"/>
              <a:ext cx="66675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timeout</a:t>
              </a:r>
            </a:p>
          </p:txBody>
        </p:sp>
        <p:sp>
          <p:nvSpPr>
            <p:cNvPr id="86" name="Text Box 179">
              <a:extLst>
                <a:ext uri="{FF2B5EF4-FFF2-40B4-BE49-F238E27FC236}">
                  <a16:creationId xmlns:a16="http://schemas.microsoft.com/office/drawing/2014/main" id="{49DD6802-D2FC-455D-9A3F-BC4C14B81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208" y="3645024"/>
              <a:ext cx="1960793" cy="7926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 = cwnd/2 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1 MSS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retransmit missing segment</a:t>
              </a: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 </a:t>
              </a:r>
            </a:p>
          </p:txBody>
        </p:sp>
        <p:sp>
          <p:nvSpPr>
            <p:cNvPr id="87" name="Line 180">
              <a:extLst>
                <a:ext uri="{FF2B5EF4-FFF2-40B4-BE49-F238E27FC236}">
                  <a16:creationId xmlns:a16="http://schemas.microsoft.com/office/drawing/2014/main" id="{4BD448F2-798E-4DED-BCDD-08AA6D6E4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3948" y="3668836"/>
              <a:ext cx="849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2" name="Text Box 187">
              <a:extLst>
                <a:ext uri="{FF2B5EF4-FFF2-40B4-BE49-F238E27FC236}">
                  <a16:creationId xmlns:a16="http://schemas.microsoft.com/office/drawing/2014/main" id="{BE010F7D-F952-443E-9143-D85542F59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0247" y="1809973"/>
              <a:ext cx="2480166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cwnd+MSS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</a:p>
            <a:p>
              <a:pPr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i="1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000099"/>
                  </a:solidFill>
                  <a:latin typeface="+mn-ea"/>
                  <a:ea typeface="+mn-ea"/>
                </a:rPr>
                <a:t>transmit new segment(s), as allowed</a:t>
              </a:r>
            </a:p>
          </p:txBody>
        </p:sp>
        <p:sp>
          <p:nvSpPr>
            <p:cNvPr id="83" name="Line 188">
              <a:extLst>
                <a:ext uri="{FF2B5EF4-FFF2-40B4-BE49-F238E27FC236}">
                  <a16:creationId xmlns:a16="http://schemas.microsoft.com/office/drawing/2014/main" id="{CDD1F6C7-0D34-4766-B462-BD31D4BDC4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7085" y="1836960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4" name="Text Box 189">
              <a:extLst>
                <a:ext uri="{FF2B5EF4-FFF2-40B4-BE49-F238E27FC236}">
                  <a16:creationId xmlns:a16="http://schemas.microsoft.com/office/drawing/2014/main" id="{5E802E68-E4B6-4FED-8082-1616118118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2472" y="1621060"/>
              <a:ext cx="762000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new ACK</a:t>
              </a:r>
            </a:p>
          </p:txBody>
        </p:sp>
        <p:sp>
          <p:nvSpPr>
            <p:cNvPr id="70" name="Freeform 205">
              <a:extLst>
                <a:ext uri="{FF2B5EF4-FFF2-40B4-BE49-F238E27FC236}">
                  <a16:creationId xmlns:a16="http://schemas.microsoft.com/office/drawing/2014/main" id="{90C89BB6-16E6-43D3-9C17-3E1A3AF0D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198" y="1975485"/>
              <a:ext cx="496887" cy="319088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  <a:gd name="T9" fmla="*/ 0 w 313"/>
                <a:gd name="T10" fmla="*/ 0 h 201"/>
                <a:gd name="T11" fmla="*/ 313 w 313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71" name="Freeform 206">
              <a:extLst>
                <a:ext uri="{FF2B5EF4-FFF2-40B4-BE49-F238E27FC236}">
                  <a16:creationId xmlns:a16="http://schemas.microsoft.com/office/drawing/2014/main" id="{FCD4B51A-0167-4660-AE82-5C8EE29A9F90}"/>
                </a:ext>
              </a:extLst>
            </p:cNvPr>
            <p:cNvSpPr>
              <a:spLocks/>
            </p:cNvSpPr>
            <p:nvPr/>
          </p:nvSpPr>
          <p:spPr bwMode="auto">
            <a:xfrm rot="2575893">
              <a:off x="2896235" y="2272348"/>
              <a:ext cx="496887" cy="319088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  <a:gd name="T9" fmla="*/ 0 w 313"/>
                <a:gd name="T10" fmla="*/ 0 h 201"/>
                <a:gd name="T11" fmla="*/ 313 w 313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79" name="Text Box 208">
              <a:extLst>
                <a:ext uri="{FF2B5EF4-FFF2-40B4-BE49-F238E27FC236}">
                  <a16:creationId xmlns:a16="http://schemas.microsoft.com/office/drawing/2014/main" id="{130C8E3E-FEA5-452A-A220-BD8794D44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639" y="1720038"/>
              <a:ext cx="1210588" cy="21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dupACKcount++</a:t>
              </a:r>
            </a:p>
          </p:txBody>
        </p:sp>
        <p:sp>
          <p:nvSpPr>
            <p:cNvPr id="80" name="Line 209">
              <a:extLst>
                <a:ext uri="{FF2B5EF4-FFF2-40B4-BE49-F238E27FC236}">
                  <a16:creationId xmlns:a16="http://schemas.microsoft.com/office/drawing/2014/main" id="{4FCDC877-A4F5-4C71-AE61-C761BC67D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2927" y="1710511"/>
              <a:ext cx="849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81" name="Text Box 210">
              <a:extLst>
                <a:ext uri="{FF2B5EF4-FFF2-40B4-BE49-F238E27FC236}">
                  <a16:creationId xmlns:a16="http://schemas.microsoft.com/office/drawing/2014/main" id="{FBB68199-63E2-4261-BAE1-C20C03A5B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0852" y="1473973"/>
              <a:ext cx="1096962" cy="246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 dirty="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duplicate ACK</a:t>
              </a:r>
            </a:p>
          </p:txBody>
        </p:sp>
        <p:sp>
          <p:nvSpPr>
            <p:cNvPr id="73" name="Freeform 211">
              <a:extLst>
                <a:ext uri="{FF2B5EF4-FFF2-40B4-BE49-F238E27FC236}">
                  <a16:creationId xmlns:a16="http://schemas.microsoft.com/office/drawing/2014/main" id="{3E1F2C65-CABC-46B4-B82B-B3BBDF395510}"/>
                </a:ext>
              </a:extLst>
            </p:cNvPr>
            <p:cNvSpPr>
              <a:spLocks/>
            </p:cNvSpPr>
            <p:nvPr/>
          </p:nvSpPr>
          <p:spPr bwMode="auto">
            <a:xfrm rot="13377971">
              <a:off x="1711960" y="3204211"/>
              <a:ext cx="496887" cy="319088"/>
            </a:xfrm>
            <a:custGeom>
              <a:avLst/>
              <a:gdLst>
                <a:gd name="T0" fmla="*/ 25 w 313"/>
                <a:gd name="T1" fmla="*/ 169 h 201"/>
                <a:gd name="T2" fmla="*/ 153 w 313"/>
                <a:gd name="T3" fmla="*/ 7 h 201"/>
                <a:gd name="T4" fmla="*/ 258 w 313"/>
                <a:gd name="T5" fmla="*/ 201 h 201"/>
                <a:gd name="T6" fmla="*/ 0 60000 65536"/>
                <a:gd name="T7" fmla="*/ 0 60000 65536"/>
                <a:gd name="T8" fmla="*/ 0 60000 65536"/>
                <a:gd name="T9" fmla="*/ 0 w 313"/>
                <a:gd name="T10" fmla="*/ 0 h 201"/>
                <a:gd name="T11" fmla="*/ 313 w 313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3" h="201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76" name="Text Box 236">
              <a:extLst>
                <a:ext uri="{FF2B5EF4-FFF2-40B4-BE49-F238E27FC236}">
                  <a16:creationId xmlns:a16="http://schemas.microsoft.com/office/drawing/2014/main" id="{6E6A8F72-2571-49FA-81D1-86735A98B6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1086" y="1993791"/>
              <a:ext cx="271463" cy="244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L</a:t>
              </a:r>
            </a:p>
          </p:txBody>
        </p:sp>
        <p:sp>
          <p:nvSpPr>
            <p:cNvPr id="77" name="Text Box 237">
              <a:extLst>
                <a:ext uri="{FF2B5EF4-FFF2-40B4-BE49-F238E27FC236}">
                  <a16:creationId xmlns:a16="http://schemas.microsoft.com/office/drawing/2014/main" id="{C059812B-F3F3-4E42-BE35-CFC65AEF5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332" y="2195404"/>
              <a:ext cx="1314782" cy="591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cwnd = 1 MSS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ssthresh = 64 KB</a:t>
              </a:r>
            </a:p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0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dupACKcount = 0</a:t>
              </a:r>
              <a:endParaRPr lang="en-US" altLang="ko-KR" sz="1200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78" name="Line 238">
              <a:extLst>
                <a:ext uri="{FF2B5EF4-FFF2-40B4-BE49-F238E27FC236}">
                  <a16:creationId xmlns:a16="http://schemas.microsoft.com/office/drawing/2014/main" id="{8EF0156D-DA39-4AD1-9244-776231C1E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3273" y="2219216"/>
              <a:ext cx="8493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13" name="Oval 165">
              <a:extLst>
                <a:ext uri="{FF2B5EF4-FFF2-40B4-BE49-F238E27FC236}">
                  <a16:creationId xmlns:a16="http://schemas.microsoft.com/office/drawing/2014/main" id="{2F2C7D3C-B489-4214-9CCA-C4A4FBBFF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798" y="2294572"/>
              <a:ext cx="1270000" cy="1270800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114" name="Text Box 166">
              <a:extLst>
                <a:ext uri="{FF2B5EF4-FFF2-40B4-BE49-F238E27FC236}">
                  <a16:creationId xmlns:a16="http://schemas.microsoft.com/office/drawing/2014/main" id="{1095F2A5-2E25-4148-B191-3B954043C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847" y="2662207"/>
              <a:ext cx="631903" cy="535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slow 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  <a:cs typeface="+mj-cs"/>
                </a:rPr>
                <a:t>start</a:t>
              </a:r>
            </a:p>
          </p:txBody>
        </p:sp>
        <p:sp>
          <p:nvSpPr>
            <p:cNvPr id="115" name="Oval 165">
              <a:extLst>
                <a:ext uri="{FF2B5EF4-FFF2-40B4-BE49-F238E27FC236}">
                  <a16:creationId xmlns:a16="http://schemas.microsoft.com/office/drawing/2014/main" id="{183A2ECD-C5AD-445D-8A0B-7F39A40F0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4164" y="2352975"/>
              <a:ext cx="1153268" cy="1153994"/>
            </a:xfrm>
            <a:prstGeom prst="ellips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ko-KR" altLang="ko-KR">
                <a:ln>
                  <a:solidFill>
                    <a:schemeClr val="bg2">
                      <a:lumMod val="10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D3655D7E-BC15-46E6-82FB-E6D00D671380}"/>
              </a:ext>
            </a:extLst>
          </p:cNvPr>
          <p:cNvGrpSpPr/>
          <p:nvPr/>
        </p:nvGrpSpPr>
        <p:grpSpPr>
          <a:xfrm>
            <a:off x="623392" y="3055235"/>
            <a:ext cx="3065308" cy="935165"/>
            <a:chOff x="623392" y="3002227"/>
            <a:chExt cx="3065308" cy="935165"/>
          </a:xfrm>
        </p:grpSpPr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15C2080F-F0C4-4226-AA1C-300936602B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90464" y="3556262"/>
              <a:ext cx="228311" cy="381130"/>
            </a:xfrm>
            <a:prstGeom prst="rect">
              <a:avLst/>
            </a:prstGeom>
          </p:spPr>
        </p:pic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BA5428CE-4ABE-4F10-AFA5-4804AC370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3392" y="3484827"/>
              <a:ext cx="228311" cy="381130"/>
            </a:xfrm>
            <a:prstGeom prst="rect">
              <a:avLst/>
            </a:prstGeom>
          </p:spPr>
        </p:pic>
        <p:pic>
          <p:nvPicPr>
            <p:cNvPr id="135" name="그림 134">
              <a:extLst>
                <a:ext uri="{FF2B5EF4-FFF2-40B4-BE49-F238E27FC236}">
                  <a16:creationId xmlns:a16="http://schemas.microsoft.com/office/drawing/2014/main" id="{ECDAAE2E-D351-4CC0-A221-9FB138A59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0389" y="3002227"/>
              <a:ext cx="228311" cy="381130"/>
            </a:xfrm>
            <a:prstGeom prst="rect">
              <a:avLst/>
            </a:prstGeom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B6BA1E35-C952-4B0B-8AB3-0473F379EECE}"/>
              </a:ext>
            </a:extLst>
          </p:cNvPr>
          <p:cNvGrpSpPr/>
          <p:nvPr/>
        </p:nvGrpSpPr>
        <p:grpSpPr>
          <a:xfrm>
            <a:off x="3198325" y="941643"/>
            <a:ext cx="4871040" cy="3519694"/>
            <a:chOff x="3198325" y="888635"/>
            <a:chExt cx="4871040" cy="3519694"/>
          </a:xfrm>
        </p:grpSpPr>
        <p:sp>
          <p:nvSpPr>
            <p:cNvPr id="111" name="별: 꼭짓점 16개 110">
              <a:extLst>
                <a:ext uri="{FF2B5EF4-FFF2-40B4-BE49-F238E27FC236}">
                  <a16:creationId xmlns:a16="http://schemas.microsoft.com/office/drawing/2014/main" id="{BE2CD3FC-F649-4893-95DD-EFB61A3770A1}"/>
                </a:ext>
              </a:extLst>
            </p:cNvPr>
            <p:cNvSpPr/>
            <p:nvPr/>
          </p:nvSpPr>
          <p:spPr>
            <a:xfrm>
              <a:off x="5192777" y="3751104"/>
              <a:ext cx="921892" cy="657225"/>
            </a:xfrm>
            <a:prstGeom prst="star16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07" name="Text Box 286">
              <a:extLst>
                <a:ext uri="{FF2B5EF4-FFF2-40B4-BE49-F238E27FC236}">
                  <a16:creationId xmlns:a16="http://schemas.microsoft.com/office/drawing/2014/main" id="{B625A2E6-0423-4513-BFF5-CB68AC738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0985" y="3824600"/>
              <a:ext cx="630238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New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ACK!</a:t>
              </a:r>
            </a:p>
          </p:txBody>
        </p:sp>
        <p:sp>
          <p:nvSpPr>
            <p:cNvPr id="117" name="별: 꼭짓점 16개 116">
              <a:extLst>
                <a:ext uri="{FF2B5EF4-FFF2-40B4-BE49-F238E27FC236}">
                  <a16:creationId xmlns:a16="http://schemas.microsoft.com/office/drawing/2014/main" id="{B28B4A75-3D62-4FAD-BF0E-393D3E369A2B}"/>
                </a:ext>
              </a:extLst>
            </p:cNvPr>
            <p:cNvSpPr/>
            <p:nvPr/>
          </p:nvSpPr>
          <p:spPr>
            <a:xfrm>
              <a:off x="7147473" y="888635"/>
              <a:ext cx="921892" cy="657225"/>
            </a:xfrm>
            <a:prstGeom prst="star16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18" name="Text Box 286">
              <a:extLst>
                <a:ext uri="{FF2B5EF4-FFF2-40B4-BE49-F238E27FC236}">
                  <a16:creationId xmlns:a16="http://schemas.microsoft.com/office/drawing/2014/main" id="{E423E81D-FD27-4607-8173-88E9BD20E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5681" y="962131"/>
              <a:ext cx="630238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New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ACK!</a:t>
              </a:r>
            </a:p>
          </p:txBody>
        </p:sp>
        <p:sp>
          <p:nvSpPr>
            <p:cNvPr id="137" name="별: 꼭짓점 16개 136">
              <a:extLst>
                <a:ext uri="{FF2B5EF4-FFF2-40B4-BE49-F238E27FC236}">
                  <a16:creationId xmlns:a16="http://schemas.microsoft.com/office/drawing/2014/main" id="{2FD4DB21-7CD5-4A24-B850-2580E3FB16B6}"/>
                </a:ext>
              </a:extLst>
            </p:cNvPr>
            <p:cNvSpPr/>
            <p:nvPr/>
          </p:nvSpPr>
          <p:spPr>
            <a:xfrm>
              <a:off x="3198325" y="941645"/>
              <a:ext cx="921892" cy="657225"/>
            </a:xfrm>
            <a:prstGeom prst="star16">
              <a:avLst/>
            </a:prstGeom>
            <a:solidFill>
              <a:srgbClr val="FFE6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583"/>
              <a:endParaRPr lang="ko-KR" altLang="en-US">
                <a:solidFill>
                  <a:prstClr val="white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endParaRPr>
            </a:p>
          </p:txBody>
        </p:sp>
        <p:sp>
          <p:nvSpPr>
            <p:cNvPr id="138" name="Text Box 286">
              <a:extLst>
                <a:ext uri="{FF2B5EF4-FFF2-40B4-BE49-F238E27FC236}">
                  <a16:creationId xmlns:a16="http://schemas.microsoft.com/office/drawing/2014/main" id="{5D55BC91-F14F-495A-BC79-295A601E6A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6533" y="1015141"/>
              <a:ext cx="630238" cy="498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32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New</a:t>
              </a:r>
            </a:p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200">
                  <a:ln>
                    <a:solidFill>
                      <a:schemeClr val="bg2">
                        <a:lumMod val="10000"/>
                        <a:alpha val="0"/>
                      </a:schemeClr>
                    </a:solidFill>
                  </a:ln>
                  <a:solidFill>
                    <a:srgbClr val="105BA0"/>
                  </a:solidFill>
                  <a:latin typeface="+mj-ea"/>
                  <a:ea typeface="+mj-ea"/>
                  <a:cs typeface="+mj-cs"/>
                </a:rPr>
                <a:t>ACK!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90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DF085C2-012F-423F-802D-D27323697A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Chapter </a:t>
            </a:r>
            <a:r>
              <a:rPr lang="en-US" altLang="ko-KR">
                <a:cs typeface="+mj-cs"/>
              </a:rPr>
              <a:t>3</a:t>
            </a:r>
            <a:r>
              <a:rPr lang="en-US" altLang="ko-KR"/>
              <a:t>. </a:t>
            </a:r>
            <a:r>
              <a:rPr lang="ko-KR" altLang="en-US">
                <a:solidFill>
                  <a:schemeClr val="bg1"/>
                </a:solidFill>
              </a:rPr>
              <a:t>트랜스포트 계층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EF7B29-0442-4B24-AD86-58E5C7CD1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9D73E-270F-475A-B1DB-D9B489A24756}" type="slidenum">
              <a:rPr lang="en-US" altLang="ko-KR" smtClean="0"/>
              <a:pPr/>
              <a:t>35</a:t>
            </a:fld>
            <a:endParaRPr lang="en-US" dirty="0"/>
          </a:p>
        </p:txBody>
      </p:sp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C388AD9A-91AA-4CD2-9605-7AAF5EFE56A7}"/>
              </a:ext>
            </a:extLst>
          </p:cNvPr>
          <p:cNvSpPr/>
          <p:nvPr/>
        </p:nvSpPr>
        <p:spPr>
          <a:xfrm>
            <a:off x="923792" y="1095685"/>
            <a:ext cx="1732640" cy="391715"/>
          </a:xfrm>
          <a:prstGeom prst="snip1Rect">
            <a:avLst>
              <a:gd name="adj" fmla="val 22553"/>
            </a:avLst>
          </a:prstGeom>
          <a:solidFill>
            <a:srgbClr val="EFF5FB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endParaRPr lang="ko-KR" altLang="en-US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bg2">
                  <a:lumMod val="1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  <a:sym typeface="Arial"/>
            </a:endParaRPr>
          </a:p>
        </p:txBody>
      </p:sp>
      <p:sp>
        <p:nvSpPr>
          <p:cNvPr id="7" name="텍스트 개체 틀 19">
            <a:extLst>
              <a:ext uri="{FF2B5EF4-FFF2-40B4-BE49-F238E27FC236}">
                <a16:creationId xmlns:a16="http://schemas.microsoft.com/office/drawing/2014/main" id="{D4365447-B494-4F8E-8B2F-5A2968CA97AE}"/>
              </a:ext>
            </a:extLst>
          </p:cNvPr>
          <p:cNvSpPr txBox="1">
            <a:spLocks/>
          </p:cNvSpPr>
          <p:nvPr/>
        </p:nvSpPr>
        <p:spPr>
          <a:xfrm>
            <a:off x="1333506" y="1133106"/>
            <a:ext cx="1390643" cy="301621"/>
          </a:xfrm>
          <a:prstGeom prst="rect">
            <a:avLst/>
          </a:prstGeom>
          <a:effectLst/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0" indent="0" algn="l" defTabSz="914400" rtl="0" eaLnBrk="1" fontAlgn="base" latinLnBrk="1" hangingPunct="1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000" kern="1200" spc="-80" dirty="0">
                <a:ln>
                  <a:solidFill>
                    <a:srgbClr val="ED1B3A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고도 M" panose="02000503000000020004" pitchFamily="2" charset="-127"/>
                <a:ea typeface="고도 M" panose="02000503000000020004" pitchFamily="2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>
              <a:lnSpc>
                <a:spcPct val="130000"/>
              </a:lnSpc>
              <a:spcBef>
                <a:spcPts val="1200"/>
              </a:spcBef>
              <a:defRPr/>
            </a:pPr>
            <a:r>
              <a:rPr lang="en-US" altLang="ko-KR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+mj-cs"/>
              </a:rPr>
              <a:t>summary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35DEFED-60A2-4654-ABDA-B6CD29F92B82}"/>
              </a:ext>
            </a:extLst>
          </p:cNvPr>
          <p:cNvSpPr/>
          <p:nvPr/>
        </p:nvSpPr>
        <p:spPr>
          <a:xfrm>
            <a:off x="789517" y="1513632"/>
            <a:ext cx="314384" cy="84421"/>
          </a:xfrm>
          <a:prstGeom prst="ellipse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넥슨Lv1고딕" panose="00000500000000000000" pitchFamily="2" charset="-127"/>
              <a:ea typeface="넥슨Lv1고딕" panose="00000500000000000000" pitchFamily="2" charset="-127"/>
            </a:endParaRPr>
          </a:p>
        </p:txBody>
      </p:sp>
      <p:sp>
        <p:nvSpPr>
          <p:cNvPr id="2" name="그래픽 8">
            <a:extLst>
              <a:ext uri="{FF2B5EF4-FFF2-40B4-BE49-F238E27FC236}">
                <a16:creationId xmlns:a16="http://schemas.microsoft.com/office/drawing/2014/main" id="{CDC123E3-F965-4CE5-BEFE-6B2D29C2D585}"/>
              </a:ext>
            </a:extLst>
          </p:cNvPr>
          <p:cNvSpPr/>
          <p:nvPr/>
        </p:nvSpPr>
        <p:spPr>
          <a:xfrm rot="5400000">
            <a:off x="668924" y="1035420"/>
            <a:ext cx="563257" cy="499079"/>
          </a:xfrm>
          <a:custGeom>
            <a:avLst/>
            <a:gdLst>
              <a:gd name="connsiteX0" fmla="*/ 399978 w 563257"/>
              <a:gd name="connsiteY0" fmla="*/ 29 h 499079"/>
              <a:gd name="connsiteX1" fmla="*/ 163102 w 563257"/>
              <a:gd name="connsiteY1" fmla="*/ 29 h 499079"/>
              <a:gd name="connsiteX2" fmla="*/ 124367 w 563257"/>
              <a:gd name="connsiteY2" fmla="*/ 22376 h 499079"/>
              <a:gd name="connsiteX3" fmla="*/ 5929 w 563257"/>
              <a:gd name="connsiteY3" fmla="*/ 227222 h 499079"/>
              <a:gd name="connsiteX4" fmla="*/ 5929 w 563257"/>
              <a:gd name="connsiteY4" fmla="*/ 271916 h 499079"/>
              <a:gd name="connsiteX5" fmla="*/ 124367 w 563257"/>
              <a:gd name="connsiteY5" fmla="*/ 476762 h 499079"/>
              <a:gd name="connsiteX6" fmla="*/ 163102 w 563257"/>
              <a:gd name="connsiteY6" fmla="*/ 499109 h 499079"/>
              <a:gd name="connsiteX7" fmla="*/ 399978 w 563257"/>
              <a:gd name="connsiteY7" fmla="*/ 499109 h 499079"/>
              <a:gd name="connsiteX8" fmla="*/ 438712 w 563257"/>
              <a:gd name="connsiteY8" fmla="*/ 476762 h 499079"/>
              <a:gd name="connsiteX9" fmla="*/ 557150 w 563257"/>
              <a:gd name="connsiteY9" fmla="*/ 271916 h 499079"/>
              <a:gd name="connsiteX10" fmla="*/ 557150 w 563257"/>
              <a:gd name="connsiteY10" fmla="*/ 227222 h 499079"/>
              <a:gd name="connsiteX11" fmla="*/ 438712 w 563257"/>
              <a:gd name="connsiteY11" fmla="*/ 22376 h 499079"/>
              <a:gd name="connsiteX12" fmla="*/ 399978 w 563257"/>
              <a:gd name="connsiteY12" fmla="*/ 29 h 49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3257" h="499079">
                <a:moveTo>
                  <a:pt x="399978" y="29"/>
                </a:moveTo>
                <a:lnTo>
                  <a:pt x="163102" y="29"/>
                </a:lnTo>
                <a:cubicBezTo>
                  <a:pt x="147135" y="57"/>
                  <a:pt x="132384" y="8568"/>
                  <a:pt x="124367" y="22376"/>
                </a:cubicBezTo>
                <a:lnTo>
                  <a:pt x="5929" y="227222"/>
                </a:lnTo>
                <a:cubicBezTo>
                  <a:pt x="-2093" y="241040"/>
                  <a:pt x="-2093" y="258098"/>
                  <a:pt x="5929" y="271916"/>
                </a:cubicBezTo>
                <a:lnTo>
                  <a:pt x="124367" y="476762"/>
                </a:lnTo>
                <a:cubicBezTo>
                  <a:pt x="132384" y="490571"/>
                  <a:pt x="147135" y="499081"/>
                  <a:pt x="163102" y="499109"/>
                </a:cubicBezTo>
                <a:lnTo>
                  <a:pt x="399978" y="499109"/>
                </a:lnTo>
                <a:cubicBezTo>
                  <a:pt x="415937" y="499081"/>
                  <a:pt x="430704" y="490571"/>
                  <a:pt x="438712" y="476762"/>
                </a:cubicBezTo>
                <a:lnTo>
                  <a:pt x="557150" y="271916"/>
                </a:lnTo>
                <a:cubicBezTo>
                  <a:pt x="565176" y="258098"/>
                  <a:pt x="565176" y="241040"/>
                  <a:pt x="557150" y="227222"/>
                </a:cubicBezTo>
                <a:lnTo>
                  <a:pt x="438712" y="22376"/>
                </a:lnTo>
                <a:cubicBezTo>
                  <a:pt x="430704" y="8568"/>
                  <a:pt x="415937" y="57"/>
                  <a:pt x="399978" y="2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310AA7-6B2E-4E45-B67C-6FB0B0439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64" y="1097942"/>
            <a:ext cx="275112" cy="364836"/>
          </a:xfrm>
          <a:prstGeom prst="rect">
            <a:avLst/>
          </a:prstGeom>
        </p:spPr>
      </p:pic>
      <p:sp>
        <p:nvSpPr>
          <p:cNvPr id="29" name="Rectangle 3">
            <a:extLst>
              <a:ext uri="{FF2B5EF4-FFF2-40B4-BE49-F238E27FC236}">
                <a16:creationId xmlns:a16="http://schemas.microsoft.com/office/drawing/2014/main" id="{619500C7-BF24-4481-975D-C9D4225F8768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162880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트랜스포트 계층 서비스 이면의 원리를 이해한다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3A42987B-4B44-4ABA-9708-B92900BFFA5C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2036475"/>
            <a:ext cx="6774102" cy="13394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다중화와 </a:t>
            </a:r>
            <a:r>
              <a:rPr lang="ko-KR" altLang="en-US" sz="1400" dirty="0" err="1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역다중화</a:t>
            </a:r>
            <a:endParaRPr lang="ko-KR" altLang="en-US" sz="1400" dirty="0">
              <a:ln>
                <a:solidFill>
                  <a:srgbClr val="2D5897">
                    <a:alpha val="0"/>
                  </a:srgbClr>
                </a:solidFill>
              </a:ln>
              <a:latin typeface="넥슨Lv1고딕" panose="00000500000000000000" pitchFamily="2" charset="-127"/>
              <a:ea typeface="넥슨Lv1고딕" panose="00000500000000000000" pitchFamily="2" charset="-127"/>
            </a:endParaRP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신뢰성 있는 데이터 전송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흐름 제어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혼잡 제어</a:t>
            </a: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161B171A-849F-4AE6-A26F-FC62474F991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3573016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인터넷 트랜스포트 계층의 프로토콜에 대해 공부한다</a:t>
            </a:r>
            <a:endParaRPr lang="en-US" altLang="ko-KR" sz="1600">
              <a:ln>
                <a:solidFill>
                  <a:srgbClr val="AF3C5E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넥슨Lv1고딕 Bold" panose="00000800000000000000" pitchFamily="2" charset="-127"/>
              <a:ea typeface="넥슨Lv1고딕 Bold" panose="00000800000000000000" pitchFamily="2" charset="-127"/>
              <a:cs typeface="+mj-cs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AFBA38DD-AD5D-443D-9D38-1E1B0061D8D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3980691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UDP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비연결형 트랜스포트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en-US" altLang="ko-KR" sz="14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rgbClr val="105BA0"/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TCP</a:t>
            </a:r>
            <a:r>
              <a:rPr lang="en-US" altLang="ko-KR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 : </a:t>
            </a:r>
            <a:r>
              <a:rPr lang="ko-KR" altLang="en-US" sz="1400" dirty="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연결 지향형 트랜스포트</a:t>
            </a: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DE8E4277-9E77-4F07-9D9A-75A2C3E09BDA}"/>
              </a:ext>
            </a:extLst>
          </p:cNvPr>
          <p:cNvSpPr txBox="1">
            <a:spLocks noChangeArrowheads="1"/>
          </p:cNvSpPr>
          <p:nvPr/>
        </p:nvSpPr>
        <p:spPr>
          <a:xfrm>
            <a:off x="673655" y="4869160"/>
            <a:ext cx="7582933" cy="520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6000" lvl="2" indent="-216000" latinLnBrk="0">
              <a:lnSpc>
                <a:spcPct val="130000"/>
              </a:lnSpc>
              <a:spcBef>
                <a:spcPts val="1200"/>
              </a:spcBef>
              <a:buBlip>
                <a:blip r:embed="rId3"/>
              </a:buBlip>
            </a:pPr>
            <a:r>
              <a:rPr lang="ko-KR" altLang="en-US" sz="1600" dirty="0">
                <a:ln>
                  <a:solidFill>
                    <a:srgbClr val="AF3C5E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넥슨Lv1고딕 Bold" panose="00000800000000000000" pitchFamily="2" charset="-127"/>
                <a:ea typeface="넥슨Lv1고딕 Bold" panose="00000800000000000000" pitchFamily="2" charset="-127"/>
                <a:cs typeface="+mj-cs"/>
              </a:rPr>
              <a:t>다음 장에서는</a:t>
            </a: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E8A911FE-3087-4774-AE0E-C44BBB963A1A}"/>
              </a:ext>
            </a:extLst>
          </p:cNvPr>
          <p:cNvSpPr txBox="1">
            <a:spLocks noChangeArrowheads="1"/>
          </p:cNvSpPr>
          <p:nvPr/>
        </p:nvSpPr>
        <p:spPr>
          <a:xfrm>
            <a:off x="979248" y="5303532"/>
            <a:ext cx="6774102" cy="66851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Edge (Applicaion, Transport)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를 떠나서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,</a:t>
            </a:r>
          </a:p>
          <a:p>
            <a:pPr marL="144000" lvl="3" indent="-144000">
              <a:lnSpc>
                <a:spcPct val="120000"/>
              </a:lnSpc>
              <a:spcBef>
                <a:spcPts val="600"/>
              </a:spcBef>
              <a:buClr>
                <a:srgbClr val="0B4CA2"/>
              </a:buClr>
              <a:buSzPct val="80000"/>
            </a:pP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네트워크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Core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에 관한 공부 </a:t>
            </a:r>
            <a:r>
              <a:rPr lang="ko-KR" altLang="en-US" sz="1400">
                <a:ln>
                  <a:solidFill>
                    <a:srgbClr val="2D5897">
                      <a:alpha val="0"/>
                    </a:srgbClr>
                  </a:solidFill>
                </a:ln>
                <a:latin typeface="Arial" panose="020B0604020202020204" pitchFamily="34" charset="0"/>
                <a:ea typeface="넥슨Lv1고딕" panose="00000500000000000000" pitchFamily="2" charset="-127"/>
                <a:cs typeface="Arial" panose="020B0604020202020204" pitchFamily="34" charset="0"/>
              </a:rPr>
              <a:t>→ </a:t>
            </a:r>
            <a:r>
              <a:rPr lang="en-US" altLang="ko-KR" sz="1400">
                <a:ln>
                  <a:solidFill>
                    <a:srgbClr val="2D5897">
                      <a:alpha val="0"/>
                    </a:srgbClr>
                  </a:solidFill>
                </a:ln>
                <a:latin typeface="넥슨Lv1고딕" panose="00000500000000000000" pitchFamily="2" charset="-127"/>
                <a:ea typeface="넥슨Lv1고딕" panose="00000500000000000000" pitchFamily="2" charset="-127"/>
              </a:rPr>
              <a:t>Network Layer</a:t>
            </a:r>
          </a:p>
        </p:txBody>
      </p:sp>
    </p:spTree>
    <p:extLst>
      <p:ext uri="{BB962C8B-B14F-4D97-AF65-F5344CB8AC3E}">
        <p14:creationId xmlns:p14="http://schemas.microsoft.com/office/powerpoint/2010/main" val="455693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1">
      <a:majorFont>
        <a:latin typeface="G마켓 산스 TTF Bold"/>
        <a:ea typeface="G마켓 산스 TTF Bold"/>
        <a:cs typeface=""/>
      </a:majorFont>
      <a:minorFont>
        <a:latin typeface="G마켓 산스 TTF Medium"/>
        <a:ea typeface="넥슨Lv1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 defTabSz="914583">
          <a:defRPr>
            <a:solidFill>
              <a:prstClr val="white"/>
            </a:solidFill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spAutoFit/>
      </a:bodyPr>
      <a:lstStyle>
        <a:defPPr marL="180000" indent="-180000" algn="l">
          <a:lnSpc>
            <a:spcPct val="120000"/>
          </a:lnSpc>
          <a:spcBef>
            <a:spcPts val="600"/>
          </a:spcBef>
          <a:buClr>
            <a:srgbClr val="0B4CA2"/>
          </a:buClr>
          <a:buSzPct val="80000"/>
          <a:defRPr sz="1600">
            <a:ln>
              <a:solidFill>
                <a:srgbClr val="2D5897">
                  <a:alpha val="0"/>
                </a:srgbClr>
              </a:solidFill>
            </a:ln>
            <a:latin typeface="넥슨Lv1고딕" panose="00000500000000000000" pitchFamily="2" charset="-127"/>
            <a:ea typeface="넥슨Lv1고딕" panose="00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3249</TotalTime>
  <Words>2618</Words>
  <Application>Microsoft Office PowerPoint</Application>
  <PresentationFormat>와이드스크린</PresentationFormat>
  <Paragraphs>647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2" baseType="lpstr">
      <vt:lpstr>Wingdings</vt:lpstr>
      <vt:lpstr>G마켓 산스 TTF Bold</vt:lpstr>
      <vt:lpstr>G마켓 산스 TTF Medium</vt:lpstr>
      <vt:lpstr>Arial</vt:lpstr>
      <vt:lpstr>넥슨Lv1고딕</vt:lpstr>
      <vt:lpstr>넥슨Lv1고딕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오브릭스</cp:lastModifiedBy>
  <cp:revision>51</cp:revision>
  <dcterms:created xsi:type="dcterms:W3CDTF">2021-12-17T00:49:19Z</dcterms:created>
  <dcterms:modified xsi:type="dcterms:W3CDTF">2022-02-15T09:12:43Z</dcterms:modified>
</cp:coreProperties>
</file>