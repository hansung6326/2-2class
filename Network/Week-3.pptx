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0"/>
  </p:notesMasterIdLst>
  <p:sldIdLst>
    <p:sldId id="256" r:id="rId2"/>
    <p:sldId id="273" r:id="rId3"/>
    <p:sldId id="389" r:id="rId4"/>
    <p:sldId id="257" r:id="rId5"/>
    <p:sldId id="327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91" r:id="rId19"/>
    <p:sldId id="390" r:id="rId20"/>
    <p:sldId id="364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9" r:id="rId35"/>
    <p:sldId id="380" r:id="rId36"/>
    <p:sldId id="381" r:id="rId37"/>
    <p:sldId id="382" r:id="rId38"/>
    <p:sldId id="383" r:id="rId39"/>
    <p:sldId id="384" r:id="rId40"/>
    <p:sldId id="385" r:id="rId41"/>
    <p:sldId id="386" r:id="rId42"/>
    <p:sldId id="387" r:id="rId43"/>
    <p:sldId id="388" r:id="rId44"/>
    <p:sldId id="392" r:id="rId45"/>
    <p:sldId id="393" r:id="rId46"/>
    <p:sldId id="395" r:id="rId47"/>
    <p:sldId id="394" r:id="rId48"/>
    <p:sldId id="396" r:id="rId49"/>
  </p:sldIdLst>
  <p:sldSz cx="12192000" cy="6858000"/>
  <p:notesSz cx="6858000" cy="9144000"/>
  <p:embeddedFontLst>
    <p:embeddedFont>
      <p:font typeface="ＭＳ Ｐゴシック" panose="020B0600070205080204" pitchFamily="34" charset="-128"/>
      <p:regular r:id="rId51"/>
    </p:embeddedFont>
    <p:embeddedFont>
      <p:font typeface="넥슨Lv1고딕" panose="020B0600000101010101" charset="-127"/>
      <p:regular r:id="rId52"/>
    </p:embeddedFont>
    <p:embeddedFont>
      <p:font typeface="넥슨Lv1고딕 Bold" panose="020B0600000101010101" charset="-127"/>
      <p:bold r:id="rId5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160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5BA0"/>
    <a:srgbClr val="E1ECF7"/>
    <a:srgbClr val="C6DBF0"/>
    <a:srgbClr val="F27037"/>
    <a:srgbClr val="F8F9F9"/>
    <a:srgbClr val="F2FBFB"/>
    <a:srgbClr val="098983"/>
    <a:srgbClr val="EFF5FB"/>
    <a:srgbClr val="83C4C1"/>
    <a:srgbClr val="D0F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9" autoAdjust="0"/>
    <p:restoredTop sz="93277" autoAdjust="0"/>
  </p:normalViewPr>
  <p:slideViewPr>
    <p:cSldViewPr snapToGrid="0">
      <p:cViewPr varScale="1">
        <p:scale>
          <a:sx n="103" d="100"/>
          <a:sy n="103" d="100"/>
        </p:scale>
        <p:origin x="408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E140C150-30F4-4EB8-A68E-9542B6266399}" type="datetimeFigureOut">
              <a:rPr lang="ko-KR" altLang="en-US" smtClean="0"/>
              <a:pPr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83CE925C-F659-44E3-9F87-D3B4F55FEB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92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169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087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853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057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684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336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415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753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825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618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84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305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080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367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5670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0631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3523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8458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5961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2687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7950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876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1687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762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7439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7243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8344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3488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7141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9982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웹 캐시 </a:t>
            </a:r>
            <a:r>
              <a:rPr lang="en-US" altLang="ko-KR" dirty="0"/>
              <a:t>: </a:t>
            </a:r>
            <a:r>
              <a:rPr lang="ko-KR" altLang="en-US" dirty="0"/>
              <a:t>웹 </a:t>
            </a:r>
            <a:r>
              <a:rPr lang="ko-KR" altLang="en-US" dirty="0" err="1"/>
              <a:t>데이터중에서</a:t>
            </a:r>
            <a:r>
              <a:rPr lang="ko-KR" altLang="en-US" dirty="0"/>
              <a:t> 자주 사용하는 것을 캐시에 미리 가져다 놓은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399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6170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접속 링크 사용률이 </a:t>
            </a:r>
            <a:r>
              <a:rPr lang="en-US" altLang="ko-KR" dirty="0"/>
              <a:t>100%</a:t>
            </a:r>
            <a:r>
              <a:rPr lang="ko-KR" altLang="en-US" dirty="0"/>
              <a:t>가 되어 딜레이가 많이 늘어남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3770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1413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9060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9324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867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8E58B23-F003-438F-9390-0AE2D7CD0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텍스트 개체 틀 19">
            <a:extLst>
              <a:ext uri="{FF2B5EF4-FFF2-40B4-BE49-F238E27FC236}">
                <a16:creationId xmlns:a16="http://schemas.microsoft.com/office/drawing/2014/main" id="{86EBB590-FEE8-401E-8EA0-BCE5353BDCD0}"/>
              </a:ext>
            </a:extLst>
          </p:cNvPr>
          <p:cNvSpPr txBox="1">
            <a:spLocks/>
          </p:cNvSpPr>
          <p:nvPr/>
        </p:nvSpPr>
        <p:spPr>
          <a:xfrm>
            <a:off x="846203" y="2397206"/>
            <a:ext cx="5249797" cy="1144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6CC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데이터</a:t>
            </a: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통신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EC8F8-3EF6-4B10-A06F-EC62C7E0CD3E}"/>
              </a:ext>
            </a:extLst>
          </p:cNvPr>
          <p:cNvSpPr txBox="1"/>
          <p:nvPr/>
        </p:nvSpPr>
        <p:spPr>
          <a:xfrm>
            <a:off x="846203" y="5458844"/>
            <a:ext cx="3851275" cy="39395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atinLnBrk="1">
              <a:lnSpc>
                <a:spcPct val="130000"/>
              </a:lnSpc>
              <a:spcBef>
                <a:spcPts val="600"/>
              </a:spcBef>
              <a:defRPr/>
            </a:pP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한성대학교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황 호 영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교수 </a:t>
            </a:r>
          </a:p>
        </p:txBody>
      </p:sp>
      <p:pic>
        <p:nvPicPr>
          <p:cNvPr id="12" name="그림 11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84D97AAB-4486-4F3F-86BE-841ABC35D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202" y="770137"/>
            <a:ext cx="1068323" cy="422954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B09D02F-4765-492A-A03F-2CC73DC21629}"/>
              </a:ext>
            </a:extLst>
          </p:cNvPr>
          <p:cNvSpPr/>
          <p:nvPr/>
        </p:nvSpPr>
        <p:spPr>
          <a:xfrm>
            <a:off x="561974" y="2337557"/>
            <a:ext cx="354331" cy="354331"/>
          </a:xfrm>
          <a:custGeom>
            <a:avLst/>
            <a:gdLst>
              <a:gd name="connsiteX0" fmla="*/ 0 w 646331"/>
              <a:gd name="connsiteY0" fmla="*/ 0 h 646331"/>
              <a:gd name="connsiteX1" fmla="*/ 646331 w 646331"/>
              <a:gd name="connsiteY1" fmla="*/ 0 h 646331"/>
              <a:gd name="connsiteX2" fmla="*/ 646331 w 646331"/>
              <a:gd name="connsiteY2" fmla="*/ 278601 h 646331"/>
              <a:gd name="connsiteX3" fmla="*/ 323165 w 646331"/>
              <a:gd name="connsiteY3" fmla="*/ 278601 h 646331"/>
              <a:gd name="connsiteX4" fmla="*/ 323165 w 646331"/>
              <a:gd name="connsiteY4" fmla="*/ 646331 h 646331"/>
              <a:gd name="connsiteX5" fmla="*/ 0 w 646331"/>
              <a:gd name="connsiteY5" fmla="*/ 64633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6" fmla="*/ 414605 w 646331"/>
              <a:gd name="connsiteY6" fmla="*/ 37004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0" fmla="*/ 323165 w 646331"/>
              <a:gd name="connsiteY0" fmla="*/ 646331 h 646331"/>
              <a:gd name="connsiteX1" fmla="*/ 0 w 646331"/>
              <a:gd name="connsiteY1" fmla="*/ 646331 h 646331"/>
              <a:gd name="connsiteX2" fmla="*/ 0 w 646331"/>
              <a:gd name="connsiteY2" fmla="*/ 0 h 646331"/>
              <a:gd name="connsiteX3" fmla="*/ 646331 w 646331"/>
              <a:gd name="connsiteY3" fmla="*/ 0 h 646331"/>
              <a:gd name="connsiteX4" fmla="*/ 646331 w 646331"/>
              <a:gd name="connsiteY4" fmla="*/ 278601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6331" h="646331">
                <a:moveTo>
                  <a:pt x="323165" y="646331"/>
                </a:moveTo>
                <a:lnTo>
                  <a:pt x="0" y="646331"/>
                </a:lnTo>
                <a:lnTo>
                  <a:pt x="0" y="0"/>
                </a:lnTo>
                <a:lnTo>
                  <a:pt x="646331" y="0"/>
                </a:lnTo>
                <a:lnTo>
                  <a:pt x="646331" y="278601"/>
                </a:lnTo>
              </a:path>
            </a:pathLst>
          </a:custGeom>
          <a:noFill/>
          <a:ln w="28575"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latinLnBrk="0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406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8E84835-0DF2-4DD9-A283-A656C61EAB8C}"/>
              </a:ext>
            </a:extLst>
          </p:cNvPr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4EBD87E-3A54-41C8-9F34-AED9EBD1CB9B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B23F09C4-A7CA-4012-8905-5AEF03E222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7625" b="570"/>
              <a:stretch/>
            </p:blipFill>
            <p:spPr>
              <a:xfrm>
                <a:off x="0" y="0"/>
                <a:ext cx="12192000" cy="2867025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6BDC9A2E-AA5F-4680-A3C9-D6DD489125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472" b="8334"/>
              <a:stretch/>
            </p:blipFill>
            <p:spPr>
              <a:xfrm>
                <a:off x="0" y="2867025"/>
                <a:ext cx="12192000" cy="3990975"/>
              </a:xfrm>
              <a:prstGeom prst="rect">
                <a:avLst/>
              </a:prstGeom>
            </p:spPr>
          </p:pic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DF38D8D-6B96-4687-9813-B6F30BDFF1A1}"/>
                </a:ext>
              </a:extLst>
            </p:cNvPr>
            <p:cNvSpPr/>
            <p:nvPr/>
          </p:nvSpPr>
          <p:spPr>
            <a:xfrm flipH="1">
              <a:off x="0" y="0"/>
              <a:ext cx="12189534" cy="685800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95000"/>
                    <a:lumOff val="5000"/>
                    <a:alpha val="65000"/>
                  </a:schemeClr>
                </a:gs>
                <a:gs pos="100000">
                  <a:srgbClr val="09C9A9">
                    <a:alpha val="86000"/>
                  </a:srgbClr>
                </a:gs>
                <a:gs pos="76000">
                  <a:srgbClr val="00AFEF">
                    <a:alpha val="80000"/>
                  </a:srgbClr>
                </a:gs>
                <a:gs pos="42000">
                  <a:srgbClr val="0058A2">
                    <a:alpha val="51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endParaRPr>
            </a:p>
          </p:txBody>
        </p:sp>
      </p:grp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5F0A33CB-60D6-4F92-BEB3-7CA6E3DF02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</a:t>
            </a:r>
            <a:r>
              <a:rPr lang="ko-KR" altLang="en-US"/>
              <a:t>편집하려면 클릭</a:t>
            </a:r>
            <a:endParaRPr lang="ko-KR" altLang="en-US" dirty="0"/>
          </a:p>
        </p:txBody>
      </p:sp>
      <p:pic>
        <p:nvPicPr>
          <p:cNvPr id="18" name="그림 17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104391FA-D3E0-4D50-B6D1-6871FE0B13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492" y="357964"/>
            <a:ext cx="904917" cy="358261"/>
          </a:xfrm>
          <a:prstGeom prst="rect">
            <a:avLst/>
          </a:prstGeom>
        </p:spPr>
      </p:pic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95E1FDB4-6084-4885-9561-CE889B62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6FD91E-E9A9-4A78-A932-60E362AB8C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6"/>
            <a:ext cx="11510246" cy="57551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85C5A2-7A6C-4CF9-84BE-B4405701FA31}"/>
              </a:ext>
            </a:extLst>
          </p:cNvPr>
          <p:cNvSpPr txBox="1"/>
          <p:nvPr userDrawn="1"/>
        </p:nvSpPr>
        <p:spPr>
          <a:xfrm>
            <a:off x="696915" y="6166170"/>
            <a:ext cx="6113504" cy="323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*출처 </a:t>
            </a: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 『Computer Networking : A Top Down  Approach Eighth Edition』 </a:t>
            </a:r>
          </a:p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32321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59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그룹 69">
            <a:extLst>
              <a:ext uri="{FF2B5EF4-FFF2-40B4-BE49-F238E27FC236}">
                <a16:creationId xmlns:a16="http://schemas.microsoft.com/office/drawing/2014/main" id="{D418C24D-CC88-4BC0-957E-0F8F8C78A2A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B3B77CFE-DABC-4859-BAEC-3077D0B8EB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625" b="570"/>
            <a:stretch/>
          </p:blipFill>
          <p:spPr>
            <a:xfrm>
              <a:off x="0" y="0"/>
              <a:ext cx="12192000" cy="2867025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E42761C8-18CA-4130-B2F4-62F40C4D2D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472" b="8334"/>
            <a:stretch/>
          </p:blipFill>
          <p:spPr>
            <a:xfrm>
              <a:off x="0" y="2867025"/>
              <a:ext cx="12192000" cy="3990975"/>
            </a:xfrm>
            <a:prstGeom prst="rect">
              <a:avLst/>
            </a:prstGeom>
          </p:spPr>
        </p:pic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526B65B-B533-49E0-844F-3A380A12D9EA}"/>
              </a:ext>
            </a:extLst>
          </p:cNvPr>
          <p:cNvSpPr/>
          <p:nvPr/>
        </p:nvSpPr>
        <p:spPr>
          <a:xfrm flipH="1">
            <a:off x="0" y="0"/>
            <a:ext cx="12189534" cy="685800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65000"/>
                </a:schemeClr>
              </a:gs>
              <a:gs pos="100000">
                <a:srgbClr val="09C9A9">
                  <a:alpha val="86000"/>
                </a:srgbClr>
              </a:gs>
              <a:gs pos="76000">
                <a:srgbClr val="00AFEF">
                  <a:alpha val="80000"/>
                </a:srgbClr>
              </a:gs>
              <a:gs pos="42000">
                <a:srgbClr val="0058A2">
                  <a:alpha val="51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 Bold" panose="00000800000000000000" pitchFamily="2" charset="-127"/>
              <a:ea typeface="넥슨Lv1고딕 Bold" panose="00000800000000000000" pitchFamily="2" charset="-127"/>
              <a:cs typeface="+mn-cs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D982A44-53CC-437A-B1F2-363FE9109416}"/>
              </a:ext>
            </a:extLst>
          </p:cNvPr>
          <p:cNvGrpSpPr/>
          <p:nvPr/>
        </p:nvGrpSpPr>
        <p:grpSpPr>
          <a:xfrm>
            <a:off x="7029061" y="187414"/>
            <a:ext cx="5194689" cy="656355"/>
            <a:chOff x="7199219" y="187414"/>
            <a:chExt cx="5046121" cy="656355"/>
          </a:xfrm>
        </p:grpSpPr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2154770F-0A7B-41FD-A565-0836865DDE4E}"/>
                </a:ext>
              </a:extLst>
            </p:cNvPr>
            <p:cNvSpPr/>
            <p:nvPr/>
          </p:nvSpPr>
          <p:spPr>
            <a:xfrm>
              <a:off x="7540777" y="187414"/>
              <a:ext cx="4704563" cy="436126"/>
            </a:xfrm>
            <a:custGeom>
              <a:avLst/>
              <a:gdLst>
                <a:gd name="connsiteX0" fmla="*/ 265745 w 4547246"/>
                <a:gd name="connsiteY0" fmla="*/ 0 h 419100"/>
                <a:gd name="connsiteX1" fmla="*/ 995371 w 4547246"/>
                <a:gd name="connsiteY1" fmla="*/ 0 h 419100"/>
                <a:gd name="connsiteX2" fmla="*/ 1436134 w 4547246"/>
                <a:gd name="connsiteY2" fmla="*/ 0 h 419100"/>
                <a:gd name="connsiteX3" fmla="*/ 2165760 w 4547246"/>
                <a:gd name="connsiteY3" fmla="*/ 0 h 419100"/>
                <a:gd name="connsiteX4" fmla="*/ 2379395 w 4547246"/>
                <a:gd name="connsiteY4" fmla="*/ 0 h 419100"/>
                <a:gd name="connsiteX5" fmla="*/ 3109021 w 4547246"/>
                <a:gd name="connsiteY5" fmla="*/ 0 h 419100"/>
                <a:gd name="connsiteX6" fmla="*/ 3817620 w 4547246"/>
                <a:gd name="connsiteY6" fmla="*/ 0 h 419100"/>
                <a:gd name="connsiteX7" fmla="*/ 4547246 w 4547246"/>
                <a:gd name="connsiteY7" fmla="*/ 0 h 419100"/>
                <a:gd name="connsiteX8" fmla="*/ 4547246 w 4547246"/>
                <a:gd name="connsiteY8" fmla="*/ 419100 h 419100"/>
                <a:gd name="connsiteX9" fmla="*/ 3817620 w 4547246"/>
                <a:gd name="connsiteY9" fmla="*/ 419100 h 419100"/>
                <a:gd name="connsiteX10" fmla="*/ 2165760 w 4547246"/>
                <a:gd name="connsiteY10" fmla="*/ 419100 h 419100"/>
                <a:gd name="connsiteX11" fmla="*/ 1436134 w 4547246"/>
                <a:gd name="connsiteY11" fmla="*/ 419100 h 419100"/>
                <a:gd name="connsiteX12" fmla="*/ 1436134 w 4547246"/>
                <a:gd name="connsiteY12" fmla="*/ 417862 h 419100"/>
                <a:gd name="connsiteX13" fmla="*/ 729626 w 4547246"/>
                <a:gd name="connsiteY13" fmla="*/ 417862 h 419100"/>
                <a:gd name="connsiteX14" fmla="*/ 0 w 4547246"/>
                <a:gd name="connsiteY14" fmla="*/ 417862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547246" h="419100">
                  <a:moveTo>
                    <a:pt x="265745" y="0"/>
                  </a:moveTo>
                  <a:lnTo>
                    <a:pt x="995371" y="0"/>
                  </a:lnTo>
                  <a:lnTo>
                    <a:pt x="1436134" y="0"/>
                  </a:lnTo>
                  <a:lnTo>
                    <a:pt x="2165760" y="0"/>
                  </a:lnTo>
                  <a:lnTo>
                    <a:pt x="2379395" y="0"/>
                  </a:lnTo>
                  <a:lnTo>
                    <a:pt x="3109021" y="0"/>
                  </a:lnTo>
                  <a:lnTo>
                    <a:pt x="3817620" y="0"/>
                  </a:lnTo>
                  <a:lnTo>
                    <a:pt x="4547246" y="0"/>
                  </a:lnTo>
                  <a:lnTo>
                    <a:pt x="4547246" y="419100"/>
                  </a:lnTo>
                  <a:lnTo>
                    <a:pt x="3817620" y="419100"/>
                  </a:lnTo>
                  <a:lnTo>
                    <a:pt x="2165760" y="419100"/>
                  </a:lnTo>
                  <a:lnTo>
                    <a:pt x="1436134" y="419100"/>
                  </a:lnTo>
                  <a:lnTo>
                    <a:pt x="1436134" y="417862"/>
                  </a:lnTo>
                  <a:lnTo>
                    <a:pt x="729626" y="417862"/>
                  </a:lnTo>
                  <a:lnTo>
                    <a:pt x="0" y="417862"/>
                  </a:lnTo>
                  <a:close/>
                </a:path>
              </a:pathLst>
            </a:custGeom>
            <a:gradFill>
              <a:gsLst>
                <a:gs pos="0">
                  <a:srgbClr val="CAD3DC"/>
                </a:gs>
                <a:gs pos="68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AE9A2CA9-A205-4255-9267-D4309E033CC6}"/>
                </a:ext>
              </a:extLst>
            </p:cNvPr>
            <p:cNvSpPr/>
            <p:nvPr/>
          </p:nvSpPr>
          <p:spPr>
            <a:xfrm>
              <a:off x="7199219" y="267834"/>
              <a:ext cx="5046120" cy="575935"/>
            </a:xfrm>
            <a:custGeom>
              <a:avLst/>
              <a:gdLst>
                <a:gd name="connsiteX0" fmla="*/ 336567 w 5046120"/>
                <a:gd name="connsiteY0" fmla="*/ 0 h 575935"/>
                <a:gd name="connsiteX1" fmla="*/ 1216719 w 5046120"/>
                <a:gd name="connsiteY1" fmla="*/ 0 h 575935"/>
                <a:gd name="connsiteX2" fmla="*/ 1818865 w 5046120"/>
                <a:gd name="connsiteY2" fmla="*/ 0 h 575935"/>
                <a:gd name="connsiteX3" fmla="*/ 2699017 w 5046120"/>
                <a:gd name="connsiteY3" fmla="*/ 0 h 575935"/>
                <a:gd name="connsiteX4" fmla="*/ 3013506 w 5046120"/>
                <a:gd name="connsiteY4" fmla="*/ 0 h 575935"/>
                <a:gd name="connsiteX5" fmla="*/ 3893658 w 5046120"/>
                <a:gd name="connsiteY5" fmla="*/ 0 h 575935"/>
                <a:gd name="connsiteX6" fmla="*/ 4835020 w 5046120"/>
                <a:gd name="connsiteY6" fmla="*/ 0 h 575935"/>
                <a:gd name="connsiteX7" fmla="*/ 5046120 w 5046120"/>
                <a:gd name="connsiteY7" fmla="*/ 0 h 575935"/>
                <a:gd name="connsiteX8" fmla="*/ 5046120 w 5046120"/>
                <a:gd name="connsiteY8" fmla="*/ 575935 h 575935"/>
                <a:gd name="connsiteX9" fmla="*/ 4835020 w 5046120"/>
                <a:gd name="connsiteY9" fmla="*/ 575935 h 575935"/>
                <a:gd name="connsiteX10" fmla="*/ 2699017 w 5046120"/>
                <a:gd name="connsiteY10" fmla="*/ 575935 h 575935"/>
                <a:gd name="connsiteX11" fmla="*/ 1818865 w 5046120"/>
                <a:gd name="connsiteY11" fmla="*/ 575935 h 575935"/>
                <a:gd name="connsiteX12" fmla="*/ 1818865 w 5046120"/>
                <a:gd name="connsiteY12" fmla="*/ 574234 h 575935"/>
                <a:gd name="connsiteX13" fmla="*/ 880153 w 5046120"/>
                <a:gd name="connsiteY13" fmla="*/ 574234 h 575935"/>
                <a:gd name="connsiteX14" fmla="*/ 0 w 5046120"/>
                <a:gd name="connsiteY14" fmla="*/ 574234 h 575935"/>
                <a:gd name="connsiteX15" fmla="*/ 336567 w 5046120"/>
                <a:gd name="connsiteY15" fmla="*/ 0 h 5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46120" h="575935">
                  <a:moveTo>
                    <a:pt x="336567" y="0"/>
                  </a:moveTo>
                  <a:lnTo>
                    <a:pt x="1216719" y="0"/>
                  </a:lnTo>
                  <a:lnTo>
                    <a:pt x="1818865" y="0"/>
                  </a:lnTo>
                  <a:lnTo>
                    <a:pt x="2699017" y="0"/>
                  </a:lnTo>
                  <a:lnTo>
                    <a:pt x="3013506" y="0"/>
                  </a:lnTo>
                  <a:lnTo>
                    <a:pt x="3893658" y="0"/>
                  </a:lnTo>
                  <a:lnTo>
                    <a:pt x="4835020" y="0"/>
                  </a:lnTo>
                  <a:lnTo>
                    <a:pt x="5046120" y="0"/>
                  </a:lnTo>
                  <a:lnTo>
                    <a:pt x="5046120" y="575935"/>
                  </a:lnTo>
                  <a:lnTo>
                    <a:pt x="4835020" y="575935"/>
                  </a:lnTo>
                  <a:lnTo>
                    <a:pt x="2699017" y="575935"/>
                  </a:lnTo>
                  <a:lnTo>
                    <a:pt x="1818865" y="575935"/>
                  </a:lnTo>
                  <a:lnTo>
                    <a:pt x="1818865" y="574234"/>
                  </a:lnTo>
                  <a:lnTo>
                    <a:pt x="880153" y="574234"/>
                  </a:lnTo>
                  <a:lnTo>
                    <a:pt x="0" y="574234"/>
                  </a:lnTo>
                  <a:lnTo>
                    <a:pt x="336567" y="0"/>
                  </a:lnTo>
                  <a:close/>
                </a:path>
              </a:pathLst>
            </a:custGeom>
            <a:gradFill>
              <a:gsLst>
                <a:gs pos="32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pic>
        <p:nvPicPr>
          <p:cNvPr id="75" name="그림 74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FCA79763-5F57-4F6F-B6F4-E6BC8E9AF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660" y="392547"/>
            <a:ext cx="904918" cy="35826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419D1B3F-476C-4A72-B5FB-4FB156D7CB7A}"/>
              </a:ext>
            </a:extLst>
          </p:cNvPr>
          <p:cNvSpPr txBox="1"/>
          <p:nvPr/>
        </p:nvSpPr>
        <p:spPr>
          <a:xfrm>
            <a:off x="7449340" y="426823"/>
            <a:ext cx="3170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Chapter 2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 계층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57300C3-1155-49E7-9A80-E2A1FD129979}"/>
              </a:ext>
            </a:extLst>
          </p:cNvPr>
          <p:cNvCxnSpPr/>
          <p:nvPr/>
        </p:nvCxnSpPr>
        <p:spPr>
          <a:xfrm>
            <a:off x="10693542" y="440813"/>
            <a:ext cx="0" cy="27979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텍스트 개체 틀 25">
            <a:extLst>
              <a:ext uri="{FF2B5EF4-FFF2-40B4-BE49-F238E27FC236}">
                <a16:creationId xmlns:a16="http://schemas.microsoft.com/office/drawing/2014/main" id="{185B5DF7-1CC0-4AEC-B4B5-50A9AFD05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0" dirty="0" smtClean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D9EB6305-F0F6-4138-906E-FA19AC5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BAA3B7-9251-44F2-B84D-DBA0CFF48C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5"/>
            <a:ext cx="11882134" cy="60355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C68A77F-21F6-4E77-9B9C-1D18D227F767}"/>
              </a:ext>
            </a:extLst>
          </p:cNvPr>
          <p:cNvSpPr txBox="1"/>
          <p:nvPr userDrawn="1"/>
        </p:nvSpPr>
        <p:spPr>
          <a:xfrm>
            <a:off x="658813" y="6413303"/>
            <a:ext cx="6113504" cy="3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*출처 </a:t>
            </a: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:  『Computer Networking : A Top Down  Approach Eighth Edition』 </a:t>
            </a:r>
          </a:p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5617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61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56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36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5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5" Type="http://schemas.openxmlformats.org/officeDocument/2006/relationships/image" Target="../media/image26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5" Type="http://schemas.openxmlformats.org/officeDocument/2006/relationships/image" Target="../media/image26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8.png"/><Relationship Id="rId4" Type="http://schemas.microsoft.com/office/2007/relationships/hdphoto" Target="../media/hdphoto2.wd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8.png"/><Relationship Id="rId4" Type="http://schemas.microsoft.com/office/2007/relationships/hdphoto" Target="../media/hdphoto2.wdp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8.png"/><Relationship Id="rId4" Type="http://schemas.microsoft.com/office/2007/relationships/hdphoto" Target="../media/hdphoto2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8.png"/><Relationship Id="rId4" Type="http://schemas.microsoft.com/office/2007/relationships/hdphoto" Target="../media/hdphoto2.wd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047945F8-6079-4A77-8827-8D891FF7F40B}"/>
              </a:ext>
            </a:extLst>
          </p:cNvPr>
          <p:cNvGrpSpPr/>
          <p:nvPr userDrawn="1"/>
        </p:nvGrpSpPr>
        <p:grpSpPr>
          <a:xfrm>
            <a:off x="818582" y="3564481"/>
            <a:ext cx="1327718" cy="351599"/>
            <a:chOff x="880493" y="3554956"/>
            <a:chExt cx="1630298" cy="351599"/>
          </a:xfrm>
        </p:grpSpPr>
        <p:sp>
          <p:nvSpPr>
            <p:cNvPr id="15" name="사각형: 잘린 대각선 방향 모서리 14">
              <a:extLst>
                <a:ext uri="{FF2B5EF4-FFF2-40B4-BE49-F238E27FC236}">
                  <a16:creationId xmlns:a16="http://schemas.microsoft.com/office/drawing/2014/main" id="{5DC8F214-0E99-4614-BFA2-E88E4BD9962A}"/>
                </a:ext>
              </a:extLst>
            </p:cNvPr>
            <p:cNvSpPr/>
            <p:nvPr/>
          </p:nvSpPr>
          <p:spPr bwMode="auto">
            <a:xfrm>
              <a:off x="880493" y="3554956"/>
              <a:ext cx="1630298" cy="351599"/>
            </a:xfrm>
            <a:prstGeom prst="snip2DiagRect">
              <a:avLst>
                <a:gd name="adj1" fmla="val 0"/>
                <a:gd name="adj2" fmla="val 23443"/>
              </a:avLst>
            </a:prstGeom>
            <a:solidFill>
              <a:srgbClr val="47FFD1">
                <a:alpha val="90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넥슨Lv1고딕 Bold" panose="00000800000000000000" pitchFamily="2" charset="-127"/>
                <a:ea typeface="굴림" pitchFamily="50" charset="-127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AC3E2ECC-989E-4137-85AD-EDA2E7C21B7D}"/>
                </a:ext>
              </a:extLst>
            </p:cNvPr>
            <p:cNvSpPr txBox="1">
              <a:spLocks/>
            </p:cNvSpPr>
            <p:nvPr/>
          </p:nvSpPr>
          <p:spPr>
            <a:xfrm>
              <a:off x="983123" y="3609623"/>
              <a:ext cx="1425038" cy="253916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>
                <a:lnSpc>
                  <a:spcPct val="110000"/>
                </a:lnSpc>
                <a:spcBef>
                  <a:spcPts val="600"/>
                </a:spcBef>
              </a:pPr>
              <a:r>
                <a:rPr lang="en-US" altLang="ko-KR" sz="15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81846"/>
                  </a:solidFill>
                  <a:effectLst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Microsoft GothicNeo" panose="020B0503020000020004" pitchFamily="34" charset="-127"/>
                </a:rPr>
                <a:t>Chapter 2</a:t>
              </a:r>
              <a:endParaRPr lang="ko-KR" altLang="en-US" sz="15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81846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0DB3BC5-EF37-4421-A7D9-CA29AAD5DC6B}"/>
              </a:ext>
            </a:extLst>
          </p:cNvPr>
          <p:cNvSpPr txBox="1"/>
          <p:nvPr/>
        </p:nvSpPr>
        <p:spPr>
          <a:xfrm>
            <a:off x="2189092" y="3483502"/>
            <a:ext cx="4391731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ko-KR" altLang="en-US" sz="2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애플리케이션 계층</a:t>
            </a:r>
            <a:endParaRPr lang="en-US" altLang="ko-KR" sz="22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47FFD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83625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B39ABA6-A20C-459C-8A96-A6AB51FBD2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r>
              <a:rPr lang="en-US" altLang="en-US" sz="1800" b="1" dirty="0">
                <a:solidFill>
                  <a:srgbClr val="00B0F0"/>
                </a:solidFill>
                <a:latin typeface="+mj-lt"/>
              </a:rPr>
              <a:t>Chapter 2  Application Layer</a:t>
            </a:r>
          </a:p>
          <a:p>
            <a:endParaRPr lang="ko-KR" altLang="en-US" dirty="0"/>
          </a:p>
        </p:txBody>
      </p:sp>
      <p:sp>
        <p:nvSpPr>
          <p:cNvPr id="51" name="Text Box 6">
            <a:extLst>
              <a:ext uri="{FF2B5EF4-FFF2-40B4-BE49-F238E27FC236}">
                <a16:creationId xmlns:a16="http://schemas.microsoft.com/office/drawing/2014/main" id="{E673632B-4D7C-4C62-88E3-96251C0B1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1037991"/>
            <a:ext cx="5378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4579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 note on the use of these </a:t>
            </a:r>
            <a:r>
              <a:rPr lang="en-US" altLang="ko-KR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4579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Powerpoint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4579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slides</a:t>
            </a:r>
          </a:p>
        </p:txBody>
      </p:sp>
      <p:sp>
        <p:nvSpPr>
          <p:cNvPr id="52" name="Text Box 7">
            <a:extLst>
              <a:ext uri="{FF2B5EF4-FFF2-40B4-BE49-F238E27FC236}">
                <a16:creationId xmlns:a16="http://schemas.microsoft.com/office/drawing/2014/main" id="{0FAFB9CF-D695-484E-9829-67CFF9C51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68" y="2762425"/>
            <a:ext cx="3533511" cy="1705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If you use these slides (e.g., in a class) that you mention their source (after all, we’d like people to use our book!)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If you post any slides on a www site, that you note that they are adapted from (or perhaps identical to) our slides, and note our copyright of this material.</a:t>
            </a:r>
          </a:p>
        </p:txBody>
      </p:sp>
      <p:sp>
        <p:nvSpPr>
          <p:cNvPr id="53" name="Text Box 6">
            <a:extLst>
              <a:ext uri="{FF2B5EF4-FFF2-40B4-BE49-F238E27FC236}">
                <a16:creationId xmlns:a16="http://schemas.microsoft.com/office/drawing/2014/main" id="{35CA874C-8DA5-4CE5-B63D-12B407B1F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1483831"/>
            <a:ext cx="7434262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We’re making these slides freely available to all (faculty, students, readers). </a:t>
            </a:r>
            <a:b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</a:b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They’re in PowerPoint form so you see the animations; and can add, modify, and delete slides  (including this one) and slide content to suit your needs. They obviously represent a lot of work on our part. In return for use, we only ask the following:</a:t>
            </a:r>
          </a:p>
        </p:txBody>
      </p:sp>
      <p:sp>
        <p:nvSpPr>
          <p:cNvPr id="54" name="Text Box 7">
            <a:extLst>
              <a:ext uri="{FF2B5EF4-FFF2-40B4-BE49-F238E27FC236}">
                <a16:creationId xmlns:a16="http://schemas.microsoft.com/office/drawing/2014/main" id="{F963933E-20EA-4687-9354-CE391FB95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4893230"/>
            <a:ext cx="4541837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9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Thanks and enjoy!  JFK/KWR</a:t>
            </a:r>
          </a:p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endParaRPr lang="en-US" altLang="ko-KR" sz="9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  <a:cs typeface="+mj-cs"/>
            </a:endParaRPr>
          </a:p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9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 © All material copyright 1996-2016</a:t>
            </a:r>
          </a:p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9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J.F Kurose and K.W. Ross, All Rights Reserved</a:t>
            </a:r>
          </a:p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9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Korean translation by K. Park (2018.9.3)</a:t>
            </a:r>
          </a:p>
        </p:txBody>
      </p:sp>
      <p:pic>
        <p:nvPicPr>
          <p:cNvPr id="19" name="그림 18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6F069480-D57E-428F-AE8E-3B10DAEDE6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492" y="357964"/>
            <a:ext cx="904917" cy="358261"/>
          </a:xfrm>
          <a:prstGeom prst="rect">
            <a:avLst/>
          </a:prstGeom>
        </p:spPr>
      </p:pic>
      <p:sp>
        <p:nvSpPr>
          <p:cNvPr id="13" name="슬라이드 번호 개체 틀 2">
            <a:extLst>
              <a:ext uri="{FF2B5EF4-FFF2-40B4-BE49-F238E27FC236}">
                <a16:creationId xmlns:a16="http://schemas.microsoft.com/office/drawing/2014/main" id="{ECB7C0A2-EB30-4846-AB4B-949F96DB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</p:spPr>
        <p:txBody>
          <a:bodyPr/>
          <a:lstStyle/>
          <a:p>
            <a:fld id="{F1F9D73E-270F-475A-B1DB-D9B489A24756}" type="slidenum">
              <a:rPr lang="en-US" altLang="ko-KR" smtClean="0"/>
              <a:pPr/>
              <a:t>2</a:t>
            </a:fld>
            <a:endParaRPr lang="en-US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CFEB3E60-DD42-4A04-97FB-833C1264B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639" y="2539068"/>
            <a:ext cx="3013884" cy="3735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304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7F6B13A-E939-4337-A845-33A1EB706C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Chapter 2. </a:t>
            </a:r>
            <a:r>
              <a:rPr lang="ko-KR" altLang="en-US" dirty="0">
                <a:solidFill>
                  <a:schemeClr val="bg1"/>
                </a:solidFill>
              </a:rPr>
              <a:t>애플리케이션 계층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E2FACEF-5939-4AD2-89FC-14A18300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8C9E11-9547-4D20-824E-2351DB6D1C10}"/>
              </a:ext>
            </a:extLst>
          </p:cNvPr>
          <p:cNvSpPr txBox="1"/>
          <p:nvPr/>
        </p:nvSpPr>
        <p:spPr>
          <a:xfrm>
            <a:off x="1419224" y="1825636"/>
            <a:ext cx="6929719" cy="36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네트워크 애플리케이션의 원리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웹과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HTTP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전자메일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DNS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P2P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파일 분배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비디오 스트리밍과 콘텐츠 분배 네트워크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(CDN)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소켓 프로그래밍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(UDP,TCP)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E72E2-77C6-4972-98CA-EEB2C7E4DFB2}"/>
              </a:ext>
            </a:extLst>
          </p:cNvPr>
          <p:cNvSpPr txBox="1"/>
          <p:nvPr/>
        </p:nvSpPr>
        <p:spPr>
          <a:xfrm>
            <a:off x="860603" y="1825636"/>
            <a:ext cx="582259" cy="364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2.1.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2.2.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2.3.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2.4.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2.5.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2.6.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2.7.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710F9F0-0F20-4F2F-AB5C-B360A5427667}"/>
              </a:ext>
            </a:extLst>
          </p:cNvPr>
          <p:cNvGrpSpPr/>
          <p:nvPr/>
        </p:nvGrpSpPr>
        <p:grpSpPr>
          <a:xfrm>
            <a:off x="1518597" y="3195573"/>
            <a:ext cx="5314727" cy="401841"/>
            <a:chOff x="1518597" y="2670279"/>
            <a:chExt cx="5314727" cy="401841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832FE0FB-A1FA-42CB-B656-4D5FB047277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2670279"/>
              <a:ext cx="5152947" cy="401841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SMTP, POP3, IMAP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B7F53B2-D15B-45C1-8C35-D6A078CD7848}"/>
                </a:ext>
              </a:extLst>
            </p:cNvPr>
            <p:cNvGrpSpPr/>
            <p:nvPr/>
          </p:nvGrpSpPr>
          <p:grpSpPr>
            <a:xfrm>
              <a:off x="1518597" y="2811457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047FE7BA-1863-4D0A-A8A4-3339F63CEE1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FC97AB7F-BBC6-4006-A50D-82A82FC69FFA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94D5442B-6FD3-41D4-A42D-DF6FB05BA276}"/>
              </a:ext>
            </a:extLst>
          </p:cNvPr>
          <p:cNvSpPr/>
          <p:nvPr/>
        </p:nvSpPr>
        <p:spPr>
          <a:xfrm>
            <a:off x="923792" y="1143310"/>
            <a:ext cx="1566489" cy="391715"/>
          </a:xfrm>
          <a:prstGeom prst="snip1Rect">
            <a:avLst>
              <a:gd name="adj" fmla="val 37888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E7DDC2F-3186-42B9-854A-0627DEFF0163}"/>
              </a:ext>
            </a:extLst>
          </p:cNvPr>
          <p:cNvSpPr/>
          <p:nvPr/>
        </p:nvSpPr>
        <p:spPr>
          <a:xfrm>
            <a:off x="789517" y="1561257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30" name="그래픽 29">
            <a:extLst>
              <a:ext uri="{FF2B5EF4-FFF2-40B4-BE49-F238E27FC236}">
                <a16:creationId xmlns:a16="http://schemas.microsoft.com/office/drawing/2014/main" id="{70876D59-86B8-4800-BFA9-83FE7BE686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668982" y="1083045"/>
            <a:ext cx="558670" cy="50280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ED08C44-6920-4F6A-B56B-FC768135D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4" y="1145567"/>
            <a:ext cx="275112" cy="364836"/>
          </a:xfrm>
          <a:prstGeom prst="rect">
            <a:avLst/>
          </a:prstGeom>
        </p:spPr>
      </p:pic>
      <p:sp>
        <p:nvSpPr>
          <p:cNvPr id="16" name="텍스트 개체 틀 19">
            <a:extLst>
              <a:ext uri="{FF2B5EF4-FFF2-40B4-BE49-F238E27FC236}">
                <a16:creationId xmlns:a16="http://schemas.microsoft.com/office/drawing/2014/main" id="{554F3CB7-1253-4AFB-94AF-7FA578619207}"/>
              </a:ext>
            </a:extLst>
          </p:cNvPr>
          <p:cNvSpPr txBox="1">
            <a:spLocks/>
          </p:cNvSpPr>
          <p:nvPr/>
        </p:nvSpPr>
        <p:spPr>
          <a:xfrm>
            <a:off x="1274783" y="1180731"/>
            <a:ext cx="139064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Roadmap </a:t>
            </a:r>
          </a:p>
        </p:txBody>
      </p:sp>
    </p:spTree>
    <p:extLst>
      <p:ext uri="{BB962C8B-B14F-4D97-AF65-F5344CB8AC3E}">
        <p14:creationId xmlns:p14="http://schemas.microsoft.com/office/powerpoint/2010/main" val="2787305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99CFC2-FFAE-4177-975F-3154CDD341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2. </a:t>
            </a:r>
            <a:r>
              <a:rPr lang="ko-KR" altLang="en-US">
                <a:solidFill>
                  <a:schemeClr val="bg1"/>
                </a:solidFill>
              </a:rPr>
              <a:t>애플리케이션 계층</a:t>
            </a:r>
            <a:r>
              <a:rPr lang="en-US" altLang="ko-KR">
                <a:solidFill>
                  <a:schemeClr val="bg1"/>
                </a:solidFill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EFFB52-081A-4A46-8454-3BCA9902C5EA}"/>
              </a:ext>
            </a:extLst>
          </p:cNvPr>
          <p:cNvSpPr txBox="1"/>
          <p:nvPr/>
        </p:nvSpPr>
        <p:spPr>
          <a:xfrm>
            <a:off x="1229835" y="5451256"/>
            <a:ext cx="5770332" cy="367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>
              <a:lnSpc>
                <a:spcPct val="120000"/>
              </a:lnSpc>
              <a:spcBef>
                <a:spcPts val="600"/>
              </a:spcBef>
              <a:buClr>
                <a:srgbClr val="0B9D96"/>
              </a:buClr>
              <a:buSzPct val="80000"/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응용 프로그램 작성</a:t>
            </a:r>
            <a:endParaRPr lang="en-US" altLang="ko-KR" sz="16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FCF285D-2C87-4142-9EBB-CD27B400B8E1}"/>
              </a:ext>
            </a:extLst>
          </p:cNvPr>
          <p:cNvGrpSpPr/>
          <p:nvPr/>
        </p:nvGrpSpPr>
        <p:grpSpPr>
          <a:xfrm>
            <a:off x="1009720" y="5559545"/>
            <a:ext cx="171105" cy="171646"/>
            <a:chOff x="1029671" y="3159333"/>
            <a:chExt cx="387927" cy="38915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42DB9EA1-E1F4-4CDE-9251-F1D7DEB2C603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rgbClr val="DCF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5" name="그래픽 40">
              <a:extLst>
                <a:ext uri="{FF2B5EF4-FFF2-40B4-BE49-F238E27FC236}">
                  <a16:creationId xmlns:a16="http://schemas.microsoft.com/office/drawing/2014/main" id="{4EAA63AD-9B15-41BC-AE39-C9DB9BA1CCA8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0BA59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59" name="사각형: 잘린 한쪽 모서리 58">
            <a:extLst>
              <a:ext uri="{FF2B5EF4-FFF2-40B4-BE49-F238E27FC236}">
                <a16:creationId xmlns:a16="http://schemas.microsoft.com/office/drawing/2014/main" id="{33D26B6C-E761-4FCE-8548-8C5589F14F5A}"/>
              </a:ext>
            </a:extLst>
          </p:cNvPr>
          <p:cNvSpPr/>
          <p:nvPr/>
        </p:nvSpPr>
        <p:spPr>
          <a:xfrm>
            <a:off x="923793" y="1143310"/>
            <a:ext cx="1312150" cy="391715"/>
          </a:xfrm>
          <a:prstGeom prst="snip1Rect">
            <a:avLst>
              <a:gd name="adj" fmla="val 37888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60" name="텍스트 개체 틀 19">
            <a:extLst>
              <a:ext uri="{FF2B5EF4-FFF2-40B4-BE49-F238E27FC236}">
                <a16:creationId xmlns:a16="http://schemas.microsoft.com/office/drawing/2014/main" id="{6200F41E-A38D-481C-979F-CAA625F30F1E}"/>
              </a:ext>
            </a:extLst>
          </p:cNvPr>
          <p:cNvSpPr txBox="1">
            <a:spLocks/>
          </p:cNvSpPr>
          <p:nvPr/>
        </p:nvSpPr>
        <p:spPr>
          <a:xfrm>
            <a:off x="1333506" y="1150251"/>
            <a:ext cx="1390643" cy="330283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목 표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5979C486-88F4-4C75-AA6C-AABA0EA85A0E}"/>
              </a:ext>
            </a:extLst>
          </p:cNvPr>
          <p:cNvSpPr/>
          <p:nvPr/>
        </p:nvSpPr>
        <p:spPr>
          <a:xfrm>
            <a:off x="789517" y="1561257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62" name="그래픽 61">
            <a:extLst>
              <a:ext uri="{FF2B5EF4-FFF2-40B4-BE49-F238E27FC236}">
                <a16:creationId xmlns:a16="http://schemas.microsoft.com/office/drawing/2014/main" id="{76496EB8-C0E4-4BD7-B37C-EB15948ED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668982" y="1083045"/>
            <a:ext cx="558670" cy="502804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A9538A5C-DB39-47CE-B8A7-A4AF4DECAF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2693" y="1172098"/>
            <a:ext cx="290090" cy="345821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34837F90-5BD6-4DB0-B954-AF5672E8BC04}"/>
              </a:ext>
            </a:extLst>
          </p:cNvPr>
          <p:cNvGrpSpPr/>
          <p:nvPr/>
        </p:nvGrpSpPr>
        <p:grpSpPr>
          <a:xfrm>
            <a:off x="1009720" y="1679471"/>
            <a:ext cx="5990447" cy="367473"/>
            <a:chOff x="2266141" y="1104759"/>
            <a:chExt cx="5990447" cy="36747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61AEB9-2C58-4D10-BA47-6CE3770D6123}"/>
                </a:ext>
              </a:extLst>
            </p:cNvPr>
            <p:cNvSpPr txBox="1"/>
            <p:nvPr/>
          </p:nvSpPr>
          <p:spPr>
            <a:xfrm>
              <a:off x="2486256" y="1104759"/>
              <a:ext cx="5770332" cy="3674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3">
                <a:lnSpc>
                  <a:spcPct val="120000"/>
                </a:lnSpc>
                <a:spcBef>
                  <a:spcPts val="400"/>
                </a:spcBef>
                <a:buClr>
                  <a:srgbClr val="0B9D96"/>
                </a:buClr>
                <a:buSzPct val="80000"/>
              </a:pP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애플리케이션 프로토콜의 개념 및 구현 측면 이해</a:t>
              </a: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DE6166C-B303-4549-8D4F-D9DADE78E2E4}"/>
                </a:ext>
              </a:extLst>
            </p:cNvPr>
            <p:cNvGrpSpPr/>
            <p:nvPr/>
          </p:nvGrpSpPr>
          <p:grpSpPr>
            <a:xfrm>
              <a:off x="2266141" y="1213048"/>
              <a:ext cx="171105" cy="171646"/>
              <a:chOff x="1029671" y="3159333"/>
              <a:chExt cx="387927" cy="389152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ADF01F6F-43C0-44C3-BB1D-FF84F5B0B505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rgbClr val="DCF5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9" name="그래픽 40">
                <a:extLst>
                  <a:ext uri="{FF2B5EF4-FFF2-40B4-BE49-F238E27FC236}">
                    <a16:creationId xmlns:a16="http://schemas.microsoft.com/office/drawing/2014/main" id="{EFDC9379-F84F-4427-B193-FA4542DC39E2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0BA59E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4F1B1FE-206C-449F-9808-64D296946E93}"/>
              </a:ext>
            </a:extLst>
          </p:cNvPr>
          <p:cNvSpPr txBox="1"/>
          <p:nvPr/>
        </p:nvSpPr>
        <p:spPr>
          <a:xfrm>
            <a:off x="1249680" y="2084465"/>
            <a:ext cx="2910840" cy="133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트랜스포트 계층 서비스 모델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client-server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개념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peer-to-peer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개념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콘텐츠 분배 네트워크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B0B09DA-737A-4531-9B03-99CD7B11EE49}"/>
              </a:ext>
            </a:extLst>
          </p:cNvPr>
          <p:cNvGrpSpPr/>
          <p:nvPr/>
        </p:nvGrpSpPr>
        <p:grpSpPr>
          <a:xfrm>
            <a:off x="1009720" y="3593207"/>
            <a:ext cx="5990447" cy="367473"/>
            <a:chOff x="2266141" y="3212976"/>
            <a:chExt cx="5990447" cy="367473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749B0D7-6B78-49DA-9EE5-B988505C32BC}"/>
                </a:ext>
              </a:extLst>
            </p:cNvPr>
            <p:cNvSpPr txBox="1"/>
            <p:nvPr/>
          </p:nvSpPr>
          <p:spPr>
            <a:xfrm>
              <a:off x="2486256" y="3212976"/>
              <a:ext cx="5770332" cy="3674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3">
                <a:lnSpc>
                  <a:spcPct val="120000"/>
                </a:lnSpc>
                <a:spcBef>
                  <a:spcPts val="600"/>
                </a:spcBef>
                <a:buClr>
                  <a:srgbClr val="0B9D96"/>
                </a:buClr>
                <a:buSzPct val="80000"/>
              </a:pP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많이 사용되는 애플리케이션 계층 프로토콜을 살펴보자</a:t>
              </a:r>
              <a:endPara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249508A0-6374-40FA-A6CF-FD131BDDF704}"/>
                </a:ext>
              </a:extLst>
            </p:cNvPr>
            <p:cNvGrpSpPr/>
            <p:nvPr/>
          </p:nvGrpSpPr>
          <p:grpSpPr>
            <a:xfrm>
              <a:off x="2266141" y="3321265"/>
              <a:ext cx="171105" cy="171646"/>
              <a:chOff x="1029671" y="3159333"/>
              <a:chExt cx="387927" cy="389152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CF5D2006-B7F9-4AB5-8C5F-F07A00CC6FD3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rgbClr val="DCF5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51" name="그래픽 40">
                <a:extLst>
                  <a:ext uri="{FF2B5EF4-FFF2-40B4-BE49-F238E27FC236}">
                    <a16:creationId xmlns:a16="http://schemas.microsoft.com/office/drawing/2014/main" id="{40FBA28E-D75F-4313-A87A-926C938951AF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0BA59E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B363269-4AFF-42C7-8C31-CAA85BE6212F}"/>
              </a:ext>
            </a:extLst>
          </p:cNvPr>
          <p:cNvSpPr txBox="1"/>
          <p:nvPr/>
        </p:nvSpPr>
        <p:spPr>
          <a:xfrm>
            <a:off x="1249680" y="4016494"/>
            <a:ext cx="2910840" cy="133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FTP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SMTP / POP3 / IMAP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DNS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4339AF-0B47-41E3-8898-4AAB88CA0358}"/>
              </a:ext>
            </a:extLst>
          </p:cNvPr>
          <p:cNvSpPr txBox="1"/>
          <p:nvPr/>
        </p:nvSpPr>
        <p:spPr>
          <a:xfrm>
            <a:off x="1249680" y="5847109"/>
            <a:ext cx="2910840" cy="349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socket API</a:t>
            </a:r>
          </a:p>
        </p:txBody>
      </p:sp>
      <p:sp>
        <p:nvSpPr>
          <p:cNvPr id="25" name="슬라이드 번호 개체 틀 2">
            <a:extLst>
              <a:ext uri="{FF2B5EF4-FFF2-40B4-BE49-F238E27FC236}">
                <a16:creationId xmlns:a16="http://schemas.microsoft.com/office/drawing/2014/main" id="{66E7ED0E-267D-4E92-8101-96FF2A13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</p:spPr>
        <p:txBody>
          <a:bodyPr/>
          <a:lstStyle/>
          <a:p>
            <a:fld id="{F1F9D73E-270F-475A-B1DB-D9B489A24756}" type="slidenum">
              <a:rPr lang="en-US" altLang="ko-KR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20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네트워크 응용의 예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18" name="사각형: 잘린 한쪽 모서리 17">
            <a:extLst>
              <a:ext uri="{FF2B5EF4-FFF2-40B4-BE49-F238E27FC236}">
                <a16:creationId xmlns:a16="http://schemas.microsoft.com/office/drawing/2014/main" id="{C81A4663-1874-4B5A-9674-2F21E085730D}"/>
              </a:ext>
            </a:extLst>
          </p:cNvPr>
          <p:cNvSpPr/>
          <p:nvPr/>
        </p:nvSpPr>
        <p:spPr>
          <a:xfrm>
            <a:off x="986472" y="5688655"/>
            <a:ext cx="3867467" cy="55375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9" name="텍스트 개체 틀 19">
            <a:extLst>
              <a:ext uri="{FF2B5EF4-FFF2-40B4-BE49-F238E27FC236}">
                <a16:creationId xmlns:a16="http://schemas.microsoft.com/office/drawing/2014/main" id="{2D32BC8C-CEC8-4F48-8669-4F00ED824930}"/>
              </a:ext>
            </a:extLst>
          </p:cNvPr>
          <p:cNvSpPr txBox="1">
            <a:spLocks/>
          </p:cNvSpPr>
          <p:nvPr/>
        </p:nvSpPr>
        <p:spPr>
          <a:xfrm>
            <a:off x="1177248" y="5805264"/>
            <a:ext cx="3581674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비디오 스트리밍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(YouTube, Netflix) </a:t>
            </a:r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EE6C3565-7FB4-455F-90AE-BD1618415784}"/>
              </a:ext>
            </a:extLst>
          </p:cNvPr>
          <p:cNvSpPr/>
          <p:nvPr/>
        </p:nvSpPr>
        <p:spPr>
          <a:xfrm>
            <a:off x="986473" y="1368175"/>
            <a:ext cx="2966628" cy="55375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7" name="텍스트 개체 틀 19">
            <a:extLst>
              <a:ext uri="{FF2B5EF4-FFF2-40B4-BE49-F238E27FC236}">
                <a16:creationId xmlns:a16="http://schemas.microsoft.com/office/drawing/2014/main" id="{601F2DD9-C12C-45E2-B072-AE698C51D967}"/>
              </a:ext>
            </a:extLst>
          </p:cNvPr>
          <p:cNvSpPr txBox="1">
            <a:spLocks/>
          </p:cNvSpPr>
          <p:nvPr/>
        </p:nvSpPr>
        <p:spPr>
          <a:xfrm>
            <a:off x="1177248" y="1484784"/>
            <a:ext cx="2616916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전자메일</a:t>
            </a: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31517FA3-6E76-4940-82AF-3CA366B5396C}"/>
              </a:ext>
            </a:extLst>
          </p:cNvPr>
          <p:cNvSpPr/>
          <p:nvPr/>
        </p:nvSpPr>
        <p:spPr>
          <a:xfrm>
            <a:off x="986473" y="2088255"/>
            <a:ext cx="2966628" cy="55375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9" name="텍스트 개체 틀 19">
            <a:extLst>
              <a:ext uri="{FF2B5EF4-FFF2-40B4-BE49-F238E27FC236}">
                <a16:creationId xmlns:a16="http://schemas.microsoft.com/office/drawing/2014/main" id="{2AB5AFA6-9DA4-4A7B-A0B8-207034CA0BDC}"/>
              </a:ext>
            </a:extLst>
          </p:cNvPr>
          <p:cNvSpPr txBox="1">
            <a:spLocks/>
          </p:cNvSpPr>
          <p:nvPr/>
        </p:nvSpPr>
        <p:spPr>
          <a:xfrm>
            <a:off x="1177248" y="2204864"/>
            <a:ext cx="2616916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웹</a:t>
            </a: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8B969820-9502-4687-B1A1-EF1ABB902DFF}"/>
              </a:ext>
            </a:extLst>
          </p:cNvPr>
          <p:cNvSpPr/>
          <p:nvPr/>
        </p:nvSpPr>
        <p:spPr>
          <a:xfrm>
            <a:off x="986473" y="2808335"/>
            <a:ext cx="2966628" cy="55375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1" name="텍스트 개체 틀 19">
            <a:extLst>
              <a:ext uri="{FF2B5EF4-FFF2-40B4-BE49-F238E27FC236}">
                <a16:creationId xmlns:a16="http://schemas.microsoft.com/office/drawing/2014/main" id="{D17CA7DE-D15F-45D0-B207-FDBBE4143F40}"/>
              </a:ext>
            </a:extLst>
          </p:cNvPr>
          <p:cNvSpPr txBox="1">
            <a:spLocks/>
          </p:cNvSpPr>
          <p:nvPr/>
        </p:nvSpPr>
        <p:spPr>
          <a:xfrm>
            <a:off x="1177248" y="2924944"/>
            <a:ext cx="2616916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문자 메시징</a:t>
            </a: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6CDCB460-7D56-4D6F-84DA-0E77E9C50ABF}"/>
              </a:ext>
            </a:extLst>
          </p:cNvPr>
          <p:cNvSpPr/>
          <p:nvPr/>
        </p:nvSpPr>
        <p:spPr>
          <a:xfrm>
            <a:off x="986473" y="3528415"/>
            <a:ext cx="2966628" cy="55375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3" name="텍스트 개체 틀 19">
            <a:extLst>
              <a:ext uri="{FF2B5EF4-FFF2-40B4-BE49-F238E27FC236}">
                <a16:creationId xmlns:a16="http://schemas.microsoft.com/office/drawing/2014/main" id="{4D3688EA-A00C-43E6-AAC6-A5B212D8B4BC}"/>
              </a:ext>
            </a:extLst>
          </p:cNvPr>
          <p:cNvSpPr txBox="1">
            <a:spLocks/>
          </p:cNvSpPr>
          <p:nvPr/>
        </p:nvSpPr>
        <p:spPr>
          <a:xfrm>
            <a:off x="1177248" y="3645024"/>
            <a:ext cx="2616916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원격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login</a:t>
            </a:r>
          </a:p>
        </p:txBody>
      </p:sp>
      <p:sp>
        <p:nvSpPr>
          <p:cNvPr id="14" name="사각형: 잘린 한쪽 모서리 13">
            <a:extLst>
              <a:ext uri="{FF2B5EF4-FFF2-40B4-BE49-F238E27FC236}">
                <a16:creationId xmlns:a16="http://schemas.microsoft.com/office/drawing/2014/main" id="{C15C1B45-43A4-4725-91CD-2CD2DE07F327}"/>
              </a:ext>
            </a:extLst>
          </p:cNvPr>
          <p:cNvSpPr/>
          <p:nvPr/>
        </p:nvSpPr>
        <p:spPr>
          <a:xfrm>
            <a:off x="986473" y="4248495"/>
            <a:ext cx="2966628" cy="55375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5" name="텍스트 개체 틀 19">
            <a:extLst>
              <a:ext uri="{FF2B5EF4-FFF2-40B4-BE49-F238E27FC236}">
                <a16:creationId xmlns:a16="http://schemas.microsoft.com/office/drawing/2014/main" id="{AC2F0343-B63D-423F-AA30-2A0CF8A8AA7D}"/>
              </a:ext>
            </a:extLst>
          </p:cNvPr>
          <p:cNvSpPr txBox="1">
            <a:spLocks/>
          </p:cNvSpPr>
          <p:nvPr/>
        </p:nvSpPr>
        <p:spPr>
          <a:xfrm>
            <a:off x="1177248" y="4365104"/>
            <a:ext cx="2616916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P2P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파일 공유</a:t>
            </a:r>
          </a:p>
        </p:txBody>
      </p:sp>
      <p:sp>
        <p:nvSpPr>
          <p:cNvPr id="16" name="사각형: 잘린 한쪽 모서리 15">
            <a:extLst>
              <a:ext uri="{FF2B5EF4-FFF2-40B4-BE49-F238E27FC236}">
                <a16:creationId xmlns:a16="http://schemas.microsoft.com/office/drawing/2014/main" id="{11F62033-63EB-48F0-ABEE-5C560AC5ED26}"/>
              </a:ext>
            </a:extLst>
          </p:cNvPr>
          <p:cNvSpPr/>
          <p:nvPr/>
        </p:nvSpPr>
        <p:spPr>
          <a:xfrm>
            <a:off x="986473" y="4968575"/>
            <a:ext cx="2966628" cy="55375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7" name="텍스트 개체 틀 19">
            <a:extLst>
              <a:ext uri="{FF2B5EF4-FFF2-40B4-BE49-F238E27FC236}">
                <a16:creationId xmlns:a16="http://schemas.microsoft.com/office/drawing/2014/main" id="{AF60247C-2223-4735-9EA7-6B54B2247037}"/>
              </a:ext>
            </a:extLst>
          </p:cNvPr>
          <p:cNvSpPr txBox="1">
            <a:spLocks/>
          </p:cNvSpPr>
          <p:nvPr/>
        </p:nvSpPr>
        <p:spPr>
          <a:xfrm>
            <a:off x="1177248" y="5085184"/>
            <a:ext cx="2616916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게임</a:t>
            </a:r>
          </a:p>
        </p:txBody>
      </p:sp>
      <p:sp>
        <p:nvSpPr>
          <p:cNvPr id="20" name="사각형: 잘린 한쪽 모서리 19">
            <a:extLst>
              <a:ext uri="{FF2B5EF4-FFF2-40B4-BE49-F238E27FC236}">
                <a16:creationId xmlns:a16="http://schemas.microsoft.com/office/drawing/2014/main" id="{63AA48A0-77BF-4B10-AA99-5A0F114AA8BB}"/>
              </a:ext>
            </a:extLst>
          </p:cNvPr>
          <p:cNvSpPr/>
          <p:nvPr/>
        </p:nvSpPr>
        <p:spPr>
          <a:xfrm>
            <a:off x="4231291" y="1368175"/>
            <a:ext cx="2966628" cy="55375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1" name="텍스트 개체 틀 19">
            <a:extLst>
              <a:ext uri="{FF2B5EF4-FFF2-40B4-BE49-F238E27FC236}">
                <a16:creationId xmlns:a16="http://schemas.microsoft.com/office/drawing/2014/main" id="{6E8BE01B-56FD-4926-91C4-9E35DFD8A48F}"/>
              </a:ext>
            </a:extLst>
          </p:cNvPr>
          <p:cNvSpPr txBox="1">
            <a:spLocks/>
          </p:cNvSpPr>
          <p:nvPr/>
        </p:nvSpPr>
        <p:spPr>
          <a:xfrm>
            <a:off x="4422066" y="1484784"/>
            <a:ext cx="3525594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voice over IP (e.g., Skype)</a:t>
            </a:r>
          </a:p>
        </p:txBody>
      </p:sp>
      <p:sp>
        <p:nvSpPr>
          <p:cNvPr id="22" name="사각형: 잘린 한쪽 모서리 21">
            <a:extLst>
              <a:ext uri="{FF2B5EF4-FFF2-40B4-BE49-F238E27FC236}">
                <a16:creationId xmlns:a16="http://schemas.microsoft.com/office/drawing/2014/main" id="{1D0ED56C-4965-4931-BF41-C4CD3B678442}"/>
              </a:ext>
            </a:extLst>
          </p:cNvPr>
          <p:cNvSpPr/>
          <p:nvPr/>
        </p:nvSpPr>
        <p:spPr>
          <a:xfrm>
            <a:off x="4231291" y="2088255"/>
            <a:ext cx="2966628" cy="55375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3" name="텍스트 개체 틀 19">
            <a:extLst>
              <a:ext uri="{FF2B5EF4-FFF2-40B4-BE49-F238E27FC236}">
                <a16:creationId xmlns:a16="http://schemas.microsoft.com/office/drawing/2014/main" id="{718E6DC8-A76F-475A-AFD6-1F46818075C8}"/>
              </a:ext>
            </a:extLst>
          </p:cNvPr>
          <p:cNvSpPr txBox="1">
            <a:spLocks/>
          </p:cNvSpPr>
          <p:nvPr/>
        </p:nvSpPr>
        <p:spPr>
          <a:xfrm>
            <a:off x="4422066" y="2204864"/>
            <a:ext cx="2616916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실시간 화상회의</a:t>
            </a:r>
          </a:p>
        </p:txBody>
      </p:sp>
      <p:sp>
        <p:nvSpPr>
          <p:cNvPr id="24" name="사각형: 잘린 한쪽 모서리 23">
            <a:extLst>
              <a:ext uri="{FF2B5EF4-FFF2-40B4-BE49-F238E27FC236}">
                <a16:creationId xmlns:a16="http://schemas.microsoft.com/office/drawing/2014/main" id="{458D94CD-6D06-4945-B7A0-FD932633B076}"/>
              </a:ext>
            </a:extLst>
          </p:cNvPr>
          <p:cNvSpPr/>
          <p:nvPr/>
        </p:nvSpPr>
        <p:spPr>
          <a:xfrm>
            <a:off x="4231291" y="2808335"/>
            <a:ext cx="2966628" cy="55375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5" name="텍스트 개체 틀 19">
            <a:extLst>
              <a:ext uri="{FF2B5EF4-FFF2-40B4-BE49-F238E27FC236}">
                <a16:creationId xmlns:a16="http://schemas.microsoft.com/office/drawing/2014/main" id="{E5222169-9293-4A19-8E97-08EC9379B332}"/>
              </a:ext>
            </a:extLst>
          </p:cNvPr>
          <p:cNvSpPr txBox="1">
            <a:spLocks/>
          </p:cNvSpPr>
          <p:nvPr/>
        </p:nvSpPr>
        <p:spPr>
          <a:xfrm>
            <a:off x="4422066" y="2924944"/>
            <a:ext cx="2616916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SNS</a:t>
            </a:r>
          </a:p>
        </p:txBody>
      </p:sp>
      <p:sp>
        <p:nvSpPr>
          <p:cNvPr id="26" name="사각형: 잘린 한쪽 모서리 25">
            <a:extLst>
              <a:ext uri="{FF2B5EF4-FFF2-40B4-BE49-F238E27FC236}">
                <a16:creationId xmlns:a16="http://schemas.microsoft.com/office/drawing/2014/main" id="{77B5DC83-C375-4180-AC7C-7BC49F3B41E9}"/>
              </a:ext>
            </a:extLst>
          </p:cNvPr>
          <p:cNvSpPr/>
          <p:nvPr/>
        </p:nvSpPr>
        <p:spPr>
          <a:xfrm>
            <a:off x="4231291" y="3528415"/>
            <a:ext cx="2966628" cy="55375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7" name="텍스트 개체 틀 19">
            <a:extLst>
              <a:ext uri="{FF2B5EF4-FFF2-40B4-BE49-F238E27FC236}">
                <a16:creationId xmlns:a16="http://schemas.microsoft.com/office/drawing/2014/main" id="{4C2A1EF0-78E0-4DB5-AFEB-F48F0C9B4DA9}"/>
              </a:ext>
            </a:extLst>
          </p:cNvPr>
          <p:cNvSpPr txBox="1">
            <a:spLocks/>
          </p:cNvSpPr>
          <p:nvPr/>
        </p:nvSpPr>
        <p:spPr>
          <a:xfrm>
            <a:off x="4422066" y="3645024"/>
            <a:ext cx="2616916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검색</a:t>
            </a:r>
          </a:p>
        </p:txBody>
      </p:sp>
      <p:sp>
        <p:nvSpPr>
          <p:cNvPr id="28" name="사각형: 잘린 한쪽 모서리 27">
            <a:extLst>
              <a:ext uri="{FF2B5EF4-FFF2-40B4-BE49-F238E27FC236}">
                <a16:creationId xmlns:a16="http://schemas.microsoft.com/office/drawing/2014/main" id="{E1E09515-2063-4496-8D72-6A1BA2E0584E}"/>
              </a:ext>
            </a:extLst>
          </p:cNvPr>
          <p:cNvSpPr/>
          <p:nvPr/>
        </p:nvSpPr>
        <p:spPr>
          <a:xfrm>
            <a:off x="4231291" y="4248495"/>
            <a:ext cx="2966628" cy="55375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9" name="텍스트 개체 틀 19">
            <a:extLst>
              <a:ext uri="{FF2B5EF4-FFF2-40B4-BE49-F238E27FC236}">
                <a16:creationId xmlns:a16="http://schemas.microsoft.com/office/drawing/2014/main" id="{A720B318-76D8-45A5-B74C-64B179A15F96}"/>
              </a:ext>
            </a:extLst>
          </p:cNvPr>
          <p:cNvSpPr txBox="1">
            <a:spLocks/>
          </p:cNvSpPr>
          <p:nvPr/>
        </p:nvSpPr>
        <p:spPr>
          <a:xfrm>
            <a:off x="4422066" y="4365104"/>
            <a:ext cx="2616916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…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BC9868-83EF-4789-B3CB-035630D77995}"/>
              </a:ext>
            </a:extLst>
          </p:cNvPr>
          <p:cNvSpPr txBox="1"/>
          <p:nvPr/>
        </p:nvSpPr>
        <p:spPr>
          <a:xfrm>
            <a:off x="6635594" y="5673999"/>
            <a:ext cx="319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u="sng" dirty="0">
                <a:solidFill>
                  <a:srgbClr val="C00000"/>
                </a:solidFill>
              </a:rPr>
              <a:t>Q:</a:t>
            </a:r>
            <a:r>
              <a:rPr lang="en-US" sz="2400" i="1" dirty="0"/>
              <a:t> your</a:t>
            </a:r>
            <a:r>
              <a:rPr lang="en-US" sz="2400" dirty="0"/>
              <a:t> favorites?</a:t>
            </a:r>
          </a:p>
        </p:txBody>
      </p:sp>
    </p:spTree>
    <p:extLst>
      <p:ext uri="{BB962C8B-B14F-4D97-AF65-F5344CB8AC3E}">
        <p14:creationId xmlns:p14="http://schemas.microsoft.com/office/powerpoint/2010/main" val="70617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네트워크 응용 생성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6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3BED9C3-140D-4028-A506-59A383B88154}"/>
              </a:ext>
            </a:extLst>
          </p:cNvPr>
          <p:cNvGrpSpPr/>
          <p:nvPr/>
        </p:nvGrpSpPr>
        <p:grpSpPr>
          <a:xfrm>
            <a:off x="695400" y="1065581"/>
            <a:ext cx="2972026" cy="5371777"/>
            <a:chOff x="578679" y="1064717"/>
            <a:chExt cx="2972026" cy="5371777"/>
          </a:xfrm>
        </p:grpSpPr>
        <p:sp>
          <p:nvSpPr>
            <p:cNvPr id="7" name="Google Shape;245;p4">
              <a:extLst>
                <a:ext uri="{FF2B5EF4-FFF2-40B4-BE49-F238E27FC236}">
                  <a16:creationId xmlns:a16="http://schemas.microsoft.com/office/drawing/2014/main" id="{5621C933-E4A7-4AC3-9182-92236A74BBCB}"/>
                </a:ext>
              </a:extLst>
            </p:cNvPr>
            <p:cNvSpPr/>
            <p:nvPr/>
          </p:nvSpPr>
          <p:spPr>
            <a:xfrm>
              <a:off x="578679" y="1064717"/>
              <a:ext cx="2972026" cy="5371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8" name="Google Shape;245;p4">
              <a:extLst>
                <a:ext uri="{FF2B5EF4-FFF2-40B4-BE49-F238E27FC236}">
                  <a16:creationId xmlns:a16="http://schemas.microsoft.com/office/drawing/2014/main" id="{6BED376C-996E-420F-A8D4-68F631DB2949}"/>
                </a:ext>
              </a:extLst>
            </p:cNvPr>
            <p:cNvSpPr/>
            <p:nvPr/>
          </p:nvSpPr>
          <p:spPr>
            <a:xfrm>
              <a:off x="685958" y="4836708"/>
              <a:ext cx="2745613" cy="1126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9" name="Google Shape;245;p4">
              <a:extLst>
                <a:ext uri="{FF2B5EF4-FFF2-40B4-BE49-F238E27FC236}">
                  <a16:creationId xmlns:a16="http://schemas.microsoft.com/office/drawing/2014/main" id="{204BDDD5-8B8A-4E56-82B3-0DE7AF9C8280}"/>
                </a:ext>
              </a:extLst>
            </p:cNvPr>
            <p:cNvSpPr/>
            <p:nvPr/>
          </p:nvSpPr>
          <p:spPr>
            <a:xfrm>
              <a:off x="2195173" y="2202009"/>
              <a:ext cx="1280841" cy="80334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0" name="Google Shape;245;p4">
              <a:extLst>
                <a:ext uri="{FF2B5EF4-FFF2-40B4-BE49-F238E27FC236}">
                  <a16:creationId xmlns:a16="http://schemas.microsoft.com/office/drawing/2014/main" id="{6957D31B-A5F9-48DE-AE12-187498E08357}"/>
                </a:ext>
              </a:extLst>
            </p:cNvPr>
            <p:cNvSpPr/>
            <p:nvPr/>
          </p:nvSpPr>
          <p:spPr>
            <a:xfrm>
              <a:off x="686275" y="1443737"/>
              <a:ext cx="1514440" cy="881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BD23264-B55C-4D03-8195-2BD547810F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9060" y="2338388"/>
              <a:ext cx="984675" cy="16102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2B740E97-18F3-4152-B200-7459CB27F6F2}"/>
                </a:ext>
              </a:extLst>
            </p:cNvPr>
            <p:cNvGrpSpPr/>
            <p:nvPr/>
          </p:nvGrpSpPr>
          <p:grpSpPr>
            <a:xfrm>
              <a:off x="1290550" y="1517650"/>
              <a:ext cx="306852" cy="504850"/>
              <a:chOff x="1159683" y="3308166"/>
              <a:chExt cx="415912" cy="684280"/>
            </a:xfrm>
          </p:grpSpPr>
          <p:pic>
            <p:nvPicPr>
              <p:cNvPr id="91" name="그림 90">
                <a:extLst>
                  <a:ext uri="{FF2B5EF4-FFF2-40B4-BE49-F238E27FC236}">
                    <a16:creationId xmlns:a16="http://schemas.microsoft.com/office/drawing/2014/main" id="{01568FFC-EF41-4CD7-BFD0-A41183AF0A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683" y="3308166"/>
                <a:ext cx="415912" cy="266790"/>
              </a:xfrm>
              <a:prstGeom prst="rect">
                <a:avLst/>
              </a:prstGeom>
            </p:spPr>
          </p:pic>
          <p:pic>
            <p:nvPicPr>
              <p:cNvPr id="92" name="그림 91">
                <a:extLst>
                  <a:ext uri="{FF2B5EF4-FFF2-40B4-BE49-F238E27FC236}">
                    <a16:creationId xmlns:a16="http://schemas.microsoft.com/office/drawing/2014/main" id="{B45B6440-1A8E-4F70-BB21-43864B767E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4729" y="3443786"/>
                <a:ext cx="307465" cy="548660"/>
              </a:xfrm>
              <a:prstGeom prst="rect">
                <a:avLst/>
              </a:prstGeom>
            </p:spPr>
          </p:pic>
        </p:grp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08C54F2-AC48-4844-8B53-3E27A49FA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6" y="1780238"/>
              <a:ext cx="207997" cy="192081"/>
            </a:xfrm>
            <a:prstGeom prst="rect">
              <a:avLst/>
            </a:prstGeom>
          </p:spPr>
        </p:pic>
        <p:pic>
          <p:nvPicPr>
            <p:cNvPr id="15" name="그림 14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40FA8D16-9E49-4D62-B660-9B130EBB8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7217" y="1801724"/>
              <a:ext cx="363879" cy="349669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144F802B-45B5-466A-95B6-AEEAD171A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7" y="1420060"/>
              <a:ext cx="207997" cy="192081"/>
            </a:xfrm>
            <a:prstGeom prst="rect">
              <a:avLst/>
            </a:prstGeom>
          </p:spPr>
        </p:pic>
        <p:pic>
          <p:nvPicPr>
            <p:cNvPr id="19" name="그림 18" descr="텍스트, 전자기기이(가) 표시된 사진&#10;&#10;자동 생성된 설명">
              <a:extLst>
                <a:ext uri="{FF2B5EF4-FFF2-40B4-BE49-F238E27FC236}">
                  <a16:creationId xmlns:a16="http://schemas.microsoft.com/office/drawing/2014/main" id="{8AAAC202-68BC-4486-9FBA-F0D41976B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060" y="1546217"/>
              <a:ext cx="337826" cy="205071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6364CD5-36D3-4BED-A424-17EF2F843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75837" y="1686998"/>
              <a:ext cx="207997" cy="192081"/>
            </a:xfrm>
            <a:prstGeom prst="rect">
              <a:avLst/>
            </a:prstGeom>
          </p:spPr>
        </p:pic>
        <p:pic>
          <p:nvPicPr>
            <p:cNvPr id="21" name="그림 20" descr="밴이(가) 표시된 사진&#10;&#10;자동 생성된 설명">
              <a:extLst>
                <a:ext uri="{FF2B5EF4-FFF2-40B4-BE49-F238E27FC236}">
                  <a16:creationId xmlns:a16="http://schemas.microsoft.com/office/drawing/2014/main" id="{BC87BC06-2BBA-441C-818B-AC710F83A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963" y="1771952"/>
              <a:ext cx="316295" cy="246275"/>
            </a:xfrm>
            <a:prstGeom prst="rect">
              <a:avLst/>
            </a:prstGeom>
          </p:spPr>
        </p:pic>
        <p:sp>
          <p:nvSpPr>
            <p:cNvPr id="22" name="Line 841">
              <a:extLst>
                <a:ext uri="{FF2B5EF4-FFF2-40B4-BE49-F238E27FC236}">
                  <a16:creationId xmlns:a16="http://schemas.microsoft.com/office/drawing/2014/main" id="{42035E81-AF57-4D6B-A3A5-C12421C944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3977" y="1838518"/>
              <a:ext cx="0" cy="3932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8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8DD6A769-6D5B-4EEB-A8D5-26861936A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2947" y="2209218"/>
              <a:ext cx="322060" cy="207948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F97A980A-46F6-4713-9F7A-AD0C535C3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229628"/>
              <a:ext cx="307558" cy="198585"/>
            </a:xfrm>
            <a:prstGeom prst="rect">
              <a:avLst/>
            </a:prstGeom>
          </p:spPr>
        </p:pic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C58D52B-0CE9-4000-BDA6-437663EEB4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1738" y="2355056"/>
              <a:ext cx="318458" cy="992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1032B001-286D-445E-9866-4335401CE4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2095" y="2424674"/>
              <a:ext cx="0" cy="35395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C68B05BB-C900-499E-BF9A-1487A8CEA2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467" y="2403428"/>
              <a:ext cx="444207" cy="3836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21B0BE5B-9B3E-4156-9B5E-7E41D9A27C53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2514491" y="2576907"/>
              <a:ext cx="1" cy="12391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A6B4E0B5-010A-4948-A4BB-2A4BFFC61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700825"/>
              <a:ext cx="307558" cy="198585"/>
            </a:xfrm>
            <a:prstGeom prst="rect">
              <a:avLst/>
            </a:prstGeom>
          </p:spPr>
        </p:pic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BCD0CA72-95F4-4D0E-BB97-6C3D328F7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3614" y="2787115"/>
              <a:ext cx="32400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FC1DA886-E8A9-40A0-847B-DEB2B32E4CB0}"/>
                </a:ext>
              </a:extLst>
            </p:cNvPr>
            <p:cNvGrpSpPr/>
            <p:nvPr/>
          </p:nvGrpSpPr>
          <p:grpSpPr>
            <a:xfrm>
              <a:off x="3140551" y="2787115"/>
              <a:ext cx="245542" cy="0"/>
              <a:chOff x="7865568" y="3042591"/>
              <a:chExt cx="285396" cy="0"/>
            </a:xfrm>
          </p:grpSpPr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7EA53732-3C19-48C8-BBED-5C91EC7466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65568" y="3042591"/>
                <a:ext cx="164917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CA692362-6676-4D3E-BBF3-2A8CE42264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3222" y="3042591"/>
                <a:ext cx="10774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</p:cxnSp>
        </p:grpSp>
        <p:sp>
          <p:nvSpPr>
            <p:cNvPr id="33" name="Google Shape;245;p4">
              <a:extLst>
                <a:ext uri="{FF2B5EF4-FFF2-40B4-BE49-F238E27FC236}">
                  <a16:creationId xmlns:a16="http://schemas.microsoft.com/office/drawing/2014/main" id="{AE04571D-382E-46A9-8A21-CDFE414C17AC}"/>
                </a:ext>
              </a:extLst>
            </p:cNvPr>
            <p:cNvSpPr/>
            <p:nvPr/>
          </p:nvSpPr>
          <p:spPr>
            <a:xfrm>
              <a:off x="2265368" y="3681611"/>
              <a:ext cx="1115051" cy="657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402D8267-1AD0-4C3D-9E9F-DA81B8128DF4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2513646" y="2899410"/>
              <a:ext cx="846" cy="94075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FD94F304-7EB9-4C44-89A9-DE0F0717FE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1082" y="3978108"/>
              <a:ext cx="273164" cy="3061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BBA264E0-49CF-4712-B892-0AD7038C9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0326" y="3834574"/>
              <a:ext cx="994093" cy="113958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BED882E6-A8D0-484E-9B46-333ADD045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0918" y="4094362"/>
              <a:ext cx="307558" cy="198585"/>
            </a:xfrm>
            <a:prstGeom prst="rect">
              <a:avLst/>
            </a:prstGeom>
          </p:spPr>
        </p:pic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398AA93E-AACE-4BA1-BDA1-5687135F09CB}"/>
                </a:ext>
              </a:extLst>
            </p:cNvPr>
            <p:cNvSpPr/>
            <p:nvPr/>
          </p:nvSpPr>
          <p:spPr>
            <a:xfrm>
              <a:off x="698060" y="2691576"/>
              <a:ext cx="1490843" cy="1096272"/>
            </a:xfrm>
            <a:custGeom>
              <a:avLst/>
              <a:gdLst>
                <a:gd name="connsiteX0" fmla="*/ 1010352 w 2020704"/>
                <a:gd name="connsiteY0" fmla="*/ 0 h 1333262"/>
                <a:gd name="connsiteX1" fmla="*/ 2020704 w 2020704"/>
                <a:gd name="connsiteY1" fmla="*/ 375626 h 1333262"/>
                <a:gd name="connsiteX2" fmla="*/ 1892116 w 2020704"/>
                <a:gd name="connsiteY2" fmla="*/ 375626 h 1333262"/>
                <a:gd name="connsiteX3" fmla="*/ 1892116 w 2020704"/>
                <a:gd name="connsiteY3" fmla="*/ 1333262 h 1333262"/>
                <a:gd name="connsiteX4" fmla="*/ 121542 w 2020704"/>
                <a:gd name="connsiteY4" fmla="*/ 1333262 h 1333262"/>
                <a:gd name="connsiteX5" fmla="*/ 121542 w 2020704"/>
                <a:gd name="connsiteY5" fmla="*/ 375626 h 1333262"/>
                <a:gd name="connsiteX6" fmla="*/ 0 w 2020704"/>
                <a:gd name="connsiteY6" fmla="*/ 375626 h 1333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0704" h="1333262">
                  <a:moveTo>
                    <a:pt x="1010352" y="0"/>
                  </a:moveTo>
                  <a:lnTo>
                    <a:pt x="2020704" y="375626"/>
                  </a:lnTo>
                  <a:lnTo>
                    <a:pt x="1892116" y="375626"/>
                  </a:lnTo>
                  <a:lnTo>
                    <a:pt x="1892116" y="1333262"/>
                  </a:lnTo>
                  <a:lnTo>
                    <a:pt x="121542" y="1333262"/>
                  </a:lnTo>
                  <a:lnTo>
                    <a:pt x="121542" y="375626"/>
                  </a:lnTo>
                  <a:lnTo>
                    <a:pt x="0" y="37562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r>
                <a: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ㅋㅋㅋㅋㅋㅋ</a:t>
              </a: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3C9F62C-99E8-407E-9175-12E3D2BC0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7259" y="2872220"/>
              <a:ext cx="207997" cy="192081"/>
            </a:xfrm>
            <a:prstGeom prst="rect">
              <a:avLst/>
            </a:prstGeom>
          </p:spPr>
        </p:pic>
        <p:pic>
          <p:nvPicPr>
            <p:cNvPr id="40" name="그림 39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2606B211-5956-4B80-8760-944A6DC97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11744" y="2937182"/>
              <a:ext cx="363879" cy="349669"/>
            </a:xfrm>
            <a:prstGeom prst="rect">
              <a:avLst/>
            </a:prstGeom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F972B1E4-80B1-4001-9A8D-7E50F4566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700825"/>
              <a:ext cx="307558" cy="198585"/>
            </a:xfrm>
            <a:prstGeom prst="rect">
              <a:avLst/>
            </a:prstGeom>
          </p:spPr>
        </p:pic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F192403D-E8D2-4574-A05E-7B1FB1A2AD8C}"/>
                </a:ext>
              </a:extLst>
            </p:cNvPr>
            <p:cNvCxnSpPr>
              <a:cxnSpLocks/>
            </p:cNvCxnSpPr>
            <p:nvPr/>
          </p:nvCxnSpPr>
          <p:spPr>
            <a:xfrm>
              <a:off x="1718938" y="3650079"/>
              <a:ext cx="793184" cy="2424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1FBC86BB-90D1-450B-BFBE-AFC2CC496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97304" y="3788175"/>
              <a:ext cx="307558" cy="198585"/>
            </a:xfrm>
            <a:prstGeom prst="rect">
              <a:avLst/>
            </a:prstGeom>
          </p:spPr>
        </p:pic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3C26C2B2-FBD6-4A35-8B30-20BA1E3EDF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3712" y="5314600"/>
              <a:ext cx="52209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18259845-FF28-440A-BD06-4AD8DED232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684" y="5400182"/>
              <a:ext cx="0" cy="44897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50" name="그림 49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CE974E81-5B05-45DA-B71C-A0B0D7271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4837" y="5055660"/>
              <a:ext cx="207523" cy="447198"/>
            </a:xfrm>
            <a:prstGeom prst="rect">
              <a:avLst/>
            </a:prstGeom>
          </p:spPr>
        </p:pic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195E3DE1-5A03-407A-854F-E320F4E203F9}"/>
                </a:ext>
              </a:extLst>
            </p:cNvPr>
            <p:cNvGrpSpPr/>
            <p:nvPr/>
          </p:nvGrpSpPr>
          <p:grpSpPr>
            <a:xfrm>
              <a:off x="2108294" y="5487248"/>
              <a:ext cx="314291" cy="382451"/>
              <a:chOff x="6912474" y="5263962"/>
              <a:chExt cx="422940" cy="514662"/>
            </a:xfrm>
          </p:grpSpPr>
          <p:pic>
            <p:nvPicPr>
              <p:cNvPr id="87" name="그림 86">
                <a:extLst>
                  <a:ext uri="{FF2B5EF4-FFF2-40B4-BE49-F238E27FC236}">
                    <a16:creationId xmlns:a16="http://schemas.microsoft.com/office/drawing/2014/main" id="{6C7FB5E5-D2C1-4E00-8A41-49577A0381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32605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88" name="그림 87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080FFC59-E8D4-4F45-8A5C-F10408D6EE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912474" y="5372201"/>
                <a:ext cx="422940" cy="406423"/>
              </a:xfrm>
              <a:prstGeom prst="rect">
                <a:avLst/>
              </a:prstGeom>
            </p:spPr>
          </p:pic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740F8487-7933-4D51-9786-B8333C357BCD}"/>
                </a:ext>
              </a:extLst>
            </p:cNvPr>
            <p:cNvGrpSpPr/>
            <p:nvPr/>
          </p:nvGrpSpPr>
          <p:grpSpPr>
            <a:xfrm>
              <a:off x="2447119" y="5487248"/>
              <a:ext cx="314291" cy="382451"/>
              <a:chOff x="7504476" y="5263962"/>
              <a:chExt cx="422940" cy="514662"/>
            </a:xfrm>
          </p:grpSpPr>
          <p:pic>
            <p:nvPicPr>
              <p:cNvPr id="85" name="그림 84">
                <a:extLst>
                  <a:ext uri="{FF2B5EF4-FFF2-40B4-BE49-F238E27FC236}">
                    <a16:creationId xmlns:a16="http://schemas.microsoft.com/office/drawing/2014/main" id="{033B2E95-3E9D-4CEC-98B9-666D7A29CE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-50000"/>
                        </a14:imgEffect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24608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86" name="그림 85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13EAA5A4-4B7E-40B3-A28F-D349FD05FC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504476" y="5372201"/>
                <a:ext cx="422940" cy="406423"/>
              </a:xfrm>
              <a:prstGeom prst="rect">
                <a:avLst/>
              </a:prstGeom>
            </p:spPr>
          </p:pic>
        </p:grpSp>
        <p:pic>
          <p:nvPicPr>
            <p:cNvPr id="53" name="그림 52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EC7BC1CE-9298-41D4-AA62-A1AE94796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5804" y="5055660"/>
              <a:ext cx="207523" cy="447198"/>
            </a:xfrm>
            <a:prstGeom prst="rect">
              <a:avLst/>
            </a:prstGeom>
          </p:spPr>
        </p:pic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FCBBB868-148C-4C28-AE48-1BF0D74DD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65140" y="4916930"/>
              <a:ext cx="307558" cy="198585"/>
            </a:xfrm>
            <a:prstGeom prst="rect">
              <a:avLst/>
            </a:prstGeom>
          </p:spPr>
        </p:pic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F123D9A7-A3FD-4258-B8A7-EB20CB60F7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2160" y="5079775"/>
              <a:ext cx="189817" cy="198859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DF1234D6-73F1-44E2-88AF-F47994CF7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76397" y="5208344"/>
              <a:ext cx="307558" cy="198585"/>
            </a:xfrm>
            <a:prstGeom prst="rect">
              <a:avLst/>
            </a:prstGeom>
          </p:spPr>
        </p:pic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DF8619A5-A726-4226-A749-4BDB7F189C73}"/>
                </a:ext>
              </a:extLst>
            </p:cNvPr>
            <p:cNvCxnSpPr>
              <a:cxnSpLocks/>
            </p:cNvCxnSpPr>
            <p:nvPr/>
          </p:nvCxnSpPr>
          <p:spPr>
            <a:xfrm>
              <a:off x="1960948" y="5314600"/>
              <a:ext cx="30916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83CF3EF9-B1FC-4BD3-A3BB-DC14E26EE5E2}"/>
                </a:ext>
              </a:extLst>
            </p:cNvPr>
            <p:cNvCxnSpPr>
              <a:cxnSpLocks/>
            </p:cNvCxnSpPr>
            <p:nvPr/>
          </p:nvCxnSpPr>
          <p:spPr>
            <a:xfrm>
              <a:off x="988044" y="5314600"/>
              <a:ext cx="66376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F03367BC-FCD8-46D2-9150-732C0F276116}"/>
                </a:ext>
              </a:extLst>
            </p:cNvPr>
            <p:cNvCxnSpPr>
              <a:cxnSpLocks/>
            </p:cNvCxnSpPr>
            <p:nvPr/>
          </p:nvCxnSpPr>
          <p:spPr>
            <a:xfrm>
              <a:off x="1574600" y="4980235"/>
              <a:ext cx="149958" cy="21632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C716F074-866D-43C4-889A-BEE92FA26DB0}"/>
                </a:ext>
              </a:extLst>
            </p:cNvPr>
            <p:cNvCxnSpPr>
              <a:cxnSpLocks/>
            </p:cNvCxnSpPr>
            <p:nvPr/>
          </p:nvCxnSpPr>
          <p:spPr>
            <a:xfrm>
              <a:off x="1240038" y="5049851"/>
              <a:ext cx="487290" cy="20743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A2E362C3-185A-4829-9F5A-E0A823791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2183" y="5354427"/>
              <a:ext cx="442525" cy="20760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2" name="그림 61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45430385-21CF-4A70-9F16-1FD2FEE56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432239" y="4651807"/>
              <a:ext cx="267254" cy="393253"/>
            </a:xfrm>
            <a:prstGeom prst="rect">
              <a:avLst/>
            </a:prstGeom>
          </p:spPr>
        </p:pic>
        <p:pic>
          <p:nvPicPr>
            <p:cNvPr id="63" name="그림 62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56482D81-9845-41B5-BA4F-0487C5037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66533" y="4825794"/>
              <a:ext cx="267254" cy="393253"/>
            </a:xfrm>
            <a:prstGeom prst="rect">
              <a:avLst/>
            </a:prstGeom>
          </p:spPr>
        </p:pic>
        <p:pic>
          <p:nvPicPr>
            <p:cNvPr id="64" name="그림 63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035482BD-8C20-4E5C-8EFB-D7E261F9D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48834" y="5159586"/>
              <a:ext cx="267254" cy="393253"/>
            </a:xfrm>
            <a:prstGeom prst="rect">
              <a:avLst/>
            </a:prstGeom>
          </p:spPr>
        </p:pic>
        <p:pic>
          <p:nvPicPr>
            <p:cNvPr id="65" name="그림 64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27489FF4-11F6-42A8-A988-86C7707BB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4782" y="5387068"/>
              <a:ext cx="267254" cy="393253"/>
            </a:xfrm>
            <a:prstGeom prst="rect">
              <a:avLst/>
            </a:prstGeom>
          </p:spPr>
        </p:pic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DDD98BFD-0B19-453A-B7DA-EDD70FE6B8CF}"/>
                </a:ext>
              </a:extLst>
            </p:cNvPr>
            <p:cNvGrpSpPr/>
            <p:nvPr/>
          </p:nvGrpSpPr>
          <p:grpSpPr>
            <a:xfrm>
              <a:off x="1675414" y="5455266"/>
              <a:ext cx="361090" cy="424180"/>
              <a:chOff x="973967" y="3727034"/>
              <a:chExt cx="489425" cy="574938"/>
            </a:xfrm>
          </p:grpSpPr>
          <p:pic>
            <p:nvPicPr>
              <p:cNvPr id="82" name="그림 81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FA0A6397-3C5F-4EEF-8463-B4E5A2144E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83" name="그림 82">
                <a:extLst>
                  <a:ext uri="{FF2B5EF4-FFF2-40B4-BE49-F238E27FC236}">
                    <a16:creationId xmlns:a16="http://schemas.microsoft.com/office/drawing/2014/main" id="{092D5826-A48F-43CB-98CD-57F9370213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84" name="그림 83">
                <a:extLst>
                  <a:ext uri="{FF2B5EF4-FFF2-40B4-BE49-F238E27FC236}">
                    <a16:creationId xmlns:a16="http://schemas.microsoft.com/office/drawing/2014/main" id="{62A731ED-CD85-4C35-80EE-C94C9EFEED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5E72998C-9826-42A5-871F-3706B19F5BE7}"/>
                </a:ext>
              </a:extLst>
            </p:cNvPr>
            <p:cNvCxnSpPr>
              <a:cxnSpLocks/>
              <a:stCxn id="69" idx="0"/>
              <a:endCxn id="43" idx="2"/>
            </p:cNvCxnSpPr>
            <p:nvPr/>
          </p:nvCxnSpPr>
          <p:spPr>
            <a:xfrm flipV="1">
              <a:off x="3097411" y="2899410"/>
              <a:ext cx="0" cy="88876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331E6015-6839-4F48-BFE4-FC1262007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3788175"/>
              <a:ext cx="307558" cy="198585"/>
            </a:xfrm>
            <a:prstGeom prst="rect">
              <a:avLst/>
            </a:prstGeom>
          </p:spPr>
        </p:pic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335EE6B0-AE28-4195-A600-46E926FF5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384091"/>
              <a:ext cx="307558" cy="198585"/>
            </a:xfrm>
            <a:prstGeom prst="rect">
              <a:avLst/>
            </a:prstGeom>
          </p:spPr>
        </p:pic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B2897270-EF5E-4778-9102-A65D89E13B72}"/>
                </a:ext>
              </a:extLst>
            </p:cNvPr>
            <p:cNvCxnSpPr/>
            <p:nvPr/>
          </p:nvCxnSpPr>
          <p:spPr>
            <a:xfrm flipH="1">
              <a:off x="1274445" y="3641726"/>
              <a:ext cx="263525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2F4E6CED-4471-4C7A-A798-ECCAA7E14E7C}"/>
                </a:ext>
              </a:extLst>
            </p:cNvPr>
            <p:cNvGrpSpPr/>
            <p:nvPr/>
          </p:nvGrpSpPr>
          <p:grpSpPr>
            <a:xfrm>
              <a:off x="985367" y="3338114"/>
              <a:ext cx="361090" cy="424180"/>
              <a:chOff x="973967" y="3727034"/>
              <a:chExt cx="489425" cy="574938"/>
            </a:xfrm>
          </p:grpSpPr>
          <p:pic>
            <p:nvPicPr>
              <p:cNvPr id="79" name="그림 78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B9667F1F-970C-4757-AD74-CDFB651E35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80" name="그림 79">
                <a:extLst>
                  <a:ext uri="{FF2B5EF4-FFF2-40B4-BE49-F238E27FC236}">
                    <a16:creationId xmlns:a16="http://schemas.microsoft.com/office/drawing/2014/main" id="{0B5C8E66-43E3-4313-9D81-601D989AEE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81" name="그림 80">
                <a:extLst>
                  <a:ext uri="{FF2B5EF4-FFF2-40B4-BE49-F238E27FC236}">
                    <a16:creationId xmlns:a16="http://schemas.microsoft.com/office/drawing/2014/main" id="{74A32A90-6C03-423D-9E36-FE0B6E107E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C3B3F713-1175-4395-884B-156302E3D8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9098" y="5086349"/>
              <a:ext cx="144000" cy="13312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032CA7EE-5B96-4B2B-A1D7-32F54486C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53882" y="5208344"/>
              <a:ext cx="307558" cy="198585"/>
            </a:xfrm>
            <a:prstGeom prst="rect">
              <a:avLst/>
            </a:prstGeom>
          </p:spPr>
        </p:pic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15510C1-6702-487B-B619-A9CD5DF96FC8}"/>
                </a:ext>
              </a:extLst>
            </p:cNvPr>
            <p:cNvCxnSpPr>
              <a:cxnSpLocks/>
              <a:endCxn id="78" idx="2"/>
            </p:cNvCxnSpPr>
            <p:nvPr/>
          </p:nvCxnSpPr>
          <p:spPr>
            <a:xfrm flipV="1">
              <a:off x="1704659" y="3286850"/>
              <a:ext cx="0" cy="26750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2FE4B684-FFB3-45F0-B558-B4812FF6A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41945" y="3551831"/>
              <a:ext cx="307558" cy="198585"/>
            </a:xfrm>
            <a:prstGeom prst="rect">
              <a:avLst/>
            </a:prstGeom>
          </p:spPr>
        </p:pic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EDBD4EFF-3943-41D6-9C68-577306E8D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76060" y="2872220"/>
              <a:ext cx="207997" cy="192081"/>
            </a:xfrm>
            <a:prstGeom prst="rect">
              <a:avLst/>
            </a:prstGeom>
          </p:spPr>
        </p:pic>
        <p:pic>
          <p:nvPicPr>
            <p:cNvPr id="78" name="그림 77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CBCE2277-1F50-4B58-A2BD-2CAF54916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04868" y="2893597"/>
              <a:ext cx="267254" cy="393253"/>
            </a:xfrm>
            <a:prstGeom prst="rect">
              <a:avLst/>
            </a:prstGeom>
          </p:spPr>
        </p:pic>
      </p:grp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C93C41B7-04B6-439B-A8F3-7AC8E0CA70E0}"/>
              </a:ext>
            </a:extLst>
          </p:cNvPr>
          <p:cNvGrpSpPr/>
          <p:nvPr/>
        </p:nvGrpSpPr>
        <p:grpSpPr>
          <a:xfrm>
            <a:off x="540631" y="980728"/>
            <a:ext cx="3731017" cy="5461181"/>
            <a:chOff x="540631" y="980728"/>
            <a:chExt cx="3731017" cy="5461181"/>
          </a:xfrm>
        </p:grpSpPr>
        <p:grpSp>
          <p:nvGrpSpPr>
            <p:cNvPr id="310" name="그룹 309">
              <a:extLst>
                <a:ext uri="{FF2B5EF4-FFF2-40B4-BE49-F238E27FC236}">
                  <a16:creationId xmlns:a16="http://schemas.microsoft.com/office/drawing/2014/main" id="{0E290AE5-A207-48E7-B08E-3C541D881E92}"/>
                </a:ext>
              </a:extLst>
            </p:cNvPr>
            <p:cNvGrpSpPr/>
            <p:nvPr/>
          </p:nvGrpSpPr>
          <p:grpSpPr>
            <a:xfrm>
              <a:off x="1324885" y="980728"/>
              <a:ext cx="1979108" cy="1028446"/>
              <a:chOff x="1324885" y="980728"/>
              <a:chExt cx="1979108" cy="1028446"/>
            </a:xfrm>
          </p:grpSpPr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6106AD0E-64A9-4AFD-9E9E-5367E556A365}"/>
                  </a:ext>
                </a:extLst>
              </p:cNvPr>
              <p:cNvGrpSpPr/>
              <p:nvPr/>
            </p:nvGrpSpPr>
            <p:grpSpPr>
              <a:xfrm>
                <a:off x="2283248" y="980728"/>
                <a:ext cx="1020745" cy="1028446"/>
                <a:chOff x="4619307" y="1276118"/>
                <a:chExt cx="1098550" cy="1166886"/>
              </a:xfrm>
            </p:grpSpPr>
            <p:sp>
              <p:nvSpPr>
                <p:cNvPr id="95" name="Rectangle 228">
                  <a:extLst>
                    <a:ext uri="{FF2B5EF4-FFF2-40B4-BE49-F238E27FC236}">
                      <a16:creationId xmlns:a16="http://schemas.microsoft.com/office/drawing/2014/main" id="{B76803A5-BD07-4F41-9F61-4493F001C6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20895" y="1322404"/>
                  <a:ext cx="1095375" cy="11206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105B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100">
                    <a:solidFill>
                      <a:schemeClr val="lt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105" name="직사각형 104">
                  <a:extLst>
                    <a:ext uri="{FF2B5EF4-FFF2-40B4-BE49-F238E27FC236}">
                      <a16:creationId xmlns:a16="http://schemas.microsoft.com/office/drawing/2014/main" id="{2F89302E-A9D7-4D66-9F03-26553B786B10}"/>
                    </a:ext>
                  </a:extLst>
                </p:cNvPr>
                <p:cNvSpPr/>
                <p:nvPr/>
              </p:nvSpPr>
              <p:spPr>
                <a:xfrm>
                  <a:off x="4621990" y="1326197"/>
                  <a:ext cx="1093184" cy="219076"/>
                </a:xfrm>
                <a:prstGeom prst="rect">
                  <a:avLst/>
                </a:prstGeom>
                <a:solidFill>
                  <a:srgbClr val="105B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en-US" sz="1100">
                    <a:latin typeface="넥슨Lv1고딕" panose="00000500000000000000" pitchFamily="2" charset="-127"/>
                    <a:ea typeface="넥슨Lv1고딕" panose="00000500000000000000" pitchFamily="2" charset="-127"/>
                    <a:sym typeface="Arial"/>
                  </a:endParaRPr>
                </a:p>
              </p:txBody>
            </p:sp>
            <p:sp>
              <p:nvSpPr>
                <p:cNvPr id="102" name="Line 231">
                  <a:extLst>
                    <a:ext uri="{FF2B5EF4-FFF2-40B4-BE49-F238E27FC236}">
                      <a16:creationId xmlns:a16="http://schemas.microsoft.com/office/drawing/2014/main" id="{0CB76E0F-C5FC-402B-985C-E842FF1D8D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19307" y="1767150"/>
                  <a:ext cx="1098550" cy="0"/>
                </a:xfrm>
                <a:prstGeom prst="line">
                  <a:avLst/>
                </a:prstGeom>
                <a:solidFill>
                  <a:srgbClr val="EFF5FB"/>
                </a:solidFill>
                <a:ln>
                  <a:solidFill>
                    <a:srgbClr val="105B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en-US" sz="1100">
                    <a:solidFill>
                      <a:schemeClr val="lt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103" name="Line 231">
                  <a:extLst>
                    <a:ext uri="{FF2B5EF4-FFF2-40B4-BE49-F238E27FC236}">
                      <a16:creationId xmlns:a16="http://schemas.microsoft.com/office/drawing/2014/main" id="{C12000EF-AAB7-458B-8FD7-7342DFD016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19307" y="1983866"/>
                  <a:ext cx="1098550" cy="0"/>
                </a:xfrm>
                <a:prstGeom prst="line">
                  <a:avLst/>
                </a:prstGeom>
                <a:solidFill>
                  <a:srgbClr val="EFF5FB"/>
                </a:solidFill>
                <a:ln>
                  <a:solidFill>
                    <a:srgbClr val="105B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en-US" sz="1100">
                    <a:solidFill>
                      <a:schemeClr val="lt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104" name="Line 231">
                  <a:extLst>
                    <a:ext uri="{FF2B5EF4-FFF2-40B4-BE49-F238E27FC236}">
                      <a16:creationId xmlns:a16="http://schemas.microsoft.com/office/drawing/2014/main" id="{EDBF067F-B563-4914-A985-6A11434DF0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19307" y="2200583"/>
                  <a:ext cx="1098550" cy="0"/>
                </a:xfrm>
                <a:prstGeom prst="line">
                  <a:avLst/>
                </a:prstGeom>
                <a:solidFill>
                  <a:srgbClr val="EFF5FB"/>
                </a:solidFill>
                <a:ln>
                  <a:solidFill>
                    <a:srgbClr val="105B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en-US" sz="1100">
                    <a:solidFill>
                      <a:schemeClr val="lt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97" name="Text Box 230">
                  <a:extLst>
                    <a:ext uri="{FF2B5EF4-FFF2-40B4-BE49-F238E27FC236}">
                      <a16:creationId xmlns:a16="http://schemas.microsoft.com/office/drawing/2014/main" id="{20237EAA-906F-4813-B324-D09F6DEA1F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6894" y="1276118"/>
                  <a:ext cx="1043376" cy="10484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application</a:t>
                  </a:r>
                </a:p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2">
                          <a:lumMod val="10000"/>
                        </a:schemeClr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transport</a:t>
                  </a:r>
                </a:p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2">
                          <a:lumMod val="10000"/>
                        </a:schemeClr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network</a:t>
                  </a:r>
                </a:p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2">
                          <a:lumMod val="10000"/>
                        </a:schemeClr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data link</a:t>
                  </a:r>
                </a:p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2">
                          <a:lumMod val="10000"/>
                        </a:schemeClr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physical</a:t>
                  </a:r>
                </a:p>
              </p:txBody>
            </p:sp>
          </p:grpSp>
          <p:sp>
            <p:nvSpPr>
              <p:cNvPr id="280" name="Freeform 917">
                <a:extLst>
                  <a:ext uri="{FF2B5EF4-FFF2-40B4-BE49-F238E27FC236}">
                    <a16:creationId xmlns:a16="http://schemas.microsoft.com/office/drawing/2014/main" id="{D8D84FF6-870F-4FFE-B11B-A5FD77AA055C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>
                <a:off x="1323213" y="1029536"/>
                <a:ext cx="961123" cy="957779"/>
              </a:xfrm>
              <a:prstGeom prst="triangle">
                <a:avLst>
                  <a:gd name="adj" fmla="val 46947"/>
                </a:avLst>
              </a:prstGeom>
              <a:gradFill flip="none" rotWithShape="1">
                <a:gsLst>
                  <a:gs pos="1000">
                    <a:srgbClr val="105BA0">
                      <a:alpha val="28000"/>
                    </a:srgbClr>
                  </a:gs>
                  <a:gs pos="100000">
                    <a:srgbClr val="105BA0">
                      <a:alpha val="48000"/>
                    </a:srgbClr>
                  </a:gs>
                </a:gsLst>
                <a:lin ang="5400000" scaled="1"/>
                <a:tileRect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12" name="그룹 311">
              <a:extLst>
                <a:ext uri="{FF2B5EF4-FFF2-40B4-BE49-F238E27FC236}">
                  <a16:creationId xmlns:a16="http://schemas.microsoft.com/office/drawing/2014/main" id="{5742A9B8-5DD4-42B2-9C2A-03835810478A}"/>
                </a:ext>
              </a:extLst>
            </p:cNvPr>
            <p:cNvGrpSpPr/>
            <p:nvPr/>
          </p:nvGrpSpPr>
          <p:grpSpPr>
            <a:xfrm>
              <a:off x="2950825" y="5270334"/>
              <a:ext cx="1320823" cy="1171575"/>
              <a:chOff x="2950825" y="5270334"/>
              <a:chExt cx="1320823" cy="1171575"/>
            </a:xfrm>
          </p:grpSpPr>
          <p:grpSp>
            <p:nvGrpSpPr>
              <p:cNvPr id="282" name="그룹 281">
                <a:extLst>
                  <a:ext uri="{FF2B5EF4-FFF2-40B4-BE49-F238E27FC236}">
                    <a16:creationId xmlns:a16="http://schemas.microsoft.com/office/drawing/2014/main" id="{41ECC307-3963-46D6-B62E-8B716A797031}"/>
                  </a:ext>
                </a:extLst>
              </p:cNvPr>
              <p:cNvGrpSpPr/>
              <p:nvPr/>
            </p:nvGrpSpPr>
            <p:grpSpPr>
              <a:xfrm>
                <a:off x="3250903" y="5390912"/>
                <a:ext cx="1020745" cy="1026367"/>
                <a:chOff x="4628335" y="1088112"/>
                <a:chExt cx="1098550" cy="1164523"/>
              </a:xfrm>
            </p:grpSpPr>
            <p:sp>
              <p:nvSpPr>
                <p:cNvPr id="283" name="Rectangle 228">
                  <a:extLst>
                    <a:ext uri="{FF2B5EF4-FFF2-40B4-BE49-F238E27FC236}">
                      <a16:creationId xmlns:a16="http://schemas.microsoft.com/office/drawing/2014/main" id="{8B899E50-2343-48B9-94B2-33BB9516FB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29924" y="1132035"/>
                  <a:ext cx="1095375" cy="11206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105B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100">
                    <a:solidFill>
                      <a:schemeClr val="lt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284" name="직사각형 283">
                  <a:extLst>
                    <a:ext uri="{FF2B5EF4-FFF2-40B4-BE49-F238E27FC236}">
                      <a16:creationId xmlns:a16="http://schemas.microsoft.com/office/drawing/2014/main" id="{27D11D7D-330F-4DB7-B2CE-BBB6251939C5}"/>
                    </a:ext>
                  </a:extLst>
                </p:cNvPr>
                <p:cNvSpPr/>
                <p:nvPr/>
              </p:nvSpPr>
              <p:spPr>
                <a:xfrm>
                  <a:off x="4631018" y="1135831"/>
                  <a:ext cx="1093184" cy="219076"/>
                </a:xfrm>
                <a:prstGeom prst="rect">
                  <a:avLst/>
                </a:prstGeom>
                <a:solidFill>
                  <a:srgbClr val="105B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en-US" sz="1100" dirty="0">
                    <a:latin typeface="넥슨Lv1고딕" panose="00000500000000000000" pitchFamily="2" charset="-127"/>
                    <a:ea typeface="넥슨Lv1고딕" panose="00000500000000000000" pitchFamily="2" charset="-127"/>
                    <a:sym typeface="Arial"/>
                  </a:endParaRPr>
                </a:p>
              </p:txBody>
            </p:sp>
            <p:sp>
              <p:nvSpPr>
                <p:cNvPr id="285" name="Line 231">
                  <a:extLst>
                    <a:ext uri="{FF2B5EF4-FFF2-40B4-BE49-F238E27FC236}">
                      <a16:creationId xmlns:a16="http://schemas.microsoft.com/office/drawing/2014/main" id="{3F1B7FC4-8A3E-424E-9A19-48A25CF34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28335" y="1576784"/>
                  <a:ext cx="1098550" cy="0"/>
                </a:xfrm>
                <a:prstGeom prst="line">
                  <a:avLst/>
                </a:prstGeom>
                <a:solidFill>
                  <a:srgbClr val="EFF5FB"/>
                </a:solidFill>
                <a:ln>
                  <a:solidFill>
                    <a:srgbClr val="105B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en-US" sz="1100">
                    <a:solidFill>
                      <a:schemeClr val="lt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286" name="Line 231">
                  <a:extLst>
                    <a:ext uri="{FF2B5EF4-FFF2-40B4-BE49-F238E27FC236}">
                      <a16:creationId xmlns:a16="http://schemas.microsoft.com/office/drawing/2014/main" id="{023EF115-EF38-47F3-9106-572182506E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28335" y="1793499"/>
                  <a:ext cx="1098550" cy="0"/>
                </a:xfrm>
                <a:prstGeom prst="line">
                  <a:avLst/>
                </a:prstGeom>
                <a:solidFill>
                  <a:srgbClr val="EFF5FB"/>
                </a:solidFill>
                <a:ln>
                  <a:solidFill>
                    <a:srgbClr val="105B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en-US" sz="1100">
                    <a:solidFill>
                      <a:schemeClr val="lt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287" name="Line 231">
                  <a:extLst>
                    <a:ext uri="{FF2B5EF4-FFF2-40B4-BE49-F238E27FC236}">
                      <a16:creationId xmlns:a16="http://schemas.microsoft.com/office/drawing/2014/main" id="{8CC10576-8FFF-47C8-BD17-1DB51BE18B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28335" y="2010216"/>
                  <a:ext cx="1098550" cy="0"/>
                </a:xfrm>
                <a:prstGeom prst="line">
                  <a:avLst/>
                </a:prstGeom>
                <a:solidFill>
                  <a:srgbClr val="EFF5FB"/>
                </a:solidFill>
                <a:ln>
                  <a:solidFill>
                    <a:srgbClr val="105B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en-US" sz="1100">
                    <a:solidFill>
                      <a:schemeClr val="lt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288" name="Text Box 230">
                  <a:extLst>
                    <a:ext uri="{FF2B5EF4-FFF2-40B4-BE49-F238E27FC236}">
                      <a16:creationId xmlns:a16="http://schemas.microsoft.com/office/drawing/2014/main" id="{972BD4BD-C6DF-4EB8-9ECE-67B1CD70BE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57746" y="1088112"/>
                  <a:ext cx="1043376" cy="10484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 dirty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application</a:t>
                  </a:r>
                </a:p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 dirty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2">
                          <a:lumMod val="10000"/>
                        </a:schemeClr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transport</a:t>
                  </a:r>
                </a:p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 dirty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2">
                          <a:lumMod val="10000"/>
                        </a:schemeClr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network</a:t>
                  </a:r>
                </a:p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 dirty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2">
                          <a:lumMod val="10000"/>
                        </a:schemeClr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data link</a:t>
                  </a:r>
                </a:p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 dirty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2">
                          <a:lumMod val="10000"/>
                        </a:schemeClr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physical</a:t>
                  </a:r>
                </a:p>
              </p:txBody>
            </p:sp>
          </p:grpSp>
          <p:sp>
            <p:nvSpPr>
              <p:cNvPr id="297" name="자유형: 도형 296">
                <a:extLst>
                  <a:ext uri="{FF2B5EF4-FFF2-40B4-BE49-F238E27FC236}">
                    <a16:creationId xmlns:a16="http://schemas.microsoft.com/office/drawing/2014/main" id="{FCB87F0C-65C5-47DD-BA5C-289181E8B7B1}"/>
                  </a:ext>
                </a:extLst>
              </p:cNvPr>
              <p:cNvSpPr/>
              <p:nvPr/>
            </p:nvSpPr>
            <p:spPr>
              <a:xfrm>
                <a:off x="2950825" y="5270334"/>
                <a:ext cx="304800" cy="1171575"/>
              </a:xfrm>
              <a:custGeom>
                <a:avLst/>
                <a:gdLst>
                  <a:gd name="connsiteX0" fmla="*/ 0 w 304800"/>
                  <a:gd name="connsiteY0" fmla="*/ 0 h 1171575"/>
                  <a:gd name="connsiteX1" fmla="*/ 304800 w 304800"/>
                  <a:gd name="connsiteY1" fmla="*/ 1171575 h 1171575"/>
                  <a:gd name="connsiteX2" fmla="*/ 304800 w 304800"/>
                  <a:gd name="connsiteY2" fmla="*/ 166688 h 1171575"/>
                  <a:gd name="connsiteX3" fmla="*/ 0 w 304800"/>
                  <a:gd name="connsiteY3" fmla="*/ 0 h 1171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800" h="1171575">
                    <a:moveTo>
                      <a:pt x="0" y="0"/>
                    </a:moveTo>
                    <a:lnTo>
                      <a:pt x="304800" y="1171575"/>
                    </a:lnTo>
                    <a:lnTo>
                      <a:pt x="304800" y="166688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1000">
                    <a:srgbClr val="105BA0">
                      <a:alpha val="28000"/>
                    </a:srgbClr>
                  </a:gs>
                  <a:gs pos="100000">
                    <a:srgbClr val="105BA0">
                      <a:alpha val="48000"/>
                    </a:srgbClr>
                  </a:gs>
                </a:gsLst>
                <a:lin ang="5400000" scaled="1"/>
                <a:tileRect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8691428A-B887-4B87-A348-9E33E53BD7A3}"/>
                </a:ext>
              </a:extLst>
            </p:cNvPr>
            <p:cNvGrpSpPr/>
            <p:nvPr/>
          </p:nvGrpSpPr>
          <p:grpSpPr>
            <a:xfrm>
              <a:off x="540631" y="3717032"/>
              <a:ext cx="1031498" cy="1268784"/>
              <a:chOff x="540631" y="3717032"/>
              <a:chExt cx="1031498" cy="1268784"/>
            </a:xfrm>
          </p:grpSpPr>
          <p:grpSp>
            <p:nvGrpSpPr>
              <p:cNvPr id="290" name="그룹 289">
                <a:extLst>
                  <a:ext uri="{FF2B5EF4-FFF2-40B4-BE49-F238E27FC236}">
                    <a16:creationId xmlns:a16="http://schemas.microsoft.com/office/drawing/2014/main" id="{2E55304B-2F77-4525-B899-3E80D6B799A0}"/>
                  </a:ext>
                </a:extLst>
              </p:cNvPr>
              <p:cNvGrpSpPr/>
              <p:nvPr/>
            </p:nvGrpSpPr>
            <p:grpSpPr>
              <a:xfrm>
                <a:off x="551384" y="3717032"/>
                <a:ext cx="1020745" cy="1028446"/>
                <a:chOff x="4619307" y="1276118"/>
                <a:chExt cx="1098550" cy="1166886"/>
              </a:xfrm>
            </p:grpSpPr>
            <p:sp>
              <p:nvSpPr>
                <p:cNvPr id="291" name="Rectangle 228">
                  <a:extLst>
                    <a:ext uri="{FF2B5EF4-FFF2-40B4-BE49-F238E27FC236}">
                      <a16:creationId xmlns:a16="http://schemas.microsoft.com/office/drawing/2014/main" id="{C37F36D6-0B2C-468B-9476-D5F635F3D4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20895" y="1322404"/>
                  <a:ext cx="1095375" cy="11206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105B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100">
                    <a:solidFill>
                      <a:schemeClr val="lt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292" name="직사각형 291">
                  <a:extLst>
                    <a:ext uri="{FF2B5EF4-FFF2-40B4-BE49-F238E27FC236}">
                      <a16:creationId xmlns:a16="http://schemas.microsoft.com/office/drawing/2014/main" id="{E1EE42CB-96DA-45F1-8CBB-7A02A313E1AF}"/>
                    </a:ext>
                  </a:extLst>
                </p:cNvPr>
                <p:cNvSpPr/>
                <p:nvPr/>
              </p:nvSpPr>
              <p:spPr>
                <a:xfrm>
                  <a:off x="4621990" y="1326197"/>
                  <a:ext cx="1093184" cy="219076"/>
                </a:xfrm>
                <a:prstGeom prst="rect">
                  <a:avLst/>
                </a:prstGeom>
                <a:solidFill>
                  <a:srgbClr val="105B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en-US" sz="1100">
                    <a:latin typeface="넥슨Lv1고딕" panose="00000500000000000000" pitchFamily="2" charset="-127"/>
                    <a:ea typeface="넥슨Lv1고딕" panose="00000500000000000000" pitchFamily="2" charset="-127"/>
                    <a:sym typeface="Arial"/>
                  </a:endParaRPr>
                </a:p>
              </p:txBody>
            </p:sp>
            <p:sp>
              <p:nvSpPr>
                <p:cNvPr id="293" name="Line 231">
                  <a:extLst>
                    <a:ext uri="{FF2B5EF4-FFF2-40B4-BE49-F238E27FC236}">
                      <a16:creationId xmlns:a16="http://schemas.microsoft.com/office/drawing/2014/main" id="{63B75307-E81D-451F-B36D-4E48B03F57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19307" y="1767150"/>
                  <a:ext cx="1098550" cy="0"/>
                </a:xfrm>
                <a:prstGeom prst="line">
                  <a:avLst/>
                </a:prstGeom>
                <a:solidFill>
                  <a:srgbClr val="EFF5FB"/>
                </a:solidFill>
                <a:ln>
                  <a:solidFill>
                    <a:srgbClr val="105B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en-US" sz="1100">
                    <a:solidFill>
                      <a:schemeClr val="lt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294" name="Line 231">
                  <a:extLst>
                    <a:ext uri="{FF2B5EF4-FFF2-40B4-BE49-F238E27FC236}">
                      <a16:creationId xmlns:a16="http://schemas.microsoft.com/office/drawing/2014/main" id="{A48A98B0-B602-4471-BAF4-4F6AC420CB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19307" y="1983866"/>
                  <a:ext cx="1098550" cy="0"/>
                </a:xfrm>
                <a:prstGeom prst="line">
                  <a:avLst/>
                </a:prstGeom>
                <a:solidFill>
                  <a:srgbClr val="EFF5FB"/>
                </a:solidFill>
                <a:ln>
                  <a:solidFill>
                    <a:srgbClr val="105B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en-US" sz="1100">
                    <a:solidFill>
                      <a:schemeClr val="lt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295" name="Line 231">
                  <a:extLst>
                    <a:ext uri="{FF2B5EF4-FFF2-40B4-BE49-F238E27FC236}">
                      <a16:creationId xmlns:a16="http://schemas.microsoft.com/office/drawing/2014/main" id="{19588152-6B48-4CEF-8A8C-FA9DBB88A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19307" y="2200583"/>
                  <a:ext cx="1098550" cy="0"/>
                </a:xfrm>
                <a:prstGeom prst="line">
                  <a:avLst/>
                </a:prstGeom>
                <a:solidFill>
                  <a:srgbClr val="EFF5FB"/>
                </a:solidFill>
                <a:ln>
                  <a:solidFill>
                    <a:srgbClr val="105B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en-US" sz="1100">
                    <a:solidFill>
                      <a:schemeClr val="lt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296" name="Text Box 230">
                  <a:extLst>
                    <a:ext uri="{FF2B5EF4-FFF2-40B4-BE49-F238E27FC236}">
                      <a16:creationId xmlns:a16="http://schemas.microsoft.com/office/drawing/2014/main" id="{D4C693EE-0E9E-4C6B-8601-CFDB2CD095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6894" y="1276118"/>
                  <a:ext cx="1043376" cy="10484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 dirty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application</a:t>
                  </a:r>
                </a:p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 dirty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2">
                          <a:lumMod val="10000"/>
                        </a:schemeClr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transport</a:t>
                  </a:r>
                </a:p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 dirty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2">
                          <a:lumMod val="10000"/>
                        </a:schemeClr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network</a:t>
                  </a:r>
                </a:p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 dirty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2">
                          <a:lumMod val="10000"/>
                        </a:schemeClr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data link</a:t>
                  </a:r>
                </a:p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050" dirty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schemeClr val="bg2">
                          <a:lumMod val="10000"/>
                        </a:schemeClr>
                      </a:solidFill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physical</a:t>
                  </a:r>
                </a:p>
              </p:txBody>
            </p:sp>
          </p:grpSp>
          <p:sp>
            <p:nvSpPr>
              <p:cNvPr id="301" name="자유형: 도형 300">
                <a:extLst>
                  <a:ext uri="{FF2B5EF4-FFF2-40B4-BE49-F238E27FC236}">
                    <a16:creationId xmlns:a16="http://schemas.microsoft.com/office/drawing/2014/main" id="{2FA5CD6E-3A25-44F7-B5A6-8E709FF51523}"/>
                  </a:ext>
                </a:extLst>
              </p:cNvPr>
              <p:cNvSpPr/>
              <p:nvPr/>
            </p:nvSpPr>
            <p:spPr>
              <a:xfrm>
                <a:off x="540631" y="4738861"/>
                <a:ext cx="1014516" cy="246955"/>
              </a:xfrm>
              <a:custGeom>
                <a:avLst/>
                <a:gdLst>
                  <a:gd name="connsiteX0" fmla="*/ 0 w 1014516"/>
                  <a:gd name="connsiteY0" fmla="*/ 0 h 246955"/>
                  <a:gd name="connsiteX1" fmla="*/ 540630 w 1014516"/>
                  <a:gd name="connsiteY1" fmla="*/ 246955 h 246955"/>
                  <a:gd name="connsiteX2" fmla="*/ 1014516 w 1014516"/>
                  <a:gd name="connsiteY2" fmla="*/ 13349 h 246955"/>
                  <a:gd name="connsiteX3" fmla="*/ 0 w 1014516"/>
                  <a:gd name="connsiteY3" fmla="*/ 0 h 246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4516" h="246955">
                    <a:moveTo>
                      <a:pt x="0" y="0"/>
                    </a:moveTo>
                    <a:lnTo>
                      <a:pt x="540630" y="246955"/>
                    </a:lnTo>
                    <a:lnTo>
                      <a:pt x="1014516" y="13349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1000">
                    <a:srgbClr val="105BA0">
                      <a:alpha val="28000"/>
                    </a:srgbClr>
                  </a:gs>
                  <a:gs pos="100000">
                    <a:srgbClr val="105BA0">
                      <a:alpha val="48000"/>
                    </a:srgbClr>
                  </a:gs>
                </a:gsLst>
                <a:lin ang="5400000" scaled="1"/>
                <a:tileRect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8700C3B8-8F71-49E7-882B-D4C5ED66DE2A}"/>
              </a:ext>
            </a:extLst>
          </p:cNvPr>
          <p:cNvGrpSpPr/>
          <p:nvPr/>
        </p:nvGrpSpPr>
        <p:grpSpPr>
          <a:xfrm>
            <a:off x="1631504" y="1148006"/>
            <a:ext cx="2401341" cy="4154182"/>
            <a:chOff x="1631504" y="1148006"/>
            <a:chExt cx="2401341" cy="4154182"/>
          </a:xfrm>
        </p:grpSpPr>
        <p:sp>
          <p:nvSpPr>
            <p:cNvPr id="303" name="자유형: 도형 302">
              <a:extLst>
                <a:ext uri="{FF2B5EF4-FFF2-40B4-BE49-F238E27FC236}">
                  <a16:creationId xmlns:a16="http://schemas.microsoft.com/office/drawing/2014/main" id="{8D6CF626-1BE7-49F5-8AC4-528AD99B1DFC}"/>
                </a:ext>
              </a:extLst>
            </p:cNvPr>
            <p:cNvSpPr/>
            <p:nvPr/>
          </p:nvSpPr>
          <p:spPr>
            <a:xfrm>
              <a:off x="3363924" y="1148006"/>
              <a:ext cx="668921" cy="4154182"/>
            </a:xfrm>
            <a:custGeom>
              <a:avLst/>
              <a:gdLst>
                <a:gd name="connsiteX0" fmla="*/ 0 w 607375"/>
                <a:gd name="connsiteY0" fmla="*/ 0 h 4398464"/>
                <a:gd name="connsiteX1" fmla="*/ 607375 w 607375"/>
                <a:gd name="connsiteY1" fmla="*/ 0 h 4398464"/>
                <a:gd name="connsiteX2" fmla="*/ 607375 w 607375"/>
                <a:gd name="connsiteY2" fmla="*/ 4398464 h 439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7375" h="4398464">
                  <a:moveTo>
                    <a:pt x="0" y="0"/>
                  </a:moveTo>
                  <a:lnTo>
                    <a:pt x="607375" y="0"/>
                  </a:lnTo>
                  <a:lnTo>
                    <a:pt x="607375" y="4398464"/>
                  </a:lnTo>
                </a:path>
              </a:pathLst>
            </a:custGeom>
            <a:noFill/>
            <a:ln w="31750">
              <a:solidFill>
                <a:srgbClr val="105BA0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4" name="자유형: 도형 303">
              <a:extLst>
                <a:ext uri="{FF2B5EF4-FFF2-40B4-BE49-F238E27FC236}">
                  <a16:creationId xmlns:a16="http://schemas.microsoft.com/office/drawing/2014/main" id="{3DC8A013-4FC8-418A-A429-177309A4FF37}"/>
                </a:ext>
              </a:extLst>
            </p:cNvPr>
            <p:cNvSpPr/>
            <p:nvPr/>
          </p:nvSpPr>
          <p:spPr>
            <a:xfrm>
              <a:off x="1631504" y="3861049"/>
              <a:ext cx="2089447" cy="1441139"/>
            </a:xfrm>
            <a:custGeom>
              <a:avLst/>
              <a:gdLst>
                <a:gd name="connsiteX0" fmla="*/ 0 w 2242617"/>
                <a:gd name="connsiteY0" fmla="*/ 0 h 1628566"/>
                <a:gd name="connsiteX1" fmla="*/ 2242617 w 2242617"/>
                <a:gd name="connsiteY1" fmla="*/ 1628566 h 162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42617" h="1628566">
                  <a:moveTo>
                    <a:pt x="0" y="0"/>
                  </a:moveTo>
                  <a:lnTo>
                    <a:pt x="2242617" y="1628566"/>
                  </a:lnTo>
                </a:path>
              </a:pathLst>
            </a:custGeom>
            <a:noFill/>
            <a:ln w="31750">
              <a:solidFill>
                <a:srgbClr val="105BA0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305" name="Rectangle 3">
            <a:extLst>
              <a:ext uri="{FF2B5EF4-FFF2-40B4-BE49-F238E27FC236}">
                <a16:creationId xmlns:a16="http://schemas.microsoft.com/office/drawing/2014/main" id="{BDEEFCED-75A3-4CC0-AFEF-21134A3268B7}"/>
              </a:ext>
            </a:extLst>
          </p:cNvPr>
          <p:cNvSpPr txBox="1">
            <a:spLocks noChangeArrowheads="1"/>
          </p:cNvSpPr>
          <p:nvPr/>
        </p:nvSpPr>
        <p:spPr>
          <a:xfrm>
            <a:off x="4277861" y="3068960"/>
            <a:ext cx="3484527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네트워크 코어 장비를 위한 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</a:b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소프트웨어를 만들 필요는 없다</a:t>
            </a:r>
          </a:p>
        </p:txBody>
      </p:sp>
      <p:sp>
        <p:nvSpPr>
          <p:cNvPr id="306" name="Rectangle 3">
            <a:extLst>
              <a:ext uri="{FF2B5EF4-FFF2-40B4-BE49-F238E27FC236}">
                <a16:creationId xmlns:a16="http://schemas.microsoft.com/office/drawing/2014/main" id="{B918A7C2-1B6E-4EDC-AFB0-73B2F78F004C}"/>
              </a:ext>
            </a:extLst>
          </p:cNvPr>
          <p:cNvSpPr txBox="1">
            <a:spLocks noChangeArrowheads="1"/>
          </p:cNvSpPr>
          <p:nvPr/>
        </p:nvSpPr>
        <p:spPr>
          <a:xfrm>
            <a:off x="4358419" y="1570821"/>
            <a:ext cx="3898170" cy="133517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서로 다른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종단 시스템에서 실행됨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네트워크를 통해 통신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웹 서버 소프트웨어와 브라우저 소프트웨어</a:t>
            </a:r>
          </a:p>
        </p:txBody>
      </p:sp>
      <p:sp>
        <p:nvSpPr>
          <p:cNvPr id="308" name="Rectangle 3">
            <a:extLst>
              <a:ext uri="{FF2B5EF4-FFF2-40B4-BE49-F238E27FC236}">
                <a16:creationId xmlns:a16="http://schemas.microsoft.com/office/drawing/2014/main" id="{93FE050C-209F-4855-867A-21744A245221}"/>
              </a:ext>
            </a:extLst>
          </p:cNvPr>
          <p:cNvSpPr txBox="1">
            <a:spLocks noChangeArrowheads="1"/>
          </p:cNvSpPr>
          <p:nvPr/>
        </p:nvSpPr>
        <p:spPr>
          <a:xfrm>
            <a:off x="4278685" y="1108594"/>
            <a:ext cx="329636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작성할 프로그램은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309" name="Rectangle 3">
            <a:extLst>
              <a:ext uri="{FF2B5EF4-FFF2-40B4-BE49-F238E27FC236}">
                <a16:creationId xmlns:a16="http://schemas.microsoft.com/office/drawing/2014/main" id="{CE79BF80-34C5-4F97-9B3E-EA1FD1300632}"/>
              </a:ext>
            </a:extLst>
          </p:cNvPr>
          <p:cNvSpPr txBox="1">
            <a:spLocks noChangeArrowheads="1"/>
          </p:cNvSpPr>
          <p:nvPr/>
        </p:nvSpPr>
        <p:spPr>
          <a:xfrm>
            <a:off x="4358419" y="3847700"/>
            <a:ext cx="3975684" cy="12582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코어 장비는 사용자 응용을 실행하는 것이 아님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종단 시스템에서만 존재하는 애플리케이션은 신속한 개발과 보급을 가능하게 함</a:t>
            </a:r>
          </a:p>
        </p:txBody>
      </p:sp>
    </p:spTree>
    <p:extLst>
      <p:ext uri="{BB962C8B-B14F-4D97-AF65-F5344CB8AC3E}">
        <p14:creationId xmlns:p14="http://schemas.microsoft.com/office/powerpoint/2010/main" val="266315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애플리케이션 구조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C056706-AF3C-4493-BE81-86CCFC950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1412776"/>
            <a:ext cx="6826930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애플리케이션에서 가능한 구조</a:t>
            </a:r>
            <a:endParaRPr lang="en-US" altLang="ko-KR" sz="20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D04E9C4-C80B-48A8-9781-920D794E2A05}"/>
              </a:ext>
            </a:extLst>
          </p:cNvPr>
          <p:cNvGrpSpPr/>
          <p:nvPr/>
        </p:nvGrpSpPr>
        <p:grpSpPr>
          <a:xfrm>
            <a:off x="666036" y="1362017"/>
            <a:ext cx="502804" cy="590566"/>
            <a:chOff x="5678490" y="2646569"/>
            <a:chExt cx="502804" cy="590566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F798C73-932D-4957-92EB-8F5F372BCBE9}"/>
                </a:ext>
              </a:extLst>
            </p:cNvPr>
            <p:cNvSpPr/>
            <p:nvPr/>
          </p:nvSpPr>
          <p:spPr>
            <a:xfrm>
              <a:off x="5771092" y="3152714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D87575B7-0C2F-4A96-BC00-B24F4E4156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650557" y="2674502"/>
              <a:ext cx="558670" cy="502804"/>
            </a:xfrm>
            <a:prstGeom prst="rect">
              <a:avLst/>
            </a:prstGeom>
            <a:effectLst/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AC59C0A-E5C7-47CC-B49C-0B1EBDD2C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741954" y="2826171"/>
              <a:ext cx="375876" cy="217726"/>
            </a:xfrm>
            <a:prstGeom prst="rect">
              <a:avLst/>
            </a:prstGeom>
          </p:spPr>
        </p:pic>
      </p:grp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4AE060CF-62DE-4143-B1BA-9E074E009DE9}"/>
              </a:ext>
            </a:extLst>
          </p:cNvPr>
          <p:cNvSpPr/>
          <p:nvPr/>
        </p:nvSpPr>
        <p:spPr>
          <a:xfrm>
            <a:off x="986473" y="2288280"/>
            <a:ext cx="2966628" cy="3228952"/>
          </a:xfrm>
          <a:prstGeom prst="snip1Rect">
            <a:avLst>
              <a:gd name="adj" fmla="val 9219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F312B4FC-8693-44D9-AC99-8DD7859E24B4}"/>
              </a:ext>
            </a:extLst>
          </p:cNvPr>
          <p:cNvSpPr/>
          <p:nvPr/>
        </p:nvSpPr>
        <p:spPr>
          <a:xfrm>
            <a:off x="4310698" y="2288280"/>
            <a:ext cx="2966628" cy="3228952"/>
          </a:xfrm>
          <a:prstGeom prst="snip1Rect">
            <a:avLst>
              <a:gd name="adj" fmla="val 9219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EA665E-0274-4E18-8B75-6053F9937968}"/>
              </a:ext>
            </a:extLst>
          </p:cNvPr>
          <p:cNvSpPr txBox="1"/>
          <p:nvPr/>
        </p:nvSpPr>
        <p:spPr>
          <a:xfrm>
            <a:off x="1269637" y="4382571"/>
            <a:ext cx="2400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client-server</a:t>
            </a:r>
            <a:endParaRPr lang="en-US" altLang="ko-KR" sz="20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96841-5CF0-4EF7-ABDF-A542D1D24DE4}"/>
              </a:ext>
            </a:extLst>
          </p:cNvPr>
          <p:cNvSpPr txBox="1"/>
          <p:nvPr/>
        </p:nvSpPr>
        <p:spPr>
          <a:xfrm>
            <a:off x="4593862" y="4382571"/>
            <a:ext cx="2400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peer-to-peer (P2P)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E766A8A-974C-4A48-9CAC-388586BD9568}"/>
              </a:ext>
            </a:extLst>
          </p:cNvPr>
          <p:cNvSpPr/>
          <p:nvPr/>
        </p:nvSpPr>
        <p:spPr>
          <a:xfrm>
            <a:off x="1836375" y="2838450"/>
            <a:ext cx="1266825" cy="12668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1C5A13-C02F-4B93-A681-35F1A184C32F}"/>
              </a:ext>
            </a:extLst>
          </p:cNvPr>
          <p:cNvSpPr/>
          <p:nvPr/>
        </p:nvSpPr>
        <p:spPr>
          <a:xfrm>
            <a:off x="5160600" y="2838450"/>
            <a:ext cx="1266825" cy="12668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D45848E-FB2F-49C2-B668-B059A8E69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481" y="3161006"/>
            <a:ext cx="714613" cy="62171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18D3E7E-55D8-4DF2-A122-4AD25E0200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2748" y="3109793"/>
            <a:ext cx="722529" cy="72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02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Client - server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구조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8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2879A81-3095-40E4-BE5E-98C1C51C0D45}"/>
              </a:ext>
            </a:extLst>
          </p:cNvPr>
          <p:cNvGrpSpPr/>
          <p:nvPr/>
        </p:nvGrpSpPr>
        <p:grpSpPr>
          <a:xfrm>
            <a:off x="695400" y="1065581"/>
            <a:ext cx="2972026" cy="5371777"/>
            <a:chOff x="578679" y="1064717"/>
            <a:chExt cx="2972026" cy="5371777"/>
          </a:xfrm>
        </p:grpSpPr>
        <p:sp>
          <p:nvSpPr>
            <p:cNvPr id="7" name="Google Shape;245;p4">
              <a:extLst>
                <a:ext uri="{FF2B5EF4-FFF2-40B4-BE49-F238E27FC236}">
                  <a16:creationId xmlns:a16="http://schemas.microsoft.com/office/drawing/2014/main" id="{BC9E7263-821F-4F35-A477-E0BA4A5D9D44}"/>
                </a:ext>
              </a:extLst>
            </p:cNvPr>
            <p:cNvSpPr/>
            <p:nvPr/>
          </p:nvSpPr>
          <p:spPr>
            <a:xfrm>
              <a:off x="578679" y="1064717"/>
              <a:ext cx="2972026" cy="5371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8" name="Google Shape;245;p4">
              <a:extLst>
                <a:ext uri="{FF2B5EF4-FFF2-40B4-BE49-F238E27FC236}">
                  <a16:creationId xmlns:a16="http://schemas.microsoft.com/office/drawing/2014/main" id="{F16F4C38-85AB-47B3-A2BC-FF4CD0F9345A}"/>
                </a:ext>
              </a:extLst>
            </p:cNvPr>
            <p:cNvSpPr/>
            <p:nvPr/>
          </p:nvSpPr>
          <p:spPr>
            <a:xfrm>
              <a:off x="685958" y="4836708"/>
              <a:ext cx="2745613" cy="1126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9" name="Google Shape;245;p4">
              <a:extLst>
                <a:ext uri="{FF2B5EF4-FFF2-40B4-BE49-F238E27FC236}">
                  <a16:creationId xmlns:a16="http://schemas.microsoft.com/office/drawing/2014/main" id="{6C566B84-D85C-4107-87E5-5CED583275A3}"/>
                </a:ext>
              </a:extLst>
            </p:cNvPr>
            <p:cNvSpPr/>
            <p:nvPr/>
          </p:nvSpPr>
          <p:spPr>
            <a:xfrm>
              <a:off x="2195173" y="2202009"/>
              <a:ext cx="1280841" cy="80334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0" name="Google Shape;245;p4">
              <a:extLst>
                <a:ext uri="{FF2B5EF4-FFF2-40B4-BE49-F238E27FC236}">
                  <a16:creationId xmlns:a16="http://schemas.microsoft.com/office/drawing/2014/main" id="{D98F7836-3838-4CA9-B651-22AD7E70E57A}"/>
                </a:ext>
              </a:extLst>
            </p:cNvPr>
            <p:cNvSpPr/>
            <p:nvPr/>
          </p:nvSpPr>
          <p:spPr>
            <a:xfrm>
              <a:off x="686275" y="1443737"/>
              <a:ext cx="1514440" cy="881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842628B-ACB1-4EC8-B941-E4CCF66F30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9060" y="2338388"/>
              <a:ext cx="984675" cy="16102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46643457-1B4A-4084-A366-208B62116C98}"/>
                </a:ext>
              </a:extLst>
            </p:cNvPr>
            <p:cNvGrpSpPr/>
            <p:nvPr/>
          </p:nvGrpSpPr>
          <p:grpSpPr>
            <a:xfrm>
              <a:off x="1290550" y="1517650"/>
              <a:ext cx="306852" cy="504850"/>
              <a:chOff x="1159683" y="3308166"/>
              <a:chExt cx="415912" cy="684280"/>
            </a:xfrm>
          </p:grpSpPr>
          <p:pic>
            <p:nvPicPr>
              <p:cNvPr id="82" name="그림 81">
                <a:extLst>
                  <a:ext uri="{FF2B5EF4-FFF2-40B4-BE49-F238E27FC236}">
                    <a16:creationId xmlns:a16="http://schemas.microsoft.com/office/drawing/2014/main" id="{201CC2DE-F407-4F48-B327-C1D8389C2B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683" y="3308166"/>
                <a:ext cx="415912" cy="266790"/>
              </a:xfrm>
              <a:prstGeom prst="rect">
                <a:avLst/>
              </a:prstGeom>
            </p:spPr>
          </p:pic>
          <p:pic>
            <p:nvPicPr>
              <p:cNvPr id="83" name="그림 82">
                <a:extLst>
                  <a:ext uri="{FF2B5EF4-FFF2-40B4-BE49-F238E27FC236}">
                    <a16:creationId xmlns:a16="http://schemas.microsoft.com/office/drawing/2014/main" id="{F5804233-060E-4BD9-8AA9-03ADDCE385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4729" y="3443786"/>
                <a:ext cx="307465" cy="548660"/>
              </a:xfrm>
              <a:prstGeom prst="rect">
                <a:avLst/>
              </a:prstGeom>
            </p:spPr>
          </p:pic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16D5BE0-7E3A-44D7-802B-7067786C6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6" y="1780238"/>
              <a:ext cx="207997" cy="192081"/>
            </a:xfrm>
            <a:prstGeom prst="rect">
              <a:avLst/>
            </a:prstGeom>
          </p:spPr>
        </p:pic>
        <p:pic>
          <p:nvPicPr>
            <p:cNvPr id="14" name="그림 13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2002C2B5-610A-42D0-9CF4-DE545514E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7217" y="1801724"/>
              <a:ext cx="363879" cy="349669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7EA3AD35-3F87-4D15-9E3F-DD9E11222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7" y="1420060"/>
              <a:ext cx="207997" cy="192081"/>
            </a:xfrm>
            <a:prstGeom prst="rect">
              <a:avLst/>
            </a:prstGeom>
          </p:spPr>
        </p:pic>
        <p:pic>
          <p:nvPicPr>
            <p:cNvPr id="16" name="그림 15" descr="텍스트, 전자기기이(가) 표시된 사진&#10;&#10;자동 생성된 설명">
              <a:extLst>
                <a:ext uri="{FF2B5EF4-FFF2-40B4-BE49-F238E27FC236}">
                  <a16:creationId xmlns:a16="http://schemas.microsoft.com/office/drawing/2014/main" id="{F81EF3C5-BB35-4903-8470-EA90CBDF8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060" y="1546217"/>
              <a:ext cx="337826" cy="20507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0043AA8C-4C41-4364-8A81-065C6AE31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75837" y="1686998"/>
              <a:ext cx="207997" cy="192081"/>
            </a:xfrm>
            <a:prstGeom prst="rect">
              <a:avLst/>
            </a:prstGeom>
          </p:spPr>
        </p:pic>
        <p:pic>
          <p:nvPicPr>
            <p:cNvPr id="18" name="그림 17" descr="밴이(가) 표시된 사진&#10;&#10;자동 생성된 설명">
              <a:extLst>
                <a:ext uri="{FF2B5EF4-FFF2-40B4-BE49-F238E27FC236}">
                  <a16:creationId xmlns:a16="http://schemas.microsoft.com/office/drawing/2014/main" id="{CB4EB6B1-8C65-4E19-A367-7FC6AFD24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963" y="1771952"/>
              <a:ext cx="316295" cy="246275"/>
            </a:xfrm>
            <a:prstGeom prst="rect">
              <a:avLst/>
            </a:prstGeom>
          </p:spPr>
        </p:pic>
        <p:sp>
          <p:nvSpPr>
            <p:cNvPr id="19" name="Line 841">
              <a:extLst>
                <a:ext uri="{FF2B5EF4-FFF2-40B4-BE49-F238E27FC236}">
                  <a16:creationId xmlns:a16="http://schemas.microsoft.com/office/drawing/2014/main" id="{D76C0A17-10E9-49AA-805F-83FAFB7DD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3977" y="1838518"/>
              <a:ext cx="0" cy="3932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8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D9807093-BF60-4520-A085-4B2A4C6C6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2947" y="2209218"/>
              <a:ext cx="322060" cy="207948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50CF28D2-623B-4381-B68A-0B00250F1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229628"/>
              <a:ext cx="307558" cy="198585"/>
            </a:xfrm>
            <a:prstGeom prst="rect">
              <a:avLst/>
            </a:prstGeom>
          </p:spPr>
        </p:pic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A0F8B73B-07D8-4B58-8331-FE19F6F975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1738" y="2355056"/>
              <a:ext cx="318458" cy="992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421CA179-610B-4BA4-84F6-87913B1574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2095" y="2424674"/>
              <a:ext cx="0" cy="35395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16EF93B-A24C-4D9E-AAFF-E806FF4E4C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467" y="2403428"/>
              <a:ext cx="444207" cy="3836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332A2624-FD67-445C-B7D6-7028ED7E9132}"/>
                </a:ext>
              </a:extLst>
            </p:cNvPr>
            <p:cNvCxnSpPr>
              <a:cxnSpLocks/>
              <a:stCxn id="26" idx="0"/>
            </p:cNvCxnSpPr>
            <p:nvPr/>
          </p:nvCxnSpPr>
          <p:spPr>
            <a:xfrm flipH="1" flipV="1">
              <a:off x="2514491" y="2576907"/>
              <a:ext cx="1" cy="12391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E65CEB12-C2B1-4839-8907-A293B9E4B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700825"/>
              <a:ext cx="307558" cy="198585"/>
            </a:xfrm>
            <a:prstGeom prst="rect">
              <a:avLst/>
            </a:prstGeom>
          </p:spPr>
        </p:pic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E45DCB07-1D0D-46CD-9633-A9CFA841C7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3614" y="2787115"/>
              <a:ext cx="32400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9F9BFBC-578B-437E-BC81-756D0FC6AB3E}"/>
                </a:ext>
              </a:extLst>
            </p:cNvPr>
            <p:cNvGrpSpPr/>
            <p:nvPr/>
          </p:nvGrpSpPr>
          <p:grpSpPr>
            <a:xfrm>
              <a:off x="3140551" y="2787115"/>
              <a:ext cx="245542" cy="0"/>
              <a:chOff x="7865568" y="3042591"/>
              <a:chExt cx="285396" cy="0"/>
            </a:xfrm>
          </p:grpSpPr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BA6EB453-FD08-41D1-970A-46DF5E6797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65568" y="3042591"/>
                <a:ext cx="164917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1" name="직선 연결선 80">
                <a:extLst>
                  <a:ext uri="{FF2B5EF4-FFF2-40B4-BE49-F238E27FC236}">
                    <a16:creationId xmlns:a16="http://schemas.microsoft.com/office/drawing/2014/main" id="{E9618E2C-5352-44EE-8DA0-F022996809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3222" y="3042591"/>
                <a:ext cx="10774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</p:cxnSp>
        </p:grpSp>
        <p:sp>
          <p:nvSpPr>
            <p:cNvPr id="29" name="Google Shape;245;p4">
              <a:extLst>
                <a:ext uri="{FF2B5EF4-FFF2-40B4-BE49-F238E27FC236}">
                  <a16:creationId xmlns:a16="http://schemas.microsoft.com/office/drawing/2014/main" id="{56460D33-29E3-43BE-960D-D6B29BEA715A}"/>
                </a:ext>
              </a:extLst>
            </p:cNvPr>
            <p:cNvSpPr/>
            <p:nvPr/>
          </p:nvSpPr>
          <p:spPr>
            <a:xfrm>
              <a:off x="2265368" y="3681611"/>
              <a:ext cx="1115051" cy="657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15CE3634-45CB-482D-B354-BAB25FEE8993}"/>
                </a:ext>
              </a:extLst>
            </p:cNvPr>
            <p:cNvCxnSpPr>
              <a:cxnSpLocks/>
              <a:endCxn id="26" idx="2"/>
            </p:cNvCxnSpPr>
            <p:nvPr/>
          </p:nvCxnSpPr>
          <p:spPr>
            <a:xfrm flipV="1">
              <a:off x="2513646" y="2899410"/>
              <a:ext cx="846" cy="94075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464465EA-937D-49A5-BB75-0705D6EF60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1082" y="3978108"/>
              <a:ext cx="273164" cy="3061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1239F3C3-4E60-4EC8-B15B-025F78B374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0326" y="3834574"/>
              <a:ext cx="994093" cy="113958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F3EE47C2-A106-4FBF-988D-A055C1707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0918" y="4094362"/>
              <a:ext cx="307558" cy="198585"/>
            </a:xfrm>
            <a:prstGeom prst="rect">
              <a:avLst/>
            </a:prstGeom>
          </p:spPr>
        </p:pic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D96116AB-F4B1-4DB9-BA6B-A1D9CB2B62F8}"/>
                </a:ext>
              </a:extLst>
            </p:cNvPr>
            <p:cNvSpPr/>
            <p:nvPr/>
          </p:nvSpPr>
          <p:spPr>
            <a:xfrm>
              <a:off x="698060" y="2691576"/>
              <a:ext cx="1490843" cy="1096272"/>
            </a:xfrm>
            <a:custGeom>
              <a:avLst/>
              <a:gdLst>
                <a:gd name="connsiteX0" fmla="*/ 1010352 w 2020704"/>
                <a:gd name="connsiteY0" fmla="*/ 0 h 1333262"/>
                <a:gd name="connsiteX1" fmla="*/ 2020704 w 2020704"/>
                <a:gd name="connsiteY1" fmla="*/ 375626 h 1333262"/>
                <a:gd name="connsiteX2" fmla="*/ 1892116 w 2020704"/>
                <a:gd name="connsiteY2" fmla="*/ 375626 h 1333262"/>
                <a:gd name="connsiteX3" fmla="*/ 1892116 w 2020704"/>
                <a:gd name="connsiteY3" fmla="*/ 1333262 h 1333262"/>
                <a:gd name="connsiteX4" fmla="*/ 121542 w 2020704"/>
                <a:gd name="connsiteY4" fmla="*/ 1333262 h 1333262"/>
                <a:gd name="connsiteX5" fmla="*/ 121542 w 2020704"/>
                <a:gd name="connsiteY5" fmla="*/ 375626 h 1333262"/>
                <a:gd name="connsiteX6" fmla="*/ 0 w 2020704"/>
                <a:gd name="connsiteY6" fmla="*/ 375626 h 1333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0704" h="1333262">
                  <a:moveTo>
                    <a:pt x="1010352" y="0"/>
                  </a:moveTo>
                  <a:lnTo>
                    <a:pt x="2020704" y="375626"/>
                  </a:lnTo>
                  <a:lnTo>
                    <a:pt x="1892116" y="375626"/>
                  </a:lnTo>
                  <a:lnTo>
                    <a:pt x="1892116" y="1333262"/>
                  </a:lnTo>
                  <a:lnTo>
                    <a:pt x="121542" y="1333262"/>
                  </a:lnTo>
                  <a:lnTo>
                    <a:pt x="121542" y="375626"/>
                  </a:lnTo>
                  <a:lnTo>
                    <a:pt x="0" y="37562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r>
                <a: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ㅋㅋㅋㅋㅋㅋ</a:t>
              </a: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887E683A-FBAF-4385-9928-5909A2081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7259" y="2872220"/>
              <a:ext cx="207997" cy="192081"/>
            </a:xfrm>
            <a:prstGeom prst="rect">
              <a:avLst/>
            </a:prstGeom>
          </p:spPr>
        </p:pic>
        <p:pic>
          <p:nvPicPr>
            <p:cNvPr id="36" name="그림 35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B95571AB-1A68-47D9-95A6-91DAB418B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11744" y="2937182"/>
              <a:ext cx="363879" cy="349669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AD1B43A2-9C02-41A9-8761-8AB8C436A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700825"/>
              <a:ext cx="307558" cy="198585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E77463B-BC95-4284-A705-B3BBC81BF429}"/>
                </a:ext>
              </a:extLst>
            </p:cNvPr>
            <p:cNvCxnSpPr>
              <a:cxnSpLocks/>
            </p:cNvCxnSpPr>
            <p:nvPr/>
          </p:nvCxnSpPr>
          <p:spPr>
            <a:xfrm>
              <a:off x="1718938" y="3650079"/>
              <a:ext cx="793184" cy="2424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20B6C4E9-DE6C-452A-9061-26FA741B6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97304" y="3788175"/>
              <a:ext cx="307558" cy="198585"/>
            </a:xfrm>
            <a:prstGeom prst="rect">
              <a:avLst/>
            </a:prstGeom>
          </p:spPr>
        </p:pic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DFF0D87B-AFBC-455F-86A9-C02D2E1767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3712" y="5314600"/>
              <a:ext cx="52209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91DAEBDB-90E2-4FDC-83D0-FD77344108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684" y="5400182"/>
              <a:ext cx="0" cy="44897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42" name="그림 41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F18F3154-9941-4388-AF5F-62B7F0CBF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4837" y="5055660"/>
              <a:ext cx="207523" cy="447198"/>
            </a:xfrm>
            <a:prstGeom prst="rect">
              <a:avLst/>
            </a:prstGeom>
          </p:spPr>
        </p:pic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881CCD29-542A-43A4-83CF-1701C3C91A2C}"/>
                </a:ext>
              </a:extLst>
            </p:cNvPr>
            <p:cNvGrpSpPr/>
            <p:nvPr/>
          </p:nvGrpSpPr>
          <p:grpSpPr>
            <a:xfrm>
              <a:off x="2108294" y="5487248"/>
              <a:ext cx="314291" cy="382451"/>
              <a:chOff x="6912474" y="5263962"/>
              <a:chExt cx="422940" cy="514662"/>
            </a:xfrm>
          </p:grpSpPr>
          <p:pic>
            <p:nvPicPr>
              <p:cNvPr id="78" name="그림 77">
                <a:extLst>
                  <a:ext uri="{FF2B5EF4-FFF2-40B4-BE49-F238E27FC236}">
                    <a16:creationId xmlns:a16="http://schemas.microsoft.com/office/drawing/2014/main" id="{87642448-6EAA-459B-8766-DD424D75C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32605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79" name="그림 78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72201AFD-69D4-4315-8652-1C30D71527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912474" y="5372201"/>
                <a:ext cx="422940" cy="406423"/>
              </a:xfrm>
              <a:prstGeom prst="rect">
                <a:avLst/>
              </a:prstGeom>
            </p:spPr>
          </p:pic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8CAA71F9-4E57-47AE-BEEF-6C1BB7F1CD85}"/>
                </a:ext>
              </a:extLst>
            </p:cNvPr>
            <p:cNvGrpSpPr/>
            <p:nvPr/>
          </p:nvGrpSpPr>
          <p:grpSpPr>
            <a:xfrm>
              <a:off x="2447119" y="5487248"/>
              <a:ext cx="314291" cy="382451"/>
              <a:chOff x="7504476" y="5263962"/>
              <a:chExt cx="422940" cy="514662"/>
            </a:xfrm>
          </p:grpSpPr>
          <p:pic>
            <p:nvPicPr>
              <p:cNvPr id="76" name="그림 75">
                <a:extLst>
                  <a:ext uri="{FF2B5EF4-FFF2-40B4-BE49-F238E27FC236}">
                    <a16:creationId xmlns:a16="http://schemas.microsoft.com/office/drawing/2014/main" id="{36134D80-564A-414C-9B72-B70BC2D385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-50000"/>
                        </a14:imgEffect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24608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77" name="그림 76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096B5C55-1C91-43AF-8D8C-00835EDE54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504476" y="5372201"/>
                <a:ext cx="422940" cy="406423"/>
              </a:xfrm>
              <a:prstGeom prst="rect">
                <a:avLst/>
              </a:prstGeom>
            </p:spPr>
          </p:pic>
        </p:grpSp>
        <p:pic>
          <p:nvPicPr>
            <p:cNvPr id="45" name="그림 44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74DB0A76-6F47-4EA9-BF80-C52D3F1EC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5804" y="5055660"/>
              <a:ext cx="207523" cy="447198"/>
            </a:xfrm>
            <a:prstGeom prst="rect">
              <a:avLst/>
            </a:prstGeom>
          </p:spPr>
        </p:pic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D2F2886A-A561-4CBA-A228-472B31183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65140" y="4916930"/>
              <a:ext cx="307558" cy="198585"/>
            </a:xfrm>
            <a:prstGeom prst="rect">
              <a:avLst/>
            </a:prstGeom>
          </p:spPr>
        </p:pic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4C2FFB3E-862E-445B-BF96-6CD408E1A4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2160" y="5079775"/>
              <a:ext cx="189817" cy="198859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C458840A-A0D4-4AE3-99B3-20ACD06D2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76397" y="5208344"/>
              <a:ext cx="307558" cy="198585"/>
            </a:xfrm>
            <a:prstGeom prst="rect">
              <a:avLst/>
            </a:prstGeom>
          </p:spPr>
        </p:pic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FF1E1F23-5D33-4EBF-BB7C-59FAFA9EB0E0}"/>
                </a:ext>
              </a:extLst>
            </p:cNvPr>
            <p:cNvCxnSpPr>
              <a:cxnSpLocks/>
            </p:cNvCxnSpPr>
            <p:nvPr/>
          </p:nvCxnSpPr>
          <p:spPr>
            <a:xfrm>
              <a:off x="1960948" y="5314600"/>
              <a:ext cx="30916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530BF0AD-D809-4579-9A47-F81E7FCEFEC0}"/>
                </a:ext>
              </a:extLst>
            </p:cNvPr>
            <p:cNvCxnSpPr>
              <a:cxnSpLocks/>
            </p:cNvCxnSpPr>
            <p:nvPr/>
          </p:nvCxnSpPr>
          <p:spPr>
            <a:xfrm>
              <a:off x="988044" y="5314600"/>
              <a:ext cx="66376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EDC47842-65B4-43FE-9DCF-8C201427BB41}"/>
                </a:ext>
              </a:extLst>
            </p:cNvPr>
            <p:cNvCxnSpPr>
              <a:cxnSpLocks/>
            </p:cNvCxnSpPr>
            <p:nvPr/>
          </p:nvCxnSpPr>
          <p:spPr>
            <a:xfrm>
              <a:off x="1574600" y="4980235"/>
              <a:ext cx="149958" cy="21632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8130E980-1BC7-47CB-BBB2-5CCDF91BDD13}"/>
                </a:ext>
              </a:extLst>
            </p:cNvPr>
            <p:cNvCxnSpPr>
              <a:cxnSpLocks/>
            </p:cNvCxnSpPr>
            <p:nvPr/>
          </p:nvCxnSpPr>
          <p:spPr>
            <a:xfrm>
              <a:off x="1240038" y="5049851"/>
              <a:ext cx="487290" cy="20743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28F4D25A-BA1A-47F1-B428-C2B8B196F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2183" y="5354427"/>
              <a:ext cx="442525" cy="20760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54" name="그림 53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8123CC4F-1910-40F3-9E93-A49EED0C2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432239" y="4651807"/>
              <a:ext cx="267254" cy="393253"/>
            </a:xfrm>
            <a:prstGeom prst="rect">
              <a:avLst/>
            </a:prstGeom>
          </p:spPr>
        </p:pic>
        <p:pic>
          <p:nvPicPr>
            <p:cNvPr id="55" name="그림 54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B5E0DC21-C230-42E4-B011-CF84CF573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66533" y="4825794"/>
              <a:ext cx="267254" cy="393253"/>
            </a:xfrm>
            <a:prstGeom prst="rect">
              <a:avLst/>
            </a:prstGeom>
          </p:spPr>
        </p:pic>
        <p:pic>
          <p:nvPicPr>
            <p:cNvPr id="56" name="그림 55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97DE20F4-8082-4EE8-B6A4-AB1A36A34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48834" y="5159586"/>
              <a:ext cx="267254" cy="393253"/>
            </a:xfrm>
            <a:prstGeom prst="rect">
              <a:avLst/>
            </a:prstGeom>
          </p:spPr>
        </p:pic>
        <p:pic>
          <p:nvPicPr>
            <p:cNvPr id="57" name="그림 56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E0BCDE67-92CC-482D-A5E0-4E0FE5FE6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4782" y="5387068"/>
              <a:ext cx="267254" cy="393253"/>
            </a:xfrm>
            <a:prstGeom prst="rect">
              <a:avLst/>
            </a:prstGeom>
          </p:spPr>
        </p:pic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822F8E0-E374-4AE5-BAC1-FF8EB1853C85}"/>
                </a:ext>
              </a:extLst>
            </p:cNvPr>
            <p:cNvGrpSpPr/>
            <p:nvPr/>
          </p:nvGrpSpPr>
          <p:grpSpPr>
            <a:xfrm>
              <a:off x="1675414" y="5455266"/>
              <a:ext cx="361090" cy="424180"/>
              <a:chOff x="973967" y="3727034"/>
              <a:chExt cx="489425" cy="574938"/>
            </a:xfrm>
          </p:grpSpPr>
          <p:pic>
            <p:nvPicPr>
              <p:cNvPr id="73" name="그림 72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ABAD9791-C758-439A-884D-67E1054AE1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74" name="그림 73">
                <a:extLst>
                  <a:ext uri="{FF2B5EF4-FFF2-40B4-BE49-F238E27FC236}">
                    <a16:creationId xmlns:a16="http://schemas.microsoft.com/office/drawing/2014/main" id="{0599EE1C-9181-47BE-8418-87EF51A229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029B39FD-CB79-411F-89FD-92FDD6AB6F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3BAE719A-79E1-4932-B13B-7C3346054131}"/>
                </a:ext>
              </a:extLst>
            </p:cNvPr>
            <p:cNvCxnSpPr>
              <a:cxnSpLocks/>
              <a:stCxn id="60" idx="0"/>
              <a:endCxn id="37" idx="2"/>
            </p:cNvCxnSpPr>
            <p:nvPr/>
          </p:nvCxnSpPr>
          <p:spPr>
            <a:xfrm flipV="1">
              <a:off x="3097411" y="2899410"/>
              <a:ext cx="0" cy="88876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D41DC443-EFA4-4626-A82F-F0B83CA64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3788175"/>
              <a:ext cx="307558" cy="198585"/>
            </a:xfrm>
            <a:prstGeom prst="rect">
              <a:avLst/>
            </a:prstGeom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D9BC07DD-1DD6-4EAD-B7B7-88EAD2C9E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384091"/>
              <a:ext cx="307558" cy="198585"/>
            </a:xfrm>
            <a:prstGeom prst="rect">
              <a:avLst/>
            </a:prstGeom>
          </p:spPr>
        </p:pic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FB024497-3643-4F16-AC96-7249AB5AB67A}"/>
                </a:ext>
              </a:extLst>
            </p:cNvPr>
            <p:cNvCxnSpPr/>
            <p:nvPr/>
          </p:nvCxnSpPr>
          <p:spPr>
            <a:xfrm flipH="1">
              <a:off x="1274445" y="3641726"/>
              <a:ext cx="263525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0F227818-38A7-4FB1-AA4A-D8AA67C4B800}"/>
                </a:ext>
              </a:extLst>
            </p:cNvPr>
            <p:cNvGrpSpPr/>
            <p:nvPr/>
          </p:nvGrpSpPr>
          <p:grpSpPr>
            <a:xfrm>
              <a:off x="985367" y="3338114"/>
              <a:ext cx="361090" cy="424180"/>
              <a:chOff x="973967" y="3727034"/>
              <a:chExt cx="489425" cy="574938"/>
            </a:xfrm>
          </p:grpSpPr>
          <p:pic>
            <p:nvPicPr>
              <p:cNvPr id="70" name="그림 69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ECABBDF7-A214-4138-9B62-47DE83A368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71" name="그림 70">
                <a:extLst>
                  <a:ext uri="{FF2B5EF4-FFF2-40B4-BE49-F238E27FC236}">
                    <a16:creationId xmlns:a16="http://schemas.microsoft.com/office/drawing/2014/main" id="{FB7022B0-2D90-4BFB-B49F-BD2D9C9E90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72" name="그림 71">
                <a:extLst>
                  <a:ext uri="{FF2B5EF4-FFF2-40B4-BE49-F238E27FC236}">
                    <a16:creationId xmlns:a16="http://schemas.microsoft.com/office/drawing/2014/main" id="{1D2AE4E6-F80F-45AC-B0D5-D2B049B6B6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D905CEB6-467C-4A61-B875-163002519E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9098" y="5086349"/>
              <a:ext cx="144000" cy="13312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6BC26250-A2B9-48C0-B0A5-26D9007CB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53882" y="5208344"/>
              <a:ext cx="307558" cy="198585"/>
            </a:xfrm>
            <a:prstGeom prst="rect">
              <a:avLst/>
            </a:prstGeom>
          </p:spPr>
        </p:pic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A7C732CE-FDC4-48B0-9BD5-DCA3A65B9E42}"/>
                </a:ext>
              </a:extLst>
            </p:cNvPr>
            <p:cNvCxnSpPr>
              <a:cxnSpLocks/>
              <a:endCxn id="69" idx="2"/>
            </p:cNvCxnSpPr>
            <p:nvPr/>
          </p:nvCxnSpPr>
          <p:spPr>
            <a:xfrm flipV="1">
              <a:off x="1704659" y="3286850"/>
              <a:ext cx="0" cy="26750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D1B4EC04-FD87-4162-A0FF-404041B06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41945" y="3551831"/>
              <a:ext cx="307558" cy="198585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99BAA42F-D5C8-4575-BB02-BDC7A09B0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76060" y="2872220"/>
              <a:ext cx="207997" cy="192081"/>
            </a:xfrm>
            <a:prstGeom prst="rect">
              <a:avLst/>
            </a:prstGeom>
          </p:spPr>
        </p:pic>
        <p:pic>
          <p:nvPicPr>
            <p:cNvPr id="69" name="그림 68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2E89BDAD-948D-45AE-B189-F88F669E7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04868" y="2893597"/>
              <a:ext cx="267254" cy="393253"/>
            </a:xfrm>
            <a:prstGeom prst="rect">
              <a:avLst/>
            </a:prstGeom>
          </p:spPr>
        </p:pic>
      </p:grpSp>
      <p:sp>
        <p:nvSpPr>
          <p:cNvPr id="84" name="텍스트 개체 틀 19">
            <a:extLst>
              <a:ext uri="{FF2B5EF4-FFF2-40B4-BE49-F238E27FC236}">
                <a16:creationId xmlns:a16="http://schemas.microsoft.com/office/drawing/2014/main" id="{CF168F9C-5CA3-43E4-8520-64DA057570F2}"/>
              </a:ext>
            </a:extLst>
          </p:cNvPr>
          <p:cNvSpPr txBox="1">
            <a:spLocks/>
          </p:cNvSpPr>
          <p:nvPr/>
        </p:nvSpPr>
        <p:spPr>
          <a:xfrm>
            <a:off x="839416" y="4180309"/>
            <a:ext cx="2616916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client/server</a:t>
            </a: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96CF53AB-45D7-4AC0-A3B5-E6189CBBA1A2}"/>
              </a:ext>
            </a:extLst>
          </p:cNvPr>
          <p:cNvSpPr/>
          <p:nvPr/>
        </p:nvSpPr>
        <p:spPr>
          <a:xfrm>
            <a:off x="2202569" y="1875521"/>
            <a:ext cx="1641916" cy="3377273"/>
          </a:xfrm>
          <a:custGeom>
            <a:avLst/>
            <a:gdLst>
              <a:gd name="connsiteX0" fmla="*/ 0 w 1641916"/>
              <a:gd name="connsiteY0" fmla="*/ 0 h 3377273"/>
              <a:gd name="connsiteX1" fmla="*/ 1641916 w 1641916"/>
              <a:gd name="connsiteY1" fmla="*/ 0 h 3377273"/>
              <a:gd name="connsiteX2" fmla="*/ 1641916 w 1641916"/>
              <a:gd name="connsiteY2" fmla="*/ 3377273 h 3377273"/>
              <a:gd name="connsiteX3" fmla="*/ 1194727 w 1641916"/>
              <a:gd name="connsiteY3" fmla="*/ 3377273 h 337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1916" h="3377273">
                <a:moveTo>
                  <a:pt x="0" y="0"/>
                </a:moveTo>
                <a:lnTo>
                  <a:pt x="1641916" y="0"/>
                </a:lnTo>
                <a:lnTo>
                  <a:pt x="1641916" y="3377273"/>
                </a:lnTo>
                <a:lnTo>
                  <a:pt x="1194727" y="3377273"/>
                </a:lnTo>
              </a:path>
            </a:pathLst>
          </a:custGeom>
          <a:noFill/>
          <a:ln w="31750">
            <a:solidFill>
              <a:srgbClr val="105BA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2DF93E4C-4A8C-4812-938D-6F341719485E}"/>
              </a:ext>
            </a:extLst>
          </p:cNvPr>
          <p:cNvCxnSpPr/>
          <p:nvPr/>
        </p:nvCxnSpPr>
        <p:spPr>
          <a:xfrm>
            <a:off x="1541799" y="3177039"/>
            <a:ext cx="1314867" cy="1875522"/>
          </a:xfrm>
          <a:prstGeom prst="line">
            <a:avLst/>
          </a:prstGeom>
          <a:noFill/>
          <a:ln w="31750">
            <a:solidFill>
              <a:srgbClr val="105BA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Rectangle 3">
            <a:extLst>
              <a:ext uri="{FF2B5EF4-FFF2-40B4-BE49-F238E27FC236}">
                <a16:creationId xmlns:a16="http://schemas.microsoft.com/office/drawing/2014/main" id="{4A13E600-682B-4963-95FB-44B7BA0EA3B1}"/>
              </a:ext>
            </a:extLst>
          </p:cNvPr>
          <p:cNvSpPr txBox="1">
            <a:spLocks noChangeArrowheads="1"/>
          </p:cNvSpPr>
          <p:nvPr/>
        </p:nvSpPr>
        <p:spPr>
          <a:xfrm>
            <a:off x="4002503" y="1176730"/>
            <a:ext cx="3226399" cy="1397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15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서버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(server)</a:t>
            </a: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D63E8D0A-8C6F-476F-8F61-48EE29DFD365}"/>
              </a:ext>
            </a:extLst>
          </p:cNvPr>
          <p:cNvSpPr txBox="1">
            <a:spLocks noChangeArrowheads="1"/>
          </p:cNvSpPr>
          <p:nvPr/>
        </p:nvSpPr>
        <p:spPr>
          <a:xfrm>
            <a:off x="4223792" y="1634778"/>
            <a:ext cx="3041437" cy="10581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항상 켜져 있음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고정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주소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확장성을 위해 데이터 센터에</a:t>
            </a:r>
          </a:p>
        </p:txBody>
      </p:sp>
      <p:sp>
        <p:nvSpPr>
          <p:cNvPr id="92" name="Rectangle 3">
            <a:extLst>
              <a:ext uri="{FF2B5EF4-FFF2-40B4-BE49-F238E27FC236}">
                <a16:creationId xmlns:a16="http://schemas.microsoft.com/office/drawing/2014/main" id="{A523CD58-FB58-4E78-9534-0EDC6F96D055}"/>
              </a:ext>
            </a:extLst>
          </p:cNvPr>
          <p:cNvSpPr txBox="1">
            <a:spLocks noChangeArrowheads="1"/>
          </p:cNvSpPr>
          <p:nvPr/>
        </p:nvSpPr>
        <p:spPr>
          <a:xfrm>
            <a:off x="4002503" y="2924944"/>
            <a:ext cx="3226399" cy="1397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15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클라이언트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(client)</a:t>
            </a:r>
          </a:p>
        </p:txBody>
      </p:sp>
      <p:sp>
        <p:nvSpPr>
          <p:cNvPr id="93" name="Rectangle 3">
            <a:extLst>
              <a:ext uri="{FF2B5EF4-FFF2-40B4-BE49-F238E27FC236}">
                <a16:creationId xmlns:a16="http://schemas.microsoft.com/office/drawing/2014/main" id="{4DB8E0DC-CBCE-4181-9C30-68B637A99B1F}"/>
              </a:ext>
            </a:extLst>
          </p:cNvPr>
          <p:cNvSpPr txBox="1">
            <a:spLocks noChangeArrowheads="1"/>
          </p:cNvSpPr>
          <p:nvPr/>
        </p:nvSpPr>
        <p:spPr>
          <a:xfrm>
            <a:off x="4223792" y="3382992"/>
            <a:ext cx="3925715" cy="141211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서버와 통신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간헐적으로 접속할 수 있음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유동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주소일 수 있음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클라이언트끼리 직접 통신하지는 않는다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9640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사각형: 잘린 한쪽 모서리 95">
            <a:extLst>
              <a:ext uri="{FF2B5EF4-FFF2-40B4-BE49-F238E27FC236}">
                <a16:creationId xmlns:a16="http://schemas.microsoft.com/office/drawing/2014/main" id="{DEA8A077-DEB7-47D7-B08D-2975B863EB0D}"/>
              </a:ext>
            </a:extLst>
          </p:cNvPr>
          <p:cNvSpPr/>
          <p:nvPr/>
        </p:nvSpPr>
        <p:spPr>
          <a:xfrm>
            <a:off x="4071416" y="3175240"/>
            <a:ext cx="4064741" cy="1176503"/>
          </a:xfrm>
          <a:prstGeom prst="snip1Rect">
            <a:avLst>
              <a:gd name="adj" fmla="val 22765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P2P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구조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9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716B231-95FA-46F8-BB99-7C4B250A5806}"/>
              </a:ext>
            </a:extLst>
          </p:cNvPr>
          <p:cNvGrpSpPr/>
          <p:nvPr/>
        </p:nvGrpSpPr>
        <p:grpSpPr>
          <a:xfrm>
            <a:off x="695400" y="1065581"/>
            <a:ext cx="2972026" cy="5371777"/>
            <a:chOff x="578679" y="1064717"/>
            <a:chExt cx="2972026" cy="5371777"/>
          </a:xfrm>
        </p:grpSpPr>
        <p:sp>
          <p:nvSpPr>
            <p:cNvPr id="7" name="Google Shape;245;p4">
              <a:extLst>
                <a:ext uri="{FF2B5EF4-FFF2-40B4-BE49-F238E27FC236}">
                  <a16:creationId xmlns:a16="http://schemas.microsoft.com/office/drawing/2014/main" id="{95F45A0A-E6BD-4507-A21F-D59A5F56CA97}"/>
                </a:ext>
              </a:extLst>
            </p:cNvPr>
            <p:cNvSpPr/>
            <p:nvPr/>
          </p:nvSpPr>
          <p:spPr>
            <a:xfrm>
              <a:off x="578679" y="1064717"/>
              <a:ext cx="2972026" cy="5371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8" name="Google Shape;245;p4">
              <a:extLst>
                <a:ext uri="{FF2B5EF4-FFF2-40B4-BE49-F238E27FC236}">
                  <a16:creationId xmlns:a16="http://schemas.microsoft.com/office/drawing/2014/main" id="{8DBD9092-46AA-4CD7-BE00-88586D6B00D1}"/>
                </a:ext>
              </a:extLst>
            </p:cNvPr>
            <p:cNvSpPr/>
            <p:nvPr/>
          </p:nvSpPr>
          <p:spPr>
            <a:xfrm>
              <a:off x="685958" y="4836708"/>
              <a:ext cx="2745613" cy="1126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9" name="Google Shape;245;p4">
              <a:extLst>
                <a:ext uri="{FF2B5EF4-FFF2-40B4-BE49-F238E27FC236}">
                  <a16:creationId xmlns:a16="http://schemas.microsoft.com/office/drawing/2014/main" id="{4DA88ADA-8C4D-480D-9699-9B82F80EABF5}"/>
                </a:ext>
              </a:extLst>
            </p:cNvPr>
            <p:cNvSpPr/>
            <p:nvPr/>
          </p:nvSpPr>
          <p:spPr>
            <a:xfrm>
              <a:off x="2195173" y="2202009"/>
              <a:ext cx="1280841" cy="80334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0" name="Google Shape;245;p4">
              <a:extLst>
                <a:ext uri="{FF2B5EF4-FFF2-40B4-BE49-F238E27FC236}">
                  <a16:creationId xmlns:a16="http://schemas.microsoft.com/office/drawing/2014/main" id="{7C7B24C7-6EFB-4BF4-ACFC-62D055FFFE7B}"/>
                </a:ext>
              </a:extLst>
            </p:cNvPr>
            <p:cNvSpPr/>
            <p:nvPr/>
          </p:nvSpPr>
          <p:spPr>
            <a:xfrm>
              <a:off x="686275" y="1443737"/>
              <a:ext cx="1514440" cy="881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FD94F48-6268-43CB-8803-58159C0025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9060" y="2338388"/>
              <a:ext cx="984675" cy="16102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BFC56A4A-1FFC-4FA1-8519-46F86F97E464}"/>
                </a:ext>
              </a:extLst>
            </p:cNvPr>
            <p:cNvGrpSpPr/>
            <p:nvPr/>
          </p:nvGrpSpPr>
          <p:grpSpPr>
            <a:xfrm>
              <a:off x="1290550" y="1517650"/>
              <a:ext cx="306852" cy="504850"/>
              <a:chOff x="1159683" y="3308166"/>
              <a:chExt cx="415912" cy="684280"/>
            </a:xfrm>
          </p:grpSpPr>
          <p:pic>
            <p:nvPicPr>
              <p:cNvPr id="82" name="그림 81">
                <a:extLst>
                  <a:ext uri="{FF2B5EF4-FFF2-40B4-BE49-F238E27FC236}">
                    <a16:creationId xmlns:a16="http://schemas.microsoft.com/office/drawing/2014/main" id="{10FF8FA6-A40D-4931-A85F-527A448DD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683" y="3308166"/>
                <a:ext cx="415912" cy="266790"/>
              </a:xfrm>
              <a:prstGeom prst="rect">
                <a:avLst/>
              </a:prstGeom>
            </p:spPr>
          </p:pic>
          <p:pic>
            <p:nvPicPr>
              <p:cNvPr id="83" name="그림 82">
                <a:extLst>
                  <a:ext uri="{FF2B5EF4-FFF2-40B4-BE49-F238E27FC236}">
                    <a16:creationId xmlns:a16="http://schemas.microsoft.com/office/drawing/2014/main" id="{6D6D3182-0C6D-4A3A-A579-BED7632E11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4729" y="3443786"/>
                <a:ext cx="307465" cy="548660"/>
              </a:xfrm>
              <a:prstGeom prst="rect">
                <a:avLst/>
              </a:prstGeom>
            </p:spPr>
          </p:pic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55DBBAE-21A6-4D7E-AB58-29E977D4F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6" y="1780238"/>
              <a:ext cx="207997" cy="192081"/>
            </a:xfrm>
            <a:prstGeom prst="rect">
              <a:avLst/>
            </a:prstGeom>
          </p:spPr>
        </p:pic>
        <p:pic>
          <p:nvPicPr>
            <p:cNvPr id="14" name="그림 13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AF4689C4-D4C2-4D16-ABBC-0407DC0B4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7217" y="1801724"/>
              <a:ext cx="363879" cy="349669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A79755A-C676-4059-B6A2-4AF25B670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7" y="1420060"/>
              <a:ext cx="207997" cy="192081"/>
            </a:xfrm>
            <a:prstGeom prst="rect">
              <a:avLst/>
            </a:prstGeom>
          </p:spPr>
        </p:pic>
        <p:pic>
          <p:nvPicPr>
            <p:cNvPr id="16" name="그림 15" descr="텍스트, 전자기기이(가) 표시된 사진&#10;&#10;자동 생성된 설명">
              <a:extLst>
                <a:ext uri="{FF2B5EF4-FFF2-40B4-BE49-F238E27FC236}">
                  <a16:creationId xmlns:a16="http://schemas.microsoft.com/office/drawing/2014/main" id="{915750C4-2C50-4E90-A245-1360BF451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060" y="1546217"/>
              <a:ext cx="337826" cy="20507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B457AF7-2177-47F7-A3E6-0E96DC811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75837" y="1686998"/>
              <a:ext cx="207997" cy="192081"/>
            </a:xfrm>
            <a:prstGeom prst="rect">
              <a:avLst/>
            </a:prstGeom>
          </p:spPr>
        </p:pic>
        <p:pic>
          <p:nvPicPr>
            <p:cNvPr id="18" name="그림 17" descr="밴이(가) 표시된 사진&#10;&#10;자동 생성된 설명">
              <a:extLst>
                <a:ext uri="{FF2B5EF4-FFF2-40B4-BE49-F238E27FC236}">
                  <a16:creationId xmlns:a16="http://schemas.microsoft.com/office/drawing/2014/main" id="{198B260C-077A-4768-85CD-2EA2D4A0D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963" y="1771952"/>
              <a:ext cx="316295" cy="246275"/>
            </a:xfrm>
            <a:prstGeom prst="rect">
              <a:avLst/>
            </a:prstGeom>
          </p:spPr>
        </p:pic>
        <p:sp>
          <p:nvSpPr>
            <p:cNvPr id="19" name="Line 841">
              <a:extLst>
                <a:ext uri="{FF2B5EF4-FFF2-40B4-BE49-F238E27FC236}">
                  <a16:creationId xmlns:a16="http://schemas.microsoft.com/office/drawing/2014/main" id="{5C3CA6D4-37C6-4021-9E74-F31D52D7B6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3977" y="1838518"/>
              <a:ext cx="0" cy="3932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8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2BF991BD-47A8-474D-A746-AAC560328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2947" y="2209218"/>
              <a:ext cx="322060" cy="207948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5197248D-C17B-4886-9F46-12770A606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229628"/>
              <a:ext cx="307558" cy="198585"/>
            </a:xfrm>
            <a:prstGeom prst="rect">
              <a:avLst/>
            </a:prstGeom>
          </p:spPr>
        </p:pic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87529B76-7DD0-402F-8AF2-841DB54885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1738" y="2355056"/>
              <a:ext cx="318458" cy="992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3C300964-F27E-4344-83B9-FD049F2F6E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2095" y="2424674"/>
              <a:ext cx="0" cy="35395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5F6CB657-D988-4F2E-A30E-0ACFAF4F6C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467" y="2403428"/>
              <a:ext cx="444207" cy="3836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05D433F7-C3FA-4E35-A39A-D1B2DD9E0B01}"/>
                </a:ext>
              </a:extLst>
            </p:cNvPr>
            <p:cNvCxnSpPr>
              <a:cxnSpLocks/>
              <a:stCxn id="26" idx="0"/>
            </p:cNvCxnSpPr>
            <p:nvPr/>
          </p:nvCxnSpPr>
          <p:spPr>
            <a:xfrm flipH="1" flipV="1">
              <a:off x="2514491" y="2576907"/>
              <a:ext cx="1" cy="12391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BA1FE0B3-FF76-49F9-8D86-6D2A3399F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700825"/>
              <a:ext cx="307558" cy="198585"/>
            </a:xfrm>
            <a:prstGeom prst="rect">
              <a:avLst/>
            </a:prstGeom>
          </p:spPr>
        </p:pic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0348E8D4-600B-4823-8DDB-20CDBFEE54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3614" y="2787115"/>
              <a:ext cx="32400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2FFFCCD2-7625-448F-A74F-6E993A3962AA}"/>
                </a:ext>
              </a:extLst>
            </p:cNvPr>
            <p:cNvGrpSpPr/>
            <p:nvPr/>
          </p:nvGrpSpPr>
          <p:grpSpPr>
            <a:xfrm>
              <a:off x="3140551" y="2787115"/>
              <a:ext cx="245542" cy="0"/>
              <a:chOff x="7865568" y="3042591"/>
              <a:chExt cx="285396" cy="0"/>
            </a:xfrm>
          </p:grpSpPr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7712757E-0F49-4DDD-B5DE-0E708DB175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65568" y="3042591"/>
                <a:ext cx="164917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1" name="직선 연결선 80">
                <a:extLst>
                  <a:ext uri="{FF2B5EF4-FFF2-40B4-BE49-F238E27FC236}">
                    <a16:creationId xmlns:a16="http://schemas.microsoft.com/office/drawing/2014/main" id="{AEDE4A8D-2CF6-410D-AA76-AD681E3A4A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3222" y="3042591"/>
                <a:ext cx="10774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</p:cxnSp>
        </p:grpSp>
        <p:sp>
          <p:nvSpPr>
            <p:cNvPr id="29" name="Google Shape;245;p4">
              <a:extLst>
                <a:ext uri="{FF2B5EF4-FFF2-40B4-BE49-F238E27FC236}">
                  <a16:creationId xmlns:a16="http://schemas.microsoft.com/office/drawing/2014/main" id="{CBE6C681-5310-4D34-82B7-414E841477BD}"/>
                </a:ext>
              </a:extLst>
            </p:cNvPr>
            <p:cNvSpPr/>
            <p:nvPr/>
          </p:nvSpPr>
          <p:spPr>
            <a:xfrm>
              <a:off x="2265368" y="3681611"/>
              <a:ext cx="1115051" cy="657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8443C2F3-829A-4BD9-9CC1-13694B440557}"/>
                </a:ext>
              </a:extLst>
            </p:cNvPr>
            <p:cNvCxnSpPr>
              <a:cxnSpLocks/>
              <a:endCxn id="26" idx="2"/>
            </p:cNvCxnSpPr>
            <p:nvPr/>
          </p:nvCxnSpPr>
          <p:spPr>
            <a:xfrm flipV="1">
              <a:off x="2513646" y="2899410"/>
              <a:ext cx="846" cy="94075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634B6B3-9E2D-43AB-854D-E1A160065F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1082" y="3978108"/>
              <a:ext cx="273164" cy="3061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4B33F732-3980-4B7B-A5E7-FA866AA59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0326" y="3834574"/>
              <a:ext cx="994093" cy="113958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BBEB3757-3640-4A10-A847-CD096E482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0918" y="4094362"/>
              <a:ext cx="307558" cy="198585"/>
            </a:xfrm>
            <a:prstGeom prst="rect">
              <a:avLst/>
            </a:prstGeom>
          </p:spPr>
        </p:pic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B09FD056-9396-434F-A303-F4B23846AECD}"/>
                </a:ext>
              </a:extLst>
            </p:cNvPr>
            <p:cNvSpPr/>
            <p:nvPr/>
          </p:nvSpPr>
          <p:spPr>
            <a:xfrm>
              <a:off x="698060" y="2691576"/>
              <a:ext cx="1490843" cy="1096272"/>
            </a:xfrm>
            <a:custGeom>
              <a:avLst/>
              <a:gdLst>
                <a:gd name="connsiteX0" fmla="*/ 1010352 w 2020704"/>
                <a:gd name="connsiteY0" fmla="*/ 0 h 1333262"/>
                <a:gd name="connsiteX1" fmla="*/ 2020704 w 2020704"/>
                <a:gd name="connsiteY1" fmla="*/ 375626 h 1333262"/>
                <a:gd name="connsiteX2" fmla="*/ 1892116 w 2020704"/>
                <a:gd name="connsiteY2" fmla="*/ 375626 h 1333262"/>
                <a:gd name="connsiteX3" fmla="*/ 1892116 w 2020704"/>
                <a:gd name="connsiteY3" fmla="*/ 1333262 h 1333262"/>
                <a:gd name="connsiteX4" fmla="*/ 121542 w 2020704"/>
                <a:gd name="connsiteY4" fmla="*/ 1333262 h 1333262"/>
                <a:gd name="connsiteX5" fmla="*/ 121542 w 2020704"/>
                <a:gd name="connsiteY5" fmla="*/ 375626 h 1333262"/>
                <a:gd name="connsiteX6" fmla="*/ 0 w 2020704"/>
                <a:gd name="connsiteY6" fmla="*/ 375626 h 1333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0704" h="1333262">
                  <a:moveTo>
                    <a:pt x="1010352" y="0"/>
                  </a:moveTo>
                  <a:lnTo>
                    <a:pt x="2020704" y="375626"/>
                  </a:lnTo>
                  <a:lnTo>
                    <a:pt x="1892116" y="375626"/>
                  </a:lnTo>
                  <a:lnTo>
                    <a:pt x="1892116" y="1333262"/>
                  </a:lnTo>
                  <a:lnTo>
                    <a:pt x="121542" y="1333262"/>
                  </a:lnTo>
                  <a:lnTo>
                    <a:pt x="121542" y="375626"/>
                  </a:lnTo>
                  <a:lnTo>
                    <a:pt x="0" y="37562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r>
                <a: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ㅋㅋㅋㅋㅋㅋ</a:t>
              </a: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A8F9EBE8-EDDA-4337-8506-E17A0B403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7259" y="2872220"/>
              <a:ext cx="207997" cy="192081"/>
            </a:xfrm>
            <a:prstGeom prst="rect">
              <a:avLst/>
            </a:prstGeom>
          </p:spPr>
        </p:pic>
        <p:pic>
          <p:nvPicPr>
            <p:cNvPr id="36" name="그림 35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6D2FDC13-2EB6-4D66-8EF3-2687A3BC2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11744" y="2937182"/>
              <a:ext cx="363879" cy="349669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F4F3D8F9-87AB-4120-BE2A-E12B6DAA1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700825"/>
              <a:ext cx="307558" cy="198585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D82EE8E1-60E9-4F50-A157-7239B148E717}"/>
                </a:ext>
              </a:extLst>
            </p:cNvPr>
            <p:cNvCxnSpPr>
              <a:cxnSpLocks/>
            </p:cNvCxnSpPr>
            <p:nvPr/>
          </p:nvCxnSpPr>
          <p:spPr>
            <a:xfrm>
              <a:off x="1718938" y="3650079"/>
              <a:ext cx="793184" cy="2424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0ACB2F44-DA56-48D2-AFB1-EDC8E1BF3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97304" y="3788175"/>
              <a:ext cx="307558" cy="198585"/>
            </a:xfrm>
            <a:prstGeom prst="rect">
              <a:avLst/>
            </a:prstGeom>
          </p:spPr>
        </p:pic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09F32686-BB1B-40DD-ADDC-FA624C1A27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3712" y="5314600"/>
              <a:ext cx="52209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AC1FEFF7-F94F-4C52-842D-078D2B7BC7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684" y="5400182"/>
              <a:ext cx="0" cy="44897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42" name="그림 41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FAFFDB00-1590-4063-A41D-76D0E58E9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4837" y="5055660"/>
              <a:ext cx="207523" cy="447198"/>
            </a:xfrm>
            <a:prstGeom prst="rect">
              <a:avLst/>
            </a:prstGeom>
          </p:spPr>
        </p:pic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23E5EE8A-2921-4C76-9E5B-B1D6B81FB76A}"/>
                </a:ext>
              </a:extLst>
            </p:cNvPr>
            <p:cNvGrpSpPr/>
            <p:nvPr/>
          </p:nvGrpSpPr>
          <p:grpSpPr>
            <a:xfrm>
              <a:off x="2108294" y="5487248"/>
              <a:ext cx="314291" cy="382451"/>
              <a:chOff x="6912474" y="5263962"/>
              <a:chExt cx="422940" cy="514662"/>
            </a:xfrm>
          </p:grpSpPr>
          <p:pic>
            <p:nvPicPr>
              <p:cNvPr id="78" name="그림 77">
                <a:extLst>
                  <a:ext uri="{FF2B5EF4-FFF2-40B4-BE49-F238E27FC236}">
                    <a16:creationId xmlns:a16="http://schemas.microsoft.com/office/drawing/2014/main" id="{32EEF40A-FC5F-4EEC-8237-6EA6A2E395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32605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79" name="그림 78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6E2DA838-1A22-46F2-A955-14BDD2D46D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912474" y="5372201"/>
                <a:ext cx="422940" cy="406423"/>
              </a:xfrm>
              <a:prstGeom prst="rect">
                <a:avLst/>
              </a:prstGeom>
            </p:spPr>
          </p:pic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28F8405E-1324-4220-A176-DFDCBF55A559}"/>
                </a:ext>
              </a:extLst>
            </p:cNvPr>
            <p:cNvGrpSpPr/>
            <p:nvPr/>
          </p:nvGrpSpPr>
          <p:grpSpPr>
            <a:xfrm>
              <a:off x="2447119" y="5487248"/>
              <a:ext cx="314291" cy="382451"/>
              <a:chOff x="7504476" y="5263962"/>
              <a:chExt cx="422940" cy="514662"/>
            </a:xfrm>
          </p:grpSpPr>
          <p:pic>
            <p:nvPicPr>
              <p:cNvPr id="76" name="그림 75">
                <a:extLst>
                  <a:ext uri="{FF2B5EF4-FFF2-40B4-BE49-F238E27FC236}">
                    <a16:creationId xmlns:a16="http://schemas.microsoft.com/office/drawing/2014/main" id="{BB6593FC-B9D6-498E-B4FC-F0DA3693A0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-50000"/>
                        </a14:imgEffect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24608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77" name="그림 76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4EF1F536-5766-429A-8FA8-CF7BBA148D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504476" y="5372201"/>
                <a:ext cx="422940" cy="406423"/>
              </a:xfrm>
              <a:prstGeom prst="rect">
                <a:avLst/>
              </a:prstGeom>
            </p:spPr>
          </p:pic>
        </p:grpSp>
        <p:pic>
          <p:nvPicPr>
            <p:cNvPr id="45" name="그림 44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C0176E47-10B5-428D-AFF3-B4F8D7A02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5804" y="5055660"/>
              <a:ext cx="207523" cy="447198"/>
            </a:xfrm>
            <a:prstGeom prst="rect">
              <a:avLst/>
            </a:prstGeom>
          </p:spPr>
        </p:pic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02A583AF-48B7-4C1F-A468-ACC26E022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65140" y="4916930"/>
              <a:ext cx="307558" cy="198585"/>
            </a:xfrm>
            <a:prstGeom prst="rect">
              <a:avLst/>
            </a:prstGeom>
          </p:spPr>
        </p:pic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753D621-D7FA-4300-9ACB-BE313647C1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2160" y="5079775"/>
              <a:ext cx="189817" cy="198859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E72AF9F2-C743-470C-B285-0028FF149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76397" y="5208344"/>
              <a:ext cx="307558" cy="198585"/>
            </a:xfrm>
            <a:prstGeom prst="rect">
              <a:avLst/>
            </a:prstGeom>
          </p:spPr>
        </p:pic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A6688CAA-61D9-4DAD-86D1-708C37CCE7B4}"/>
                </a:ext>
              </a:extLst>
            </p:cNvPr>
            <p:cNvCxnSpPr>
              <a:cxnSpLocks/>
            </p:cNvCxnSpPr>
            <p:nvPr/>
          </p:nvCxnSpPr>
          <p:spPr>
            <a:xfrm>
              <a:off x="1960948" y="5314600"/>
              <a:ext cx="30916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B6AA59FC-82F2-4B3E-A407-6BCD2F363B92}"/>
                </a:ext>
              </a:extLst>
            </p:cNvPr>
            <p:cNvCxnSpPr>
              <a:cxnSpLocks/>
            </p:cNvCxnSpPr>
            <p:nvPr/>
          </p:nvCxnSpPr>
          <p:spPr>
            <a:xfrm>
              <a:off x="988044" y="5314600"/>
              <a:ext cx="66376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55435CAE-AA46-4AA7-ABC0-F8B8DF9E379B}"/>
                </a:ext>
              </a:extLst>
            </p:cNvPr>
            <p:cNvCxnSpPr>
              <a:cxnSpLocks/>
            </p:cNvCxnSpPr>
            <p:nvPr/>
          </p:nvCxnSpPr>
          <p:spPr>
            <a:xfrm>
              <a:off x="1574600" y="4980235"/>
              <a:ext cx="149958" cy="21632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0E4F82B1-1768-4C22-90BE-790D179CD221}"/>
                </a:ext>
              </a:extLst>
            </p:cNvPr>
            <p:cNvCxnSpPr>
              <a:cxnSpLocks/>
            </p:cNvCxnSpPr>
            <p:nvPr/>
          </p:nvCxnSpPr>
          <p:spPr>
            <a:xfrm>
              <a:off x="1240038" y="5049851"/>
              <a:ext cx="487290" cy="20743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9BCF6714-730E-4E0F-A198-7E6CE3A027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2183" y="5354427"/>
              <a:ext cx="442525" cy="20760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54" name="그림 53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CFC3C4B3-5ACE-4A79-AAE7-6AEC9A2E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432239" y="4651807"/>
              <a:ext cx="267254" cy="393253"/>
            </a:xfrm>
            <a:prstGeom prst="rect">
              <a:avLst/>
            </a:prstGeom>
          </p:spPr>
        </p:pic>
        <p:pic>
          <p:nvPicPr>
            <p:cNvPr id="55" name="그림 54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5815DC5E-9E09-4AF7-9772-62214C19F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66533" y="4825794"/>
              <a:ext cx="267254" cy="393253"/>
            </a:xfrm>
            <a:prstGeom prst="rect">
              <a:avLst/>
            </a:prstGeom>
          </p:spPr>
        </p:pic>
        <p:pic>
          <p:nvPicPr>
            <p:cNvPr id="56" name="그림 55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2E7CDE97-5C4F-4789-A680-ED0EBB8A4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48834" y="5159586"/>
              <a:ext cx="267254" cy="393253"/>
            </a:xfrm>
            <a:prstGeom prst="rect">
              <a:avLst/>
            </a:prstGeom>
          </p:spPr>
        </p:pic>
        <p:pic>
          <p:nvPicPr>
            <p:cNvPr id="57" name="그림 56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753E8FB8-CD54-497D-A9D7-40A833AF8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4782" y="5387068"/>
              <a:ext cx="267254" cy="393253"/>
            </a:xfrm>
            <a:prstGeom prst="rect">
              <a:avLst/>
            </a:prstGeom>
          </p:spPr>
        </p:pic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B58ADBAC-EFA9-4BA6-8EB8-A6F1609CC9D9}"/>
                </a:ext>
              </a:extLst>
            </p:cNvPr>
            <p:cNvGrpSpPr/>
            <p:nvPr/>
          </p:nvGrpSpPr>
          <p:grpSpPr>
            <a:xfrm>
              <a:off x="1675414" y="5455266"/>
              <a:ext cx="361090" cy="424180"/>
              <a:chOff x="973967" y="3727034"/>
              <a:chExt cx="489425" cy="574938"/>
            </a:xfrm>
          </p:grpSpPr>
          <p:pic>
            <p:nvPicPr>
              <p:cNvPr id="73" name="그림 72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5585BD7D-F5F1-4857-A066-011E79DE2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74" name="그림 73">
                <a:extLst>
                  <a:ext uri="{FF2B5EF4-FFF2-40B4-BE49-F238E27FC236}">
                    <a16:creationId xmlns:a16="http://schemas.microsoft.com/office/drawing/2014/main" id="{5F4CD1A0-EB56-465D-BA7A-06C7C7D67A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CE787848-A2C4-47E9-8144-AA8B012AB3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AC02ACA8-8449-4B88-9E4F-672C0B22E94C}"/>
                </a:ext>
              </a:extLst>
            </p:cNvPr>
            <p:cNvCxnSpPr>
              <a:cxnSpLocks/>
              <a:stCxn id="60" idx="0"/>
              <a:endCxn id="37" idx="2"/>
            </p:cNvCxnSpPr>
            <p:nvPr/>
          </p:nvCxnSpPr>
          <p:spPr>
            <a:xfrm flipV="1">
              <a:off x="3097411" y="2899410"/>
              <a:ext cx="0" cy="88876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40A0DCE8-9046-4931-A1CB-12131FB61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3788175"/>
              <a:ext cx="307558" cy="198585"/>
            </a:xfrm>
            <a:prstGeom prst="rect">
              <a:avLst/>
            </a:prstGeom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51FD79F7-7E98-4A7D-99E4-ECAE66062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384091"/>
              <a:ext cx="307558" cy="198585"/>
            </a:xfrm>
            <a:prstGeom prst="rect">
              <a:avLst/>
            </a:prstGeom>
          </p:spPr>
        </p:pic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F9C19003-064C-4329-90A7-CA04A17D0E05}"/>
                </a:ext>
              </a:extLst>
            </p:cNvPr>
            <p:cNvCxnSpPr/>
            <p:nvPr/>
          </p:nvCxnSpPr>
          <p:spPr>
            <a:xfrm flipH="1">
              <a:off x="1274445" y="3641726"/>
              <a:ext cx="263525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964C20C2-718D-4951-A7A8-11A25E1B6B1D}"/>
                </a:ext>
              </a:extLst>
            </p:cNvPr>
            <p:cNvGrpSpPr/>
            <p:nvPr/>
          </p:nvGrpSpPr>
          <p:grpSpPr>
            <a:xfrm>
              <a:off x="985367" y="3338114"/>
              <a:ext cx="361090" cy="424180"/>
              <a:chOff x="973967" y="3727034"/>
              <a:chExt cx="489425" cy="574938"/>
            </a:xfrm>
          </p:grpSpPr>
          <p:pic>
            <p:nvPicPr>
              <p:cNvPr id="70" name="그림 69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0B4F0856-0FBE-4BF4-B56F-03B33D44B7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71" name="그림 70">
                <a:extLst>
                  <a:ext uri="{FF2B5EF4-FFF2-40B4-BE49-F238E27FC236}">
                    <a16:creationId xmlns:a16="http://schemas.microsoft.com/office/drawing/2014/main" id="{F672BB97-6FB4-4FAE-AE01-C0FBBA2945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72" name="그림 71">
                <a:extLst>
                  <a:ext uri="{FF2B5EF4-FFF2-40B4-BE49-F238E27FC236}">
                    <a16:creationId xmlns:a16="http://schemas.microsoft.com/office/drawing/2014/main" id="{D2AA0D49-DD6C-4CE7-AAF6-BAE0D0ECE3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560313D8-02A6-42DF-8FE9-FB3D88F58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9098" y="5086349"/>
              <a:ext cx="144000" cy="13312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7EAA259A-76C1-4E7C-96FC-8A23BABF0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53882" y="5208344"/>
              <a:ext cx="307558" cy="198585"/>
            </a:xfrm>
            <a:prstGeom prst="rect">
              <a:avLst/>
            </a:prstGeom>
          </p:spPr>
        </p:pic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D248B16F-3C8A-4837-9872-2FC3F3660785}"/>
                </a:ext>
              </a:extLst>
            </p:cNvPr>
            <p:cNvCxnSpPr>
              <a:cxnSpLocks/>
              <a:endCxn id="69" idx="2"/>
            </p:cNvCxnSpPr>
            <p:nvPr/>
          </p:nvCxnSpPr>
          <p:spPr>
            <a:xfrm flipV="1">
              <a:off x="1704659" y="3286850"/>
              <a:ext cx="0" cy="26750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CC30E600-E791-4956-8330-FDE3979C7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41945" y="3551831"/>
              <a:ext cx="307558" cy="198585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DED1C41C-CC27-43BE-B204-A8A7E1FC8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76060" y="2872220"/>
              <a:ext cx="207997" cy="192081"/>
            </a:xfrm>
            <a:prstGeom prst="rect">
              <a:avLst/>
            </a:prstGeom>
          </p:spPr>
        </p:pic>
        <p:pic>
          <p:nvPicPr>
            <p:cNvPr id="69" name="그림 68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4139CFB6-5A23-4F21-BC9C-B53A3E196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04868" y="2893597"/>
              <a:ext cx="267254" cy="393253"/>
            </a:xfrm>
            <a:prstGeom prst="rect">
              <a:avLst/>
            </a:prstGeom>
          </p:spPr>
        </p:pic>
      </p:grpSp>
      <p:sp>
        <p:nvSpPr>
          <p:cNvPr id="84" name="텍스트 개체 틀 19">
            <a:extLst>
              <a:ext uri="{FF2B5EF4-FFF2-40B4-BE49-F238E27FC236}">
                <a16:creationId xmlns:a16="http://schemas.microsoft.com/office/drawing/2014/main" id="{A1957A7C-556B-460E-B2E7-F070660F300C}"/>
              </a:ext>
            </a:extLst>
          </p:cNvPr>
          <p:cNvSpPr txBox="1">
            <a:spLocks/>
          </p:cNvSpPr>
          <p:nvPr/>
        </p:nvSpPr>
        <p:spPr>
          <a:xfrm>
            <a:off x="1106394" y="1056666"/>
            <a:ext cx="2616916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peer-peer</a:t>
            </a: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F046A62C-4C15-40DE-A388-366E074B82AD}"/>
              </a:ext>
            </a:extLst>
          </p:cNvPr>
          <p:cNvCxnSpPr>
            <a:cxnSpLocks/>
          </p:cNvCxnSpPr>
          <p:nvPr/>
        </p:nvCxnSpPr>
        <p:spPr>
          <a:xfrm>
            <a:off x="1174704" y="2155848"/>
            <a:ext cx="0" cy="2649758"/>
          </a:xfrm>
          <a:prstGeom prst="line">
            <a:avLst/>
          </a:prstGeom>
          <a:noFill/>
          <a:ln w="31750">
            <a:solidFill>
              <a:srgbClr val="105BA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57E4DA79-57F2-43BB-A04C-E8F64F7A4505}"/>
              </a:ext>
            </a:extLst>
          </p:cNvPr>
          <p:cNvCxnSpPr>
            <a:cxnSpLocks/>
          </p:cNvCxnSpPr>
          <p:nvPr/>
        </p:nvCxnSpPr>
        <p:spPr>
          <a:xfrm>
            <a:off x="1902219" y="1988986"/>
            <a:ext cx="0" cy="941099"/>
          </a:xfrm>
          <a:prstGeom prst="line">
            <a:avLst/>
          </a:prstGeom>
          <a:noFill/>
          <a:ln w="31750">
            <a:solidFill>
              <a:srgbClr val="105BA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E5A8593B-82CE-4754-8458-326D240635BA}"/>
              </a:ext>
            </a:extLst>
          </p:cNvPr>
          <p:cNvSpPr/>
          <p:nvPr/>
        </p:nvSpPr>
        <p:spPr>
          <a:xfrm>
            <a:off x="1902219" y="3283831"/>
            <a:ext cx="794260" cy="2182546"/>
          </a:xfrm>
          <a:custGeom>
            <a:avLst/>
            <a:gdLst>
              <a:gd name="connsiteX0" fmla="*/ 794260 w 794260"/>
              <a:gd name="connsiteY0" fmla="*/ 2182546 h 2182546"/>
              <a:gd name="connsiteX1" fmla="*/ 0 w 794260"/>
              <a:gd name="connsiteY1" fmla="*/ 1314867 h 2182546"/>
              <a:gd name="connsiteX2" fmla="*/ 0 w 794260"/>
              <a:gd name="connsiteY2" fmla="*/ 0 h 2182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4260" h="2182546">
                <a:moveTo>
                  <a:pt x="794260" y="2182546"/>
                </a:moveTo>
                <a:lnTo>
                  <a:pt x="0" y="1314867"/>
                </a:lnTo>
                <a:lnTo>
                  <a:pt x="0" y="0"/>
                </a:lnTo>
              </a:path>
            </a:pathLst>
          </a:custGeom>
          <a:noFill/>
          <a:ln w="31750">
            <a:solidFill>
              <a:srgbClr val="105BA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Rectangle 3">
            <a:extLst>
              <a:ext uri="{FF2B5EF4-FFF2-40B4-BE49-F238E27FC236}">
                <a16:creationId xmlns:a16="http://schemas.microsoft.com/office/drawing/2014/main" id="{71BDE921-42BF-4264-A697-14A1D26C7305}"/>
              </a:ext>
            </a:extLst>
          </p:cNvPr>
          <p:cNvSpPr txBox="1">
            <a:spLocks noChangeArrowheads="1"/>
          </p:cNvSpPr>
          <p:nvPr/>
        </p:nvSpPr>
        <p:spPr>
          <a:xfrm>
            <a:off x="4002503" y="1176730"/>
            <a:ext cx="4120306" cy="1397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15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항상 켜진 서버가 없음 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(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또는 최소한으로 의존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)</a:t>
            </a:r>
          </a:p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15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임의의 종단 시스템끼리 직접 통신</a:t>
            </a:r>
          </a:p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15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peer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는 다른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peer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에게 서비스를 요청하고 제공함</a:t>
            </a:r>
          </a:p>
        </p:txBody>
      </p:sp>
      <p:sp>
        <p:nvSpPr>
          <p:cNvPr id="95" name="Rectangle 3">
            <a:extLst>
              <a:ext uri="{FF2B5EF4-FFF2-40B4-BE49-F238E27FC236}">
                <a16:creationId xmlns:a16="http://schemas.microsoft.com/office/drawing/2014/main" id="{5BA9A7DF-8912-4621-853A-1F20B64091D5}"/>
              </a:ext>
            </a:extLst>
          </p:cNvPr>
          <p:cNvSpPr txBox="1">
            <a:spLocks noChangeArrowheads="1"/>
          </p:cNvSpPr>
          <p:nvPr/>
        </p:nvSpPr>
        <p:spPr>
          <a:xfrm>
            <a:off x="4223792" y="3620680"/>
            <a:ext cx="3979110" cy="62728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새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는 서비스 요청을 함과 동시에 서비스 능력을 추가로 제공</a:t>
            </a:r>
          </a:p>
        </p:txBody>
      </p:sp>
      <p:sp>
        <p:nvSpPr>
          <p:cNvPr id="97" name="텍스트 개체 틀 19">
            <a:extLst>
              <a:ext uri="{FF2B5EF4-FFF2-40B4-BE49-F238E27FC236}">
                <a16:creationId xmlns:a16="http://schemas.microsoft.com/office/drawing/2014/main" id="{8D355650-6854-4F64-B4EF-2E4B26498BDF}"/>
              </a:ext>
            </a:extLst>
          </p:cNvPr>
          <p:cNvSpPr txBox="1">
            <a:spLocks/>
          </p:cNvSpPr>
          <p:nvPr/>
        </p:nvSpPr>
        <p:spPr>
          <a:xfrm>
            <a:off x="4333900" y="3270492"/>
            <a:ext cx="2616916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자가 확장성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(self scalability) </a:t>
            </a:r>
          </a:p>
        </p:txBody>
      </p:sp>
      <p:sp>
        <p:nvSpPr>
          <p:cNvPr id="98" name="Rectangle 3">
            <a:extLst>
              <a:ext uri="{FF2B5EF4-FFF2-40B4-BE49-F238E27FC236}">
                <a16:creationId xmlns:a16="http://schemas.microsoft.com/office/drawing/2014/main" id="{01F4818D-2101-4387-BE4D-75958C4F3810}"/>
              </a:ext>
            </a:extLst>
          </p:cNvPr>
          <p:cNvSpPr txBox="1">
            <a:spLocks noChangeArrowheads="1"/>
          </p:cNvSpPr>
          <p:nvPr/>
        </p:nvSpPr>
        <p:spPr>
          <a:xfrm>
            <a:off x="4002503" y="4487259"/>
            <a:ext cx="4120306" cy="1397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15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peer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들은 간헐적으로 연결되고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IP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주소가 유동적</a:t>
            </a:r>
          </a:p>
        </p:txBody>
      </p:sp>
      <p:sp>
        <p:nvSpPr>
          <p:cNvPr id="99" name="Rectangle 3">
            <a:extLst>
              <a:ext uri="{FF2B5EF4-FFF2-40B4-BE49-F238E27FC236}">
                <a16:creationId xmlns:a16="http://schemas.microsoft.com/office/drawing/2014/main" id="{7C21B9EC-62F5-4881-8410-041B501D821D}"/>
              </a:ext>
            </a:extLst>
          </p:cNvPr>
          <p:cNvSpPr txBox="1">
            <a:spLocks noChangeArrowheads="1"/>
          </p:cNvSpPr>
          <p:nvPr/>
        </p:nvSpPr>
        <p:spPr>
          <a:xfrm>
            <a:off x="4223792" y="5229200"/>
            <a:ext cx="3979110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관리가 복잡함</a:t>
            </a:r>
          </a:p>
        </p:txBody>
      </p:sp>
    </p:spTree>
    <p:extLst>
      <p:ext uri="{BB962C8B-B14F-4D97-AF65-F5344CB8AC3E}">
        <p14:creationId xmlns:p14="http://schemas.microsoft.com/office/powerpoint/2010/main" val="2171663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사각형: 잘린 한쪽 모서리 28">
            <a:extLst>
              <a:ext uri="{FF2B5EF4-FFF2-40B4-BE49-F238E27FC236}">
                <a16:creationId xmlns:a16="http://schemas.microsoft.com/office/drawing/2014/main" id="{897F42FD-1C75-4A1B-B6E8-25340EA87EAD}"/>
              </a:ext>
            </a:extLst>
          </p:cNvPr>
          <p:cNvSpPr/>
          <p:nvPr/>
        </p:nvSpPr>
        <p:spPr>
          <a:xfrm>
            <a:off x="839416" y="3484414"/>
            <a:ext cx="7336844" cy="1600770"/>
          </a:xfrm>
          <a:prstGeom prst="snip1Rect">
            <a:avLst>
              <a:gd name="adj" fmla="val 22765"/>
            </a:avLst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32" name="사각형: 잘린 한쪽 모서리 31">
            <a:extLst>
              <a:ext uri="{FF2B5EF4-FFF2-40B4-BE49-F238E27FC236}">
                <a16:creationId xmlns:a16="http://schemas.microsoft.com/office/drawing/2014/main" id="{89DC7515-39C3-42E3-BAB2-762412425198}"/>
              </a:ext>
            </a:extLst>
          </p:cNvPr>
          <p:cNvSpPr/>
          <p:nvPr/>
        </p:nvSpPr>
        <p:spPr>
          <a:xfrm>
            <a:off x="4553352" y="4073644"/>
            <a:ext cx="3384376" cy="864096"/>
          </a:xfrm>
          <a:prstGeom prst="snip1Rect">
            <a:avLst>
              <a:gd name="adj" fmla="val 22765"/>
            </a:avLst>
          </a:prstGeom>
          <a:solidFill>
            <a:schemeClr val="bg1"/>
          </a:solidFill>
          <a:ln>
            <a:solidFill>
              <a:srgbClr val="83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39" name="사각형: 잘린 한쪽 모서리 38">
            <a:extLst>
              <a:ext uri="{FF2B5EF4-FFF2-40B4-BE49-F238E27FC236}">
                <a16:creationId xmlns:a16="http://schemas.microsoft.com/office/drawing/2014/main" id="{779BAF30-8C82-474D-A678-8713E04BCF65}"/>
              </a:ext>
            </a:extLst>
          </p:cNvPr>
          <p:cNvSpPr/>
          <p:nvPr/>
        </p:nvSpPr>
        <p:spPr>
          <a:xfrm>
            <a:off x="1040532" y="4073644"/>
            <a:ext cx="3384376" cy="864096"/>
          </a:xfrm>
          <a:prstGeom prst="snip1Rect">
            <a:avLst>
              <a:gd name="adj" fmla="val 22765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프로세스 간 통신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C39807F-F689-4FBC-8059-FF6096ADB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1196752"/>
            <a:ext cx="6826930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process : </a:t>
            </a:r>
            <a:r>
              <a:rPr lang="ko-KR" altLang="en-US" sz="2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호스트에서 실행되는 프로그램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ED70920-728C-48D7-8ABE-25A36B08F30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848252"/>
            <a:ext cx="758293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한 호스트 내에서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,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두 프로세스는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IPC (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inter-process communication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, OS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가 정의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)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를 통해 통신 함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.</a:t>
            </a: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다른 호스트에 있는 프로세스들은 메시지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(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messages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)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를 교환함으로써 통신 함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.</a:t>
            </a: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E45C9C3A-21A6-4B3E-AFF0-5B1A32BDF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096" y="3510967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clients,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 servers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5F33BA3-A1E4-49F0-BF29-B978377DC0BB}"/>
              </a:ext>
            </a:extLst>
          </p:cNvPr>
          <p:cNvGrpSpPr/>
          <p:nvPr/>
        </p:nvGrpSpPr>
        <p:grpSpPr>
          <a:xfrm>
            <a:off x="670135" y="3406760"/>
            <a:ext cx="457314" cy="544953"/>
            <a:chOff x="670134" y="3356992"/>
            <a:chExt cx="499079" cy="594722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1D3142F-C3B8-45A9-873C-D1E6E74F1B8D}"/>
                </a:ext>
              </a:extLst>
            </p:cNvPr>
            <p:cNvSpPr/>
            <p:nvPr/>
          </p:nvSpPr>
          <p:spPr>
            <a:xfrm>
              <a:off x="758638" y="3867293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" name="그래픽 22">
              <a:extLst>
                <a:ext uri="{FF2B5EF4-FFF2-40B4-BE49-F238E27FC236}">
                  <a16:creationId xmlns:a16="http://schemas.microsoft.com/office/drawing/2014/main" id="{15819855-E786-4418-B574-BA5AAFA6C921}"/>
                </a:ext>
              </a:extLst>
            </p:cNvPr>
            <p:cNvSpPr/>
            <p:nvPr/>
          </p:nvSpPr>
          <p:spPr>
            <a:xfrm rot="5400000">
              <a:off x="638045" y="3389081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rgbClr val="105B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A9F0DEEF-1817-41FD-961A-BE857509C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7287" y="3479684"/>
              <a:ext cx="344773" cy="317873"/>
            </a:xfrm>
            <a:prstGeom prst="rect">
              <a:avLst/>
            </a:prstGeom>
          </p:spPr>
        </p:pic>
      </p:grpSp>
      <p:sp>
        <p:nvSpPr>
          <p:cNvPr id="30" name="Rectangle 3">
            <a:extLst>
              <a:ext uri="{FF2B5EF4-FFF2-40B4-BE49-F238E27FC236}">
                <a16:creationId xmlns:a16="http://schemas.microsoft.com/office/drawing/2014/main" id="{F89675A4-DF96-4928-98A1-042635DA2020}"/>
              </a:ext>
            </a:extLst>
          </p:cNvPr>
          <p:cNvSpPr txBox="1">
            <a:spLocks noChangeArrowheads="1"/>
          </p:cNvSpPr>
          <p:nvPr/>
        </p:nvSpPr>
        <p:spPr>
          <a:xfrm>
            <a:off x="1181943" y="4499847"/>
            <a:ext cx="3595206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통신을 초기화하는 프로세스</a:t>
            </a:r>
          </a:p>
        </p:txBody>
      </p:sp>
      <p:sp>
        <p:nvSpPr>
          <p:cNvPr id="31" name="텍스트 개체 틀 19">
            <a:extLst>
              <a:ext uri="{FF2B5EF4-FFF2-40B4-BE49-F238E27FC236}">
                <a16:creationId xmlns:a16="http://schemas.microsoft.com/office/drawing/2014/main" id="{32856130-913B-4D97-BA68-61FA427993D8}"/>
              </a:ext>
            </a:extLst>
          </p:cNvPr>
          <p:cNvSpPr txBox="1">
            <a:spLocks/>
          </p:cNvSpPr>
          <p:nvPr/>
        </p:nvSpPr>
        <p:spPr>
          <a:xfrm>
            <a:off x="1218123" y="4160892"/>
            <a:ext cx="2364437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client process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6FDC59C6-0BA6-4C5D-A3AF-29C85E5D416D}"/>
              </a:ext>
            </a:extLst>
          </p:cNvPr>
          <p:cNvSpPr txBox="1">
            <a:spLocks noChangeArrowheads="1"/>
          </p:cNvSpPr>
          <p:nvPr/>
        </p:nvSpPr>
        <p:spPr>
          <a:xfrm>
            <a:off x="4733195" y="4499847"/>
            <a:ext cx="3595206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접속을 기다리는 프로세스</a:t>
            </a:r>
          </a:p>
        </p:txBody>
      </p:sp>
      <p:sp>
        <p:nvSpPr>
          <p:cNvPr id="34" name="텍스트 개체 틀 19">
            <a:extLst>
              <a:ext uri="{FF2B5EF4-FFF2-40B4-BE49-F238E27FC236}">
                <a16:creationId xmlns:a16="http://schemas.microsoft.com/office/drawing/2014/main" id="{304195BD-042B-4E99-A3FB-8D2D64B91FC4}"/>
              </a:ext>
            </a:extLst>
          </p:cNvPr>
          <p:cNvSpPr txBox="1">
            <a:spLocks/>
          </p:cNvSpPr>
          <p:nvPr/>
        </p:nvSpPr>
        <p:spPr>
          <a:xfrm>
            <a:off x="4769375" y="4160892"/>
            <a:ext cx="2364437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server process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167A4653-C9D4-43E7-BE2A-5056515DCDA5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229200"/>
            <a:ext cx="758293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반면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P2P 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응용에서는 한 프로세스가 클라이언트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, 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서버 양쪽 역할을 다 수행할 수 있다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6566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소켓 </a:t>
            </a:r>
            <a:r>
              <a:rPr lang="en-US" altLang="ko-KR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</a:rPr>
              <a:t>(Sockets)</a:t>
            </a:r>
            <a:endParaRPr lang="ko-KR" altLang="en-US" dirty="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34479-0504-4299-A5EC-76DC3470770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2474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프로세스는 소켓을 통해 메시지를 주고받는다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소켓은 문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출입구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)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에 비유할 수 있다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D318EB6-F521-42AF-86A8-C1FD962854C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060848"/>
            <a:ext cx="6976032" cy="9812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보내는 프로세스는 문밖으로 메시지를 밀어낸다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보내는 프로세스는 문밖에 있는 전송 하부구조에 의존해 받는 프로세스의 소켓에 메시지를 전달한다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0E47A8-D3B2-4B04-B59A-0BB4B4389CCA}"/>
              </a:ext>
            </a:extLst>
          </p:cNvPr>
          <p:cNvSpPr/>
          <p:nvPr/>
        </p:nvSpPr>
        <p:spPr>
          <a:xfrm>
            <a:off x="846558" y="3202474"/>
            <a:ext cx="7410029" cy="3099266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8DD0728-CE4F-450C-B599-0279D6F569A5}"/>
              </a:ext>
            </a:extLst>
          </p:cNvPr>
          <p:cNvGrpSpPr/>
          <p:nvPr/>
        </p:nvGrpSpPr>
        <p:grpSpPr>
          <a:xfrm>
            <a:off x="6600056" y="4841001"/>
            <a:ext cx="889274" cy="1058378"/>
            <a:chOff x="6638988" y="4761278"/>
            <a:chExt cx="1023241" cy="121782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335F4D10-EABB-40D9-98FE-F7F899D55321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ED72A98-1C3F-400D-A1DF-32B18491D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6A1DD72-C493-4FF0-9B86-C58452E4C253}"/>
              </a:ext>
            </a:extLst>
          </p:cNvPr>
          <p:cNvGrpSpPr/>
          <p:nvPr/>
        </p:nvGrpSpPr>
        <p:grpSpPr>
          <a:xfrm flipH="1">
            <a:off x="990215" y="4841001"/>
            <a:ext cx="889272" cy="1058378"/>
            <a:chOff x="6638988" y="4761278"/>
            <a:chExt cx="1023241" cy="121782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71069B0-5E28-4A1D-9052-BF4D7824F94A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FF087FF-D71D-47A4-BB56-ED0B280DB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sp>
        <p:nvSpPr>
          <p:cNvPr id="28" name="Rectangle 228">
            <a:extLst>
              <a:ext uri="{FF2B5EF4-FFF2-40B4-BE49-F238E27FC236}">
                <a16:creationId xmlns:a16="http://schemas.microsoft.com/office/drawing/2014/main" id="{CFA97C91-2728-4EBE-A3E8-D72FDCBE9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471" y="3495675"/>
            <a:ext cx="1159016" cy="711304"/>
          </a:xfrm>
          <a:prstGeom prst="rect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1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585C8B9-8ED7-41E8-BD58-E17D2435FF13}"/>
              </a:ext>
            </a:extLst>
          </p:cNvPr>
          <p:cNvGrpSpPr/>
          <p:nvPr/>
        </p:nvGrpSpPr>
        <p:grpSpPr>
          <a:xfrm>
            <a:off x="1798471" y="4205288"/>
            <a:ext cx="1159016" cy="926380"/>
            <a:chOff x="1840640" y="4014788"/>
            <a:chExt cx="1159016" cy="782741"/>
          </a:xfrm>
        </p:grpSpPr>
        <p:sp>
          <p:nvSpPr>
            <p:cNvPr id="22" name="Rectangle 228">
              <a:extLst>
                <a:ext uri="{FF2B5EF4-FFF2-40B4-BE49-F238E27FC236}">
                  <a16:creationId xmlns:a16="http://schemas.microsoft.com/office/drawing/2014/main" id="{EF04F6BE-B06B-43C6-8E7F-B150C6D48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014788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</p:txBody>
        </p:sp>
        <p:sp>
          <p:nvSpPr>
            <p:cNvPr id="29" name="Rectangle 228">
              <a:extLst>
                <a:ext uri="{FF2B5EF4-FFF2-40B4-BE49-F238E27FC236}">
                  <a16:creationId xmlns:a16="http://schemas.microsoft.com/office/drawing/2014/main" id="{2DE3D07F-C8E7-4CBB-BDDD-F809FD50C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210051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</p:txBody>
        </p:sp>
        <p:sp>
          <p:nvSpPr>
            <p:cNvPr id="30" name="Rectangle 228">
              <a:extLst>
                <a:ext uri="{FF2B5EF4-FFF2-40B4-BE49-F238E27FC236}">
                  <a16:creationId xmlns:a16="http://schemas.microsoft.com/office/drawing/2014/main" id="{0D17B4FC-A44C-4F39-81D4-B2FEAC585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405314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link</a:t>
              </a:r>
            </a:p>
          </p:txBody>
        </p:sp>
        <p:sp>
          <p:nvSpPr>
            <p:cNvPr id="31" name="Rectangle 228">
              <a:extLst>
                <a:ext uri="{FF2B5EF4-FFF2-40B4-BE49-F238E27FC236}">
                  <a16:creationId xmlns:a16="http://schemas.microsoft.com/office/drawing/2014/main" id="{87169F47-97FE-4D60-AC94-68D03C795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600576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</p:grpSp>
      <p:sp>
        <p:nvSpPr>
          <p:cNvPr id="32" name="Text Box 26">
            <a:extLst>
              <a:ext uri="{FF2B5EF4-FFF2-40B4-BE49-F238E27FC236}">
                <a16:creationId xmlns:a16="http://schemas.microsoft.com/office/drawing/2014/main" id="{F35E22BE-84EF-4F5B-B477-04BFEDE89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520" y="3509962"/>
            <a:ext cx="1168400" cy="284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application</a:t>
            </a:r>
          </a:p>
        </p:txBody>
      </p:sp>
      <p:sp>
        <p:nvSpPr>
          <p:cNvPr id="33" name="Oval 57">
            <a:extLst>
              <a:ext uri="{FF2B5EF4-FFF2-40B4-BE49-F238E27FC236}">
                <a16:creationId xmlns:a16="http://schemas.microsoft.com/office/drawing/2014/main" id="{AB5F40A5-E612-4ED9-87BF-473DE6ECC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598" y="3783137"/>
            <a:ext cx="941042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process</a:t>
            </a:r>
          </a:p>
        </p:txBody>
      </p:sp>
      <p:grpSp>
        <p:nvGrpSpPr>
          <p:cNvPr id="43" name="Group 58">
            <a:extLst>
              <a:ext uri="{FF2B5EF4-FFF2-40B4-BE49-F238E27FC236}">
                <a16:creationId xmlns:a16="http://schemas.microsoft.com/office/drawing/2014/main" id="{09827060-AADD-4441-A8E1-DB456E6E8E0B}"/>
              </a:ext>
            </a:extLst>
          </p:cNvPr>
          <p:cNvGrpSpPr>
            <a:grpSpLocks/>
          </p:cNvGrpSpPr>
          <p:nvPr/>
        </p:nvGrpSpPr>
        <p:grpSpPr bwMode="auto">
          <a:xfrm>
            <a:off x="2104929" y="4023521"/>
            <a:ext cx="546100" cy="225425"/>
            <a:chOff x="1287" y="2524"/>
            <a:chExt cx="260" cy="100"/>
          </a:xfrm>
        </p:grpSpPr>
        <p:sp>
          <p:nvSpPr>
            <p:cNvPr id="44" name="Rectangle 59">
              <a:extLst>
                <a:ext uri="{FF2B5EF4-FFF2-40B4-BE49-F238E27FC236}">
                  <a16:creationId xmlns:a16="http://schemas.microsoft.com/office/drawing/2014/main" id="{4EA3BF07-8469-41F8-AB82-61B975EDC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rgbClr val="105BA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45" name="Rectangle 60">
              <a:extLst>
                <a:ext uri="{FF2B5EF4-FFF2-40B4-BE49-F238E27FC236}">
                  <a16:creationId xmlns:a16="http://schemas.microsoft.com/office/drawing/2014/main" id="{A7E95077-8C59-4FAA-B334-5EABA0476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7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46" name="Rectangle 61">
              <a:extLst>
                <a:ext uri="{FF2B5EF4-FFF2-40B4-BE49-F238E27FC236}">
                  <a16:creationId xmlns:a16="http://schemas.microsoft.com/office/drawing/2014/main" id="{BF60B860-98C3-425E-B53C-B09640284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2580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47" name="Rectangle 62">
              <a:extLst>
                <a:ext uri="{FF2B5EF4-FFF2-40B4-BE49-F238E27FC236}">
                  <a16:creationId xmlns:a16="http://schemas.microsoft.com/office/drawing/2014/main" id="{2FD7AB5D-6FA3-48CB-AF7C-83A957A2C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2580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</p:grpSp>
      <p:sp>
        <p:nvSpPr>
          <p:cNvPr id="50" name="Rectangle 228">
            <a:extLst>
              <a:ext uri="{FF2B5EF4-FFF2-40B4-BE49-F238E27FC236}">
                <a16:creationId xmlns:a16="http://schemas.microsoft.com/office/drawing/2014/main" id="{EAE8A0D3-FFE5-4C2D-A756-0F1C1EA1F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5674" y="3495675"/>
            <a:ext cx="1159016" cy="711304"/>
          </a:xfrm>
          <a:prstGeom prst="rect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1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FCBDB84-7D25-4140-8FED-27566C79BB20}"/>
              </a:ext>
            </a:extLst>
          </p:cNvPr>
          <p:cNvGrpSpPr/>
          <p:nvPr/>
        </p:nvGrpSpPr>
        <p:grpSpPr>
          <a:xfrm>
            <a:off x="5525674" y="4205288"/>
            <a:ext cx="1159016" cy="926380"/>
            <a:chOff x="1840640" y="4014788"/>
            <a:chExt cx="1159016" cy="782741"/>
          </a:xfrm>
        </p:grpSpPr>
        <p:sp>
          <p:nvSpPr>
            <p:cNvPr id="59" name="Rectangle 228">
              <a:extLst>
                <a:ext uri="{FF2B5EF4-FFF2-40B4-BE49-F238E27FC236}">
                  <a16:creationId xmlns:a16="http://schemas.microsoft.com/office/drawing/2014/main" id="{1294A343-B0CA-4611-BAEE-8A7E918C5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014788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</p:txBody>
        </p:sp>
        <p:sp>
          <p:nvSpPr>
            <p:cNvPr id="60" name="Rectangle 228">
              <a:extLst>
                <a:ext uri="{FF2B5EF4-FFF2-40B4-BE49-F238E27FC236}">
                  <a16:creationId xmlns:a16="http://schemas.microsoft.com/office/drawing/2014/main" id="{2EB2B297-782C-488F-9617-7B9EE8D0C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210051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</p:txBody>
        </p:sp>
        <p:sp>
          <p:nvSpPr>
            <p:cNvPr id="61" name="Rectangle 228">
              <a:extLst>
                <a:ext uri="{FF2B5EF4-FFF2-40B4-BE49-F238E27FC236}">
                  <a16:creationId xmlns:a16="http://schemas.microsoft.com/office/drawing/2014/main" id="{2269643D-EA8A-483E-A974-ECD4637DF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405314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link</a:t>
              </a:r>
            </a:p>
          </p:txBody>
        </p:sp>
        <p:sp>
          <p:nvSpPr>
            <p:cNvPr id="62" name="Rectangle 228">
              <a:extLst>
                <a:ext uri="{FF2B5EF4-FFF2-40B4-BE49-F238E27FC236}">
                  <a16:creationId xmlns:a16="http://schemas.microsoft.com/office/drawing/2014/main" id="{C25A804F-4D72-4D81-AF3B-205DDFA9C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600576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</p:grpSp>
      <p:sp>
        <p:nvSpPr>
          <p:cNvPr id="52" name="Text Box 26">
            <a:extLst>
              <a:ext uri="{FF2B5EF4-FFF2-40B4-BE49-F238E27FC236}">
                <a16:creationId xmlns:a16="http://schemas.microsoft.com/office/drawing/2014/main" id="{19AB1EC6-4A7F-43CD-B718-7091E1C4E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723" y="3509962"/>
            <a:ext cx="1168400" cy="284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application</a:t>
            </a:r>
          </a:p>
        </p:txBody>
      </p:sp>
      <p:sp>
        <p:nvSpPr>
          <p:cNvPr id="53" name="Oval 57">
            <a:extLst>
              <a:ext uri="{FF2B5EF4-FFF2-40B4-BE49-F238E27FC236}">
                <a16:creationId xmlns:a16="http://schemas.microsoft.com/office/drawing/2014/main" id="{A0A2D04B-705A-4047-8D17-8AD38A0CA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1801" y="3783137"/>
            <a:ext cx="941042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process</a:t>
            </a:r>
          </a:p>
        </p:txBody>
      </p:sp>
      <p:grpSp>
        <p:nvGrpSpPr>
          <p:cNvPr id="54" name="Group 58">
            <a:extLst>
              <a:ext uri="{FF2B5EF4-FFF2-40B4-BE49-F238E27FC236}">
                <a16:creationId xmlns:a16="http://schemas.microsoft.com/office/drawing/2014/main" id="{870BA5E4-0420-46C1-B2E2-8CBBA8F727E0}"/>
              </a:ext>
            </a:extLst>
          </p:cNvPr>
          <p:cNvGrpSpPr>
            <a:grpSpLocks/>
          </p:cNvGrpSpPr>
          <p:nvPr/>
        </p:nvGrpSpPr>
        <p:grpSpPr bwMode="auto">
          <a:xfrm>
            <a:off x="5832132" y="4023521"/>
            <a:ext cx="546100" cy="225425"/>
            <a:chOff x="1287" y="2524"/>
            <a:chExt cx="260" cy="100"/>
          </a:xfrm>
        </p:grpSpPr>
        <p:sp>
          <p:nvSpPr>
            <p:cNvPr id="55" name="Rectangle 59">
              <a:extLst>
                <a:ext uri="{FF2B5EF4-FFF2-40B4-BE49-F238E27FC236}">
                  <a16:creationId xmlns:a16="http://schemas.microsoft.com/office/drawing/2014/main" id="{4A02A8B4-9C2C-4E59-831B-2EFD8C41D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rgbClr val="105BA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56" name="Rectangle 60">
              <a:extLst>
                <a:ext uri="{FF2B5EF4-FFF2-40B4-BE49-F238E27FC236}">
                  <a16:creationId xmlns:a16="http://schemas.microsoft.com/office/drawing/2014/main" id="{ED6BD327-A99B-4F32-921F-0654FC1C3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7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57" name="Rectangle 61">
              <a:extLst>
                <a:ext uri="{FF2B5EF4-FFF2-40B4-BE49-F238E27FC236}">
                  <a16:creationId xmlns:a16="http://schemas.microsoft.com/office/drawing/2014/main" id="{83A51FC6-3EFE-4A0C-B451-ECB825FB3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2580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58" name="Rectangle 62">
              <a:extLst>
                <a:ext uri="{FF2B5EF4-FFF2-40B4-BE49-F238E27FC236}">
                  <a16:creationId xmlns:a16="http://schemas.microsoft.com/office/drawing/2014/main" id="{CA69CE5C-A540-4E8F-811F-26A49BB0C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2580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</p:grpSp>
      <p:sp>
        <p:nvSpPr>
          <p:cNvPr id="64" name="타원 63">
            <a:extLst>
              <a:ext uri="{FF2B5EF4-FFF2-40B4-BE49-F238E27FC236}">
                <a16:creationId xmlns:a16="http://schemas.microsoft.com/office/drawing/2014/main" id="{A9AA09B0-A740-47EB-A1AF-E3AAA0CACA17}"/>
              </a:ext>
            </a:extLst>
          </p:cNvPr>
          <p:cNvSpPr/>
          <p:nvPr/>
        </p:nvSpPr>
        <p:spPr>
          <a:xfrm>
            <a:off x="3349184" y="5085184"/>
            <a:ext cx="1781175" cy="766763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EA85D6BE-7951-4900-A25A-CC5714FB39FC}"/>
              </a:ext>
            </a:extLst>
          </p:cNvPr>
          <p:cNvCxnSpPr/>
          <p:nvPr/>
        </p:nvCxnSpPr>
        <p:spPr>
          <a:xfrm>
            <a:off x="1944246" y="5505450"/>
            <a:ext cx="4591050" cy="0"/>
          </a:xfrm>
          <a:prstGeom prst="straightConnector1">
            <a:avLst/>
          </a:prstGeom>
          <a:ln w="15875">
            <a:solidFill>
              <a:srgbClr val="105B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44B92E5-BC14-461F-ACA4-759FF365B7FF}"/>
              </a:ext>
            </a:extLst>
          </p:cNvPr>
          <p:cNvSpPr txBox="1"/>
          <p:nvPr/>
        </p:nvSpPr>
        <p:spPr>
          <a:xfrm>
            <a:off x="3403650" y="5195292"/>
            <a:ext cx="16847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Internet</a:t>
            </a: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059DDFE-22BF-4F2D-B81B-4D1F5BF6D115}"/>
              </a:ext>
            </a:extLst>
          </p:cNvPr>
          <p:cNvCxnSpPr>
            <a:cxnSpLocks/>
          </p:cNvCxnSpPr>
          <p:nvPr/>
        </p:nvCxnSpPr>
        <p:spPr>
          <a:xfrm>
            <a:off x="2740609" y="4127771"/>
            <a:ext cx="2995351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71" name="타원 70">
            <a:extLst>
              <a:ext uri="{FF2B5EF4-FFF2-40B4-BE49-F238E27FC236}">
                <a16:creationId xmlns:a16="http://schemas.microsoft.com/office/drawing/2014/main" id="{870AFD07-F533-4E9D-9ED7-3EB5F48BF8C4}"/>
              </a:ext>
            </a:extLst>
          </p:cNvPr>
          <p:cNvSpPr/>
          <p:nvPr/>
        </p:nvSpPr>
        <p:spPr>
          <a:xfrm>
            <a:off x="2689212" y="4085898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srgbClr val="105BA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58B39B4C-298F-4310-B718-144DB746F9A0}"/>
              </a:ext>
            </a:extLst>
          </p:cNvPr>
          <p:cNvSpPr/>
          <p:nvPr/>
        </p:nvSpPr>
        <p:spPr>
          <a:xfrm>
            <a:off x="5735960" y="4085898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srgbClr val="105BA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0D2C707-B35B-4AEE-BF0F-86FD65E6FED9}"/>
              </a:ext>
            </a:extLst>
          </p:cNvPr>
          <p:cNvSpPr txBox="1"/>
          <p:nvPr/>
        </p:nvSpPr>
        <p:spPr>
          <a:xfrm>
            <a:off x="3908202" y="3986014"/>
            <a:ext cx="675630" cy="307777"/>
          </a:xfrm>
          <a:prstGeom prst="rect">
            <a:avLst/>
          </a:prstGeom>
          <a:solidFill>
            <a:srgbClr val="EFF5FB"/>
          </a:solidFill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소켓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652ACBB-FB77-4862-9230-199D6E90BD69}"/>
              </a:ext>
            </a:extLst>
          </p:cNvPr>
          <p:cNvSpPr txBox="1"/>
          <p:nvPr/>
        </p:nvSpPr>
        <p:spPr>
          <a:xfrm>
            <a:off x="6914015" y="3776184"/>
            <a:ext cx="1571625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앱 개발자가 제어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1E26E13-1784-4B31-96DE-B8B3BDD3C677}"/>
              </a:ext>
            </a:extLst>
          </p:cNvPr>
          <p:cNvCxnSpPr>
            <a:cxnSpLocks/>
          </p:cNvCxnSpPr>
          <p:nvPr/>
        </p:nvCxnSpPr>
        <p:spPr>
          <a:xfrm>
            <a:off x="6620459" y="3880121"/>
            <a:ext cx="344221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80" name="타원 79">
            <a:extLst>
              <a:ext uri="{FF2B5EF4-FFF2-40B4-BE49-F238E27FC236}">
                <a16:creationId xmlns:a16="http://schemas.microsoft.com/office/drawing/2014/main" id="{AC24C73C-46D9-44A8-AA58-CAB30B330232}"/>
              </a:ext>
            </a:extLst>
          </p:cNvPr>
          <p:cNvSpPr/>
          <p:nvPr/>
        </p:nvSpPr>
        <p:spPr>
          <a:xfrm>
            <a:off x="6533678" y="3842217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srgbClr val="105BA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1" name="오른쪽 중괄호 80">
            <a:extLst>
              <a:ext uri="{FF2B5EF4-FFF2-40B4-BE49-F238E27FC236}">
                <a16:creationId xmlns:a16="http://schemas.microsoft.com/office/drawing/2014/main" id="{52DE7E3F-868B-4CC9-BF7E-14DD294779BF}"/>
              </a:ext>
            </a:extLst>
          </p:cNvPr>
          <p:cNvSpPr/>
          <p:nvPr/>
        </p:nvSpPr>
        <p:spPr>
          <a:xfrm>
            <a:off x="6743700" y="4229100"/>
            <a:ext cx="228600" cy="890588"/>
          </a:xfrm>
          <a:prstGeom prst="rightBrace">
            <a:avLst>
              <a:gd name="adj1" fmla="val 66666"/>
              <a:gd name="adj2" fmla="val 50000"/>
            </a:avLst>
          </a:prstGeom>
          <a:noFill/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6710E27-27E5-4D93-8204-1644432A75A2}"/>
              </a:ext>
            </a:extLst>
          </p:cNvPr>
          <p:cNvSpPr txBox="1"/>
          <p:nvPr/>
        </p:nvSpPr>
        <p:spPr>
          <a:xfrm>
            <a:off x="6914015" y="4552550"/>
            <a:ext cx="1285429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운영체제가 제어</a:t>
            </a:r>
          </a:p>
        </p:txBody>
      </p:sp>
    </p:spTree>
    <p:extLst>
      <p:ext uri="{BB962C8B-B14F-4D97-AF65-F5344CB8AC3E}">
        <p14:creationId xmlns:p14="http://schemas.microsoft.com/office/powerpoint/2010/main" val="1572347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E722E59B-1C99-4186-BA62-5CBF6DFFDBE7}"/>
              </a:ext>
            </a:extLst>
          </p:cNvPr>
          <p:cNvSpPr/>
          <p:nvPr/>
        </p:nvSpPr>
        <p:spPr>
          <a:xfrm>
            <a:off x="844235" y="2049036"/>
            <a:ext cx="6901661" cy="1022042"/>
          </a:xfrm>
          <a:prstGeom prst="snip1Rect">
            <a:avLst>
              <a:gd name="adj" fmla="val 19150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프로세스 주소 배정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4DA87B-BC1D-4197-A49D-82732B97465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2474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메시지를 받기 위해 프로세스는 식별자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identifier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)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가 필요하다</a:t>
            </a: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호스트는 고유의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32-bit IP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주소를 가짐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842CFA0-1F3D-4999-ADFE-13505996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2135373"/>
            <a:ext cx="6826930" cy="350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주소만으로 호스트 내에서 실행되는 프로세스를 식별할 수 있는가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?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6C5C4B3-6EA6-487A-90A2-FFA86B3CC286}"/>
              </a:ext>
            </a:extLst>
          </p:cNvPr>
          <p:cNvGrpSpPr/>
          <p:nvPr/>
        </p:nvGrpSpPr>
        <p:grpSpPr>
          <a:xfrm>
            <a:off x="595909" y="2024533"/>
            <a:ext cx="507687" cy="593792"/>
            <a:chOff x="595909" y="5784951"/>
            <a:chExt cx="507687" cy="593792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6D49ECD-4A4F-4B26-99D1-13E61FB837B7}"/>
                </a:ext>
              </a:extLst>
            </p:cNvPr>
            <p:cNvSpPr/>
            <p:nvPr/>
          </p:nvSpPr>
          <p:spPr>
            <a:xfrm>
              <a:off x="693394" y="6294322"/>
              <a:ext cx="314384" cy="84421"/>
            </a:xfrm>
            <a:prstGeom prst="ellipse">
              <a:avLst/>
            </a:prstGeom>
            <a:solidFill>
              <a:srgbClr val="DCF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87684808-D2F3-410C-AAE3-D3DF585A34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572859" y="5816110"/>
              <a:ext cx="558670" cy="502804"/>
            </a:xfrm>
            <a:prstGeom prst="rect">
              <a:avLst/>
            </a:prstGeom>
          </p:spPr>
        </p:pic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A3D1EB5F-1960-413D-9FDA-6F84AB403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909" y="5784951"/>
              <a:ext cx="498162" cy="507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2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Q</a:t>
              </a:r>
              <a:endParaRPr lang="en-US" altLang="ko-KR" sz="2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CB3A5FA-2AE1-459B-A313-F63E09B0F3F6}"/>
              </a:ext>
            </a:extLst>
          </p:cNvPr>
          <p:cNvGrpSpPr/>
          <p:nvPr/>
        </p:nvGrpSpPr>
        <p:grpSpPr>
          <a:xfrm>
            <a:off x="1127448" y="2512458"/>
            <a:ext cx="6466048" cy="507062"/>
            <a:chOff x="1127448" y="2512458"/>
            <a:chExt cx="6466048" cy="507062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A8E17696-3C44-4E79-8AFF-6A87F9F92258}"/>
                </a:ext>
              </a:extLst>
            </p:cNvPr>
            <p:cNvGrpSpPr/>
            <p:nvPr/>
          </p:nvGrpSpPr>
          <p:grpSpPr>
            <a:xfrm>
              <a:off x="1127448" y="2551043"/>
              <a:ext cx="6466048" cy="446157"/>
              <a:chOff x="1179444" y="2551043"/>
              <a:chExt cx="6414052" cy="446157"/>
            </a:xfrm>
          </p:grpSpPr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A8BBF805-89A7-475C-A100-219C802C10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9444" y="2551043"/>
                <a:ext cx="6408846" cy="0"/>
              </a:xfrm>
              <a:prstGeom prst="line">
                <a:avLst/>
              </a:prstGeom>
              <a:solidFill>
                <a:srgbClr val="F2FBFB"/>
              </a:solidFill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E449EA62-C33F-47DA-9B91-AA1E41938FCF}"/>
                  </a:ext>
                </a:extLst>
              </p:cNvPr>
              <p:cNvSpPr/>
              <p:nvPr/>
            </p:nvSpPr>
            <p:spPr>
              <a:xfrm>
                <a:off x="1192696" y="2564296"/>
                <a:ext cx="6400800" cy="4329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endParaRPr>
              </a:p>
            </p:txBody>
          </p:sp>
        </p:grp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BE5E2070-CD7F-4B84-A2F9-FE185C98E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351" y="2512458"/>
              <a:ext cx="5844927" cy="507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22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A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en-US" altLang="ko-KR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ea typeface="넥슨Lv1고딕 Bold" panose="00000800000000000000" pitchFamily="2" charset="-127"/>
                  <a:cs typeface="+mj-cs"/>
                </a:rPr>
                <a:t>:  </a:t>
              </a:r>
              <a:r>
                <a:rPr lang="ko-KR" altLang="en-US" sz="15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ea typeface="넥슨Lv1고딕 Bold" panose="00000800000000000000" pitchFamily="2" charset="-127"/>
                  <a:cs typeface="+mj-cs"/>
                </a:rPr>
                <a:t>아니오</a:t>
              </a:r>
              <a:r>
                <a:rPr lang="en-US" altLang="ko-KR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ea typeface="넥슨Lv1고딕 Bold" panose="00000800000000000000" pitchFamily="2" charset="-127"/>
                  <a:cs typeface="+mj-cs"/>
                </a:rPr>
                <a:t>.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한 호스트에 많은 프로세스들이 실행될 수 있음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063E162-A9BA-413D-A26A-C6A3756D531D}"/>
              </a:ext>
            </a:extLst>
          </p:cNvPr>
          <p:cNvGrpSpPr/>
          <p:nvPr/>
        </p:nvGrpSpPr>
        <p:grpSpPr>
          <a:xfrm>
            <a:off x="673656" y="3178204"/>
            <a:ext cx="7340044" cy="3337465"/>
            <a:chOff x="673656" y="3178204"/>
            <a:chExt cx="7340044" cy="3337465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971506D7-9A18-4B0A-AF5F-45FF95E2FCD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3178204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3"/>
                </a:buBlip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식별자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는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IP 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주소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와 프로세스와 연관된 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포트 번호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(port numbers)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로 구성된다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.</a:t>
              </a:r>
            </a:p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3"/>
                </a:buBlip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포트 번호의 예</a:t>
              </a:r>
              <a:endPara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endParaRPr>
            </a:p>
          </p:txBody>
        </p:sp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691A97FF-95FF-4999-AFC5-F29E8E20DE7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4005688"/>
              <a:ext cx="6976032" cy="7042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HTTP server: 80</a:t>
              </a:r>
            </a:p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mail server: 25</a:t>
              </a: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296BC939-4145-48EA-A4E3-D59D6C38706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4756632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3"/>
                </a:buBlip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gaia.cs.umass.edu 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웹 서버에 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HTTP 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메시지를 보내려면</a:t>
              </a:r>
              <a:endPara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endParaRP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811B0F17-5970-41FA-9766-2EEDB40F28B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5156402"/>
              <a:ext cx="6976032" cy="739883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IP address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128.119.245.12</a:t>
              </a:r>
            </a:p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port number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80</a:t>
              </a:r>
            </a:p>
          </p:txBody>
        </p:sp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CF49A2C4-E3BE-4FC7-A70D-AD6C4D840D9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5994948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3"/>
                </a:buBlip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자세한 것은 나중에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822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애플리케이션 계층 프로토콜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정의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하는 것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6A9215-5656-48CB-99A9-D39F44FA59C7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2474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교환되는 메시지의 타입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EED4344-C6F7-4BB4-BB74-47580E3F0A2F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56792"/>
            <a:ext cx="697603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request, response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B8FEBC7-B1BF-4B64-8194-1DB6FF62FE3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98884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메시지의 문법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 내 필드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(field)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들과 구별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메시지의 의미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필드 내 정보의 의미</a:t>
            </a: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2DBB9EE-62F1-4855-B33E-2815F837BCE3}"/>
              </a:ext>
            </a:extLst>
          </p:cNvPr>
          <p:cNvSpPr/>
          <p:nvPr/>
        </p:nvSpPr>
        <p:spPr>
          <a:xfrm>
            <a:off x="758638" y="3452338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그래픽 13">
            <a:extLst>
              <a:ext uri="{FF2B5EF4-FFF2-40B4-BE49-F238E27FC236}">
                <a16:creationId xmlns:a16="http://schemas.microsoft.com/office/drawing/2014/main" id="{045C761E-FDCC-4A1B-A100-249823797930}"/>
              </a:ext>
            </a:extLst>
          </p:cNvPr>
          <p:cNvSpPr/>
          <p:nvPr/>
        </p:nvSpPr>
        <p:spPr>
          <a:xfrm rot="5400000">
            <a:off x="638045" y="2974126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3EAE77F-3605-421B-9931-C83E8E54A9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9500" y="3125795"/>
            <a:ext cx="375876" cy="217726"/>
          </a:xfrm>
          <a:prstGeom prst="rect">
            <a:avLst/>
          </a:prstGeom>
        </p:spPr>
      </p:pic>
      <p:sp>
        <p:nvSpPr>
          <p:cNvPr id="16" name="Rectangle 5">
            <a:extLst>
              <a:ext uri="{FF2B5EF4-FFF2-40B4-BE49-F238E27FC236}">
                <a16:creationId xmlns:a16="http://schemas.microsoft.com/office/drawing/2014/main" id="{40E9977F-6FC1-41BD-9F30-EAF41F5D8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2996952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프로세스가 메시지를 언제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, 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어떻게 보내고 응답할지에 대한 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규칙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9961701-1432-4B1D-8929-E2E9ABC2B7B5}"/>
              </a:ext>
            </a:extLst>
          </p:cNvPr>
          <p:cNvGrpSpPr/>
          <p:nvPr/>
        </p:nvGrpSpPr>
        <p:grpSpPr>
          <a:xfrm>
            <a:off x="946844" y="3711893"/>
            <a:ext cx="7008436" cy="2509204"/>
            <a:chOff x="946844" y="3711893"/>
            <a:chExt cx="7008436" cy="2509204"/>
          </a:xfrm>
        </p:grpSpPr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8223F0C5-5D26-4806-972B-BAD23288639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4179952"/>
              <a:ext cx="6976032" cy="1058175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RFC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에 정의됨</a:t>
              </a:r>
            </a:p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상호 호환성 제공</a:t>
              </a:r>
            </a:p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예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HTTP, SMTP</a:t>
              </a:r>
            </a:p>
          </p:txBody>
        </p:sp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7E4F3566-13AF-4D07-AAE6-D608B51DC8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5870808"/>
              <a:ext cx="6976032" cy="35028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예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Skype</a:t>
              </a:r>
            </a:p>
          </p:txBody>
        </p:sp>
        <p:sp>
          <p:nvSpPr>
            <p:cNvPr id="22" name="사각형: 잘린 한쪽 모서리 21">
              <a:extLst>
                <a:ext uri="{FF2B5EF4-FFF2-40B4-BE49-F238E27FC236}">
                  <a16:creationId xmlns:a16="http://schemas.microsoft.com/office/drawing/2014/main" id="{FCD9BBD6-2332-4A2F-8D15-271669C402A7}"/>
                </a:ext>
              </a:extLst>
            </p:cNvPr>
            <p:cNvSpPr/>
            <p:nvPr/>
          </p:nvSpPr>
          <p:spPr>
            <a:xfrm>
              <a:off x="946844" y="3711893"/>
              <a:ext cx="3341687" cy="391715"/>
            </a:xfrm>
            <a:prstGeom prst="snip1Rect">
              <a:avLst>
                <a:gd name="adj" fmla="val 28162"/>
              </a:avLst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23" name="텍스트 개체 틀 19">
              <a:extLst>
                <a:ext uri="{FF2B5EF4-FFF2-40B4-BE49-F238E27FC236}">
                  <a16:creationId xmlns:a16="http://schemas.microsoft.com/office/drawing/2014/main" id="{D1A681D6-09D3-414B-B3AE-618E8EDBE487}"/>
                </a:ext>
              </a:extLst>
            </p:cNvPr>
            <p:cNvSpPr txBox="1">
              <a:spLocks/>
            </p:cNvSpPr>
            <p:nvPr/>
          </p:nvSpPr>
          <p:spPr>
            <a:xfrm>
              <a:off x="1127448" y="3751422"/>
              <a:ext cx="2345744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buClr>
                  <a:schemeClr val="accent2"/>
                </a:buClr>
                <a:buSzPct val="85000"/>
                <a:defRPr/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공개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(open)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프로토콜</a:t>
              </a:r>
            </a:p>
          </p:txBody>
        </p:sp>
        <p:sp>
          <p:nvSpPr>
            <p:cNvPr id="24" name="사각형: 잘린 한쪽 모서리 23">
              <a:extLst>
                <a:ext uri="{FF2B5EF4-FFF2-40B4-BE49-F238E27FC236}">
                  <a16:creationId xmlns:a16="http://schemas.microsoft.com/office/drawing/2014/main" id="{667DD61C-2267-4B2C-AFD4-F8F3078FB7A7}"/>
                </a:ext>
              </a:extLst>
            </p:cNvPr>
            <p:cNvSpPr/>
            <p:nvPr/>
          </p:nvSpPr>
          <p:spPr>
            <a:xfrm>
              <a:off x="946844" y="5403696"/>
              <a:ext cx="3355753" cy="391715"/>
            </a:xfrm>
            <a:prstGeom prst="snip1Rect">
              <a:avLst>
                <a:gd name="adj" fmla="val 28162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ym typeface="Arial"/>
              </a:endParaRPr>
            </a:p>
          </p:txBody>
        </p:sp>
        <p:sp>
          <p:nvSpPr>
            <p:cNvPr id="25" name="텍스트 개체 틀 19">
              <a:extLst>
                <a:ext uri="{FF2B5EF4-FFF2-40B4-BE49-F238E27FC236}">
                  <a16:creationId xmlns:a16="http://schemas.microsoft.com/office/drawing/2014/main" id="{673B131F-5CDB-41F3-8150-326315D1A191}"/>
                </a:ext>
              </a:extLst>
            </p:cNvPr>
            <p:cNvSpPr txBox="1">
              <a:spLocks/>
            </p:cNvSpPr>
            <p:nvPr/>
          </p:nvSpPr>
          <p:spPr>
            <a:xfrm>
              <a:off x="1127448" y="5443225"/>
              <a:ext cx="2962964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buClr>
                  <a:schemeClr val="accent2"/>
                </a:buClr>
                <a:buSzPct val="85000"/>
                <a:defRPr/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비개방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(proprietary)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프로토콜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177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애플리케이션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위한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트랜스포트 서비스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2052E1-4637-4BB4-AEC6-FC80899C078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2474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데이터 신뢰성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(data integrity)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FA86040-1438-4930-AE93-DD5671D6DAA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56792"/>
            <a:ext cx="697603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어떤 응용은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파일 전송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웹 작업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100%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신뢰성 있는 데이터 전송을 요구한다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다른 응용은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오디오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약간의 손실을 허용한다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F9946BE-2291-4C64-8074-BFD553281EA1}"/>
              </a:ext>
            </a:extLst>
          </p:cNvPr>
          <p:cNvGrpSpPr/>
          <p:nvPr/>
        </p:nvGrpSpPr>
        <p:grpSpPr>
          <a:xfrm>
            <a:off x="673656" y="2420888"/>
            <a:ext cx="7340044" cy="1161478"/>
            <a:chOff x="673656" y="2420888"/>
            <a:chExt cx="7340044" cy="1161478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45A38A87-635A-4081-B1B6-ADBF30CAD53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2420888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3"/>
                </a:buBlip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시간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(timing)</a:t>
              </a: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92360DD1-C3F9-45A1-8012-0C0D3A0FBCF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2852936"/>
              <a:ext cx="6976032" cy="72943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어떤 응용은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예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인터넷 전화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다자 간 게임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낮은 지연시간에서만 효과적이다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실시간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(real-time) vs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비실시간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(non real-time)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9B26BE-5915-45C1-8135-8F49CC610C46}"/>
              </a:ext>
            </a:extLst>
          </p:cNvPr>
          <p:cNvGrpSpPr/>
          <p:nvPr/>
        </p:nvGrpSpPr>
        <p:grpSpPr>
          <a:xfrm>
            <a:off x="673656" y="3717032"/>
            <a:ext cx="7340044" cy="1136280"/>
            <a:chOff x="673656" y="3429000"/>
            <a:chExt cx="7340044" cy="1136280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AD2257A8-E305-434C-9B57-49DD9C156C3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3429000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3"/>
                </a:buBlip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처리율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(throughput)</a:t>
              </a:r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2F383DE8-B347-4B0A-B273-F5371BA164E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3861048"/>
              <a:ext cx="6976032" cy="7042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어떤 응용은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멀티미디어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최소한의 처리율이 충족되어야 효과적이다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어떤 응용은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(“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탄력적 응용”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사용 가능한 처리율만 사용한다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 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AABD61F-6817-456A-841E-68FA0E1303D6}"/>
              </a:ext>
            </a:extLst>
          </p:cNvPr>
          <p:cNvGrpSpPr/>
          <p:nvPr/>
        </p:nvGrpSpPr>
        <p:grpSpPr>
          <a:xfrm>
            <a:off x="673656" y="5013176"/>
            <a:ext cx="7340044" cy="782337"/>
            <a:chOff x="673656" y="4725144"/>
            <a:chExt cx="7340044" cy="782337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C9144378-7E3E-4AA9-8174-0C4104B13D3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4725144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3"/>
                </a:buBlip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security</a:t>
              </a: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A73C3EA4-1886-4706-8373-F96F6AC3824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5157192"/>
              <a:ext cx="6976032" cy="35028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암호화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데이터 무결성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959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트랜스포트 서비스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요구 사항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C455AFE8-9F98-4561-B8B5-04815CA02CCD}"/>
              </a:ext>
            </a:extLst>
          </p:cNvPr>
          <p:cNvSpPr/>
          <p:nvPr/>
        </p:nvSpPr>
        <p:spPr>
          <a:xfrm>
            <a:off x="723901" y="1556792"/>
            <a:ext cx="1866900" cy="399667"/>
          </a:xfrm>
          <a:prstGeom prst="round2SameRect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응용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3" name="사각형: 둥근 위쪽 모서리 22">
            <a:extLst>
              <a:ext uri="{FF2B5EF4-FFF2-40B4-BE49-F238E27FC236}">
                <a16:creationId xmlns:a16="http://schemas.microsoft.com/office/drawing/2014/main" id="{A8E57C70-89B4-4AFF-A07E-D9F3FB592CEF}"/>
              </a:ext>
            </a:extLst>
          </p:cNvPr>
          <p:cNvSpPr/>
          <p:nvPr/>
        </p:nvSpPr>
        <p:spPr>
          <a:xfrm>
            <a:off x="2633407" y="1556792"/>
            <a:ext cx="1278349" cy="399667"/>
          </a:xfrm>
          <a:prstGeom prst="round2SameRect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데이터 손실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36841635-740D-4130-9163-A23C256F3AF8}"/>
              </a:ext>
            </a:extLst>
          </p:cNvPr>
          <p:cNvSpPr/>
          <p:nvPr/>
        </p:nvSpPr>
        <p:spPr>
          <a:xfrm>
            <a:off x="3954362" y="1556792"/>
            <a:ext cx="2184791" cy="399667"/>
          </a:xfrm>
          <a:prstGeom prst="round2SameRect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대역폭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5" name="사각형: 둥근 위쪽 모서리 24">
            <a:extLst>
              <a:ext uri="{FF2B5EF4-FFF2-40B4-BE49-F238E27FC236}">
                <a16:creationId xmlns:a16="http://schemas.microsoft.com/office/drawing/2014/main" id="{AC6075F4-63A1-4573-9337-E7DC60683411}"/>
              </a:ext>
            </a:extLst>
          </p:cNvPr>
          <p:cNvSpPr/>
          <p:nvPr/>
        </p:nvSpPr>
        <p:spPr>
          <a:xfrm>
            <a:off x="6181758" y="1556792"/>
            <a:ext cx="1989137" cy="399667"/>
          </a:xfrm>
          <a:prstGeom prst="round2SameRect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time sensitive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D4105975-7D2F-47E7-885B-2FEAD23E5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94" y="1874075"/>
            <a:ext cx="1959254" cy="364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파일 전송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전자메일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웹 문서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실시간 오디오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비디오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저장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오디오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비디오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상호작용 게임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문자 메시징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3487D2D-DAB3-415E-9789-78FF8F315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970" y="1877867"/>
            <a:ext cx="909223" cy="364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비손실</a:t>
            </a:r>
            <a:endParaRPr lang="en-US" altLang="ko-KR" sz="15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비손실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비손실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손실허용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손실허용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손실허용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비손실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8E4B1F93-1230-446A-82B1-3A73D7EBE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752" y="1903278"/>
            <a:ext cx="2319826" cy="364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가변적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가변적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가변적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오디오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5kbps-1Mbps</a:t>
            </a:r>
            <a:b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비디오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10kbps-5Mbps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위와 같음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kbps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이상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가변적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7793B38E-6BC2-4CC2-85E1-89CABD592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245" y="1877867"/>
            <a:ext cx="2062162" cy="364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아니오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아니오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아니오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수백</a:t>
            </a:r>
            <a:r>
              <a:rPr lang="en-US" altLang="ja-JP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msec</a:t>
            </a:r>
            <a:br>
              <a:rPr lang="en-US" altLang="ja-JP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 초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수백</a:t>
            </a:r>
            <a:r>
              <a:rPr lang="en-US" altLang="ja-JP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msec</a:t>
            </a: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 또는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아니오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3804644-126D-417B-9829-8FD3725DA565}"/>
              </a:ext>
            </a:extLst>
          </p:cNvPr>
          <p:cNvCxnSpPr>
            <a:cxnSpLocks/>
          </p:cNvCxnSpPr>
          <p:nvPr/>
        </p:nvCxnSpPr>
        <p:spPr>
          <a:xfrm>
            <a:off x="658813" y="1957839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3D37543-71A1-4805-9CF1-F1AC0E8FEDFE}"/>
              </a:ext>
            </a:extLst>
          </p:cNvPr>
          <p:cNvCxnSpPr>
            <a:cxnSpLocks/>
          </p:cNvCxnSpPr>
          <p:nvPr/>
        </p:nvCxnSpPr>
        <p:spPr>
          <a:xfrm>
            <a:off x="658813" y="2383061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6BBADD5-9F0E-417D-B6EC-9D709A0CCC4E}"/>
              </a:ext>
            </a:extLst>
          </p:cNvPr>
          <p:cNvCxnSpPr>
            <a:cxnSpLocks/>
          </p:cNvCxnSpPr>
          <p:nvPr/>
        </p:nvCxnSpPr>
        <p:spPr>
          <a:xfrm>
            <a:off x="658813" y="2846207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E30A0EB-C775-454A-AD71-9A9DC7E0D33E}"/>
              </a:ext>
            </a:extLst>
          </p:cNvPr>
          <p:cNvCxnSpPr>
            <a:cxnSpLocks/>
          </p:cNvCxnSpPr>
          <p:nvPr/>
        </p:nvCxnSpPr>
        <p:spPr>
          <a:xfrm>
            <a:off x="658813" y="3309353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E9AA640-B699-402C-B63A-1676FE8827FB}"/>
              </a:ext>
            </a:extLst>
          </p:cNvPr>
          <p:cNvCxnSpPr>
            <a:cxnSpLocks/>
          </p:cNvCxnSpPr>
          <p:nvPr/>
        </p:nvCxnSpPr>
        <p:spPr>
          <a:xfrm>
            <a:off x="658813" y="4184972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0861640-28C5-4CA9-881F-FFEB56E4CDB5}"/>
              </a:ext>
            </a:extLst>
          </p:cNvPr>
          <p:cNvCxnSpPr>
            <a:cxnSpLocks/>
          </p:cNvCxnSpPr>
          <p:nvPr/>
        </p:nvCxnSpPr>
        <p:spPr>
          <a:xfrm>
            <a:off x="658813" y="4650945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12365C1-1771-4646-B8EA-CE57085CE2BF}"/>
              </a:ext>
            </a:extLst>
          </p:cNvPr>
          <p:cNvCxnSpPr>
            <a:cxnSpLocks/>
          </p:cNvCxnSpPr>
          <p:nvPr/>
        </p:nvCxnSpPr>
        <p:spPr>
          <a:xfrm>
            <a:off x="658813" y="5116918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87CF8E4-29D7-4A17-8D8C-044F10587638}"/>
              </a:ext>
            </a:extLst>
          </p:cNvPr>
          <p:cNvCxnSpPr>
            <a:cxnSpLocks/>
          </p:cNvCxnSpPr>
          <p:nvPr/>
        </p:nvCxnSpPr>
        <p:spPr>
          <a:xfrm>
            <a:off x="658813" y="5582890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112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잘린 한쪽 모서리 15">
            <a:extLst>
              <a:ext uri="{FF2B5EF4-FFF2-40B4-BE49-F238E27FC236}">
                <a16:creationId xmlns:a16="http://schemas.microsoft.com/office/drawing/2014/main" id="{D94F2270-3449-4047-8E0C-F1CA1279CEC8}"/>
              </a:ext>
            </a:extLst>
          </p:cNvPr>
          <p:cNvSpPr/>
          <p:nvPr/>
        </p:nvSpPr>
        <p:spPr>
          <a:xfrm>
            <a:off x="844234" y="5517232"/>
            <a:ext cx="7412353" cy="520722"/>
          </a:xfrm>
          <a:prstGeom prst="snip1Rect">
            <a:avLst>
              <a:gd name="adj" fmla="val 24985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162D2EB-CDAB-40ED-BDB7-3BF933BE701D}"/>
              </a:ext>
            </a:extLst>
          </p:cNvPr>
          <p:cNvSpPr/>
          <p:nvPr/>
        </p:nvSpPr>
        <p:spPr>
          <a:xfrm>
            <a:off x="693394" y="5995492"/>
            <a:ext cx="314384" cy="8442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인터넷 트랜스포트 프로토콜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서비스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F2CEB77-4260-4AC3-B4FA-F88A2882394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55679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송수신 프로세스 간의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전송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F7B6F17-5483-4AB6-B248-4DF9919D94D4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988840"/>
            <a:ext cx="6976032" cy="149868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흐름 제어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(flow control)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측이 처리할 수 있는 속도에 맞춰 송신</a:t>
            </a:r>
          </a:p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혼잡 제어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(congestion control)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망이 혼잡해지면 송신 측 속도를 낮춤</a:t>
            </a:r>
          </a:p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제공하지 않는 것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시간 보장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처리율 보장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보안</a:t>
            </a:r>
          </a:p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연결 지향형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(connection-oriented)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-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 간 연결 설정 필요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2E850D4-BEFE-48B8-BA09-6237CB04688E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13041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송수신 프로세스 간의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비신뢰적 전송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C80D43A-2CC2-438E-A9C7-654106B6868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562460"/>
            <a:ext cx="6976032" cy="70807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4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제공하지 않는 것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신뢰성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흐름 제어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시간 보장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처리율 보장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보안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연결 설정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E4940274-E9D5-4F88-A036-F60D7AC65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96" y="1040140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TCP 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서비스 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280528B8-689A-4C50-87A3-4CA539B03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96" y="3650169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UDP 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서비스 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1DF05A3E-80C0-4D4C-8F42-FB351A2E4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5581161"/>
            <a:ext cx="6887167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UDP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가 존재하는 이유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?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2" name="그래픽 19">
            <a:extLst>
              <a:ext uri="{FF2B5EF4-FFF2-40B4-BE49-F238E27FC236}">
                <a16:creationId xmlns:a16="http://schemas.microsoft.com/office/drawing/2014/main" id="{776B9CDD-AA13-493C-9E92-F33EA083BA6D}"/>
              </a:ext>
            </a:extLst>
          </p:cNvPr>
          <p:cNvSpPr/>
          <p:nvPr/>
        </p:nvSpPr>
        <p:spPr>
          <a:xfrm rot="5400000">
            <a:off x="572801" y="5517280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0B9D96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FAF8343E-A1A1-4533-B78A-41BB5E589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09" y="5486121"/>
            <a:ext cx="498162" cy="507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Q</a:t>
            </a:r>
            <a:endParaRPr lang="en-US" altLang="ko-KR" sz="22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03101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인터넷 응용들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트랜스포트 프로토콜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52617744-C975-49B2-ACE6-F44A4C8F5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2056191"/>
            <a:ext cx="1959254" cy="3253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전자메일</a:t>
            </a:r>
          </a:p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원격 터미널 접속</a:t>
            </a:r>
          </a:p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웹</a:t>
            </a:r>
          </a:p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파일 전송</a:t>
            </a:r>
          </a:p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멀티미디어 스트리밍</a:t>
            </a:r>
          </a:p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3" algn="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인터넷 전화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975E5C48-B07D-430A-850A-0BDCCA092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078" y="2059983"/>
            <a:ext cx="2162773" cy="3568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SMTP [RFC 2821]</a:t>
            </a: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Telnet [RFC 854]</a:t>
            </a: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HTTP [RFC 2616]</a:t>
            </a: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FTP [RFC 959]</a:t>
            </a: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HTTP 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YouTube),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RTP [RFC 1889]</a:t>
            </a: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SIP, RTP,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사설 프로토콜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Skype)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6EAA8697-D79B-4EF3-9EEB-EDB2C5AA0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757" y="2085394"/>
            <a:ext cx="2319826" cy="3568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</a:t>
            </a: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</a:t>
            </a: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</a:t>
            </a: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</a:t>
            </a: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또는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UDP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  <a:p>
            <a:pPr marL="0" lvl="3" algn="ctr" latinLnBrk="0">
              <a:lnSpc>
                <a:spcPct val="170000"/>
              </a:lnSpc>
              <a:spcBef>
                <a:spcPts val="600"/>
              </a:spcBef>
              <a:buClr>
                <a:srgbClr val="0B4CA2"/>
              </a:buClr>
              <a:buSzPct val="80000"/>
              <a:buFont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또는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UDP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A83B22C-0DF0-4E25-9A79-32AFA6D10D11}"/>
              </a:ext>
            </a:extLst>
          </p:cNvPr>
          <p:cNvCxnSpPr>
            <a:cxnSpLocks/>
          </p:cNvCxnSpPr>
          <p:nvPr/>
        </p:nvCxnSpPr>
        <p:spPr>
          <a:xfrm>
            <a:off x="658813" y="2101855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DDB1D4A-EC16-49E9-8AE4-41D4B9E190F3}"/>
              </a:ext>
            </a:extLst>
          </p:cNvPr>
          <p:cNvCxnSpPr>
            <a:cxnSpLocks/>
          </p:cNvCxnSpPr>
          <p:nvPr/>
        </p:nvCxnSpPr>
        <p:spPr>
          <a:xfrm>
            <a:off x="658813" y="2527077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F5CF0D2-32A7-4443-B1AB-20E7BA494132}"/>
              </a:ext>
            </a:extLst>
          </p:cNvPr>
          <p:cNvCxnSpPr>
            <a:cxnSpLocks/>
          </p:cNvCxnSpPr>
          <p:nvPr/>
        </p:nvCxnSpPr>
        <p:spPr>
          <a:xfrm>
            <a:off x="658813" y="3000714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A0A6AB8-7C29-45DA-A7BE-39473228AE48}"/>
              </a:ext>
            </a:extLst>
          </p:cNvPr>
          <p:cNvCxnSpPr>
            <a:cxnSpLocks/>
          </p:cNvCxnSpPr>
          <p:nvPr/>
        </p:nvCxnSpPr>
        <p:spPr>
          <a:xfrm>
            <a:off x="658813" y="3474351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E7A416F-F244-4F4D-B1C5-9640FBEBFB5F}"/>
              </a:ext>
            </a:extLst>
          </p:cNvPr>
          <p:cNvCxnSpPr>
            <a:cxnSpLocks/>
          </p:cNvCxnSpPr>
          <p:nvPr/>
        </p:nvCxnSpPr>
        <p:spPr>
          <a:xfrm>
            <a:off x="658813" y="3947988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8C7B31F-83BC-48B4-9370-68E7B49728B2}"/>
              </a:ext>
            </a:extLst>
          </p:cNvPr>
          <p:cNvCxnSpPr>
            <a:cxnSpLocks/>
          </p:cNvCxnSpPr>
          <p:nvPr/>
        </p:nvCxnSpPr>
        <p:spPr>
          <a:xfrm>
            <a:off x="658813" y="4779721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9CB0F15-FAD8-4205-950D-5B6A8CC9CFC8}"/>
              </a:ext>
            </a:extLst>
          </p:cNvPr>
          <p:cNvCxnSpPr>
            <a:cxnSpLocks/>
          </p:cNvCxnSpPr>
          <p:nvPr/>
        </p:nvCxnSpPr>
        <p:spPr>
          <a:xfrm>
            <a:off x="651193" y="5688806"/>
            <a:ext cx="7597775" cy="0"/>
          </a:xfrm>
          <a:prstGeom prst="line">
            <a:avLst/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4776137A-9935-4D30-B734-B7320D2BB98F}"/>
              </a:ext>
            </a:extLst>
          </p:cNvPr>
          <p:cNvSpPr/>
          <p:nvPr/>
        </p:nvSpPr>
        <p:spPr>
          <a:xfrm>
            <a:off x="754381" y="1628800"/>
            <a:ext cx="1836420" cy="471675"/>
          </a:xfrm>
          <a:prstGeom prst="round2SameRect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응용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90D932B6-F745-45B2-951F-774912B17AE1}"/>
              </a:ext>
            </a:extLst>
          </p:cNvPr>
          <p:cNvSpPr/>
          <p:nvPr/>
        </p:nvSpPr>
        <p:spPr>
          <a:xfrm>
            <a:off x="2674620" y="1628800"/>
            <a:ext cx="2853689" cy="471675"/>
          </a:xfrm>
          <a:prstGeom prst="round2SameRect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애플리케이션 계층 프로토콜</a:t>
            </a:r>
          </a:p>
        </p:txBody>
      </p:sp>
      <p:sp>
        <p:nvSpPr>
          <p:cNvPr id="23" name="사각형: 둥근 위쪽 모서리 22">
            <a:extLst>
              <a:ext uri="{FF2B5EF4-FFF2-40B4-BE49-F238E27FC236}">
                <a16:creationId xmlns:a16="http://schemas.microsoft.com/office/drawing/2014/main" id="{B3CF9F07-EB5E-4F51-89D3-F7A256093788}"/>
              </a:ext>
            </a:extLst>
          </p:cNvPr>
          <p:cNvSpPr/>
          <p:nvPr/>
        </p:nvSpPr>
        <p:spPr>
          <a:xfrm>
            <a:off x="5577840" y="1628800"/>
            <a:ext cx="2613660" cy="471675"/>
          </a:xfrm>
          <a:prstGeom prst="round2SameRect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하위 트랜스포트 프로토콜</a:t>
            </a:r>
          </a:p>
        </p:txBody>
      </p:sp>
    </p:spTree>
    <p:extLst>
      <p:ext uri="{BB962C8B-B14F-4D97-AF65-F5344CB8AC3E}">
        <p14:creationId xmlns:p14="http://schemas.microsoft.com/office/powerpoint/2010/main" val="3258240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D1D1158-6761-400C-BD3B-585200B2F5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Securing TCP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0C3FAF5-5F7B-45BB-9EC8-78AB0A094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D190AEC-C93D-4BFA-B163-65233A3D4B07}"/>
              </a:ext>
            </a:extLst>
          </p:cNvPr>
          <p:cNvSpPr txBox="1">
            <a:spLocks noChangeArrowheads="1"/>
          </p:cNvSpPr>
          <p:nvPr/>
        </p:nvSpPr>
        <p:spPr>
          <a:xfrm>
            <a:off x="753320" y="1383910"/>
            <a:ext cx="5957195" cy="4953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0200">
              <a:lnSpc>
                <a:spcPct val="100000"/>
              </a:lnSpc>
              <a:buNone/>
              <a:defRPr/>
            </a:pPr>
            <a:r>
              <a:rPr lang="ko-KR" altLang="en-US" sz="2400" dirty="0">
                <a:solidFill>
                  <a:srgbClr val="C00000"/>
                </a:solidFill>
              </a:rPr>
              <a:t>기존</a:t>
            </a:r>
            <a:r>
              <a:rPr lang="en-US" sz="2400" dirty="0">
                <a:solidFill>
                  <a:srgbClr val="C00000"/>
                </a:solidFill>
              </a:rPr>
              <a:t> TCP &amp; UDP sockets:</a:t>
            </a:r>
          </a:p>
          <a:p>
            <a:pPr marL="349250" indent="-219075">
              <a:lnSpc>
                <a:spcPct val="100000"/>
              </a:lnSpc>
              <a:spcBef>
                <a:spcPts val="400"/>
              </a:spcBef>
              <a:buClr>
                <a:srgbClr val="0000A8"/>
              </a:buClr>
              <a:buFont typeface="Wingdings" charset="2"/>
              <a:buChar char="§"/>
              <a:defRPr/>
            </a:pPr>
            <a:r>
              <a:rPr lang="ko-KR" altLang="en-US" sz="2000" dirty="0"/>
              <a:t>암호화 없음</a:t>
            </a:r>
            <a:endParaRPr lang="en-US" sz="2000" dirty="0"/>
          </a:p>
          <a:p>
            <a:pPr marL="349250" indent="-219075">
              <a:lnSpc>
                <a:spcPct val="100000"/>
              </a:lnSpc>
              <a:spcBef>
                <a:spcPts val="400"/>
              </a:spcBef>
              <a:buClr>
                <a:srgbClr val="0000A8"/>
              </a:buClr>
              <a:buFont typeface="Wingdings" charset="2"/>
              <a:buChar char="§"/>
              <a:defRPr/>
            </a:pPr>
            <a:r>
              <a:rPr lang="ko-KR" altLang="en-US" sz="2000" dirty="0"/>
              <a:t>소켓에 입력된 비밀번호는 일반 텍스트로 인터넷에서 전송됨</a:t>
            </a:r>
            <a:endParaRPr lang="en-US" sz="2000" dirty="0"/>
          </a:p>
          <a:p>
            <a:pPr marL="349250" indent="-219075">
              <a:lnSpc>
                <a:spcPct val="100000"/>
              </a:lnSpc>
              <a:spcBef>
                <a:spcPts val="400"/>
              </a:spcBef>
              <a:buClr>
                <a:srgbClr val="0000A8"/>
              </a:buClr>
              <a:buFont typeface="Wingdings" charset="2"/>
              <a:buChar char="§"/>
              <a:defRPr/>
            </a:pPr>
            <a:endParaRPr lang="en-US" sz="2000" dirty="0"/>
          </a:p>
          <a:p>
            <a:pPr marL="0" indent="0">
              <a:lnSpc>
                <a:spcPct val="100000"/>
              </a:lnSpc>
              <a:buFont typeface="Wingdings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</a:rPr>
              <a:t>Transport Layer Security </a:t>
            </a:r>
            <a:r>
              <a:rPr lang="en-US" sz="2400" dirty="0">
                <a:solidFill>
                  <a:srgbClr val="0000A3"/>
                </a:solidFill>
              </a:rPr>
              <a:t>(TLS) </a:t>
            </a:r>
          </a:p>
          <a:p>
            <a:pPr marL="349250" indent="-219075">
              <a:lnSpc>
                <a:spcPct val="100000"/>
              </a:lnSpc>
              <a:spcBef>
                <a:spcPts val="400"/>
              </a:spcBef>
              <a:buFont typeface="Wingdings" charset="2"/>
              <a:buChar char="§"/>
              <a:defRPr/>
            </a:pPr>
            <a:r>
              <a:rPr lang="ko-KR" altLang="en-US" sz="2000" dirty="0"/>
              <a:t>암호화된 </a:t>
            </a:r>
            <a:r>
              <a:rPr lang="en-US" altLang="ko-KR" sz="2000" dirty="0"/>
              <a:t>TCP </a:t>
            </a:r>
            <a:r>
              <a:rPr lang="ko-KR" altLang="en-US" sz="2000" dirty="0"/>
              <a:t>연결 제공</a:t>
            </a:r>
            <a:endParaRPr lang="en-US" sz="2000" dirty="0"/>
          </a:p>
          <a:p>
            <a:pPr marL="349250" indent="-219075">
              <a:lnSpc>
                <a:spcPct val="100000"/>
              </a:lnSpc>
              <a:spcBef>
                <a:spcPts val="400"/>
              </a:spcBef>
              <a:buFont typeface="Wingdings" charset="2"/>
              <a:buChar char="§"/>
              <a:defRPr/>
            </a:pPr>
            <a:r>
              <a:rPr lang="ko-KR" altLang="en-US" sz="2000" dirty="0"/>
              <a:t>데이터 무결성</a:t>
            </a:r>
            <a:endParaRPr lang="en-US" sz="2000" dirty="0"/>
          </a:p>
          <a:p>
            <a:pPr marL="349250" indent="-219075">
              <a:lnSpc>
                <a:spcPct val="100000"/>
              </a:lnSpc>
              <a:spcBef>
                <a:spcPts val="400"/>
              </a:spcBef>
              <a:buFont typeface="Wingdings" charset="2"/>
              <a:buChar char="§"/>
              <a:defRPr/>
            </a:pPr>
            <a:r>
              <a:rPr lang="ko-KR" altLang="en-US" sz="2000" dirty="0"/>
              <a:t>종단 인증 </a:t>
            </a: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3AA258B-E5D2-48D3-8812-874C6149C383}"/>
              </a:ext>
            </a:extLst>
          </p:cNvPr>
          <p:cNvSpPr txBox="1">
            <a:spLocks noChangeArrowheads="1"/>
          </p:cNvSpPr>
          <p:nvPr/>
        </p:nvSpPr>
        <p:spPr>
          <a:xfrm>
            <a:off x="7115815" y="1395634"/>
            <a:ext cx="451458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" indent="0">
              <a:lnSpc>
                <a:spcPct val="100000"/>
              </a:lnSpc>
              <a:buNone/>
            </a:pPr>
            <a:r>
              <a:rPr lang="en-US" altLang="en-US" sz="2400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TLS – </a:t>
            </a:r>
            <a:r>
              <a:rPr lang="ko-KR" altLang="en-US" sz="2400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응용 계층</a:t>
            </a:r>
            <a:endParaRPr lang="en-US" altLang="en-US" sz="2400" dirty="0">
              <a:solidFill>
                <a:srgbClr val="22228B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100000"/>
              </a:lnSpc>
            </a:pPr>
            <a:r>
              <a:rPr lang="ko-KR" altLang="en-US" sz="2000" dirty="0">
                <a:ea typeface="ＭＳ Ｐゴシック" panose="020B0600070205080204" pitchFamily="34" charset="-128"/>
              </a:rPr>
              <a:t>응용프로그램은 </a:t>
            </a:r>
            <a:r>
              <a:rPr lang="en-US" altLang="en-US" sz="2000" dirty="0">
                <a:ea typeface="ＭＳ Ｐゴシック" panose="020B0600070205080204" pitchFamily="34" charset="-128"/>
              </a:rPr>
              <a:t>TLS </a:t>
            </a:r>
            <a:r>
              <a:rPr lang="ko-KR" altLang="en-US" sz="2000" dirty="0">
                <a:ea typeface="ＭＳ Ｐゴシック" panose="020B0600070205080204" pitchFamily="34" charset="-128"/>
              </a:rPr>
              <a:t>라이브러리를</a:t>
            </a:r>
            <a:r>
              <a:rPr lang="en-US" altLang="en-US" sz="2000" dirty="0">
                <a:ea typeface="ＭＳ Ｐゴシック" panose="020B0600070205080204" pitchFamily="34" charset="-128"/>
              </a:rPr>
              <a:t> </a:t>
            </a:r>
            <a:r>
              <a:rPr lang="ko-KR" altLang="en-US" sz="2000" dirty="0">
                <a:ea typeface="ＭＳ Ｐゴシック" panose="020B0600070205080204" pitchFamily="34" charset="-128"/>
              </a:rPr>
              <a:t>사용하고</a:t>
            </a:r>
            <a:r>
              <a:rPr lang="en-US" altLang="ko-KR" sz="2000" dirty="0">
                <a:ea typeface="ＭＳ Ｐゴシック" panose="020B0600070205080204" pitchFamily="34" charset="-128"/>
              </a:rPr>
              <a:t>, TLS </a:t>
            </a:r>
            <a:r>
              <a:rPr lang="ko-KR" altLang="en-US" sz="2000" dirty="0">
                <a:ea typeface="ＭＳ Ｐゴシック" panose="020B0600070205080204" pitchFamily="34" charset="-128"/>
              </a:rPr>
              <a:t>라이브러리가 </a:t>
            </a:r>
            <a:r>
              <a:rPr lang="en-US" altLang="ko-KR" sz="2000" dirty="0">
                <a:ea typeface="ＭＳ Ｐゴシック" panose="020B0600070205080204" pitchFamily="34" charset="-128"/>
              </a:rPr>
              <a:t>TCP</a:t>
            </a:r>
            <a:r>
              <a:rPr lang="ko-KR" altLang="en-US" sz="2000" dirty="0">
                <a:ea typeface="ＭＳ Ｐゴシック" panose="020B0600070205080204" pitchFamily="34" charset="-128"/>
              </a:rPr>
              <a:t>를 사용함</a:t>
            </a:r>
            <a:r>
              <a:rPr lang="en-US" altLang="ko-KR" sz="2000" dirty="0">
                <a:ea typeface="ＭＳ Ｐゴシック" panose="020B0600070205080204" pitchFamily="34" charset="-128"/>
              </a:rPr>
              <a:t>.</a:t>
            </a:r>
            <a:endParaRPr lang="en-US" altLang="ja-JP" sz="2000" dirty="0">
              <a:ea typeface="ＭＳ Ｐゴシック" panose="020B0600070205080204" pitchFamily="34" charset="-128"/>
            </a:endParaRPr>
          </a:p>
          <a:p>
            <a:pPr>
              <a:lnSpc>
                <a:spcPct val="100000"/>
              </a:lnSpc>
            </a:pPr>
            <a:endParaRPr lang="en-US" altLang="ja-JP" sz="2000" dirty="0">
              <a:ea typeface="ＭＳ Ｐゴシック" panose="020B0600070205080204" pitchFamily="34" charset="-128"/>
            </a:endParaRPr>
          </a:p>
          <a:p>
            <a:pPr marL="22225" indent="0">
              <a:lnSpc>
                <a:spcPct val="100000"/>
              </a:lnSpc>
              <a:buNone/>
            </a:pPr>
            <a:r>
              <a:rPr lang="en-US" altLang="en-US" sz="2400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TLS - socket API</a:t>
            </a:r>
          </a:p>
          <a:p>
            <a:pPr marL="233363" lvl="1" indent="-233363">
              <a:lnSpc>
                <a:spcPct val="10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ＭＳ Ｐゴシック" panose="020B0600070205080204" pitchFamily="34" charset="-128"/>
              </a:rPr>
              <a:t>소켓에 입력된 비밀번호는 암호화되어 인터넷에서 전송됨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pPr marL="233363" lvl="1" indent="-233363">
              <a:lnSpc>
                <a:spcPct val="100000"/>
              </a:lnSpc>
              <a:buFont typeface="Wingdings" pitchFamily="2" charset="2"/>
              <a:buChar char="§"/>
            </a:pPr>
            <a:r>
              <a:rPr lang="en-US" altLang="en-US" sz="2000" dirty="0">
                <a:ea typeface="ＭＳ Ｐゴシック" panose="020B0600070205080204" pitchFamily="34" charset="-128"/>
              </a:rPr>
              <a:t>8</a:t>
            </a:r>
            <a:r>
              <a:rPr lang="ko-KR" altLang="en-US" sz="2000" dirty="0">
                <a:ea typeface="ＭＳ Ｐゴシック" panose="020B0600070205080204" pitchFamily="34" charset="-128"/>
              </a:rPr>
              <a:t>장 참조</a:t>
            </a: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7099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7F6B13A-E939-4337-A845-33A1EB706C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Chapter 2. </a:t>
            </a:r>
            <a:r>
              <a:rPr lang="ko-KR" altLang="en-US" dirty="0">
                <a:solidFill>
                  <a:schemeClr val="bg1"/>
                </a:solidFill>
              </a:rPr>
              <a:t>애플리케이션 계층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E2FACEF-5939-4AD2-89FC-14A18300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8C9E11-9547-4D20-824E-2351DB6D1C10}"/>
              </a:ext>
            </a:extLst>
          </p:cNvPr>
          <p:cNvSpPr txBox="1"/>
          <p:nvPr/>
        </p:nvSpPr>
        <p:spPr>
          <a:xfrm>
            <a:off x="1419224" y="1825636"/>
            <a:ext cx="6929719" cy="36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애플리케이션의 원리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웹과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HTTP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전자메일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DNS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P2P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파일 분배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비디오 스트리밍과 콘텐츠 분배 네트워크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(CDN)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소켓 프로그래밍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(UDP,TCP)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E72E2-77C6-4972-98CA-EEB2C7E4DFB2}"/>
              </a:ext>
            </a:extLst>
          </p:cNvPr>
          <p:cNvSpPr txBox="1"/>
          <p:nvPr/>
        </p:nvSpPr>
        <p:spPr>
          <a:xfrm>
            <a:off x="860603" y="1825636"/>
            <a:ext cx="582259" cy="364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2.1.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2.2.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2.3.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2.4.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2.5.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2.6.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2.7.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710F9F0-0F20-4F2F-AB5C-B360A5427667}"/>
              </a:ext>
            </a:extLst>
          </p:cNvPr>
          <p:cNvGrpSpPr/>
          <p:nvPr/>
        </p:nvGrpSpPr>
        <p:grpSpPr>
          <a:xfrm>
            <a:off x="1518597" y="3195573"/>
            <a:ext cx="5314727" cy="401841"/>
            <a:chOff x="1518597" y="2670279"/>
            <a:chExt cx="5314727" cy="401841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832FE0FB-A1FA-42CB-B656-4D5FB047277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2670279"/>
              <a:ext cx="5152947" cy="401841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SMTP, POP3, IMAP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B7F53B2-D15B-45C1-8C35-D6A078CD7848}"/>
                </a:ext>
              </a:extLst>
            </p:cNvPr>
            <p:cNvGrpSpPr/>
            <p:nvPr/>
          </p:nvGrpSpPr>
          <p:grpSpPr>
            <a:xfrm>
              <a:off x="1518597" y="2811457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047FE7BA-1863-4D0A-A8A4-3339F63CEE1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FC97AB7F-BBC6-4006-A50D-82A82FC69FFA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94D5442B-6FD3-41D4-A42D-DF6FB05BA276}"/>
              </a:ext>
            </a:extLst>
          </p:cNvPr>
          <p:cNvSpPr/>
          <p:nvPr/>
        </p:nvSpPr>
        <p:spPr>
          <a:xfrm>
            <a:off x="923792" y="1143310"/>
            <a:ext cx="1566489" cy="391715"/>
          </a:xfrm>
          <a:prstGeom prst="snip1Rect">
            <a:avLst>
              <a:gd name="adj" fmla="val 37888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E7DDC2F-3186-42B9-854A-0627DEFF0163}"/>
              </a:ext>
            </a:extLst>
          </p:cNvPr>
          <p:cNvSpPr/>
          <p:nvPr/>
        </p:nvSpPr>
        <p:spPr>
          <a:xfrm>
            <a:off x="789517" y="1561257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30" name="그래픽 29">
            <a:extLst>
              <a:ext uri="{FF2B5EF4-FFF2-40B4-BE49-F238E27FC236}">
                <a16:creationId xmlns:a16="http://schemas.microsoft.com/office/drawing/2014/main" id="{70876D59-86B8-4800-BFA9-83FE7BE686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668982" y="1083045"/>
            <a:ext cx="558670" cy="50280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ED08C44-6920-4F6A-B56B-FC768135D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4" y="1145567"/>
            <a:ext cx="275112" cy="364836"/>
          </a:xfrm>
          <a:prstGeom prst="rect">
            <a:avLst/>
          </a:prstGeom>
        </p:spPr>
      </p:pic>
      <p:sp>
        <p:nvSpPr>
          <p:cNvPr id="16" name="텍스트 개체 틀 19">
            <a:extLst>
              <a:ext uri="{FF2B5EF4-FFF2-40B4-BE49-F238E27FC236}">
                <a16:creationId xmlns:a16="http://schemas.microsoft.com/office/drawing/2014/main" id="{E714C56D-3622-4507-BB33-F2199B3BEA23}"/>
              </a:ext>
            </a:extLst>
          </p:cNvPr>
          <p:cNvSpPr txBox="1">
            <a:spLocks/>
          </p:cNvSpPr>
          <p:nvPr/>
        </p:nvSpPr>
        <p:spPr>
          <a:xfrm>
            <a:off x="1274783" y="1180731"/>
            <a:ext cx="139064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Roadmap </a:t>
            </a:r>
          </a:p>
        </p:txBody>
      </p:sp>
    </p:spTree>
    <p:extLst>
      <p:ext uri="{BB962C8B-B14F-4D97-AF65-F5344CB8AC3E}">
        <p14:creationId xmlns:p14="http://schemas.microsoft.com/office/powerpoint/2010/main" val="569182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웹과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HTTP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31743F-6A43-44E9-81A6-45C29E72A825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55679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웹 페이지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객체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(objects)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들로 구성된다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객체는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HTML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파일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JPEG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이미지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Java applet,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오디오 파일 등이다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endParaRPr lang="ko-KR" altLang="en-US" sz="16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웹 페이지는 보통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참조 객체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들이 포함된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기본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HTML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파일이다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객체는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URL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 참조한다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8DF10F1-450B-4182-A330-FC4E4F599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96" y="1040140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일단 기초적인 것들부터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…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BC0329-28A9-4F5B-8E32-3C0A6FD713B3}"/>
              </a:ext>
            </a:extLst>
          </p:cNvPr>
          <p:cNvSpPr/>
          <p:nvPr/>
        </p:nvSpPr>
        <p:spPr>
          <a:xfrm>
            <a:off x="806801" y="3429000"/>
            <a:ext cx="7410029" cy="194688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E04BA19-D165-4D2B-B929-1CE48D05588B}"/>
              </a:ext>
            </a:extLst>
          </p:cNvPr>
          <p:cNvGrpSpPr/>
          <p:nvPr/>
        </p:nvGrpSpPr>
        <p:grpSpPr>
          <a:xfrm>
            <a:off x="1415480" y="3784522"/>
            <a:ext cx="5838457" cy="1357703"/>
            <a:chOff x="1632344" y="4210051"/>
            <a:chExt cx="5838457" cy="1357703"/>
          </a:xfrm>
        </p:grpSpPr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35342D41-AACD-4C58-B61B-9BE79D888E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344" y="4210051"/>
              <a:ext cx="5838457" cy="4693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ct val="0"/>
                </a:spcBef>
                <a:buClr>
                  <a:schemeClr val="accent2"/>
                </a:buClr>
                <a:buSzPct val="85000"/>
                <a:buFontTx/>
                <a:buNone/>
              </a:pPr>
              <a:r>
                <a:rPr lang="en-US" altLang="ko-KR" sz="20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ea typeface="+mj-ea"/>
                  <a:cs typeface="+mj-cs"/>
                </a:rPr>
                <a:t>www.someschool.edu/someDept/pic.gif</a:t>
              </a:r>
            </a:p>
          </p:txBody>
        </p:sp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3436D8D1-8AE6-4F1B-BD69-5A67A2C2B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5452" y="5229200"/>
              <a:ext cx="122180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호스트 이름</a:t>
              </a:r>
              <a:endPara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5" name="Text Box 9">
              <a:extLst>
                <a:ext uri="{FF2B5EF4-FFF2-40B4-BE49-F238E27FC236}">
                  <a16:creationId xmlns:a16="http://schemas.microsoft.com/office/drawing/2014/main" id="{A3F8BE37-81AF-4EFE-BE3D-28E400BB9A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5147" y="5204442"/>
              <a:ext cx="102784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경로 이름</a:t>
              </a:r>
              <a:endPara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" name="오른쪽 중괄호 1">
              <a:extLst>
                <a:ext uri="{FF2B5EF4-FFF2-40B4-BE49-F238E27FC236}">
                  <a16:creationId xmlns:a16="http://schemas.microsoft.com/office/drawing/2014/main" id="{CE6C7988-1B68-49EF-963B-48B2693D6F2E}"/>
                </a:ext>
              </a:extLst>
            </p:cNvPr>
            <p:cNvSpPr/>
            <p:nvPr/>
          </p:nvSpPr>
          <p:spPr>
            <a:xfrm rot="5400000">
              <a:off x="3096039" y="3414092"/>
              <a:ext cx="440634" cy="3067879"/>
            </a:xfrm>
            <a:prstGeom prst="rightBrace">
              <a:avLst>
                <a:gd name="adj1" fmla="val 33471"/>
                <a:gd name="adj2" fmla="val 50000"/>
              </a:avLst>
            </a:prstGeom>
            <a:ln w="15875">
              <a:solidFill>
                <a:srgbClr val="105B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오른쪽 중괄호 15">
              <a:extLst>
                <a:ext uri="{FF2B5EF4-FFF2-40B4-BE49-F238E27FC236}">
                  <a16:creationId xmlns:a16="http://schemas.microsoft.com/office/drawing/2014/main" id="{A922E4EC-916B-4E56-9D3E-DBF92E0AD916}"/>
                </a:ext>
              </a:extLst>
            </p:cNvPr>
            <p:cNvSpPr/>
            <p:nvPr/>
          </p:nvSpPr>
          <p:spPr>
            <a:xfrm rot="5400000">
              <a:off x="5918752" y="3752024"/>
              <a:ext cx="440634" cy="2392018"/>
            </a:xfrm>
            <a:prstGeom prst="rightBrace">
              <a:avLst>
                <a:gd name="adj1" fmla="val 33471"/>
                <a:gd name="adj2" fmla="val 50000"/>
              </a:avLst>
            </a:prstGeom>
            <a:ln w="15875">
              <a:solidFill>
                <a:srgbClr val="105B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타원 6">
            <a:extLst>
              <a:ext uri="{FF2B5EF4-FFF2-40B4-BE49-F238E27FC236}">
                <a16:creationId xmlns:a16="http://schemas.microsoft.com/office/drawing/2014/main" id="{B41FADAF-A4C2-41C0-8093-50EBF5D5D81E}"/>
              </a:ext>
            </a:extLst>
          </p:cNvPr>
          <p:cNvSpPr/>
          <p:nvPr/>
        </p:nvSpPr>
        <p:spPr>
          <a:xfrm>
            <a:off x="975360" y="3566160"/>
            <a:ext cx="381000" cy="381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</a:p>
        </p:txBody>
      </p:sp>
    </p:spTree>
    <p:extLst>
      <p:ext uri="{BB962C8B-B14F-4D97-AF65-F5344CB8AC3E}">
        <p14:creationId xmlns:p14="http://schemas.microsoft.com/office/powerpoint/2010/main" val="1384434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HTTP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개요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22940-6F4B-4B05-96A6-95CC1063E94E}"/>
              </a:ext>
            </a:extLst>
          </p:cNvPr>
          <p:cNvSpPr txBox="1">
            <a:spLocks noChangeArrowheads="1"/>
          </p:cNvSpPr>
          <p:nvPr/>
        </p:nvSpPr>
        <p:spPr>
          <a:xfrm>
            <a:off x="4422696" y="1628800"/>
            <a:ext cx="383389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웹의 애플리케이션 계층 프로토콜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D6F8595-CE47-443E-9857-9B8696917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96" y="1040140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HTTP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: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hypertext transfer protocol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45F43A0-42E4-4FFF-9B83-4B7B495A1BE1}"/>
              </a:ext>
            </a:extLst>
          </p:cNvPr>
          <p:cNvSpPr txBox="1">
            <a:spLocks noChangeArrowheads="1"/>
          </p:cNvSpPr>
          <p:nvPr/>
        </p:nvSpPr>
        <p:spPr>
          <a:xfrm>
            <a:off x="4511824" y="2755012"/>
            <a:ext cx="3528040" cy="66768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객체를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(HTTP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프로토콜로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요청하고 받고 “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표시”하는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브라우저</a:t>
            </a: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1DA093DA-5E28-4152-A865-B916E5940701}"/>
              </a:ext>
            </a:extLst>
          </p:cNvPr>
          <p:cNvSpPr/>
          <p:nvPr/>
        </p:nvSpPr>
        <p:spPr>
          <a:xfrm>
            <a:off x="4499293" y="2242320"/>
            <a:ext cx="1124267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0" name="텍스트 개체 틀 19">
            <a:extLst>
              <a:ext uri="{FF2B5EF4-FFF2-40B4-BE49-F238E27FC236}">
                <a16:creationId xmlns:a16="http://schemas.microsoft.com/office/drawing/2014/main" id="{091E25B3-9AE6-4BDD-855F-7161FFCCFBA8}"/>
              </a:ext>
            </a:extLst>
          </p:cNvPr>
          <p:cNvSpPr txBox="1">
            <a:spLocks/>
          </p:cNvSpPr>
          <p:nvPr/>
        </p:nvSpPr>
        <p:spPr>
          <a:xfrm>
            <a:off x="4679896" y="2281849"/>
            <a:ext cx="1606604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client</a:t>
            </a: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3D1F4D1-B09F-4042-9481-9D0330A3E14B}"/>
              </a:ext>
            </a:extLst>
          </p:cNvPr>
          <p:cNvSpPr txBox="1">
            <a:spLocks noChangeArrowheads="1"/>
          </p:cNvSpPr>
          <p:nvPr/>
        </p:nvSpPr>
        <p:spPr>
          <a:xfrm>
            <a:off x="4511824" y="4135740"/>
            <a:ext cx="3528040" cy="66768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요청에 의해 객체를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(HTTP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프로토콜로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보내주는 웹 서버</a:t>
            </a:r>
          </a:p>
        </p:txBody>
      </p:sp>
      <p:sp>
        <p:nvSpPr>
          <p:cNvPr id="14" name="사각형: 잘린 한쪽 모서리 13">
            <a:extLst>
              <a:ext uri="{FF2B5EF4-FFF2-40B4-BE49-F238E27FC236}">
                <a16:creationId xmlns:a16="http://schemas.microsoft.com/office/drawing/2014/main" id="{248629A8-6B95-416A-BE3B-B676579C3FE8}"/>
              </a:ext>
            </a:extLst>
          </p:cNvPr>
          <p:cNvSpPr/>
          <p:nvPr/>
        </p:nvSpPr>
        <p:spPr>
          <a:xfrm>
            <a:off x="4499293" y="3590156"/>
            <a:ext cx="1124267" cy="391715"/>
          </a:xfrm>
          <a:prstGeom prst="snip1Rect">
            <a:avLst>
              <a:gd name="adj" fmla="val 28162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15" name="텍스트 개체 틀 19">
            <a:extLst>
              <a:ext uri="{FF2B5EF4-FFF2-40B4-BE49-F238E27FC236}">
                <a16:creationId xmlns:a16="http://schemas.microsoft.com/office/drawing/2014/main" id="{F26D7671-A5C5-4D6A-BFA6-977863727604}"/>
              </a:ext>
            </a:extLst>
          </p:cNvPr>
          <p:cNvSpPr txBox="1">
            <a:spLocks/>
          </p:cNvSpPr>
          <p:nvPr/>
        </p:nvSpPr>
        <p:spPr>
          <a:xfrm>
            <a:off x="4679896" y="3629685"/>
            <a:ext cx="1606604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server</a:t>
            </a: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6" name="Google Shape;245;p4">
            <a:extLst>
              <a:ext uri="{FF2B5EF4-FFF2-40B4-BE49-F238E27FC236}">
                <a16:creationId xmlns:a16="http://schemas.microsoft.com/office/drawing/2014/main" id="{6CDCA5B7-E225-420B-9F69-3E37807C5922}"/>
              </a:ext>
            </a:extLst>
          </p:cNvPr>
          <p:cNvSpPr/>
          <p:nvPr/>
        </p:nvSpPr>
        <p:spPr>
          <a:xfrm>
            <a:off x="695400" y="1592580"/>
            <a:ext cx="3584500" cy="4844778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FE8D3E8C-2E35-4241-9D3B-CC7E89ADF8D8}"/>
              </a:ext>
            </a:extLst>
          </p:cNvPr>
          <p:cNvGrpSpPr/>
          <p:nvPr/>
        </p:nvGrpSpPr>
        <p:grpSpPr>
          <a:xfrm>
            <a:off x="950592" y="2403359"/>
            <a:ext cx="770138" cy="916589"/>
            <a:chOff x="952907" y="2574921"/>
            <a:chExt cx="808623" cy="962392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35F6C04-0689-4B85-ABE3-B76C497F4F42}"/>
                </a:ext>
              </a:extLst>
            </p:cNvPr>
            <p:cNvSpPr/>
            <p:nvPr/>
          </p:nvSpPr>
          <p:spPr>
            <a:xfrm>
              <a:off x="952907" y="2728691"/>
              <a:ext cx="808623" cy="8086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834B3ACA-DED5-4AD7-B91B-D45DD2476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3432" y="2574921"/>
              <a:ext cx="747573" cy="856143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5087357-FB7E-4B0C-8592-CB7438EA8B04}"/>
              </a:ext>
            </a:extLst>
          </p:cNvPr>
          <p:cNvGrpSpPr/>
          <p:nvPr/>
        </p:nvGrpSpPr>
        <p:grpSpPr>
          <a:xfrm>
            <a:off x="2483763" y="3830042"/>
            <a:ext cx="770138" cy="818113"/>
            <a:chOff x="2506622" y="4006524"/>
            <a:chExt cx="808623" cy="858995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707D569-1700-4C56-AE0C-6442ED0BADDA}"/>
                </a:ext>
              </a:extLst>
            </p:cNvPr>
            <p:cNvSpPr/>
            <p:nvPr/>
          </p:nvSpPr>
          <p:spPr>
            <a:xfrm>
              <a:off x="2506622" y="4025968"/>
              <a:ext cx="808623" cy="8086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0" name="그림 19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E180FDE8-3014-481E-BC5D-879D9582F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1624" y="4006524"/>
              <a:ext cx="398618" cy="858995"/>
            </a:xfrm>
            <a:prstGeom prst="rect">
              <a:avLst/>
            </a:prstGeom>
          </p:spPr>
        </p:pic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96C9660-8BA2-44E4-A2A3-8E1E299EA75B}"/>
              </a:ext>
            </a:extLst>
          </p:cNvPr>
          <p:cNvGrpSpPr/>
          <p:nvPr/>
        </p:nvGrpSpPr>
        <p:grpSpPr>
          <a:xfrm>
            <a:off x="879891" y="5155851"/>
            <a:ext cx="911540" cy="770137"/>
            <a:chOff x="902750" y="5334731"/>
            <a:chExt cx="957091" cy="808622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E6585E40-C48F-4EFE-AFE2-F6C70B2C622E}"/>
                </a:ext>
              </a:extLst>
            </p:cNvPr>
            <p:cNvSpPr/>
            <p:nvPr/>
          </p:nvSpPr>
          <p:spPr>
            <a:xfrm>
              <a:off x="949119" y="5334731"/>
              <a:ext cx="808623" cy="8086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9" name="그림 18" descr="텍스트, 전자기기이(가) 표시된 사진&#10;&#10;자동 생성된 설명">
              <a:extLst>
                <a:ext uri="{FF2B5EF4-FFF2-40B4-BE49-F238E27FC236}">
                  <a16:creationId xmlns:a16="http://schemas.microsoft.com/office/drawing/2014/main" id="{20FC2EC0-DF7A-4B92-A465-2FE5D8B1D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750" y="5453609"/>
              <a:ext cx="957091" cy="580984"/>
            </a:xfrm>
            <a:prstGeom prst="rect">
              <a:avLst/>
            </a:prstGeom>
          </p:spPr>
        </p:pic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AD7E385-A732-4ABA-B9BA-46E2A0C60613}"/>
              </a:ext>
            </a:extLst>
          </p:cNvPr>
          <p:cNvGrpSpPr/>
          <p:nvPr/>
        </p:nvGrpSpPr>
        <p:grpSpPr>
          <a:xfrm>
            <a:off x="1838960" y="4642926"/>
            <a:ext cx="1343660" cy="693559"/>
            <a:chOff x="1838960" y="4642926"/>
            <a:chExt cx="1343660" cy="693559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C4099741-F596-422A-977B-F0346A169D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8960" y="4642926"/>
              <a:ext cx="685800" cy="655320"/>
            </a:xfrm>
            <a:prstGeom prst="straightConnector1">
              <a:avLst/>
            </a:prstGeom>
            <a:ln w="15875">
              <a:solidFill>
                <a:srgbClr val="105BA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ACBA51D-9B38-4635-8FB3-556D5722B63B}"/>
                </a:ext>
              </a:extLst>
            </p:cNvPr>
            <p:cNvSpPr txBox="1"/>
            <p:nvPr/>
          </p:nvSpPr>
          <p:spPr>
            <a:xfrm>
              <a:off x="2224405" y="4874820"/>
              <a:ext cx="95821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HTTP response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B1209CB-DAAF-47BE-AA95-3565708124DC}"/>
              </a:ext>
            </a:extLst>
          </p:cNvPr>
          <p:cNvGrpSpPr/>
          <p:nvPr/>
        </p:nvGrpSpPr>
        <p:grpSpPr>
          <a:xfrm>
            <a:off x="1199456" y="4387140"/>
            <a:ext cx="1249104" cy="796806"/>
            <a:chOff x="1199456" y="4387140"/>
            <a:chExt cx="1249104" cy="796806"/>
          </a:xfrm>
        </p:grpSpPr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0F0CCB70-8E0A-4F30-B819-35122AC43E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7040" y="4513386"/>
              <a:ext cx="731520" cy="670560"/>
            </a:xfrm>
            <a:prstGeom prst="straightConnector1">
              <a:avLst/>
            </a:prstGeom>
            <a:ln w="15875">
              <a:solidFill>
                <a:srgbClr val="105B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7DBEA8E-E2E9-458A-B9D7-1EAB7E82592C}"/>
                </a:ext>
              </a:extLst>
            </p:cNvPr>
            <p:cNvSpPr txBox="1"/>
            <p:nvPr/>
          </p:nvSpPr>
          <p:spPr>
            <a:xfrm>
              <a:off x="1199456" y="4387140"/>
              <a:ext cx="95821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HTTP request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762351D-1F3C-44DB-9DBC-C52EA7BC90EB}"/>
              </a:ext>
            </a:extLst>
          </p:cNvPr>
          <p:cNvGrpSpPr/>
          <p:nvPr/>
        </p:nvGrpSpPr>
        <p:grpSpPr>
          <a:xfrm>
            <a:off x="1809750" y="2992680"/>
            <a:ext cx="1322070" cy="798076"/>
            <a:chOff x="1809750" y="2992680"/>
            <a:chExt cx="1322070" cy="798076"/>
          </a:xfrm>
        </p:grpSpPr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06A0683A-4D35-4764-8BC6-51960D3A4951}"/>
                </a:ext>
              </a:extLst>
            </p:cNvPr>
            <p:cNvCxnSpPr>
              <a:cxnSpLocks/>
            </p:cNvCxnSpPr>
            <p:nvPr/>
          </p:nvCxnSpPr>
          <p:spPr>
            <a:xfrm>
              <a:off x="1809750" y="3104956"/>
              <a:ext cx="815340" cy="685800"/>
            </a:xfrm>
            <a:prstGeom prst="straightConnector1">
              <a:avLst/>
            </a:prstGeom>
            <a:ln w="15875">
              <a:solidFill>
                <a:srgbClr val="105BA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F884B98-C406-4BE2-8928-40E10CC0811E}"/>
                </a:ext>
              </a:extLst>
            </p:cNvPr>
            <p:cNvSpPr txBox="1"/>
            <p:nvPr/>
          </p:nvSpPr>
          <p:spPr>
            <a:xfrm>
              <a:off x="2173605" y="2992680"/>
              <a:ext cx="95821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HTTP request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FD28667-6396-4A3E-BA00-2477D4348886}"/>
              </a:ext>
            </a:extLst>
          </p:cNvPr>
          <p:cNvGrpSpPr/>
          <p:nvPr/>
        </p:nvGrpSpPr>
        <p:grpSpPr>
          <a:xfrm>
            <a:off x="1207135" y="3216716"/>
            <a:ext cx="1298575" cy="817389"/>
            <a:chOff x="1207135" y="3216716"/>
            <a:chExt cx="1298575" cy="817389"/>
          </a:xfrm>
        </p:grpSpPr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FFE8C02E-9E4F-460C-A45D-1E8B9268CA21}"/>
                </a:ext>
              </a:extLst>
            </p:cNvPr>
            <p:cNvCxnSpPr>
              <a:cxnSpLocks/>
            </p:cNvCxnSpPr>
            <p:nvPr/>
          </p:nvCxnSpPr>
          <p:spPr>
            <a:xfrm>
              <a:off x="1690370" y="3216716"/>
              <a:ext cx="815340" cy="685800"/>
            </a:xfrm>
            <a:prstGeom prst="straightConnector1">
              <a:avLst/>
            </a:prstGeom>
            <a:ln w="15875">
              <a:solidFill>
                <a:srgbClr val="105B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01B840C-25D4-4AFE-B56E-5F69153DDB35}"/>
                </a:ext>
              </a:extLst>
            </p:cNvPr>
            <p:cNvSpPr txBox="1"/>
            <p:nvPr/>
          </p:nvSpPr>
          <p:spPr>
            <a:xfrm>
              <a:off x="1207135" y="3572440"/>
              <a:ext cx="95821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HTTP response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65EF979-A714-45A5-92B9-4EA24C7A9596}"/>
              </a:ext>
            </a:extLst>
          </p:cNvPr>
          <p:cNvSpPr txBox="1"/>
          <p:nvPr/>
        </p:nvSpPr>
        <p:spPr>
          <a:xfrm>
            <a:off x="816556" y="1868884"/>
            <a:ext cx="1565583" cy="555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Firefox </a:t>
            </a: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브라우저를</a:t>
            </a: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실행하는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PC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078C9E-C208-4DEA-9311-2509EBA6FDA8}"/>
              </a:ext>
            </a:extLst>
          </p:cNvPr>
          <p:cNvSpPr txBox="1"/>
          <p:nvPr/>
        </p:nvSpPr>
        <p:spPr>
          <a:xfrm>
            <a:off x="3313976" y="3772460"/>
            <a:ext cx="1087462" cy="1036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Apache </a:t>
            </a:r>
            <a:br>
              <a: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웹 서버를 </a:t>
            </a:r>
          </a:p>
          <a:p>
            <a:pPr latinLnBrk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실행하는 서버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39E766-88B2-4571-B6B3-550620F6018A}"/>
              </a:ext>
            </a:extLst>
          </p:cNvPr>
          <p:cNvSpPr txBox="1"/>
          <p:nvPr/>
        </p:nvSpPr>
        <p:spPr>
          <a:xfrm>
            <a:off x="1620846" y="5640784"/>
            <a:ext cx="1565583" cy="555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Safari </a:t>
            </a: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브라우저를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실행하는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iPhone</a:t>
            </a:r>
          </a:p>
        </p:txBody>
      </p:sp>
    </p:spTree>
    <p:extLst>
      <p:ext uri="{BB962C8B-B14F-4D97-AF65-F5344CB8AC3E}">
        <p14:creationId xmlns:p14="http://schemas.microsoft.com/office/powerpoint/2010/main" val="102064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잘린 한쪽 모서리 16">
            <a:extLst>
              <a:ext uri="{FF2B5EF4-FFF2-40B4-BE49-F238E27FC236}">
                <a16:creationId xmlns:a16="http://schemas.microsoft.com/office/drawing/2014/main" id="{CEB7CC24-E842-4CA2-B2F4-14D4D7FC1B55}"/>
              </a:ext>
            </a:extLst>
          </p:cNvPr>
          <p:cNvSpPr/>
          <p:nvPr/>
        </p:nvSpPr>
        <p:spPr>
          <a:xfrm>
            <a:off x="839416" y="4567448"/>
            <a:ext cx="7336844" cy="1600770"/>
          </a:xfrm>
          <a:prstGeom prst="snip1Rect">
            <a:avLst>
              <a:gd name="adj" fmla="val 22765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HTTP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개요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(continued)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22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EE49D8-A9B1-4812-B2CC-2C0538D86ED1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2474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TCP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를 사용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1A12956-3284-4257-8EC3-539C7CE228A1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56792"/>
            <a:ext cx="6976032" cy="168911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소켓을 만들고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80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번 포트에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TCP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 요청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서버는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TCP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 요청을 수락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브라우저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(HTTP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와 웹 서버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(HTTP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사이에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 계층 프로토콜 메시지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교환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TCP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연결을 닫음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DD86571-FBFD-4EE4-B697-904594C3DDC5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40614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HTTP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는 “비상태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(stateless)”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14FA2AE-7F73-4831-AA5B-6BDD711AF125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873272"/>
            <a:ext cx="697603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서버는 클라이언트의 과거 요청에 대한 정보를 유지하지 않는다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9DC654C-6722-41B3-B4CC-01EA10780A2C}"/>
              </a:ext>
            </a:extLst>
          </p:cNvPr>
          <p:cNvSpPr/>
          <p:nvPr/>
        </p:nvSpPr>
        <p:spPr>
          <a:xfrm>
            <a:off x="758638" y="5036514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3" name="그래픽 13">
            <a:extLst>
              <a:ext uri="{FF2B5EF4-FFF2-40B4-BE49-F238E27FC236}">
                <a16:creationId xmlns:a16="http://schemas.microsoft.com/office/drawing/2014/main" id="{7728F958-F5D4-4DA5-A9D5-C6C33406857D}"/>
              </a:ext>
            </a:extLst>
          </p:cNvPr>
          <p:cNvSpPr/>
          <p:nvPr/>
        </p:nvSpPr>
        <p:spPr>
          <a:xfrm rot="5400000">
            <a:off x="638045" y="4558302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7C858ADA-5B9B-4DD5-AEC2-5BEC55749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4756388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“상태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(state)”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를 유지하는 프로토콜은 복잡하다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!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0DCF558-B9C1-4CFA-9298-387D84EC5C46}"/>
              </a:ext>
            </a:extLst>
          </p:cNvPr>
          <p:cNvSpPr txBox="1">
            <a:spLocks noChangeArrowheads="1"/>
          </p:cNvSpPr>
          <p:nvPr/>
        </p:nvSpPr>
        <p:spPr>
          <a:xfrm>
            <a:off x="1112208" y="5229632"/>
            <a:ext cx="697603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과거 이력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상태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관리 필요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서버나 클라이언트가 다운되면 상태에 대한 정보가 일관성을 잃게 됨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1361A182-391C-4CCA-B59C-2A004BB9A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56" y="4595417"/>
            <a:ext cx="645557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참고</a:t>
            </a:r>
          </a:p>
        </p:txBody>
      </p:sp>
    </p:spTree>
    <p:extLst>
      <p:ext uri="{BB962C8B-B14F-4D97-AF65-F5344CB8AC3E}">
        <p14:creationId xmlns:p14="http://schemas.microsoft.com/office/powerpoint/2010/main" val="1362183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E4106874-F4D2-4041-B19B-48CAF8C948B0}"/>
              </a:ext>
            </a:extLst>
          </p:cNvPr>
          <p:cNvSpPr/>
          <p:nvPr/>
        </p:nvSpPr>
        <p:spPr>
          <a:xfrm>
            <a:off x="1040532" y="1688584"/>
            <a:ext cx="3384376" cy="4079756"/>
          </a:xfrm>
          <a:prstGeom prst="snip1Rect">
            <a:avLst>
              <a:gd name="adj" fmla="val 8036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75BB27-B850-4CFF-B57C-74D01A1FD178}"/>
              </a:ext>
            </a:extLst>
          </p:cNvPr>
          <p:cNvSpPr/>
          <p:nvPr/>
        </p:nvSpPr>
        <p:spPr>
          <a:xfrm>
            <a:off x="1147760" y="2781300"/>
            <a:ext cx="3169920" cy="2857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DC6C178F-0B5E-4A9D-A944-AD126735A3E0}"/>
              </a:ext>
            </a:extLst>
          </p:cNvPr>
          <p:cNvSpPr/>
          <p:nvPr/>
        </p:nvSpPr>
        <p:spPr>
          <a:xfrm>
            <a:off x="4553352" y="1688584"/>
            <a:ext cx="3384376" cy="4079756"/>
          </a:xfrm>
          <a:prstGeom prst="snip1Rect">
            <a:avLst>
              <a:gd name="adj" fmla="val 10446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88F2A-4F3C-4FE1-B886-30C79505634D}"/>
              </a:ext>
            </a:extLst>
          </p:cNvPr>
          <p:cNvSpPr/>
          <p:nvPr/>
        </p:nvSpPr>
        <p:spPr>
          <a:xfrm>
            <a:off x="4660580" y="2781300"/>
            <a:ext cx="3169920" cy="2857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HTTP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연결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23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0F7C042-7CF4-4217-AE3C-C5760C60D627}"/>
              </a:ext>
            </a:extLst>
          </p:cNvPr>
          <p:cNvSpPr txBox="1">
            <a:spLocks noChangeArrowheads="1"/>
          </p:cNvSpPr>
          <p:nvPr/>
        </p:nvSpPr>
        <p:spPr>
          <a:xfrm>
            <a:off x="1427920" y="2947784"/>
            <a:ext cx="3245277" cy="70602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한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TCP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연결을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통해 </a:t>
            </a:r>
            <a:b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최대 한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객체만 전송</a:t>
            </a:r>
          </a:p>
        </p:txBody>
      </p:sp>
      <p:sp>
        <p:nvSpPr>
          <p:cNvPr id="9" name="텍스트 개체 틀 19">
            <a:extLst>
              <a:ext uri="{FF2B5EF4-FFF2-40B4-BE49-F238E27FC236}">
                <a16:creationId xmlns:a16="http://schemas.microsoft.com/office/drawing/2014/main" id="{3A6D25CA-C3EC-40C8-B591-A0A190E6473C}"/>
              </a:ext>
            </a:extLst>
          </p:cNvPr>
          <p:cNvSpPr txBox="1">
            <a:spLocks/>
          </p:cNvSpPr>
          <p:nvPr/>
        </p:nvSpPr>
        <p:spPr>
          <a:xfrm>
            <a:off x="1189132" y="1988840"/>
            <a:ext cx="3087177" cy="621709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비지속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연결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(non-persistent) HTTP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2597680-5044-44B3-BD74-DC20361AC483}"/>
              </a:ext>
            </a:extLst>
          </p:cNvPr>
          <p:cNvSpPr txBox="1">
            <a:spLocks noChangeArrowheads="1"/>
          </p:cNvSpPr>
          <p:nvPr/>
        </p:nvSpPr>
        <p:spPr>
          <a:xfrm>
            <a:off x="1456595" y="3702164"/>
            <a:ext cx="2482945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그리고 연결 해제</a:t>
            </a:r>
          </a:p>
        </p:txBody>
      </p:sp>
      <p:sp>
        <p:nvSpPr>
          <p:cNvPr id="11" name="텍스트 개체 틀 19">
            <a:extLst>
              <a:ext uri="{FF2B5EF4-FFF2-40B4-BE49-F238E27FC236}">
                <a16:creationId xmlns:a16="http://schemas.microsoft.com/office/drawing/2014/main" id="{2854E044-0BD2-457D-AAE4-C7D614939298}"/>
              </a:ext>
            </a:extLst>
          </p:cNvPr>
          <p:cNvSpPr txBox="1">
            <a:spLocks/>
          </p:cNvSpPr>
          <p:nvPr/>
        </p:nvSpPr>
        <p:spPr>
          <a:xfrm>
            <a:off x="4995488" y="1988840"/>
            <a:ext cx="2500105" cy="621709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지속 연결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(persistent) HTTP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C983D16C-F191-4A27-A44F-B35A0488C72C}"/>
              </a:ext>
            </a:extLst>
          </p:cNvPr>
          <p:cNvSpPr txBox="1">
            <a:spLocks noChangeArrowheads="1"/>
          </p:cNvSpPr>
          <p:nvPr/>
        </p:nvSpPr>
        <p:spPr>
          <a:xfrm>
            <a:off x="1427920" y="4365104"/>
            <a:ext cx="3245277" cy="70602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여러 객체를 받으려면 </a:t>
            </a:r>
            <a:b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여러 연결이 필요하다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94B6B684-0151-4D90-8B5C-31BC68F4DB21}"/>
              </a:ext>
            </a:extLst>
          </p:cNvPr>
          <p:cNvSpPr txBox="1">
            <a:spLocks noChangeArrowheads="1"/>
          </p:cNvSpPr>
          <p:nvPr/>
        </p:nvSpPr>
        <p:spPr>
          <a:xfrm>
            <a:off x="4925500" y="2947784"/>
            <a:ext cx="2986197" cy="70602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한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TCP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연결을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통해 </a:t>
            </a:r>
            <a:b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여러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객체를 전송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E76D51E-F2CD-4C90-B9DE-9B19BE75AAB7}"/>
              </a:ext>
            </a:extLst>
          </p:cNvPr>
          <p:cNvGrpSpPr/>
          <p:nvPr/>
        </p:nvGrpSpPr>
        <p:grpSpPr>
          <a:xfrm>
            <a:off x="4748186" y="3062945"/>
            <a:ext cx="171105" cy="171646"/>
            <a:chOff x="1009720" y="1787760"/>
            <a:chExt cx="171105" cy="171646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2DCA0F1-70A2-4DDA-9A9F-459ECD3E1B38}"/>
                </a:ext>
              </a:extLst>
            </p:cNvPr>
            <p:cNvSpPr/>
            <p:nvPr/>
          </p:nvSpPr>
          <p:spPr>
            <a:xfrm>
              <a:off x="1009720" y="1787760"/>
              <a:ext cx="171105" cy="171646"/>
            </a:xfrm>
            <a:prstGeom prst="ellipse">
              <a:avLst/>
            </a:prstGeom>
            <a:solidFill>
              <a:srgbClr val="DCF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6" name="그래픽 40">
              <a:extLst>
                <a:ext uri="{FF2B5EF4-FFF2-40B4-BE49-F238E27FC236}">
                  <a16:creationId xmlns:a16="http://schemas.microsoft.com/office/drawing/2014/main" id="{9AF3F41D-223F-4F5A-B333-7FDC9B13DA84}"/>
                </a:ext>
              </a:extLst>
            </p:cNvPr>
            <p:cNvSpPr/>
            <p:nvPr/>
          </p:nvSpPr>
          <p:spPr>
            <a:xfrm>
              <a:off x="1066145" y="1826143"/>
              <a:ext cx="58256" cy="94878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0BA59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B335E80-AE74-4042-86D5-D25115D1FF51}"/>
              </a:ext>
            </a:extLst>
          </p:cNvPr>
          <p:cNvGrpSpPr/>
          <p:nvPr/>
        </p:nvGrpSpPr>
        <p:grpSpPr>
          <a:xfrm>
            <a:off x="1233655" y="3062945"/>
            <a:ext cx="171105" cy="171646"/>
            <a:chOff x="1009720" y="1787760"/>
            <a:chExt cx="171105" cy="171646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FB43A46E-CF64-40ED-A867-027DF24F7582}"/>
                </a:ext>
              </a:extLst>
            </p:cNvPr>
            <p:cNvSpPr/>
            <p:nvPr/>
          </p:nvSpPr>
          <p:spPr>
            <a:xfrm>
              <a:off x="1009720" y="1787760"/>
              <a:ext cx="171105" cy="171646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" name="그래픽 40">
              <a:extLst>
                <a:ext uri="{FF2B5EF4-FFF2-40B4-BE49-F238E27FC236}">
                  <a16:creationId xmlns:a16="http://schemas.microsoft.com/office/drawing/2014/main" id="{E6B69606-5D34-4B15-B35F-94698B4EA35D}"/>
                </a:ext>
              </a:extLst>
            </p:cNvPr>
            <p:cNvSpPr/>
            <p:nvPr/>
          </p:nvSpPr>
          <p:spPr>
            <a:xfrm>
              <a:off x="1066145" y="1826143"/>
              <a:ext cx="58256" cy="94878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E75F4FD-D7CA-41BB-917D-6AF171722D7C}"/>
              </a:ext>
            </a:extLst>
          </p:cNvPr>
          <p:cNvGrpSpPr/>
          <p:nvPr/>
        </p:nvGrpSpPr>
        <p:grpSpPr>
          <a:xfrm>
            <a:off x="1233655" y="4487418"/>
            <a:ext cx="171105" cy="171646"/>
            <a:chOff x="1009720" y="1787760"/>
            <a:chExt cx="171105" cy="171646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4BE764C1-4AF6-4DA5-BA02-CFF291023798}"/>
                </a:ext>
              </a:extLst>
            </p:cNvPr>
            <p:cNvSpPr/>
            <p:nvPr/>
          </p:nvSpPr>
          <p:spPr>
            <a:xfrm>
              <a:off x="1009720" y="1787760"/>
              <a:ext cx="171105" cy="171646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6" name="그래픽 40">
              <a:extLst>
                <a:ext uri="{FF2B5EF4-FFF2-40B4-BE49-F238E27FC236}">
                  <a16:creationId xmlns:a16="http://schemas.microsoft.com/office/drawing/2014/main" id="{D3CF24BF-72CC-4DD6-BBF2-D504ABD78B34}"/>
                </a:ext>
              </a:extLst>
            </p:cNvPr>
            <p:cNvSpPr/>
            <p:nvPr/>
          </p:nvSpPr>
          <p:spPr>
            <a:xfrm>
              <a:off x="1066145" y="1826143"/>
              <a:ext cx="58256" cy="94878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3508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비지속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연결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HTTP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24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9188996-E8CD-404C-AC12-4E640CE7C06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2474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ts val="800"/>
              </a:spcBef>
              <a:buNone/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사용자가 다음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URL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을 입력하면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3E1DB3C-AAAE-4F1C-960F-B40D8A33E2B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556792"/>
            <a:ext cx="6976032" cy="66979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www.someSchool.edu/someDepartment/home.index</a:t>
            </a:r>
          </a:p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문자열과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10</a:t>
            </a: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개의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Jpeg </a:t>
            </a: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이미지에 대한 참조가 있음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11" name="Google Shape;245;p4">
            <a:extLst>
              <a:ext uri="{FF2B5EF4-FFF2-40B4-BE49-F238E27FC236}">
                <a16:creationId xmlns:a16="http://schemas.microsoft.com/office/drawing/2014/main" id="{23A4F179-A105-4E69-B255-8863F25BCE8F}"/>
              </a:ext>
            </a:extLst>
          </p:cNvPr>
          <p:cNvSpPr/>
          <p:nvPr/>
        </p:nvSpPr>
        <p:spPr>
          <a:xfrm>
            <a:off x="695400" y="2446020"/>
            <a:ext cx="752400" cy="3991338"/>
          </a:xfrm>
          <a:prstGeom prst="downArrow">
            <a:avLst>
              <a:gd name="adj1" fmla="val 62153"/>
              <a:gd name="adj2" fmla="val 50000"/>
            </a:avLst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359921B4-DCB2-40C3-B6DB-B348DE77B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287" y="5751513"/>
            <a:ext cx="1091966" cy="490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0" lvl="2" indent="0">
              <a:lnSpc>
                <a:spcPct val="130000"/>
              </a:lnSpc>
              <a:spcBef>
                <a:spcPts val="800"/>
              </a:spcBef>
              <a:buFont typeface="Arial" panose="020B0604020202020204" pitchFamily="34" charset="0"/>
              <a:buNone/>
              <a:defRPr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 algn="ctr">
              <a:buNone/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시간</a:t>
            </a:r>
            <a:endParaRPr lang="en-US" altLang="ko-KR" sz="16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F2044DCD-B71E-46E6-8323-1F61BD42E5A4}"/>
              </a:ext>
            </a:extLst>
          </p:cNvPr>
          <p:cNvSpPr txBox="1">
            <a:spLocks noChangeArrowheads="1"/>
          </p:cNvSpPr>
          <p:nvPr/>
        </p:nvSpPr>
        <p:spPr>
          <a:xfrm>
            <a:off x="1449705" y="2453640"/>
            <a:ext cx="2832735" cy="190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3" indent="-216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1a.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클라이언트는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www.someSchool.edu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호스트의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80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번 포트의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서버에 대해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TCP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연결을 요청함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8DFEC2E4-A520-43A9-8CC6-7B9687017FAA}"/>
              </a:ext>
            </a:extLst>
          </p:cNvPr>
          <p:cNvSpPr txBox="1">
            <a:spLocks noChangeArrowheads="1"/>
          </p:cNvSpPr>
          <p:nvPr/>
        </p:nvSpPr>
        <p:spPr>
          <a:xfrm>
            <a:off x="1449705" y="4282440"/>
            <a:ext cx="3200672" cy="190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3" indent="-216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2.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클라이언트는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TCP 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소켓을 통해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요청 메시지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(URL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포함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를 보낸다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이 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메시지는 클라이언트가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someDepartment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home.index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라는 객체를 필요로 함을 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알려준다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7A8C03F2-7D38-407C-913A-1C725428AB46}"/>
              </a:ext>
            </a:extLst>
          </p:cNvPr>
          <p:cNvSpPr txBox="1">
            <a:spLocks noChangeArrowheads="1"/>
          </p:cNvSpPr>
          <p:nvPr/>
        </p:nvSpPr>
        <p:spPr>
          <a:xfrm>
            <a:off x="5284480" y="2453640"/>
            <a:ext cx="2832735" cy="190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3" indent="-216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1b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 www.someSchool.edu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호스트의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서버는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80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번 포트에서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TCP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연결을 기다린다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 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연결을 “수락하고”  클라이언트에 알림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9DC8F7E7-9F69-499E-AE20-0EF9CD5DB78C}"/>
              </a:ext>
            </a:extLst>
          </p:cNvPr>
          <p:cNvSpPr txBox="1">
            <a:spLocks noChangeArrowheads="1"/>
          </p:cNvSpPr>
          <p:nvPr/>
        </p:nvSpPr>
        <p:spPr>
          <a:xfrm>
            <a:off x="5284480" y="4282440"/>
            <a:ext cx="2832735" cy="190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3" indent="-216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3.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서버는 요청 메시지를 받고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응답 메시지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에 요청된 객체를 담아서 소켓으로 보낸다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22" name="Line 8">
            <a:extLst>
              <a:ext uri="{FF2B5EF4-FFF2-40B4-BE49-F238E27FC236}">
                <a16:creationId xmlns:a16="http://schemas.microsoft.com/office/drawing/2014/main" id="{E3407D39-EA7F-4AF2-9A34-102B924771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1" y="2606040"/>
            <a:ext cx="1859280" cy="0"/>
          </a:xfrm>
          <a:prstGeom prst="line">
            <a:avLst/>
          </a:prstGeom>
          <a:ln w="15875">
            <a:solidFill>
              <a:srgbClr val="105B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ko-KR" altLang="en-US"/>
          </a:p>
        </p:txBody>
      </p:sp>
      <p:sp>
        <p:nvSpPr>
          <p:cNvPr id="23" name="Line 14">
            <a:extLst>
              <a:ext uri="{FF2B5EF4-FFF2-40B4-BE49-F238E27FC236}">
                <a16:creationId xmlns:a16="http://schemas.microsoft.com/office/drawing/2014/main" id="{19500899-2547-4542-B1AA-2F7FAA5496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01440" y="2727960"/>
            <a:ext cx="1447800" cy="1645920"/>
          </a:xfrm>
          <a:prstGeom prst="line">
            <a:avLst/>
          </a:prstGeom>
          <a:ln w="15875">
            <a:solidFill>
              <a:srgbClr val="105B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ko-KR" altLang="en-US"/>
          </a:p>
        </p:txBody>
      </p:sp>
      <p:sp>
        <p:nvSpPr>
          <p:cNvPr id="24" name="Line 8">
            <a:extLst>
              <a:ext uri="{FF2B5EF4-FFF2-40B4-BE49-F238E27FC236}">
                <a16:creationId xmlns:a16="http://schemas.microsoft.com/office/drawing/2014/main" id="{32277F67-0E04-4D02-A68C-BCFF96F313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4319" y="4434840"/>
            <a:ext cx="1482061" cy="0"/>
          </a:xfrm>
          <a:prstGeom prst="line">
            <a:avLst/>
          </a:prstGeom>
          <a:ln w="15875">
            <a:solidFill>
              <a:srgbClr val="105B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ko-KR" altLang="en-US"/>
          </a:p>
        </p:txBody>
      </p:sp>
      <p:sp>
        <p:nvSpPr>
          <p:cNvPr id="25" name="Line 14">
            <a:extLst>
              <a:ext uri="{FF2B5EF4-FFF2-40B4-BE49-F238E27FC236}">
                <a16:creationId xmlns:a16="http://schemas.microsoft.com/office/drawing/2014/main" id="{BE8134AD-B13E-42FB-8654-EF9F95FB38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01440" y="4640580"/>
            <a:ext cx="1447800" cy="1645920"/>
          </a:xfrm>
          <a:prstGeom prst="line">
            <a:avLst/>
          </a:prstGeom>
          <a:ln w="15875">
            <a:solidFill>
              <a:srgbClr val="105B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275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7" grpId="0" build="p"/>
      <p:bldP spid="18" grpId="0" build="p"/>
      <p:bldP spid="19" grpId="0" build="p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비지속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연결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HTTP </a:t>
            </a:r>
            <a:r>
              <a:rPr lang="en-US" altLang="ko-KR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</a:rPr>
              <a:t>(cont.)</a:t>
            </a:r>
            <a:endParaRPr lang="ko-KR" altLang="en-US" dirty="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25</a:t>
            </a:fld>
            <a:endParaRPr lang="en-US" dirty="0"/>
          </a:p>
        </p:txBody>
      </p:sp>
      <p:sp>
        <p:nvSpPr>
          <p:cNvPr id="4" name="Google Shape;245;p4">
            <a:extLst>
              <a:ext uri="{FF2B5EF4-FFF2-40B4-BE49-F238E27FC236}">
                <a16:creationId xmlns:a16="http://schemas.microsoft.com/office/drawing/2014/main" id="{3CF7B824-053C-45BF-9FEC-6BCB0EE50CD5}"/>
              </a:ext>
            </a:extLst>
          </p:cNvPr>
          <p:cNvSpPr/>
          <p:nvPr/>
        </p:nvSpPr>
        <p:spPr>
          <a:xfrm>
            <a:off x="695400" y="1045116"/>
            <a:ext cx="752400" cy="3991338"/>
          </a:xfrm>
          <a:prstGeom prst="downArrow">
            <a:avLst>
              <a:gd name="adj1" fmla="val 62153"/>
              <a:gd name="adj2" fmla="val 50000"/>
            </a:avLst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99E8FDEB-7611-4392-A55D-DA2DEA97E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287" y="4350609"/>
            <a:ext cx="1091966" cy="490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0" lvl="2" indent="0">
              <a:lnSpc>
                <a:spcPct val="130000"/>
              </a:lnSpc>
              <a:spcBef>
                <a:spcPts val="800"/>
              </a:spcBef>
              <a:buFont typeface="Arial" panose="020B0604020202020204" pitchFamily="34" charset="0"/>
              <a:buNone/>
              <a:defRPr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 algn="ctr">
              <a:buNone/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시간</a:t>
            </a:r>
            <a:endParaRPr lang="en-US" altLang="ko-KR" sz="16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88FC22F-7A95-470F-9CD5-E574917CDC69}"/>
              </a:ext>
            </a:extLst>
          </p:cNvPr>
          <p:cNvSpPr txBox="1">
            <a:spLocks noChangeArrowheads="1"/>
          </p:cNvSpPr>
          <p:nvPr/>
        </p:nvSpPr>
        <p:spPr>
          <a:xfrm>
            <a:off x="1449705" y="2348880"/>
            <a:ext cx="2832735" cy="190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3" indent="-216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5.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클라이언트는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html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파일이 포함된 응답 메시지를 받아서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html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을 표시한다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 html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파일을 해석하여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10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개의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jpeg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이미지가 참조됨을 알게 된다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07A5CAE-F580-4671-9BCD-D664F9097EA0}"/>
              </a:ext>
            </a:extLst>
          </p:cNvPr>
          <p:cNvSpPr txBox="1">
            <a:spLocks noChangeArrowheads="1"/>
          </p:cNvSpPr>
          <p:nvPr/>
        </p:nvSpPr>
        <p:spPr>
          <a:xfrm>
            <a:off x="5284480" y="1052736"/>
            <a:ext cx="2832735" cy="190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3" indent="-216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4.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서버는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TCP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연결을 닫는다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30740262-79A2-41A8-8E3C-9DB4616E3F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91940" y="1288956"/>
            <a:ext cx="1257300" cy="1240884"/>
          </a:xfrm>
          <a:prstGeom prst="line">
            <a:avLst/>
          </a:prstGeom>
          <a:ln w="15875">
            <a:solidFill>
              <a:srgbClr val="105B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AE59C3E-F513-4AD8-BF3C-ADCFD9D58472}"/>
              </a:ext>
            </a:extLst>
          </p:cNvPr>
          <p:cNvSpPr txBox="1">
            <a:spLocks noChangeArrowheads="1"/>
          </p:cNvSpPr>
          <p:nvPr/>
        </p:nvSpPr>
        <p:spPr>
          <a:xfrm>
            <a:off x="1449705" y="3910980"/>
            <a:ext cx="2832735" cy="190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3" indent="-216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6.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1-5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과정이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10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개의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jpeg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객체에 대해 각각 수행된다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292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  <p:bldP spid="10" grpId="0" animBg="1"/>
      <p:bldP spid="1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비지속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연결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HTTP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응답시간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(response time)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26</a:t>
            </a:fld>
            <a:endParaRPr lang="en-US" dirty="0"/>
          </a:p>
        </p:txBody>
      </p:sp>
      <p:sp>
        <p:nvSpPr>
          <p:cNvPr id="4" name="Google Shape;245;p4">
            <a:extLst>
              <a:ext uri="{FF2B5EF4-FFF2-40B4-BE49-F238E27FC236}">
                <a16:creationId xmlns:a16="http://schemas.microsoft.com/office/drawing/2014/main" id="{7F390481-E2DE-401F-84DD-54F6C0583526}"/>
              </a:ext>
            </a:extLst>
          </p:cNvPr>
          <p:cNvSpPr/>
          <p:nvPr/>
        </p:nvSpPr>
        <p:spPr>
          <a:xfrm>
            <a:off x="695400" y="1052513"/>
            <a:ext cx="3584500" cy="5294947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622DF63-9EBA-4A6C-BF47-3EBF35E61963}"/>
              </a:ext>
            </a:extLst>
          </p:cNvPr>
          <p:cNvSpPr/>
          <p:nvPr/>
        </p:nvSpPr>
        <p:spPr>
          <a:xfrm>
            <a:off x="1559613" y="1528731"/>
            <a:ext cx="770138" cy="7701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1A963F1-8BC5-4B10-A68A-1CBB06D5A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685" y="1382279"/>
            <a:ext cx="711994" cy="815397"/>
          </a:xfrm>
          <a:prstGeom prst="rect">
            <a:avLst/>
          </a:prstGeom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27CE3D7F-8E65-4AC2-A9B5-19E76983E75E}"/>
              </a:ext>
            </a:extLst>
          </p:cNvPr>
          <p:cNvSpPr/>
          <p:nvPr/>
        </p:nvSpPr>
        <p:spPr>
          <a:xfrm>
            <a:off x="3092784" y="1528731"/>
            <a:ext cx="770138" cy="7701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26" name="그림 25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E8D5537A-AE60-44DA-B1F5-AA478DBF6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029" y="1498322"/>
            <a:ext cx="379646" cy="8181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D1082A-79AA-4D37-9A40-2F5EF3A10D4D}"/>
              </a:ext>
            </a:extLst>
          </p:cNvPr>
          <p:cNvSpPr txBox="1"/>
          <p:nvPr/>
        </p:nvSpPr>
        <p:spPr>
          <a:xfrm>
            <a:off x="818721" y="4067100"/>
            <a:ext cx="537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파일수신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879ABD-C3A1-4306-A207-EE22E9C965DF}"/>
              </a:ext>
            </a:extLst>
          </p:cNvPr>
          <p:cNvSpPr txBox="1"/>
          <p:nvPr/>
        </p:nvSpPr>
        <p:spPr>
          <a:xfrm>
            <a:off x="3660197" y="3570122"/>
            <a:ext cx="515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파일</a:t>
            </a:r>
            <a:endParaRPr lang="en-US" altLang="ko-KR" sz="12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전송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시간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53EC96D-BF84-4CFD-91F6-B64D33D941A0}"/>
              </a:ext>
            </a:extLst>
          </p:cNvPr>
          <p:cNvGrpSpPr/>
          <p:nvPr/>
        </p:nvGrpSpPr>
        <p:grpSpPr>
          <a:xfrm>
            <a:off x="1944682" y="2426776"/>
            <a:ext cx="1545652" cy="3257744"/>
            <a:chOff x="1549021" y="2426776"/>
            <a:chExt cx="1545652" cy="3547304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EACBC11C-55D1-4AA2-9131-1288F1B3610A}"/>
                </a:ext>
              </a:extLst>
            </p:cNvPr>
            <p:cNvCxnSpPr>
              <a:cxnSpLocks/>
            </p:cNvCxnSpPr>
            <p:nvPr/>
          </p:nvCxnSpPr>
          <p:spPr>
            <a:xfrm>
              <a:off x="3094673" y="2426776"/>
              <a:ext cx="0" cy="3547304"/>
            </a:xfrm>
            <a:prstGeom prst="straightConnector1">
              <a:avLst/>
            </a:prstGeom>
            <a:ln w="15875">
              <a:solidFill>
                <a:srgbClr val="F27037"/>
              </a:solidFill>
              <a:prstDash val="sysDot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6C940DB7-F8D0-48CB-ACA3-4C806F93046E}"/>
                </a:ext>
              </a:extLst>
            </p:cNvPr>
            <p:cNvCxnSpPr>
              <a:cxnSpLocks/>
            </p:cNvCxnSpPr>
            <p:nvPr/>
          </p:nvCxnSpPr>
          <p:spPr>
            <a:xfrm>
              <a:off x="1549021" y="2426776"/>
              <a:ext cx="0" cy="3547304"/>
            </a:xfrm>
            <a:prstGeom prst="straightConnector1">
              <a:avLst/>
            </a:prstGeom>
            <a:ln w="15875">
              <a:solidFill>
                <a:srgbClr val="F27037"/>
              </a:solidFill>
              <a:prstDash val="sysDot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A575752-ABC7-44CB-A4EC-02E7F6C9303C}"/>
              </a:ext>
            </a:extLst>
          </p:cNvPr>
          <p:cNvCxnSpPr>
            <a:cxnSpLocks/>
          </p:cNvCxnSpPr>
          <p:nvPr/>
        </p:nvCxnSpPr>
        <p:spPr>
          <a:xfrm>
            <a:off x="1953951" y="2579176"/>
            <a:ext cx="1535430" cy="369764"/>
          </a:xfrm>
          <a:prstGeom prst="straightConnector1">
            <a:avLst/>
          </a:prstGeom>
          <a:ln w="15875">
            <a:solidFill>
              <a:srgbClr val="105B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660D169-D08A-4C95-87AA-90E799ED8C63}"/>
              </a:ext>
            </a:extLst>
          </p:cNvPr>
          <p:cNvCxnSpPr>
            <a:cxnSpLocks/>
          </p:cNvCxnSpPr>
          <p:nvPr/>
        </p:nvCxnSpPr>
        <p:spPr>
          <a:xfrm flipH="1">
            <a:off x="1953951" y="2996952"/>
            <a:ext cx="1535430" cy="369764"/>
          </a:xfrm>
          <a:prstGeom prst="straightConnector1">
            <a:avLst/>
          </a:prstGeom>
          <a:ln w="15875">
            <a:solidFill>
              <a:srgbClr val="105B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3A03E04-22DF-4409-AA89-319D6767D34F}"/>
              </a:ext>
            </a:extLst>
          </p:cNvPr>
          <p:cNvCxnSpPr>
            <a:cxnSpLocks/>
          </p:cNvCxnSpPr>
          <p:nvPr/>
        </p:nvCxnSpPr>
        <p:spPr>
          <a:xfrm>
            <a:off x="1953951" y="3501008"/>
            <a:ext cx="1535430" cy="369764"/>
          </a:xfrm>
          <a:prstGeom prst="straightConnector1">
            <a:avLst/>
          </a:prstGeom>
          <a:ln w="15875">
            <a:solidFill>
              <a:srgbClr val="105B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C5ACC32A-E990-4FF8-9FCF-3AE37A1F7953}"/>
              </a:ext>
            </a:extLst>
          </p:cNvPr>
          <p:cNvCxnSpPr>
            <a:cxnSpLocks/>
          </p:cNvCxnSpPr>
          <p:nvPr/>
        </p:nvCxnSpPr>
        <p:spPr>
          <a:xfrm flipH="1">
            <a:off x="1953951" y="3918784"/>
            <a:ext cx="1535430" cy="369764"/>
          </a:xfrm>
          <a:prstGeom prst="straightConnector1">
            <a:avLst/>
          </a:prstGeom>
          <a:ln w="15875">
            <a:solidFill>
              <a:srgbClr val="105B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오른쪽 중괄호 37">
            <a:extLst>
              <a:ext uri="{FF2B5EF4-FFF2-40B4-BE49-F238E27FC236}">
                <a16:creationId xmlns:a16="http://schemas.microsoft.com/office/drawing/2014/main" id="{9CF9979D-AC89-4032-A437-C7907EB305F3}"/>
              </a:ext>
            </a:extLst>
          </p:cNvPr>
          <p:cNvSpPr/>
          <p:nvPr/>
        </p:nvSpPr>
        <p:spPr>
          <a:xfrm>
            <a:off x="3519861" y="3642360"/>
            <a:ext cx="144780" cy="525780"/>
          </a:xfrm>
          <a:prstGeom prst="rightBrace">
            <a:avLst>
              <a:gd name="adj1" fmla="val 64255"/>
              <a:gd name="adj2" fmla="val 50000"/>
            </a:avLst>
          </a:prstGeom>
          <a:ln w="15875">
            <a:solidFill>
              <a:srgbClr val="105BA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6D731D-B5C1-4298-B00B-7B04C4311B16}"/>
              </a:ext>
            </a:extLst>
          </p:cNvPr>
          <p:cNvSpPr txBox="1"/>
          <p:nvPr/>
        </p:nvSpPr>
        <p:spPr>
          <a:xfrm>
            <a:off x="3032786" y="5774620"/>
            <a:ext cx="12986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서버의 시간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9A74C6-1BBC-4CB8-93D3-8C3DAC259A12}"/>
              </a:ext>
            </a:extLst>
          </p:cNvPr>
          <p:cNvSpPr txBox="1"/>
          <p:nvPr/>
        </p:nvSpPr>
        <p:spPr>
          <a:xfrm>
            <a:off x="1162439" y="5774620"/>
            <a:ext cx="1610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클라이언트의 시간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B35A10C4-571A-48EE-8BF8-2B64A1F5F207}"/>
              </a:ext>
            </a:extLst>
          </p:cNvPr>
          <p:cNvGrpSpPr/>
          <p:nvPr/>
        </p:nvGrpSpPr>
        <p:grpSpPr>
          <a:xfrm>
            <a:off x="1325217" y="2564904"/>
            <a:ext cx="575888" cy="1728192"/>
            <a:chOff x="1588685" y="2564904"/>
            <a:chExt cx="312420" cy="1728192"/>
          </a:xfrm>
        </p:grpSpPr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4C7ED287-CFAB-41D0-B1D7-CDF444BE2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8685" y="4293096"/>
              <a:ext cx="312420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22BBF5DF-9D43-4F5A-BBD1-897C1038C3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8685" y="3429000"/>
              <a:ext cx="312420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F4DDB1F-2195-48E9-AB0F-3793930581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8685" y="2564904"/>
              <a:ext cx="312420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3160F6-C3CD-415C-811F-B976C54408FD}"/>
              </a:ext>
            </a:extLst>
          </p:cNvPr>
          <p:cNvSpPr txBox="1"/>
          <p:nvPr/>
        </p:nvSpPr>
        <p:spPr>
          <a:xfrm>
            <a:off x="818721" y="3206040"/>
            <a:ext cx="537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파일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요청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2178AB-48DA-4B54-A948-533B6CF8DCEB}"/>
              </a:ext>
            </a:extLst>
          </p:cNvPr>
          <p:cNvSpPr txBox="1"/>
          <p:nvPr/>
        </p:nvSpPr>
        <p:spPr>
          <a:xfrm>
            <a:off x="818721" y="2344980"/>
            <a:ext cx="537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설립</a:t>
            </a:r>
          </a:p>
        </p:txBody>
      </p:sp>
      <p:sp>
        <p:nvSpPr>
          <p:cNvPr id="49" name="오른쪽 중괄호 48">
            <a:extLst>
              <a:ext uri="{FF2B5EF4-FFF2-40B4-BE49-F238E27FC236}">
                <a16:creationId xmlns:a16="http://schemas.microsoft.com/office/drawing/2014/main" id="{B9B24D88-39F4-4645-8035-A8ED715874A0}"/>
              </a:ext>
            </a:extLst>
          </p:cNvPr>
          <p:cNvSpPr/>
          <p:nvPr/>
        </p:nvSpPr>
        <p:spPr>
          <a:xfrm flipH="1">
            <a:off x="1734941" y="3495675"/>
            <a:ext cx="166164" cy="723900"/>
          </a:xfrm>
          <a:prstGeom prst="rightBrace">
            <a:avLst>
              <a:gd name="adj1" fmla="val 64255"/>
              <a:gd name="adj2" fmla="val 50000"/>
            </a:avLst>
          </a:prstGeom>
          <a:ln w="15875">
            <a:solidFill>
              <a:srgbClr val="105BA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오른쪽 중괄호 49">
            <a:extLst>
              <a:ext uri="{FF2B5EF4-FFF2-40B4-BE49-F238E27FC236}">
                <a16:creationId xmlns:a16="http://schemas.microsoft.com/office/drawing/2014/main" id="{6E91C243-D2F0-4FBC-8D6C-7B553A88AAD1}"/>
              </a:ext>
            </a:extLst>
          </p:cNvPr>
          <p:cNvSpPr/>
          <p:nvPr/>
        </p:nvSpPr>
        <p:spPr>
          <a:xfrm flipH="1">
            <a:off x="1734941" y="2628900"/>
            <a:ext cx="166164" cy="723900"/>
          </a:xfrm>
          <a:prstGeom prst="rightBrace">
            <a:avLst>
              <a:gd name="adj1" fmla="val 64255"/>
              <a:gd name="adj2" fmla="val 50000"/>
            </a:avLst>
          </a:prstGeom>
          <a:ln w="15875">
            <a:solidFill>
              <a:srgbClr val="105BA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8BE73B-3879-4B99-A98C-F26FA1C83E05}"/>
              </a:ext>
            </a:extLst>
          </p:cNvPr>
          <p:cNvSpPr txBox="1"/>
          <p:nvPr/>
        </p:nvSpPr>
        <p:spPr>
          <a:xfrm>
            <a:off x="1270599" y="3686367"/>
            <a:ext cx="512745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RTT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D2E4CF-9FDA-46A4-9CCA-739E28F10713}"/>
              </a:ext>
            </a:extLst>
          </p:cNvPr>
          <p:cNvSpPr txBox="1"/>
          <p:nvPr/>
        </p:nvSpPr>
        <p:spPr>
          <a:xfrm>
            <a:off x="1270599" y="2844854"/>
            <a:ext cx="512745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RTT</a:t>
            </a: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12DF0D24-7B7F-44C6-8C05-56BEB8ED06EB}"/>
              </a:ext>
            </a:extLst>
          </p:cNvPr>
          <p:cNvSpPr txBox="1">
            <a:spLocks noChangeArrowheads="1"/>
          </p:cNvSpPr>
          <p:nvPr/>
        </p:nvSpPr>
        <p:spPr>
          <a:xfrm>
            <a:off x="4422696" y="2564904"/>
            <a:ext cx="383389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5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HTTP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응답 시간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6D94AA61-8253-4E96-9EF6-454A0B93F9B2}"/>
              </a:ext>
            </a:extLst>
          </p:cNvPr>
          <p:cNvSpPr txBox="1">
            <a:spLocks noChangeArrowheads="1"/>
          </p:cNvSpPr>
          <p:nvPr/>
        </p:nvSpPr>
        <p:spPr>
          <a:xfrm>
            <a:off x="4511824" y="3049910"/>
            <a:ext cx="3528040" cy="224311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TCP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 설립에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RTT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걸림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요청과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응답의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처음 몇 바이트가 돌아오는 데에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RTT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만큼 걸림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파일 전송 시간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비지속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연결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응답 시간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= 2RTT+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파일 전송 시간</a:t>
            </a:r>
          </a:p>
        </p:txBody>
      </p:sp>
      <p:sp>
        <p:nvSpPr>
          <p:cNvPr id="57" name="텍스트 개체 틀 19">
            <a:extLst>
              <a:ext uri="{FF2B5EF4-FFF2-40B4-BE49-F238E27FC236}">
                <a16:creationId xmlns:a16="http://schemas.microsoft.com/office/drawing/2014/main" id="{C4D58060-F02B-4505-AD4C-050D3E2A4BEE}"/>
              </a:ext>
            </a:extLst>
          </p:cNvPr>
          <p:cNvSpPr txBox="1">
            <a:spLocks/>
          </p:cNvSpPr>
          <p:nvPr/>
        </p:nvSpPr>
        <p:spPr>
          <a:xfrm>
            <a:off x="4511824" y="1340768"/>
            <a:ext cx="3087177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RTT (round-trip time)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8F6B200E-0185-40DE-98CA-2817552A501B}"/>
              </a:ext>
            </a:extLst>
          </p:cNvPr>
          <p:cNvSpPr txBox="1">
            <a:spLocks noChangeArrowheads="1"/>
          </p:cNvSpPr>
          <p:nvPr/>
        </p:nvSpPr>
        <p:spPr>
          <a:xfrm>
            <a:off x="4511824" y="1758301"/>
            <a:ext cx="3528040" cy="62728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작은 패킷이 클라이언트에서 서버까지 갔다가 돌아오는 데에 걸리는 시간</a:t>
            </a:r>
          </a:p>
        </p:txBody>
      </p:sp>
    </p:spTree>
    <p:extLst>
      <p:ext uri="{BB962C8B-B14F-4D97-AF65-F5344CB8AC3E}">
        <p14:creationId xmlns:p14="http://schemas.microsoft.com/office/powerpoint/2010/main" val="1583699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지속 연결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(Persistent) HTTP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27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17E342-0558-4F32-B37A-1575451954C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2474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비지속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 연결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HTTP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9C84EF6-8F1A-4D17-80A7-5B5F23357522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75842"/>
            <a:ext cx="6976032" cy="133517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객체당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RTT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필요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TCP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연결에 따른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OS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의 과부하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브라우저는 참조된 객체들을 가져오기 위해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TCP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 여러 개를 병렬적으로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열 수 있다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251D8B7-1131-4E12-95E6-4D9B554A0C8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140968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지속 연결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HTTP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BA7903A-454C-46E8-A12A-B33BD20D7394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592066"/>
            <a:ext cx="6976032" cy="141211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서버는 응답을 보내고도 연결을 닫지 않는다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같은 클라이언트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 사이의 이후의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메시지들은 이 연결을 통해 전송한다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클라이언트는 참조된 객체를 발견하면 바로 요청한다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모든 참조 객체들에 대해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RTT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정도만 필요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1067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HTTP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요청 메시지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28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684BEA-89FC-4649-B2E2-03823B87D181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2474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두 종류의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요청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(request),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응답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(response)</a:t>
            </a: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HTTP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요청 메시지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ASCII (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사람이 읽을 수 있는 포맷임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368B60B-F0FC-432D-9532-A037018C9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5949280"/>
            <a:ext cx="4506913" cy="48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* Check out the online interactive exercises for </a:t>
            </a: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more </a:t>
            </a:r>
            <a:b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 examples: h</a:t>
            </a:r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ttp://gaia.cs.umass.edu/kurose_ross/interactive/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AD744F11-87D7-4933-9D5E-04AF4CA71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768" y="2745567"/>
            <a:ext cx="4419800" cy="2876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GET /index.html HTTP/1.1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Host: www-net.cs.umass.edu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User-Agent: Firefox/3.6.10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Accept: text/html,application/xhtml+xml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Accept-Language: en-us,en;q=0.5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Accept-Encoding: gzip,deflate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Accept-Charset: ISO-8859-1,utf-8;q=0.7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Keep-Alive: 115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Connection: keep-alive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B5E36930-43E4-4BD8-9992-2EE2EB9C8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760" y="1699067"/>
            <a:ext cx="192033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carriage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return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문자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4" name="Text Box 19">
            <a:extLst>
              <a:ext uri="{FF2B5EF4-FFF2-40B4-BE49-F238E27FC236}">
                <a16:creationId xmlns:a16="http://schemas.microsoft.com/office/drawing/2014/main" id="{7CB097EA-4FBD-4C78-87EE-9AA069921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070" y="2133283"/>
            <a:ext cx="13755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line-feed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문자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12894D6-494E-4C72-9CD7-3BF713092091}"/>
              </a:ext>
            </a:extLst>
          </p:cNvPr>
          <p:cNvGrpSpPr/>
          <p:nvPr/>
        </p:nvGrpSpPr>
        <p:grpSpPr>
          <a:xfrm>
            <a:off x="2984416" y="4202382"/>
            <a:ext cx="459516" cy="1276075"/>
            <a:chOff x="2749466" y="3535632"/>
            <a:chExt cx="459516" cy="1276075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A41756F4-0905-4568-8029-69531060A454}"/>
                </a:ext>
              </a:extLst>
            </p:cNvPr>
            <p:cNvCxnSpPr>
              <a:cxnSpLocks/>
            </p:cNvCxnSpPr>
            <p:nvPr/>
          </p:nvCxnSpPr>
          <p:spPr>
            <a:xfrm>
              <a:off x="2764706" y="4784996"/>
              <a:ext cx="375692" cy="0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2CFF76E-A79F-49A0-9CD7-D5C5B3C633A0}"/>
                </a:ext>
              </a:extLst>
            </p:cNvPr>
            <p:cNvSpPr/>
            <p:nvPr/>
          </p:nvSpPr>
          <p:spPr>
            <a:xfrm>
              <a:off x="3140398" y="4743123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0E126F6D-37DA-4949-9445-7D446A83CF03}"/>
                </a:ext>
              </a:extLst>
            </p:cNvPr>
            <p:cNvCxnSpPr>
              <a:cxnSpLocks/>
            </p:cNvCxnSpPr>
            <p:nvPr/>
          </p:nvCxnSpPr>
          <p:spPr>
            <a:xfrm>
              <a:off x="2749466" y="3535632"/>
              <a:ext cx="267419" cy="0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</p:grpSp>
      <p:sp>
        <p:nvSpPr>
          <p:cNvPr id="20" name="Text Box 11">
            <a:extLst>
              <a:ext uri="{FF2B5EF4-FFF2-40B4-BE49-F238E27FC236}">
                <a16:creationId xmlns:a16="http://schemas.microsoft.com/office/drawing/2014/main" id="{9ED3DDAB-B8BE-4BD6-ADA3-B04107087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4700588"/>
            <a:ext cx="2374900" cy="909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2" algn="r">
              <a:lnSpc>
                <a:spcPct val="130000"/>
              </a:lnSpc>
              <a:spcBef>
                <a:spcPts val="800"/>
              </a:spcBef>
              <a:buClrTx/>
              <a:buSzTx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라인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시작 위치에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carriage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return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, line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feed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가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오면 헤더라인의 끝임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BD42FBA-E375-46EB-B135-86649955B7BD}"/>
              </a:ext>
            </a:extLst>
          </p:cNvPr>
          <p:cNvGrpSpPr/>
          <p:nvPr/>
        </p:nvGrpSpPr>
        <p:grpSpPr>
          <a:xfrm rot="5400000">
            <a:off x="5683346" y="2374669"/>
            <a:ext cx="840241" cy="68584"/>
            <a:chOff x="2368741" y="4743123"/>
            <a:chExt cx="840241" cy="68584"/>
          </a:xfrm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0543D45C-E7D7-45FF-80FB-1E8ECA37F7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54570" y="4399168"/>
              <a:ext cx="0" cy="771657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3E3D7D5A-61B7-4279-9169-0B38A8B2796F}"/>
                </a:ext>
              </a:extLst>
            </p:cNvPr>
            <p:cNvSpPr/>
            <p:nvPr/>
          </p:nvSpPr>
          <p:spPr>
            <a:xfrm>
              <a:off x="3140398" y="4743123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7FEFB47-96E4-4664-BC9D-7AD3C306FB95}"/>
              </a:ext>
            </a:extLst>
          </p:cNvPr>
          <p:cNvGrpSpPr/>
          <p:nvPr/>
        </p:nvGrpSpPr>
        <p:grpSpPr>
          <a:xfrm rot="5400000">
            <a:off x="6040866" y="2574049"/>
            <a:ext cx="441483" cy="68584"/>
            <a:chOff x="2767499" y="4743123"/>
            <a:chExt cx="441483" cy="68584"/>
          </a:xfrm>
        </p:grpSpPr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1B8344D2-C237-4E2C-AAE6-0E7E4CB5AB4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953949" y="4598547"/>
              <a:ext cx="0" cy="372899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09F493F5-F89B-4816-A0DD-62DFA5D3B0A9}"/>
                </a:ext>
              </a:extLst>
            </p:cNvPr>
            <p:cNvSpPr/>
            <p:nvPr/>
          </p:nvSpPr>
          <p:spPr>
            <a:xfrm>
              <a:off x="3140398" y="4743123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31" name="Text Box 11">
            <a:extLst>
              <a:ext uri="{FF2B5EF4-FFF2-40B4-BE49-F238E27FC236}">
                <a16:creationId xmlns:a16="http://schemas.microsoft.com/office/drawing/2014/main" id="{9F142E57-EA3A-4DDE-ACF7-37BD6DFED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2452688"/>
            <a:ext cx="2374900" cy="62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2" algn="r">
              <a:lnSpc>
                <a:spcPct val="130000"/>
              </a:lnSpc>
              <a:spcBef>
                <a:spcPts val="800"/>
              </a:spcBef>
              <a:buClrTx/>
              <a:buSzTx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요청라인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(request line)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(GET, POST, HEAD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명령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)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CA4D7B3-487E-42C3-825D-F2884B3C8BBD}"/>
              </a:ext>
            </a:extLst>
          </p:cNvPr>
          <p:cNvGrpSpPr/>
          <p:nvPr/>
        </p:nvGrpSpPr>
        <p:grpSpPr>
          <a:xfrm>
            <a:off x="2999656" y="2863523"/>
            <a:ext cx="444276" cy="68584"/>
            <a:chOff x="2764706" y="4743123"/>
            <a:chExt cx="444276" cy="68584"/>
          </a:xfrm>
        </p:grpSpPr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763CCFBB-F61B-4475-99A4-588FE8E68183}"/>
                </a:ext>
              </a:extLst>
            </p:cNvPr>
            <p:cNvCxnSpPr>
              <a:cxnSpLocks/>
            </p:cNvCxnSpPr>
            <p:nvPr/>
          </p:nvCxnSpPr>
          <p:spPr>
            <a:xfrm>
              <a:off x="2764706" y="4784996"/>
              <a:ext cx="375692" cy="0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DECAC673-8474-44E8-9BF3-FA6DC21CCE02}"/>
                </a:ext>
              </a:extLst>
            </p:cNvPr>
            <p:cNvSpPr/>
            <p:nvPr/>
          </p:nvSpPr>
          <p:spPr>
            <a:xfrm>
              <a:off x="3140398" y="4743123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37" name="왼쪽 중괄호 36">
            <a:extLst>
              <a:ext uri="{FF2B5EF4-FFF2-40B4-BE49-F238E27FC236}">
                <a16:creationId xmlns:a16="http://schemas.microsoft.com/office/drawing/2014/main" id="{DDB3870D-38CD-472B-B658-1AEF3A3D3464}"/>
              </a:ext>
            </a:extLst>
          </p:cNvPr>
          <p:cNvSpPr/>
          <p:nvPr/>
        </p:nvSpPr>
        <p:spPr>
          <a:xfrm>
            <a:off x="3263900" y="3251200"/>
            <a:ext cx="171450" cy="1898650"/>
          </a:xfrm>
          <a:prstGeom prst="leftBrace">
            <a:avLst>
              <a:gd name="adj1" fmla="val 63889"/>
              <a:gd name="adj2" fmla="val 50000"/>
            </a:avLst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 Box 8">
            <a:extLst>
              <a:ext uri="{FF2B5EF4-FFF2-40B4-BE49-F238E27FC236}">
                <a16:creationId xmlns:a16="http://schemas.microsoft.com/office/drawing/2014/main" id="{6C0783A4-4AAE-40CC-AA23-FD1630C39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604" y="4005263"/>
            <a:ext cx="2129109" cy="349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2" algn="r">
              <a:lnSpc>
                <a:spcPct val="130000"/>
              </a:lnSpc>
              <a:spcBef>
                <a:spcPts val="800"/>
              </a:spcBef>
              <a:buFont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헤더라인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header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lines)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7701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HTTP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요청 메시지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일반 포맷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29</a:t>
            </a:fld>
            <a:endParaRPr lang="en-US" dirty="0"/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E3D54575-8B62-4381-BB60-A66D36789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3692" y="1812572"/>
            <a:ext cx="926857" cy="2916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</a:rPr>
              <a:t>요청 라인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+mj-ea"/>
              <a:ea typeface="+mj-ea"/>
            </a:endParaRP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6B417114-5122-43A1-9DA4-D5A2CB304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3692" y="2963863"/>
            <a:ext cx="926857" cy="3508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0"/>
              </a:spcBef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</a:rPr>
              <a:t>헤더 라인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+mj-ea"/>
              <a:ea typeface="+mj-ea"/>
            </a:endParaRP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AC011160-FE3D-4EA1-A533-01B917067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9976" y="4735513"/>
            <a:ext cx="1653017" cy="60939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0"/>
              </a:spcBef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</a:rPr>
              <a:t>몸체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20000"/>
              </a:lnSpc>
              <a:spcBef>
                <a:spcPct val="0"/>
              </a:spcBef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</a:rPr>
              <a:t>(POST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</a:rPr>
              <a:t>에서 사용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12" name="Rectangle 20">
            <a:extLst>
              <a:ext uri="{FF2B5EF4-FFF2-40B4-BE49-F238E27FC236}">
                <a16:creationId xmlns:a16="http://schemas.microsoft.com/office/drawing/2014/main" id="{0072A85B-3CD3-4A88-B5BF-3AE545124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" y="1698625"/>
            <a:ext cx="5638800" cy="44608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13" name="Line 22">
            <a:extLst>
              <a:ext uri="{FF2B5EF4-FFF2-40B4-BE49-F238E27FC236}">
                <a16:creationId xmlns:a16="http://schemas.microsoft.com/office/drawing/2014/main" id="{EE1E2C22-7BE2-4627-9C57-A494510C30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6280" y="1701800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Line 23">
            <a:extLst>
              <a:ext uri="{FF2B5EF4-FFF2-40B4-BE49-F238E27FC236}">
                <a16:creationId xmlns:a16="http://schemas.microsoft.com/office/drawing/2014/main" id="{B2776BB9-B853-49D7-B488-F85ED7B757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0780" y="1701800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Line 24">
            <a:extLst>
              <a:ext uri="{FF2B5EF4-FFF2-40B4-BE49-F238E27FC236}">
                <a16:creationId xmlns:a16="http://schemas.microsoft.com/office/drawing/2014/main" id="{E21A4003-EFF9-4A6E-BD89-2BA605C750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8880" y="1701800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Line 25">
            <a:extLst>
              <a:ext uri="{FF2B5EF4-FFF2-40B4-BE49-F238E27FC236}">
                <a16:creationId xmlns:a16="http://schemas.microsoft.com/office/drawing/2014/main" id="{D0B307D4-2A7A-49B4-A2A6-F00D87697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4330" y="1695450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Line 26">
            <a:extLst>
              <a:ext uri="{FF2B5EF4-FFF2-40B4-BE49-F238E27FC236}">
                <a16:creationId xmlns:a16="http://schemas.microsoft.com/office/drawing/2014/main" id="{2FCC6CC3-5771-4E61-9F76-C1DA68E12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6080" y="1701800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Line 27">
            <a:extLst>
              <a:ext uri="{FF2B5EF4-FFF2-40B4-BE49-F238E27FC236}">
                <a16:creationId xmlns:a16="http://schemas.microsoft.com/office/drawing/2014/main" id="{C97522F8-7004-41D4-A9DA-7421EC1ED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4230" y="1701800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Box 28">
            <a:extLst>
              <a:ext uri="{FF2B5EF4-FFF2-40B4-BE49-F238E27FC236}">
                <a16:creationId xmlns:a16="http://schemas.microsoft.com/office/drawing/2014/main" id="{FCB3978B-AA61-49A8-B95B-AB97FA7DC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9180" y="1772816"/>
            <a:ext cx="53091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방식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</a:endParaRPr>
          </a:p>
        </p:txBody>
      </p:sp>
      <p:sp>
        <p:nvSpPr>
          <p:cNvPr id="20" name="Text Box 29">
            <a:extLst>
              <a:ext uri="{FF2B5EF4-FFF2-40B4-BE49-F238E27FC236}">
                <a16:creationId xmlns:a16="http://schemas.microsoft.com/office/drawing/2014/main" id="{B72DE64E-140B-41A6-A57B-77393ACB8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4055" y="1737521"/>
            <a:ext cx="45878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G마켓 산스 TTF Bold" panose="02000000000000000000" pitchFamily="2" charset="-127"/>
                <a:cs typeface="+mj-cs"/>
              </a:rPr>
              <a:t>sp</a:t>
            </a:r>
          </a:p>
        </p:txBody>
      </p:sp>
      <p:sp>
        <p:nvSpPr>
          <p:cNvPr id="21" name="Text Box 30">
            <a:extLst>
              <a:ext uri="{FF2B5EF4-FFF2-40B4-BE49-F238E27FC236}">
                <a16:creationId xmlns:a16="http://schemas.microsoft.com/office/drawing/2014/main" id="{04213304-C5B3-4BE2-8689-82DDA81F2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355" y="1737521"/>
            <a:ext cx="45878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G마켓 산스 TTF Bold" panose="02000000000000000000" pitchFamily="2" charset="-127"/>
                <a:cs typeface="+mj-cs"/>
              </a:rPr>
              <a:t>sp</a:t>
            </a:r>
          </a:p>
        </p:txBody>
      </p:sp>
      <p:sp>
        <p:nvSpPr>
          <p:cNvPr id="22" name="Text Box 31">
            <a:extLst>
              <a:ext uri="{FF2B5EF4-FFF2-40B4-BE49-F238E27FC236}">
                <a16:creationId xmlns:a16="http://schemas.microsoft.com/office/drawing/2014/main" id="{302E2316-4F3C-4664-8E0E-DB9866CF7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1955" y="1737521"/>
            <a:ext cx="4203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G마켓 산스 TTF Bold" panose="02000000000000000000" pitchFamily="2" charset="-127"/>
                <a:cs typeface="+mj-cs"/>
              </a:rPr>
              <a:t>cr</a:t>
            </a:r>
          </a:p>
        </p:txBody>
      </p:sp>
      <p:sp>
        <p:nvSpPr>
          <p:cNvPr id="23" name="Text Box 32">
            <a:extLst>
              <a:ext uri="{FF2B5EF4-FFF2-40B4-BE49-F238E27FC236}">
                <a16:creationId xmlns:a16="http://schemas.microsoft.com/office/drawing/2014/main" id="{C292A79B-FE7D-4010-8AB8-AED0E6F87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855" y="1737521"/>
            <a:ext cx="31931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G마켓 산스 TTF Bold" panose="02000000000000000000" pitchFamily="2" charset="-127"/>
                <a:cs typeface="+mj-cs"/>
              </a:rPr>
              <a:t>lf</a:t>
            </a:r>
          </a:p>
        </p:txBody>
      </p:sp>
      <p:sp>
        <p:nvSpPr>
          <p:cNvPr id="24" name="Text Box 33">
            <a:extLst>
              <a:ext uri="{FF2B5EF4-FFF2-40B4-BE49-F238E27FC236}">
                <a16:creationId xmlns:a16="http://schemas.microsoft.com/office/drawing/2014/main" id="{E0033655-21CA-4C55-8763-B19B30B31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832" y="1760116"/>
            <a:ext cx="53091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버전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</a:endParaRPr>
          </a:p>
        </p:txBody>
      </p:sp>
      <p:sp>
        <p:nvSpPr>
          <p:cNvPr id="25" name="Text Box 34">
            <a:extLst>
              <a:ext uri="{FF2B5EF4-FFF2-40B4-BE49-F238E27FC236}">
                <a16:creationId xmlns:a16="http://schemas.microsoft.com/office/drawing/2014/main" id="{2279070B-A8CD-4029-AE55-E74ACE7E8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640" y="1772816"/>
            <a:ext cx="6014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URL</a:t>
            </a:r>
          </a:p>
        </p:txBody>
      </p:sp>
      <p:grpSp>
        <p:nvGrpSpPr>
          <p:cNvPr id="26" name="Group 45">
            <a:extLst>
              <a:ext uri="{FF2B5EF4-FFF2-40B4-BE49-F238E27FC236}">
                <a16:creationId xmlns:a16="http://schemas.microsoft.com/office/drawing/2014/main" id="{4F773DA1-CE05-4B93-A220-1E87915CE183}"/>
              </a:ext>
            </a:extLst>
          </p:cNvPr>
          <p:cNvGrpSpPr>
            <a:grpSpLocks/>
          </p:cNvGrpSpPr>
          <p:nvPr/>
        </p:nvGrpSpPr>
        <p:grpSpPr bwMode="auto">
          <a:xfrm>
            <a:off x="678180" y="2143125"/>
            <a:ext cx="4565650" cy="446088"/>
            <a:chOff x="192" y="1894"/>
            <a:chExt cx="2876" cy="281"/>
          </a:xfrm>
        </p:grpSpPr>
        <p:sp>
          <p:nvSpPr>
            <p:cNvPr id="27" name="Rectangle 35">
              <a:extLst>
                <a:ext uri="{FF2B5EF4-FFF2-40B4-BE49-F238E27FC236}">
                  <a16:creationId xmlns:a16="http://schemas.microsoft.com/office/drawing/2014/main" id="{CD2A8712-D5D6-42C8-A235-411F3DD37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28" name="Line 36">
              <a:extLst>
                <a:ext uri="{FF2B5EF4-FFF2-40B4-BE49-F238E27FC236}">
                  <a16:creationId xmlns:a16="http://schemas.microsoft.com/office/drawing/2014/main" id="{E4E4E4B5-83B2-4A83-B54A-CA7C4421E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Line 37">
              <a:extLst>
                <a:ext uri="{FF2B5EF4-FFF2-40B4-BE49-F238E27FC236}">
                  <a16:creationId xmlns:a16="http://schemas.microsoft.com/office/drawing/2014/main" id="{A02A8796-FE5F-4094-BCF7-4A9564421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Line 39">
              <a:extLst>
                <a:ext uri="{FF2B5EF4-FFF2-40B4-BE49-F238E27FC236}">
                  <a16:creationId xmlns:a16="http://schemas.microsoft.com/office/drawing/2014/main" id="{93234A10-0951-48A9-8A31-0BA70898A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Line 40">
              <a:extLst>
                <a:ext uri="{FF2B5EF4-FFF2-40B4-BE49-F238E27FC236}">
                  <a16:creationId xmlns:a16="http://schemas.microsoft.com/office/drawing/2014/main" id="{48C77361-581B-41D2-A14A-3A77AF62B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Box 41">
              <a:extLst>
                <a:ext uri="{FF2B5EF4-FFF2-40B4-BE49-F238E27FC236}">
                  <a16:creationId xmlns:a16="http://schemas.microsoft.com/office/drawing/2014/main" id="{F4464288-3FCB-4108-AE38-C573F7E35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3" y="1916"/>
              <a:ext cx="26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342900" indent="-342900"/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ea typeface="G마켓 산스 TTF Bold" panose="02000000000000000000" pitchFamily="2" charset="-127"/>
                  <a:cs typeface="+mj-cs"/>
                </a:rPr>
                <a:t>cr</a:t>
              </a:r>
            </a:p>
          </p:txBody>
        </p:sp>
        <p:sp>
          <p:nvSpPr>
            <p:cNvPr id="33" name="Text Box 42">
              <a:extLst>
                <a:ext uri="{FF2B5EF4-FFF2-40B4-BE49-F238E27FC236}">
                  <a16:creationId xmlns:a16="http://schemas.microsoft.com/office/drawing/2014/main" id="{40B2B28F-42FA-4F64-84AE-79988FEC6F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23"/>
              <a:ext cx="20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342900" indent="-342900"/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ea typeface="G마켓 산스 TTF Bold" panose="02000000000000000000" pitchFamily="2" charset="-127"/>
                  <a:cs typeface="+mj-cs"/>
                </a:rPr>
                <a:t>lf</a:t>
              </a:r>
            </a:p>
          </p:txBody>
        </p:sp>
        <p:sp>
          <p:nvSpPr>
            <p:cNvPr id="34" name="Text Box 43">
              <a:extLst>
                <a:ext uri="{FF2B5EF4-FFF2-40B4-BE49-F238E27FC236}">
                  <a16:creationId xmlns:a16="http://schemas.microsoft.com/office/drawing/2014/main" id="{C619108E-9537-49E0-BE2F-9C4DD88D2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2" y="1946"/>
              <a:ext cx="22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342900" indent="-342900"/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값</a:t>
              </a:r>
              <a:endPara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endParaRPr>
            </a:p>
          </p:txBody>
        </p:sp>
        <p:sp>
          <p:nvSpPr>
            <p:cNvPr id="35" name="Text Box 44">
              <a:extLst>
                <a:ext uri="{FF2B5EF4-FFF2-40B4-BE49-F238E27FC236}">
                  <a16:creationId xmlns:a16="http://schemas.microsoft.com/office/drawing/2014/main" id="{7E7A993E-465D-4990-B072-E6C51A74EA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" y="1954"/>
              <a:ext cx="83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342900" indent="-342900"/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헤더 필드 이름</a:t>
              </a:r>
              <a:endPara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6" name="Group 46">
            <a:extLst>
              <a:ext uri="{FF2B5EF4-FFF2-40B4-BE49-F238E27FC236}">
                <a16:creationId xmlns:a16="http://schemas.microsoft.com/office/drawing/2014/main" id="{E9DFB263-0F5B-409B-B372-2D8BA0E4BDFA}"/>
              </a:ext>
            </a:extLst>
          </p:cNvPr>
          <p:cNvGrpSpPr>
            <a:grpSpLocks/>
          </p:cNvGrpSpPr>
          <p:nvPr/>
        </p:nvGrpSpPr>
        <p:grpSpPr bwMode="auto">
          <a:xfrm>
            <a:off x="675005" y="3619500"/>
            <a:ext cx="4565650" cy="446088"/>
            <a:chOff x="192" y="1894"/>
            <a:chExt cx="2876" cy="281"/>
          </a:xfrm>
        </p:grpSpPr>
        <p:sp>
          <p:nvSpPr>
            <p:cNvPr id="37" name="Rectangle 47">
              <a:extLst>
                <a:ext uri="{FF2B5EF4-FFF2-40B4-BE49-F238E27FC236}">
                  <a16:creationId xmlns:a16="http://schemas.microsoft.com/office/drawing/2014/main" id="{EF2BABC9-2005-4AA5-B7B4-28D17276E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latin typeface="+mj-ea"/>
                <a:ea typeface="+mj-ea"/>
              </a:endParaRPr>
            </a:p>
          </p:txBody>
        </p:sp>
        <p:sp>
          <p:nvSpPr>
            <p:cNvPr id="38" name="Line 48">
              <a:extLst>
                <a:ext uri="{FF2B5EF4-FFF2-40B4-BE49-F238E27FC236}">
                  <a16:creationId xmlns:a16="http://schemas.microsoft.com/office/drawing/2014/main" id="{07CC4C03-BD6E-4EA8-BD64-C3E3BD9DB8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39" name="Line 49">
              <a:extLst>
                <a:ext uri="{FF2B5EF4-FFF2-40B4-BE49-F238E27FC236}">
                  <a16:creationId xmlns:a16="http://schemas.microsoft.com/office/drawing/2014/main" id="{C31B7A45-DC46-4F51-A8C1-587BDED25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0" name="Line 50">
              <a:extLst>
                <a:ext uri="{FF2B5EF4-FFF2-40B4-BE49-F238E27FC236}">
                  <a16:creationId xmlns:a16="http://schemas.microsoft.com/office/drawing/2014/main" id="{EB5C323C-B68B-4F6E-99F4-18ED871E5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1" name="Line 51">
              <a:extLst>
                <a:ext uri="{FF2B5EF4-FFF2-40B4-BE49-F238E27FC236}">
                  <a16:creationId xmlns:a16="http://schemas.microsoft.com/office/drawing/2014/main" id="{64581F59-3868-4219-9E97-DE270058D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2" name="Text Box 52">
              <a:extLst>
                <a:ext uri="{FF2B5EF4-FFF2-40B4-BE49-F238E27FC236}">
                  <a16:creationId xmlns:a16="http://schemas.microsoft.com/office/drawing/2014/main" id="{7652B3E0-9D21-4551-A9DD-25505E6DA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6" y="1919"/>
              <a:ext cx="26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342900" indent="-342900"/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ea typeface="G마켓 산스 TTF Bold" panose="02000000000000000000" pitchFamily="2" charset="-127"/>
                  <a:cs typeface="+mj-cs"/>
                </a:rPr>
                <a:t>cr</a:t>
              </a:r>
            </a:p>
          </p:txBody>
        </p:sp>
        <p:sp>
          <p:nvSpPr>
            <p:cNvPr id="43" name="Text Box 53">
              <a:extLst>
                <a:ext uri="{FF2B5EF4-FFF2-40B4-BE49-F238E27FC236}">
                  <a16:creationId xmlns:a16="http://schemas.microsoft.com/office/drawing/2014/main" id="{E7A42F43-CC3B-4B12-98D1-123637262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8" y="1926"/>
              <a:ext cx="20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342900" indent="-342900"/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ea typeface="G마켓 산스 TTF Bold" panose="02000000000000000000" pitchFamily="2" charset="-127"/>
                  <a:cs typeface="+mj-cs"/>
                </a:rPr>
                <a:t>lf</a:t>
              </a:r>
            </a:p>
          </p:txBody>
        </p:sp>
        <p:sp>
          <p:nvSpPr>
            <p:cNvPr id="44" name="Text Box 54">
              <a:extLst>
                <a:ext uri="{FF2B5EF4-FFF2-40B4-BE49-F238E27FC236}">
                  <a16:creationId xmlns:a16="http://schemas.microsoft.com/office/drawing/2014/main" id="{E22F9DB4-8A19-443A-A856-73EB2F386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2" y="1938"/>
              <a:ext cx="22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342900" indent="-342900"/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값</a:t>
              </a:r>
              <a:endPara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endParaRPr>
            </a:p>
          </p:txBody>
        </p:sp>
        <p:sp>
          <p:nvSpPr>
            <p:cNvPr id="45" name="Text Box 55">
              <a:extLst>
                <a:ext uri="{FF2B5EF4-FFF2-40B4-BE49-F238E27FC236}">
                  <a16:creationId xmlns:a16="http://schemas.microsoft.com/office/drawing/2014/main" id="{6A7CE3EE-DFBA-45E4-B5D0-73026A66C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" y="1938"/>
              <a:ext cx="83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342900" indent="-342900"/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헤더 필드 이름</a:t>
              </a:r>
              <a:endPara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Line 56">
            <a:extLst>
              <a:ext uri="{FF2B5EF4-FFF2-40B4-BE49-F238E27FC236}">
                <a16:creationId xmlns:a16="http://schemas.microsoft.com/office/drawing/2014/main" id="{E6BAF6F0-3F25-41F6-A794-57E3464A5E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" y="2590800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Rectangle 59">
            <a:extLst>
              <a:ext uri="{FF2B5EF4-FFF2-40B4-BE49-F238E27FC236}">
                <a16:creationId xmlns:a16="http://schemas.microsoft.com/office/drawing/2014/main" id="{B1380C11-8C54-4E15-9F59-D421A23B8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205" y="2926556"/>
            <a:ext cx="88900" cy="17859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49" name="Text Box 57">
            <a:extLst>
              <a:ext uri="{FF2B5EF4-FFF2-40B4-BE49-F238E27FC236}">
                <a16:creationId xmlns:a16="http://schemas.microsoft.com/office/drawing/2014/main" id="{30A760B5-96BF-47F1-9366-3B6BF9DBA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905" y="2814638"/>
            <a:ext cx="3317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/>
              <a:t>~</a:t>
            </a:r>
          </a:p>
        </p:txBody>
      </p:sp>
      <p:sp>
        <p:nvSpPr>
          <p:cNvPr id="50" name="Text Box 58">
            <a:extLst>
              <a:ext uri="{FF2B5EF4-FFF2-40B4-BE49-F238E27FC236}">
                <a16:creationId xmlns:a16="http://schemas.microsoft.com/office/drawing/2014/main" id="{FE005351-5443-4B56-8246-1C0110995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905" y="2879725"/>
            <a:ext cx="3317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/>
              <a:t>~</a:t>
            </a:r>
          </a:p>
        </p:txBody>
      </p:sp>
      <p:sp>
        <p:nvSpPr>
          <p:cNvPr id="51" name="Line 62">
            <a:extLst>
              <a:ext uri="{FF2B5EF4-FFF2-40B4-BE49-F238E27FC236}">
                <a16:creationId xmlns:a16="http://schemas.microsoft.com/office/drawing/2014/main" id="{3B4870B3-E365-43EE-A074-89ED920A3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2243" y="2578100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Rectangle 64">
            <a:extLst>
              <a:ext uri="{FF2B5EF4-FFF2-40B4-BE49-F238E27FC236}">
                <a16:creationId xmlns:a16="http://schemas.microsoft.com/office/drawing/2014/main" id="{FDA73FA6-8C8E-4708-B83B-F886F0633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8268" y="2914650"/>
            <a:ext cx="88900" cy="177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54" name="Text Box 65">
            <a:extLst>
              <a:ext uri="{FF2B5EF4-FFF2-40B4-BE49-F238E27FC236}">
                <a16:creationId xmlns:a16="http://schemas.microsoft.com/office/drawing/2014/main" id="{16A894C4-57B8-4A1E-AFC9-007C001D6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3968" y="2801938"/>
            <a:ext cx="3317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/>
              <a:t>~</a:t>
            </a:r>
          </a:p>
        </p:txBody>
      </p:sp>
      <p:sp>
        <p:nvSpPr>
          <p:cNvPr id="55" name="Text Box 66">
            <a:extLst>
              <a:ext uri="{FF2B5EF4-FFF2-40B4-BE49-F238E27FC236}">
                <a16:creationId xmlns:a16="http://schemas.microsoft.com/office/drawing/2014/main" id="{F16CA465-E61A-477F-8E91-39129B735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3968" y="2867025"/>
            <a:ext cx="3317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/>
              <a:t>~</a:t>
            </a:r>
          </a:p>
        </p:txBody>
      </p:sp>
      <p:grpSp>
        <p:nvGrpSpPr>
          <p:cNvPr id="56" name="Group 77">
            <a:extLst>
              <a:ext uri="{FF2B5EF4-FFF2-40B4-BE49-F238E27FC236}">
                <a16:creationId xmlns:a16="http://schemas.microsoft.com/office/drawing/2014/main" id="{4D6FD99D-B992-4E2A-B0BB-CDC02296A630}"/>
              </a:ext>
            </a:extLst>
          </p:cNvPr>
          <p:cNvGrpSpPr>
            <a:grpSpLocks/>
          </p:cNvGrpSpPr>
          <p:nvPr/>
        </p:nvGrpSpPr>
        <p:grpSpPr bwMode="auto">
          <a:xfrm>
            <a:off x="673418" y="4065588"/>
            <a:ext cx="963612" cy="446087"/>
            <a:chOff x="3105" y="2650"/>
            <a:chExt cx="607" cy="281"/>
          </a:xfrm>
        </p:grpSpPr>
        <p:sp>
          <p:nvSpPr>
            <p:cNvPr id="57" name="Rectangle 68">
              <a:extLst>
                <a:ext uri="{FF2B5EF4-FFF2-40B4-BE49-F238E27FC236}">
                  <a16:creationId xmlns:a16="http://schemas.microsoft.com/office/drawing/2014/main" id="{3284CA82-5D5F-452D-8490-5962F718D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5" y="2650"/>
              <a:ext cx="607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58" name="Line 72">
              <a:extLst>
                <a:ext uri="{FF2B5EF4-FFF2-40B4-BE49-F238E27FC236}">
                  <a16:creationId xmlns:a16="http://schemas.microsoft.com/office/drawing/2014/main" id="{AD0C115C-C025-4D14-AD6A-B62796387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6" y="2652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 Box 73">
              <a:extLst>
                <a:ext uri="{FF2B5EF4-FFF2-40B4-BE49-F238E27FC236}">
                  <a16:creationId xmlns:a16="http://schemas.microsoft.com/office/drawing/2014/main" id="{6A0B83BC-124D-4A8C-AC5C-52069CC38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2663"/>
              <a:ext cx="26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342900" indent="-342900"/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ea typeface="G마켓 산스 TTF Bold" panose="02000000000000000000" pitchFamily="2" charset="-127"/>
                  <a:cs typeface="+mj-cs"/>
                </a:rPr>
                <a:t>cr</a:t>
              </a:r>
            </a:p>
          </p:txBody>
        </p:sp>
        <p:sp>
          <p:nvSpPr>
            <p:cNvPr id="60" name="Text Box 74">
              <a:extLst>
                <a:ext uri="{FF2B5EF4-FFF2-40B4-BE49-F238E27FC236}">
                  <a16:creationId xmlns:a16="http://schemas.microsoft.com/office/drawing/2014/main" id="{67E17245-31FA-4CFD-82F1-683A1E266D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2670"/>
              <a:ext cx="20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342900" indent="-342900"/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ea typeface="G마켓 산스 TTF Bold" panose="02000000000000000000" pitchFamily="2" charset="-127"/>
                  <a:cs typeface="+mj-cs"/>
                </a:rPr>
                <a:t>lf</a:t>
              </a:r>
            </a:p>
          </p:txBody>
        </p:sp>
      </p:grpSp>
      <p:sp>
        <p:nvSpPr>
          <p:cNvPr id="61" name="Rectangle 78">
            <a:extLst>
              <a:ext uri="{FF2B5EF4-FFF2-40B4-BE49-F238E27FC236}">
                <a16:creationId xmlns:a16="http://schemas.microsoft.com/office/drawing/2014/main" id="{0507AE9F-234A-4282-BC6F-06FA6A34D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18" y="4513263"/>
            <a:ext cx="5170487" cy="1120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62" name="Text Box 80">
            <a:extLst>
              <a:ext uri="{FF2B5EF4-FFF2-40B4-BE49-F238E27FC236}">
                <a16:creationId xmlns:a16="http://schemas.microsoft.com/office/drawing/2014/main" id="{F1FDCD70-0A58-4197-B585-73DED0F0E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667" y="4919762"/>
            <a:ext cx="220925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개체 몸체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(entity body)</a:t>
            </a:r>
          </a:p>
        </p:txBody>
      </p:sp>
      <p:sp>
        <p:nvSpPr>
          <p:cNvPr id="64" name="Rectangle 82">
            <a:extLst>
              <a:ext uri="{FF2B5EF4-FFF2-40B4-BE49-F238E27FC236}">
                <a16:creationId xmlns:a16="http://schemas.microsoft.com/office/drawing/2014/main" id="{065E5C3E-85DA-47A7-967B-02F57DF35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205" y="4962525"/>
            <a:ext cx="88900" cy="1793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65" name="Text Box 83">
            <a:extLst>
              <a:ext uri="{FF2B5EF4-FFF2-40B4-BE49-F238E27FC236}">
                <a16:creationId xmlns:a16="http://schemas.microsoft.com/office/drawing/2014/main" id="{7F9B8C82-812D-4440-AE89-1111A3D4F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905" y="4851400"/>
            <a:ext cx="3317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/>
              <a:t>~</a:t>
            </a:r>
          </a:p>
        </p:txBody>
      </p:sp>
      <p:sp>
        <p:nvSpPr>
          <p:cNvPr id="66" name="Text Box 84">
            <a:extLst>
              <a:ext uri="{FF2B5EF4-FFF2-40B4-BE49-F238E27FC236}">
                <a16:creationId xmlns:a16="http://schemas.microsoft.com/office/drawing/2014/main" id="{EC25C159-6C2B-427B-8A7C-31B39C7C3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905" y="4916488"/>
            <a:ext cx="3317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/>
              <a:t>~</a:t>
            </a:r>
          </a:p>
        </p:txBody>
      </p:sp>
      <p:sp>
        <p:nvSpPr>
          <p:cNvPr id="68" name="Rectangle 86">
            <a:extLst>
              <a:ext uri="{FF2B5EF4-FFF2-40B4-BE49-F238E27FC236}">
                <a16:creationId xmlns:a16="http://schemas.microsoft.com/office/drawing/2014/main" id="{CC5EEC57-CFBC-44ED-9252-91075C95A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580" y="4941168"/>
            <a:ext cx="88900" cy="191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69" name="Text Box 87">
            <a:extLst>
              <a:ext uri="{FF2B5EF4-FFF2-40B4-BE49-F238E27FC236}">
                <a16:creationId xmlns:a16="http://schemas.microsoft.com/office/drawing/2014/main" id="{AA62EC75-7CEB-4515-A5DD-506B36099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9280" y="4841875"/>
            <a:ext cx="3317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/>
              <a:t>~</a:t>
            </a:r>
          </a:p>
        </p:txBody>
      </p:sp>
      <p:sp>
        <p:nvSpPr>
          <p:cNvPr id="70" name="Text Box 88">
            <a:extLst>
              <a:ext uri="{FF2B5EF4-FFF2-40B4-BE49-F238E27FC236}">
                <a16:creationId xmlns:a16="http://schemas.microsoft.com/office/drawing/2014/main" id="{B2A0279A-C527-4D61-AF82-4E249B3C6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9280" y="4906963"/>
            <a:ext cx="3317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/>
              <a:t>~</a:t>
            </a:r>
          </a:p>
        </p:txBody>
      </p:sp>
      <p:sp>
        <p:nvSpPr>
          <p:cNvPr id="2" name="오른쪽 대괄호 1">
            <a:extLst>
              <a:ext uri="{FF2B5EF4-FFF2-40B4-BE49-F238E27FC236}">
                <a16:creationId xmlns:a16="http://schemas.microsoft.com/office/drawing/2014/main" id="{B6CED666-11A6-483C-9D5F-BD02234E563E}"/>
              </a:ext>
            </a:extLst>
          </p:cNvPr>
          <p:cNvSpPr/>
          <p:nvPr/>
        </p:nvSpPr>
        <p:spPr>
          <a:xfrm>
            <a:off x="5375920" y="2226365"/>
            <a:ext cx="912237" cy="1848678"/>
          </a:xfrm>
          <a:prstGeom prst="rightBracket">
            <a:avLst>
              <a:gd name="adj" fmla="val 0"/>
            </a:avLst>
          </a:prstGeom>
          <a:ln w="12700">
            <a:solidFill>
              <a:srgbClr val="F270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238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서식 입력의 업로드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9F195E-F2F6-4581-86F7-CFB4DD4C64D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626165"/>
            <a:ext cx="5895108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웹 페이지에는 종종 서식 입력이 포함되어 있다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입력은 개체 몸체를 통해 서버로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업로드된다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F30AA5BD-0D63-470C-B362-2389C56CE9F6}"/>
              </a:ext>
            </a:extLst>
          </p:cNvPr>
          <p:cNvSpPr/>
          <p:nvPr/>
        </p:nvSpPr>
        <p:spPr>
          <a:xfrm>
            <a:off x="658813" y="1052513"/>
            <a:ext cx="1574178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8" name="텍스트 개체 틀 19">
            <a:extLst>
              <a:ext uri="{FF2B5EF4-FFF2-40B4-BE49-F238E27FC236}">
                <a16:creationId xmlns:a16="http://schemas.microsoft.com/office/drawing/2014/main" id="{16BC8899-0517-414B-869A-37A6D89A7EDD}"/>
              </a:ext>
            </a:extLst>
          </p:cNvPr>
          <p:cNvSpPr txBox="1">
            <a:spLocks/>
          </p:cNvSpPr>
          <p:nvPr/>
        </p:nvSpPr>
        <p:spPr>
          <a:xfrm>
            <a:off x="839416" y="1092042"/>
            <a:ext cx="1606604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POST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방식</a:t>
            </a: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1E35C07-E44F-4293-BEF0-A791A785FE04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142967"/>
            <a:ext cx="5908360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GET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방식을 사용한다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입력은 요청 라인의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URL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필드를 통해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업로드된다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A23E87E5-7260-4AF0-B0BF-D797E868B7E0}"/>
              </a:ext>
            </a:extLst>
          </p:cNvPr>
          <p:cNvSpPr/>
          <p:nvPr/>
        </p:nvSpPr>
        <p:spPr>
          <a:xfrm>
            <a:off x="658813" y="2597383"/>
            <a:ext cx="1580804" cy="391715"/>
          </a:xfrm>
          <a:prstGeom prst="snip1Rect">
            <a:avLst>
              <a:gd name="adj" fmla="val 28162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11" name="텍스트 개체 틀 19">
            <a:extLst>
              <a:ext uri="{FF2B5EF4-FFF2-40B4-BE49-F238E27FC236}">
                <a16:creationId xmlns:a16="http://schemas.microsoft.com/office/drawing/2014/main" id="{DAEB35DE-93CF-4F3A-8EAF-F1A2AB4D4303}"/>
              </a:ext>
            </a:extLst>
          </p:cNvPr>
          <p:cNvSpPr txBox="1">
            <a:spLocks/>
          </p:cNvSpPr>
          <p:nvPr/>
        </p:nvSpPr>
        <p:spPr>
          <a:xfrm>
            <a:off x="839416" y="2636912"/>
            <a:ext cx="1606604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URL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방식</a:t>
            </a: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2" name="Google Shape;245;p4">
            <a:extLst>
              <a:ext uri="{FF2B5EF4-FFF2-40B4-BE49-F238E27FC236}">
                <a16:creationId xmlns:a16="http://schemas.microsoft.com/office/drawing/2014/main" id="{62D4E88A-7610-44AD-B20D-EBC39ADEBA61}"/>
              </a:ext>
            </a:extLst>
          </p:cNvPr>
          <p:cNvSpPr/>
          <p:nvPr/>
        </p:nvSpPr>
        <p:spPr>
          <a:xfrm>
            <a:off x="908760" y="4037543"/>
            <a:ext cx="5766360" cy="640080"/>
          </a:xfrm>
          <a:prstGeom prst="rect">
            <a:avLst/>
          </a:prstGeom>
          <a:noFill/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sym typeface="Arial"/>
            </a:endParaRP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98594DCB-42F6-4C4A-BB94-F113A5201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502" y="4215978"/>
            <a:ext cx="512287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www.somesite.com/animalsearch?monkeys&amp;banana</a:t>
            </a:r>
          </a:p>
        </p:txBody>
      </p:sp>
    </p:spTree>
    <p:extLst>
      <p:ext uri="{BB962C8B-B14F-4D97-AF65-F5344CB8AC3E}">
        <p14:creationId xmlns:p14="http://schemas.microsoft.com/office/powerpoint/2010/main" val="2002361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방식의 종류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31</a:t>
            </a:fld>
            <a:endParaRPr lang="en-US" dirty="0"/>
          </a:p>
        </p:txBody>
      </p:sp>
      <p:sp>
        <p:nvSpPr>
          <p:cNvPr id="8" name="텍스트 개체 틀 19">
            <a:extLst>
              <a:ext uri="{FF2B5EF4-FFF2-40B4-BE49-F238E27FC236}">
                <a16:creationId xmlns:a16="http://schemas.microsoft.com/office/drawing/2014/main" id="{D6F6D115-005D-4CE6-B0D5-858590AFF805}"/>
              </a:ext>
            </a:extLst>
          </p:cNvPr>
          <p:cNvSpPr txBox="1">
            <a:spLocks/>
          </p:cNvSpPr>
          <p:nvPr/>
        </p:nvSpPr>
        <p:spPr>
          <a:xfrm>
            <a:off x="673656" y="1092042"/>
            <a:ext cx="1606604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HTTP/1.0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CAEB11B-D879-4BDA-AB87-43674D7A04B7}"/>
              </a:ext>
            </a:extLst>
          </p:cNvPr>
          <p:cNvSpPr txBox="1">
            <a:spLocks noChangeArrowheads="1"/>
          </p:cNvSpPr>
          <p:nvPr/>
        </p:nvSpPr>
        <p:spPr>
          <a:xfrm>
            <a:off x="2711624" y="2716540"/>
            <a:ext cx="5544964" cy="62728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요청된 객체의 헤더만 전송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 정보 확인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상태 체크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버전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최종 수정 일자 확인 등 관리 목적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12" name="텍스트 개체 틀 19">
            <a:extLst>
              <a:ext uri="{FF2B5EF4-FFF2-40B4-BE49-F238E27FC236}">
                <a16:creationId xmlns:a16="http://schemas.microsoft.com/office/drawing/2014/main" id="{17E1FEEF-1E54-4FF7-B8F4-5A9448BB65AD}"/>
              </a:ext>
            </a:extLst>
          </p:cNvPr>
          <p:cNvSpPr txBox="1">
            <a:spLocks/>
          </p:cNvSpPr>
          <p:nvPr/>
        </p:nvSpPr>
        <p:spPr>
          <a:xfrm>
            <a:off x="673656" y="3468529"/>
            <a:ext cx="1606604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HTTP/1.1</a:t>
            </a: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75AC6D2-6F9C-4FBC-A7C2-EE1C20D5E97A}"/>
              </a:ext>
            </a:extLst>
          </p:cNvPr>
          <p:cNvSpPr txBox="1">
            <a:spLocks noChangeArrowheads="1"/>
          </p:cNvSpPr>
          <p:nvPr/>
        </p:nvSpPr>
        <p:spPr>
          <a:xfrm>
            <a:off x="2711624" y="4558268"/>
            <a:ext cx="5544964" cy="62728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객체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Body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파일을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URL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필드에 지정한 경로상에 </a:t>
            </a:r>
            <a:b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업로드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부분 업데이트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29602177-A893-4355-9967-BECE04DA3AB8}"/>
              </a:ext>
            </a:extLst>
          </p:cNvPr>
          <p:cNvSpPr txBox="1">
            <a:spLocks noChangeArrowheads="1"/>
          </p:cNvSpPr>
          <p:nvPr/>
        </p:nvSpPr>
        <p:spPr>
          <a:xfrm>
            <a:off x="2711624" y="5229200"/>
            <a:ext cx="5544964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URL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필드에 지정된 파일을 지움</a:t>
            </a:r>
          </a:p>
        </p:txBody>
      </p:sp>
      <p:sp>
        <p:nvSpPr>
          <p:cNvPr id="17" name="사각형: 잘린 대각선 방향 모서리 16">
            <a:extLst>
              <a:ext uri="{FF2B5EF4-FFF2-40B4-BE49-F238E27FC236}">
                <a16:creationId xmlns:a16="http://schemas.microsoft.com/office/drawing/2014/main" id="{2B893DF3-F0D0-4BF9-8D00-6FF0FE000EE3}"/>
              </a:ext>
            </a:extLst>
          </p:cNvPr>
          <p:cNvSpPr/>
          <p:nvPr/>
        </p:nvSpPr>
        <p:spPr>
          <a:xfrm>
            <a:off x="658813" y="1482983"/>
            <a:ext cx="2008187" cy="521374"/>
          </a:xfrm>
          <a:prstGeom prst="snip2Diag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 algn="ctr">
              <a:lnSpc>
                <a:spcPct val="130000"/>
              </a:lnSpc>
              <a:spcBef>
                <a:spcPts val="8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</a:rPr>
              <a:t>GET</a:t>
            </a:r>
          </a:p>
        </p:txBody>
      </p:sp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CC92540C-3C3E-4749-BD76-16E77D68189B}"/>
              </a:ext>
            </a:extLst>
          </p:cNvPr>
          <p:cNvSpPr/>
          <p:nvPr/>
        </p:nvSpPr>
        <p:spPr>
          <a:xfrm>
            <a:off x="658813" y="2065913"/>
            <a:ext cx="2008187" cy="521374"/>
          </a:xfrm>
          <a:prstGeom prst="snip2Diag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 algn="ctr">
              <a:lnSpc>
                <a:spcPct val="130000"/>
              </a:lnSpc>
              <a:spcBef>
                <a:spcPts val="8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</a:rPr>
              <a:t>POST</a:t>
            </a:r>
          </a:p>
        </p:txBody>
      </p:sp>
      <p:sp>
        <p:nvSpPr>
          <p:cNvPr id="19" name="사각형: 잘린 대각선 방향 모서리 18">
            <a:extLst>
              <a:ext uri="{FF2B5EF4-FFF2-40B4-BE49-F238E27FC236}">
                <a16:creationId xmlns:a16="http://schemas.microsoft.com/office/drawing/2014/main" id="{1B822F31-FE19-43AB-9C9B-A2E1574D87A6}"/>
              </a:ext>
            </a:extLst>
          </p:cNvPr>
          <p:cNvSpPr/>
          <p:nvPr/>
        </p:nvSpPr>
        <p:spPr>
          <a:xfrm>
            <a:off x="658813" y="2648843"/>
            <a:ext cx="2008187" cy="521374"/>
          </a:xfrm>
          <a:prstGeom prst="snip2Diag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 algn="ctr">
              <a:lnSpc>
                <a:spcPct val="130000"/>
              </a:lnSpc>
              <a:spcBef>
                <a:spcPts val="8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</a:rPr>
              <a:t>HEAD</a:t>
            </a:r>
          </a:p>
        </p:txBody>
      </p:sp>
      <p:sp>
        <p:nvSpPr>
          <p:cNvPr id="20" name="사각형: 잘린 대각선 방향 모서리 19">
            <a:extLst>
              <a:ext uri="{FF2B5EF4-FFF2-40B4-BE49-F238E27FC236}">
                <a16:creationId xmlns:a16="http://schemas.microsoft.com/office/drawing/2014/main" id="{CE8B0895-141C-4846-8690-06079EA515CA}"/>
              </a:ext>
            </a:extLst>
          </p:cNvPr>
          <p:cNvSpPr/>
          <p:nvPr/>
        </p:nvSpPr>
        <p:spPr>
          <a:xfrm>
            <a:off x="658813" y="3921383"/>
            <a:ext cx="2015807" cy="521374"/>
          </a:xfrm>
          <a:prstGeom prst="snip2DiagRect">
            <a:avLst/>
          </a:prstGeom>
          <a:solidFill>
            <a:schemeClr val="bg1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0" lvl="2" algn="ctr">
              <a:lnSpc>
                <a:spcPct val="130000"/>
              </a:lnSpc>
              <a:spcBef>
                <a:spcPts val="8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</a:rPr>
              <a:t>GET, POST, HEAD</a:t>
            </a:r>
          </a:p>
        </p:txBody>
      </p:sp>
      <p:sp>
        <p:nvSpPr>
          <p:cNvPr id="21" name="사각형: 잘린 대각선 방향 모서리 20">
            <a:extLst>
              <a:ext uri="{FF2B5EF4-FFF2-40B4-BE49-F238E27FC236}">
                <a16:creationId xmlns:a16="http://schemas.microsoft.com/office/drawing/2014/main" id="{889C3D1E-1046-47FD-A39A-25525BF2F317}"/>
              </a:ext>
            </a:extLst>
          </p:cNvPr>
          <p:cNvSpPr/>
          <p:nvPr/>
        </p:nvSpPr>
        <p:spPr>
          <a:xfrm>
            <a:off x="658813" y="4530983"/>
            <a:ext cx="2015807" cy="521374"/>
          </a:xfrm>
          <a:prstGeom prst="snip2DiagRect">
            <a:avLst/>
          </a:prstGeom>
          <a:solidFill>
            <a:schemeClr val="bg1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 algn="ctr">
              <a:lnSpc>
                <a:spcPct val="130000"/>
              </a:lnSpc>
              <a:spcBef>
                <a:spcPts val="8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</a:rPr>
              <a:t>PUT, PATCH</a:t>
            </a:r>
          </a:p>
        </p:txBody>
      </p:sp>
      <p:sp>
        <p:nvSpPr>
          <p:cNvPr id="22" name="사각형: 잘린 대각선 방향 모서리 21">
            <a:extLst>
              <a:ext uri="{FF2B5EF4-FFF2-40B4-BE49-F238E27FC236}">
                <a16:creationId xmlns:a16="http://schemas.microsoft.com/office/drawing/2014/main" id="{DC63ADB5-1F6A-406E-B6DD-5BDD35602346}"/>
              </a:ext>
            </a:extLst>
          </p:cNvPr>
          <p:cNvSpPr/>
          <p:nvPr/>
        </p:nvSpPr>
        <p:spPr>
          <a:xfrm>
            <a:off x="658813" y="5140583"/>
            <a:ext cx="2015807" cy="521374"/>
          </a:xfrm>
          <a:prstGeom prst="snip2DiagRect">
            <a:avLst/>
          </a:prstGeom>
          <a:solidFill>
            <a:schemeClr val="bg1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 algn="ctr">
              <a:lnSpc>
                <a:spcPct val="130000"/>
              </a:lnSpc>
              <a:spcBef>
                <a:spcPts val="8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</a:rPr>
              <a:t>DELETE</a:t>
            </a:r>
          </a:p>
        </p:txBody>
      </p:sp>
      <p:sp>
        <p:nvSpPr>
          <p:cNvPr id="23" name="사각형: 잘린 대각선 방향 모서리 22">
            <a:extLst>
              <a:ext uri="{FF2B5EF4-FFF2-40B4-BE49-F238E27FC236}">
                <a16:creationId xmlns:a16="http://schemas.microsoft.com/office/drawing/2014/main" id="{49BEF99E-6A4C-43CE-8220-5D834729654A}"/>
              </a:ext>
            </a:extLst>
          </p:cNvPr>
          <p:cNvSpPr/>
          <p:nvPr/>
        </p:nvSpPr>
        <p:spPr>
          <a:xfrm>
            <a:off x="658813" y="5750183"/>
            <a:ext cx="3303587" cy="521374"/>
          </a:xfrm>
          <a:prstGeom prst="snip2DiagRect">
            <a:avLst/>
          </a:prstGeom>
          <a:solidFill>
            <a:schemeClr val="bg1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 algn="ctr">
              <a:lnSpc>
                <a:spcPct val="130000"/>
              </a:lnSpc>
              <a:spcBef>
                <a:spcPts val="8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</a:rPr>
              <a:t>TRACE, CONNECT, OPTIONS</a:t>
            </a:r>
          </a:p>
        </p:txBody>
      </p:sp>
    </p:spTree>
    <p:extLst>
      <p:ext uri="{BB962C8B-B14F-4D97-AF65-F5344CB8AC3E}">
        <p14:creationId xmlns:p14="http://schemas.microsoft.com/office/powerpoint/2010/main" val="2178922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HTTP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응답 메시지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32</a:t>
            </a:fld>
            <a:endParaRPr lang="en-US" dirty="0"/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4CCFFCCE-5ADC-40DB-A299-44E96ABEF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318" y="1187277"/>
            <a:ext cx="4953600" cy="3437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HTTP/1.1 200 OK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Date: Sun, 26 Sep 2010 20:09:20 GMT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Server: Apache/2.0.52 (CentOS)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Last-Modified: Tue, 30 Oct 2007 17:00:02 GMT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ETag: "17dc6-a5c-bf716880"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Accept-Ranges: bytes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Content-Length: 2652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Keep-Alive: timeout=10, max=100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Connection: Keep-Alive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Content-Type: text/html; charset=ISO-8859-1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r</a:t>
            </a:r>
            <a:r>
              <a:rPr lang="en-US" altLang="ko-KR" sz="1400" b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\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n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data data data data data ... </a:t>
            </a: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6C45C56C-D929-4CF1-B2A9-7A3A8BE8F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449" y="1187768"/>
            <a:ext cx="1898333" cy="909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2" algn="r">
              <a:lnSpc>
                <a:spcPct val="130000"/>
              </a:lnSpc>
              <a:spcBef>
                <a:spcPts val="800"/>
              </a:spcBef>
              <a:buClrTx/>
              <a:buSzTx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상태 라인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(status line)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프로토콜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상태 코드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상태 문장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)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516B57C-FC1A-49B2-B96C-9FC2961E8A1D}"/>
              </a:ext>
            </a:extLst>
          </p:cNvPr>
          <p:cNvGrpSpPr/>
          <p:nvPr/>
        </p:nvGrpSpPr>
        <p:grpSpPr>
          <a:xfrm>
            <a:off x="2587966" y="1335713"/>
            <a:ext cx="444276" cy="68584"/>
            <a:chOff x="2764706" y="4743123"/>
            <a:chExt cx="444276" cy="68584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BF79E3C-308D-4E5B-93BD-22A0A18FD10C}"/>
                </a:ext>
              </a:extLst>
            </p:cNvPr>
            <p:cNvCxnSpPr>
              <a:cxnSpLocks/>
            </p:cNvCxnSpPr>
            <p:nvPr/>
          </p:nvCxnSpPr>
          <p:spPr>
            <a:xfrm>
              <a:off x="2764706" y="4784996"/>
              <a:ext cx="375692" cy="0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3FA83B8-5BD9-4394-94DE-DEBFFF8B6B84}"/>
                </a:ext>
              </a:extLst>
            </p:cNvPr>
            <p:cNvSpPr/>
            <p:nvPr/>
          </p:nvSpPr>
          <p:spPr>
            <a:xfrm>
              <a:off x="3140398" y="4743123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11" name="TextBox 1">
            <a:extLst>
              <a:ext uri="{FF2B5EF4-FFF2-40B4-BE49-F238E27FC236}">
                <a16:creationId xmlns:a16="http://schemas.microsoft.com/office/drawing/2014/main" id="{13C24648-5EF6-4388-A9EC-90DAC9E9F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5949280"/>
            <a:ext cx="4506913" cy="48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* Check out the online interactive exercises for more   </a:t>
            </a:r>
            <a:b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 examples: http://gaia.cs.umass.edu/kurose_ross/interactive/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6933F17-8EDB-4E7A-B81B-71660083CCCE}"/>
              </a:ext>
            </a:extLst>
          </p:cNvPr>
          <p:cNvCxnSpPr>
            <a:cxnSpLocks/>
          </p:cNvCxnSpPr>
          <p:nvPr/>
        </p:nvCxnSpPr>
        <p:spPr>
          <a:xfrm>
            <a:off x="2553086" y="4443958"/>
            <a:ext cx="375692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502B3DB9-D9F8-41C4-98BD-3D0E0117A6C1}"/>
              </a:ext>
            </a:extLst>
          </p:cNvPr>
          <p:cNvSpPr/>
          <p:nvPr/>
        </p:nvSpPr>
        <p:spPr>
          <a:xfrm>
            <a:off x="2928778" y="4402085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srgbClr val="105BA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598EB6A-94D9-4314-9390-7555362386B4}"/>
              </a:ext>
            </a:extLst>
          </p:cNvPr>
          <p:cNvCxnSpPr>
            <a:cxnSpLocks/>
          </p:cNvCxnSpPr>
          <p:nvPr/>
        </p:nvCxnSpPr>
        <p:spPr>
          <a:xfrm>
            <a:off x="2588646" y="2926032"/>
            <a:ext cx="267419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16" name="왼쪽 중괄호 15">
            <a:extLst>
              <a:ext uri="{FF2B5EF4-FFF2-40B4-BE49-F238E27FC236}">
                <a16:creationId xmlns:a16="http://schemas.microsoft.com/office/drawing/2014/main" id="{F9EC7BD1-8438-4E00-BA75-5B6CC502DF2B}"/>
              </a:ext>
            </a:extLst>
          </p:cNvPr>
          <p:cNvSpPr/>
          <p:nvPr/>
        </p:nvSpPr>
        <p:spPr>
          <a:xfrm>
            <a:off x="2887180" y="1670050"/>
            <a:ext cx="171450" cy="2520950"/>
          </a:xfrm>
          <a:prstGeom prst="leftBrace">
            <a:avLst>
              <a:gd name="adj1" fmla="val 63889"/>
              <a:gd name="adj2" fmla="val 50000"/>
            </a:avLst>
          </a:prstGeom>
          <a:ln w="9525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 Box 8">
            <a:extLst>
              <a:ext uri="{FF2B5EF4-FFF2-40B4-BE49-F238E27FC236}">
                <a16:creationId xmlns:a16="http://schemas.microsoft.com/office/drawing/2014/main" id="{2304455E-E3B7-49A5-9EF8-4B339C247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293" y="2728466"/>
            <a:ext cx="1867489" cy="62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2" algn="r">
              <a:lnSpc>
                <a:spcPct val="130000"/>
              </a:lnSpc>
              <a:spcBef>
                <a:spcPts val="800"/>
              </a:spcBef>
              <a:buFontTx/>
              <a:buNone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헤더 라인 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(header lines)</a:t>
            </a:r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0CA276BF-B5EB-40C9-938D-2A08140AF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4240634"/>
            <a:ext cx="1947969" cy="62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2" algn="r">
              <a:lnSpc>
                <a:spcPct val="130000"/>
              </a:lnSpc>
              <a:spcBef>
                <a:spcPts val="800"/>
              </a:spcBef>
              <a:buFont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데이터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,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예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요청된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HTML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3875885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HTTP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응답의 상태 코드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6C4542-5359-41DF-BFA8-4D48D4A653D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2474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상태 코드가 서버에서 클라이언트로의 응답 메시지 첫 번째 줄에 표시된다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4439F3A-236A-4132-BA44-5C9A2A16ACA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60206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코드의 예</a:t>
            </a:r>
            <a:endParaRPr lang="en-US" altLang="ko-KR" sz="16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300B465-6CE0-42B3-B719-C2B867DF741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254326"/>
            <a:ext cx="697603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200 OK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요청이 성공했고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요청된 객체가 이 메시지 뒤에 보내진다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547CE92-D0D4-4197-934C-36BB4DEE49C3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068136"/>
            <a:ext cx="6976032" cy="7232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301 Moved Permanently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요청된 객체가 이동되었고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새 위치는 이 메시지 뒤에 표시되어 있다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(Location:)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5664A71-3992-43B1-B6CF-4F471403F0A9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900989"/>
            <a:ext cx="6976032" cy="7232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400 Bad Request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서버가 요청을 이해할 수 없다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2820200-131D-4D05-A91E-CDB729B7B51D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733842"/>
            <a:ext cx="6976032" cy="7232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404 Not Found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요청한 문서가 서버에 없다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66A1B74-8015-4D10-A74C-5884D011DA54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5566694"/>
            <a:ext cx="6976032" cy="3693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505 HTTP Version Not Supported</a:t>
            </a:r>
          </a:p>
        </p:txBody>
      </p:sp>
      <p:sp>
        <p:nvSpPr>
          <p:cNvPr id="14" name="Google Shape;245;p4">
            <a:extLst>
              <a:ext uri="{FF2B5EF4-FFF2-40B4-BE49-F238E27FC236}">
                <a16:creationId xmlns:a16="http://schemas.microsoft.com/office/drawing/2014/main" id="{47993FA1-4A5F-4275-A480-2DCD4E7A4A0B}"/>
              </a:ext>
            </a:extLst>
          </p:cNvPr>
          <p:cNvSpPr/>
          <p:nvPr/>
        </p:nvSpPr>
        <p:spPr>
          <a:xfrm>
            <a:off x="824940" y="2060848"/>
            <a:ext cx="7431648" cy="4092998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86081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5;p4">
            <a:extLst>
              <a:ext uri="{FF2B5EF4-FFF2-40B4-BE49-F238E27FC236}">
                <a16:creationId xmlns:a16="http://schemas.microsoft.com/office/drawing/2014/main" id="{D5983BFB-5E54-44BF-9216-0B47EDD08FC0}"/>
              </a:ext>
            </a:extLst>
          </p:cNvPr>
          <p:cNvSpPr/>
          <p:nvPr/>
        </p:nvSpPr>
        <p:spPr>
          <a:xfrm>
            <a:off x="695399" y="1940409"/>
            <a:ext cx="5930687" cy="1737069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사용자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-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서버 상태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쿠키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(cookies)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34</a:t>
            </a:fld>
            <a:endParaRPr lang="en-US" dirty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5F57EE30-2A2B-4BA7-9AFC-AC5102889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1052513"/>
            <a:ext cx="3373039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buFontTx/>
              <a:buNone/>
              <a:defRPr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많은 웹 사이트에서 쿠키를 사용한다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2EF8D92-A954-434E-AD88-008D583C435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55679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네 가지 요소</a:t>
            </a:r>
            <a:endParaRPr lang="en-US" altLang="ko-KR" sz="16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47A364F-10BE-4B9B-8B5F-D69FC3F0B244}"/>
              </a:ext>
            </a:extLst>
          </p:cNvPr>
          <p:cNvSpPr txBox="1">
            <a:spLocks noChangeArrowheads="1"/>
          </p:cNvSpPr>
          <p:nvPr/>
        </p:nvSpPr>
        <p:spPr>
          <a:xfrm>
            <a:off x="1271464" y="2047646"/>
            <a:ext cx="6522720" cy="149868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응답 메시지의 쿠키 헤더 라인</a:t>
            </a:r>
          </a:p>
          <a:p>
            <a:pPr marL="0" lvl="3" indent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다음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 메시지의 쿠키 헤더 라인</a:t>
            </a:r>
          </a:p>
          <a:p>
            <a:pPr marL="0" lvl="3" indent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사용자 호스트에 저장된 쿠키 파일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브라우저가 관리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  <a:p>
            <a:pPr marL="0" lvl="3" indent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웹 사이트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백엔드의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데이터베이스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83E2798B-4DC6-40B7-ADB9-AB4D71C78646}"/>
              </a:ext>
            </a:extLst>
          </p:cNvPr>
          <p:cNvSpPr/>
          <p:nvPr/>
        </p:nvSpPr>
        <p:spPr>
          <a:xfrm>
            <a:off x="982663" y="2133942"/>
            <a:ext cx="250825" cy="250825"/>
          </a:xfrm>
          <a:prstGeom prst="ellipse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</a:rPr>
              <a:t>1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ea typeface="넥슨Lv1고딕 Bold" panose="00000800000000000000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3002FA1-69CE-4971-89A5-52B20DB97E86}"/>
              </a:ext>
            </a:extLst>
          </p:cNvPr>
          <p:cNvSpPr/>
          <p:nvPr/>
        </p:nvSpPr>
        <p:spPr>
          <a:xfrm>
            <a:off x="982663" y="2510180"/>
            <a:ext cx="250825" cy="250825"/>
          </a:xfrm>
          <a:prstGeom prst="ellipse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</a:rPr>
              <a:t>2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ea typeface="넥슨Lv1고딕 Bold" panose="00000800000000000000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EBCA1B1-C5F5-40E1-B64A-7F9B04C629EC}"/>
              </a:ext>
            </a:extLst>
          </p:cNvPr>
          <p:cNvSpPr/>
          <p:nvPr/>
        </p:nvSpPr>
        <p:spPr>
          <a:xfrm>
            <a:off x="982663" y="2886418"/>
            <a:ext cx="250825" cy="250825"/>
          </a:xfrm>
          <a:prstGeom prst="ellipse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</a:rPr>
              <a:t>3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ea typeface="넥슨Lv1고딕 Bold" panose="00000800000000000000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10311A2-02A8-4358-9DE3-2DE577FBBD6A}"/>
              </a:ext>
            </a:extLst>
          </p:cNvPr>
          <p:cNvSpPr/>
          <p:nvPr/>
        </p:nvSpPr>
        <p:spPr>
          <a:xfrm>
            <a:off x="982663" y="3262656"/>
            <a:ext cx="250825" cy="250825"/>
          </a:xfrm>
          <a:prstGeom prst="ellipse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</a:rPr>
              <a:t>4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ea typeface="넥슨Lv1고딕 Bold" panose="00000800000000000000" pitchFamily="2" charset="-127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3BF01DF-CC00-4685-8EAE-D3FA600A309F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80317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예시</a:t>
            </a:r>
            <a:endParaRPr lang="en-US" altLang="ko-KR" sz="16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33154BC-CFEB-458F-A17D-1D294ACF14A3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222415"/>
            <a:ext cx="6976032" cy="10581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Susan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은 항상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PC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에서 인터넷에 접속한다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특정 전자상거래 사이트에 처음으로 접속한다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최초의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요청이 도착하면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웹 사이트는 다음을 생성한다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415851AE-EFA9-4D68-84E3-518159EDB775}"/>
              </a:ext>
            </a:extLst>
          </p:cNvPr>
          <p:cNvSpPr txBox="1">
            <a:spLocks noChangeArrowheads="1"/>
          </p:cNvSpPr>
          <p:nvPr/>
        </p:nvSpPr>
        <p:spPr>
          <a:xfrm>
            <a:off x="1138274" y="5340964"/>
            <a:ext cx="697603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Font typeface="G마켓 산스 TTF Medium" panose="02000000000000000000" pitchFamily="2" charset="-127"/>
              <a:buChar char="‐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고유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ID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Font typeface="G마켓 산스 TTF Medium" panose="02000000000000000000" pitchFamily="2" charset="-127"/>
              <a:buChar char="‐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이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ID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에 대한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백엔드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데이터베이스의 엔트리</a:t>
            </a:r>
          </a:p>
        </p:txBody>
      </p:sp>
    </p:spTree>
    <p:extLst>
      <p:ext uri="{BB962C8B-B14F-4D97-AF65-F5344CB8AC3E}">
        <p14:creationId xmlns:p14="http://schemas.microsoft.com/office/powerpoint/2010/main" val="233948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쿠키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“</a:t>
            </a:r>
            <a:r>
              <a:rPr lang="ko-KR" altLang="en-US" spc="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상태”를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유지한다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(cont.)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35</a:t>
            </a:fld>
            <a:endParaRPr lang="en-US" dirty="0"/>
          </a:p>
        </p:txBody>
      </p:sp>
      <p:sp>
        <p:nvSpPr>
          <p:cNvPr id="18" name="Text Box 59">
            <a:extLst>
              <a:ext uri="{FF2B5EF4-FFF2-40B4-BE49-F238E27FC236}">
                <a16:creationId xmlns:a16="http://schemas.microsoft.com/office/drawing/2014/main" id="{047E45C4-41CB-42CF-9970-0C5E48AB1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18" y="2645296"/>
            <a:ext cx="141135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쿠키 파일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B6C7C94E-20FD-477C-B67C-9C6BC93E09E6}"/>
              </a:ext>
            </a:extLst>
          </p:cNvPr>
          <p:cNvGrpSpPr/>
          <p:nvPr/>
        </p:nvGrpSpPr>
        <p:grpSpPr>
          <a:xfrm>
            <a:off x="2164055" y="4222846"/>
            <a:ext cx="2728643" cy="629477"/>
            <a:chOff x="2164055" y="4222846"/>
            <a:chExt cx="2728643" cy="629477"/>
          </a:xfrm>
        </p:grpSpPr>
        <p:sp>
          <p:nvSpPr>
            <p:cNvPr id="97" name="Line 9">
              <a:extLst>
                <a:ext uri="{FF2B5EF4-FFF2-40B4-BE49-F238E27FC236}">
                  <a16:creationId xmlns:a16="http://schemas.microsoft.com/office/drawing/2014/main" id="{60D76BC4-6B6B-44B7-B808-AF7376327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4055" y="4222846"/>
              <a:ext cx="2728643" cy="629477"/>
            </a:xfrm>
            <a:prstGeom prst="line">
              <a:avLst/>
            </a:prstGeom>
            <a:noFill/>
            <a:ln w="19050">
              <a:solidFill>
                <a:schemeClr val="bg2">
                  <a:lumMod val="10000"/>
                </a:schemeClr>
              </a:solidFill>
              <a:round/>
              <a:headEnd/>
              <a:tailEnd type="triangle"/>
            </a:ln>
          </p:spPr>
          <p:txBody>
            <a:bodyPr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 Box 19">
              <a:extLst>
                <a:ext uri="{FF2B5EF4-FFF2-40B4-BE49-F238E27FC236}">
                  <a16:creationId xmlns:a16="http://schemas.microsoft.com/office/drawing/2014/main" id="{4A5AA0C5-076F-452C-BAFE-D0796A64F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306" y="4455630"/>
              <a:ext cx="1960644" cy="3698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spcBef>
                  <a:spcPct val="0"/>
                </a:spcBef>
                <a:buClrTx/>
                <a:buFont typeface="Arial"/>
                <a:defRPr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300"/>
                <a:t>일반적 </a:t>
              </a:r>
              <a:r>
                <a:rPr lang="en-US" altLang="ko-KR" sz="1300"/>
                <a:t>http </a:t>
              </a:r>
              <a:r>
                <a:rPr lang="ko-KR" altLang="en-US" sz="1300"/>
                <a:t>응답 메시지</a:t>
              </a:r>
              <a:endParaRPr lang="en-US" altLang="ko-KR" sz="1300" dirty="0"/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92BB2660-0B8E-4CD9-A8A2-04A82307C88D}"/>
              </a:ext>
            </a:extLst>
          </p:cNvPr>
          <p:cNvGrpSpPr/>
          <p:nvPr/>
        </p:nvGrpSpPr>
        <p:grpSpPr>
          <a:xfrm>
            <a:off x="2164055" y="5698176"/>
            <a:ext cx="2728643" cy="629477"/>
            <a:chOff x="2164055" y="5698176"/>
            <a:chExt cx="2728643" cy="629477"/>
          </a:xfrm>
        </p:grpSpPr>
        <p:sp>
          <p:nvSpPr>
            <p:cNvPr id="99" name="Line 9">
              <a:extLst>
                <a:ext uri="{FF2B5EF4-FFF2-40B4-BE49-F238E27FC236}">
                  <a16:creationId xmlns:a16="http://schemas.microsoft.com/office/drawing/2014/main" id="{AA541302-B2C3-4549-840C-85C8396893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4055" y="5698176"/>
              <a:ext cx="2728643" cy="629477"/>
            </a:xfrm>
            <a:prstGeom prst="line">
              <a:avLst/>
            </a:prstGeom>
            <a:noFill/>
            <a:ln w="19050">
              <a:solidFill>
                <a:schemeClr val="bg2">
                  <a:lumMod val="10000"/>
                </a:schemeClr>
              </a:solidFill>
              <a:round/>
              <a:headEnd/>
              <a:tailEnd type="triangle"/>
            </a:ln>
          </p:spPr>
          <p:txBody>
            <a:bodyPr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 Box 27">
              <a:extLst>
                <a:ext uri="{FF2B5EF4-FFF2-40B4-BE49-F238E27FC236}">
                  <a16:creationId xmlns:a16="http://schemas.microsoft.com/office/drawing/2014/main" id="{EB4367E3-C73D-44CC-8B05-51C8BEB1F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306" y="5964784"/>
              <a:ext cx="1961557" cy="292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spcBef>
                  <a:spcPct val="0"/>
                </a:spcBef>
                <a:buClrTx/>
                <a:buFont typeface="Arial"/>
                <a:defRPr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/>
                <a:t>일반적 </a:t>
              </a:r>
              <a:r>
                <a:rPr lang="en-US" altLang="ko-KR" dirty="0"/>
                <a:t>http </a:t>
              </a:r>
              <a:r>
                <a:rPr lang="ko-KR" altLang="en-US"/>
                <a:t>응답 메시지</a:t>
              </a:r>
              <a:endParaRPr lang="en-US" altLang="ko-KR" dirty="0"/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76928FC6-7DF9-4F6A-BFD5-8133193E8317}"/>
              </a:ext>
            </a:extLst>
          </p:cNvPr>
          <p:cNvGrpSpPr/>
          <p:nvPr/>
        </p:nvGrpSpPr>
        <p:grpSpPr>
          <a:xfrm>
            <a:off x="2095189" y="3736726"/>
            <a:ext cx="5247447" cy="569110"/>
            <a:chOff x="2095189" y="3736726"/>
            <a:chExt cx="5247447" cy="569110"/>
          </a:xfrm>
        </p:grpSpPr>
        <p:sp>
          <p:nvSpPr>
            <p:cNvPr id="96" name="Line 4">
              <a:extLst>
                <a:ext uri="{FF2B5EF4-FFF2-40B4-BE49-F238E27FC236}">
                  <a16:creationId xmlns:a16="http://schemas.microsoft.com/office/drawing/2014/main" id="{AD8540AF-E467-4925-925C-907BE996AD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189" y="3736726"/>
              <a:ext cx="2809047" cy="313841"/>
            </a:xfrm>
            <a:prstGeom prst="line">
              <a:avLst/>
            </a:prstGeom>
            <a:noFill/>
            <a:ln w="19050">
              <a:solidFill>
                <a:schemeClr val="bg2">
                  <a:lumMod val="10000"/>
                </a:schemeClr>
              </a:solidFill>
              <a:round/>
              <a:headEnd/>
              <a:tailEnd type="triangle"/>
            </a:ln>
          </p:spPr>
          <p:txBody>
            <a:bodyPr anchor="ctr"/>
            <a:lstStyle/>
            <a:p>
              <a:pPr algn="ctr"/>
              <a:endParaRPr lang="ko-KR" altLang="en-US"/>
            </a:p>
          </p:txBody>
        </p: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BECED96F-1090-416E-8A85-E26515D8A0B1}"/>
                </a:ext>
              </a:extLst>
            </p:cNvPr>
            <p:cNvGrpSpPr/>
            <p:nvPr/>
          </p:nvGrpSpPr>
          <p:grpSpPr>
            <a:xfrm>
              <a:off x="2495306" y="3741744"/>
              <a:ext cx="4847330" cy="564092"/>
              <a:chOff x="2495306" y="3741744"/>
              <a:chExt cx="4847330" cy="564092"/>
            </a:xfrm>
          </p:grpSpPr>
          <p:sp>
            <p:nvSpPr>
              <p:cNvPr id="23" name="Text Box 28">
                <a:extLst>
                  <a:ext uri="{FF2B5EF4-FFF2-40B4-BE49-F238E27FC236}">
                    <a16:creationId xmlns:a16="http://schemas.microsoft.com/office/drawing/2014/main" id="{FD1684E5-FC20-49D0-BBAD-30F3E36E7F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5245" y="3797424"/>
                <a:ext cx="1261158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3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쿠키에</a:t>
                </a:r>
                <a:endParaRPr lang="en-US" altLang="ko-KR" sz="13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3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해당하는 동작</a:t>
                </a:r>
                <a:endParaRPr lang="en-US" altLang="ko-KR" sz="13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24" name="Line 42">
                <a:extLst>
                  <a:ext uri="{FF2B5EF4-FFF2-40B4-BE49-F238E27FC236}">
                    <a16:creationId xmlns:a16="http://schemas.microsoft.com/office/drawing/2014/main" id="{E58A14A0-6548-42E8-8FB3-E2596C441D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57663" y="3882887"/>
                <a:ext cx="1084973" cy="212034"/>
              </a:xfrm>
              <a:prstGeom prst="line">
                <a:avLst/>
              </a:prstGeom>
              <a:noFill/>
              <a:ln w="19050">
                <a:solidFill>
                  <a:schemeClr val="tx2">
                    <a:lumMod val="50000"/>
                  </a:schemeClr>
                </a:solidFill>
                <a:round/>
                <a:headEnd type="triangle"/>
                <a:tailEnd type="triangle"/>
              </a:ln>
            </p:spPr>
            <p:txBody>
              <a:bodyPr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Text Box 43">
                <a:extLst>
                  <a:ext uri="{FF2B5EF4-FFF2-40B4-BE49-F238E27FC236}">
                    <a16:creationId xmlns:a16="http://schemas.microsoft.com/office/drawing/2014/main" id="{49A382AF-C546-4AF1-AC66-0A26D529FE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8778" y="4013448"/>
                <a:ext cx="498855" cy="292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0"/>
                  </a:spcBef>
                  <a:buClrTx/>
                </a:pPr>
                <a:r>
                  <a:rPr lang="ko-KR" altLang="en-US" sz="13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접속</a:t>
                </a:r>
                <a:endParaRPr lang="en-US" altLang="ko-KR" sz="13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2" name="Text Box 15">
                <a:extLst>
                  <a:ext uri="{FF2B5EF4-FFF2-40B4-BE49-F238E27FC236}">
                    <a16:creationId xmlns:a16="http://schemas.microsoft.com/office/drawing/2014/main" id="{FDED70AE-1AC3-4BE1-82B0-5BF0FB72CB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5306" y="3741744"/>
                <a:ext cx="1960644" cy="5232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algn="ctr">
                  <a:spcBef>
                    <a:spcPct val="0"/>
                  </a:spcBef>
                  <a:buClrTx/>
                  <a:buFont typeface="Arial"/>
                  <a:defRPr sz="14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ko-KR" altLang="en-US" sz="1300"/>
                  <a:t>일반적 </a:t>
                </a:r>
                <a:r>
                  <a:rPr lang="en-US" altLang="ko-KR" sz="1300" dirty="0"/>
                  <a:t>http </a:t>
                </a:r>
                <a:r>
                  <a:rPr lang="ko-KR" altLang="en-US" sz="1300"/>
                  <a:t>요청 메시지</a:t>
                </a:r>
                <a:endParaRPr lang="en-US" altLang="ko-KR" sz="1300" dirty="0"/>
              </a:p>
              <a:p>
                <a:r>
                  <a:rPr lang="en-US" altLang="ko-KR" sz="1300" dirty="0"/>
                  <a:t>cookie: 1678</a:t>
                </a:r>
              </a:p>
            </p:txBody>
          </p:sp>
        </p:grpSp>
      </p:grpSp>
      <p:sp>
        <p:nvSpPr>
          <p:cNvPr id="29" name="AutoShape 67">
            <a:extLst>
              <a:ext uri="{FF2B5EF4-FFF2-40B4-BE49-F238E27FC236}">
                <a16:creationId xmlns:a16="http://schemas.microsoft.com/office/drawing/2014/main" id="{5E65B341-914E-4271-9019-F49B5795C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2153477"/>
            <a:ext cx="1417983" cy="486535"/>
          </a:xfrm>
          <a:prstGeom prst="can">
            <a:avLst>
              <a:gd name="adj" fmla="val 25000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0" name="Text Box 60">
            <a:extLst>
              <a:ext uri="{FF2B5EF4-FFF2-40B4-BE49-F238E27FC236}">
                <a16:creationId xmlns:a16="http://schemas.microsoft.com/office/drawing/2014/main" id="{C16CF17D-FC6C-484D-B1D7-430F205F7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301" y="2285256"/>
            <a:ext cx="100700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ebay 8734</a:t>
            </a: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2F6F94FD-0601-49E4-AB3C-BE628CD76380}"/>
              </a:ext>
            </a:extLst>
          </p:cNvPr>
          <p:cNvGrpSpPr/>
          <p:nvPr/>
        </p:nvGrpSpPr>
        <p:grpSpPr>
          <a:xfrm>
            <a:off x="2095189" y="2285256"/>
            <a:ext cx="5260699" cy="1120553"/>
            <a:chOff x="2095189" y="2285256"/>
            <a:chExt cx="5260699" cy="1120553"/>
          </a:xfrm>
        </p:grpSpPr>
        <p:sp>
          <p:nvSpPr>
            <p:cNvPr id="34" name="Text Box 31">
              <a:extLst>
                <a:ext uri="{FF2B5EF4-FFF2-40B4-BE49-F238E27FC236}">
                  <a16:creationId xmlns:a16="http://schemas.microsoft.com/office/drawing/2014/main" id="{DC1ACFF7-A216-41B6-9C32-1F2E5D372B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786" y="2357264"/>
              <a:ext cx="1534077" cy="6924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Amazon </a:t>
              </a:r>
              <a:r>
                <a:rPr lang="ko-KR" altLang="en-US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서버가</a:t>
              </a:r>
              <a:endPara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3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사용자를 </a:t>
              </a:r>
              <a:r>
                <a:rPr lang="ko-KR" altLang="en-US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위해 </a:t>
              </a:r>
              <a:endPara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3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ID </a:t>
              </a: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1678 </a:t>
              </a:r>
              <a:r>
                <a:rPr lang="ko-KR" altLang="en-US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생성</a:t>
              </a:r>
              <a:endPara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6" name="Line 40">
              <a:extLst>
                <a:ext uri="{FF2B5EF4-FFF2-40B4-BE49-F238E27FC236}">
                  <a16:creationId xmlns:a16="http://schemas.microsoft.com/office/drawing/2014/main" id="{1FC5966F-EDA4-4A78-BFF6-99EE3936B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8395" y="2686740"/>
              <a:ext cx="1047493" cy="719069"/>
            </a:xfrm>
            <a:prstGeom prst="line">
              <a:avLst/>
            </a:prstGeom>
            <a:noFill/>
            <a:ln w="19050">
              <a:solidFill>
                <a:schemeClr val="tx2">
                  <a:lumMod val="50000"/>
                </a:schemeClr>
              </a:solidFill>
              <a:round/>
              <a:headEnd/>
              <a:tailEnd type="triangle"/>
            </a:ln>
          </p:spPr>
          <p:txBody>
            <a:bodyPr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 Box 41">
              <a:extLst>
                <a:ext uri="{FF2B5EF4-FFF2-40B4-BE49-F238E27FC236}">
                  <a16:creationId xmlns:a16="http://schemas.microsoft.com/office/drawing/2014/main" id="{EA2B2B67-01C8-4428-AAA1-DE7CF9761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1945" y="2444667"/>
              <a:ext cx="892520" cy="555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ko-KR" altLang="en-US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엔트리</a:t>
              </a:r>
              <a:endPara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ko-KR" altLang="en-US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생성</a:t>
              </a:r>
              <a:endPara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2" name="Line 4">
              <a:extLst>
                <a:ext uri="{FF2B5EF4-FFF2-40B4-BE49-F238E27FC236}">
                  <a16:creationId xmlns:a16="http://schemas.microsoft.com/office/drawing/2014/main" id="{0871007B-BDB1-441E-98EA-1B90E6513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189" y="2303463"/>
              <a:ext cx="2809047" cy="313841"/>
            </a:xfrm>
            <a:prstGeom prst="line">
              <a:avLst/>
            </a:prstGeom>
            <a:noFill/>
            <a:ln w="19050">
              <a:solidFill>
                <a:schemeClr val="bg2">
                  <a:lumMod val="10000"/>
                </a:schemeClr>
              </a:solidFill>
              <a:round/>
              <a:headEnd/>
              <a:tailEnd type="triangle"/>
            </a:ln>
          </p:spPr>
          <p:txBody>
            <a:bodyPr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 Box 8">
              <a:extLst>
                <a:ext uri="{FF2B5EF4-FFF2-40B4-BE49-F238E27FC236}">
                  <a16:creationId xmlns:a16="http://schemas.microsoft.com/office/drawing/2014/main" id="{9D6DABD1-3675-4BC6-83AB-05919905F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044" y="2285256"/>
              <a:ext cx="1960879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buClr>
                  <a:srgbClr val="000000"/>
                </a:buClr>
                <a:buFont typeface="Arial"/>
                <a:defRPr sz="1400">
                  <a:solidFill>
                    <a:schemeClr val="lt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ct val="0"/>
                </a:spcBef>
                <a:buClrTx/>
              </a:pPr>
              <a:r>
                <a:rPr lang="ko-KR" altLang="en-US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</a:rPr>
                <a:t>일반적 </a:t>
              </a:r>
              <a:r>
                <a:rPr lang="en-US" altLang="ko-KR" sz="13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</a:rPr>
                <a:t>http </a:t>
              </a:r>
              <a:r>
                <a:rPr lang="ko-KR" altLang="en-US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</a:rPr>
                <a:t>요청 메시지</a:t>
              </a:r>
              <a:endPara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BD28AFD5-7BF4-4D4D-A540-2DBADC181B23}"/>
              </a:ext>
            </a:extLst>
          </p:cNvPr>
          <p:cNvGrpSpPr/>
          <p:nvPr/>
        </p:nvGrpSpPr>
        <p:grpSpPr>
          <a:xfrm>
            <a:off x="655104" y="2789583"/>
            <a:ext cx="4237594" cy="1000539"/>
            <a:chOff x="655104" y="2789583"/>
            <a:chExt cx="4237594" cy="1000539"/>
          </a:xfrm>
        </p:grpSpPr>
        <p:sp>
          <p:nvSpPr>
            <p:cNvPr id="43" name="AutoShape 74">
              <a:extLst>
                <a:ext uri="{FF2B5EF4-FFF2-40B4-BE49-F238E27FC236}">
                  <a16:creationId xmlns:a16="http://schemas.microsoft.com/office/drawing/2014/main" id="{E4FA7132-CEAE-4161-B39F-55DBC7586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446" y="3075328"/>
              <a:ext cx="1427768" cy="714794"/>
            </a:xfrm>
            <a:prstGeom prst="can">
              <a:avLst>
                <a:gd name="adj" fmla="val 25000"/>
              </a:avLst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44" name="Text Box 75">
              <a:extLst>
                <a:ext uri="{FF2B5EF4-FFF2-40B4-BE49-F238E27FC236}">
                  <a16:creationId xmlns:a16="http://schemas.microsoft.com/office/drawing/2014/main" id="{F859867B-9CAA-425D-B00D-AF17329AA8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104" y="3269191"/>
              <a:ext cx="143245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ebay 8734</a:t>
              </a:r>
            </a:p>
            <a:p>
              <a:pPr algn="ctr"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amazon 1678</a:t>
              </a:r>
            </a:p>
          </p:txBody>
        </p:sp>
        <p:sp>
          <p:nvSpPr>
            <p:cNvPr id="40" name="Line 9">
              <a:extLst>
                <a:ext uri="{FF2B5EF4-FFF2-40B4-BE49-F238E27FC236}">
                  <a16:creationId xmlns:a16="http://schemas.microsoft.com/office/drawing/2014/main" id="{4D45D116-6429-414E-973C-A5A2D12E7A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4055" y="2789583"/>
              <a:ext cx="2728643" cy="629477"/>
            </a:xfrm>
            <a:prstGeom prst="line">
              <a:avLst/>
            </a:prstGeom>
            <a:noFill/>
            <a:ln w="19050">
              <a:solidFill>
                <a:schemeClr val="bg2">
                  <a:lumMod val="10000"/>
                </a:schemeClr>
              </a:solidFill>
              <a:round/>
              <a:headEnd/>
              <a:tailEnd type="triangle"/>
            </a:ln>
          </p:spPr>
          <p:txBody>
            <a:bodyPr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 Box 11">
              <a:extLst>
                <a:ext uri="{FF2B5EF4-FFF2-40B4-BE49-F238E27FC236}">
                  <a16:creationId xmlns:a16="http://schemas.microsoft.com/office/drawing/2014/main" id="{5C1DFBEA-981F-473C-9E88-DBF66559A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306" y="2861320"/>
              <a:ext cx="1960644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spcBef>
                  <a:spcPct val="0"/>
                </a:spcBef>
                <a:buClrTx/>
                <a:buFont typeface="Arial"/>
                <a:defRPr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300"/>
                <a:t>일반적 </a:t>
              </a:r>
              <a:r>
                <a:rPr lang="en-US" altLang="ko-KR" sz="1300"/>
                <a:t>http </a:t>
              </a:r>
              <a:r>
                <a:rPr lang="ko-KR" altLang="en-US" sz="1300"/>
                <a:t>응답</a:t>
              </a:r>
              <a:r>
                <a:rPr lang="en-US" altLang="ko-KR" sz="1300" dirty="0"/>
                <a:t> </a:t>
              </a:r>
            </a:p>
            <a:p>
              <a:r>
                <a:rPr lang="en-US" altLang="ko-KR" sz="1300"/>
                <a:t>set-cookie : 1678</a:t>
              </a:r>
              <a:r>
                <a:rPr lang="en-US" altLang="ko-KR" sz="1300" dirty="0"/>
                <a:t> </a:t>
              </a: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C53A0E9B-ECD6-45FE-85D7-D668EA8915FD}"/>
              </a:ext>
            </a:extLst>
          </p:cNvPr>
          <p:cNvGrpSpPr/>
          <p:nvPr/>
        </p:nvGrpSpPr>
        <p:grpSpPr>
          <a:xfrm>
            <a:off x="2095189" y="4247321"/>
            <a:ext cx="5247446" cy="1609424"/>
            <a:chOff x="2095189" y="4247321"/>
            <a:chExt cx="5247446" cy="1609424"/>
          </a:xfrm>
        </p:grpSpPr>
        <p:sp>
          <p:nvSpPr>
            <p:cNvPr id="98" name="Line 4">
              <a:extLst>
                <a:ext uri="{FF2B5EF4-FFF2-40B4-BE49-F238E27FC236}">
                  <a16:creationId xmlns:a16="http://schemas.microsoft.com/office/drawing/2014/main" id="{2D062F7A-3833-425B-85E8-852E633BC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189" y="5212056"/>
              <a:ext cx="2809047" cy="313841"/>
            </a:xfrm>
            <a:prstGeom prst="line">
              <a:avLst/>
            </a:prstGeom>
            <a:noFill/>
            <a:ln w="19050">
              <a:solidFill>
                <a:schemeClr val="bg2">
                  <a:lumMod val="10000"/>
                </a:schemeClr>
              </a:solidFill>
              <a:round/>
              <a:headEnd/>
              <a:tailEnd type="triangle"/>
            </a:ln>
          </p:spPr>
          <p:txBody>
            <a:bodyPr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 Box 23">
              <a:extLst>
                <a:ext uri="{FF2B5EF4-FFF2-40B4-BE49-F238E27FC236}">
                  <a16:creationId xmlns:a16="http://schemas.microsoft.com/office/drawing/2014/main" id="{B04F7D53-7BA0-4DE6-89FF-C0761697C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306" y="5237584"/>
              <a:ext cx="1961557" cy="4924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spcBef>
                  <a:spcPct val="0"/>
                </a:spcBef>
                <a:buClrTx/>
                <a:buFont typeface="Arial"/>
                <a:defRPr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/>
                <a:t>일반적 </a:t>
              </a:r>
              <a:r>
                <a:rPr lang="en-US" altLang="ko-KR" dirty="0"/>
                <a:t>http </a:t>
              </a:r>
              <a:r>
                <a:rPr lang="ko-KR" altLang="en-US"/>
                <a:t>요청 메시지</a:t>
              </a:r>
              <a:endParaRPr lang="en-US" altLang="ko-KR" dirty="0"/>
            </a:p>
            <a:p>
              <a:r>
                <a:rPr lang="en-US" altLang="ko-KR" dirty="0"/>
                <a:t>cookie: 1678</a:t>
              </a:r>
            </a:p>
          </p:txBody>
        </p:sp>
        <p:sp>
          <p:nvSpPr>
            <p:cNvPr id="48" name="Text Box 29">
              <a:extLst>
                <a:ext uri="{FF2B5EF4-FFF2-40B4-BE49-F238E27FC236}">
                  <a16:creationId xmlns:a16="http://schemas.microsoft.com/office/drawing/2014/main" id="{8F499703-B901-4B93-B710-8BAA3DDD0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2265" y="5364302"/>
              <a:ext cx="1187118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쿠키에</a:t>
              </a:r>
              <a:endPara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해당하는 동작</a:t>
              </a:r>
              <a:endPara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9" name="Line 44">
              <a:extLst>
                <a:ext uri="{FF2B5EF4-FFF2-40B4-BE49-F238E27FC236}">
                  <a16:creationId xmlns:a16="http://schemas.microsoft.com/office/drawing/2014/main" id="{EB5F289E-D910-4ECD-8DE6-F20FDABF1B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64898" y="4247321"/>
              <a:ext cx="1177737" cy="1205947"/>
            </a:xfrm>
            <a:prstGeom prst="line">
              <a:avLst/>
            </a:prstGeom>
            <a:noFill/>
            <a:ln w="19050">
              <a:solidFill>
                <a:schemeClr val="tx2">
                  <a:lumMod val="50000"/>
                </a:schemeClr>
              </a:solidFill>
              <a:round/>
              <a:headEnd type="triangle"/>
              <a:tailEnd type="triangle"/>
            </a:ln>
          </p:spPr>
          <p:txBody>
            <a:bodyPr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 Box 71">
              <a:extLst>
                <a:ext uri="{FF2B5EF4-FFF2-40B4-BE49-F238E27FC236}">
                  <a16:creationId xmlns:a16="http://schemas.microsoft.com/office/drawing/2014/main" id="{DFB98CAF-8880-42B4-A129-DAC7EBEBB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8778" y="4970809"/>
              <a:ext cx="498855" cy="292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SzTx/>
                <a:buFont typeface="Arial"/>
                <a:buNone/>
              </a:pPr>
              <a:r>
                <a:rPr lang="ko-KR" altLang="en-US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접속</a:t>
              </a:r>
              <a:endPara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E8541CE4-4E50-4BC5-A151-6DCBA12D7371}"/>
              </a:ext>
            </a:extLst>
          </p:cNvPr>
          <p:cNvGrpSpPr/>
          <p:nvPr/>
        </p:nvGrpSpPr>
        <p:grpSpPr>
          <a:xfrm>
            <a:off x="553727" y="4725144"/>
            <a:ext cx="1531487" cy="980648"/>
            <a:chOff x="553727" y="4725144"/>
            <a:chExt cx="1531487" cy="980648"/>
          </a:xfrm>
        </p:grpSpPr>
        <p:sp>
          <p:nvSpPr>
            <p:cNvPr id="19" name="Text Box 66">
              <a:extLst>
                <a:ext uri="{FF2B5EF4-FFF2-40B4-BE49-F238E27FC236}">
                  <a16:creationId xmlns:a16="http://schemas.microsoft.com/office/drawing/2014/main" id="{FBB91A40-F2E7-416E-94DF-FB34FD65B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727" y="4725144"/>
              <a:ext cx="95571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1</a:t>
              </a: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주일 후 </a:t>
              </a: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</a:t>
              </a:r>
              <a:endPara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2" name="AutoShape 78">
              <a:extLst>
                <a:ext uri="{FF2B5EF4-FFF2-40B4-BE49-F238E27FC236}">
                  <a16:creationId xmlns:a16="http://schemas.microsoft.com/office/drawing/2014/main" id="{180A3DCD-DE14-41B5-A6B0-445449880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72" y="5071814"/>
              <a:ext cx="1361242" cy="633978"/>
            </a:xfrm>
            <a:prstGeom prst="can">
              <a:avLst>
                <a:gd name="adj" fmla="val 25000"/>
              </a:avLst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3" name="Text Box 79">
              <a:extLst>
                <a:ext uri="{FF2B5EF4-FFF2-40B4-BE49-F238E27FC236}">
                  <a16:creationId xmlns:a16="http://schemas.microsoft.com/office/drawing/2014/main" id="{733682B7-5A67-4F47-AB38-70B6106499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307" y="5237584"/>
              <a:ext cx="132804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  <a:buClr>
                  <a:srgbClr val="000000"/>
                </a:buClr>
                <a:buSzTx/>
                <a:buFont typeface="Arial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ebay 8734</a:t>
              </a:r>
            </a:p>
            <a:p>
              <a:pPr algn="ctr">
                <a:spcBef>
                  <a:spcPct val="0"/>
                </a:spcBef>
                <a:buClr>
                  <a:srgbClr val="000000"/>
                </a:buClr>
                <a:buSzTx/>
                <a:buFont typeface="Arial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amazon 1678</a:t>
              </a:r>
            </a:p>
          </p:txBody>
        </p:sp>
      </p:grpSp>
      <p:sp>
        <p:nvSpPr>
          <p:cNvPr id="54" name="Text Box 80">
            <a:extLst>
              <a:ext uri="{FF2B5EF4-FFF2-40B4-BE49-F238E27FC236}">
                <a16:creationId xmlns:a16="http://schemas.microsoft.com/office/drawing/2014/main" id="{259BA60D-2B50-42CE-973B-74FE8E3AD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6120" y="2791791"/>
            <a:ext cx="1127232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ko-KR" altLang="en-US" sz="13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백엔드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  <a:p>
            <a:pPr algn="ctr">
              <a:spcBef>
                <a:spcPct val="0"/>
              </a:spcBef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데이터베이스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55" name="AutoShape 327">
            <a:extLst>
              <a:ext uri="{FF2B5EF4-FFF2-40B4-BE49-F238E27FC236}">
                <a16:creationId xmlns:a16="http://schemas.microsoft.com/office/drawing/2014/main" id="{4E673E2C-A042-4140-9C52-13464EDB0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6118" y="3352800"/>
            <a:ext cx="691082" cy="1020763"/>
          </a:xfrm>
          <a:prstGeom prst="can">
            <a:avLst>
              <a:gd name="adj" fmla="val 31004"/>
            </a:avLst>
          </a:prstGeom>
          <a:solidFill>
            <a:srgbClr val="F8F9F9"/>
          </a:solidFill>
          <a:ln>
            <a:solidFill>
              <a:srgbClr val="F270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4C3F0749-1B3F-466B-A0DE-CE050FFBB274}"/>
              </a:ext>
            </a:extLst>
          </p:cNvPr>
          <p:cNvGrpSpPr/>
          <p:nvPr/>
        </p:nvGrpSpPr>
        <p:grpSpPr>
          <a:xfrm>
            <a:off x="1703512" y="997966"/>
            <a:ext cx="921886" cy="1097194"/>
            <a:chOff x="1996935" y="997966"/>
            <a:chExt cx="770138" cy="916589"/>
          </a:xfrm>
        </p:grpSpPr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3CA162DE-5FB7-42E0-9694-6D9C877922C5}"/>
                </a:ext>
              </a:extLst>
            </p:cNvPr>
            <p:cNvSpPr/>
            <p:nvPr/>
          </p:nvSpPr>
          <p:spPr>
            <a:xfrm>
              <a:off x="1996935" y="1144418"/>
              <a:ext cx="770138" cy="770137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6F1FB10D-429F-4EC3-A359-5466F9631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6007" y="997966"/>
              <a:ext cx="711994" cy="815397"/>
            </a:xfrm>
            <a:prstGeom prst="rect">
              <a:avLst/>
            </a:prstGeom>
          </p:spPr>
        </p:pic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6A9E745B-4446-438D-93CD-FCF161D10D9F}"/>
              </a:ext>
            </a:extLst>
          </p:cNvPr>
          <p:cNvGrpSpPr/>
          <p:nvPr/>
        </p:nvGrpSpPr>
        <p:grpSpPr>
          <a:xfrm>
            <a:off x="5087888" y="1052513"/>
            <a:ext cx="921886" cy="979314"/>
            <a:chOff x="5239636" y="1052513"/>
            <a:chExt cx="770138" cy="818113"/>
          </a:xfrm>
        </p:grpSpPr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EE2A36B3-5E3C-4F3A-BB2E-63EDD6A371C1}"/>
                </a:ext>
              </a:extLst>
            </p:cNvPr>
            <p:cNvSpPr/>
            <p:nvPr/>
          </p:nvSpPr>
          <p:spPr>
            <a:xfrm>
              <a:off x="5239636" y="1082922"/>
              <a:ext cx="770138" cy="77013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95" name="그림 94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47A4C65D-BE66-4F16-8FB0-539D363BF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881" y="1052513"/>
              <a:ext cx="379646" cy="818113"/>
            </a:xfrm>
            <a:prstGeom prst="rect">
              <a:avLst/>
            </a:prstGeom>
          </p:spPr>
        </p:pic>
      </p:grpSp>
      <p:sp>
        <p:nvSpPr>
          <p:cNvPr id="100" name="Text Box 80">
            <a:extLst>
              <a:ext uri="{FF2B5EF4-FFF2-40B4-BE49-F238E27FC236}">
                <a16:creationId xmlns:a16="http://schemas.microsoft.com/office/drawing/2014/main" id="{5E006989-866F-4D83-8C35-5391D8CE4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1388282"/>
            <a:ext cx="84350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</a:rPr>
              <a:t>server</a:t>
            </a:r>
          </a:p>
        </p:txBody>
      </p:sp>
      <p:sp>
        <p:nvSpPr>
          <p:cNvPr id="101" name="Text Box 80">
            <a:extLst>
              <a:ext uri="{FF2B5EF4-FFF2-40B4-BE49-F238E27FC236}">
                <a16:creationId xmlns:a16="http://schemas.microsoft.com/office/drawing/2014/main" id="{6C329226-B9D5-4E89-BEC7-9F5A5854A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765" y="1388282"/>
            <a:ext cx="74411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</a:rPr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386604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쿠키 </a:t>
            </a:r>
            <a:r>
              <a:rPr lang="en-US" altLang="ko-KR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</a:rPr>
              <a:t>(cont.)</a:t>
            </a:r>
            <a:endParaRPr lang="ko-KR" altLang="en-US" dirty="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4B26E8-5D77-42EC-9780-EAE2F4C4367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6378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쿠키의 용도</a:t>
            </a:r>
            <a:endParaRPr lang="en-US" altLang="ko-KR" sz="16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F2116A5-774C-45B1-8A8D-51F67840A545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14882"/>
            <a:ext cx="6976032" cy="141211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권한 확인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쇼핑카트</a:t>
            </a: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추천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사용자 세션 상태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웹 기반의 전자메일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61E4AF6-51D8-499D-AA36-76FF88C4AED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080008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“</a:t>
            </a:r>
            <a:r>
              <a:rPr lang="ko-KR" altLang="en-US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상태”를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 유지하는 방법</a:t>
            </a:r>
            <a:endParaRPr lang="en-US" altLang="ko-KR" sz="16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6C1CDFD-E0EC-4CFC-814C-B04745486A55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531106"/>
            <a:ext cx="697603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프로토콜의 양단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다수의 트랜잭션에 걸쳐서 송수신 측에 상태를 유지함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쿠키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http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메시지를 통해 상태 전달</a:t>
            </a: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E9A3658E-E65F-4558-9B95-05F52F9BBF2F}"/>
              </a:ext>
            </a:extLst>
          </p:cNvPr>
          <p:cNvSpPr/>
          <p:nvPr/>
        </p:nvSpPr>
        <p:spPr>
          <a:xfrm>
            <a:off x="839416" y="4567448"/>
            <a:ext cx="7336844" cy="1600770"/>
          </a:xfrm>
          <a:prstGeom prst="snip1Rect">
            <a:avLst>
              <a:gd name="adj" fmla="val 22765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4EBC704-2A35-41FA-AC3D-563A7A8834D2}"/>
              </a:ext>
            </a:extLst>
          </p:cNvPr>
          <p:cNvSpPr/>
          <p:nvPr/>
        </p:nvSpPr>
        <p:spPr>
          <a:xfrm>
            <a:off x="758638" y="5036514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2" name="그래픽 13">
            <a:extLst>
              <a:ext uri="{FF2B5EF4-FFF2-40B4-BE49-F238E27FC236}">
                <a16:creationId xmlns:a16="http://schemas.microsoft.com/office/drawing/2014/main" id="{3B32DB24-558B-4887-99A6-0DF93C2D6DCB}"/>
              </a:ext>
            </a:extLst>
          </p:cNvPr>
          <p:cNvSpPr/>
          <p:nvPr/>
        </p:nvSpPr>
        <p:spPr>
          <a:xfrm rot="5400000">
            <a:off x="638045" y="4558302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6D90B818-334E-42C7-BB33-283C0BAC7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4756388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쿠키와 사생활 침해</a:t>
            </a:r>
            <a:endParaRPr lang="en-US" altLang="ko-KR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622B027-220B-4ABF-8863-143447B6F2DA}"/>
              </a:ext>
            </a:extLst>
          </p:cNvPr>
          <p:cNvSpPr txBox="1">
            <a:spLocks noChangeArrowheads="1"/>
          </p:cNvSpPr>
          <p:nvPr/>
        </p:nvSpPr>
        <p:spPr>
          <a:xfrm>
            <a:off x="1112208" y="5229632"/>
            <a:ext cx="697603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쿠키를 통해 웹 사이트는 사용자 정보를 많이 수집할 수 있다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개인 정보를 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자에게 팔 수도 있다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EFCCCB2A-2664-4176-8C2C-0AB0EEA48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56" y="4595417"/>
            <a:ext cx="645557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참고</a:t>
            </a:r>
          </a:p>
        </p:txBody>
      </p:sp>
    </p:spTree>
    <p:extLst>
      <p:ext uri="{BB962C8B-B14F-4D97-AF65-F5344CB8AC3E}">
        <p14:creationId xmlns:p14="http://schemas.microsoft.com/office/powerpoint/2010/main" val="30910730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웹 캐시 </a:t>
            </a:r>
            <a:r>
              <a:rPr lang="en-US" altLang="ko-KR" spc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</a:rPr>
              <a:t>(Web caches, proxy server)</a:t>
            </a:r>
            <a:endParaRPr lang="ko-KR" altLang="en-US" spc="0" dirty="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37</a:t>
            </a:fld>
            <a:endParaRPr lang="en-US" dirty="0"/>
          </a:p>
        </p:txBody>
      </p:sp>
      <p:sp>
        <p:nvSpPr>
          <p:cNvPr id="33" name="Text Box 6">
            <a:extLst>
              <a:ext uri="{FF2B5EF4-FFF2-40B4-BE49-F238E27FC236}">
                <a16:creationId xmlns:a16="http://schemas.microsoft.com/office/drawing/2014/main" id="{A17B7853-CD94-49DA-AC37-122C3834E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1052513"/>
            <a:ext cx="5184433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buFontTx/>
              <a:buNone/>
              <a:defRPr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목표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: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기점 서버의 개입 없이 클라이언트의 요구를 서비스</a:t>
            </a: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6E2C37E-4687-401F-B98C-EBD7CEB2FA3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53393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브라우저가 캐시를 사용하도록 설정</a:t>
            </a: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브라우저는 모든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HTTP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요청을 캐시로 보냄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8E76FBF8-15E8-4191-AEDB-8D1DEECE05B9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398028"/>
            <a:ext cx="697603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캐시에 객체가 있으면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그걸 전송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없으면 캐시가 기점 서버에 객체를 요청하고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그것을 클라이언트에 돌려줌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3AE27B9-8C25-4F64-9958-DC9D5B7C5C51}"/>
              </a:ext>
            </a:extLst>
          </p:cNvPr>
          <p:cNvSpPr/>
          <p:nvPr/>
        </p:nvSpPr>
        <p:spPr>
          <a:xfrm>
            <a:off x="1127250" y="3254504"/>
            <a:ext cx="6912966" cy="3191381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C2C2A73-1F15-45AF-B938-8F91473CF220}"/>
              </a:ext>
            </a:extLst>
          </p:cNvPr>
          <p:cNvGrpSpPr/>
          <p:nvPr/>
        </p:nvGrpSpPr>
        <p:grpSpPr>
          <a:xfrm>
            <a:off x="6720358" y="5229199"/>
            <a:ext cx="813416" cy="864087"/>
            <a:chOff x="5087888" y="4298633"/>
            <a:chExt cx="921886" cy="979314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84FF989-0515-425E-A10A-73EF15AE7100}"/>
                </a:ext>
              </a:extLst>
            </p:cNvPr>
            <p:cNvSpPr/>
            <p:nvPr/>
          </p:nvSpPr>
          <p:spPr>
            <a:xfrm>
              <a:off x="5087888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1" name="그림 40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1AA10A93-A7A6-4949-9355-780FB8C26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BABAAFE-092B-40D1-97BB-DA08E0588321}"/>
              </a:ext>
            </a:extLst>
          </p:cNvPr>
          <p:cNvGrpSpPr/>
          <p:nvPr/>
        </p:nvGrpSpPr>
        <p:grpSpPr>
          <a:xfrm>
            <a:off x="6720358" y="3566322"/>
            <a:ext cx="813416" cy="864087"/>
            <a:chOff x="5087888" y="4298633"/>
            <a:chExt cx="921886" cy="97931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BC9151F1-E0AA-4A1E-A5D2-42212237E5F3}"/>
                </a:ext>
              </a:extLst>
            </p:cNvPr>
            <p:cNvSpPr/>
            <p:nvPr/>
          </p:nvSpPr>
          <p:spPr>
            <a:xfrm>
              <a:off x="5087888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4" name="그림 43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4A79187B-185A-4832-9F6E-C637676C7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pic>
        <p:nvPicPr>
          <p:cNvPr id="49" name="Picture 57">
            <a:extLst>
              <a:ext uri="{FF2B5EF4-FFF2-40B4-BE49-F238E27FC236}">
                <a16:creationId xmlns:a16="http://schemas.microsoft.com/office/drawing/2014/main" id="{4F89735F-8D03-438D-B44A-AF8BD0E25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32003" y="4030028"/>
            <a:ext cx="527050" cy="43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타원 51">
            <a:extLst>
              <a:ext uri="{FF2B5EF4-FFF2-40B4-BE49-F238E27FC236}">
                <a16:creationId xmlns:a16="http://schemas.microsoft.com/office/drawing/2014/main" id="{FC245487-8E3F-4EC6-9943-599931C366A1}"/>
              </a:ext>
            </a:extLst>
          </p:cNvPr>
          <p:cNvSpPr/>
          <p:nvPr/>
        </p:nvSpPr>
        <p:spPr>
          <a:xfrm>
            <a:off x="1378738" y="5261317"/>
            <a:ext cx="813416" cy="8134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2DF305E7-2337-40AD-B141-CED3996BD95E}"/>
              </a:ext>
            </a:extLst>
          </p:cNvPr>
          <p:cNvSpPr/>
          <p:nvPr/>
        </p:nvSpPr>
        <p:spPr>
          <a:xfrm>
            <a:off x="1378738" y="3598440"/>
            <a:ext cx="813416" cy="8134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C4A09C4C-DE4A-43E2-8782-6652086BC3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3532977"/>
            <a:ext cx="807457" cy="924724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18FA6A45-FFC1-42D9-8C9D-A0DABD2778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5201757"/>
            <a:ext cx="807457" cy="92472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553A527-F273-4F21-99E8-58E552E47CAB}"/>
              </a:ext>
            </a:extLst>
          </p:cNvPr>
          <p:cNvSpPr txBox="1"/>
          <p:nvPr/>
        </p:nvSpPr>
        <p:spPr>
          <a:xfrm>
            <a:off x="3363499" y="3429000"/>
            <a:ext cx="24517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웹 캐시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(proxy server)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32B7EA0-AB77-438D-B5B8-E7795A87B4E5}"/>
              </a:ext>
            </a:extLst>
          </p:cNvPr>
          <p:cNvGrpSpPr/>
          <p:nvPr/>
        </p:nvGrpSpPr>
        <p:grpSpPr>
          <a:xfrm>
            <a:off x="4060978" y="4397761"/>
            <a:ext cx="813416" cy="864087"/>
            <a:chOff x="5087888" y="4298633"/>
            <a:chExt cx="921886" cy="979314"/>
          </a:xfrm>
        </p:grpSpPr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392A77E-415A-4A88-8223-BC64E316B289}"/>
                </a:ext>
              </a:extLst>
            </p:cNvPr>
            <p:cNvSpPr/>
            <p:nvPr/>
          </p:nvSpPr>
          <p:spPr>
            <a:xfrm>
              <a:off x="5087888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7" name="그림 46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FAC065DB-FC79-4FEC-8653-5064F9DF1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221BE85-5E6D-4A62-81FD-69543E941767}"/>
              </a:ext>
            </a:extLst>
          </p:cNvPr>
          <p:cNvGrpSpPr/>
          <p:nvPr/>
        </p:nvGrpSpPr>
        <p:grpSpPr>
          <a:xfrm>
            <a:off x="1851343" y="3626168"/>
            <a:ext cx="4835207" cy="1637349"/>
            <a:chOff x="1851343" y="3626168"/>
            <a:chExt cx="4835207" cy="1637349"/>
          </a:xfrm>
        </p:grpSpPr>
        <p:pic>
          <p:nvPicPr>
            <p:cNvPr id="68" name="Picture 57">
              <a:extLst>
                <a:ext uri="{FF2B5EF4-FFF2-40B4-BE49-F238E27FC236}">
                  <a16:creationId xmlns:a16="http://schemas.microsoft.com/office/drawing/2014/main" id="{A5494AC3-C4CB-477C-B51B-7FF3C86599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851343" y="3626168"/>
              <a:ext cx="527050" cy="433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570C687F-9FEE-48F2-8CF4-15C69167C8B5}"/>
                </a:ext>
              </a:extLst>
            </p:cNvPr>
            <p:cNvGrpSpPr/>
            <p:nvPr/>
          </p:nvGrpSpPr>
          <p:grpSpPr>
            <a:xfrm>
              <a:off x="2387600" y="4077072"/>
              <a:ext cx="4298950" cy="1186445"/>
              <a:chOff x="2387600" y="4077072"/>
              <a:chExt cx="4298950" cy="1186445"/>
            </a:xfrm>
          </p:grpSpPr>
          <p:pic>
            <p:nvPicPr>
              <p:cNvPr id="48" name="Picture 57">
                <a:extLst>
                  <a:ext uri="{FF2B5EF4-FFF2-40B4-BE49-F238E27FC236}">
                    <a16:creationId xmlns:a16="http://schemas.microsoft.com/office/drawing/2014/main" id="{C2E38E38-B6E6-497C-8000-ED4AEC0636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4480243" y="4830130"/>
                <a:ext cx="527050" cy="433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3A37C2C8-C43B-49F7-BA9F-8E4A4829E0EF}"/>
                  </a:ext>
                </a:extLst>
              </p:cNvPr>
              <p:cNvSpPr/>
              <p:nvPr/>
            </p:nvSpPr>
            <p:spPr>
              <a:xfrm>
                <a:off x="2387600" y="4077072"/>
                <a:ext cx="4298950" cy="685800"/>
              </a:xfrm>
              <a:custGeom>
                <a:avLst/>
                <a:gdLst>
                  <a:gd name="connsiteX0" fmla="*/ 0 w 4279900"/>
                  <a:gd name="connsiteY0" fmla="*/ 171450 h 704850"/>
                  <a:gd name="connsiteX1" fmla="*/ 2057400 w 4279900"/>
                  <a:gd name="connsiteY1" fmla="*/ 704850 h 704850"/>
                  <a:gd name="connsiteX2" fmla="*/ 4279900 w 4279900"/>
                  <a:gd name="connsiteY2" fmla="*/ 0 h 704850"/>
                  <a:gd name="connsiteX0" fmla="*/ 0 w 4298950"/>
                  <a:gd name="connsiteY0" fmla="*/ 152400 h 685800"/>
                  <a:gd name="connsiteX1" fmla="*/ 2057400 w 4298950"/>
                  <a:gd name="connsiteY1" fmla="*/ 685800 h 685800"/>
                  <a:gd name="connsiteX2" fmla="*/ 4298950 w 4298950"/>
                  <a:gd name="connsiteY2" fmla="*/ 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98950" h="685800">
                    <a:moveTo>
                      <a:pt x="0" y="152400"/>
                    </a:moveTo>
                    <a:lnTo>
                      <a:pt x="2057400" y="685800"/>
                    </a:lnTo>
                    <a:cubicBezTo>
                      <a:pt x="2798233" y="450850"/>
                      <a:pt x="3558117" y="234950"/>
                      <a:pt x="4298950" y="0"/>
                    </a:cubicBezTo>
                  </a:path>
                </a:pathLst>
              </a:custGeom>
              <a:noFill/>
              <a:ln>
                <a:solidFill>
                  <a:srgbClr val="105BA0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Rectangle 3">
                <a:extLst>
                  <a:ext uri="{FF2B5EF4-FFF2-40B4-BE49-F238E27FC236}">
                    <a16:creationId xmlns:a16="http://schemas.microsoft.com/office/drawing/2014/main" id="{0B0063D9-6A8F-4A31-B606-6E048ACC27B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 rot="20558505">
                <a:off x="5078492" y="4341445"/>
                <a:ext cx="1563292" cy="29867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3" indent="0" algn="ctr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latin typeface="넥슨Lv1고딕 Bold" panose="00000800000000000000" pitchFamily="2" charset="-127"/>
                    <a:ea typeface="넥슨Lv1고딕 Bold" panose="00000800000000000000" pitchFamily="2" charset="-127"/>
                  </a:rPr>
                  <a:t>HTTP response</a:t>
                </a:r>
              </a:p>
            </p:txBody>
          </p:sp>
          <p:sp>
            <p:nvSpPr>
              <p:cNvPr id="79" name="Rectangle 3">
                <a:extLst>
                  <a:ext uri="{FF2B5EF4-FFF2-40B4-BE49-F238E27FC236}">
                    <a16:creationId xmlns:a16="http://schemas.microsoft.com/office/drawing/2014/main" id="{87F51DB4-C440-4F54-965E-2561EA31700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 rot="864769">
                <a:off x="2516264" y="4446221"/>
                <a:ext cx="1563292" cy="29867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3" indent="0" algn="ctr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latin typeface="넥슨Lv1고딕 Bold" panose="00000800000000000000" pitchFamily="2" charset="-127"/>
                    <a:ea typeface="넥슨Lv1고딕 Bold" panose="00000800000000000000" pitchFamily="2" charset="-127"/>
                  </a:rPr>
                  <a:t>HTTP response</a:t>
                </a:r>
              </a:p>
            </p:txBody>
          </p:sp>
        </p:grp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5142E932-0AE6-4B83-80B4-1A25A3479DEA}"/>
              </a:ext>
            </a:extLst>
          </p:cNvPr>
          <p:cNvGrpSpPr/>
          <p:nvPr/>
        </p:nvGrpSpPr>
        <p:grpSpPr>
          <a:xfrm>
            <a:off x="2387600" y="3927104"/>
            <a:ext cx="4298950" cy="696316"/>
            <a:chOff x="2387600" y="3927104"/>
            <a:chExt cx="4298950" cy="696316"/>
          </a:xfrm>
        </p:grpSpPr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2FE7872E-0FE0-4410-A23B-32513F98426E}"/>
                </a:ext>
              </a:extLst>
            </p:cNvPr>
            <p:cNvSpPr/>
            <p:nvPr/>
          </p:nvSpPr>
          <p:spPr>
            <a:xfrm>
              <a:off x="2387600" y="3937620"/>
              <a:ext cx="4298950" cy="685800"/>
            </a:xfrm>
            <a:custGeom>
              <a:avLst/>
              <a:gdLst>
                <a:gd name="connsiteX0" fmla="*/ 0 w 4279900"/>
                <a:gd name="connsiteY0" fmla="*/ 171450 h 704850"/>
                <a:gd name="connsiteX1" fmla="*/ 2057400 w 4279900"/>
                <a:gd name="connsiteY1" fmla="*/ 704850 h 704850"/>
                <a:gd name="connsiteX2" fmla="*/ 4279900 w 4279900"/>
                <a:gd name="connsiteY2" fmla="*/ 0 h 704850"/>
                <a:gd name="connsiteX0" fmla="*/ 0 w 4298950"/>
                <a:gd name="connsiteY0" fmla="*/ 152400 h 685800"/>
                <a:gd name="connsiteX1" fmla="*/ 2057400 w 4298950"/>
                <a:gd name="connsiteY1" fmla="*/ 685800 h 685800"/>
                <a:gd name="connsiteX2" fmla="*/ 4298950 w 4298950"/>
                <a:gd name="connsiteY2" fmla="*/ 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98950" h="685800">
                  <a:moveTo>
                    <a:pt x="0" y="152400"/>
                  </a:moveTo>
                  <a:lnTo>
                    <a:pt x="2057400" y="685800"/>
                  </a:lnTo>
                  <a:cubicBezTo>
                    <a:pt x="2798233" y="450850"/>
                    <a:pt x="3558117" y="234950"/>
                    <a:pt x="4298950" y="0"/>
                  </a:cubicBezTo>
                </a:path>
              </a:pathLst>
            </a:custGeom>
            <a:noFill/>
            <a:ln>
              <a:solidFill>
                <a:srgbClr val="105BA0"/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Rectangle 3">
              <a:extLst>
                <a:ext uri="{FF2B5EF4-FFF2-40B4-BE49-F238E27FC236}">
                  <a16:creationId xmlns:a16="http://schemas.microsoft.com/office/drawing/2014/main" id="{DB8AA2EA-CDD7-4231-B660-E613CBA3250F}"/>
                </a:ext>
              </a:extLst>
            </p:cNvPr>
            <p:cNvSpPr txBox="1">
              <a:spLocks noChangeArrowheads="1"/>
            </p:cNvSpPr>
            <p:nvPr/>
          </p:nvSpPr>
          <p:spPr>
            <a:xfrm rot="20590202">
              <a:off x="4916567" y="3927104"/>
              <a:ext cx="1563292" cy="29867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 algn="ctr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HTTP request</a:t>
              </a:r>
            </a:p>
          </p:txBody>
        </p:sp>
        <p:sp>
          <p:nvSpPr>
            <p:cNvPr id="80" name="Rectangle 3">
              <a:extLst>
                <a:ext uri="{FF2B5EF4-FFF2-40B4-BE49-F238E27FC236}">
                  <a16:creationId xmlns:a16="http://schemas.microsoft.com/office/drawing/2014/main" id="{F0EF62D2-AEA4-43D7-B9B4-5A2F78F0819D}"/>
                </a:ext>
              </a:extLst>
            </p:cNvPr>
            <p:cNvSpPr txBox="1">
              <a:spLocks noChangeArrowheads="1"/>
            </p:cNvSpPr>
            <p:nvPr/>
          </p:nvSpPr>
          <p:spPr>
            <a:xfrm rot="896466">
              <a:off x="2635328" y="4031879"/>
              <a:ext cx="1563292" cy="29867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 algn="ctr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HTTP request</a:t>
              </a: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C562CB5F-C631-4832-AD52-F59311303C85}"/>
              </a:ext>
            </a:extLst>
          </p:cNvPr>
          <p:cNvSpPr txBox="1"/>
          <p:nvPr/>
        </p:nvSpPr>
        <p:spPr>
          <a:xfrm>
            <a:off x="1190160" y="4525550"/>
            <a:ext cx="9103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client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A33EBBA-F228-4B9F-B2F8-442A177FA512}"/>
              </a:ext>
            </a:extLst>
          </p:cNvPr>
          <p:cNvSpPr txBox="1"/>
          <p:nvPr/>
        </p:nvSpPr>
        <p:spPr>
          <a:xfrm>
            <a:off x="1190160" y="6162193"/>
            <a:ext cx="9103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client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BD697A1-E8FD-4F2E-844E-E215D95ADE44}"/>
              </a:ext>
            </a:extLst>
          </p:cNvPr>
          <p:cNvSpPr txBox="1"/>
          <p:nvPr/>
        </p:nvSpPr>
        <p:spPr>
          <a:xfrm>
            <a:off x="6428190" y="4525550"/>
            <a:ext cx="14680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기점 서버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(origin server)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2455C4D-8974-43BA-9A44-2BE59581679D}"/>
              </a:ext>
            </a:extLst>
          </p:cNvPr>
          <p:cNvSpPr txBox="1"/>
          <p:nvPr/>
        </p:nvSpPr>
        <p:spPr>
          <a:xfrm>
            <a:off x="6284174" y="6162193"/>
            <a:ext cx="17560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origin server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CB8057A-B54F-4467-B153-5B89BF06AFB7}"/>
              </a:ext>
            </a:extLst>
          </p:cNvPr>
          <p:cNvGrpSpPr/>
          <p:nvPr/>
        </p:nvGrpSpPr>
        <p:grpSpPr>
          <a:xfrm>
            <a:off x="2362200" y="5205682"/>
            <a:ext cx="1784350" cy="642668"/>
            <a:chOff x="2362200" y="5205682"/>
            <a:chExt cx="1784350" cy="642668"/>
          </a:xfrm>
        </p:grpSpPr>
        <p:sp>
          <p:nvSpPr>
            <p:cNvPr id="81" name="Rectangle 3">
              <a:extLst>
                <a:ext uri="{FF2B5EF4-FFF2-40B4-BE49-F238E27FC236}">
                  <a16:creationId xmlns:a16="http://schemas.microsoft.com/office/drawing/2014/main" id="{9515FC91-BD2F-4E45-8E96-58802346294D}"/>
                </a:ext>
              </a:extLst>
            </p:cNvPr>
            <p:cNvSpPr txBox="1">
              <a:spLocks noChangeArrowheads="1"/>
            </p:cNvSpPr>
            <p:nvPr/>
          </p:nvSpPr>
          <p:spPr>
            <a:xfrm rot="20447654">
              <a:off x="2390851" y="5205682"/>
              <a:ext cx="1563292" cy="29867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 algn="ctr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HTTP response</a:t>
              </a: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CD134079-A166-4284-84A8-D45256294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2200" y="5213350"/>
              <a:ext cx="1784350" cy="635000"/>
            </a:xfrm>
            <a:prstGeom prst="straightConnector1">
              <a:avLst/>
            </a:prstGeom>
            <a:noFill/>
            <a:ln>
              <a:solidFill>
                <a:srgbClr val="105BA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1F67A34-EA00-4F38-B451-39A58F242814}"/>
              </a:ext>
            </a:extLst>
          </p:cNvPr>
          <p:cNvGrpSpPr/>
          <p:nvPr/>
        </p:nvGrpSpPr>
        <p:grpSpPr>
          <a:xfrm>
            <a:off x="1851343" y="5249228"/>
            <a:ext cx="2306000" cy="738822"/>
            <a:chOff x="1851343" y="5249228"/>
            <a:chExt cx="2306000" cy="738822"/>
          </a:xfrm>
        </p:grpSpPr>
        <p:pic>
          <p:nvPicPr>
            <p:cNvPr id="67" name="Picture 57">
              <a:extLst>
                <a:ext uri="{FF2B5EF4-FFF2-40B4-BE49-F238E27FC236}">
                  <a16:creationId xmlns:a16="http://schemas.microsoft.com/office/drawing/2014/main" id="{D163D4DC-2B92-4B0F-ABD7-0BF5B0DAEB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851343" y="5249228"/>
              <a:ext cx="527050" cy="433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33CC881-1D48-4458-80EC-3E40A23F3496}"/>
                </a:ext>
              </a:extLst>
            </p:cNvPr>
            <p:cNvGrpSpPr/>
            <p:nvPr/>
          </p:nvGrpSpPr>
          <p:grpSpPr>
            <a:xfrm>
              <a:off x="2362200" y="5353050"/>
              <a:ext cx="1795143" cy="635000"/>
              <a:chOff x="2362200" y="5353050"/>
              <a:chExt cx="1795143" cy="635000"/>
            </a:xfrm>
          </p:grpSpPr>
          <p:sp>
            <p:nvSpPr>
              <p:cNvPr id="82" name="Rectangle 3">
                <a:extLst>
                  <a:ext uri="{FF2B5EF4-FFF2-40B4-BE49-F238E27FC236}">
                    <a16:creationId xmlns:a16="http://schemas.microsoft.com/office/drawing/2014/main" id="{3AB339DE-ADC6-40C4-B5C1-8E87581F23C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 rot="20434509">
                <a:off x="2594051" y="5644785"/>
                <a:ext cx="1563292" cy="29867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3" indent="0" algn="ctr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latin typeface="넥슨Lv1고딕 Bold" panose="00000800000000000000" pitchFamily="2" charset="-127"/>
                    <a:ea typeface="넥슨Lv1고딕 Bold" panose="00000800000000000000" pitchFamily="2" charset="-127"/>
                  </a:rPr>
                  <a:t>HTTP response</a:t>
                </a:r>
              </a:p>
            </p:txBody>
          </p:sp>
          <p:cxnSp>
            <p:nvCxnSpPr>
              <p:cNvPr id="50" name="직선 화살표 연결선 49">
                <a:extLst>
                  <a:ext uri="{FF2B5EF4-FFF2-40B4-BE49-F238E27FC236}">
                    <a16:creationId xmlns:a16="http://schemas.microsoft.com/office/drawing/2014/main" id="{91694786-D7F7-436A-A91F-F4D807E7AA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62200" y="5353050"/>
                <a:ext cx="1784350" cy="635000"/>
              </a:xfrm>
              <a:prstGeom prst="straightConnector1">
                <a:avLst/>
              </a:prstGeom>
              <a:noFill/>
              <a:ln>
                <a:solidFill>
                  <a:srgbClr val="105BA0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9473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웹 캐시 </a:t>
            </a:r>
            <a:r>
              <a:rPr lang="en-US" altLang="ko-KR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</a:rPr>
              <a:t>(cont.)</a:t>
            </a:r>
            <a:endParaRPr lang="ko-KR" altLang="en-US" dirty="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38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D23669-3E3A-4958-B967-AC984A9D9C7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6378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캐시는 서버와 클라이언트 역할을 동시에 수행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6C31623-9216-4684-B64E-E29DCC5ECA7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861048"/>
            <a:ext cx="7277340" cy="142173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 요청에 대한 응답 시간 감소</a:t>
            </a:r>
          </a:p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기관 접속 링크의 트래픽 감소</a:t>
            </a:r>
          </a:p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인터넷에서 캐시가 많이 사용됨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“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가난한” 콘텐츠 제공자가 효과적으로 전달할 수 있도록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(P2P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파일 공유도 비슷함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69AF15D-59B9-4621-9389-68ABCE19DD97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420888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캐시는 주로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ISP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에 의해 설치된다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. (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대학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,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기업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,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가정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ISP)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6A44B8E-D70B-40EF-9543-DC2DF51028E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626165"/>
            <a:ext cx="5895108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원래 요청한 클라이언트에게는 서버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기점 서버에게는 클라이언트</a:t>
            </a: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9367330A-99E8-418A-95A8-E670A1A1D1B4}"/>
              </a:ext>
            </a:extLst>
          </p:cNvPr>
          <p:cNvSpPr/>
          <p:nvPr/>
        </p:nvSpPr>
        <p:spPr>
          <a:xfrm>
            <a:off x="730820" y="3284984"/>
            <a:ext cx="2152967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2" name="텍스트 개체 틀 19">
            <a:extLst>
              <a:ext uri="{FF2B5EF4-FFF2-40B4-BE49-F238E27FC236}">
                <a16:creationId xmlns:a16="http://schemas.microsoft.com/office/drawing/2014/main" id="{5F057EAA-179F-4DF4-92C0-3BFFC4AED25A}"/>
              </a:ext>
            </a:extLst>
          </p:cNvPr>
          <p:cNvSpPr txBox="1">
            <a:spLocks/>
          </p:cNvSpPr>
          <p:nvPr/>
        </p:nvSpPr>
        <p:spPr>
          <a:xfrm>
            <a:off x="911424" y="3324513"/>
            <a:ext cx="1763814" cy="284758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웹 캐시 사용 이유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178635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5;p4">
            <a:extLst>
              <a:ext uri="{FF2B5EF4-FFF2-40B4-BE49-F238E27FC236}">
                <a16:creationId xmlns:a16="http://schemas.microsoft.com/office/drawing/2014/main" id="{8856260A-6398-4532-8854-9365D55722BA}"/>
              </a:ext>
            </a:extLst>
          </p:cNvPr>
          <p:cNvSpPr/>
          <p:nvPr/>
        </p:nvSpPr>
        <p:spPr>
          <a:xfrm>
            <a:off x="670000" y="1067753"/>
            <a:ext cx="3584500" cy="5294947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D822BFD-1CFB-4B2E-A3E8-3C0190A936AC}"/>
              </a:ext>
            </a:extLst>
          </p:cNvPr>
          <p:cNvSpPr/>
          <p:nvPr/>
        </p:nvSpPr>
        <p:spPr>
          <a:xfrm>
            <a:off x="823950" y="4413250"/>
            <a:ext cx="3276600" cy="1844690"/>
          </a:xfrm>
          <a:prstGeom prst="roundRect">
            <a:avLst>
              <a:gd name="adj" fmla="val 7226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웹 캐시 예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39</a:t>
            </a:fld>
            <a:endParaRPr 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47A5D7C-2BAF-48EF-843E-666A907C3C0D}"/>
              </a:ext>
            </a:extLst>
          </p:cNvPr>
          <p:cNvCxnSpPr>
            <a:cxnSpLocks/>
            <a:stCxn id="11" idx="5"/>
            <a:endCxn id="52" idx="0"/>
          </p:cNvCxnSpPr>
          <p:nvPr/>
        </p:nvCxnSpPr>
        <p:spPr>
          <a:xfrm>
            <a:off x="1302880" y="2310834"/>
            <a:ext cx="1159370" cy="809492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921DBE3-6EC2-4C8A-8F98-B6CDC3776E7B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1765300" y="1739900"/>
            <a:ext cx="696950" cy="138042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68ADCA92-CF50-4449-AB6E-3618EB7E8D1A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2391029" y="1739900"/>
            <a:ext cx="71221" cy="138042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BE4F97A-95C4-47F3-BEF7-A68C3D032D05}"/>
              </a:ext>
            </a:extLst>
          </p:cNvPr>
          <p:cNvCxnSpPr>
            <a:cxnSpLocks/>
            <a:endCxn id="52" idx="0"/>
          </p:cNvCxnSpPr>
          <p:nvPr/>
        </p:nvCxnSpPr>
        <p:spPr>
          <a:xfrm flipH="1">
            <a:off x="2462250" y="1898650"/>
            <a:ext cx="731800" cy="122167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7E72EA3-645F-448D-BFE3-99E87774B6F5}"/>
              </a:ext>
            </a:extLst>
          </p:cNvPr>
          <p:cNvCxnSpPr>
            <a:cxnSpLocks/>
            <a:stCxn id="23" idx="3"/>
            <a:endCxn id="52" idx="0"/>
          </p:cNvCxnSpPr>
          <p:nvPr/>
        </p:nvCxnSpPr>
        <p:spPr>
          <a:xfrm flipH="1">
            <a:off x="2462250" y="2524194"/>
            <a:ext cx="1076994" cy="596132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62702BF9-5EA7-4A7B-ADC4-DF6E6F3FEB90}"/>
              </a:ext>
            </a:extLst>
          </p:cNvPr>
          <p:cNvSpPr/>
          <p:nvPr/>
        </p:nvSpPr>
        <p:spPr>
          <a:xfrm>
            <a:off x="1385925" y="2394758"/>
            <a:ext cx="2152650" cy="1260764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7C2699F-0E28-4355-8068-2F63586CF383}"/>
              </a:ext>
            </a:extLst>
          </p:cNvPr>
          <p:cNvCxnSpPr>
            <a:cxnSpLocks/>
          </p:cNvCxnSpPr>
          <p:nvPr/>
        </p:nvCxnSpPr>
        <p:spPr>
          <a:xfrm>
            <a:off x="2462250" y="3223260"/>
            <a:ext cx="0" cy="1303020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Rectangle 3">
            <a:extLst>
              <a:ext uri="{FF2B5EF4-FFF2-40B4-BE49-F238E27FC236}">
                <a16:creationId xmlns:a16="http://schemas.microsoft.com/office/drawing/2014/main" id="{3B1E2E76-4D6A-40F9-A4FD-7C1F001E74BE}"/>
              </a:ext>
            </a:extLst>
          </p:cNvPr>
          <p:cNvSpPr txBox="1">
            <a:spLocks noChangeArrowheads="1"/>
          </p:cNvSpPr>
          <p:nvPr/>
        </p:nvSpPr>
        <p:spPr>
          <a:xfrm>
            <a:off x="1572654" y="2636912"/>
            <a:ext cx="177919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public Internet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ECA267B-6FA6-45F6-866C-4E06F7C42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661" y="3120326"/>
            <a:ext cx="637178" cy="416118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73497E4B-D75D-4771-A571-CD0B3C0DF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661" y="4286186"/>
            <a:ext cx="637178" cy="416118"/>
          </a:xfrm>
          <a:prstGeom prst="rect">
            <a:avLst/>
          </a:prstGeom>
        </p:spPr>
      </p:pic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C3B05A55-94E8-4BF4-ACB1-A906814FC8E7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1911350" y="4702304"/>
            <a:ext cx="550900" cy="90474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E1053E40-BEF0-4948-89AF-9EE4D4148D19}"/>
              </a:ext>
            </a:extLst>
          </p:cNvPr>
          <p:cNvCxnSpPr>
            <a:cxnSpLocks/>
            <a:stCxn id="53" idx="2"/>
            <a:endCxn id="8" idx="1"/>
          </p:cNvCxnSpPr>
          <p:nvPr/>
        </p:nvCxnSpPr>
        <p:spPr>
          <a:xfrm flipH="1">
            <a:off x="944002" y="4702304"/>
            <a:ext cx="1518248" cy="962353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97BA0BB5-DC07-47E8-9373-3B4E10C1B762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2462250" y="4702304"/>
            <a:ext cx="1068350" cy="91109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0E86A7A6-5292-4220-8951-8B0A97773FB4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2462250" y="4702304"/>
            <a:ext cx="306350" cy="86664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2C7C8C6E-60F5-4532-B260-249D1903A933}"/>
              </a:ext>
            </a:extLst>
          </p:cNvPr>
          <p:cNvGrpSpPr/>
          <p:nvPr/>
        </p:nvGrpSpPr>
        <p:grpSpPr>
          <a:xfrm>
            <a:off x="919931" y="5327090"/>
            <a:ext cx="637659" cy="758918"/>
            <a:chOff x="3617013" y="2083319"/>
            <a:chExt cx="770138" cy="916589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59FF37C7-B50C-4778-9E76-C57BF8E6C560}"/>
                </a:ext>
              </a:extLst>
            </p:cNvPr>
            <p:cNvSpPr/>
            <p:nvPr/>
          </p:nvSpPr>
          <p:spPr>
            <a:xfrm>
              <a:off x="3617013" y="2229771"/>
              <a:ext cx="770138" cy="770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E80D6AC-E5FD-40A2-8A9A-B2198A02D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6085" y="2083319"/>
              <a:ext cx="711994" cy="815397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A960ADB4-F714-480B-89AA-8F3D2C4168F9}"/>
              </a:ext>
            </a:extLst>
          </p:cNvPr>
          <p:cNvGrpSpPr/>
          <p:nvPr/>
        </p:nvGrpSpPr>
        <p:grpSpPr>
          <a:xfrm>
            <a:off x="1719119" y="5327090"/>
            <a:ext cx="637659" cy="758918"/>
            <a:chOff x="3617013" y="2083319"/>
            <a:chExt cx="770138" cy="916589"/>
          </a:xfrm>
        </p:grpSpPr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EC346CA5-9692-476E-9743-5C71FA20EADC}"/>
                </a:ext>
              </a:extLst>
            </p:cNvPr>
            <p:cNvSpPr/>
            <p:nvPr/>
          </p:nvSpPr>
          <p:spPr>
            <a:xfrm>
              <a:off x="3617013" y="2229771"/>
              <a:ext cx="770138" cy="770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0CC6B3C1-C8F9-4A64-A7F9-440421A9D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6085" y="2083319"/>
              <a:ext cx="711994" cy="815397"/>
            </a:xfrm>
            <a:prstGeom prst="rect">
              <a:avLst/>
            </a:prstGeom>
          </p:spPr>
        </p:pic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55F4A83B-A8DB-422B-9DC7-334AEE899431}"/>
              </a:ext>
            </a:extLst>
          </p:cNvPr>
          <p:cNvGrpSpPr/>
          <p:nvPr/>
        </p:nvGrpSpPr>
        <p:grpSpPr>
          <a:xfrm>
            <a:off x="2511957" y="5346140"/>
            <a:ext cx="637659" cy="758918"/>
            <a:chOff x="3617013" y="2083319"/>
            <a:chExt cx="770138" cy="916589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5B878802-102A-4987-AFD5-29C4D63C3A33}"/>
                </a:ext>
              </a:extLst>
            </p:cNvPr>
            <p:cNvSpPr/>
            <p:nvPr/>
          </p:nvSpPr>
          <p:spPr>
            <a:xfrm>
              <a:off x="3617013" y="2229771"/>
              <a:ext cx="770138" cy="770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684D36DF-530F-4485-A6B8-6C4CE45CD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6085" y="2083319"/>
              <a:ext cx="711994" cy="815397"/>
            </a:xfrm>
            <a:prstGeom prst="rect">
              <a:avLst/>
            </a:prstGeom>
          </p:spPr>
        </p:pic>
      </p:grpSp>
      <p:pic>
        <p:nvPicPr>
          <p:cNvPr id="62" name="그림 61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DC848868-FD92-4A95-822B-7B032ECAEF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581" y="5377510"/>
            <a:ext cx="328779" cy="708498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CAEF089A-EC59-4FFD-913B-CF40D0FAAF86}"/>
              </a:ext>
            </a:extLst>
          </p:cNvPr>
          <p:cNvSpPr txBox="1"/>
          <p:nvPr/>
        </p:nvSpPr>
        <p:spPr>
          <a:xfrm>
            <a:off x="906145" y="4534585"/>
            <a:ext cx="160591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institutional</a:t>
            </a:r>
            <a:b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network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22455D4-0F65-48CC-8A3D-AE526EA613E7}"/>
              </a:ext>
            </a:extLst>
          </p:cNvPr>
          <p:cNvSpPr txBox="1"/>
          <p:nvPr/>
        </p:nvSpPr>
        <p:spPr>
          <a:xfrm>
            <a:off x="2473325" y="3692009"/>
            <a:ext cx="94932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15 Mbps 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접속 링크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231CDFD-2F87-48E0-ADF7-077878E8A394}"/>
              </a:ext>
            </a:extLst>
          </p:cNvPr>
          <p:cNvSpPr txBox="1"/>
          <p:nvPr/>
        </p:nvSpPr>
        <p:spPr>
          <a:xfrm>
            <a:off x="2987675" y="4581128"/>
            <a:ext cx="112712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100 Mbps LAN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52BBDAF-3ECB-4BB3-998C-F4A11444ABA5}"/>
              </a:ext>
            </a:extLst>
          </p:cNvPr>
          <p:cNvSpPr txBox="1"/>
          <p:nvPr/>
        </p:nvSpPr>
        <p:spPr>
          <a:xfrm>
            <a:off x="3512220" y="1394510"/>
            <a:ext cx="72072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origin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servers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2031A91-689A-4638-BB49-58F1889766B3}"/>
              </a:ext>
            </a:extLst>
          </p:cNvPr>
          <p:cNvGrpSpPr/>
          <p:nvPr/>
        </p:nvGrpSpPr>
        <p:grpSpPr>
          <a:xfrm>
            <a:off x="787656" y="1771777"/>
            <a:ext cx="603622" cy="641224"/>
            <a:chOff x="5087887" y="4298633"/>
            <a:chExt cx="921886" cy="979314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3FEE81B-C4C3-46B2-B816-7B86F18DE702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2" name="그림 11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80E062E0-67CB-4E32-ADED-361B21A39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062264E-F1D6-471E-ADC3-F64AC67550D0}"/>
              </a:ext>
            </a:extLst>
          </p:cNvPr>
          <p:cNvGrpSpPr/>
          <p:nvPr/>
        </p:nvGrpSpPr>
        <p:grpSpPr>
          <a:xfrm>
            <a:off x="2908599" y="1435227"/>
            <a:ext cx="603622" cy="641224"/>
            <a:chOff x="5087887" y="4298633"/>
            <a:chExt cx="921886" cy="979314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8E9DEDC-A872-4BCE-897A-98812F120525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1" name="그림 20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89986F28-508B-4DD1-BF39-3FC659F35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45FEE05-D752-4CF7-A29A-A67D454917C8}"/>
              </a:ext>
            </a:extLst>
          </p:cNvPr>
          <p:cNvGrpSpPr/>
          <p:nvPr/>
        </p:nvGrpSpPr>
        <p:grpSpPr>
          <a:xfrm>
            <a:off x="3450846" y="1985137"/>
            <a:ext cx="603622" cy="641224"/>
            <a:chOff x="5087887" y="4298633"/>
            <a:chExt cx="921886" cy="979314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EE6E6FD1-443F-4B4A-BFB5-9231CE2BBC9D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4" name="그림 23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DFD7E83F-F143-4E80-A116-56889C229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0BCF5E2-8425-4D9F-8186-0795094A5133}"/>
              </a:ext>
            </a:extLst>
          </p:cNvPr>
          <p:cNvGrpSpPr/>
          <p:nvPr/>
        </p:nvGrpSpPr>
        <p:grpSpPr>
          <a:xfrm>
            <a:off x="1351981" y="1301877"/>
            <a:ext cx="603622" cy="641224"/>
            <a:chOff x="5087887" y="4298633"/>
            <a:chExt cx="921886" cy="979314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B222396-3731-4162-A1EB-66D1ECE730E6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5" name="그림 14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7CFB5301-CB59-4D4B-9ED2-B639B2DB4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F2C25ED-202C-4EF7-897E-E5541EFC7A03}"/>
              </a:ext>
            </a:extLst>
          </p:cNvPr>
          <p:cNvGrpSpPr/>
          <p:nvPr/>
        </p:nvGrpSpPr>
        <p:grpSpPr>
          <a:xfrm>
            <a:off x="2157350" y="1301877"/>
            <a:ext cx="603622" cy="641224"/>
            <a:chOff x="5087887" y="4298633"/>
            <a:chExt cx="921886" cy="97931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CD2A37EF-BC09-4BF1-9566-A7D3BB6747C9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림 17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0A18BD2E-DCA5-4CD8-A0E9-B89D0E0AE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sp>
        <p:nvSpPr>
          <p:cNvPr id="114" name="Rectangle 3">
            <a:extLst>
              <a:ext uri="{FF2B5EF4-FFF2-40B4-BE49-F238E27FC236}">
                <a16:creationId xmlns:a16="http://schemas.microsoft.com/office/drawing/2014/main" id="{A51570AB-8572-492B-98A6-4048CA49F4A3}"/>
              </a:ext>
            </a:extLst>
          </p:cNvPr>
          <p:cNvSpPr txBox="1">
            <a:spLocks noChangeArrowheads="1"/>
          </p:cNvSpPr>
          <p:nvPr/>
        </p:nvSpPr>
        <p:spPr>
          <a:xfrm>
            <a:off x="4356656" y="106378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7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가정</a:t>
            </a:r>
            <a:endParaRPr lang="en-US" altLang="ko-KR" sz="16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16" name="Rectangle 3">
            <a:extLst>
              <a:ext uri="{FF2B5EF4-FFF2-40B4-BE49-F238E27FC236}">
                <a16:creationId xmlns:a16="http://schemas.microsoft.com/office/drawing/2014/main" id="{9CFE6B2A-3FF5-4A8C-99D0-363C3A058C9F}"/>
              </a:ext>
            </a:extLst>
          </p:cNvPr>
          <p:cNvSpPr txBox="1">
            <a:spLocks noChangeArrowheads="1"/>
          </p:cNvSpPr>
          <p:nvPr/>
        </p:nvSpPr>
        <p:spPr>
          <a:xfrm>
            <a:off x="4509790" y="1484784"/>
            <a:ext cx="3600748" cy="232005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평균 객체 크기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1Mbits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브라우저에서 기점 서버에 대한 평균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요청률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:15/sec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평균 데이터율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15 Mbps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기관 라우터에서 임의의 기점 서버까지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RTT : 2 sec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접속 링크 속도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15 Mbps</a:t>
            </a:r>
          </a:p>
        </p:txBody>
      </p:sp>
      <p:sp>
        <p:nvSpPr>
          <p:cNvPr id="119" name="Oval 137">
            <a:extLst>
              <a:ext uri="{FF2B5EF4-FFF2-40B4-BE49-F238E27FC236}">
                <a16:creationId xmlns:a16="http://schemas.microsoft.com/office/drawing/2014/main" id="{0B28953D-B759-475A-BBA1-7F2CD8D0D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945" y="4643438"/>
            <a:ext cx="917575" cy="392112"/>
          </a:xfrm>
          <a:prstGeom prst="ellipse">
            <a:avLst/>
          </a:prstGeom>
          <a:noFill/>
          <a:ln w="19050">
            <a:solidFill>
              <a:srgbClr val="105BA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120" name="Text Box 138">
            <a:extLst>
              <a:ext uri="{FF2B5EF4-FFF2-40B4-BE49-F238E27FC236}">
                <a16:creationId xmlns:a16="http://schemas.microsoft.com/office/drawing/2014/main" id="{42C2977D-A697-40D3-9A8F-BDE06C294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9456" y="4670425"/>
            <a:ext cx="856453" cy="29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3" indent="-3429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problem!</a:t>
            </a:r>
          </a:p>
        </p:txBody>
      </p:sp>
      <p:sp>
        <p:nvSpPr>
          <p:cNvPr id="121" name="Rectangle 3">
            <a:extLst>
              <a:ext uri="{FF2B5EF4-FFF2-40B4-BE49-F238E27FC236}">
                <a16:creationId xmlns:a16="http://schemas.microsoft.com/office/drawing/2014/main" id="{438E2D9E-23C7-4AB3-8A44-2A3084B7E4EE}"/>
              </a:ext>
            </a:extLst>
          </p:cNvPr>
          <p:cNvSpPr txBox="1">
            <a:spLocks noChangeArrowheads="1"/>
          </p:cNvSpPr>
          <p:nvPr/>
        </p:nvSpPr>
        <p:spPr>
          <a:xfrm>
            <a:off x="4509789" y="4304184"/>
            <a:ext cx="3667559" cy="161217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LAN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사용률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15%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접속 링크 사용률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= 100%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총 지연 시간 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=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인터넷 지연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+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접속 지연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+ LAN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지연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=  2 sec + minutes + </a:t>
            </a: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usecs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22" name="Rectangle 3">
            <a:extLst>
              <a:ext uri="{FF2B5EF4-FFF2-40B4-BE49-F238E27FC236}">
                <a16:creationId xmlns:a16="http://schemas.microsoft.com/office/drawing/2014/main" id="{D1324F1E-1AB5-408E-9FBF-77E4913B1D4D}"/>
              </a:ext>
            </a:extLst>
          </p:cNvPr>
          <p:cNvSpPr txBox="1">
            <a:spLocks noChangeArrowheads="1"/>
          </p:cNvSpPr>
          <p:nvPr/>
        </p:nvSpPr>
        <p:spPr>
          <a:xfrm>
            <a:off x="4356656" y="388318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7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결과</a:t>
            </a:r>
            <a:endParaRPr lang="en-US" altLang="ko-KR" sz="16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896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2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웹 캐시 예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접속 링크 용량 증설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40</a:t>
            </a:fld>
            <a:endParaRPr lang="en-US" dirty="0"/>
          </a:p>
        </p:txBody>
      </p:sp>
      <p:sp>
        <p:nvSpPr>
          <p:cNvPr id="4" name="Google Shape;245;p4">
            <a:extLst>
              <a:ext uri="{FF2B5EF4-FFF2-40B4-BE49-F238E27FC236}">
                <a16:creationId xmlns:a16="http://schemas.microsoft.com/office/drawing/2014/main" id="{A169930E-9DB1-4871-B3DC-83C4D33FED04}"/>
              </a:ext>
            </a:extLst>
          </p:cNvPr>
          <p:cNvSpPr/>
          <p:nvPr/>
        </p:nvSpPr>
        <p:spPr>
          <a:xfrm>
            <a:off x="670000" y="1067753"/>
            <a:ext cx="3584500" cy="5294947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64F80DA-61CC-4839-807C-DAEB68C9E703}"/>
              </a:ext>
            </a:extLst>
          </p:cNvPr>
          <p:cNvSpPr/>
          <p:nvPr/>
        </p:nvSpPr>
        <p:spPr>
          <a:xfrm>
            <a:off x="823950" y="4413250"/>
            <a:ext cx="3276600" cy="1844690"/>
          </a:xfrm>
          <a:prstGeom prst="roundRect">
            <a:avLst>
              <a:gd name="adj" fmla="val 7226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C501501-6253-4448-9141-193A7764C9A5}"/>
              </a:ext>
            </a:extLst>
          </p:cNvPr>
          <p:cNvCxnSpPr>
            <a:cxnSpLocks/>
            <a:stCxn id="37" idx="5"/>
            <a:endCxn id="16" idx="0"/>
          </p:cNvCxnSpPr>
          <p:nvPr/>
        </p:nvCxnSpPr>
        <p:spPr>
          <a:xfrm>
            <a:off x="1302880" y="2310834"/>
            <a:ext cx="1159370" cy="809492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B614087-0143-409D-8772-279C820BFCDF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765300" y="1739900"/>
            <a:ext cx="696950" cy="138042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9920375-F549-453B-B191-EBD721C66521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2391029" y="1739900"/>
            <a:ext cx="71221" cy="138042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03A5690-7D5E-41E8-B0D0-75A282801CFE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462250" y="1898650"/>
            <a:ext cx="731800" cy="122167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1654B15-8AE2-42C3-A0A3-8E6CB3BD6DA7}"/>
              </a:ext>
            </a:extLst>
          </p:cNvPr>
          <p:cNvCxnSpPr>
            <a:cxnSpLocks/>
            <a:stCxn id="43" idx="3"/>
            <a:endCxn id="16" idx="0"/>
          </p:cNvCxnSpPr>
          <p:nvPr/>
        </p:nvCxnSpPr>
        <p:spPr>
          <a:xfrm flipH="1">
            <a:off x="2462250" y="2524194"/>
            <a:ext cx="1076994" cy="596132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E080CA7A-0A8C-494C-AC73-981B02F51308}"/>
              </a:ext>
            </a:extLst>
          </p:cNvPr>
          <p:cNvSpPr/>
          <p:nvPr/>
        </p:nvSpPr>
        <p:spPr>
          <a:xfrm>
            <a:off x="1385925" y="2394758"/>
            <a:ext cx="2152650" cy="1260764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405DB67-2500-4F31-A720-697E4C106959}"/>
              </a:ext>
            </a:extLst>
          </p:cNvPr>
          <p:cNvCxnSpPr>
            <a:cxnSpLocks/>
          </p:cNvCxnSpPr>
          <p:nvPr/>
        </p:nvCxnSpPr>
        <p:spPr>
          <a:xfrm>
            <a:off x="2462250" y="3223260"/>
            <a:ext cx="0" cy="1303020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Rectangle 3">
            <a:extLst>
              <a:ext uri="{FF2B5EF4-FFF2-40B4-BE49-F238E27FC236}">
                <a16:creationId xmlns:a16="http://schemas.microsoft.com/office/drawing/2014/main" id="{DD0FC203-A307-4039-A9EF-AD21272CF826}"/>
              </a:ext>
            </a:extLst>
          </p:cNvPr>
          <p:cNvSpPr txBox="1">
            <a:spLocks noChangeArrowheads="1"/>
          </p:cNvSpPr>
          <p:nvPr/>
        </p:nvSpPr>
        <p:spPr>
          <a:xfrm>
            <a:off x="1572654" y="2636912"/>
            <a:ext cx="177919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public Internet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D836574-32C8-4167-A140-67B2D43D0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661" y="3120326"/>
            <a:ext cx="637178" cy="4161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8A46F0F-79B5-472A-9B9C-586123D27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661" y="4286186"/>
            <a:ext cx="637178" cy="416118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F5180B0-8697-40B4-8F4B-A17722A7900D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1911350" y="4702304"/>
            <a:ext cx="550900" cy="90474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FE3A47B-0027-4464-86D8-68531F5EFB54}"/>
              </a:ext>
            </a:extLst>
          </p:cNvPr>
          <p:cNvCxnSpPr>
            <a:cxnSpLocks/>
            <a:stCxn id="17" idx="2"/>
            <a:endCxn id="24" idx="1"/>
          </p:cNvCxnSpPr>
          <p:nvPr/>
        </p:nvCxnSpPr>
        <p:spPr>
          <a:xfrm flipH="1">
            <a:off x="944002" y="4702304"/>
            <a:ext cx="1518248" cy="962353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09A3B93-4790-46C5-8D8D-347E4E484A21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462250" y="4702304"/>
            <a:ext cx="1068350" cy="91109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6D8925B-410C-4120-B334-F8B97D8CD238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462250" y="4702304"/>
            <a:ext cx="306350" cy="86664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6BDAAFF-803A-4CD5-A78E-ABA4EB0A3A64}"/>
              </a:ext>
            </a:extLst>
          </p:cNvPr>
          <p:cNvGrpSpPr/>
          <p:nvPr/>
        </p:nvGrpSpPr>
        <p:grpSpPr>
          <a:xfrm>
            <a:off x="919931" y="5327090"/>
            <a:ext cx="637659" cy="758918"/>
            <a:chOff x="3617013" y="2083319"/>
            <a:chExt cx="770138" cy="916589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4E0A4292-D2D3-4FFA-AAFA-2A5635FAA929}"/>
                </a:ext>
              </a:extLst>
            </p:cNvPr>
            <p:cNvSpPr/>
            <p:nvPr/>
          </p:nvSpPr>
          <p:spPr>
            <a:xfrm>
              <a:off x="3617013" y="2229771"/>
              <a:ext cx="770138" cy="770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2D65314C-8BAF-48B2-BABD-B59156ECD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6085" y="2083319"/>
              <a:ext cx="711994" cy="815397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CFD928B-AA09-48F9-A27D-63C0A2BC5957}"/>
              </a:ext>
            </a:extLst>
          </p:cNvPr>
          <p:cNvGrpSpPr/>
          <p:nvPr/>
        </p:nvGrpSpPr>
        <p:grpSpPr>
          <a:xfrm>
            <a:off x="1719119" y="5327090"/>
            <a:ext cx="637659" cy="758918"/>
            <a:chOff x="3617013" y="2083319"/>
            <a:chExt cx="770138" cy="916589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82DDE2B7-6648-446D-82F4-0DB2ABE98D1E}"/>
                </a:ext>
              </a:extLst>
            </p:cNvPr>
            <p:cNvSpPr/>
            <p:nvPr/>
          </p:nvSpPr>
          <p:spPr>
            <a:xfrm>
              <a:off x="3617013" y="2229771"/>
              <a:ext cx="770138" cy="770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8051F85-D4C4-4169-AC30-711F2009A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6085" y="2083319"/>
              <a:ext cx="711994" cy="815397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6679694-AB5C-44C7-8676-AF1A392DC4CF}"/>
              </a:ext>
            </a:extLst>
          </p:cNvPr>
          <p:cNvGrpSpPr/>
          <p:nvPr/>
        </p:nvGrpSpPr>
        <p:grpSpPr>
          <a:xfrm>
            <a:off x="2511957" y="5346140"/>
            <a:ext cx="637659" cy="758918"/>
            <a:chOff x="3617013" y="2083319"/>
            <a:chExt cx="770138" cy="916589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D80FA8BE-1D59-484E-99B3-64157E7FC3D6}"/>
                </a:ext>
              </a:extLst>
            </p:cNvPr>
            <p:cNvSpPr/>
            <p:nvPr/>
          </p:nvSpPr>
          <p:spPr>
            <a:xfrm>
              <a:off x="3617013" y="2229771"/>
              <a:ext cx="770138" cy="770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55E4C19E-6CB9-478C-88C2-355736679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6085" y="2083319"/>
              <a:ext cx="711994" cy="815397"/>
            </a:xfrm>
            <a:prstGeom prst="rect">
              <a:avLst/>
            </a:prstGeom>
          </p:spPr>
        </p:pic>
      </p:grpSp>
      <p:pic>
        <p:nvPicPr>
          <p:cNvPr id="31" name="그림 30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83418564-4153-4403-A17F-244309A20E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581" y="5377510"/>
            <a:ext cx="328779" cy="70849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652A8F3-7972-4995-909A-8134CCFEC5B8}"/>
              </a:ext>
            </a:extLst>
          </p:cNvPr>
          <p:cNvSpPr txBox="1"/>
          <p:nvPr/>
        </p:nvSpPr>
        <p:spPr>
          <a:xfrm>
            <a:off x="906145" y="4534585"/>
            <a:ext cx="160591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institutional</a:t>
            </a:r>
            <a:b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network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4F1859-6A1A-4A61-BFC3-7BD3C5AAE05B}"/>
              </a:ext>
            </a:extLst>
          </p:cNvPr>
          <p:cNvSpPr txBox="1"/>
          <p:nvPr/>
        </p:nvSpPr>
        <p:spPr>
          <a:xfrm>
            <a:off x="2473325" y="3692009"/>
            <a:ext cx="94932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15 Mbps 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접속 링크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FFB0AD-E8F8-4907-AE7B-7C98AFBF8882}"/>
              </a:ext>
            </a:extLst>
          </p:cNvPr>
          <p:cNvSpPr txBox="1"/>
          <p:nvPr/>
        </p:nvSpPr>
        <p:spPr>
          <a:xfrm>
            <a:off x="2987675" y="4581128"/>
            <a:ext cx="112712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100 Mbps LAN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359702-9C48-4378-BDBC-475F10A0FC9D}"/>
              </a:ext>
            </a:extLst>
          </p:cNvPr>
          <p:cNvSpPr txBox="1"/>
          <p:nvPr/>
        </p:nvSpPr>
        <p:spPr>
          <a:xfrm>
            <a:off x="3512220" y="1394510"/>
            <a:ext cx="72072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origin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servers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D8E4CB4-476E-44EF-A626-3F7E5F22B7E8}"/>
              </a:ext>
            </a:extLst>
          </p:cNvPr>
          <p:cNvGrpSpPr/>
          <p:nvPr/>
        </p:nvGrpSpPr>
        <p:grpSpPr>
          <a:xfrm>
            <a:off x="787656" y="1771777"/>
            <a:ext cx="603622" cy="641224"/>
            <a:chOff x="5087887" y="4298633"/>
            <a:chExt cx="921886" cy="979314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218AE16-27BE-4FD2-B645-2E5E2ADFE472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8" name="그림 37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EE7D020D-B533-49D3-AF4F-876362D19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E458437-9849-48DD-A1AE-9AC3986EA154}"/>
              </a:ext>
            </a:extLst>
          </p:cNvPr>
          <p:cNvGrpSpPr/>
          <p:nvPr/>
        </p:nvGrpSpPr>
        <p:grpSpPr>
          <a:xfrm>
            <a:off x="2908599" y="1435227"/>
            <a:ext cx="603622" cy="641224"/>
            <a:chOff x="5087887" y="4298633"/>
            <a:chExt cx="921886" cy="979314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8DF77B4F-F496-45F1-9D51-8019970C2EA5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1" name="그림 40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123FCA0B-A68B-45DF-9751-AA51A2893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2AC3C5B-AE38-4399-AAE4-293D6E4AA226}"/>
              </a:ext>
            </a:extLst>
          </p:cNvPr>
          <p:cNvGrpSpPr/>
          <p:nvPr/>
        </p:nvGrpSpPr>
        <p:grpSpPr>
          <a:xfrm>
            <a:off x="3450846" y="1985137"/>
            <a:ext cx="603622" cy="641224"/>
            <a:chOff x="5087887" y="4298633"/>
            <a:chExt cx="921886" cy="97931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E4A2480-EEE9-47B9-98EF-9AA01A44B074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4" name="그림 43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F5AA4E8E-1C95-48A9-9E92-521EE8981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DB2664A-6F5A-4CD1-87A0-1EC79F35EEBC}"/>
              </a:ext>
            </a:extLst>
          </p:cNvPr>
          <p:cNvGrpSpPr/>
          <p:nvPr/>
        </p:nvGrpSpPr>
        <p:grpSpPr>
          <a:xfrm>
            <a:off x="1351981" y="1301877"/>
            <a:ext cx="603622" cy="641224"/>
            <a:chOff x="5087887" y="4298633"/>
            <a:chExt cx="921886" cy="979314"/>
          </a:xfrm>
        </p:grpSpPr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0B561F9E-3AE4-486E-9BCB-66EDC8319654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7" name="그림 46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43E6995F-F5A3-4CB5-B36A-52A3EC5D7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DA899DD0-5947-457A-A6A1-7B976DEBAD7F}"/>
              </a:ext>
            </a:extLst>
          </p:cNvPr>
          <p:cNvGrpSpPr/>
          <p:nvPr/>
        </p:nvGrpSpPr>
        <p:grpSpPr>
          <a:xfrm>
            <a:off x="2157350" y="1301877"/>
            <a:ext cx="603622" cy="641224"/>
            <a:chOff x="5087887" y="4298633"/>
            <a:chExt cx="921886" cy="979314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E6AE933-A94E-4EB7-8C7A-45E1422DF2AD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50" name="그림 49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A6FAC2B9-8A9D-4B9C-A034-4B6863940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sp>
        <p:nvSpPr>
          <p:cNvPr id="51" name="Rectangle 3">
            <a:extLst>
              <a:ext uri="{FF2B5EF4-FFF2-40B4-BE49-F238E27FC236}">
                <a16:creationId xmlns:a16="http://schemas.microsoft.com/office/drawing/2014/main" id="{25ED5647-1543-4A1D-9428-6F2E2CB68A75}"/>
              </a:ext>
            </a:extLst>
          </p:cNvPr>
          <p:cNvSpPr txBox="1">
            <a:spLocks noChangeArrowheads="1"/>
          </p:cNvSpPr>
          <p:nvPr/>
        </p:nvSpPr>
        <p:spPr>
          <a:xfrm>
            <a:off x="4509790" y="1416204"/>
            <a:ext cx="3600748" cy="219201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평균 객체 크기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1Mbits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브라우저에서 기점 서버에 대한 평균 </a:t>
            </a:r>
            <a:r>
              <a:rPr lang="ko-KR" altLang="en-US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요청률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:15/sec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평균 데이터율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15 Mbps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기관 라우터에서 임의의 기점 서버까지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RTT : 2 sec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접속 링크 속도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15 Mbps</a:t>
            </a: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3DF6BA37-7A2D-4EC4-A300-578456BBC632}"/>
              </a:ext>
            </a:extLst>
          </p:cNvPr>
          <p:cNvSpPr txBox="1">
            <a:spLocks noChangeArrowheads="1"/>
          </p:cNvSpPr>
          <p:nvPr/>
        </p:nvSpPr>
        <p:spPr>
          <a:xfrm>
            <a:off x="4509790" y="4141460"/>
            <a:ext cx="3600748" cy="152105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LAN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사용률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15%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접속 링크 사용률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= 100%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총 지연 시간 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=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인터넷 지연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+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접속지연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+ LAN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지연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=  2 sec + minutes +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usecs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5" name="Line 51">
            <a:extLst>
              <a:ext uri="{FF2B5EF4-FFF2-40B4-BE49-F238E27FC236}">
                <a16:creationId xmlns:a16="http://schemas.microsoft.com/office/drawing/2014/main" id="{DDABC476-1BAD-4C69-B245-EFA4004EF4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1075" y="3368804"/>
            <a:ext cx="990600" cy="150813"/>
          </a:xfrm>
          <a:prstGeom prst="line">
            <a:avLst/>
          </a:pr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Box 52">
            <a:extLst>
              <a:ext uri="{FF2B5EF4-FFF2-40B4-BE49-F238E27FC236}">
                <a16:creationId xmlns:a16="http://schemas.microsoft.com/office/drawing/2014/main" id="{EDD746E7-BAC7-47EA-BC1C-AAB5003D1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9762" y="3288412"/>
            <a:ext cx="126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100 Mbps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57" name="Line 51">
            <a:extLst>
              <a:ext uri="{FF2B5EF4-FFF2-40B4-BE49-F238E27FC236}">
                <a16:creationId xmlns:a16="http://schemas.microsoft.com/office/drawing/2014/main" id="{A50A21F6-1AB4-42EB-AFAB-DAE66CA80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2023" y="4597380"/>
            <a:ext cx="739651" cy="177503"/>
          </a:xfrm>
          <a:prstGeom prst="line">
            <a:avLst/>
          </a:pr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Box 52">
            <a:extLst>
              <a:ext uri="{FF2B5EF4-FFF2-40B4-BE49-F238E27FC236}">
                <a16:creationId xmlns:a16="http://schemas.microsoft.com/office/drawing/2014/main" id="{F56542FA-C358-489A-8497-B2F2B61D5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9762" y="4543678"/>
            <a:ext cx="126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15%</a:t>
            </a:r>
          </a:p>
        </p:txBody>
      </p:sp>
      <p:sp>
        <p:nvSpPr>
          <p:cNvPr id="59" name="Line 51">
            <a:extLst>
              <a:ext uri="{FF2B5EF4-FFF2-40B4-BE49-F238E27FC236}">
                <a16:creationId xmlns:a16="http://schemas.microsoft.com/office/drawing/2014/main" id="{D501EA14-5152-4190-AB9B-F54A28F2DB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2273" y="5433734"/>
            <a:ext cx="739651" cy="177503"/>
          </a:xfrm>
          <a:prstGeom prst="line">
            <a:avLst/>
          </a:pr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Box 52">
            <a:extLst>
              <a:ext uri="{FF2B5EF4-FFF2-40B4-BE49-F238E27FC236}">
                <a16:creationId xmlns:a16="http://schemas.microsoft.com/office/drawing/2014/main" id="{CB9BA419-C318-42E9-A122-6AA8FACAA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9212" y="5570532"/>
            <a:ext cx="126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msecs</a:t>
            </a:r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id="{055E2B55-E57C-40A7-8802-5A0ADAF075EC}"/>
              </a:ext>
            </a:extLst>
          </p:cNvPr>
          <p:cNvSpPr txBox="1">
            <a:spLocks noChangeArrowheads="1"/>
          </p:cNvSpPr>
          <p:nvPr/>
        </p:nvSpPr>
        <p:spPr>
          <a:xfrm>
            <a:off x="4356656" y="99520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7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가정</a:t>
            </a:r>
            <a:endParaRPr lang="en-US" altLang="ko-KR" sz="16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E831ADD8-5C22-402C-A424-088E4752415B}"/>
              </a:ext>
            </a:extLst>
          </p:cNvPr>
          <p:cNvSpPr txBox="1">
            <a:spLocks noChangeArrowheads="1"/>
          </p:cNvSpPr>
          <p:nvPr/>
        </p:nvSpPr>
        <p:spPr>
          <a:xfrm>
            <a:off x="4356656" y="378904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7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결과</a:t>
            </a:r>
            <a:endParaRPr lang="en-US" altLang="ko-KR" sz="16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63" name="Line 51">
            <a:extLst>
              <a:ext uri="{FF2B5EF4-FFF2-40B4-BE49-F238E27FC236}">
                <a16:creationId xmlns:a16="http://schemas.microsoft.com/office/drawing/2014/main" id="{6C2A03A2-598B-48ED-B03A-58DA5A4A4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6473" y="3891260"/>
            <a:ext cx="739651" cy="177503"/>
          </a:xfrm>
          <a:prstGeom prst="line">
            <a:avLst/>
          </a:pr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Box 52">
            <a:extLst>
              <a:ext uri="{FF2B5EF4-FFF2-40B4-BE49-F238E27FC236}">
                <a16:creationId xmlns:a16="http://schemas.microsoft.com/office/drawing/2014/main" id="{3FCCA064-A4AB-447C-9A7E-4EE1264F5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612" y="3824858"/>
            <a:ext cx="126682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100 Mbps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6327CA8-DA55-4A44-AA02-C66BEA3A0CBF}"/>
              </a:ext>
            </a:extLst>
          </p:cNvPr>
          <p:cNvGrpSpPr/>
          <p:nvPr/>
        </p:nvGrpSpPr>
        <p:grpSpPr>
          <a:xfrm>
            <a:off x="4356656" y="5949280"/>
            <a:ext cx="3651964" cy="537797"/>
            <a:chOff x="4356656" y="6107658"/>
            <a:chExt cx="3651964" cy="537797"/>
          </a:xfrm>
        </p:grpSpPr>
        <p:sp>
          <p:nvSpPr>
            <p:cNvPr id="66" name="사각형: 잘린 한쪽 모서리 65">
              <a:extLst>
                <a:ext uri="{FF2B5EF4-FFF2-40B4-BE49-F238E27FC236}">
                  <a16:creationId xmlns:a16="http://schemas.microsoft.com/office/drawing/2014/main" id="{387F30D1-6305-40E9-A16E-6C4CA09878FA}"/>
                </a:ext>
              </a:extLst>
            </p:cNvPr>
            <p:cNvSpPr/>
            <p:nvPr/>
          </p:nvSpPr>
          <p:spPr>
            <a:xfrm>
              <a:off x="4373180" y="6107658"/>
              <a:ext cx="3635440" cy="430887"/>
            </a:xfrm>
            <a:prstGeom prst="snip1Rect">
              <a:avLst>
                <a:gd name="adj" fmla="val 28162"/>
              </a:avLst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65" name="Rectangle 3">
              <a:extLst>
                <a:ext uri="{FF2B5EF4-FFF2-40B4-BE49-F238E27FC236}">
                  <a16:creationId xmlns:a16="http://schemas.microsoft.com/office/drawing/2014/main" id="{7AAE5CFE-BFD8-4FA1-87F2-FC4B6039315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56656" y="6124734"/>
              <a:ext cx="35681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7"/>
                </a:buBlip>
              </a:pP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비용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</a:t>
              </a: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접속 링크 증설 비용 </a:t>
              </a:r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(</a:t>
              </a: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비싸다</a:t>
              </a:r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!)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092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7" grpId="0" animBg="1"/>
      <p:bldP spid="59" grpId="0" animBg="1"/>
      <p:bldP spid="6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웹 캐시 예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지역 캐시 설치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41</a:t>
            </a:fld>
            <a:endParaRPr lang="en-US" dirty="0"/>
          </a:p>
        </p:txBody>
      </p:sp>
      <p:sp>
        <p:nvSpPr>
          <p:cNvPr id="4" name="Google Shape;245;p4">
            <a:extLst>
              <a:ext uri="{FF2B5EF4-FFF2-40B4-BE49-F238E27FC236}">
                <a16:creationId xmlns:a16="http://schemas.microsoft.com/office/drawing/2014/main" id="{6FBF5AE5-281C-4E97-AF29-DFFB5084D306}"/>
              </a:ext>
            </a:extLst>
          </p:cNvPr>
          <p:cNvSpPr/>
          <p:nvPr/>
        </p:nvSpPr>
        <p:spPr>
          <a:xfrm>
            <a:off x="670000" y="1067753"/>
            <a:ext cx="3584500" cy="5294947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0664858-C05B-4E76-9512-2842B7F28A66}"/>
              </a:ext>
            </a:extLst>
          </p:cNvPr>
          <p:cNvSpPr/>
          <p:nvPr/>
        </p:nvSpPr>
        <p:spPr>
          <a:xfrm>
            <a:off x="823950" y="4413250"/>
            <a:ext cx="3276600" cy="1844690"/>
          </a:xfrm>
          <a:prstGeom prst="roundRect">
            <a:avLst>
              <a:gd name="adj" fmla="val 7226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F7AD180-511A-4960-80A7-D5A6F805FD9D}"/>
              </a:ext>
            </a:extLst>
          </p:cNvPr>
          <p:cNvCxnSpPr>
            <a:cxnSpLocks/>
            <a:stCxn id="37" idx="5"/>
            <a:endCxn id="16" idx="0"/>
          </p:cNvCxnSpPr>
          <p:nvPr/>
        </p:nvCxnSpPr>
        <p:spPr>
          <a:xfrm>
            <a:off x="1302880" y="2310834"/>
            <a:ext cx="1159370" cy="809492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5F3944A-D204-4057-A499-06F2E630DF75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765300" y="1739900"/>
            <a:ext cx="696950" cy="138042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EAAF9A0-EAB8-4539-BB35-137053F76391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2391029" y="1739900"/>
            <a:ext cx="71221" cy="138042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86DF5B4-9D63-4444-881D-AF97A74205C7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462250" y="1898650"/>
            <a:ext cx="731800" cy="122167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2D97164-56D7-46A1-80DA-61B03A0A8731}"/>
              </a:ext>
            </a:extLst>
          </p:cNvPr>
          <p:cNvCxnSpPr>
            <a:cxnSpLocks/>
            <a:stCxn id="43" idx="3"/>
            <a:endCxn id="16" idx="0"/>
          </p:cNvCxnSpPr>
          <p:nvPr/>
        </p:nvCxnSpPr>
        <p:spPr>
          <a:xfrm flipH="1">
            <a:off x="2462250" y="2524194"/>
            <a:ext cx="1076994" cy="596132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BBEEB7F3-0DB4-4D4D-904F-64C8D024CB8A}"/>
              </a:ext>
            </a:extLst>
          </p:cNvPr>
          <p:cNvSpPr/>
          <p:nvPr/>
        </p:nvSpPr>
        <p:spPr>
          <a:xfrm>
            <a:off x="1385925" y="2394758"/>
            <a:ext cx="2152650" cy="1260764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AD042BB-A73B-4AB5-B50F-F4E28BBEBACB}"/>
              </a:ext>
            </a:extLst>
          </p:cNvPr>
          <p:cNvCxnSpPr>
            <a:cxnSpLocks/>
          </p:cNvCxnSpPr>
          <p:nvPr/>
        </p:nvCxnSpPr>
        <p:spPr>
          <a:xfrm>
            <a:off x="2462250" y="3223260"/>
            <a:ext cx="0" cy="1303020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Rectangle 3">
            <a:extLst>
              <a:ext uri="{FF2B5EF4-FFF2-40B4-BE49-F238E27FC236}">
                <a16:creationId xmlns:a16="http://schemas.microsoft.com/office/drawing/2014/main" id="{320B2DC1-C9D4-48CD-949E-4AB2B445EB50}"/>
              </a:ext>
            </a:extLst>
          </p:cNvPr>
          <p:cNvSpPr txBox="1">
            <a:spLocks noChangeArrowheads="1"/>
          </p:cNvSpPr>
          <p:nvPr/>
        </p:nvSpPr>
        <p:spPr>
          <a:xfrm>
            <a:off x="1572654" y="2636912"/>
            <a:ext cx="177919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public Internet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D50D0ED-CAEE-45B5-9B15-ABF4D5FDE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661" y="3120326"/>
            <a:ext cx="637178" cy="4161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85A8F76-BD35-4393-B0F2-D49F0AC51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661" y="4286186"/>
            <a:ext cx="637178" cy="416118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1557D2A-3239-4A8D-9B0F-56298D47371D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1911350" y="4702304"/>
            <a:ext cx="550900" cy="90474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9867B42-435F-46FF-9EEC-26E04F6979FC}"/>
              </a:ext>
            </a:extLst>
          </p:cNvPr>
          <p:cNvCxnSpPr>
            <a:cxnSpLocks/>
            <a:stCxn id="17" idx="2"/>
            <a:endCxn id="24" idx="1"/>
          </p:cNvCxnSpPr>
          <p:nvPr/>
        </p:nvCxnSpPr>
        <p:spPr>
          <a:xfrm flipH="1">
            <a:off x="944002" y="4702304"/>
            <a:ext cx="1518248" cy="962353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DAD05C9-C48C-493C-8226-25C0F50CED2B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462250" y="4702304"/>
            <a:ext cx="1068350" cy="91109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BF4D40A-B037-4CF1-A7B4-C3CA4DBA4852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462250" y="4702304"/>
            <a:ext cx="306350" cy="86664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0DFBDFA-62BF-4557-98FC-993DDEA932FC}"/>
              </a:ext>
            </a:extLst>
          </p:cNvPr>
          <p:cNvGrpSpPr/>
          <p:nvPr/>
        </p:nvGrpSpPr>
        <p:grpSpPr>
          <a:xfrm>
            <a:off x="919931" y="5327090"/>
            <a:ext cx="637659" cy="758918"/>
            <a:chOff x="3617013" y="2083319"/>
            <a:chExt cx="770138" cy="916589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F4AAC13D-C9F2-4124-9EF9-4CD90A258F7D}"/>
                </a:ext>
              </a:extLst>
            </p:cNvPr>
            <p:cNvSpPr/>
            <p:nvPr/>
          </p:nvSpPr>
          <p:spPr>
            <a:xfrm>
              <a:off x="3617013" y="2229771"/>
              <a:ext cx="770138" cy="770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2CAC7BF6-6E1C-4FFF-B909-1D628876F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6085" y="2083319"/>
              <a:ext cx="711994" cy="815397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37560AD-5FBA-4218-825B-7D77A186E5D4}"/>
              </a:ext>
            </a:extLst>
          </p:cNvPr>
          <p:cNvGrpSpPr/>
          <p:nvPr/>
        </p:nvGrpSpPr>
        <p:grpSpPr>
          <a:xfrm>
            <a:off x="1719119" y="5327090"/>
            <a:ext cx="637659" cy="758918"/>
            <a:chOff x="3617013" y="2083319"/>
            <a:chExt cx="770138" cy="916589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8A7AB65-4C65-4E71-8978-D6D7615121CB}"/>
                </a:ext>
              </a:extLst>
            </p:cNvPr>
            <p:cNvSpPr/>
            <p:nvPr/>
          </p:nvSpPr>
          <p:spPr>
            <a:xfrm>
              <a:off x="3617013" y="2229771"/>
              <a:ext cx="770138" cy="770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9DDF4224-CB09-40C7-BCA4-9AA290C14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6085" y="2083319"/>
              <a:ext cx="711994" cy="815397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5A07594-5FD3-4AD8-AE60-2EDA3EB75A17}"/>
              </a:ext>
            </a:extLst>
          </p:cNvPr>
          <p:cNvGrpSpPr/>
          <p:nvPr/>
        </p:nvGrpSpPr>
        <p:grpSpPr>
          <a:xfrm>
            <a:off x="2511957" y="5346140"/>
            <a:ext cx="637659" cy="758918"/>
            <a:chOff x="3617013" y="2083319"/>
            <a:chExt cx="770138" cy="916589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F0256702-28A4-4EC7-9884-A34EEC5B2C4F}"/>
                </a:ext>
              </a:extLst>
            </p:cNvPr>
            <p:cNvSpPr/>
            <p:nvPr/>
          </p:nvSpPr>
          <p:spPr>
            <a:xfrm>
              <a:off x="3617013" y="2229771"/>
              <a:ext cx="770138" cy="770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81F0898E-2B37-4C98-8F03-04B6273B0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6085" y="2083319"/>
              <a:ext cx="711994" cy="815397"/>
            </a:xfrm>
            <a:prstGeom prst="rect">
              <a:avLst/>
            </a:prstGeom>
          </p:spPr>
        </p:pic>
      </p:grpSp>
      <p:pic>
        <p:nvPicPr>
          <p:cNvPr id="31" name="그림 30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1A497E1F-21EF-4BAC-8234-46B7E0A15B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581" y="5377510"/>
            <a:ext cx="328779" cy="70849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958B891-DEAF-4150-9D31-5A2B83C991B7}"/>
              </a:ext>
            </a:extLst>
          </p:cNvPr>
          <p:cNvSpPr txBox="1"/>
          <p:nvPr/>
        </p:nvSpPr>
        <p:spPr>
          <a:xfrm>
            <a:off x="906145" y="4534585"/>
            <a:ext cx="160591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institutional</a:t>
            </a:r>
            <a:b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network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39749E-8641-4FF5-8736-3C64068E5539}"/>
              </a:ext>
            </a:extLst>
          </p:cNvPr>
          <p:cNvSpPr txBox="1"/>
          <p:nvPr/>
        </p:nvSpPr>
        <p:spPr>
          <a:xfrm>
            <a:off x="2473325" y="3692009"/>
            <a:ext cx="94932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15 Mbps 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접속 링크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3E2027-AA18-4B24-8C59-E72A6D4D41C3}"/>
              </a:ext>
            </a:extLst>
          </p:cNvPr>
          <p:cNvSpPr txBox="1"/>
          <p:nvPr/>
        </p:nvSpPr>
        <p:spPr>
          <a:xfrm>
            <a:off x="2987675" y="4581128"/>
            <a:ext cx="112712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100 Mbps LAN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8842CF-50C0-4233-9E51-EDCA87685A60}"/>
              </a:ext>
            </a:extLst>
          </p:cNvPr>
          <p:cNvSpPr txBox="1"/>
          <p:nvPr/>
        </p:nvSpPr>
        <p:spPr>
          <a:xfrm>
            <a:off x="3512220" y="1394510"/>
            <a:ext cx="72072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origin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servers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1E504ED-39F5-4B92-ABC3-E1A5EFA35F66}"/>
              </a:ext>
            </a:extLst>
          </p:cNvPr>
          <p:cNvGrpSpPr/>
          <p:nvPr/>
        </p:nvGrpSpPr>
        <p:grpSpPr>
          <a:xfrm>
            <a:off x="787656" y="1771777"/>
            <a:ext cx="603622" cy="641224"/>
            <a:chOff x="5087887" y="4298633"/>
            <a:chExt cx="921886" cy="979314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2F148C84-2903-47B4-A4F1-4D49A3E7AAC7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8" name="그림 37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997DB06C-83B7-4EFD-84BE-0EFEAB5B6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BF0DA79-CE00-4378-B4A2-4EC4962EE672}"/>
              </a:ext>
            </a:extLst>
          </p:cNvPr>
          <p:cNvGrpSpPr/>
          <p:nvPr/>
        </p:nvGrpSpPr>
        <p:grpSpPr>
          <a:xfrm>
            <a:off x="2908599" y="1435227"/>
            <a:ext cx="603622" cy="641224"/>
            <a:chOff x="5087887" y="4298633"/>
            <a:chExt cx="921886" cy="979314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823AB93-E122-4DE4-985A-3E1F63734B0C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1" name="그림 40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53A75AFF-AAD3-431E-8F63-9CCCFCE25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663A2FD-576C-4940-A856-C6C93345FE00}"/>
              </a:ext>
            </a:extLst>
          </p:cNvPr>
          <p:cNvGrpSpPr/>
          <p:nvPr/>
        </p:nvGrpSpPr>
        <p:grpSpPr>
          <a:xfrm>
            <a:off x="3450846" y="1985137"/>
            <a:ext cx="603622" cy="641224"/>
            <a:chOff x="5087887" y="4298633"/>
            <a:chExt cx="921886" cy="97931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CECF9DE-9B16-4151-BFFE-53D66209B9C1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4" name="그림 43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76B534E6-5DFE-437B-9B2E-941ECA88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5AF289F-BC71-4E91-97E2-4E5A65DAE869}"/>
              </a:ext>
            </a:extLst>
          </p:cNvPr>
          <p:cNvGrpSpPr/>
          <p:nvPr/>
        </p:nvGrpSpPr>
        <p:grpSpPr>
          <a:xfrm>
            <a:off x="1351981" y="1301877"/>
            <a:ext cx="603622" cy="641224"/>
            <a:chOff x="5087887" y="4298633"/>
            <a:chExt cx="921886" cy="979314"/>
          </a:xfrm>
        </p:grpSpPr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EAE6D516-911C-44E0-8311-EC73B94980AD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7" name="그림 46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A41A57D4-B2D6-47EE-B654-82E82C4EB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0CC8FA2-120B-4849-9C7A-CF5AA1F06721}"/>
              </a:ext>
            </a:extLst>
          </p:cNvPr>
          <p:cNvGrpSpPr/>
          <p:nvPr/>
        </p:nvGrpSpPr>
        <p:grpSpPr>
          <a:xfrm>
            <a:off x="2157350" y="1301877"/>
            <a:ext cx="603622" cy="641224"/>
            <a:chOff x="5087887" y="4298633"/>
            <a:chExt cx="921886" cy="979314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F9140CD-2646-4DCD-8FDC-579F6474F5AB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50" name="그림 49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2F551CD7-9CEE-4564-9230-D2BB0DF84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7EA8C1FE-A562-4344-B407-5B47936FE06F}"/>
              </a:ext>
            </a:extLst>
          </p:cNvPr>
          <p:cNvGrpSpPr/>
          <p:nvPr/>
        </p:nvGrpSpPr>
        <p:grpSpPr>
          <a:xfrm>
            <a:off x="3330575" y="5335588"/>
            <a:ext cx="1146175" cy="1167846"/>
            <a:chOff x="3330575" y="5335588"/>
            <a:chExt cx="1146175" cy="1167846"/>
          </a:xfrm>
        </p:grpSpPr>
        <p:sp>
          <p:nvSpPr>
            <p:cNvPr id="52" name="Rectangle 307">
              <a:extLst>
                <a:ext uri="{FF2B5EF4-FFF2-40B4-BE49-F238E27FC236}">
                  <a16:creationId xmlns:a16="http://schemas.microsoft.com/office/drawing/2014/main" id="{20BF857B-5E9F-4BFB-B22B-CB646249F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7250" y="5335588"/>
              <a:ext cx="522288" cy="750888"/>
            </a:xfrm>
            <a:prstGeom prst="rect">
              <a:avLst/>
            </a:prstGeom>
            <a:noFill/>
            <a:ln w="31750">
              <a:solidFill>
                <a:srgbClr val="F27037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3BA6141-5231-40E6-A0AD-B551D76C893B}"/>
                </a:ext>
              </a:extLst>
            </p:cNvPr>
            <p:cNvSpPr txBox="1"/>
            <p:nvPr/>
          </p:nvSpPr>
          <p:spPr>
            <a:xfrm>
              <a:off x="3330575" y="6120252"/>
              <a:ext cx="1146175" cy="3831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local web 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cache</a:t>
              </a:r>
            </a:p>
          </p:txBody>
        </p:sp>
      </p:grpSp>
      <p:sp>
        <p:nvSpPr>
          <p:cNvPr id="55" name="Rectangle 3">
            <a:extLst>
              <a:ext uri="{FF2B5EF4-FFF2-40B4-BE49-F238E27FC236}">
                <a16:creationId xmlns:a16="http://schemas.microsoft.com/office/drawing/2014/main" id="{55AD43F4-E83F-4CB2-8F61-DDA6BEDB614E}"/>
              </a:ext>
            </a:extLst>
          </p:cNvPr>
          <p:cNvSpPr txBox="1">
            <a:spLocks noChangeArrowheads="1"/>
          </p:cNvSpPr>
          <p:nvPr/>
        </p:nvSpPr>
        <p:spPr>
          <a:xfrm>
            <a:off x="4509790" y="4141460"/>
            <a:ext cx="3600748" cy="100399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LAN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사용률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15%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접속 링크 사용률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= 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총 지연 시간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=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89DD993F-77C4-4366-A038-94509896CFA4}"/>
              </a:ext>
            </a:extLst>
          </p:cNvPr>
          <p:cNvSpPr txBox="1">
            <a:spLocks noChangeArrowheads="1"/>
          </p:cNvSpPr>
          <p:nvPr/>
        </p:nvSpPr>
        <p:spPr>
          <a:xfrm>
            <a:off x="4356656" y="378904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7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결과</a:t>
            </a:r>
            <a:endParaRPr lang="en-US" altLang="ko-KR" sz="16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59" name="Text Box 79">
            <a:extLst>
              <a:ext uri="{FF2B5EF4-FFF2-40B4-BE49-F238E27FC236}">
                <a16:creationId xmlns:a16="http://schemas.microsoft.com/office/drawing/2014/main" id="{FF74ACC7-5236-46A3-AA56-AF1FE88A4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5071" y="4452352"/>
            <a:ext cx="3321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indent="-342900" algn="ctr">
              <a:spcBef>
                <a:spcPct val="0"/>
              </a:spcBef>
            </a:pPr>
            <a:r>
              <a:rPr lang="en-US" altLang="ko-KR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60" name="Text Box 77">
            <a:extLst>
              <a:ext uri="{FF2B5EF4-FFF2-40B4-BE49-F238E27FC236}">
                <a16:creationId xmlns:a16="http://schemas.microsoft.com/office/drawing/2014/main" id="{4ED6612A-2C6E-4DE6-805F-CD223874F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7543" y="4809222"/>
            <a:ext cx="3321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indent="-342900" algn="ctr">
              <a:spcBef>
                <a:spcPct val="0"/>
              </a:spcBef>
            </a:pP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61" name="Text Box 76">
            <a:extLst>
              <a:ext uri="{FF2B5EF4-FFF2-40B4-BE49-F238E27FC236}">
                <a16:creationId xmlns:a16="http://schemas.microsoft.com/office/drawing/2014/main" id="{EE782FDF-1147-4091-851A-854C5D20C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2549" y="5102592"/>
            <a:ext cx="3384171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 latinLnBrk="0">
              <a:lnSpc>
                <a:spcPct val="120000"/>
              </a:lnSpc>
              <a:spcBef>
                <a:spcPct val="0"/>
              </a:spcBef>
            </a:pPr>
            <a:r>
              <a:rPr lang="ko-KR" altLang="en-US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</a:rPr>
              <a:t>링크 사용률과 지연을 어떻게</a:t>
            </a:r>
            <a:endParaRPr lang="en-US" altLang="ko-KR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+mj-ea"/>
              <a:ea typeface="+mj-ea"/>
            </a:endParaRPr>
          </a:p>
          <a:p>
            <a:pPr indent="-342900" latinLnBrk="0">
              <a:lnSpc>
                <a:spcPct val="120000"/>
              </a:lnSpc>
              <a:spcBef>
                <a:spcPct val="0"/>
              </a:spcBef>
            </a:pPr>
            <a:r>
              <a:rPr lang="ko-KR" altLang="en-US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</a:rPr>
              <a:t>계산할 것인가</a:t>
            </a:r>
            <a:r>
              <a:rPr lang="en-US" altLang="ko-KR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5DB853E0-7D20-49B9-B78B-0A8587C2F73F}"/>
              </a:ext>
            </a:extLst>
          </p:cNvPr>
          <p:cNvSpPr txBox="1">
            <a:spLocks noChangeArrowheads="1"/>
          </p:cNvSpPr>
          <p:nvPr/>
        </p:nvSpPr>
        <p:spPr>
          <a:xfrm>
            <a:off x="4509790" y="1484784"/>
            <a:ext cx="3600748" cy="232005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평균 객체 크기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1Mbits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브라우저에서 기점 서버에 대한 평균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요청률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:15/sec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평균 데이터율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15 Mbps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기관 라우터에서 임의의 기점 서버까지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RTT : 2 sec</a:t>
            </a:r>
          </a:p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접속 링크 속도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15 Mbps</a:t>
            </a:r>
          </a:p>
        </p:txBody>
      </p:sp>
      <p:sp>
        <p:nvSpPr>
          <p:cNvPr id="65" name="Rectangle 3">
            <a:extLst>
              <a:ext uri="{FF2B5EF4-FFF2-40B4-BE49-F238E27FC236}">
                <a16:creationId xmlns:a16="http://schemas.microsoft.com/office/drawing/2014/main" id="{EE42F314-FDDA-4F93-84EF-83BB44948896}"/>
              </a:ext>
            </a:extLst>
          </p:cNvPr>
          <p:cNvSpPr txBox="1">
            <a:spLocks noChangeArrowheads="1"/>
          </p:cNvSpPr>
          <p:nvPr/>
        </p:nvSpPr>
        <p:spPr>
          <a:xfrm>
            <a:off x="4356656" y="106378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7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가정</a:t>
            </a:r>
            <a:endParaRPr lang="en-US" altLang="ko-KR" sz="16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FCDFDFBE-64F6-4E63-BC4D-8A7D317E05CA}"/>
              </a:ext>
            </a:extLst>
          </p:cNvPr>
          <p:cNvGrpSpPr/>
          <p:nvPr/>
        </p:nvGrpSpPr>
        <p:grpSpPr>
          <a:xfrm>
            <a:off x="4356656" y="5949280"/>
            <a:ext cx="3651964" cy="537797"/>
            <a:chOff x="4356656" y="6107658"/>
            <a:chExt cx="3651964" cy="537797"/>
          </a:xfrm>
        </p:grpSpPr>
        <p:sp>
          <p:nvSpPr>
            <p:cNvPr id="69" name="사각형: 잘린 한쪽 모서리 68">
              <a:extLst>
                <a:ext uri="{FF2B5EF4-FFF2-40B4-BE49-F238E27FC236}">
                  <a16:creationId xmlns:a16="http://schemas.microsoft.com/office/drawing/2014/main" id="{E4E4D7BA-5EFE-45E0-A66B-CEC27DF4009D}"/>
                </a:ext>
              </a:extLst>
            </p:cNvPr>
            <p:cNvSpPr/>
            <p:nvPr/>
          </p:nvSpPr>
          <p:spPr>
            <a:xfrm>
              <a:off x="4373180" y="6107658"/>
              <a:ext cx="3635440" cy="430887"/>
            </a:xfrm>
            <a:prstGeom prst="snip1Rect">
              <a:avLst>
                <a:gd name="adj" fmla="val 28162"/>
              </a:avLst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70" name="Rectangle 3">
              <a:extLst>
                <a:ext uri="{FF2B5EF4-FFF2-40B4-BE49-F238E27FC236}">
                  <a16:creationId xmlns:a16="http://schemas.microsoft.com/office/drawing/2014/main" id="{01AB21A9-F81D-408B-AAE7-337798B387A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56656" y="6124734"/>
              <a:ext cx="343860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7"/>
                </a:buBlip>
              </a:pP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비용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웹 캐시 설치비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(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싸다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!)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210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웹 캐시 예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지역 캐시 설치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(cont.)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42</a:t>
            </a:fld>
            <a:endParaRPr lang="en-US" dirty="0"/>
          </a:p>
        </p:txBody>
      </p:sp>
      <p:sp>
        <p:nvSpPr>
          <p:cNvPr id="4" name="Google Shape;245;p4">
            <a:extLst>
              <a:ext uri="{FF2B5EF4-FFF2-40B4-BE49-F238E27FC236}">
                <a16:creationId xmlns:a16="http://schemas.microsoft.com/office/drawing/2014/main" id="{046028AA-02B8-4A54-B0BC-7915EF57722B}"/>
              </a:ext>
            </a:extLst>
          </p:cNvPr>
          <p:cNvSpPr/>
          <p:nvPr/>
        </p:nvSpPr>
        <p:spPr>
          <a:xfrm>
            <a:off x="670000" y="1067753"/>
            <a:ext cx="3584500" cy="5294947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DBDC584-92EC-45A6-9ECD-0900DDD1A4AC}"/>
              </a:ext>
            </a:extLst>
          </p:cNvPr>
          <p:cNvSpPr/>
          <p:nvPr/>
        </p:nvSpPr>
        <p:spPr>
          <a:xfrm>
            <a:off x="823950" y="4413250"/>
            <a:ext cx="3276600" cy="1844690"/>
          </a:xfrm>
          <a:prstGeom prst="roundRect">
            <a:avLst>
              <a:gd name="adj" fmla="val 7226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CBBFF09-52FB-4932-8833-015599F06AFE}"/>
              </a:ext>
            </a:extLst>
          </p:cNvPr>
          <p:cNvCxnSpPr>
            <a:cxnSpLocks/>
            <a:stCxn id="37" idx="5"/>
            <a:endCxn id="16" idx="0"/>
          </p:cNvCxnSpPr>
          <p:nvPr/>
        </p:nvCxnSpPr>
        <p:spPr>
          <a:xfrm>
            <a:off x="1302880" y="2310834"/>
            <a:ext cx="1159370" cy="809492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18B57B4-F319-4C0F-863F-4E57C1331207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765300" y="1739900"/>
            <a:ext cx="696950" cy="138042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8F4FBFD-2EB4-4073-B7F5-DDD70747A7ED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2391029" y="1739900"/>
            <a:ext cx="71221" cy="138042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CD2BB5F-F2C7-4017-BB5A-64A1D9243368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462250" y="1898650"/>
            <a:ext cx="731800" cy="122167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98565A0-1FF7-4A74-A3A4-C316063111C9}"/>
              </a:ext>
            </a:extLst>
          </p:cNvPr>
          <p:cNvCxnSpPr>
            <a:cxnSpLocks/>
            <a:stCxn id="43" idx="3"/>
            <a:endCxn id="16" idx="0"/>
          </p:cNvCxnSpPr>
          <p:nvPr/>
        </p:nvCxnSpPr>
        <p:spPr>
          <a:xfrm flipH="1">
            <a:off x="2462250" y="2524194"/>
            <a:ext cx="1076994" cy="596132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39CA35EC-0D68-4B4D-8771-45BB5A791474}"/>
              </a:ext>
            </a:extLst>
          </p:cNvPr>
          <p:cNvSpPr/>
          <p:nvPr/>
        </p:nvSpPr>
        <p:spPr>
          <a:xfrm>
            <a:off x="1385925" y="2394758"/>
            <a:ext cx="2152650" cy="1260764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E49BAA9-E439-4276-B388-949F0F609360}"/>
              </a:ext>
            </a:extLst>
          </p:cNvPr>
          <p:cNvCxnSpPr>
            <a:cxnSpLocks/>
          </p:cNvCxnSpPr>
          <p:nvPr/>
        </p:nvCxnSpPr>
        <p:spPr>
          <a:xfrm>
            <a:off x="2462250" y="3223260"/>
            <a:ext cx="0" cy="1303020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Rectangle 3">
            <a:extLst>
              <a:ext uri="{FF2B5EF4-FFF2-40B4-BE49-F238E27FC236}">
                <a16:creationId xmlns:a16="http://schemas.microsoft.com/office/drawing/2014/main" id="{D93ED007-B40A-43BE-B951-3B2F45361DCA}"/>
              </a:ext>
            </a:extLst>
          </p:cNvPr>
          <p:cNvSpPr txBox="1">
            <a:spLocks noChangeArrowheads="1"/>
          </p:cNvSpPr>
          <p:nvPr/>
        </p:nvSpPr>
        <p:spPr>
          <a:xfrm>
            <a:off x="1572654" y="2636912"/>
            <a:ext cx="177919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public Internet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4447447-9CF0-40BD-B20C-C8AA84B12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661" y="3120326"/>
            <a:ext cx="637178" cy="4161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2688239-85DA-44B0-B87D-D80156545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661" y="4286186"/>
            <a:ext cx="637178" cy="416118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EBD0288-CFD0-4C7C-9AB2-42A82C6F973D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1911350" y="4702304"/>
            <a:ext cx="550900" cy="90474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F9BC0B5-FE8C-4161-B145-52B8242242FD}"/>
              </a:ext>
            </a:extLst>
          </p:cNvPr>
          <p:cNvCxnSpPr>
            <a:cxnSpLocks/>
            <a:stCxn id="17" idx="2"/>
            <a:endCxn id="24" idx="1"/>
          </p:cNvCxnSpPr>
          <p:nvPr/>
        </p:nvCxnSpPr>
        <p:spPr>
          <a:xfrm flipH="1">
            <a:off x="944002" y="4702304"/>
            <a:ext cx="1518248" cy="962353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5FF5F44-36AB-4A0A-831C-A5DC1AC2E86F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462250" y="4702304"/>
            <a:ext cx="1068350" cy="91109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7C33534-F8E2-469F-84C2-FE31BC5B1012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462250" y="4702304"/>
            <a:ext cx="306350" cy="866646"/>
          </a:xfrm>
          <a:prstGeom prst="line">
            <a:avLst/>
          </a:prstGeom>
          <a:noFill/>
          <a:ln>
            <a:solidFill>
              <a:srgbClr val="105BA0"/>
            </a:soli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573EC4A-5C3C-46F9-AAAD-80895149E15E}"/>
              </a:ext>
            </a:extLst>
          </p:cNvPr>
          <p:cNvGrpSpPr/>
          <p:nvPr/>
        </p:nvGrpSpPr>
        <p:grpSpPr>
          <a:xfrm>
            <a:off x="919931" y="5327090"/>
            <a:ext cx="637659" cy="758918"/>
            <a:chOff x="3617013" y="2083319"/>
            <a:chExt cx="770138" cy="916589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B629520-3E40-40BF-92B1-763E5E6712FE}"/>
                </a:ext>
              </a:extLst>
            </p:cNvPr>
            <p:cNvSpPr/>
            <p:nvPr/>
          </p:nvSpPr>
          <p:spPr>
            <a:xfrm>
              <a:off x="3617013" y="2229771"/>
              <a:ext cx="770138" cy="770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1A211BB0-1F69-497D-AE2B-EACE312CC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6085" y="2083319"/>
              <a:ext cx="711994" cy="815397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085D979-A1A2-4040-AB74-DEEAECDA62D3}"/>
              </a:ext>
            </a:extLst>
          </p:cNvPr>
          <p:cNvGrpSpPr/>
          <p:nvPr/>
        </p:nvGrpSpPr>
        <p:grpSpPr>
          <a:xfrm>
            <a:off x="1719119" y="5327090"/>
            <a:ext cx="637659" cy="758918"/>
            <a:chOff x="3617013" y="2083319"/>
            <a:chExt cx="770138" cy="916589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EBFB9DD3-03B4-48A0-8A34-8DC6886D0DEE}"/>
                </a:ext>
              </a:extLst>
            </p:cNvPr>
            <p:cNvSpPr/>
            <p:nvPr/>
          </p:nvSpPr>
          <p:spPr>
            <a:xfrm>
              <a:off x="3617013" y="2229771"/>
              <a:ext cx="770138" cy="770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37F0C045-2347-4421-9E15-D092C2690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6085" y="2083319"/>
              <a:ext cx="711994" cy="815397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3A6E2FF-B68B-46D5-A471-AB1F3E6E1F0D}"/>
              </a:ext>
            </a:extLst>
          </p:cNvPr>
          <p:cNvGrpSpPr/>
          <p:nvPr/>
        </p:nvGrpSpPr>
        <p:grpSpPr>
          <a:xfrm>
            <a:off x="2511957" y="5346140"/>
            <a:ext cx="637659" cy="758918"/>
            <a:chOff x="3617013" y="2083319"/>
            <a:chExt cx="770138" cy="916589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CE68A2F-E10A-4586-8957-AE230CBD36E7}"/>
                </a:ext>
              </a:extLst>
            </p:cNvPr>
            <p:cNvSpPr/>
            <p:nvPr/>
          </p:nvSpPr>
          <p:spPr>
            <a:xfrm>
              <a:off x="3617013" y="2229771"/>
              <a:ext cx="770138" cy="770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6A66ACB7-38E6-45D0-A332-2BBDCD6AF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6085" y="2083319"/>
              <a:ext cx="711994" cy="815397"/>
            </a:xfrm>
            <a:prstGeom prst="rect">
              <a:avLst/>
            </a:prstGeom>
          </p:spPr>
        </p:pic>
      </p:grpSp>
      <p:pic>
        <p:nvPicPr>
          <p:cNvPr id="31" name="그림 30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A52020B8-B727-49EB-88C6-14B51B284A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581" y="5377510"/>
            <a:ext cx="328779" cy="70849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D653D6A-A9A9-4850-87D2-EC136EC73BE6}"/>
              </a:ext>
            </a:extLst>
          </p:cNvPr>
          <p:cNvSpPr txBox="1"/>
          <p:nvPr/>
        </p:nvSpPr>
        <p:spPr>
          <a:xfrm>
            <a:off x="906145" y="4534585"/>
            <a:ext cx="160591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institutional</a:t>
            </a:r>
            <a:b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network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F5E328-B165-49A7-AD03-7E4FA8ADA0CD}"/>
              </a:ext>
            </a:extLst>
          </p:cNvPr>
          <p:cNvSpPr txBox="1"/>
          <p:nvPr/>
        </p:nvSpPr>
        <p:spPr>
          <a:xfrm>
            <a:off x="2473325" y="3692009"/>
            <a:ext cx="94932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15 Mbps 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접속 링크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182083-A6CC-44A4-8648-28EBC8146A74}"/>
              </a:ext>
            </a:extLst>
          </p:cNvPr>
          <p:cNvSpPr txBox="1"/>
          <p:nvPr/>
        </p:nvSpPr>
        <p:spPr>
          <a:xfrm>
            <a:off x="2987675" y="4581128"/>
            <a:ext cx="112712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100 Mbps LAN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512564-98AD-4939-9D90-616A2666521A}"/>
              </a:ext>
            </a:extLst>
          </p:cNvPr>
          <p:cNvSpPr txBox="1"/>
          <p:nvPr/>
        </p:nvSpPr>
        <p:spPr>
          <a:xfrm>
            <a:off x="3512220" y="1394510"/>
            <a:ext cx="72072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origin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servers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0D1D52A-C8E2-4EB8-9215-5EC0D80D1D40}"/>
              </a:ext>
            </a:extLst>
          </p:cNvPr>
          <p:cNvGrpSpPr/>
          <p:nvPr/>
        </p:nvGrpSpPr>
        <p:grpSpPr>
          <a:xfrm>
            <a:off x="787656" y="1771777"/>
            <a:ext cx="603622" cy="641224"/>
            <a:chOff x="5087887" y="4298633"/>
            <a:chExt cx="921886" cy="979314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1B60403-008D-41A8-A787-FD14F536A519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8" name="그림 37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68E91FF5-C7E0-4D0B-A2D8-F217187CC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B53EC27-89A9-4F0B-8C32-10603E4EF7F9}"/>
              </a:ext>
            </a:extLst>
          </p:cNvPr>
          <p:cNvGrpSpPr/>
          <p:nvPr/>
        </p:nvGrpSpPr>
        <p:grpSpPr>
          <a:xfrm>
            <a:off x="2908599" y="1435227"/>
            <a:ext cx="603622" cy="641224"/>
            <a:chOff x="5087887" y="4298633"/>
            <a:chExt cx="921886" cy="979314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4640A5B6-C1AD-4F47-91C0-C7E653B7A634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1" name="그림 40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6452E834-3EAB-4B2D-9B3D-341D3964F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B149529-08AF-48FA-8FD0-D57BEB19A61D}"/>
              </a:ext>
            </a:extLst>
          </p:cNvPr>
          <p:cNvGrpSpPr/>
          <p:nvPr/>
        </p:nvGrpSpPr>
        <p:grpSpPr>
          <a:xfrm>
            <a:off x="3450846" y="1985137"/>
            <a:ext cx="603622" cy="641224"/>
            <a:chOff x="5087887" y="4298633"/>
            <a:chExt cx="921886" cy="97931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606F7AA-5BEB-41BC-9B36-B2A7D2B57A0D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4" name="그림 43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11A4D716-C254-4472-8738-C5F71BB92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8DA62FD-C57E-4281-80CA-AA50C52A4F9C}"/>
              </a:ext>
            </a:extLst>
          </p:cNvPr>
          <p:cNvGrpSpPr/>
          <p:nvPr/>
        </p:nvGrpSpPr>
        <p:grpSpPr>
          <a:xfrm>
            <a:off x="1351981" y="1301877"/>
            <a:ext cx="603622" cy="641224"/>
            <a:chOff x="5087887" y="4298633"/>
            <a:chExt cx="921886" cy="979314"/>
          </a:xfrm>
        </p:grpSpPr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7CAA172-FFBA-49C1-B9FC-7D78CABE42DB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7" name="그림 46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E92DDB52-EB9A-4147-B718-5DD5E42AE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D01181D6-C91D-4211-94A2-33EA1551AFD7}"/>
              </a:ext>
            </a:extLst>
          </p:cNvPr>
          <p:cNvGrpSpPr/>
          <p:nvPr/>
        </p:nvGrpSpPr>
        <p:grpSpPr>
          <a:xfrm>
            <a:off x="2157350" y="1301877"/>
            <a:ext cx="603622" cy="641224"/>
            <a:chOff x="5087887" y="4298633"/>
            <a:chExt cx="921886" cy="979314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32D9DDF5-DBAD-4937-B07B-98D1DA76CFF1}"/>
                </a:ext>
              </a:extLst>
            </p:cNvPr>
            <p:cNvSpPr/>
            <p:nvPr/>
          </p:nvSpPr>
          <p:spPr>
            <a:xfrm>
              <a:off x="5087887" y="4335034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50" name="그림 49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E6CFC1EA-2EEC-44B9-BAD3-1F54E9F72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604" y="4298633"/>
              <a:ext cx="454451" cy="979314"/>
            </a:xfrm>
            <a:prstGeom prst="rect">
              <a:avLst/>
            </a:prstGeom>
          </p:spPr>
        </p:pic>
      </p:grpSp>
      <p:sp>
        <p:nvSpPr>
          <p:cNvPr id="53" name="Rectangle 3">
            <a:extLst>
              <a:ext uri="{FF2B5EF4-FFF2-40B4-BE49-F238E27FC236}">
                <a16:creationId xmlns:a16="http://schemas.microsoft.com/office/drawing/2014/main" id="{0EB9FB2F-0442-4B57-B2F0-05CDE64C7AA2}"/>
              </a:ext>
            </a:extLst>
          </p:cNvPr>
          <p:cNvSpPr txBox="1">
            <a:spLocks noChangeArrowheads="1"/>
          </p:cNvSpPr>
          <p:nvPr/>
        </p:nvSpPr>
        <p:spPr>
          <a:xfrm>
            <a:off x="4509790" y="1924452"/>
            <a:ext cx="3600748" cy="59157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요청의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40%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는 캐시에서 처리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나머지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60%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는 기점 서버에서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64936BC5-E48E-4361-BD6D-35F7B42FB8A0}"/>
              </a:ext>
            </a:extLst>
          </p:cNvPr>
          <p:cNvSpPr txBox="1">
            <a:spLocks noChangeArrowheads="1"/>
          </p:cNvSpPr>
          <p:nvPr/>
        </p:nvSpPr>
        <p:spPr>
          <a:xfrm>
            <a:off x="4356656" y="154155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7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캐시 적중률이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0.4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라고 가정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72C2FE-79B5-4530-B604-7CC64A3838DE}"/>
              </a:ext>
            </a:extLst>
          </p:cNvPr>
          <p:cNvSpPr txBox="1"/>
          <p:nvPr/>
        </p:nvSpPr>
        <p:spPr>
          <a:xfrm>
            <a:off x="4343400" y="1052513"/>
            <a:ext cx="3913188" cy="39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indent="-228600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buFont typeface="Wingdings" pitchFamily="2" charset="2"/>
              <a:buNone/>
              <a:tabLst>
                <a:tab pos="576263" algn="l"/>
              </a:tabLst>
              <a:defRPr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캐시 사용 시 접속 링크 사용률과 지연 계산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: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C989983-790C-4096-A946-D588B355BE52}"/>
              </a:ext>
            </a:extLst>
          </p:cNvPr>
          <p:cNvGrpSpPr/>
          <p:nvPr/>
        </p:nvGrpSpPr>
        <p:grpSpPr>
          <a:xfrm>
            <a:off x="4356656" y="2557284"/>
            <a:ext cx="7340044" cy="1847872"/>
            <a:chOff x="4356656" y="2572524"/>
            <a:chExt cx="7340044" cy="1847872"/>
          </a:xfrm>
        </p:grpSpPr>
        <p:sp>
          <p:nvSpPr>
            <p:cNvPr id="56" name="Rectangle 3">
              <a:extLst>
                <a:ext uri="{FF2B5EF4-FFF2-40B4-BE49-F238E27FC236}">
                  <a16:creationId xmlns:a16="http://schemas.microsoft.com/office/drawing/2014/main" id="{44F8CFB8-F6D7-42B8-9F78-85EDCB1C653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09790" y="2955424"/>
              <a:ext cx="3600748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lvl="3" indent="-180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요청의 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60%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가 접속 링크를 사용함</a:t>
              </a:r>
            </a:p>
          </p:txBody>
        </p:sp>
        <p:sp>
          <p:nvSpPr>
            <p:cNvPr id="57" name="Rectangle 3">
              <a:extLst>
                <a:ext uri="{FF2B5EF4-FFF2-40B4-BE49-F238E27FC236}">
                  <a16:creationId xmlns:a16="http://schemas.microsoft.com/office/drawing/2014/main" id="{B7D069B5-535C-43E4-A9FE-656AADCFE70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56656" y="2572524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7"/>
                </a:buBlip>
              </a:pP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접속 링크 사용률</a:t>
              </a:r>
              <a:endPara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sp>
          <p:nvSpPr>
            <p:cNvPr id="58" name="Rectangle 3">
              <a:extLst>
                <a:ext uri="{FF2B5EF4-FFF2-40B4-BE49-F238E27FC236}">
                  <a16:creationId xmlns:a16="http://schemas.microsoft.com/office/drawing/2014/main" id="{01FEE3C1-CDD9-450F-8C35-3A93F14228E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09790" y="4087356"/>
              <a:ext cx="3600748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lvl="3" indent="-180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사용률 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= 9/15 = 0.6</a:t>
              </a:r>
            </a:p>
          </p:txBody>
        </p:sp>
        <p:sp>
          <p:nvSpPr>
            <p:cNvPr id="59" name="Rectangle 3">
              <a:extLst>
                <a:ext uri="{FF2B5EF4-FFF2-40B4-BE49-F238E27FC236}">
                  <a16:creationId xmlns:a16="http://schemas.microsoft.com/office/drawing/2014/main" id="{3DCF2620-FEAE-41F0-98AD-A965EF66B98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56656" y="3405376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7"/>
                </a:buBlip>
              </a:pP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접속 링크의 데이터율</a:t>
              </a:r>
              <a:b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</a:b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= 0.6*15 Mbps = 9 Mbps 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828A2065-4224-4F42-98AC-D3DEC3AAF178}"/>
              </a:ext>
            </a:extLst>
          </p:cNvPr>
          <p:cNvGrpSpPr/>
          <p:nvPr/>
        </p:nvGrpSpPr>
        <p:grpSpPr>
          <a:xfrm>
            <a:off x="4356656" y="4493880"/>
            <a:ext cx="7340044" cy="1907762"/>
            <a:chOff x="4356656" y="4509120"/>
            <a:chExt cx="7340044" cy="1907762"/>
          </a:xfrm>
        </p:grpSpPr>
        <p:sp>
          <p:nvSpPr>
            <p:cNvPr id="60" name="Rectangle 3">
              <a:extLst>
                <a:ext uri="{FF2B5EF4-FFF2-40B4-BE49-F238E27FC236}">
                  <a16:creationId xmlns:a16="http://schemas.microsoft.com/office/drawing/2014/main" id="{67EA4D32-CDA1-4DC5-B866-B9001ABFCD1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09790" y="4895825"/>
              <a:ext cx="3746798" cy="152105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lvl="3" indent="-180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= 0.6 * (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기점 서버로부터 지연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 +0.4 * (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캐시로부터의 지연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</a:t>
              </a:r>
            </a:p>
            <a:p>
              <a:pPr marL="180000" lvl="3" indent="-180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= 0.6 (2.01) + 0.4 (~msecs) = ~ 1.2 secs</a:t>
              </a:r>
            </a:p>
            <a:p>
              <a:pPr marL="180000" lvl="3" indent="-180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100 Mbps 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링크 증설 시보다 적다 </a:t>
              </a:r>
              <a:b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게다가 싸다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!)</a:t>
              </a:r>
            </a:p>
          </p:txBody>
        </p:sp>
        <p:sp>
          <p:nvSpPr>
            <p:cNvPr id="61" name="Rectangle 3">
              <a:extLst>
                <a:ext uri="{FF2B5EF4-FFF2-40B4-BE49-F238E27FC236}">
                  <a16:creationId xmlns:a16="http://schemas.microsoft.com/office/drawing/2014/main" id="{24F4A1BD-37C2-4DEA-9893-DB1DED64C51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56656" y="4509120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7"/>
                </a:buBlip>
              </a:pP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총 지연 시간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B8E19E1-8CE7-4A0A-B2D1-3A56ACDFE6A1}"/>
              </a:ext>
            </a:extLst>
          </p:cNvPr>
          <p:cNvGrpSpPr/>
          <p:nvPr/>
        </p:nvGrpSpPr>
        <p:grpSpPr>
          <a:xfrm>
            <a:off x="3330575" y="5335588"/>
            <a:ext cx="1146175" cy="1167846"/>
            <a:chOff x="3330575" y="5335588"/>
            <a:chExt cx="1146175" cy="1167846"/>
          </a:xfrm>
        </p:grpSpPr>
        <p:sp>
          <p:nvSpPr>
            <p:cNvPr id="52" name="Rectangle 307">
              <a:extLst>
                <a:ext uri="{FF2B5EF4-FFF2-40B4-BE49-F238E27FC236}">
                  <a16:creationId xmlns:a16="http://schemas.microsoft.com/office/drawing/2014/main" id="{3593E4B1-96DD-402D-B053-BAF070030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7250" y="5335588"/>
              <a:ext cx="522288" cy="750888"/>
            </a:xfrm>
            <a:prstGeom prst="rect">
              <a:avLst/>
            </a:prstGeom>
            <a:noFill/>
            <a:ln w="31750">
              <a:solidFill>
                <a:srgbClr val="F27037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58361BA-DFEB-4390-B791-E9199608EADC}"/>
                </a:ext>
              </a:extLst>
            </p:cNvPr>
            <p:cNvSpPr txBox="1"/>
            <p:nvPr/>
          </p:nvSpPr>
          <p:spPr>
            <a:xfrm>
              <a:off x="3330575" y="6120252"/>
              <a:ext cx="1146175" cy="3831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local web 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cache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833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조건부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GET 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B12F1A-FC47-451F-8943-85E073E95FBE}"/>
              </a:ext>
            </a:extLst>
          </p:cNvPr>
          <p:cNvSpPr txBox="1">
            <a:spLocks noChangeArrowheads="1"/>
          </p:cNvSpPr>
          <p:nvPr/>
        </p:nvSpPr>
        <p:spPr>
          <a:xfrm>
            <a:off x="4727848" y="1063784"/>
            <a:ext cx="352874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목표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캐시의 객체가 </a:t>
            </a:r>
            <a:b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최신이면 객체를 보내지 말라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D27B4B2-A962-427F-AC04-53634D83DA23}"/>
              </a:ext>
            </a:extLst>
          </p:cNvPr>
          <p:cNvSpPr txBox="1">
            <a:spLocks noChangeArrowheads="1"/>
          </p:cNvSpPr>
          <p:nvPr/>
        </p:nvSpPr>
        <p:spPr>
          <a:xfrm>
            <a:off x="5033440" y="1844824"/>
            <a:ext cx="3106449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객체 전송 지연 없음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링크 사용률 감소</a:t>
            </a:r>
          </a:p>
        </p:txBody>
      </p:sp>
      <p:sp>
        <p:nvSpPr>
          <p:cNvPr id="8" name="Google Shape;245;p4">
            <a:extLst>
              <a:ext uri="{FF2B5EF4-FFF2-40B4-BE49-F238E27FC236}">
                <a16:creationId xmlns:a16="http://schemas.microsoft.com/office/drawing/2014/main" id="{188D42A8-B6C1-4560-AA9C-E5EB6D3A5F3C}"/>
              </a:ext>
            </a:extLst>
          </p:cNvPr>
          <p:cNvSpPr/>
          <p:nvPr/>
        </p:nvSpPr>
        <p:spPr>
          <a:xfrm>
            <a:off x="670000" y="1067753"/>
            <a:ext cx="3932480" cy="5294947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9" name="Text Box 31">
            <a:extLst>
              <a:ext uri="{FF2B5EF4-FFF2-40B4-BE49-F238E27FC236}">
                <a16:creationId xmlns:a16="http://schemas.microsoft.com/office/drawing/2014/main" id="{0AEBA762-8593-4DB2-BA98-BD7A182ED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3280" y="2780928"/>
            <a:ext cx="1230081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&lt;date&gt;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이후에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객체에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변화 없음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FEF2DB7-7DFA-48A3-9395-DAA4D4B06633}"/>
              </a:ext>
            </a:extLst>
          </p:cNvPr>
          <p:cNvGrpSpPr/>
          <p:nvPr/>
        </p:nvGrpSpPr>
        <p:grpSpPr>
          <a:xfrm>
            <a:off x="1703512" y="1196752"/>
            <a:ext cx="762076" cy="906994"/>
            <a:chOff x="1487488" y="1196752"/>
            <a:chExt cx="921886" cy="1097194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1FDE81D-BA22-4783-9243-CE99756F0C98}"/>
                </a:ext>
              </a:extLst>
            </p:cNvPr>
            <p:cNvSpPr/>
            <p:nvPr/>
          </p:nvSpPr>
          <p:spPr>
            <a:xfrm>
              <a:off x="1487488" y="1372061"/>
              <a:ext cx="921886" cy="9218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02F89702-5793-49FB-AE36-FF15B06E3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288" y="1196752"/>
              <a:ext cx="852285" cy="976063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216353C-6F7D-45B3-92D7-8BFABAA62630}"/>
              </a:ext>
            </a:extLst>
          </p:cNvPr>
          <p:cNvGrpSpPr/>
          <p:nvPr/>
        </p:nvGrpSpPr>
        <p:grpSpPr>
          <a:xfrm>
            <a:off x="2669684" y="1251299"/>
            <a:ext cx="762076" cy="809549"/>
            <a:chOff x="5239636" y="1052513"/>
            <a:chExt cx="770138" cy="818113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3C12898-68F7-46C6-993A-99098E352040}"/>
                </a:ext>
              </a:extLst>
            </p:cNvPr>
            <p:cNvSpPr/>
            <p:nvPr/>
          </p:nvSpPr>
          <p:spPr>
            <a:xfrm>
              <a:off x="5239636" y="1082922"/>
              <a:ext cx="770138" cy="770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림 17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1C613B21-9FBC-4B1D-B0BB-DE9FE90D9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881" y="1052513"/>
              <a:ext cx="379646" cy="818113"/>
            </a:xfrm>
            <a:prstGeom prst="rect">
              <a:avLst/>
            </a:prstGeom>
          </p:spPr>
        </p:pic>
      </p:grpSp>
      <p:sp>
        <p:nvSpPr>
          <p:cNvPr id="19" name="Text Box 80">
            <a:extLst>
              <a:ext uri="{FF2B5EF4-FFF2-40B4-BE49-F238E27FC236}">
                <a16:creationId xmlns:a16="http://schemas.microsoft.com/office/drawing/2014/main" id="{364877BD-13E8-4036-82FF-71354B0E4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712" y="1587068"/>
            <a:ext cx="84350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server</a:t>
            </a:r>
          </a:p>
        </p:txBody>
      </p:sp>
      <p:sp>
        <p:nvSpPr>
          <p:cNvPr id="20" name="Text Box 80">
            <a:extLst>
              <a:ext uri="{FF2B5EF4-FFF2-40B4-BE49-F238E27FC236}">
                <a16:creationId xmlns:a16="http://schemas.microsoft.com/office/drawing/2014/main" id="{7E76732A-5A88-4DDF-9AB4-8A6C4C4A4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424" y="1587068"/>
            <a:ext cx="74411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client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F3D4D8E-3D0E-43EA-808D-BD764EFE88B5}"/>
              </a:ext>
            </a:extLst>
          </p:cNvPr>
          <p:cNvGrpSpPr/>
          <p:nvPr/>
        </p:nvGrpSpPr>
        <p:grpSpPr>
          <a:xfrm>
            <a:off x="928875" y="3212976"/>
            <a:ext cx="2660145" cy="790421"/>
            <a:chOff x="928875" y="3212976"/>
            <a:chExt cx="2660145" cy="790421"/>
          </a:xfrm>
        </p:grpSpPr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3A8E3CC0-364B-4CE3-B483-5F5AD6BE31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875" y="3356992"/>
              <a:ext cx="2660145" cy="525781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/>
              <a:tailEnd type="triangle"/>
            </a:ln>
          </p:spPr>
          <p:txBody>
            <a:bodyPr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FD811B7B-B5F7-48E5-AD31-C063ADC442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464" y="3212976"/>
              <a:ext cx="1960644" cy="7904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spcBef>
                  <a:spcPct val="0"/>
                </a:spcBef>
                <a:buClrTx/>
                <a:buFont typeface="Arial"/>
                <a:defRPr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ko-KR" sz="1300"/>
                <a:t>HTTP </a:t>
              </a:r>
              <a:r>
                <a:rPr lang="ko-KR" altLang="en-US" sz="1300"/>
                <a:t>응답</a:t>
              </a:r>
            </a:p>
            <a:p>
              <a:r>
                <a:rPr lang="en-US" altLang="ko-KR" sz="1300"/>
                <a:t>HTTP/1.0 </a:t>
              </a:r>
            </a:p>
            <a:p>
              <a:r>
                <a:rPr lang="en-US" altLang="ko-KR" sz="1300"/>
                <a:t>304 Not Modified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1FC8C2D-CAB1-4A5C-A68B-980252BDBA64}"/>
              </a:ext>
            </a:extLst>
          </p:cNvPr>
          <p:cNvGrpSpPr/>
          <p:nvPr/>
        </p:nvGrpSpPr>
        <p:grpSpPr>
          <a:xfrm>
            <a:off x="928875" y="2304454"/>
            <a:ext cx="2660145" cy="792000"/>
            <a:chOff x="928875" y="2304454"/>
            <a:chExt cx="2660145" cy="792000"/>
          </a:xfrm>
        </p:grpSpPr>
        <p:sp>
          <p:nvSpPr>
            <p:cNvPr id="21" name="Line 9">
              <a:extLst>
                <a:ext uri="{FF2B5EF4-FFF2-40B4-BE49-F238E27FC236}">
                  <a16:creationId xmlns:a16="http://schemas.microsoft.com/office/drawing/2014/main" id="{5E6D2CAB-5265-4F1B-99E9-02F365578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875" y="2420888"/>
              <a:ext cx="2660145" cy="525781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/>
              <a:tailEnd type="triangle"/>
            </a:ln>
          </p:spPr>
          <p:txBody>
            <a:bodyPr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565369F3-BB5E-4B83-8BD9-602C9DC66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202" y="2304454"/>
              <a:ext cx="1960879" cy="79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buClr>
                  <a:srgbClr val="000000"/>
                </a:buClr>
                <a:buFont typeface="Arial"/>
                <a:defRPr sz="1400">
                  <a:solidFill>
                    <a:schemeClr val="lt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ct val="0"/>
                </a:spcBef>
                <a:buClrTx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</a:rPr>
                <a:t>HTTP </a:t>
              </a:r>
              <a:r>
                <a:rPr lang="ko-KR" altLang="en-US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</a:rPr>
                <a:t>요청 메시지</a:t>
              </a:r>
            </a:p>
            <a:p>
              <a:pPr>
                <a:spcBef>
                  <a:spcPct val="0"/>
                </a:spcBef>
                <a:buClrTx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</a:rPr>
                <a:t>If-modified-since: &lt;date&gt;</a:t>
              </a:r>
            </a:p>
          </p:txBody>
        </p:sp>
      </p:grp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8F2BEEE-333A-4A6B-A859-5A7F3A15478A}"/>
              </a:ext>
            </a:extLst>
          </p:cNvPr>
          <p:cNvCxnSpPr/>
          <p:nvPr/>
        </p:nvCxnSpPr>
        <p:spPr>
          <a:xfrm>
            <a:off x="777240" y="4221088"/>
            <a:ext cx="3703320" cy="0"/>
          </a:xfrm>
          <a:prstGeom prst="line">
            <a:avLst/>
          </a:prstGeom>
          <a:ln w="12700">
            <a:solidFill>
              <a:srgbClr val="C6DB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31">
            <a:extLst>
              <a:ext uri="{FF2B5EF4-FFF2-40B4-BE49-F238E27FC236}">
                <a16:creationId xmlns:a16="http://schemas.microsoft.com/office/drawing/2014/main" id="{B777C8D2-CA5B-4E43-92F3-0DB799527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3280" y="4941168"/>
            <a:ext cx="1230081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&lt;date&gt;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이후에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객체에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변화 있음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122CAA8-F398-4A30-9B11-12DA5B0F5590}"/>
              </a:ext>
            </a:extLst>
          </p:cNvPr>
          <p:cNvGrpSpPr/>
          <p:nvPr/>
        </p:nvGrpSpPr>
        <p:grpSpPr>
          <a:xfrm>
            <a:off x="928875" y="5373216"/>
            <a:ext cx="2660145" cy="790421"/>
            <a:chOff x="928875" y="5373216"/>
            <a:chExt cx="2660145" cy="790421"/>
          </a:xfrm>
        </p:grpSpPr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F0402EC8-5DDD-47C9-BB54-7D91534B99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875" y="5517232"/>
              <a:ext cx="2660145" cy="525781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/>
              <a:tailEnd type="triangle"/>
            </a:ln>
          </p:spPr>
          <p:txBody>
            <a:bodyPr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Text Box 11">
              <a:extLst>
                <a:ext uri="{FF2B5EF4-FFF2-40B4-BE49-F238E27FC236}">
                  <a16:creationId xmlns:a16="http://schemas.microsoft.com/office/drawing/2014/main" id="{B18FB036-4B21-4140-A99D-8052D5766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464" y="5373216"/>
              <a:ext cx="1960644" cy="7904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spcBef>
                  <a:spcPct val="0"/>
                </a:spcBef>
                <a:buClrTx/>
                <a:buFont typeface="Arial"/>
                <a:defRPr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ko-KR" sz="1300"/>
                <a:t>HTTP </a:t>
              </a:r>
              <a:r>
                <a:rPr lang="ko-KR" altLang="en-US" sz="1300"/>
                <a:t>응답</a:t>
              </a:r>
            </a:p>
            <a:p>
              <a:r>
                <a:rPr lang="en-US" altLang="ko-KR" sz="1300"/>
                <a:t>HTTP/1.0 200 OK</a:t>
              </a:r>
            </a:p>
            <a:p>
              <a:r>
                <a:rPr lang="en-US" altLang="ko-KR" sz="1300"/>
                <a:t>&lt;data&gt;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F722B15-6C2F-4C0A-ADAE-5ECD2AD6B4CC}"/>
              </a:ext>
            </a:extLst>
          </p:cNvPr>
          <p:cNvGrpSpPr/>
          <p:nvPr/>
        </p:nvGrpSpPr>
        <p:grpSpPr>
          <a:xfrm>
            <a:off x="928875" y="4464694"/>
            <a:ext cx="2660145" cy="792000"/>
            <a:chOff x="928875" y="4464694"/>
            <a:chExt cx="2660145" cy="792000"/>
          </a:xfrm>
        </p:grpSpPr>
        <p:sp>
          <p:nvSpPr>
            <p:cNvPr id="26" name="Line 9">
              <a:extLst>
                <a:ext uri="{FF2B5EF4-FFF2-40B4-BE49-F238E27FC236}">
                  <a16:creationId xmlns:a16="http://schemas.microsoft.com/office/drawing/2014/main" id="{C95E81DA-14C7-46DB-8FD5-ACB890317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875" y="4581128"/>
              <a:ext cx="2660145" cy="525781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/>
              <a:tailEnd type="triangle"/>
            </a:ln>
          </p:spPr>
          <p:txBody>
            <a:bodyPr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97062895-A1D2-4EB7-932E-11511E1404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202" y="4464694"/>
              <a:ext cx="1960879" cy="79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buClr>
                  <a:srgbClr val="000000"/>
                </a:buClr>
                <a:buFont typeface="Arial"/>
                <a:defRPr sz="1400">
                  <a:solidFill>
                    <a:schemeClr val="lt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ct val="0"/>
                </a:spcBef>
                <a:buClrTx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</a:rPr>
                <a:t>HTTP </a:t>
              </a:r>
              <a:r>
                <a:rPr lang="ko-KR" altLang="en-US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</a:rPr>
                <a:t>요청 메시지</a:t>
              </a:r>
            </a:p>
            <a:p>
              <a:pPr>
                <a:spcBef>
                  <a:spcPct val="0"/>
                </a:spcBef>
                <a:buClrTx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</a:rPr>
                <a:t>If-modified-since: &lt;date&gt;</a:t>
              </a:r>
            </a:p>
          </p:txBody>
        </p:sp>
      </p:grpSp>
      <p:sp>
        <p:nvSpPr>
          <p:cNvPr id="29" name="Rectangle 3">
            <a:extLst>
              <a:ext uri="{FF2B5EF4-FFF2-40B4-BE49-F238E27FC236}">
                <a16:creationId xmlns:a16="http://schemas.microsoft.com/office/drawing/2014/main" id="{322134ED-A5AA-4BAE-9C0A-645CB0874B8D}"/>
              </a:ext>
            </a:extLst>
          </p:cNvPr>
          <p:cNvSpPr txBox="1">
            <a:spLocks noChangeArrowheads="1"/>
          </p:cNvSpPr>
          <p:nvPr/>
        </p:nvSpPr>
        <p:spPr>
          <a:xfrm>
            <a:off x="4727848" y="2647960"/>
            <a:ext cx="352874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캐시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캐시된 객체의 날짜를 </a:t>
            </a:r>
            <a:b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HTTP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요청에 명시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DC00F215-E6AA-4D2F-953C-4F68858703C1}"/>
              </a:ext>
            </a:extLst>
          </p:cNvPr>
          <p:cNvSpPr txBox="1">
            <a:spLocks noChangeArrowheads="1"/>
          </p:cNvSpPr>
          <p:nvPr/>
        </p:nvSpPr>
        <p:spPr>
          <a:xfrm>
            <a:off x="5033440" y="3429000"/>
            <a:ext cx="3106449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If-modified-since: &lt;date&gt;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C49E1BDC-B410-4732-9CC7-A990BA9CBF05}"/>
              </a:ext>
            </a:extLst>
          </p:cNvPr>
          <p:cNvSpPr txBox="1">
            <a:spLocks noChangeArrowheads="1"/>
          </p:cNvSpPr>
          <p:nvPr/>
        </p:nvSpPr>
        <p:spPr>
          <a:xfrm>
            <a:off x="4727848" y="4005064"/>
            <a:ext cx="352874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서버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캐시의 객체가 최신이면 응답에 객체를 보내지 않음</a:t>
            </a:r>
            <a:endParaRPr lang="en-US" altLang="ko-KR" sz="16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EFFD279F-9AAD-4C75-8DC8-95ED4E81B46E}"/>
              </a:ext>
            </a:extLst>
          </p:cNvPr>
          <p:cNvSpPr txBox="1">
            <a:spLocks noChangeArrowheads="1"/>
          </p:cNvSpPr>
          <p:nvPr/>
        </p:nvSpPr>
        <p:spPr>
          <a:xfrm>
            <a:off x="5033440" y="4786104"/>
            <a:ext cx="3106449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HTTP/1.0 304 Not Modified</a:t>
            </a:r>
          </a:p>
        </p:txBody>
      </p:sp>
    </p:spTree>
    <p:extLst>
      <p:ext uri="{BB962C8B-B14F-4D97-AF65-F5344CB8AC3E}">
        <p14:creationId xmlns:p14="http://schemas.microsoft.com/office/powerpoint/2010/main" val="351936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38C711E-839A-4669-8504-4D0F64C853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HTTP/2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982EDBA-8B02-4037-BBA3-51A69EC1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44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5C595B-B5CD-46C9-B703-9D106A4F8700}"/>
              </a:ext>
            </a:extLst>
          </p:cNvPr>
          <p:cNvSpPr txBox="1">
            <a:spLocks noChangeArrowheads="1"/>
          </p:cNvSpPr>
          <p:nvPr/>
        </p:nvSpPr>
        <p:spPr>
          <a:xfrm>
            <a:off x="673719" y="1164104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 algn="ctr">
              <a:lnSpc>
                <a:spcPct val="100000"/>
              </a:lnSpc>
              <a:buNone/>
            </a:pPr>
            <a:r>
              <a:rPr lang="ko-KR" altLang="en-US" sz="24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핵심 목표</a:t>
            </a:r>
            <a:r>
              <a:rPr lang="en-US" altLang="ko-KR" sz="24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: </a:t>
            </a:r>
            <a:r>
              <a:rPr lang="ko-KR" altLang="en-US" sz="2400" dirty="0">
                <a:ea typeface="ＭＳ Ｐゴシック" panose="020B0600070205080204" pitchFamily="34" charset="-128"/>
              </a:rPr>
              <a:t>다중 객체 </a:t>
            </a:r>
            <a:r>
              <a:rPr lang="en-US" altLang="en-US" sz="2400" dirty="0">
                <a:ea typeface="ＭＳ Ｐゴシック" panose="020B0600070205080204" pitchFamily="34" charset="-128"/>
              </a:rPr>
              <a:t>HTTP </a:t>
            </a:r>
            <a:r>
              <a:rPr lang="ko-KR" altLang="en-US" sz="2400" dirty="0">
                <a:ea typeface="ＭＳ Ｐゴシック" panose="020B0600070205080204" pitchFamily="34" charset="-128"/>
              </a:rPr>
              <a:t>요청에서의 지연을 줄임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 lvl="1">
              <a:lnSpc>
                <a:spcPct val="100000"/>
              </a:lnSpc>
            </a:pP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F6A6E0D-5F0A-4F84-9669-19AC72A0EA11}"/>
              </a:ext>
            </a:extLst>
          </p:cNvPr>
          <p:cNvSpPr txBox="1">
            <a:spLocks noChangeArrowheads="1"/>
          </p:cNvSpPr>
          <p:nvPr/>
        </p:nvSpPr>
        <p:spPr>
          <a:xfrm>
            <a:off x="996696" y="1953768"/>
            <a:ext cx="10654118" cy="3930449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indent="0">
              <a:lnSpc>
                <a:spcPct val="120000"/>
              </a:lnSpc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HTTP1.1:</a:t>
            </a:r>
            <a:r>
              <a:rPr lang="ko-KR" altLang="en-US" sz="2400" dirty="0">
                <a:ea typeface="ＭＳ Ｐゴシック" panose="020B0600070205080204" pitchFamily="34" charset="-128"/>
              </a:rPr>
              <a:t> 단일 </a:t>
            </a:r>
            <a:r>
              <a:rPr lang="en-US" altLang="ko-KR" sz="2400" dirty="0">
                <a:ea typeface="ＭＳ Ｐゴシック" panose="020B0600070205080204" pitchFamily="34" charset="-128"/>
              </a:rPr>
              <a:t>TCP</a:t>
            </a:r>
            <a:r>
              <a:rPr lang="ko-KR" altLang="en-US" sz="2400" dirty="0">
                <a:ea typeface="ＭＳ Ｐゴシック" panose="020B0600070205080204" pitchFamily="34" charset="-128"/>
              </a:rPr>
              <a:t> 연결을 통한 파이프라인 형태의 다중 </a:t>
            </a:r>
            <a:r>
              <a:rPr lang="en-US" altLang="ko-KR" sz="2400" dirty="0">
                <a:ea typeface="ＭＳ Ｐゴシック" panose="020B0600070205080204" pitchFamily="34" charset="-128"/>
              </a:rPr>
              <a:t>GET </a:t>
            </a:r>
            <a:r>
              <a:rPr lang="ko-KR" altLang="en-US" sz="2400" dirty="0">
                <a:ea typeface="ＭＳ Ｐゴシック" panose="020B0600070205080204" pitchFamily="34" charset="-128"/>
              </a:rPr>
              <a:t>요청을 소개</a:t>
            </a:r>
            <a:endParaRPr lang="en-US" altLang="en-US" sz="2400" b="1" dirty="0">
              <a:ea typeface="ＭＳ Ｐゴシック" panose="020B0600070205080204" pitchFamily="34" charset="-128"/>
            </a:endParaRPr>
          </a:p>
          <a:p>
            <a:pPr>
              <a:lnSpc>
                <a:spcPct val="120000"/>
              </a:lnSpc>
            </a:pPr>
            <a:r>
              <a:rPr lang="ko-KR" altLang="en-US" sz="2000" dirty="0">
                <a:ea typeface="ＭＳ Ｐゴシック" panose="020B0600070205080204" pitchFamily="34" charset="-128"/>
              </a:rPr>
              <a:t>서버는 이런 다중 </a:t>
            </a:r>
            <a:r>
              <a:rPr lang="en-US" altLang="ko-KR" sz="2000" dirty="0">
                <a:ea typeface="ＭＳ Ｐゴシック" panose="020B0600070205080204" pitchFamily="34" charset="-128"/>
              </a:rPr>
              <a:t>GET </a:t>
            </a:r>
            <a:r>
              <a:rPr lang="ko-KR" altLang="en-US" sz="2000" dirty="0">
                <a:ea typeface="ＭＳ Ｐゴシック" panose="020B0600070205080204" pitchFamily="34" charset="-128"/>
              </a:rPr>
              <a:t>요청에 대해 순서대로</a:t>
            </a:r>
            <a:r>
              <a:rPr lang="en-US" altLang="ko-KR" sz="2000" dirty="0">
                <a:ea typeface="ＭＳ Ｐゴシック" panose="020B0600070205080204" pitchFamily="34" charset="-128"/>
              </a:rPr>
              <a:t>(</a:t>
            </a:r>
            <a:r>
              <a:rPr lang="en-US" altLang="en-US" sz="2000" dirty="0">
                <a:ea typeface="ＭＳ Ｐゴシック" panose="020B0600070205080204" pitchFamily="34" charset="-128"/>
              </a:rPr>
              <a:t>FCFS: first-come-first-served scheduling) </a:t>
            </a:r>
            <a:r>
              <a:rPr lang="ko-KR" altLang="en-US" sz="2000" dirty="0">
                <a:ea typeface="ＭＳ Ｐゴシック" panose="020B0600070205080204" pitchFamily="34" charset="-128"/>
              </a:rPr>
              <a:t>응답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pPr>
              <a:lnSpc>
                <a:spcPct val="12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FCFS </a:t>
            </a:r>
            <a:r>
              <a:rPr lang="ko-KR" altLang="en-US" sz="2000" dirty="0">
                <a:ea typeface="ＭＳ Ｐゴシック" panose="020B0600070205080204" pitchFamily="34" charset="-128"/>
              </a:rPr>
              <a:t>정책으로 인해</a:t>
            </a:r>
            <a:r>
              <a:rPr lang="en-US" altLang="ko-KR" sz="2000" dirty="0">
                <a:ea typeface="ＭＳ Ｐゴシック" panose="020B0600070205080204" pitchFamily="34" charset="-128"/>
              </a:rPr>
              <a:t>,</a:t>
            </a:r>
            <a:r>
              <a:rPr lang="ko-KR" altLang="en-US" sz="2000" dirty="0">
                <a:ea typeface="ＭＳ Ｐゴシック" panose="020B0600070205080204" pitchFamily="34" charset="-128"/>
              </a:rPr>
              <a:t> 작은 객체가 큰 객체 뒤에서 전송 순서를 기다려야 하는 문제</a:t>
            </a:r>
            <a:r>
              <a:rPr lang="en-US" altLang="ko-KR" sz="2000" dirty="0">
                <a:ea typeface="ＭＳ Ｐゴシック" panose="020B0600070205080204" pitchFamily="34" charset="-128"/>
              </a:rPr>
              <a:t> </a:t>
            </a:r>
            <a:r>
              <a:rPr lang="en-US" altLang="en-US" sz="2000" dirty="0">
                <a:ea typeface="ＭＳ Ｐゴシック" panose="020B0600070205080204" pitchFamily="34" charset="-128"/>
              </a:rPr>
              <a:t>(</a:t>
            </a:r>
            <a:r>
              <a:rPr lang="en-US" altLang="en-US" sz="2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head-of-line (HOL) blocking</a:t>
            </a:r>
            <a:r>
              <a:rPr lang="en-US" altLang="en-US" sz="2000" dirty="0">
                <a:ea typeface="ＭＳ Ｐゴシック" panose="020B0600070205080204" pitchFamily="34" charset="-128"/>
              </a:rPr>
              <a:t>)</a:t>
            </a:r>
            <a:r>
              <a:rPr lang="ko-KR" altLang="en-US" sz="2000" dirty="0">
                <a:ea typeface="ＭＳ Ｐゴシック" panose="020B0600070205080204" pitchFamily="34" charset="-128"/>
              </a:rPr>
              <a:t>가 발생</a:t>
            </a:r>
            <a:endParaRPr lang="en-US" altLang="ko-KR" sz="2000" dirty="0">
              <a:ea typeface="ＭＳ Ｐゴシック" panose="020B0600070205080204" pitchFamily="34" charset="-128"/>
            </a:endParaRPr>
          </a:p>
          <a:p>
            <a:pPr>
              <a:lnSpc>
                <a:spcPct val="120000"/>
              </a:lnSpc>
            </a:pPr>
            <a:r>
              <a:rPr lang="ko-KR" altLang="en-US" sz="2000" dirty="0">
                <a:ea typeface="ＭＳ Ｐゴシック" panose="020B0600070205080204" pitchFamily="34" charset="-128"/>
              </a:rPr>
              <a:t>손실 복구</a:t>
            </a:r>
            <a:r>
              <a:rPr lang="en-US" altLang="en-US" sz="2000" dirty="0">
                <a:ea typeface="ＭＳ Ｐゴシック" panose="020B0600070205080204" pitchFamily="34" charset="-128"/>
              </a:rPr>
              <a:t>(retransmitting lost TCP segments) </a:t>
            </a:r>
            <a:r>
              <a:rPr lang="ko-KR" altLang="en-US" sz="2000" dirty="0">
                <a:ea typeface="ＭＳ Ｐゴシック" panose="020B0600070205080204" pitchFamily="34" charset="-128"/>
              </a:rPr>
              <a:t>작업으로 인해</a:t>
            </a:r>
            <a:r>
              <a:rPr lang="en-US" altLang="en-US" sz="2000" dirty="0">
                <a:ea typeface="ＭＳ Ｐゴシック" panose="020B0600070205080204" pitchFamily="34" charset="-128"/>
              </a:rPr>
              <a:t> </a:t>
            </a:r>
            <a:r>
              <a:rPr lang="ko-KR" altLang="en-US" sz="2000" dirty="0">
                <a:ea typeface="ＭＳ Ｐゴシック" panose="020B0600070205080204" pitchFamily="34" charset="-128"/>
              </a:rPr>
              <a:t>객체 전송이 중단될 수 있음</a:t>
            </a:r>
            <a:endParaRPr lang="en-US" altLang="en-US" sz="18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4046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38C711E-839A-4669-8504-4D0F64C853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HTTP/2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982EDBA-8B02-4037-BBA3-51A69EC1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45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3E3EBFF-7F5B-41D9-950C-FBF39134C90F}"/>
              </a:ext>
            </a:extLst>
          </p:cNvPr>
          <p:cNvSpPr txBox="1">
            <a:spLocks noChangeArrowheads="1"/>
          </p:cNvSpPr>
          <p:nvPr/>
        </p:nvSpPr>
        <p:spPr>
          <a:xfrm>
            <a:off x="1003084" y="1948343"/>
            <a:ext cx="10458375" cy="448727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indent="0">
              <a:lnSpc>
                <a:spcPct val="100000"/>
              </a:lnSpc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HTTP/2: </a:t>
            </a:r>
            <a:r>
              <a:rPr lang="en-US" altLang="en-US" sz="1600" dirty="0">
                <a:ea typeface="ＭＳ Ｐゴシック" panose="020B0600070205080204" pitchFamily="34" charset="-128"/>
              </a:rPr>
              <a:t>[RFC 7540, 2015] </a:t>
            </a:r>
            <a:r>
              <a:rPr lang="en-US" altLang="en-US" sz="2400" dirty="0">
                <a:ea typeface="ＭＳ Ｐゴシック" panose="020B0600070205080204" pitchFamily="34" charset="-128"/>
              </a:rPr>
              <a:t>: </a:t>
            </a:r>
            <a:r>
              <a:rPr lang="ko-KR" altLang="en-US" sz="2400" dirty="0">
                <a:ea typeface="ＭＳ Ｐゴシック" panose="020B0600070205080204" pitchFamily="34" charset="-128"/>
              </a:rPr>
              <a:t>클라이언트로 객체 전송시에 서버에서의 유연성 향상 </a:t>
            </a:r>
            <a:endParaRPr lang="en-US" altLang="ko-KR" sz="2400" dirty="0">
              <a:ea typeface="ＭＳ Ｐゴシック" panose="020B0600070205080204" pitchFamily="34" charset="-128"/>
            </a:endParaRPr>
          </a:p>
          <a:p>
            <a:pPr marL="346075" indent="-280988">
              <a:lnSpc>
                <a:spcPct val="100000"/>
              </a:lnSpc>
            </a:pPr>
            <a:r>
              <a:rPr lang="ko-KR" altLang="en-US" sz="2000" dirty="0" err="1">
                <a:ea typeface="ＭＳ Ｐゴシック" panose="020B0600070205080204" pitchFamily="34" charset="-128"/>
              </a:rPr>
              <a:t>메쏘드</a:t>
            </a:r>
            <a:r>
              <a:rPr lang="en-US" altLang="en-US" sz="2000" dirty="0">
                <a:ea typeface="ＭＳ Ｐゴシック" panose="020B0600070205080204" pitchFamily="34" charset="-128"/>
              </a:rPr>
              <a:t>, </a:t>
            </a:r>
            <a:r>
              <a:rPr lang="ko-KR" altLang="en-US" sz="2000" dirty="0">
                <a:ea typeface="ＭＳ Ｐゴシック" panose="020B0600070205080204" pitchFamily="34" charset="-128"/>
              </a:rPr>
              <a:t>상태코드</a:t>
            </a:r>
            <a:r>
              <a:rPr lang="en-US" altLang="ko-KR" sz="2000" dirty="0">
                <a:ea typeface="ＭＳ Ｐゴシック" panose="020B0600070205080204" pitchFamily="34" charset="-128"/>
              </a:rPr>
              <a:t>, </a:t>
            </a:r>
            <a:r>
              <a:rPr lang="ko-KR" altLang="en-US" sz="2000" dirty="0">
                <a:ea typeface="ＭＳ Ｐゴシック" panose="020B0600070205080204" pitchFamily="34" charset="-128"/>
              </a:rPr>
              <a:t>대부분의 헤더 필드는 </a:t>
            </a:r>
            <a:r>
              <a:rPr lang="en-US" altLang="ko-KR" sz="2000" dirty="0">
                <a:ea typeface="ＭＳ Ｐゴシック" panose="020B0600070205080204" pitchFamily="34" charset="-128"/>
              </a:rPr>
              <a:t>HTTP 1.1</a:t>
            </a:r>
            <a:r>
              <a:rPr lang="ko-KR" altLang="en-US" sz="2000" dirty="0">
                <a:ea typeface="ＭＳ Ｐゴシック" panose="020B0600070205080204" pitchFamily="34" charset="-128"/>
              </a:rPr>
              <a:t>과 동일</a:t>
            </a:r>
            <a:r>
              <a:rPr lang="en-US" altLang="en-US" sz="2000" dirty="0">
                <a:ea typeface="ＭＳ Ｐゴシック" panose="020B0600070205080204" pitchFamily="34" charset="-128"/>
              </a:rPr>
              <a:t> </a:t>
            </a:r>
          </a:p>
          <a:p>
            <a:pPr marL="346075" indent="-280988">
              <a:lnSpc>
                <a:spcPct val="100000"/>
              </a:lnSpc>
            </a:pPr>
            <a:r>
              <a:rPr lang="ko-KR" altLang="en-US" sz="2000" dirty="0">
                <a:ea typeface="ＭＳ Ｐゴシック" panose="020B0600070205080204" pitchFamily="34" charset="-128"/>
              </a:rPr>
              <a:t>요청된 객체들에 대해 클라이언트가 정의한 우선순위에 기반한 전송순서 제공 </a:t>
            </a:r>
            <a:r>
              <a:rPr lang="en-US" altLang="ko-KR" sz="2000" dirty="0">
                <a:ea typeface="ＭＳ Ｐゴシック" panose="020B0600070205080204" pitchFamily="34" charset="-128"/>
              </a:rPr>
              <a:t>(</a:t>
            </a:r>
            <a:r>
              <a:rPr lang="en-US" altLang="en-US" sz="1800" dirty="0">
                <a:ea typeface="ＭＳ Ｐゴシック" panose="020B0600070205080204" pitchFamily="34" charset="-128"/>
              </a:rPr>
              <a:t>FCFS</a:t>
            </a:r>
            <a:r>
              <a:rPr lang="ko-KR" altLang="en-US" sz="1800" dirty="0">
                <a:ea typeface="ＭＳ Ｐゴシック" panose="020B0600070205080204" pitchFamily="34" charset="-128"/>
              </a:rPr>
              <a:t>가 아닐 수 있음</a:t>
            </a:r>
            <a:r>
              <a:rPr lang="en-US" altLang="en-US" sz="1800" dirty="0">
                <a:ea typeface="ＭＳ Ｐゴシック" panose="020B0600070205080204" pitchFamily="34" charset="-128"/>
              </a:rPr>
              <a:t>)</a:t>
            </a:r>
          </a:p>
          <a:p>
            <a:pPr marL="346075" indent="-280988">
              <a:lnSpc>
                <a:spcPct val="100000"/>
              </a:lnSpc>
            </a:pPr>
            <a:r>
              <a:rPr lang="ko-KR" altLang="en-US" sz="2000" dirty="0">
                <a:ea typeface="ＭＳ Ｐゴシック" panose="020B0600070205080204" pitchFamily="34" charset="-128"/>
              </a:rPr>
              <a:t>요청되지 않은 객체를 클라이언트에게 </a:t>
            </a:r>
            <a:r>
              <a:rPr lang="en-US" altLang="ko-KR" sz="2000" i="1" dirty="0">
                <a:ea typeface="ＭＳ Ｐゴシック" panose="020B0600070205080204" pitchFamily="34" charset="-128"/>
              </a:rPr>
              <a:t>push </a:t>
            </a:r>
            <a:r>
              <a:rPr lang="ko-KR" altLang="en-US" sz="2000" dirty="0">
                <a:ea typeface="ＭＳ Ｐゴシック" panose="020B0600070205080204" pitchFamily="34" charset="-128"/>
              </a:rPr>
              <a:t>할 수 있음</a:t>
            </a:r>
            <a:endParaRPr lang="en-US" altLang="ko-KR" sz="2000" dirty="0">
              <a:ea typeface="ＭＳ Ｐゴシック" panose="020B0600070205080204" pitchFamily="34" charset="-128"/>
            </a:endParaRPr>
          </a:p>
          <a:p>
            <a:pPr marL="346075" indent="-280988">
              <a:lnSpc>
                <a:spcPct val="100000"/>
              </a:lnSpc>
            </a:pPr>
            <a:r>
              <a:rPr lang="ko-KR" altLang="en-US" sz="2000" dirty="0">
                <a:ea typeface="ＭＳ Ｐゴシック" panose="020B0600070205080204" pitchFamily="34" charset="-128"/>
              </a:rPr>
              <a:t>객체를 프레임으로 나누고</a:t>
            </a:r>
            <a:r>
              <a:rPr lang="en-US" altLang="ko-KR" sz="2000" dirty="0">
                <a:ea typeface="ＭＳ Ｐゴシック" panose="020B0600070205080204" pitchFamily="34" charset="-128"/>
              </a:rPr>
              <a:t>, </a:t>
            </a:r>
            <a:r>
              <a:rPr lang="ko-KR" altLang="en-US" sz="2000" dirty="0">
                <a:ea typeface="ＭＳ Ｐゴシック" panose="020B0600070205080204" pitchFamily="34" charset="-128"/>
              </a:rPr>
              <a:t> </a:t>
            </a:r>
            <a:r>
              <a:rPr lang="en-US" altLang="ko-KR" sz="2000" dirty="0">
                <a:ea typeface="ＭＳ Ｐゴシック" panose="020B0600070205080204" pitchFamily="34" charset="-128"/>
              </a:rPr>
              <a:t>HOL blocking</a:t>
            </a:r>
            <a:r>
              <a:rPr lang="ko-KR" altLang="en-US" sz="2000" dirty="0">
                <a:ea typeface="ＭＳ Ｐゴシック" panose="020B0600070205080204" pitchFamily="34" charset="-128"/>
              </a:rPr>
              <a:t>을 완화하기 위해 프레임들을 스케줄링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pPr lvl="1">
              <a:lnSpc>
                <a:spcPct val="100000"/>
              </a:lnSpc>
            </a:pPr>
            <a:endParaRPr lang="en-US" altLang="en-US" sz="1800" dirty="0">
              <a:ea typeface="ＭＳ Ｐゴシック" panose="020B0600070205080204" pitchFamily="34" charset="-128"/>
            </a:endParaRPr>
          </a:p>
          <a:p>
            <a:pPr lvl="1">
              <a:lnSpc>
                <a:spcPct val="100000"/>
              </a:lnSpc>
            </a:pPr>
            <a:endParaRPr lang="en-US" altLang="en-US" sz="1800" dirty="0">
              <a:ea typeface="ＭＳ Ｐゴシック" panose="020B0600070205080204" pitchFamily="34" charset="-128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C28EF4D-2700-423C-96F4-453B8B73D33F}"/>
              </a:ext>
            </a:extLst>
          </p:cNvPr>
          <p:cNvSpPr txBox="1">
            <a:spLocks noChangeArrowheads="1"/>
          </p:cNvSpPr>
          <p:nvPr/>
        </p:nvSpPr>
        <p:spPr>
          <a:xfrm>
            <a:off x="673719" y="1173248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 algn="ctr">
              <a:lnSpc>
                <a:spcPct val="100000"/>
              </a:lnSpc>
              <a:buNone/>
            </a:pPr>
            <a:r>
              <a:rPr lang="ko-KR" altLang="en-US" sz="24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핵심 목표</a:t>
            </a:r>
            <a:r>
              <a:rPr lang="en-US" altLang="ko-KR" sz="24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: </a:t>
            </a:r>
            <a:r>
              <a:rPr lang="ko-KR" altLang="en-US" sz="2400" dirty="0">
                <a:ea typeface="ＭＳ Ｐゴシック" panose="020B0600070205080204" pitchFamily="34" charset="-128"/>
              </a:rPr>
              <a:t>다중 객체 </a:t>
            </a:r>
            <a:r>
              <a:rPr lang="en-US" altLang="en-US" sz="2400" dirty="0">
                <a:ea typeface="ＭＳ Ｐゴシック" panose="020B0600070205080204" pitchFamily="34" charset="-128"/>
              </a:rPr>
              <a:t>HTTP </a:t>
            </a:r>
            <a:r>
              <a:rPr lang="ko-KR" altLang="en-US" sz="2400" dirty="0">
                <a:ea typeface="ＭＳ Ｐゴシック" panose="020B0600070205080204" pitchFamily="34" charset="-128"/>
              </a:rPr>
              <a:t>요청에서의 지연을 줄임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 lvl="1">
              <a:lnSpc>
                <a:spcPct val="100000"/>
              </a:lnSpc>
            </a:pP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59151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8F02645-5FFE-4A42-B57B-A80C2B9C83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HTTP/2: mitigating HOL blocking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A1EC222-2EB1-4676-AF58-AB4EE7B9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46</a:t>
            </a:fld>
            <a:endParaRPr lang="en-US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97B7FAA5-0EC3-4F00-B7B8-7A9370ED8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3495" y="2737916"/>
            <a:ext cx="7120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CC0000"/>
                </a:solidFill>
                <a:latin typeface="+mn-lt"/>
              </a:rPr>
              <a:t>client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3970F228-4E24-4093-803C-40487803D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716" y="1727665"/>
            <a:ext cx="8274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CC0000"/>
                </a:solidFill>
                <a:latin typeface="+mn-lt"/>
              </a:rPr>
              <a:t>server</a:t>
            </a:r>
          </a:p>
        </p:txBody>
      </p:sp>
      <p:grpSp>
        <p:nvGrpSpPr>
          <p:cNvPr id="6" name="Group 34">
            <a:extLst>
              <a:ext uri="{FF2B5EF4-FFF2-40B4-BE49-F238E27FC236}">
                <a16:creationId xmlns:a16="http://schemas.microsoft.com/office/drawing/2014/main" id="{FD8362D9-B677-4572-8338-F689C1B0B0B9}"/>
              </a:ext>
            </a:extLst>
          </p:cNvPr>
          <p:cNvGrpSpPr>
            <a:grpSpLocks/>
          </p:cNvGrpSpPr>
          <p:nvPr/>
        </p:nvGrpSpPr>
        <p:grpSpPr bwMode="auto">
          <a:xfrm>
            <a:off x="7234967" y="2097611"/>
            <a:ext cx="422275" cy="685800"/>
            <a:chOff x="4140" y="429"/>
            <a:chExt cx="1425" cy="2396"/>
          </a:xfrm>
        </p:grpSpPr>
        <p:sp>
          <p:nvSpPr>
            <p:cNvPr id="7" name="Freeform 35">
              <a:extLst>
                <a:ext uri="{FF2B5EF4-FFF2-40B4-BE49-F238E27FC236}">
                  <a16:creationId xmlns:a16="http://schemas.microsoft.com/office/drawing/2014/main" id="{8B55F1CD-593E-4FA2-89DE-A0381BEDA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Rectangle 36">
              <a:extLst>
                <a:ext uri="{FF2B5EF4-FFF2-40B4-BE49-F238E27FC236}">
                  <a16:creationId xmlns:a16="http://schemas.microsoft.com/office/drawing/2014/main" id="{5B4521E3-679F-4289-BA4B-7C97EEC65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9" name="Freeform 37">
              <a:extLst>
                <a:ext uri="{FF2B5EF4-FFF2-40B4-BE49-F238E27FC236}">
                  <a16:creationId xmlns:a16="http://schemas.microsoft.com/office/drawing/2014/main" id="{10BF25EA-2B7D-4F6E-AC2B-5618632DF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Freeform 38">
              <a:extLst>
                <a:ext uri="{FF2B5EF4-FFF2-40B4-BE49-F238E27FC236}">
                  <a16:creationId xmlns:a16="http://schemas.microsoft.com/office/drawing/2014/main" id="{733E8EDF-FE49-4694-9475-0FA4476CE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1" name="Rectangle 39">
              <a:extLst>
                <a:ext uri="{FF2B5EF4-FFF2-40B4-BE49-F238E27FC236}">
                  <a16:creationId xmlns:a16="http://schemas.microsoft.com/office/drawing/2014/main" id="{95328E48-E962-4B42-955C-BBB53EE9B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grpSp>
          <p:nvGrpSpPr>
            <p:cNvPr id="12" name="Group 40">
              <a:extLst>
                <a:ext uri="{FF2B5EF4-FFF2-40B4-BE49-F238E27FC236}">
                  <a16:creationId xmlns:a16="http://schemas.microsoft.com/office/drawing/2014/main" id="{2E51ECCF-4F6A-4C3D-905E-865852A835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" name="AutoShape 41">
                <a:extLst>
                  <a:ext uri="{FF2B5EF4-FFF2-40B4-BE49-F238E27FC236}">
                    <a16:creationId xmlns:a16="http://schemas.microsoft.com/office/drawing/2014/main" id="{AB4471FB-94C7-4F7E-8454-1DFE9E67E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  <p:sp>
            <p:nvSpPr>
              <p:cNvPr id="38" name="AutoShape 42">
                <a:extLst>
                  <a:ext uri="{FF2B5EF4-FFF2-40B4-BE49-F238E27FC236}">
                    <a16:creationId xmlns:a16="http://schemas.microsoft.com/office/drawing/2014/main" id="{FE2EA2AC-E4D0-40F5-A423-FE0BE928B7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</p:grpSp>
        <p:sp>
          <p:nvSpPr>
            <p:cNvPr id="13" name="Rectangle 43">
              <a:extLst>
                <a:ext uri="{FF2B5EF4-FFF2-40B4-BE49-F238E27FC236}">
                  <a16:creationId xmlns:a16="http://schemas.microsoft.com/office/drawing/2014/main" id="{3F39AF80-AB0E-4346-920D-D6107BE11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grpSp>
          <p:nvGrpSpPr>
            <p:cNvPr id="14" name="Group 44">
              <a:extLst>
                <a:ext uri="{FF2B5EF4-FFF2-40B4-BE49-F238E27FC236}">
                  <a16:creationId xmlns:a16="http://schemas.microsoft.com/office/drawing/2014/main" id="{97BB2AE4-6375-4824-90BC-0D8250FD12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" name="AutoShape 45">
                <a:extLst>
                  <a:ext uri="{FF2B5EF4-FFF2-40B4-BE49-F238E27FC236}">
                    <a16:creationId xmlns:a16="http://schemas.microsoft.com/office/drawing/2014/main" id="{EB6B85E7-FA5D-460D-959C-B19E338A2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  <p:sp>
            <p:nvSpPr>
              <p:cNvPr id="36" name="AutoShape 46">
                <a:extLst>
                  <a:ext uri="{FF2B5EF4-FFF2-40B4-BE49-F238E27FC236}">
                    <a16:creationId xmlns:a16="http://schemas.microsoft.com/office/drawing/2014/main" id="{740CC753-96FA-40C6-A31B-F90DC6348B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</p:grpSp>
        <p:sp>
          <p:nvSpPr>
            <p:cNvPr id="15" name="Rectangle 47">
              <a:extLst>
                <a:ext uri="{FF2B5EF4-FFF2-40B4-BE49-F238E27FC236}">
                  <a16:creationId xmlns:a16="http://schemas.microsoft.com/office/drawing/2014/main" id="{E1A7512D-783E-4F0B-A7F7-BBCB5C277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16" name="Rectangle 48">
              <a:extLst>
                <a:ext uri="{FF2B5EF4-FFF2-40B4-BE49-F238E27FC236}">
                  <a16:creationId xmlns:a16="http://schemas.microsoft.com/office/drawing/2014/main" id="{69FD20E3-1FD4-453B-B552-D4B11FD0C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grpSp>
          <p:nvGrpSpPr>
            <p:cNvPr id="17" name="Group 49">
              <a:extLst>
                <a:ext uri="{FF2B5EF4-FFF2-40B4-BE49-F238E27FC236}">
                  <a16:creationId xmlns:a16="http://schemas.microsoft.com/office/drawing/2014/main" id="{FD893411-048B-403A-AFBD-A0F653A3BA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3" name="AutoShape 50">
                <a:extLst>
                  <a:ext uri="{FF2B5EF4-FFF2-40B4-BE49-F238E27FC236}">
                    <a16:creationId xmlns:a16="http://schemas.microsoft.com/office/drawing/2014/main" id="{2F4FBAD7-FB4F-4F4D-B697-A6DAC9B79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  <p:sp>
            <p:nvSpPr>
              <p:cNvPr id="34" name="AutoShape 51">
                <a:extLst>
                  <a:ext uri="{FF2B5EF4-FFF2-40B4-BE49-F238E27FC236}">
                    <a16:creationId xmlns:a16="http://schemas.microsoft.com/office/drawing/2014/main" id="{018DF1BD-12B0-41E2-9289-2A36C1E89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</p:grpSp>
        <p:sp>
          <p:nvSpPr>
            <p:cNvPr id="18" name="Freeform 52">
              <a:extLst>
                <a:ext uri="{FF2B5EF4-FFF2-40B4-BE49-F238E27FC236}">
                  <a16:creationId xmlns:a16="http://schemas.microsoft.com/office/drawing/2014/main" id="{86D8B964-E347-447B-899C-F19BC38CC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grpSp>
          <p:nvGrpSpPr>
            <p:cNvPr id="19" name="Group 53">
              <a:extLst>
                <a:ext uri="{FF2B5EF4-FFF2-40B4-BE49-F238E27FC236}">
                  <a16:creationId xmlns:a16="http://schemas.microsoft.com/office/drawing/2014/main" id="{ECE414BA-6846-432C-9FEB-7F3A19B140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" name="AutoShape 54">
                <a:extLst>
                  <a:ext uri="{FF2B5EF4-FFF2-40B4-BE49-F238E27FC236}">
                    <a16:creationId xmlns:a16="http://schemas.microsoft.com/office/drawing/2014/main" id="{9F57589D-9A73-444E-9491-AE70A1BBC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  <p:sp>
            <p:nvSpPr>
              <p:cNvPr id="32" name="AutoShape 55">
                <a:extLst>
                  <a:ext uri="{FF2B5EF4-FFF2-40B4-BE49-F238E27FC236}">
                    <a16:creationId xmlns:a16="http://schemas.microsoft.com/office/drawing/2014/main" id="{7BB2E1C9-48AE-46AF-A24A-97099E1A0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</p:grpSp>
        <p:sp>
          <p:nvSpPr>
            <p:cNvPr id="20" name="Rectangle 56">
              <a:extLst>
                <a:ext uri="{FF2B5EF4-FFF2-40B4-BE49-F238E27FC236}">
                  <a16:creationId xmlns:a16="http://schemas.microsoft.com/office/drawing/2014/main" id="{047EC661-0235-4AE6-B564-D8CD1A8D6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21" name="Freeform 57">
              <a:extLst>
                <a:ext uri="{FF2B5EF4-FFF2-40B4-BE49-F238E27FC236}">
                  <a16:creationId xmlns:a16="http://schemas.microsoft.com/office/drawing/2014/main" id="{0EAFF2B7-7802-4F22-A717-3D56A8317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" name="Freeform 58">
              <a:extLst>
                <a:ext uri="{FF2B5EF4-FFF2-40B4-BE49-F238E27FC236}">
                  <a16:creationId xmlns:a16="http://schemas.microsoft.com/office/drawing/2014/main" id="{89ED499C-6B2E-4EC0-BF8A-CD11984EA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" name="Oval 59">
              <a:extLst>
                <a:ext uri="{FF2B5EF4-FFF2-40B4-BE49-F238E27FC236}">
                  <a16:creationId xmlns:a16="http://schemas.microsoft.com/office/drawing/2014/main" id="{1667C2FA-17D7-4437-9474-302B9D96B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24" name="Freeform 60">
              <a:extLst>
                <a:ext uri="{FF2B5EF4-FFF2-40B4-BE49-F238E27FC236}">
                  <a16:creationId xmlns:a16="http://schemas.microsoft.com/office/drawing/2014/main" id="{6D7A86F8-C636-4C9E-8AC9-18755392F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5" name="AutoShape 61">
              <a:extLst>
                <a:ext uri="{FF2B5EF4-FFF2-40B4-BE49-F238E27FC236}">
                  <a16:creationId xmlns:a16="http://schemas.microsoft.com/office/drawing/2014/main" id="{ADD35241-48B3-43AA-9422-CBEFE3F16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26" name="AutoShape 62">
              <a:extLst>
                <a:ext uri="{FF2B5EF4-FFF2-40B4-BE49-F238E27FC236}">
                  <a16:creationId xmlns:a16="http://schemas.microsoft.com/office/drawing/2014/main" id="{7F57DF86-940C-4DC0-A487-47205BA33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27" name="Oval 63">
              <a:extLst>
                <a:ext uri="{FF2B5EF4-FFF2-40B4-BE49-F238E27FC236}">
                  <a16:creationId xmlns:a16="http://schemas.microsoft.com/office/drawing/2014/main" id="{4480B5BC-3111-42EF-8299-4BA926532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28" name="Oval 64">
              <a:extLst>
                <a:ext uri="{FF2B5EF4-FFF2-40B4-BE49-F238E27FC236}">
                  <a16:creationId xmlns:a16="http://schemas.microsoft.com/office/drawing/2014/main" id="{B8634880-D81C-422E-BE8C-13D0EC481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>
                <a:solidFill>
                  <a:srgbClr val="FF0000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Oval 65">
              <a:extLst>
                <a:ext uri="{FF2B5EF4-FFF2-40B4-BE49-F238E27FC236}">
                  <a16:creationId xmlns:a16="http://schemas.microsoft.com/office/drawing/2014/main" id="{F2D7D4DE-D229-4F2C-8CD4-705217389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73F49DF8-88AA-4B8B-A749-79FBC999B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</p:grpSp>
      <p:grpSp>
        <p:nvGrpSpPr>
          <p:cNvPr id="39" name="Group 67">
            <a:extLst>
              <a:ext uri="{FF2B5EF4-FFF2-40B4-BE49-F238E27FC236}">
                <a16:creationId xmlns:a16="http://schemas.microsoft.com/office/drawing/2014/main" id="{AE9F21F2-B076-4079-99C3-53B8EB25A380}"/>
              </a:ext>
            </a:extLst>
          </p:cNvPr>
          <p:cNvGrpSpPr>
            <a:grpSpLocks/>
          </p:cNvGrpSpPr>
          <p:nvPr/>
        </p:nvGrpSpPr>
        <p:grpSpPr bwMode="auto">
          <a:xfrm>
            <a:off x="2885332" y="2127372"/>
            <a:ext cx="742950" cy="742950"/>
            <a:chOff x="-44" y="1473"/>
            <a:chExt cx="981" cy="1105"/>
          </a:xfrm>
        </p:grpSpPr>
        <p:pic>
          <p:nvPicPr>
            <p:cNvPr id="40" name="Picture 68" descr="desktop_computer_stylized_medium">
              <a:extLst>
                <a:ext uri="{FF2B5EF4-FFF2-40B4-BE49-F238E27FC236}">
                  <a16:creationId xmlns:a16="http://schemas.microsoft.com/office/drawing/2014/main" id="{89704275-6DA1-4A02-9341-BF03FE2114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Freeform 69">
              <a:extLst>
                <a:ext uri="{FF2B5EF4-FFF2-40B4-BE49-F238E27FC236}">
                  <a16:creationId xmlns:a16="http://schemas.microsoft.com/office/drawing/2014/main" id="{4FD21C9B-48BE-47B0-B8C6-B5E3B144F07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200"/>
            </a:p>
          </p:txBody>
        </p:sp>
      </p:grpSp>
      <p:cxnSp>
        <p:nvCxnSpPr>
          <p:cNvPr id="42" name="Straight Arrow Connector 4">
            <a:extLst>
              <a:ext uri="{FF2B5EF4-FFF2-40B4-BE49-F238E27FC236}">
                <a16:creationId xmlns:a16="http://schemas.microsoft.com/office/drawing/2014/main" id="{676376F8-BAE0-48FF-A696-579583D64F51}"/>
              </a:ext>
            </a:extLst>
          </p:cNvPr>
          <p:cNvCxnSpPr>
            <a:cxnSpLocks/>
          </p:cNvCxnSpPr>
          <p:nvPr/>
        </p:nvCxnSpPr>
        <p:spPr>
          <a:xfrm>
            <a:off x="3526536" y="2626892"/>
            <a:ext cx="3910012" cy="2607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A9A4C7F-82B5-435F-A52A-DBAC88298799}"/>
              </a:ext>
            </a:extLst>
          </p:cNvPr>
          <p:cNvSpPr txBox="1"/>
          <p:nvPr/>
        </p:nvSpPr>
        <p:spPr>
          <a:xfrm>
            <a:off x="6093263" y="2503004"/>
            <a:ext cx="8920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GET O</a:t>
            </a:r>
            <a:r>
              <a:rPr lang="en-US" sz="1100" baseline="-250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51EABD-B872-4010-9DF5-681581216FAE}"/>
              </a:ext>
            </a:extLst>
          </p:cNvPr>
          <p:cNvSpPr txBox="1"/>
          <p:nvPr/>
        </p:nvSpPr>
        <p:spPr>
          <a:xfrm>
            <a:off x="5291796" y="2432177"/>
            <a:ext cx="8920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GET O</a:t>
            </a:r>
            <a:r>
              <a:rPr lang="en-US" sz="1100" baseline="-250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39D130-572B-40FA-B25B-98C4C0317650}"/>
              </a:ext>
            </a:extLst>
          </p:cNvPr>
          <p:cNvSpPr txBox="1"/>
          <p:nvPr/>
        </p:nvSpPr>
        <p:spPr>
          <a:xfrm>
            <a:off x="4513773" y="2373512"/>
            <a:ext cx="8920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GET O</a:t>
            </a:r>
            <a:r>
              <a:rPr lang="en-US" sz="1100" baseline="-250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75C3EC-47CE-49A3-9279-FC2AE6CA44CE}"/>
              </a:ext>
            </a:extLst>
          </p:cNvPr>
          <p:cNvSpPr txBox="1"/>
          <p:nvPr/>
        </p:nvSpPr>
        <p:spPr>
          <a:xfrm>
            <a:off x="3721264" y="2309277"/>
            <a:ext cx="8920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GET O</a:t>
            </a:r>
            <a:r>
              <a:rPr lang="en-US" sz="1100" baseline="-25000" dirty="0"/>
              <a:t>4</a:t>
            </a:r>
          </a:p>
        </p:txBody>
      </p:sp>
      <p:sp>
        <p:nvSpPr>
          <p:cNvPr id="47" name="Rectangle 62">
            <a:extLst>
              <a:ext uri="{FF2B5EF4-FFF2-40B4-BE49-F238E27FC236}">
                <a16:creationId xmlns:a16="http://schemas.microsoft.com/office/drawing/2014/main" id="{BE8077C7-F739-4508-9E52-786AF02F5E10}"/>
              </a:ext>
            </a:extLst>
          </p:cNvPr>
          <p:cNvSpPr/>
          <p:nvPr/>
        </p:nvSpPr>
        <p:spPr>
          <a:xfrm>
            <a:off x="8620343" y="2944276"/>
            <a:ext cx="892098" cy="19713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8" name="Rectangle 63">
            <a:extLst>
              <a:ext uri="{FF2B5EF4-FFF2-40B4-BE49-F238E27FC236}">
                <a16:creationId xmlns:a16="http://schemas.microsoft.com/office/drawing/2014/main" id="{9FB9A0A5-7EB5-4AC0-A26F-58B215AEA1C3}"/>
              </a:ext>
            </a:extLst>
          </p:cNvPr>
          <p:cNvSpPr/>
          <p:nvPr/>
        </p:nvSpPr>
        <p:spPr>
          <a:xfrm>
            <a:off x="8624001" y="4930232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49" name="Group 7">
            <a:extLst>
              <a:ext uri="{FF2B5EF4-FFF2-40B4-BE49-F238E27FC236}">
                <a16:creationId xmlns:a16="http://schemas.microsoft.com/office/drawing/2014/main" id="{561E1A8F-B111-4190-9F48-567B6A96881A}"/>
              </a:ext>
            </a:extLst>
          </p:cNvPr>
          <p:cNvGrpSpPr/>
          <p:nvPr/>
        </p:nvGrpSpPr>
        <p:grpSpPr>
          <a:xfrm>
            <a:off x="3400914" y="2899672"/>
            <a:ext cx="4052925" cy="2231577"/>
            <a:chOff x="3400914" y="3064264"/>
            <a:chExt cx="4052925" cy="2231577"/>
          </a:xfrm>
        </p:grpSpPr>
        <p:cxnSp>
          <p:nvCxnSpPr>
            <p:cNvPr id="50" name="Straight Arrow Connector 58">
              <a:extLst>
                <a:ext uri="{FF2B5EF4-FFF2-40B4-BE49-F238E27FC236}">
                  <a16:creationId xmlns:a16="http://schemas.microsoft.com/office/drawing/2014/main" id="{7BB407DD-31D2-41D2-8FC0-09E57C9399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0914" y="5022530"/>
              <a:ext cx="4052925" cy="2733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38D83F38-D60E-4848-A75D-77D3192ACB1B}"/>
                </a:ext>
              </a:extLst>
            </p:cNvPr>
            <p:cNvSpPr/>
            <p:nvPr/>
          </p:nvSpPr>
          <p:spPr>
            <a:xfrm>
              <a:off x="3517643" y="3064264"/>
              <a:ext cx="3868169" cy="2226179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67383 w 3876052"/>
                <a:gd name="connsiteY0" fmla="*/ 0 h 2226179"/>
                <a:gd name="connsiteX1" fmla="*/ 411 w 3876052"/>
                <a:gd name="connsiteY1" fmla="*/ 273465 h 2226179"/>
                <a:gd name="connsiteX2" fmla="*/ 411 w 3876052"/>
                <a:gd name="connsiteY2" fmla="*/ 2226179 h 2226179"/>
                <a:gd name="connsiteX3" fmla="*/ 3875929 w 3876052"/>
                <a:gd name="connsiteY3" fmla="*/ 1956987 h 2226179"/>
                <a:gd name="connsiteX4" fmla="*/ 3867383 w 3876052"/>
                <a:gd name="connsiteY4" fmla="*/ 0 h 2226179"/>
                <a:gd name="connsiteX0" fmla="*/ 3867383 w 3871845"/>
                <a:gd name="connsiteY0" fmla="*/ 0 h 2226179"/>
                <a:gd name="connsiteX1" fmla="*/ 411 w 3871845"/>
                <a:gd name="connsiteY1" fmla="*/ 273465 h 2226179"/>
                <a:gd name="connsiteX2" fmla="*/ 411 w 3871845"/>
                <a:gd name="connsiteY2" fmla="*/ 2226179 h 2226179"/>
                <a:gd name="connsiteX3" fmla="*/ 3871656 w 3871845"/>
                <a:gd name="connsiteY3" fmla="*/ 1969806 h 2226179"/>
                <a:gd name="connsiteX4" fmla="*/ 3867383 w 3871845"/>
                <a:gd name="connsiteY4" fmla="*/ 0 h 2226179"/>
                <a:gd name="connsiteX0" fmla="*/ 3867383 w 3872034"/>
                <a:gd name="connsiteY0" fmla="*/ 0 h 2226179"/>
                <a:gd name="connsiteX1" fmla="*/ 411 w 3872034"/>
                <a:gd name="connsiteY1" fmla="*/ 273465 h 2226179"/>
                <a:gd name="connsiteX2" fmla="*/ 411 w 3872034"/>
                <a:gd name="connsiteY2" fmla="*/ 2226179 h 2226179"/>
                <a:gd name="connsiteX3" fmla="*/ 3871656 w 3872034"/>
                <a:gd name="connsiteY3" fmla="*/ 1969806 h 2226179"/>
                <a:gd name="connsiteX4" fmla="*/ 3867383 w 3872034"/>
                <a:gd name="connsiteY4" fmla="*/ 0 h 2226179"/>
                <a:gd name="connsiteX0" fmla="*/ 3867383 w 3868169"/>
                <a:gd name="connsiteY0" fmla="*/ 0 h 2226179"/>
                <a:gd name="connsiteX1" fmla="*/ 411 w 3868169"/>
                <a:gd name="connsiteY1" fmla="*/ 273465 h 2226179"/>
                <a:gd name="connsiteX2" fmla="*/ 411 w 3868169"/>
                <a:gd name="connsiteY2" fmla="*/ 2226179 h 2226179"/>
                <a:gd name="connsiteX3" fmla="*/ 3863110 w 3868169"/>
                <a:gd name="connsiteY3" fmla="*/ 1969806 h 2226179"/>
                <a:gd name="connsiteX4" fmla="*/ 3867383 w 3868169"/>
                <a:gd name="connsiteY4" fmla="*/ 0 h 2226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8169" h="2226179">
                  <a:moveTo>
                    <a:pt x="3867383" y="0"/>
                  </a:moveTo>
                  <a:lnTo>
                    <a:pt x="411" y="273465"/>
                  </a:lnTo>
                  <a:cubicBezTo>
                    <a:pt x="1835" y="927218"/>
                    <a:pt x="-1013" y="1572426"/>
                    <a:pt x="411" y="2226179"/>
                  </a:cubicBezTo>
                  <a:lnTo>
                    <a:pt x="3863110" y="1969806"/>
                  </a:lnTo>
                  <a:cubicBezTo>
                    <a:pt x="3864534" y="1311780"/>
                    <a:pt x="3870232" y="615297"/>
                    <a:pt x="3867383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52" name="Group 9">
            <a:extLst>
              <a:ext uri="{FF2B5EF4-FFF2-40B4-BE49-F238E27FC236}">
                <a16:creationId xmlns:a16="http://schemas.microsoft.com/office/drawing/2014/main" id="{9B28F2B7-1618-433E-BF70-6576FF76B8DA}"/>
              </a:ext>
            </a:extLst>
          </p:cNvPr>
          <p:cNvGrpSpPr/>
          <p:nvPr/>
        </p:nvGrpSpPr>
        <p:grpSpPr>
          <a:xfrm>
            <a:off x="3389679" y="4889709"/>
            <a:ext cx="4064160" cy="386589"/>
            <a:chOff x="3389679" y="5054301"/>
            <a:chExt cx="4064160" cy="386589"/>
          </a:xfrm>
        </p:grpSpPr>
        <p:cxnSp>
          <p:nvCxnSpPr>
            <p:cNvPr id="53" name="Straight Arrow Connector 59">
              <a:extLst>
                <a:ext uri="{FF2B5EF4-FFF2-40B4-BE49-F238E27FC236}">
                  <a16:creationId xmlns:a16="http://schemas.microsoft.com/office/drawing/2014/main" id="{79B6E1B9-7A24-4D27-B2E7-28D2ED42E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89679" y="5161562"/>
              <a:ext cx="4064160" cy="2793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Freeform 66">
              <a:extLst>
                <a:ext uri="{FF2B5EF4-FFF2-40B4-BE49-F238E27FC236}">
                  <a16:creationId xmlns:a16="http://schemas.microsoft.com/office/drawing/2014/main" id="{6A9D6F95-E19A-45D5-998F-0DD90F2F6328}"/>
                </a:ext>
              </a:extLst>
            </p:cNvPr>
            <p:cNvSpPr/>
            <p:nvPr/>
          </p:nvSpPr>
          <p:spPr>
            <a:xfrm>
              <a:off x="3519116" y="5054301"/>
              <a:ext cx="3875928" cy="375356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92661 w 3892661"/>
                <a:gd name="connsiteY0" fmla="*/ 0 h 6403180"/>
                <a:gd name="connsiteX1" fmla="*/ 25689 w 3892661"/>
                <a:gd name="connsiteY1" fmla="*/ 273465 h 6403180"/>
                <a:gd name="connsiteX2" fmla="*/ 51 w 3892661"/>
                <a:gd name="connsiteY2" fmla="*/ 6403180 h 6403180"/>
                <a:gd name="connsiteX3" fmla="*/ 3888388 w 3892661"/>
                <a:gd name="connsiteY3" fmla="*/ 1974078 h 6403180"/>
                <a:gd name="connsiteX4" fmla="*/ 3892661 w 3892661"/>
                <a:gd name="connsiteY4" fmla="*/ 0 h 6403180"/>
                <a:gd name="connsiteX0" fmla="*/ 3896882 w 3896882"/>
                <a:gd name="connsiteY0" fmla="*/ 0 h 6403180"/>
                <a:gd name="connsiteX1" fmla="*/ 0 w 3896882"/>
                <a:gd name="connsiteY1" fmla="*/ 4599655 h 6403180"/>
                <a:gd name="connsiteX2" fmla="*/ 4272 w 3896882"/>
                <a:gd name="connsiteY2" fmla="*/ 6403180 h 6403180"/>
                <a:gd name="connsiteX3" fmla="*/ 3892609 w 3896882"/>
                <a:gd name="connsiteY3" fmla="*/ 1974078 h 6403180"/>
                <a:gd name="connsiteX4" fmla="*/ 3896882 w 3896882"/>
                <a:gd name="connsiteY4" fmla="*/ 0 h 6403180"/>
                <a:gd name="connsiteX0" fmla="*/ 3893021 w 3893021"/>
                <a:gd name="connsiteY0" fmla="*/ 0 h 6403180"/>
                <a:gd name="connsiteX1" fmla="*/ 412 w 3893021"/>
                <a:gd name="connsiteY1" fmla="*/ 4152108 h 6403180"/>
                <a:gd name="connsiteX2" fmla="*/ 411 w 3893021"/>
                <a:gd name="connsiteY2" fmla="*/ 6403180 h 6403180"/>
                <a:gd name="connsiteX3" fmla="*/ 3888748 w 3893021"/>
                <a:gd name="connsiteY3" fmla="*/ 1974078 h 6403180"/>
                <a:gd name="connsiteX4" fmla="*/ 3893021 w 3893021"/>
                <a:gd name="connsiteY4" fmla="*/ 0 h 6403180"/>
                <a:gd name="connsiteX0" fmla="*/ 3892651 w 3892651"/>
                <a:gd name="connsiteY0" fmla="*/ 0 h 6403180"/>
                <a:gd name="connsiteX1" fmla="*/ 34226 w 3892651"/>
                <a:gd name="connsiteY1" fmla="*/ 4375864 h 6403180"/>
                <a:gd name="connsiteX2" fmla="*/ 41 w 3892651"/>
                <a:gd name="connsiteY2" fmla="*/ 6403180 h 6403180"/>
                <a:gd name="connsiteX3" fmla="*/ 3888378 w 3892651"/>
                <a:gd name="connsiteY3" fmla="*/ 1974078 h 6403180"/>
                <a:gd name="connsiteX4" fmla="*/ 3892651 w 3892651"/>
                <a:gd name="connsiteY4" fmla="*/ 0 h 6403180"/>
                <a:gd name="connsiteX0" fmla="*/ 3875591 w 3875591"/>
                <a:gd name="connsiteY0" fmla="*/ 0 h 6552362"/>
                <a:gd name="connsiteX1" fmla="*/ 17166 w 3875591"/>
                <a:gd name="connsiteY1" fmla="*/ 4375864 h 6552362"/>
                <a:gd name="connsiteX2" fmla="*/ 73 w 3875591"/>
                <a:gd name="connsiteY2" fmla="*/ 6552362 h 6552362"/>
                <a:gd name="connsiteX3" fmla="*/ 3871318 w 3875591"/>
                <a:gd name="connsiteY3" fmla="*/ 1974078 h 6552362"/>
                <a:gd name="connsiteX4" fmla="*/ 3875591 w 3875591"/>
                <a:gd name="connsiteY4" fmla="*/ 0 h 6552362"/>
                <a:gd name="connsiteX0" fmla="*/ 3875928 w 3875928"/>
                <a:gd name="connsiteY0" fmla="*/ 0 h 6552362"/>
                <a:gd name="connsiteX1" fmla="*/ 412 w 3875928"/>
                <a:gd name="connsiteY1" fmla="*/ 4599620 h 6552362"/>
                <a:gd name="connsiteX2" fmla="*/ 410 w 3875928"/>
                <a:gd name="connsiteY2" fmla="*/ 6552362 h 6552362"/>
                <a:gd name="connsiteX3" fmla="*/ 3871655 w 3875928"/>
                <a:gd name="connsiteY3" fmla="*/ 1974078 h 6552362"/>
                <a:gd name="connsiteX4" fmla="*/ 3875928 w 3875928"/>
                <a:gd name="connsiteY4" fmla="*/ 0 h 6552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5928" h="6552362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grpSp>
        <p:nvGrpSpPr>
          <p:cNvPr id="55" name="Group 53">
            <a:extLst>
              <a:ext uri="{FF2B5EF4-FFF2-40B4-BE49-F238E27FC236}">
                <a16:creationId xmlns:a16="http://schemas.microsoft.com/office/drawing/2014/main" id="{9CF4C0AD-1F59-402D-8935-50A0D20DEA13}"/>
              </a:ext>
            </a:extLst>
          </p:cNvPr>
          <p:cNvGrpSpPr/>
          <p:nvPr/>
        </p:nvGrpSpPr>
        <p:grpSpPr>
          <a:xfrm>
            <a:off x="3401181" y="5280624"/>
            <a:ext cx="4028803" cy="375356"/>
            <a:chOff x="3401181" y="5445216"/>
            <a:chExt cx="4028803" cy="375356"/>
          </a:xfrm>
        </p:grpSpPr>
        <p:cxnSp>
          <p:nvCxnSpPr>
            <p:cNvPr id="56" name="Straight Arrow Connector 61">
              <a:extLst>
                <a:ext uri="{FF2B5EF4-FFF2-40B4-BE49-F238E27FC236}">
                  <a16:creationId xmlns:a16="http://schemas.microsoft.com/office/drawing/2014/main" id="{E1936220-1B6C-4D48-98A1-1A2CCFB2D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1181" y="5534648"/>
              <a:ext cx="4028803" cy="2699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Freeform 69">
              <a:extLst>
                <a:ext uri="{FF2B5EF4-FFF2-40B4-BE49-F238E27FC236}">
                  <a16:creationId xmlns:a16="http://schemas.microsoft.com/office/drawing/2014/main" id="{C689E5F8-1B24-44E4-BDF1-C174EC833C96}"/>
                </a:ext>
              </a:extLst>
            </p:cNvPr>
            <p:cNvSpPr/>
            <p:nvPr/>
          </p:nvSpPr>
          <p:spPr>
            <a:xfrm>
              <a:off x="3504762" y="5445216"/>
              <a:ext cx="3875928" cy="375356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92661 w 3892661"/>
                <a:gd name="connsiteY0" fmla="*/ 0 h 6403180"/>
                <a:gd name="connsiteX1" fmla="*/ 25689 w 3892661"/>
                <a:gd name="connsiteY1" fmla="*/ 273465 h 6403180"/>
                <a:gd name="connsiteX2" fmla="*/ 51 w 3892661"/>
                <a:gd name="connsiteY2" fmla="*/ 6403180 h 6403180"/>
                <a:gd name="connsiteX3" fmla="*/ 3888388 w 3892661"/>
                <a:gd name="connsiteY3" fmla="*/ 1974078 h 6403180"/>
                <a:gd name="connsiteX4" fmla="*/ 3892661 w 3892661"/>
                <a:gd name="connsiteY4" fmla="*/ 0 h 6403180"/>
                <a:gd name="connsiteX0" fmla="*/ 3896882 w 3896882"/>
                <a:gd name="connsiteY0" fmla="*/ 0 h 6403180"/>
                <a:gd name="connsiteX1" fmla="*/ 0 w 3896882"/>
                <a:gd name="connsiteY1" fmla="*/ 4599655 h 6403180"/>
                <a:gd name="connsiteX2" fmla="*/ 4272 w 3896882"/>
                <a:gd name="connsiteY2" fmla="*/ 6403180 h 6403180"/>
                <a:gd name="connsiteX3" fmla="*/ 3892609 w 3896882"/>
                <a:gd name="connsiteY3" fmla="*/ 1974078 h 6403180"/>
                <a:gd name="connsiteX4" fmla="*/ 3896882 w 3896882"/>
                <a:gd name="connsiteY4" fmla="*/ 0 h 6403180"/>
                <a:gd name="connsiteX0" fmla="*/ 3893021 w 3893021"/>
                <a:gd name="connsiteY0" fmla="*/ 0 h 6403180"/>
                <a:gd name="connsiteX1" fmla="*/ 412 w 3893021"/>
                <a:gd name="connsiteY1" fmla="*/ 4152108 h 6403180"/>
                <a:gd name="connsiteX2" fmla="*/ 411 w 3893021"/>
                <a:gd name="connsiteY2" fmla="*/ 6403180 h 6403180"/>
                <a:gd name="connsiteX3" fmla="*/ 3888748 w 3893021"/>
                <a:gd name="connsiteY3" fmla="*/ 1974078 h 6403180"/>
                <a:gd name="connsiteX4" fmla="*/ 3893021 w 3893021"/>
                <a:gd name="connsiteY4" fmla="*/ 0 h 6403180"/>
                <a:gd name="connsiteX0" fmla="*/ 3892651 w 3892651"/>
                <a:gd name="connsiteY0" fmla="*/ 0 h 6403180"/>
                <a:gd name="connsiteX1" fmla="*/ 34226 w 3892651"/>
                <a:gd name="connsiteY1" fmla="*/ 4375864 h 6403180"/>
                <a:gd name="connsiteX2" fmla="*/ 41 w 3892651"/>
                <a:gd name="connsiteY2" fmla="*/ 6403180 h 6403180"/>
                <a:gd name="connsiteX3" fmla="*/ 3888378 w 3892651"/>
                <a:gd name="connsiteY3" fmla="*/ 1974078 h 6403180"/>
                <a:gd name="connsiteX4" fmla="*/ 3892651 w 3892651"/>
                <a:gd name="connsiteY4" fmla="*/ 0 h 6403180"/>
                <a:gd name="connsiteX0" fmla="*/ 3875591 w 3875591"/>
                <a:gd name="connsiteY0" fmla="*/ 0 h 6552362"/>
                <a:gd name="connsiteX1" fmla="*/ 17166 w 3875591"/>
                <a:gd name="connsiteY1" fmla="*/ 4375864 h 6552362"/>
                <a:gd name="connsiteX2" fmla="*/ 73 w 3875591"/>
                <a:gd name="connsiteY2" fmla="*/ 6552362 h 6552362"/>
                <a:gd name="connsiteX3" fmla="*/ 3871318 w 3875591"/>
                <a:gd name="connsiteY3" fmla="*/ 1974078 h 6552362"/>
                <a:gd name="connsiteX4" fmla="*/ 3875591 w 3875591"/>
                <a:gd name="connsiteY4" fmla="*/ 0 h 6552362"/>
                <a:gd name="connsiteX0" fmla="*/ 3875928 w 3875928"/>
                <a:gd name="connsiteY0" fmla="*/ 0 h 6552362"/>
                <a:gd name="connsiteX1" fmla="*/ 412 w 3875928"/>
                <a:gd name="connsiteY1" fmla="*/ 4599620 h 6552362"/>
                <a:gd name="connsiteX2" fmla="*/ 410 w 3875928"/>
                <a:gd name="connsiteY2" fmla="*/ 6552362 h 6552362"/>
                <a:gd name="connsiteX3" fmla="*/ 3871655 w 3875928"/>
                <a:gd name="connsiteY3" fmla="*/ 1974078 h 6552362"/>
                <a:gd name="connsiteX4" fmla="*/ 3875928 w 3875928"/>
                <a:gd name="connsiteY4" fmla="*/ 0 h 6552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5928" h="6552362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     </a:t>
              </a:r>
            </a:p>
          </p:txBody>
        </p:sp>
      </p:grpSp>
      <p:grpSp>
        <p:nvGrpSpPr>
          <p:cNvPr id="58" name="Group 2">
            <a:extLst>
              <a:ext uri="{FF2B5EF4-FFF2-40B4-BE49-F238E27FC236}">
                <a16:creationId xmlns:a16="http://schemas.microsoft.com/office/drawing/2014/main" id="{10AD4BCB-768E-46C3-ACA7-C077C163DEF0}"/>
              </a:ext>
            </a:extLst>
          </p:cNvPr>
          <p:cNvGrpSpPr/>
          <p:nvPr/>
        </p:nvGrpSpPr>
        <p:grpSpPr>
          <a:xfrm>
            <a:off x="1750742" y="4947529"/>
            <a:ext cx="1641327" cy="283353"/>
            <a:chOff x="1750742" y="5112121"/>
            <a:chExt cx="1641327" cy="283353"/>
          </a:xfrm>
        </p:grpSpPr>
        <p:cxnSp>
          <p:nvCxnSpPr>
            <p:cNvPr id="59" name="Straight Arrow Connector 79">
              <a:extLst>
                <a:ext uri="{FF2B5EF4-FFF2-40B4-BE49-F238E27FC236}">
                  <a16:creationId xmlns:a16="http://schemas.microsoft.com/office/drawing/2014/main" id="{6AB63F5B-CE2B-480A-ABC6-8E973E719B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290443"/>
              <a:ext cx="16413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 90">
              <a:extLst>
                <a:ext uri="{FF2B5EF4-FFF2-40B4-BE49-F238E27FC236}">
                  <a16:creationId xmlns:a16="http://schemas.microsoft.com/office/drawing/2014/main" id="{0D4B26F3-70CE-4AC3-A1F7-38B6520A2A68}"/>
                </a:ext>
              </a:extLst>
            </p:cNvPr>
            <p:cNvGrpSpPr/>
            <p:nvPr/>
          </p:nvGrpSpPr>
          <p:grpSpPr>
            <a:xfrm>
              <a:off x="2136070" y="5112121"/>
              <a:ext cx="459104" cy="283353"/>
              <a:chOff x="2709565" y="5090498"/>
              <a:chExt cx="459104" cy="283353"/>
            </a:xfrm>
          </p:grpSpPr>
          <p:sp>
            <p:nvSpPr>
              <p:cNvPr id="61" name="Rectangle 89">
                <a:extLst>
                  <a:ext uri="{FF2B5EF4-FFF2-40B4-BE49-F238E27FC236}">
                    <a16:creationId xmlns:a16="http://schemas.microsoft.com/office/drawing/2014/main" id="{A31A3199-57FD-4252-BA61-AF357DB0A5A2}"/>
                  </a:ext>
                </a:extLst>
              </p:cNvPr>
              <p:cNvSpPr/>
              <p:nvPr/>
            </p:nvSpPr>
            <p:spPr>
              <a:xfrm>
                <a:off x="2785241" y="5146384"/>
                <a:ext cx="252731" cy="2274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9ECEBC1-7806-4CA7-84CD-5D99860285A3}"/>
                  </a:ext>
                </a:extLst>
              </p:cNvPr>
              <p:cNvSpPr txBox="1"/>
              <p:nvPr/>
            </p:nvSpPr>
            <p:spPr>
              <a:xfrm>
                <a:off x="2709565" y="5090498"/>
                <a:ext cx="4591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O</a:t>
                </a:r>
                <a:r>
                  <a:rPr lang="en-US" sz="1100" baseline="-25000" dirty="0"/>
                  <a:t>1</a:t>
                </a:r>
              </a:p>
            </p:txBody>
          </p:sp>
        </p:grpSp>
      </p:grpSp>
      <p:sp>
        <p:nvSpPr>
          <p:cNvPr id="63" name="Rectangle 93">
            <a:extLst>
              <a:ext uri="{FF2B5EF4-FFF2-40B4-BE49-F238E27FC236}">
                <a16:creationId xmlns:a16="http://schemas.microsoft.com/office/drawing/2014/main" id="{9B93C254-AA1C-493C-BC10-694A3807C245}"/>
              </a:ext>
            </a:extLst>
          </p:cNvPr>
          <p:cNvSpPr/>
          <p:nvPr/>
        </p:nvSpPr>
        <p:spPr>
          <a:xfrm>
            <a:off x="2453226" y="5165686"/>
            <a:ext cx="252731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64" name="Group 3">
            <a:extLst>
              <a:ext uri="{FF2B5EF4-FFF2-40B4-BE49-F238E27FC236}">
                <a16:creationId xmlns:a16="http://schemas.microsoft.com/office/drawing/2014/main" id="{3D408A8B-13D1-40CD-9D09-48771EC2BEAA}"/>
              </a:ext>
            </a:extLst>
          </p:cNvPr>
          <p:cNvGrpSpPr/>
          <p:nvPr/>
        </p:nvGrpSpPr>
        <p:grpSpPr>
          <a:xfrm>
            <a:off x="1750742" y="5109800"/>
            <a:ext cx="1641172" cy="261610"/>
            <a:chOff x="1750742" y="5274392"/>
            <a:chExt cx="1641172" cy="261610"/>
          </a:xfrm>
        </p:grpSpPr>
        <p:cxnSp>
          <p:nvCxnSpPr>
            <p:cNvPr id="65" name="Straight Arrow Connector 81">
              <a:extLst>
                <a:ext uri="{FF2B5EF4-FFF2-40B4-BE49-F238E27FC236}">
                  <a16:creationId xmlns:a16="http://schemas.microsoft.com/office/drawing/2014/main" id="{E2E878B7-C583-4CB5-B8E0-89BEF87631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442843"/>
              <a:ext cx="16411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2CF1019-6D8A-4DB8-8E1D-411D1209406A}"/>
                </a:ext>
              </a:extLst>
            </p:cNvPr>
            <p:cNvSpPr txBox="1"/>
            <p:nvPr/>
          </p:nvSpPr>
          <p:spPr>
            <a:xfrm>
              <a:off x="2384556" y="5274392"/>
              <a:ext cx="4591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O</a:t>
              </a:r>
              <a:r>
                <a:rPr lang="en-US" sz="1100" baseline="-25000" dirty="0"/>
                <a:t>2</a:t>
              </a:r>
            </a:p>
          </p:txBody>
        </p:sp>
      </p:grpSp>
      <p:grpSp>
        <p:nvGrpSpPr>
          <p:cNvPr id="67" name="Group 6">
            <a:extLst>
              <a:ext uri="{FF2B5EF4-FFF2-40B4-BE49-F238E27FC236}">
                <a16:creationId xmlns:a16="http://schemas.microsoft.com/office/drawing/2014/main" id="{DE907B5D-EDA0-4D90-8577-BA66FF461E74}"/>
              </a:ext>
            </a:extLst>
          </p:cNvPr>
          <p:cNvGrpSpPr/>
          <p:nvPr/>
        </p:nvGrpSpPr>
        <p:grpSpPr>
          <a:xfrm>
            <a:off x="1750742" y="5335466"/>
            <a:ext cx="1644347" cy="261610"/>
            <a:chOff x="1750742" y="5500058"/>
            <a:chExt cx="1644347" cy="261610"/>
          </a:xfrm>
        </p:grpSpPr>
        <p:cxnSp>
          <p:nvCxnSpPr>
            <p:cNvPr id="68" name="Straight Arrow Connector 82">
              <a:extLst>
                <a:ext uri="{FF2B5EF4-FFF2-40B4-BE49-F238E27FC236}">
                  <a16:creationId xmlns:a16="http://schemas.microsoft.com/office/drawing/2014/main" id="{1A4A0F62-BC3D-4BC1-BCF7-DFF3AFF66D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670973"/>
              <a:ext cx="164434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B65F590-8419-4C53-BA6A-F536A6B998D5}"/>
                </a:ext>
              </a:extLst>
            </p:cNvPr>
            <p:cNvSpPr txBox="1"/>
            <p:nvPr/>
          </p:nvSpPr>
          <p:spPr>
            <a:xfrm>
              <a:off x="2578111" y="5500058"/>
              <a:ext cx="4591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O</a:t>
              </a:r>
              <a:r>
                <a:rPr lang="en-US" sz="1100" baseline="-25000" dirty="0"/>
                <a:t>3</a:t>
              </a:r>
            </a:p>
          </p:txBody>
        </p:sp>
      </p:grpSp>
      <p:grpSp>
        <p:nvGrpSpPr>
          <p:cNvPr id="70" name="Group 54">
            <a:extLst>
              <a:ext uri="{FF2B5EF4-FFF2-40B4-BE49-F238E27FC236}">
                <a16:creationId xmlns:a16="http://schemas.microsoft.com/office/drawing/2014/main" id="{9AE6B633-5161-4E0D-9613-6B2BB464DEBC}"/>
              </a:ext>
            </a:extLst>
          </p:cNvPr>
          <p:cNvGrpSpPr/>
          <p:nvPr/>
        </p:nvGrpSpPr>
        <p:grpSpPr>
          <a:xfrm>
            <a:off x="1750742" y="5470351"/>
            <a:ext cx="1641326" cy="261610"/>
            <a:chOff x="1750742" y="5634943"/>
            <a:chExt cx="1641326" cy="261610"/>
          </a:xfrm>
        </p:grpSpPr>
        <p:cxnSp>
          <p:nvCxnSpPr>
            <p:cNvPr id="71" name="Straight Arrow Connector 83">
              <a:extLst>
                <a:ext uri="{FF2B5EF4-FFF2-40B4-BE49-F238E27FC236}">
                  <a16:creationId xmlns:a16="http://schemas.microsoft.com/office/drawing/2014/main" id="{CA4EA0BC-9E18-40E0-BA7A-B341C3AAD1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804632"/>
              <a:ext cx="16413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A374BBC-4B0D-48A1-AF6C-4C348098544D}"/>
                </a:ext>
              </a:extLst>
            </p:cNvPr>
            <p:cNvSpPr txBox="1"/>
            <p:nvPr/>
          </p:nvSpPr>
          <p:spPr>
            <a:xfrm>
              <a:off x="2779553" y="5634943"/>
              <a:ext cx="4591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O</a:t>
              </a:r>
              <a:r>
                <a:rPr lang="en-US" sz="1100" baseline="-25000" dirty="0"/>
                <a:t>4</a:t>
              </a:r>
            </a:p>
          </p:txBody>
        </p:sp>
      </p:grpSp>
      <p:sp>
        <p:nvSpPr>
          <p:cNvPr id="73" name="Rectangle 97">
            <a:extLst>
              <a:ext uri="{FF2B5EF4-FFF2-40B4-BE49-F238E27FC236}">
                <a16:creationId xmlns:a16="http://schemas.microsoft.com/office/drawing/2014/main" id="{2BEEFD4E-5C8B-4127-B982-2E0DC2E284CC}"/>
              </a:ext>
            </a:extLst>
          </p:cNvPr>
          <p:cNvSpPr/>
          <p:nvPr/>
        </p:nvSpPr>
        <p:spPr>
          <a:xfrm>
            <a:off x="8624002" y="5049987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4" name="Rectangle 98">
            <a:extLst>
              <a:ext uri="{FF2B5EF4-FFF2-40B4-BE49-F238E27FC236}">
                <a16:creationId xmlns:a16="http://schemas.microsoft.com/office/drawing/2014/main" id="{FB65FED0-7DEA-4266-952E-6898347E237A}"/>
              </a:ext>
            </a:extLst>
          </p:cNvPr>
          <p:cNvSpPr/>
          <p:nvPr/>
        </p:nvSpPr>
        <p:spPr>
          <a:xfrm>
            <a:off x="8624002" y="5139108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5" name="Rectangle 99">
            <a:extLst>
              <a:ext uri="{FF2B5EF4-FFF2-40B4-BE49-F238E27FC236}">
                <a16:creationId xmlns:a16="http://schemas.microsoft.com/office/drawing/2014/main" id="{D167C0D9-BB71-43C9-99B9-AB3252ECF7C5}"/>
              </a:ext>
            </a:extLst>
          </p:cNvPr>
          <p:cNvSpPr/>
          <p:nvPr/>
        </p:nvSpPr>
        <p:spPr>
          <a:xfrm>
            <a:off x="8620344" y="5260812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0225E15-35EF-48C7-918C-F03A9C31DD3B}"/>
              </a:ext>
            </a:extLst>
          </p:cNvPr>
          <p:cNvSpPr txBox="1"/>
          <p:nvPr/>
        </p:nvSpPr>
        <p:spPr>
          <a:xfrm>
            <a:off x="8297411" y="2568737"/>
            <a:ext cx="1644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요청된 객체 데이터</a:t>
            </a:r>
            <a:endParaRPr lang="en-US" sz="1200" dirty="0"/>
          </a:p>
        </p:txBody>
      </p:sp>
      <p:sp>
        <p:nvSpPr>
          <p:cNvPr id="77" name="Left Arrow 100">
            <a:extLst>
              <a:ext uri="{FF2B5EF4-FFF2-40B4-BE49-F238E27FC236}">
                <a16:creationId xmlns:a16="http://schemas.microsoft.com/office/drawing/2014/main" id="{38CF64DE-D5FF-4264-9803-242B6E8F3D3B}"/>
              </a:ext>
            </a:extLst>
          </p:cNvPr>
          <p:cNvSpPr/>
          <p:nvPr/>
        </p:nvSpPr>
        <p:spPr>
          <a:xfrm>
            <a:off x="7955470" y="3903429"/>
            <a:ext cx="596846" cy="369332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8" name="Rectangle 103">
            <a:extLst>
              <a:ext uri="{FF2B5EF4-FFF2-40B4-BE49-F238E27FC236}">
                <a16:creationId xmlns:a16="http://schemas.microsoft.com/office/drawing/2014/main" id="{C2D492D4-0D9E-4F64-A27D-0F4D27C26B66}"/>
              </a:ext>
            </a:extLst>
          </p:cNvPr>
          <p:cNvSpPr/>
          <p:nvPr/>
        </p:nvSpPr>
        <p:spPr>
          <a:xfrm>
            <a:off x="10065868" y="3531973"/>
            <a:ext cx="394800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90F1456-259E-4E72-B70D-76C790FBC6B6}"/>
              </a:ext>
            </a:extLst>
          </p:cNvPr>
          <p:cNvSpPr txBox="1"/>
          <p:nvPr/>
        </p:nvSpPr>
        <p:spPr>
          <a:xfrm>
            <a:off x="9706653" y="3734152"/>
            <a:ext cx="717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</a:t>
            </a:r>
            <a:r>
              <a:rPr lang="en-US" sz="1600" baseline="-25000" dirty="0"/>
              <a:t>1</a:t>
            </a:r>
          </a:p>
        </p:txBody>
      </p:sp>
      <p:sp>
        <p:nvSpPr>
          <p:cNvPr id="80" name="Rectangle 106">
            <a:extLst>
              <a:ext uri="{FF2B5EF4-FFF2-40B4-BE49-F238E27FC236}">
                <a16:creationId xmlns:a16="http://schemas.microsoft.com/office/drawing/2014/main" id="{FDB53A29-3109-492D-9802-D1D0A921BDF4}"/>
              </a:ext>
            </a:extLst>
          </p:cNvPr>
          <p:cNvSpPr/>
          <p:nvPr/>
        </p:nvSpPr>
        <p:spPr>
          <a:xfrm>
            <a:off x="10303411" y="3694244"/>
            <a:ext cx="394800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8C267B2-30CB-464B-BD84-B03FA148E873}"/>
              </a:ext>
            </a:extLst>
          </p:cNvPr>
          <p:cNvSpPr txBox="1"/>
          <p:nvPr/>
        </p:nvSpPr>
        <p:spPr>
          <a:xfrm>
            <a:off x="9717406" y="4583362"/>
            <a:ext cx="717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</a:t>
            </a:r>
            <a:r>
              <a:rPr lang="en-US" sz="1600" baseline="-250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1A57397-8785-4FEA-8ED8-0E783F674609}"/>
              </a:ext>
            </a:extLst>
          </p:cNvPr>
          <p:cNvSpPr txBox="1"/>
          <p:nvPr/>
        </p:nvSpPr>
        <p:spPr>
          <a:xfrm>
            <a:off x="9717374" y="4937305"/>
            <a:ext cx="717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</a:t>
            </a:r>
            <a:r>
              <a:rPr lang="en-US" sz="1600" baseline="-250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FFCEBE6-14B7-4C69-9557-97EE1183BEF6}"/>
              </a:ext>
            </a:extLst>
          </p:cNvPr>
          <p:cNvSpPr txBox="1"/>
          <p:nvPr/>
        </p:nvSpPr>
        <p:spPr>
          <a:xfrm>
            <a:off x="9722211" y="5260812"/>
            <a:ext cx="717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</a:t>
            </a:r>
            <a:r>
              <a:rPr lang="en-US" sz="1600" baseline="-25000" dirty="0"/>
              <a:t>4</a:t>
            </a:r>
          </a:p>
        </p:txBody>
      </p:sp>
      <p:cxnSp>
        <p:nvCxnSpPr>
          <p:cNvPr id="84" name="Straight Connector 110">
            <a:extLst>
              <a:ext uri="{FF2B5EF4-FFF2-40B4-BE49-F238E27FC236}">
                <a16:creationId xmlns:a16="http://schemas.microsoft.com/office/drawing/2014/main" id="{D54CC5C8-91A6-40B6-BF2F-9638A14DFCC3}"/>
              </a:ext>
            </a:extLst>
          </p:cNvPr>
          <p:cNvCxnSpPr>
            <a:cxnSpLocks/>
          </p:cNvCxnSpPr>
          <p:nvPr/>
        </p:nvCxnSpPr>
        <p:spPr>
          <a:xfrm>
            <a:off x="9583543" y="5160289"/>
            <a:ext cx="1861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112">
            <a:extLst>
              <a:ext uri="{FF2B5EF4-FFF2-40B4-BE49-F238E27FC236}">
                <a16:creationId xmlns:a16="http://schemas.microsoft.com/office/drawing/2014/main" id="{22767001-F5E8-4AA4-A937-24DE0DF20E04}"/>
              </a:ext>
            </a:extLst>
          </p:cNvPr>
          <p:cNvCxnSpPr>
            <a:cxnSpLocks/>
          </p:cNvCxnSpPr>
          <p:nvPr/>
        </p:nvCxnSpPr>
        <p:spPr>
          <a:xfrm flipV="1">
            <a:off x="9589060" y="4857938"/>
            <a:ext cx="180667" cy="145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114">
            <a:extLst>
              <a:ext uri="{FF2B5EF4-FFF2-40B4-BE49-F238E27FC236}">
                <a16:creationId xmlns:a16="http://schemas.microsoft.com/office/drawing/2014/main" id="{AAD19E12-6FE6-4E1D-A8CA-261A0A179E13}"/>
              </a:ext>
            </a:extLst>
          </p:cNvPr>
          <p:cNvCxnSpPr>
            <a:cxnSpLocks/>
          </p:cNvCxnSpPr>
          <p:nvPr/>
        </p:nvCxnSpPr>
        <p:spPr>
          <a:xfrm>
            <a:off x="9593643" y="5337927"/>
            <a:ext cx="180667" cy="145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3">
            <a:extLst>
              <a:ext uri="{FF2B5EF4-FFF2-40B4-BE49-F238E27FC236}">
                <a16:creationId xmlns:a16="http://schemas.microsoft.com/office/drawing/2014/main" id="{B8A1F9FA-61E1-4F65-A5AD-0C1AEDD6BE4F}"/>
              </a:ext>
            </a:extLst>
          </p:cNvPr>
          <p:cNvSpPr txBox="1">
            <a:spLocks noChangeArrowheads="1"/>
          </p:cNvSpPr>
          <p:nvPr/>
        </p:nvSpPr>
        <p:spPr>
          <a:xfrm>
            <a:off x="2410244" y="6073489"/>
            <a:ext cx="8451975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buNone/>
            </a:pPr>
            <a:r>
              <a:rPr lang="ko-KR" altLang="en-US" sz="1600" i="1" dirty="0">
                <a:ea typeface="ＭＳ Ｐゴシック" panose="020B0600070205080204" pitchFamily="34" charset="-128"/>
              </a:rPr>
              <a:t>객체들이 요청된 순서대로 전송됨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: O</a:t>
            </a:r>
            <a:r>
              <a:rPr lang="en-US" altLang="en-US" sz="1600" i="1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, O</a:t>
            </a:r>
            <a:r>
              <a:rPr lang="en-US" altLang="en-US" sz="1600" i="1" baseline="-25000" dirty="0">
                <a:ea typeface="ＭＳ Ｐゴシック" panose="020B0600070205080204" pitchFamily="34" charset="-128"/>
              </a:rPr>
              <a:t>3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, O</a:t>
            </a:r>
            <a:r>
              <a:rPr lang="en-US" altLang="en-US" sz="1600" i="1" baseline="-25000" dirty="0">
                <a:ea typeface="ＭＳ Ｐゴシック" panose="020B0600070205080204" pitchFamily="34" charset="-128"/>
              </a:rPr>
              <a:t>4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 </a:t>
            </a:r>
            <a:r>
              <a:rPr lang="ko-KR" altLang="en-US" sz="1600" i="1" dirty="0">
                <a:ea typeface="ＭＳ Ｐゴシック" panose="020B0600070205080204" pitchFamily="34" charset="-128"/>
              </a:rPr>
              <a:t>는 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O</a:t>
            </a:r>
            <a:r>
              <a:rPr lang="en-US" altLang="en-US" sz="1600" i="1" baseline="-25000" dirty="0">
                <a:ea typeface="ＭＳ Ｐゴシック" panose="020B0600070205080204" pitchFamily="34" charset="-128"/>
              </a:rPr>
              <a:t>1 </a:t>
            </a:r>
            <a:r>
              <a:rPr lang="ko-KR" altLang="en-US" sz="1600" i="1" dirty="0">
                <a:ea typeface="ＭＳ Ｐゴシック" panose="020B0600070205080204" pitchFamily="34" charset="-128"/>
              </a:rPr>
              <a:t>뒤에서 긴 시간을 대기</a:t>
            </a:r>
            <a:endParaRPr lang="en-US" altLang="en-US" sz="1600" i="1" baseline="-25000" dirty="0">
              <a:ea typeface="ＭＳ Ｐゴシック" panose="020B0600070205080204" pitchFamily="34" charset="-128"/>
            </a:endParaRPr>
          </a:p>
          <a:p>
            <a:pPr lvl="1"/>
            <a:endParaRPr lang="en-US" altLang="en-US" sz="1600" dirty="0">
              <a:ea typeface="ＭＳ Ｐゴシック" panose="020B0600070205080204" pitchFamily="34" charset="-128"/>
            </a:endParaRPr>
          </a:p>
        </p:txBody>
      </p:sp>
      <p:grpSp>
        <p:nvGrpSpPr>
          <p:cNvPr id="88" name="Group 56">
            <a:extLst>
              <a:ext uri="{FF2B5EF4-FFF2-40B4-BE49-F238E27FC236}">
                <a16:creationId xmlns:a16="http://schemas.microsoft.com/office/drawing/2014/main" id="{8E63FD20-AC73-47AA-874A-00E73456C8F3}"/>
              </a:ext>
            </a:extLst>
          </p:cNvPr>
          <p:cNvGrpSpPr/>
          <p:nvPr/>
        </p:nvGrpSpPr>
        <p:grpSpPr>
          <a:xfrm>
            <a:off x="3400914" y="5030663"/>
            <a:ext cx="4029070" cy="477315"/>
            <a:chOff x="3400914" y="5195255"/>
            <a:chExt cx="4029070" cy="477315"/>
          </a:xfrm>
        </p:grpSpPr>
        <p:cxnSp>
          <p:nvCxnSpPr>
            <p:cNvPr id="89" name="Straight Arrow Connector 60">
              <a:extLst>
                <a:ext uri="{FF2B5EF4-FFF2-40B4-BE49-F238E27FC236}">
                  <a16:creationId xmlns:a16="http://schemas.microsoft.com/office/drawing/2014/main" id="{A08FBFDC-E3E6-4EE6-AE1D-20C9DEB24E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0914" y="5403102"/>
              <a:ext cx="4029070" cy="2694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Freeform 55">
              <a:extLst>
                <a:ext uri="{FF2B5EF4-FFF2-40B4-BE49-F238E27FC236}">
                  <a16:creationId xmlns:a16="http://schemas.microsoft.com/office/drawing/2014/main" id="{31E2B184-464F-40B0-AD85-7F108CCC3C58}"/>
                </a:ext>
              </a:extLst>
            </p:cNvPr>
            <p:cNvSpPr/>
            <p:nvPr/>
          </p:nvSpPr>
          <p:spPr>
            <a:xfrm>
              <a:off x="3520812" y="5195255"/>
              <a:ext cx="3866473" cy="468804"/>
            </a:xfrm>
            <a:custGeom>
              <a:avLst/>
              <a:gdLst>
                <a:gd name="connsiteX0" fmla="*/ 0 w 3866473"/>
                <a:gd name="connsiteY0" fmla="*/ 264573 h 468804"/>
                <a:gd name="connsiteX1" fmla="*/ 0 w 3866473"/>
                <a:gd name="connsiteY1" fmla="*/ 468804 h 468804"/>
                <a:gd name="connsiteX2" fmla="*/ 3866473 w 3866473"/>
                <a:gd name="connsiteY2" fmla="*/ 204232 h 468804"/>
                <a:gd name="connsiteX3" fmla="*/ 3861832 w 3866473"/>
                <a:gd name="connsiteY3" fmla="*/ 0 h 468804"/>
                <a:gd name="connsiteX4" fmla="*/ 0 w 3866473"/>
                <a:gd name="connsiteY4" fmla="*/ 264573 h 468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6473" h="468804">
                  <a:moveTo>
                    <a:pt x="0" y="264573"/>
                  </a:moveTo>
                  <a:lnTo>
                    <a:pt x="0" y="468804"/>
                  </a:lnTo>
                  <a:lnTo>
                    <a:pt x="3866473" y="204232"/>
                  </a:lnTo>
                  <a:lnTo>
                    <a:pt x="3861832" y="0"/>
                  </a:lnTo>
                  <a:lnTo>
                    <a:pt x="0" y="26457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91" name="Rectangle 3">
            <a:extLst>
              <a:ext uri="{FF2B5EF4-FFF2-40B4-BE49-F238E27FC236}">
                <a16:creationId xmlns:a16="http://schemas.microsoft.com/office/drawing/2014/main" id="{2708D658-2ABC-43D5-8D1A-8A642170A5AB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274501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HTTP 1.1: </a:t>
            </a:r>
            <a:r>
              <a:rPr lang="ko-KR" altLang="en-US" sz="2000" dirty="0">
                <a:ea typeface="ＭＳ Ｐゴシック" panose="020B0600070205080204" pitchFamily="34" charset="-128"/>
              </a:rPr>
              <a:t>클라이언트가 한 개의 대형 객체를 포함한 요청 </a:t>
            </a:r>
            <a:r>
              <a:rPr lang="en-US" altLang="en-US" sz="2000" dirty="0">
                <a:ea typeface="ＭＳ Ｐゴシック" panose="020B0600070205080204" pitchFamily="34" charset="-128"/>
              </a:rPr>
              <a:t>(e.g., video file, and 3 smaller objects)</a:t>
            </a:r>
          </a:p>
          <a:p>
            <a:pPr lvl="1"/>
            <a:endParaRPr lang="en-US" altLang="en-US" sz="18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391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D0AFC24-3094-4C9F-94E5-6727024922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HTTP/2: mitigating HOL blocking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11AEE80-5851-43C0-81EF-A35EA355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47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3F6A7-5289-4866-9643-EA30FA41CF76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274501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HTTP/2: </a:t>
            </a:r>
            <a:r>
              <a:rPr lang="ko-KR" altLang="en-US" sz="2000" dirty="0">
                <a:ea typeface="ＭＳ Ｐゴシック" panose="020B0600070205080204" pitchFamily="34" charset="-128"/>
              </a:rPr>
              <a:t>객체들은 프레임들로 나누어지고</a:t>
            </a:r>
            <a:r>
              <a:rPr lang="en-US" altLang="ko-KR" sz="2000" dirty="0">
                <a:ea typeface="ＭＳ Ｐゴシック" panose="020B0600070205080204" pitchFamily="34" charset="-128"/>
              </a:rPr>
              <a:t>, </a:t>
            </a:r>
            <a:r>
              <a:rPr lang="ko-KR" altLang="en-US" sz="2000" dirty="0">
                <a:ea typeface="ＭＳ Ｐゴシック" panose="020B0600070205080204" pitchFamily="34" charset="-128"/>
              </a:rPr>
              <a:t>각 프레임들은 번갈아 </a:t>
            </a:r>
            <a:r>
              <a:rPr lang="en-US" altLang="ko-KR" sz="2000" dirty="0">
                <a:ea typeface="ＭＳ Ｐゴシック" panose="020B0600070205080204" pitchFamily="34" charset="-128"/>
              </a:rPr>
              <a:t>(interleaved)</a:t>
            </a:r>
            <a:r>
              <a:rPr lang="ko-KR" altLang="en-US" sz="2000" dirty="0">
                <a:ea typeface="ＭＳ Ｐゴシック" panose="020B0600070205080204" pitchFamily="34" charset="-128"/>
              </a:rPr>
              <a:t> 전송됨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pPr lvl="1"/>
            <a:endParaRPr lang="en-US" altLang="en-US" sz="1800" dirty="0">
              <a:ea typeface="ＭＳ Ｐゴシック" panose="020B0600070205080204" pitchFamily="34" charset="-128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7F92E5B9-ED8A-44DF-A9FE-FDDAA782C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3495" y="2701340"/>
            <a:ext cx="7120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CC0000"/>
                </a:solidFill>
                <a:latin typeface="+mn-lt"/>
              </a:rPr>
              <a:t>client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5C27D30-5673-4550-9DB3-BEC1618CA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716" y="1691089"/>
            <a:ext cx="8274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CC0000"/>
                </a:solidFill>
                <a:latin typeface="+mn-lt"/>
              </a:rPr>
              <a:t>server</a:t>
            </a:r>
          </a:p>
        </p:txBody>
      </p:sp>
      <p:grpSp>
        <p:nvGrpSpPr>
          <p:cNvPr id="7" name="Group 34">
            <a:extLst>
              <a:ext uri="{FF2B5EF4-FFF2-40B4-BE49-F238E27FC236}">
                <a16:creationId xmlns:a16="http://schemas.microsoft.com/office/drawing/2014/main" id="{CA9ED1A8-27B8-4867-B325-CD6DAB5FF5E7}"/>
              </a:ext>
            </a:extLst>
          </p:cNvPr>
          <p:cNvGrpSpPr>
            <a:grpSpLocks/>
          </p:cNvGrpSpPr>
          <p:nvPr/>
        </p:nvGrpSpPr>
        <p:grpSpPr bwMode="auto">
          <a:xfrm>
            <a:off x="7234967" y="2061035"/>
            <a:ext cx="422275" cy="685800"/>
            <a:chOff x="4140" y="429"/>
            <a:chExt cx="1425" cy="2396"/>
          </a:xfrm>
        </p:grpSpPr>
        <p:sp>
          <p:nvSpPr>
            <p:cNvPr id="8" name="Freeform 35">
              <a:extLst>
                <a:ext uri="{FF2B5EF4-FFF2-40B4-BE49-F238E27FC236}">
                  <a16:creationId xmlns:a16="http://schemas.microsoft.com/office/drawing/2014/main" id="{A8973F98-C86C-411C-A86A-FFC6479D8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Rectangle 36">
              <a:extLst>
                <a:ext uri="{FF2B5EF4-FFF2-40B4-BE49-F238E27FC236}">
                  <a16:creationId xmlns:a16="http://schemas.microsoft.com/office/drawing/2014/main" id="{AAB9BA96-8380-4D23-B849-32229816D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10" name="Freeform 37">
              <a:extLst>
                <a:ext uri="{FF2B5EF4-FFF2-40B4-BE49-F238E27FC236}">
                  <a16:creationId xmlns:a16="http://schemas.microsoft.com/office/drawing/2014/main" id="{565FBA84-6EEA-470A-865E-49EABB1EA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1" name="Freeform 38">
              <a:extLst>
                <a:ext uri="{FF2B5EF4-FFF2-40B4-BE49-F238E27FC236}">
                  <a16:creationId xmlns:a16="http://schemas.microsoft.com/office/drawing/2014/main" id="{90A35C37-0727-414E-B0D9-06ADE1DA1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" name="Rectangle 39">
              <a:extLst>
                <a:ext uri="{FF2B5EF4-FFF2-40B4-BE49-F238E27FC236}">
                  <a16:creationId xmlns:a16="http://schemas.microsoft.com/office/drawing/2014/main" id="{F84C1F70-9F86-488B-B5BC-B31EA1E06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grpSp>
          <p:nvGrpSpPr>
            <p:cNvPr id="13" name="Group 40">
              <a:extLst>
                <a:ext uri="{FF2B5EF4-FFF2-40B4-BE49-F238E27FC236}">
                  <a16:creationId xmlns:a16="http://schemas.microsoft.com/office/drawing/2014/main" id="{604A2B97-EBFD-4A03-9315-AD88506710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8" name="AutoShape 41">
                <a:extLst>
                  <a:ext uri="{FF2B5EF4-FFF2-40B4-BE49-F238E27FC236}">
                    <a16:creationId xmlns:a16="http://schemas.microsoft.com/office/drawing/2014/main" id="{5D73987F-A187-412A-880E-7877BF3C9E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  <p:sp>
            <p:nvSpPr>
              <p:cNvPr id="39" name="AutoShape 42">
                <a:extLst>
                  <a:ext uri="{FF2B5EF4-FFF2-40B4-BE49-F238E27FC236}">
                    <a16:creationId xmlns:a16="http://schemas.microsoft.com/office/drawing/2014/main" id="{1E099DD6-94B5-4E85-895C-6DC3128623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</p:grpSp>
        <p:sp>
          <p:nvSpPr>
            <p:cNvPr id="14" name="Rectangle 43">
              <a:extLst>
                <a:ext uri="{FF2B5EF4-FFF2-40B4-BE49-F238E27FC236}">
                  <a16:creationId xmlns:a16="http://schemas.microsoft.com/office/drawing/2014/main" id="{1843631E-32B3-490F-B7A1-5675FE47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grpSp>
          <p:nvGrpSpPr>
            <p:cNvPr id="15" name="Group 44">
              <a:extLst>
                <a:ext uri="{FF2B5EF4-FFF2-40B4-BE49-F238E27FC236}">
                  <a16:creationId xmlns:a16="http://schemas.microsoft.com/office/drawing/2014/main" id="{B17A87E1-1F61-430C-B80D-8AC2807A12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6" name="AutoShape 45">
                <a:extLst>
                  <a:ext uri="{FF2B5EF4-FFF2-40B4-BE49-F238E27FC236}">
                    <a16:creationId xmlns:a16="http://schemas.microsoft.com/office/drawing/2014/main" id="{F84EBC93-869E-460C-9960-9F60630AE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  <p:sp>
            <p:nvSpPr>
              <p:cNvPr id="37" name="AutoShape 46">
                <a:extLst>
                  <a:ext uri="{FF2B5EF4-FFF2-40B4-BE49-F238E27FC236}">
                    <a16:creationId xmlns:a16="http://schemas.microsoft.com/office/drawing/2014/main" id="{9CDF2CFA-407E-4533-8FC2-239B7C667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</p:grpSp>
        <p:sp>
          <p:nvSpPr>
            <p:cNvPr id="16" name="Rectangle 47">
              <a:extLst>
                <a:ext uri="{FF2B5EF4-FFF2-40B4-BE49-F238E27FC236}">
                  <a16:creationId xmlns:a16="http://schemas.microsoft.com/office/drawing/2014/main" id="{97553617-41E1-4390-A786-ADA61925E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17" name="Rectangle 48">
              <a:extLst>
                <a:ext uri="{FF2B5EF4-FFF2-40B4-BE49-F238E27FC236}">
                  <a16:creationId xmlns:a16="http://schemas.microsoft.com/office/drawing/2014/main" id="{32A1C66C-39E5-4D89-A0AE-47460C051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grpSp>
          <p:nvGrpSpPr>
            <p:cNvPr id="18" name="Group 49">
              <a:extLst>
                <a:ext uri="{FF2B5EF4-FFF2-40B4-BE49-F238E27FC236}">
                  <a16:creationId xmlns:a16="http://schemas.microsoft.com/office/drawing/2014/main" id="{8E57B9F9-0640-447B-87CC-839B853124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" name="AutoShape 50">
                <a:extLst>
                  <a:ext uri="{FF2B5EF4-FFF2-40B4-BE49-F238E27FC236}">
                    <a16:creationId xmlns:a16="http://schemas.microsoft.com/office/drawing/2014/main" id="{A5555643-5E26-4352-AE27-794C0D00E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  <p:sp>
            <p:nvSpPr>
              <p:cNvPr id="35" name="AutoShape 51">
                <a:extLst>
                  <a:ext uri="{FF2B5EF4-FFF2-40B4-BE49-F238E27FC236}">
                    <a16:creationId xmlns:a16="http://schemas.microsoft.com/office/drawing/2014/main" id="{3314069D-83F5-40C8-8CBC-D5931E13D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</p:grpSp>
        <p:sp>
          <p:nvSpPr>
            <p:cNvPr id="19" name="Freeform 52">
              <a:extLst>
                <a:ext uri="{FF2B5EF4-FFF2-40B4-BE49-F238E27FC236}">
                  <a16:creationId xmlns:a16="http://schemas.microsoft.com/office/drawing/2014/main" id="{6E2ACFE6-446D-4FCD-BFDB-13212429A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grpSp>
          <p:nvGrpSpPr>
            <p:cNvPr id="20" name="Group 53">
              <a:extLst>
                <a:ext uri="{FF2B5EF4-FFF2-40B4-BE49-F238E27FC236}">
                  <a16:creationId xmlns:a16="http://schemas.microsoft.com/office/drawing/2014/main" id="{4295DD70-2001-4723-BCF4-F71FDB28EB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" name="AutoShape 54">
                <a:extLst>
                  <a:ext uri="{FF2B5EF4-FFF2-40B4-BE49-F238E27FC236}">
                    <a16:creationId xmlns:a16="http://schemas.microsoft.com/office/drawing/2014/main" id="{5FD76CB6-8E5E-471E-8650-900F26754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  <p:sp>
            <p:nvSpPr>
              <p:cNvPr id="33" name="AutoShape 55">
                <a:extLst>
                  <a:ext uri="{FF2B5EF4-FFF2-40B4-BE49-F238E27FC236}">
                    <a16:creationId xmlns:a16="http://schemas.microsoft.com/office/drawing/2014/main" id="{B97F1517-71BA-4E27-A854-29191E7EE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400">
                  <a:latin typeface="+mn-lt"/>
                </a:endParaRPr>
              </a:p>
            </p:txBody>
          </p:sp>
        </p:grpSp>
        <p:sp>
          <p:nvSpPr>
            <p:cNvPr id="21" name="Rectangle 56">
              <a:extLst>
                <a:ext uri="{FF2B5EF4-FFF2-40B4-BE49-F238E27FC236}">
                  <a16:creationId xmlns:a16="http://schemas.microsoft.com/office/drawing/2014/main" id="{171F9E4F-8327-4C6A-A2A8-4FE3706C3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22" name="Freeform 57">
              <a:extLst>
                <a:ext uri="{FF2B5EF4-FFF2-40B4-BE49-F238E27FC236}">
                  <a16:creationId xmlns:a16="http://schemas.microsoft.com/office/drawing/2014/main" id="{48E5E452-636E-4EAB-90BC-D0C0E27E8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" name="Freeform 58">
              <a:extLst>
                <a:ext uri="{FF2B5EF4-FFF2-40B4-BE49-F238E27FC236}">
                  <a16:creationId xmlns:a16="http://schemas.microsoft.com/office/drawing/2014/main" id="{7951C93F-D999-4278-8DE7-C17E22A48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4" name="Oval 59">
              <a:extLst>
                <a:ext uri="{FF2B5EF4-FFF2-40B4-BE49-F238E27FC236}">
                  <a16:creationId xmlns:a16="http://schemas.microsoft.com/office/drawing/2014/main" id="{BA213901-14BB-4F36-B104-836968A04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25" name="Freeform 60">
              <a:extLst>
                <a:ext uri="{FF2B5EF4-FFF2-40B4-BE49-F238E27FC236}">
                  <a16:creationId xmlns:a16="http://schemas.microsoft.com/office/drawing/2014/main" id="{293053A4-28D5-4B2F-A375-846D61867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6" name="AutoShape 61">
              <a:extLst>
                <a:ext uri="{FF2B5EF4-FFF2-40B4-BE49-F238E27FC236}">
                  <a16:creationId xmlns:a16="http://schemas.microsoft.com/office/drawing/2014/main" id="{B95B204A-8A44-4433-ABAC-87887FBF6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27" name="AutoShape 62">
              <a:extLst>
                <a:ext uri="{FF2B5EF4-FFF2-40B4-BE49-F238E27FC236}">
                  <a16:creationId xmlns:a16="http://schemas.microsoft.com/office/drawing/2014/main" id="{5F99A3BA-37B6-4068-83FA-0BB1C7472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28" name="Oval 63">
              <a:extLst>
                <a:ext uri="{FF2B5EF4-FFF2-40B4-BE49-F238E27FC236}">
                  <a16:creationId xmlns:a16="http://schemas.microsoft.com/office/drawing/2014/main" id="{52664D4E-D56B-4093-BF5B-35D80C958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29" name="Oval 64">
              <a:extLst>
                <a:ext uri="{FF2B5EF4-FFF2-40B4-BE49-F238E27FC236}">
                  <a16:creationId xmlns:a16="http://schemas.microsoft.com/office/drawing/2014/main" id="{0CE57D49-3847-4B0D-B957-B3431BE06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>
                <a:solidFill>
                  <a:srgbClr val="FF0000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Oval 65">
              <a:extLst>
                <a:ext uri="{FF2B5EF4-FFF2-40B4-BE49-F238E27FC236}">
                  <a16:creationId xmlns:a16="http://schemas.microsoft.com/office/drawing/2014/main" id="{50A85D2D-D80A-4D39-80B9-8EF2A5C65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  <p:sp>
          <p:nvSpPr>
            <p:cNvPr id="31" name="Rectangle 66">
              <a:extLst>
                <a:ext uri="{FF2B5EF4-FFF2-40B4-BE49-F238E27FC236}">
                  <a16:creationId xmlns:a16="http://schemas.microsoft.com/office/drawing/2014/main" id="{40432496-9DF4-4031-B104-E5C071438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+mn-lt"/>
              </a:endParaRPr>
            </a:p>
          </p:txBody>
        </p:sp>
      </p:grpSp>
      <p:grpSp>
        <p:nvGrpSpPr>
          <p:cNvPr id="40" name="Group 67">
            <a:extLst>
              <a:ext uri="{FF2B5EF4-FFF2-40B4-BE49-F238E27FC236}">
                <a16:creationId xmlns:a16="http://schemas.microsoft.com/office/drawing/2014/main" id="{CEE50C56-3B82-4A8E-A678-7793202A924B}"/>
              </a:ext>
            </a:extLst>
          </p:cNvPr>
          <p:cNvGrpSpPr>
            <a:grpSpLocks/>
          </p:cNvGrpSpPr>
          <p:nvPr/>
        </p:nvGrpSpPr>
        <p:grpSpPr bwMode="auto">
          <a:xfrm>
            <a:off x="2885332" y="2090796"/>
            <a:ext cx="742950" cy="742950"/>
            <a:chOff x="-44" y="1473"/>
            <a:chExt cx="981" cy="1105"/>
          </a:xfrm>
        </p:grpSpPr>
        <p:pic>
          <p:nvPicPr>
            <p:cNvPr id="41" name="Picture 68" descr="desktop_computer_stylized_medium">
              <a:extLst>
                <a:ext uri="{FF2B5EF4-FFF2-40B4-BE49-F238E27FC236}">
                  <a16:creationId xmlns:a16="http://schemas.microsoft.com/office/drawing/2014/main" id="{7A7CF19B-BD5B-4C14-BA52-270C28C9F6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Freeform 69">
              <a:extLst>
                <a:ext uri="{FF2B5EF4-FFF2-40B4-BE49-F238E27FC236}">
                  <a16:creationId xmlns:a16="http://schemas.microsoft.com/office/drawing/2014/main" id="{38A20E8A-1A0C-4930-94B2-A47978B658E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200"/>
            </a:p>
          </p:txBody>
        </p:sp>
      </p:grpSp>
      <p:cxnSp>
        <p:nvCxnSpPr>
          <p:cNvPr id="43" name="Straight Arrow Connector 4">
            <a:extLst>
              <a:ext uri="{FF2B5EF4-FFF2-40B4-BE49-F238E27FC236}">
                <a16:creationId xmlns:a16="http://schemas.microsoft.com/office/drawing/2014/main" id="{3278B0BD-B113-4016-BA26-0D8BF38D2B45}"/>
              </a:ext>
            </a:extLst>
          </p:cNvPr>
          <p:cNvCxnSpPr>
            <a:cxnSpLocks/>
          </p:cNvCxnSpPr>
          <p:nvPr/>
        </p:nvCxnSpPr>
        <p:spPr>
          <a:xfrm>
            <a:off x="3526536" y="2590316"/>
            <a:ext cx="3910012" cy="2607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A54E542-8740-458F-B1AE-F5401AB63FFC}"/>
              </a:ext>
            </a:extLst>
          </p:cNvPr>
          <p:cNvSpPr txBox="1"/>
          <p:nvPr/>
        </p:nvSpPr>
        <p:spPr>
          <a:xfrm>
            <a:off x="6093263" y="2466428"/>
            <a:ext cx="8920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GET O</a:t>
            </a:r>
            <a:r>
              <a:rPr lang="en-US" sz="1100" baseline="-250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43F40F-8FE5-4C1D-A878-8278AD3EB4A0}"/>
              </a:ext>
            </a:extLst>
          </p:cNvPr>
          <p:cNvSpPr txBox="1"/>
          <p:nvPr/>
        </p:nvSpPr>
        <p:spPr>
          <a:xfrm>
            <a:off x="5291796" y="2395601"/>
            <a:ext cx="8920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GET O</a:t>
            </a:r>
            <a:r>
              <a:rPr lang="en-US" sz="1100" baseline="-250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2B66F7-D6FC-4EB5-A0F3-76DCA9869504}"/>
              </a:ext>
            </a:extLst>
          </p:cNvPr>
          <p:cNvSpPr txBox="1"/>
          <p:nvPr/>
        </p:nvSpPr>
        <p:spPr>
          <a:xfrm>
            <a:off x="4513773" y="2336936"/>
            <a:ext cx="8920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GET O</a:t>
            </a:r>
            <a:r>
              <a:rPr lang="en-US" sz="1100" baseline="-250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468592-3E03-40BB-B6D0-4B9AFACD8898}"/>
              </a:ext>
            </a:extLst>
          </p:cNvPr>
          <p:cNvSpPr txBox="1"/>
          <p:nvPr/>
        </p:nvSpPr>
        <p:spPr>
          <a:xfrm>
            <a:off x="3721264" y="2272701"/>
            <a:ext cx="8920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GET O</a:t>
            </a:r>
            <a:r>
              <a:rPr lang="en-US" sz="1100" baseline="-25000" dirty="0"/>
              <a:t>4</a:t>
            </a:r>
          </a:p>
        </p:txBody>
      </p:sp>
      <p:cxnSp>
        <p:nvCxnSpPr>
          <p:cNvPr id="48" name="Straight Arrow Connector 61">
            <a:extLst>
              <a:ext uri="{FF2B5EF4-FFF2-40B4-BE49-F238E27FC236}">
                <a16:creationId xmlns:a16="http://schemas.microsoft.com/office/drawing/2014/main" id="{150BD2E9-7899-4449-9C49-B5DEF2DB2F17}"/>
              </a:ext>
            </a:extLst>
          </p:cNvPr>
          <p:cNvCxnSpPr>
            <a:cxnSpLocks/>
          </p:cNvCxnSpPr>
          <p:nvPr/>
        </p:nvCxnSpPr>
        <p:spPr>
          <a:xfrm flipH="1">
            <a:off x="3347464" y="5333480"/>
            <a:ext cx="4093672" cy="2751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62">
            <a:extLst>
              <a:ext uri="{FF2B5EF4-FFF2-40B4-BE49-F238E27FC236}">
                <a16:creationId xmlns:a16="http://schemas.microsoft.com/office/drawing/2014/main" id="{584D557E-68B3-41B7-8D12-7FADB7422B53}"/>
              </a:ext>
            </a:extLst>
          </p:cNvPr>
          <p:cNvSpPr/>
          <p:nvPr/>
        </p:nvSpPr>
        <p:spPr>
          <a:xfrm>
            <a:off x="8620343" y="2907700"/>
            <a:ext cx="892098" cy="19713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0" name="Rectangle 63">
            <a:extLst>
              <a:ext uri="{FF2B5EF4-FFF2-40B4-BE49-F238E27FC236}">
                <a16:creationId xmlns:a16="http://schemas.microsoft.com/office/drawing/2014/main" id="{B4DB017D-4A0A-4FB0-B256-27A951B5157F}"/>
              </a:ext>
            </a:extLst>
          </p:cNvPr>
          <p:cNvSpPr/>
          <p:nvPr/>
        </p:nvSpPr>
        <p:spPr>
          <a:xfrm>
            <a:off x="8624001" y="4893656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1" name="Freeform 48">
            <a:extLst>
              <a:ext uri="{FF2B5EF4-FFF2-40B4-BE49-F238E27FC236}">
                <a16:creationId xmlns:a16="http://schemas.microsoft.com/office/drawing/2014/main" id="{E76B5285-6CC3-44A1-8DA9-0B04C733F44E}"/>
              </a:ext>
            </a:extLst>
          </p:cNvPr>
          <p:cNvSpPr/>
          <p:nvPr/>
        </p:nvSpPr>
        <p:spPr>
          <a:xfrm>
            <a:off x="3486512" y="3634442"/>
            <a:ext cx="3867383" cy="1978529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67383 w 3876052"/>
              <a:gd name="connsiteY0" fmla="*/ 0 h 2226179"/>
              <a:gd name="connsiteX1" fmla="*/ 411 w 3876052"/>
              <a:gd name="connsiteY1" fmla="*/ 273465 h 2226179"/>
              <a:gd name="connsiteX2" fmla="*/ 411 w 3876052"/>
              <a:gd name="connsiteY2" fmla="*/ 2226179 h 2226179"/>
              <a:gd name="connsiteX3" fmla="*/ 3875929 w 3876052"/>
              <a:gd name="connsiteY3" fmla="*/ 1956987 h 2226179"/>
              <a:gd name="connsiteX4" fmla="*/ 3867383 w 3876052"/>
              <a:gd name="connsiteY4" fmla="*/ 0 h 2226179"/>
              <a:gd name="connsiteX0" fmla="*/ 3867383 w 3871845"/>
              <a:gd name="connsiteY0" fmla="*/ 0 h 2226179"/>
              <a:gd name="connsiteX1" fmla="*/ 411 w 3871845"/>
              <a:gd name="connsiteY1" fmla="*/ 273465 h 2226179"/>
              <a:gd name="connsiteX2" fmla="*/ 411 w 3871845"/>
              <a:gd name="connsiteY2" fmla="*/ 2226179 h 2226179"/>
              <a:gd name="connsiteX3" fmla="*/ 3871656 w 3871845"/>
              <a:gd name="connsiteY3" fmla="*/ 1969806 h 2226179"/>
              <a:gd name="connsiteX4" fmla="*/ 3867383 w 3871845"/>
              <a:gd name="connsiteY4" fmla="*/ 0 h 2226179"/>
              <a:gd name="connsiteX0" fmla="*/ 3867383 w 3872034"/>
              <a:gd name="connsiteY0" fmla="*/ 0 h 2226179"/>
              <a:gd name="connsiteX1" fmla="*/ 411 w 3872034"/>
              <a:gd name="connsiteY1" fmla="*/ 273465 h 2226179"/>
              <a:gd name="connsiteX2" fmla="*/ 411 w 3872034"/>
              <a:gd name="connsiteY2" fmla="*/ 2226179 h 2226179"/>
              <a:gd name="connsiteX3" fmla="*/ 3871656 w 3872034"/>
              <a:gd name="connsiteY3" fmla="*/ 1969806 h 2226179"/>
              <a:gd name="connsiteX4" fmla="*/ 3867383 w 3872034"/>
              <a:gd name="connsiteY4" fmla="*/ 0 h 2226179"/>
              <a:gd name="connsiteX0" fmla="*/ 3867383 w 3868169"/>
              <a:gd name="connsiteY0" fmla="*/ 0 h 2226179"/>
              <a:gd name="connsiteX1" fmla="*/ 411 w 3868169"/>
              <a:gd name="connsiteY1" fmla="*/ 273465 h 2226179"/>
              <a:gd name="connsiteX2" fmla="*/ 411 w 3868169"/>
              <a:gd name="connsiteY2" fmla="*/ 2226179 h 2226179"/>
              <a:gd name="connsiteX3" fmla="*/ 3863110 w 3868169"/>
              <a:gd name="connsiteY3" fmla="*/ 1969806 h 2226179"/>
              <a:gd name="connsiteX4" fmla="*/ 3867383 w 3868169"/>
              <a:gd name="connsiteY4" fmla="*/ 0 h 2226179"/>
              <a:gd name="connsiteX0" fmla="*/ 3867383 w 3867817"/>
              <a:gd name="connsiteY0" fmla="*/ 0 h 2226179"/>
              <a:gd name="connsiteX1" fmla="*/ 411 w 3867817"/>
              <a:gd name="connsiteY1" fmla="*/ 273465 h 2226179"/>
              <a:gd name="connsiteX2" fmla="*/ 411 w 3867817"/>
              <a:gd name="connsiteY2" fmla="*/ 2226179 h 2226179"/>
              <a:gd name="connsiteX3" fmla="*/ 3856760 w 3867817"/>
              <a:gd name="connsiteY3" fmla="*/ 1718981 h 2226179"/>
              <a:gd name="connsiteX4" fmla="*/ 3867383 w 3867817"/>
              <a:gd name="connsiteY4" fmla="*/ 0 h 2226179"/>
              <a:gd name="connsiteX0" fmla="*/ 3867383 w 3867817"/>
              <a:gd name="connsiteY0" fmla="*/ 0 h 1978529"/>
              <a:gd name="connsiteX1" fmla="*/ 411 w 3867817"/>
              <a:gd name="connsiteY1" fmla="*/ 273465 h 1978529"/>
              <a:gd name="connsiteX2" fmla="*/ 411 w 3867817"/>
              <a:gd name="connsiteY2" fmla="*/ 1978529 h 1978529"/>
              <a:gd name="connsiteX3" fmla="*/ 3856760 w 3867817"/>
              <a:gd name="connsiteY3" fmla="*/ 1718981 h 1978529"/>
              <a:gd name="connsiteX4" fmla="*/ 3867383 w 3867817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383" h="1978529">
                <a:moveTo>
                  <a:pt x="3867383" y="0"/>
                </a:moveTo>
                <a:lnTo>
                  <a:pt x="411" y="273465"/>
                </a:lnTo>
                <a:cubicBezTo>
                  <a:pt x="1835" y="927218"/>
                  <a:pt x="-1013" y="1324776"/>
                  <a:pt x="411" y="1978529"/>
                </a:cubicBezTo>
                <a:lnTo>
                  <a:pt x="3856760" y="1718981"/>
                </a:lnTo>
                <a:cubicBezTo>
                  <a:pt x="3862689" y="443848"/>
                  <a:pt x="3861223" y="1457627"/>
                  <a:pt x="386738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2" name="Freeform 66">
            <a:extLst>
              <a:ext uri="{FF2B5EF4-FFF2-40B4-BE49-F238E27FC236}">
                <a16:creationId xmlns:a16="http://schemas.microsoft.com/office/drawing/2014/main" id="{952B93E3-60AE-42A0-960D-E08249FA761B}"/>
              </a:ext>
            </a:extLst>
          </p:cNvPr>
          <p:cNvSpPr/>
          <p:nvPr/>
        </p:nvSpPr>
        <p:spPr>
          <a:xfrm>
            <a:off x="3479865" y="3006489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3" name="Freeform 67">
            <a:extLst>
              <a:ext uri="{FF2B5EF4-FFF2-40B4-BE49-F238E27FC236}">
                <a16:creationId xmlns:a16="http://schemas.microsoft.com/office/drawing/2014/main" id="{4D6E953C-D272-4E3A-930E-706E8D328CDF}"/>
              </a:ext>
            </a:extLst>
          </p:cNvPr>
          <p:cNvSpPr/>
          <p:nvPr/>
        </p:nvSpPr>
        <p:spPr>
          <a:xfrm>
            <a:off x="3479865" y="3135450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4" name="Freeform 69">
            <a:extLst>
              <a:ext uri="{FF2B5EF4-FFF2-40B4-BE49-F238E27FC236}">
                <a16:creationId xmlns:a16="http://schemas.microsoft.com/office/drawing/2014/main" id="{C9AEA4B6-DE7C-4A3A-A664-DB393AC73F6F}"/>
              </a:ext>
            </a:extLst>
          </p:cNvPr>
          <p:cNvSpPr/>
          <p:nvPr/>
        </p:nvSpPr>
        <p:spPr>
          <a:xfrm>
            <a:off x="3485129" y="3266918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5" name="Rectangle 89">
            <a:extLst>
              <a:ext uri="{FF2B5EF4-FFF2-40B4-BE49-F238E27FC236}">
                <a16:creationId xmlns:a16="http://schemas.microsoft.com/office/drawing/2014/main" id="{1B5C00E3-C0F1-40DA-9DC4-C1192C766F34}"/>
              </a:ext>
            </a:extLst>
          </p:cNvPr>
          <p:cNvSpPr/>
          <p:nvPr/>
        </p:nvSpPr>
        <p:spPr>
          <a:xfrm>
            <a:off x="2231742" y="3240507"/>
            <a:ext cx="252731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56" name="Group 6">
            <a:extLst>
              <a:ext uri="{FF2B5EF4-FFF2-40B4-BE49-F238E27FC236}">
                <a16:creationId xmlns:a16="http://schemas.microsoft.com/office/drawing/2014/main" id="{6B885435-67ED-4CDB-8EE4-9F602F7E3DEF}"/>
              </a:ext>
            </a:extLst>
          </p:cNvPr>
          <p:cNvGrpSpPr/>
          <p:nvPr/>
        </p:nvGrpSpPr>
        <p:grpSpPr>
          <a:xfrm>
            <a:off x="1770738" y="3184621"/>
            <a:ext cx="1641327" cy="261610"/>
            <a:chOff x="1770738" y="3385789"/>
            <a:chExt cx="1641327" cy="261610"/>
          </a:xfrm>
        </p:grpSpPr>
        <p:cxnSp>
          <p:nvCxnSpPr>
            <p:cNvPr id="57" name="Straight Arrow Connector 79">
              <a:extLst>
                <a:ext uri="{FF2B5EF4-FFF2-40B4-BE49-F238E27FC236}">
                  <a16:creationId xmlns:a16="http://schemas.microsoft.com/office/drawing/2014/main" id="{439BEE77-7BB1-4D9E-8D7D-791F34332C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0738" y="3564111"/>
              <a:ext cx="16413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195F6AF-1DB5-4593-8CA7-A1E60D51B539}"/>
                </a:ext>
              </a:extLst>
            </p:cNvPr>
            <p:cNvSpPr txBox="1"/>
            <p:nvPr/>
          </p:nvSpPr>
          <p:spPr>
            <a:xfrm>
              <a:off x="2156066" y="3385789"/>
              <a:ext cx="4591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O</a:t>
              </a:r>
              <a:r>
                <a:rPr lang="en-US" sz="1100" baseline="-25000" dirty="0"/>
                <a:t>2</a:t>
              </a:r>
            </a:p>
          </p:txBody>
        </p:sp>
      </p:grpSp>
      <p:sp>
        <p:nvSpPr>
          <p:cNvPr id="59" name="Rectangle 93">
            <a:extLst>
              <a:ext uri="{FF2B5EF4-FFF2-40B4-BE49-F238E27FC236}">
                <a16:creationId xmlns:a16="http://schemas.microsoft.com/office/drawing/2014/main" id="{EA3EE666-08AD-4978-8644-3BA6A222E8BA}"/>
              </a:ext>
            </a:extLst>
          </p:cNvPr>
          <p:cNvSpPr/>
          <p:nvPr/>
        </p:nvSpPr>
        <p:spPr>
          <a:xfrm>
            <a:off x="2369264" y="3526983"/>
            <a:ext cx="252731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60" name="Group 9">
            <a:extLst>
              <a:ext uri="{FF2B5EF4-FFF2-40B4-BE49-F238E27FC236}">
                <a16:creationId xmlns:a16="http://schemas.microsoft.com/office/drawing/2014/main" id="{2B836B5B-E8B0-463B-8235-C641F2B96968}"/>
              </a:ext>
            </a:extLst>
          </p:cNvPr>
          <p:cNvGrpSpPr/>
          <p:nvPr/>
        </p:nvGrpSpPr>
        <p:grpSpPr>
          <a:xfrm>
            <a:off x="1759658" y="3460595"/>
            <a:ext cx="1641172" cy="261610"/>
            <a:chOff x="1759658" y="3661763"/>
            <a:chExt cx="1641172" cy="261610"/>
          </a:xfrm>
        </p:grpSpPr>
        <p:cxnSp>
          <p:nvCxnSpPr>
            <p:cNvPr id="61" name="Straight Arrow Connector 81">
              <a:extLst>
                <a:ext uri="{FF2B5EF4-FFF2-40B4-BE49-F238E27FC236}">
                  <a16:creationId xmlns:a16="http://schemas.microsoft.com/office/drawing/2014/main" id="{924C217C-72D8-4EA8-AFDF-D7E5399227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9658" y="3839649"/>
              <a:ext cx="16411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7115AFC-C5DE-49E0-AE17-6369E9952EA4}"/>
                </a:ext>
              </a:extLst>
            </p:cNvPr>
            <p:cNvSpPr txBox="1"/>
            <p:nvPr/>
          </p:nvSpPr>
          <p:spPr>
            <a:xfrm>
              <a:off x="2315510" y="3661763"/>
              <a:ext cx="4591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O</a:t>
              </a:r>
              <a:r>
                <a:rPr lang="en-US" sz="1100" baseline="-25000" dirty="0"/>
                <a:t>4</a:t>
              </a:r>
            </a:p>
          </p:txBody>
        </p:sp>
      </p:grpSp>
      <p:sp>
        <p:nvSpPr>
          <p:cNvPr id="63" name="Rectangle 97">
            <a:extLst>
              <a:ext uri="{FF2B5EF4-FFF2-40B4-BE49-F238E27FC236}">
                <a16:creationId xmlns:a16="http://schemas.microsoft.com/office/drawing/2014/main" id="{2C3FF0A3-12CF-4577-841D-9E5272C135DA}"/>
              </a:ext>
            </a:extLst>
          </p:cNvPr>
          <p:cNvSpPr/>
          <p:nvPr/>
        </p:nvSpPr>
        <p:spPr>
          <a:xfrm>
            <a:off x="8624002" y="5013411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4" name="Rectangle 98">
            <a:extLst>
              <a:ext uri="{FF2B5EF4-FFF2-40B4-BE49-F238E27FC236}">
                <a16:creationId xmlns:a16="http://schemas.microsoft.com/office/drawing/2014/main" id="{E3C90931-A343-4894-B11A-D47E64716139}"/>
              </a:ext>
            </a:extLst>
          </p:cNvPr>
          <p:cNvSpPr/>
          <p:nvPr/>
        </p:nvSpPr>
        <p:spPr>
          <a:xfrm>
            <a:off x="8624002" y="5102532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5" name="Rectangle 99">
            <a:extLst>
              <a:ext uri="{FF2B5EF4-FFF2-40B4-BE49-F238E27FC236}">
                <a16:creationId xmlns:a16="http://schemas.microsoft.com/office/drawing/2014/main" id="{B3785C54-1832-422E-AF0A-9E86AD481C61}"/>
              </a:ext>
            </a:extLst>
          </p:cNvPr>
          <p:cNvSpPr/>
          <p:nvPr/>
        </p:nvSpPr>
        <p:spPr>
          <a:xfrm>
            <a:off x="8620344" y="5224236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7" name="Left Arrow 100">
            <a:extLst>
              <a:ext uri="{FF2B5EF4-FFF2-40B4-BE49-F238E27FC236}">
                <a16:creationId xmlns:a16="http://schemas.microsoft.com/office/drawing/2014/main" id="{E05A572C-91ED-4C7B-8A9A-39DB31FBF109}"/>
              </a:ext>
            </a:extLst>
          </p:cNvPr>
          <p:cNvSpPr/>
          <p:nvPr/>
        </p:nvSpPr>
        <p:spPr>
          <a:xfrm>
            <a:off x="7955470" y="3866853"/>
            <a:ext cx="596846" cy="369332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08EF78-828C-4A7E-B3A2-5997C554C62A}"/>
              </a:ext>
            </a:extLst>
          </p:cNvPr>
          <p:cNvSpPr txBox="1"/>
          <p:nvPr/>
        </p:nvSpPr>
        <p:spPr>
          <a:xfrm>
            <a:off x="9706653" y="3697576"/>
            <a:ext cx="717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</a:t>
            </a:r>
            <a:r>
              <a:rPr lang="en-US" sz="1600" baseline="-25000" dirty="0"/>
              <a:t>1</a:t>
            </a:r>
          </a:p>
        </p:txBody>
      </p:sp>
      <p:sp>
        <p:nvSpPr>
          <p:cNvPr id="69" name="Rectangle 106">
            <a:extLst>
              <a:ext uri="{FF2B5EF4-FFF2-40B4-BE49-F238E27FC236}">
                <a16:creationId xmlns:a16="http://schemas.microsoft.com/office/drawing/2014/main" id="{075F0100-2B3E-44AD-81C7-1D2B9C0EA66B}"/>
              </a:ext>
            </a:extLst>
          </p:cNvPr>
          <p:cNvSpPr/>
          <p:nvPr/>
        </p:nvSpPr>
        <p:spPr>
          <a:xfrm>
            <a:off x="10303411" y="3657668"/>
            <a:ext cx="394800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926181-46A8-4270-B931-E5C9719845FF}"/>
              </a:ext>
            </a:extLst>
          </p:cNvPr>
          <p:cNvSpPr txBox="1"/>
          <p:nvPr/>
        </p:nvSpPr>
        <p:spPr>
          <a:xfrm>
            <a:off x="9717406" y="4546786"/>
            <a:ext cx="717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</a:t>
            </a:r>
            <a:r>
              <a:rPr lang="en-US" sz="1600" baseline="-250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1A26CB-E6E0-4898-BFB8-BC151194A73A}"/>
              </a:ext>
            </a:extLst>
          </p:cNvPr>
          <p:cNvSpPr txBox="1"/>
          <p:nvPr/>
        </p:nvSpPr>
        <p:spPr>
          <a:xfrm>
            <a:off x="9717374" y="4900729"/>
            <a:ext cx="717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</a:t>
            </a:r>
            <a:r>
              <a:rPr lang="en-US" sz="1600" baseline="-250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0F4928F-17CB-4691-A73D-6ADF7556C3FB}"/>
              </a:ext>
            </a:extLst>
          </p:cNvPr>
          <p:cNvSpPr txBox="1"/>
          <p:nvPr/>
        </p:nvSpPr>
        <p:spPr>
          <a:xfrm>
            <a:off x="9722211" y="5224236"/>
            <a:ext cx="717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</a:t>
            </a:r>
            <a:r>
              <a:rPr lang="en-US" sz="1600" baseline="-25000" dirty="0"/>
              <a:t>4</a:t>
            </a:r>
          </a:p>
        </p:txBody>
      </p:sp>
      <p:cxnSp>
        <p:nvCxnSpPr>
          <p:cNvPr id="73" name="Straight Connector 110">
            <a:extLst>
              <a:ext uri="{FF2B5EF4-FFF2-40B4-BE49-F238E27FC236}">
                <a16:creationId xmlns:a16="http://schemas.microsoft.com/office/drawing/2014/main" id="{BC6446E2-799A-4F7E-99DF-2E7499FBAE60}"/>
              </a:ext>
            </a:extLst>
          </p:cNvPr>
          <p:cNvCxnSpPr>
            <a:cxnSpLocks/>
          </p:cNvCxnSpPr>
          <p:nvPr/>
        </p:nvCxnSpPr>
        <p:spPr>
          <a:xfrm>
            <a:off x="9583543" y="5123713"/>
            <a:ext cx="1861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112">
            <a:extLst>
              <a:ext uri="{FF2B5EF4-FFF2-40B4-BE49-F238E27FC236}">
                <a16:creationId xmlns:a16="http://schemas.microsoft.com/office/drawing/2014/main" id="{F679067D-B294-45AC-9F30-0C36A5E2BC07}"/>
              </a:ext>
            </a:extLst>
          </p:cNvPr>
          <p:cNvCxnSpPr>
            <a:cxnSpLocks/>
          </p:cNvCxnSpPr>
          <p:nvPr/>
        </p:nvCxnSpPr>
        <p:spPr>
          <a:xfrm flipV="1">
            <a:off x="9589060" y="4821362"/>
            <a:ext cx="180667" cy="145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114">
            <a:extLst>
              <a:ext uri="{FF2B5EF4-FFF2-40B4-BE49-F238E27FC236}">
                <a16:creationId xmlns:a16="http://schemas.microsoft.com/office/drawing/2014/main" id="{C3DC2F49-0A43-49FA-997E-05450F89C2E4}"/>
              </a:ext>
            </a:extLst>
          </p:cNvPr>
          <p:cNvCxnSpPr>
            <a:cxnSpLocks/>
          </p:cNvCxnSpPr>
          <p:nvPr/>
        </p:nvCxnSpPr>
        <p:spPr>
          <a:xfrm>
            <a:off x="9593643" y="5301351"/>
            <a:ext cx="180667" cy="145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3">
            <a:extLst>
              <a:ext uri="{FF2B5EF4-FFF2-40B4-BE49-F238E27FC236}">
                <a16:creationId xmlns:a16="http://schemas.microsoft.com/office/drawing/2014/main" id="{1C8D91E9-5391-409C-912A-DBCA1FFD8877}"/>
              </a:ext>
            </a:extLst>
          </p:cNvPr>
          <p:cNvSpPr txBox="1">
            <a:spLocks noChangeArrowheads="1"/>
          </p:cNvSpPr>
          <p:nvPr/>
        </p:nvSpPr>
        <p:spPr>
          <a:xfrm>
            <a:off x="3131136" y="5993261"/>
            <a:ext cx="6552840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buNone/>
            </a:pPr>
            <a:r>
              <a:rPr lang="en-US" altLang="en-US" sz="1600" i="1" dirty="0">
                <a:ea typeface="ＭＳ Ｐゴシック" panose="020B0600070205080204" pitchFamily="34" charset="-128"/>
              </a:rPr>
              <a:t>O</a:t>
            </a:r>
            <a:r>
              <a:rPr lang="en-US" altLang="en-US" sz="1600" i="1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, O</a:t>
            </a:r>
            <a:r>
              <a:rPr lang="en-US" altLang="en-US" sz="1600" i="1" baseline="-25000" dirty="0">
                <a:ea typeface="ＭＳ Ｐゴシック" panose="020B0600070205080204" pitchFamily="34" charset="-128"/>
              </a:rPr>
              <a:t>3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, O</a:t>
            </a:r>
            <a:r>
              <a:rPr lang="en-US" altLang="en-US" sz="1600" i="1" baseline="-25000" dirty="0">
                <a:ea typeface="ＭＳ Ｐゴシック" panose="020B0600070205080204" pitchFamily="34" charset="-128"/>
              </a:rPr>
              <a:t>4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 </a:t>
            </a:r>
            <a:r>
              <a:rPr lang="ko-KR" altLang="en-US" sz="1600" i="1" dirty="0">
                <a:ea typeface="ＭＳ Ｐゴシック" panose="020B0600070205080204" pitchFamily="34" charset="-128"/>
              </a:rPr>
              <a:t>은 빨리 전송되고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, O</a:t>
            </a:r>
            <a:r>
              <a:rPr lang="en-US" altLang="en-US" sz="1600" i="1" baseline="-25000" dirty="0">
                <a:ea typeface="ＭＳ Ｐゴシック" panose="020B0600070205080204" pitchFamily="34" charset="-128"/>
              </a:rPr>
              <a:t>1 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 </a:t>
            </a:r>
            <a:r>
              <a:rPr lang="ko-KR" altLang="en-US" sz="1600" i="1" dirty="0">
                <a:ea typeface="ＭＳ Ｐゴシック" panose="020B0600070205080204" pitchFamily="34" charset="-128"/>
              </a:rPr>
              <a:t>의 지연은 약간 증가함</a:t>
            </a:r>
            <a:endParaRPr lang="en-US" altLang="en-US" sz="1600" i="1" dirty="0">
              <a:ea typeface="ＭＳ Ｐゴシック" panose="020B0600070205080204" pitchFamily="34" charset="-128"/>
            </a:endParaRPr>
          </a:p>
          <a:p>
            <a:pPr lvl="1"/>
            <a:endParaRPr lang="en-US" altLang="en-US" sz="1600" dirty="0">
              <a:ea typeface="ＭＳ Ｐゴシック" panose="020B0600070205080204" pitchFamily="34" charset="-128"/>
            </a:endParaRPr>
          </a:p>
        </p:txBody>
      </p:sp>
      <p:grpSp>
        <p:nvGrpSpPr>
          <p:cNvPr id="77" name="Group 3">
            <a:extLst>
              <a:ext uri="{FF2B5EF4-FFF2-40B4-BE49-F238E27FC236}">
                <a16:creationId xmlns:a16="http://schemas.microsoft.com/office/drawing/2014/main" id="{533137C6-2E09-4687-AB7A-E4EF3ECCC208}"/>
              </a:ext>
            </a:extLst>
          </p:cNvPr>
          <p:cNvGrpSpPr/>
          <p:nvPr/>
        </p:nvGrpSpPr>
        <p:grpSpPr>
          <a:xfrm>
            <a:off x="3362984" y="2877314"/>
            <a:ext cx="4052925" cy="379692"/>
            <a:chOff x="3362984" y="3078482"/>
            <a:chExt cx="4052925" cy="379692"/>
          </a:xfrm>
        </p:grpSpPr>
        <p:cxnSp>
          <p:nvCxnSpPr>
            <p:cNvPr id="78" name="Straight Arrow Connector 85">
              <a:extLst>
                <a:ext uri="{FF2B5EF4-FFF2-40B4-BE49-F238E27FC236}">
                  <a16:creationId xmlns:a16="http://schemas.microsoft.com/office/drawing/2014/main" id="{19081DB0-2069-499F-8A68-B34F4C4770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2984" y="3078482"/>
              <a:ext cx="4052925" cy="2733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Freeform 86">
              <a:extLst>
                <a:ext uri="{FF2B5EF4-FFF2-40B4-BE49-F238E27FC236}">
                  <a16:creationId xmlns:a16="http://schemas.microsoft.com/office/drawing/2014/main" id="{C986EE21-DA18-4BC6-A4F3-96C38DAE47C6}"/>
                </a:ext>
              </a:extLst>
            </p:cNvPr>
            <p:cNvSpPr/>
            <p:nvPr/>
          </p:nvSpPr>
          <p:spPr>
            <a:xfrm>
              <a:off x="3479865" y="3082818"/>
              <a:ext cx="3875928" cy="375356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92661 w 3892661"/>
                <a:gd name="connsiteY0" fmla="*/ 0 h 6403180"/>
                <a:gd name="connsiteX1" fmla="*/ 25689 w 3892661"/>
                <a:gd name="connsiteY1" fmla="*/ 273465 h 6403180"/>
                <a:gd name="connsiteX2" fmla="*/ 51 w 3892661"/>
                <a:gd name="connsiteY2" fmla="*/ 6403180 h 6403180"/>
                <a:gd name="connsiteX3" fmla="*/ 3888388 w 3892661"/>
                <a:gd name="connsiteY3" fmla="*/ 1974078 h 6403180"/>
                <a:gd name="connsiteX4" fmla="*/ 3892661 w 3892661"/>
                <a:gd name="connsiteY4" fmla="*/ 0 h 6403180"/>
                <a:gd name="connsiteX0" fmla="*/ 3896882 w 3896882"/>
                <a:gd name="connsiteY0" fmla="*/ 0 h 6403180"/>
                <a:gd name="connsiteX1" fmla="*/ 0 w 3896882"/>
                <a:gd name="connsiteY1" fmla="*/ 4599655 h 6403180"/>
                <a:gd name="connsiteX2" fmla="*/ 4272 w 3896882"/>
                <a:gd name="connsiteY2" fmla="*/ 6403180 h 6403180"/>
                <a:gd name="connsiteX3" fmla="*/ 3892609 w 3896882"/>
                <a:gd name="connsiteY3" fmla="*/ 1974078 h 6403180"/>
                <a:gd name="connsiteX4" fmla="*/ 3896882 w 3896882"/>
                <a:gd name="connsiteY4" fmla="*/ 0 h 6403180"/>
                <a:gd name="connsiteX0" fmla="*/ 3893021 w 3893021"/>
                <a:gd name="connsiteY0" fmla="*/ 0 h 6403180"/>
                <a:gd name="connsiteX1" fmla="*/ 412 w 3893021"/>
                <a:gd name="connsiteY1" fmla="*/ 4152108 h 6403180"/>
                <a:gd name="connsiteX2" fmla="*/ 411 w 3893021"/>
                <a:gd name="connsiteY2" fmla="*/ 6403180 h 6403180"/>
                <a:gd name="connsiteX3" fmla="*/ 3888748 w 3893021"/>
                <a:gd name="connsiteY3" fmla="*/ 1974078 h 6403180"/>
                <a:gd name="connsiteX4" fmla="*/ 3893021 w 3893021"/>
                <a:gd name="connsiteY4" fmla="*/ 0 h 6403180"/>
                <a:gd name="connsiteX0" fmla="*/ 3892651 w 3892651"/>
                <a:gd name="connsiteY0" fmla="*/ 0 h 6403180"/>
                <a:gd name="connsiteX1" fmla="*/ 34226 w 3892651"/>
                <a:gd name="connsiteY1" fmla="*/ 4375864 h 6403180"/>
                <a:gd name="connsiteX2" fmla="*/ 41 w 3892651"/>
                <a:gd name="connsiteY2" fmla="*/ 6403180 h 6403180"/>
                <a:gd name="connsiteX3" fmla="*/ 3888378 w 3892651"/>
                <a:gd name="connsiteY3" fmla="*/ 1974078 h 6403180"/>
                <a:gd name="connsiteX4" fmla="*/ 3892651 w 3892651"/>
                <a:gd name="connsiteY4" fmla="*/ 0 h 6403180"/>
                <a:gd name="connsiteX0" fmla="*/ 3875591 w 3875591"/>
                <a:gd name="connsiteY0" fmla="*/ 0 h 6552362"/>
                <a:gd name="connsiteX1" fmla="*/ 17166 w 3875591"/>
                <a:gd name="connsiteY1" fmla="*/ 4375864 h 6552362"/>
                <a:gd name="connsiteX2" fmla="*/ 73 w 3875591"/>
                <a:gd name="connsiteY2" fmla="*/ 6552362 h 6552362"/>
                <a:gd name="connsiteX3" fmla="*/ 3871318 w 3875591"/>
                <a:gd name="connsiteY3" fmla="*/ 1974078 h 6552362"/>
                <a:gd name="connsiteX4" fmla="*/ 3875591 w 3875591"/>
                <a:gd name="connsiteY4" fmla="*/ 0 h 6552362"/>
                <a:gd name="connsiteX0" fmla="*/ 3875928 w 3875928"/>
                <a:gd name="connsiteY0" fmla="*/ 0 h 6552362"/>
                <a:gd name="connsiteX1" fmla="*/ 412 w 3875928"/>
                <a:gd name="connsiteY1" fmla="*/ 4599620 h 6552362"/>
                <a:gd name="connsiteX2" fmla="*/ 410 w 3875928"/>
                <a:gd name="connsiteY2" fmla="*/ 6552362 h 6552362"/>
                <a:gd name="connsiteX3" fmla="*/ 3871655 w 3875928"/>
                <a:gd name="connsiteY3" fmla="*/ 1974078 h 6552362"/>
                <a:gd name="connsiteX4" fmla="*/ 3875928 w 3875928"/>
                <a:gd name="connsiteY4" fmla="*/ 0 h 6552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5928" h="6552362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80" name="Freeform 87">
            <a:extLst>
              <a:ext uri="{FF2B5EF4-FFF2-40B4-BE49-F238E27FC236}">
                <a16:creationId xmlns:a16="http://schemas.microsoft.com/office/drawing/2014/main" id="{E3D61515-C782-41D3-AC98-FE6D902E74C5}"/>
              </a:ext>
            </a:extLst>
          </p:cNvPr>
          <p:cNvSpPr/>
          <p:nvPr/>
        </p:nvSpPr>
        <p:spPr>
          <a:xfrm>
            <a:off x="3480625" y="3395062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1" name="Freeform 88">
            <a:extLst>
              <a:ext uri="{FF2B5EF4-FFF2-40B4-BE49-F238E27FC236}">
                <a16:creationId xmlns:a16="http://schemas.microsoft.com/office/drawing/2014/main" id="{3489F131-975F-4E9F-87E4-E154AF5B2D46}"/>
              </a:ext>
            </a:extLst>
          </p:cNvPr>
          <p:cNvSpPr/>
          <p:nvPr/>
        </p:nvSpPr>
        <p:spPr>
          <a:xfrm>
            <a:off x="3485129" y="3518389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2" name="Rectangle 1">
            <a:extLst>
              <a:ext uri="{FF2B5EF4-FFF2-40B4-BE49-F238E27FC236}">
                <a16:creationId xmlns:a16="http://schemas.microsoft.com/office/drawing/2014/main" id="{499E21AA-F0F5-4323-9497-5AC8ACDED4B5}"/>
              </a:ext>
            </a:extLst>
          </p:cNvPr>
          <p:cNvSpPr/>
          <p:nvPr/>
        </p:nvSpPr>
        <p:spPr>
          <a:xfrm>
            <a:off x="2575260" y="3748073"/>
            <a:ext cx="310918" cy="281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83" name="Group 49">
            <a:extLst>
              <a:ext uri="{FF2B5EF4-FFF2-40B4-BE49-F238E27FC236}">
                <a16:creationId xmlns:a16="http://schemas.microsoft.com/office/drawing/2014/main" id="{7B4B486E-50A2-47B4-8AE1-B7269DE663D1}"/>
              </a:ext>
            </a:extLst>
          </p:cNvPr>
          <p:cNvGrpSpPr/>
          <p:nvPr/>
        </p:nvGrpSpPr>
        <p:grpSpPr>
          <a:xfrm>
            <a:off x="1756483" y="3719346"/>
            <a:ext cx="1644347" cy="261610"/>
            <a:chOff x="1756483" y="3920514"/>
            <a:chExt cx="1644347" cy="261610"/>
          </a:xfrm>
        </p:grpSpPr>
        <p:cxnSp>
          <p:nvCxnSpPr>
            <p:cNvPr id="84" name="Straight Arrow Connector 82">
              <a:extLst>
                <a:ext uri="{FF2B5EF4-FFF2-40B4-BE49-F238E27FC236}">
                  <a16:creationId xmlns:a16="http://schemas.microsoft.com/office/drawing/2014/main" id="{0B7728A6-0DB3-4392-8FEF-61BBCE66B1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6483" y="4094530"/>
              <a:ext cx="164434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1414104-13CD-4354-AFC6-E1D50E015B0A}"/>
                </a:ext>
              </a:extLst>
            </p:cNvPr>
            <p:cNvSpPr txBox="1"/>
            <p:nvPr/>
          </p:nvSpPr>
          <p:spPr>
            <a:xfrm>
              <a:off x="2554202" y="3920514"/>
              <a:ext cx="45488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O</a:t>
              </a:r>
              <a:r>
                <a:rPr lang="en-US" sz="1100" baseline="-25000" dirty="0"/>
                <a:t>3</a:t>
              </a:r>
            </a:p>
          </p:txBody>
        </p:sp>
      </p:grpSp>
      <p:sp>
        <p:nvSpPr>
          <p:cNvPr id="86" name="Rectangle 2">
            <a:extLst>
              <a:ext uri="{FF2B5EF4-FFF2-40B4-BE49-F238E27FC236}">
                <a16:creationId xmlns:a16="http://schemas.microsoft.com/office/drawing/2014/main" id="{2A34A87F-90D4-452A-9A5B-442740A4B4F2}"/>
              </a:ext>
            </a:extLst>
          </p:cNvPr>
          <p:cNvSpPr/>
          <p:nvPr/>
        </p:nvSpPr>
        <p:spPr>
          <a:xfrm>
            <a:off x="2869378" y="5500613"/>
            <a:ext cx="269557" cy="229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87" name="Group 53">
            <a:extLst>
              <a:ext uri="{FF2B5EF4-FFF2-40B4-BE49-F238E27FC236}">
                <a16:creationId xmlns:a16="http://schemas.microsoft.com/office/drawing/2014/main" id="{A31B358B-B78E-4259-AA5A-D4023DB38B72}"/>
              </a:ext>
            </a:extLst>
          </p:cNvPr>
          <p:cNvGrpSpPr/>
          <p:nvPr/>
        </p:nvGrpSpPr>
        <p:grpSpPr>
          <a:xfrm>
            <a:off x="1706138" y="5420578"/>
            <a:ext cx="1641326" cy="261610"/>
            <a:chOff x="1706138" y="5621746"/>
            <a:chExt cx="1641326" cy="261610"/>
          </a:xfrm>
        </p:grpSpPr>
        <p:cxnSp>
          <p:nvCxnSpPr>
            <p:cNvPr id="88" name="Straight Arrow Connector 83">
              <a:extLst>
                <a:ext uri="{FF2B5EF4-FFF2-40B4-BE49-F238E27FC236}">
                  <a16:creationId xmlns:a16="http://schemas.microsoft.com/office/drawing/2014/main" id="{1503F734-BA1B-447D-9EA3-219675AF23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6138" y="5804632"/>
              <a:ext cx="16413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7168FC5-CAD7-4B40-ACA5-C7310D16C593}"/>
                </a:ext>
              </a:extLst>
            </p:cNvPr>
            <p:cNvSpPr txBox="1"/>
            <p:nvPr/>
          </p:nvSpPr>
          <p:spPr>
            <a:xfrm>
              <a:off x="2801769" y="5621746"/>
              <a:ext cx="4591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O</a:t>
              </a:r>
              <a:r>
                <a:rPr lang="en-US" sz="1100" baseline="-25000" dirty="0"/>
                <a:t>1</a:t>
              </a:r>
            </a:p>
          </p:txBody>
        </p:sp>
      </p:grpSp>
      <p:cxnSp>
        <p:nvCxnSpPr>
          <p:cNvPr id="90" name="Straight Connector 7">
            <a:extLst>
              <a:ext uri="{FF2B5EF4-FFF2-40B4-BE49-F238E27FC236}">
                <a16:creationId xmlns:a16="http://schemas.microsoft.com/office/drawing/2014/main" id="{7A5B2C85-BEDB-499C-A22E-36BCC96AB511}"/>
              </a:ext>
            </a:extLst>
          </p:cNvPr>
          <p:cNvCxnSpPr/>
          <p:nvPr/>
        </p:nvCxnSpPr>
        <p:spPr>
          <a:xfrm>
            <a:off x="8570246" y="5110282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101">
            <a:extLst>
              <a:ext uri="{FF2B5EF4-FFF2-40B4-BE49-F238E27FC236}">
                <a16:creationId xmlns:a16="http://schemas.microsoft.com/office/drawing/2014/main" id="{574FE997-B118-40AA-A3E7-DB9760E3235B}"/>
              </a:ext>
            </a:extLst>
          </p:cNvPr>
          <p:cNvCxnSpPr/>
          <p:nvPr/>
        </p:nvCxnSpPr>
        <p:spPr>
          <a:xfrm>
            <a:off x="8585033" y="4755800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128">
            <a:extLst>
              <a:ext uri="{FF2B5EF4-FFF2-40B4-BE49-F238E27FC236}">
                <a16:creationId xmlns:a16="http://schemas.microsoft.com/office/drawing/2014/main" id="{1C89B826-9E9B-4123-82A4-E5E667E5EDF6}"/>
              </a:ext>
            </a:extLst>
          </p:cNvPr>
          <p:cNvCxnSpPr/>
          <p:nvPr/>
        </p:nvCxnSpPr>
        <p:spPr>
          <a:xfrm>
            <a:off x="8579058" y="4623706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129">
            <a:extLst>
              <a:ext uri="{FF2B5EF4-FFF2-40B4-BE49-F238E27FC236}">
                <a16:creationId xmlns:a16="http://schemas.microsoft.com/office/drawing/2014/main" id="{968E14BE-4A3D-48A2-9CB2-1698DB12CFEF}"/>
              </a:ext>
            </a:extLst>
          </p:cNvPr>
          <p:cNvCxnSpPr/>
          <p:nvPr/>
        </p:nvCxnSpPr>
        <p:spPr>
          <a:xfrm>
            <a:off x="8573083" y="4491612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130">
            <a:extLst>
              <a:ext uri="{FF2B5EF4-FFF2-40B4-BE49-F238E27FC236}">
                <a16:creationId xmlns:a16="http://schemas.microsoft.com/office/drawing/2014/main" id="{F9B6850C-4E03-454F-A2BE-804A75EA65C5}"/>
              </a:ext>
            </a:extLst>
          </p:cNvPr>
          <p:cNvCxnSpPr/>
          <p:nvPr/>
        </p:nvCxnSpPr>
        <p:spPr>
          <a:xfrm>
            <a:off x="8567108" y="4359518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131">
            <a:extLst>
              <a:ext uri="{FF2B5EF4-FFF2-40B4-BE49-F238E27FC236}">
                <a16:creationId xmlns:a16="http://schemas.microsoft.com/office/drawing/2014/main" id="{84531947-3958-4BBF-BFF7-EB50FABB228F}"/>
              </a:ext>
            </a:extLst>
          </p:cNvPr>
          <p:cNvCxnSpPr/>
          <p:nvPr/>
        </p:nvCxnSpPr>
        <p:spPr>
          <a:xfrm>
            <a:off x="8561133" y="4227424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132">
            <a:extLst>
              <a:ext uri="{FF2B5EF4-FFF2-40B4-BE49-F238E27FC236}">
                <a16:creationId xmlns:a16="http://schemas.microsoft.com/office/drawing/2014/main" id="{CFB4AAB5-AA0B-4A70-BA9D-976CB4327D04}"/>
              </a:ext>
            </a:extLst>
          </p:cNvPr>
          <p:cNvCxnSpPr/>
          <p:nvPr/>
        </p:nvCxnSpPr>
        <p:spPr>
          <a:xfrm>
            <a:off x="8555158" y="4095330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133">
            <a:extLst>
              <a:ext uri="{FF2B5EF4-FFF2-40B4-BE49-F238E27FC236}">
                <a16:creationId xmlns:a16="http://schemas.microsoft.com/office/drawing/2014/main" id="{F40F7A3C-49D5-4332-99A3-7F3C1BFC8299}"/>
              </a:ext>
            </a:extLst>
          </p:cNvPr>
          <p:cNvCxnSpPr/>
          <p:nvPr/>
        </p:nvCxnSpPr>
        <p:spPr>
          <a:xfrm>
            <a:off x="8549183" y="3963236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134">
            <a:extLst>
              <a:ext uri="{FF2B5EF4-FFF2-40B4-BE49-F238E27FC236}">
                <a16:creationId xmlns:a16="http://schemas.microsoft.com/office/drawing/2014/main" id="{4F5955AC-CE50-4964-AC8D-D82074FB5011}"/>
              </a:ext>
            </a:extLst>
          </p:cNvPr>
          <p:cNvCxnSpPr/>
          <p:nvPr/>
        </p:nvCxnSpPr>
        <p:spPr>
          <a:xfrm>
            <a:off x="8543208" y="3831142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135">
            <a:extLst>
              <a:ext uri="{FF2B5EF4-FFF2-40B4-BE49-F238E27FC236}">
                <a16:creationId xmlns:a16="http://schemas.microsoft.com/office/drawing/2014/main" id="{3D863350-CF76-4056-952A-FC3EB7A93FF9}"/>
              </a:ext>
            </a:extLst>
          </p:cNvPr>
          <p:cNvCxnSpPr/>
          <p:nvPr/>
        </p:nvCxnSpPr>
        <p:spPr>
          <a:xfrm>
            <a:off x="8537233" y="3699048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136">
            <a:extLst>
              <a:ext uri="{FF2B5EF4-FFF2-40B4-BE49-F238E27FC236}">
                <a16:creationId xmlns:a16="http://schemas.microsoft.com/office/drawing/2014/main" id="{B5C99DAB-6966-4722-B35C-2AFB9A335A7F}"/>
              </a:ext>
            </a:extLst>
          </p:cNvPr>
          <p:cNvCxnSpPr/>
          <p:nvPr/>
        </p:nvCxnSpPr>
        <p:spPr>
          <a:xfrm>
            <a:off x="8531258" y="3566954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37">
            <a:extLst>
              <a:ext uri="{FF2B5EF4-FFF2-40B4-BE49-F238E27FC236}">
                <a16:creationId xmlns:a16="http://schemas.microsoft.com/office/drawing/2014/main" id="{1EC05B49-97A0-4FF3-A1B1-81499D4BB56E}"/>
              </a:ext>
            </a:extLst>
          </p:cNvPr>
          <p:cNvCxnSpPr/>
          <p:nvPr/>
        </p:nvCxnSpPr>
        <p:spPr>
          <a:xfrm>
            <a:off x="8525283" y="3434860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38">
            <a:extLst>
              <a:ext uri="{FF2B5EF4-FFF2-40B4-BE49-F238E27FC236}">
                <a16:creationId xmlns:a16="http://schemas.microsoft.com/office/drawing/2014/main" id="{1EDB54F4-F4D9-4010-8F79-3378CE560860}"/>
              </a:ext>
            </a:extLst>
          </p:cNvPr>
          <p:cNvCxnSpPr/>
          <p:nvPr/>
        </p:nvCxnSpPr>
        <p:spPr>
          <a:xfrm>
            <a:off x="8540494" y="3302766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39">
            <a:extLst>
              <a:ext uri="{FF2B5EF4-FFF2-40B4-BE49-F238E27FC236}">
                <a16:creationId xmlns:a16="http://schemas.microsoft.com/office/drawing/2014/main" id="{42BC12DD-5C63-4B18-9B33-E83007381A16}"/>
              </a:ext>
            </a:extLst>
          </p:cNvPr>
          <p:cNvCxnSpPr/>
          <p:nvPr/>
        </p:nvCxnSpPr>
        <p:spPr>
          <a:xfrm>
            <a:off x="8534519" y="3170672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40">
            <a:extLst>
              <a:ext uri="{FF2B5EF4-FFF2-40B4-BE49-F238E27FC236}">
                <a16:creationId xmlns:a16="http://schemas.microsoft.com/office/drawing/2014/main" id="{44DB0B9A-E3FF-43B2-B37E-BE9E0D15D137}"/>
              </a:ext>
            </a:extLst>
          </p:cNvPr>
          <p:cNvCxnSpPr/>
          <p:nvPr/>
        </p:nvCxnSpPr>
        <p:spPr>
          <a:xfrm>
            <a:off x="8535606" y="3038578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41">
            <a:extLst>
              <a:ext uri="{FF2B5EF4-FFF2-40B4-BE49-F238E27FC236}">
                <a16:creationId xmlns:a16="http://schemas.microsoft.com/office/drawing/2014/main" id="{AA202504-CB02-4158-87C9-293225CFD24C}"/>
              </a:ext>
            </a:extLst>
          </p:cNvPr>
          <p:cNvCxnSpPr>
            <a:cxnSpLocks/>
          </p:cNvCxnSpPr>
          <p:nvPr/>
        </p:nvCxnSpPr>
        <p:spPr>
          <a:xfrm flipV="1">
            <a:off x="3452698" y="3760926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42">
            <a:extLst>
              <a:ext uri="{FF2B5EF4-FFF2-40B4-BE49-F238E27FC236}">
                <a16:creationId xmlns:a16="http://schemas.microsoft.com/office/drawing/2014/main" id="{3352B9B7-51BA-4476-AA44-E793D3AFD5E3}"/>
              </a:ext>
            </a:extLst>
          </p:cNvPr>
          <p:cNvCxnSpPr>
            <a:cxnSpLocks/>
          </p:cNvCxnSpPr>
          <p:nvPr/>
        </p:nvCxnSpPr>
        <p:spPr>
          <a:xfrm flipV="1">
            <a:off x="3392013" y="3911915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43">
            <a:extLst>
              <a:ext uri="{FF2B5EF4-FFF2-40B4-BE49-F238E27FC236}">
                <a16:creationId xmlns:a16="http://schemas.microsoft.com/office/drawing/2014/main" id="{18B6E3C7-F681-480C-8721-43EC4759E50D}"/>
              </a:ext>
            </a:extLst>
          </p:cNvPr>
          <p:cNvCxnSpPr>
            <a:cxnSpLocks/>
          </p:cNvCxnSpPr>
          <p:nvPr/>
        </p:nvCxnSpPr>
        <p:spPr>
          <a:xfrm flipV="1">
            <a:off x="3403873" y="4049509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44">
            <a:extLst>
              <a:ext uri="{FF2B5EF4-FFF2-40B4-BE49-F238E27FC236}">
                <a16:creationId xmlns:a16="http://schemas.microsoft.com/office/drawing/2014/main" id="{35074D0A-BC62-4011-90AB-AC69FBBDA66E}"/>
              </a:ext>
            </a:extLst>
          </p:cNvPr>
          <p:cNvCxnSpPr>
            <a:cxnSpLocks/>
          </p:cNvCxnSpPr>
          <p:nvPr/>
        </p:nvCxnSpPr>
        <p:spPr>
          <a:xfrm flipV="1">
            <a:off x="3415733" y="4198391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64">
            <a:extLst>
              <a:ext uri="{FF2B5EF4-FFF2-40B4-BE49-F238E27FC236}">
                <a16:creationId xmlns:a16="http://schemas.microsoft.com/office/drawing/2014/main" id="{BDCE53F7-DA88-42DC-B7FC-5ABA7736B3DF}"/>
              </a:ext>
            </a:extLst>
          </p:cNvPr>
          <p:cNvCxnSpPr>
            <a:cxnSpLocks/>
          </p:cNvCxnSpPr>
          <p:nvPr/>
        </p:nvCxnSpPr>
        <p:spPr>
          <a:xfrm flipV="1">
            <a:off x="3474493" y="5360979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65">
            <a:extLst>
              <a:ext uri="{FF2B5EF4-FFF2-40B4-BE49-F238E27FC236}">
                <a16:creationId xmlns:a16="http://schemas.microsoft.com/office/drawing/2014/main" id="{22B690DD-DEEA-4D1D-BED7-BF9C98A81E7B}"/>
              </a:ext>
            </a:extLst>
          </p:cNvPr>
          <p:cNvCxnSpPr>
            <a:cxnSpLocks/>
          </p:cNvCxnSpPr>
          <p:nvPr/>
        </p:nvCxnSpPr>
        <p:spPr>
          <a:xfrm flipV="1">
            <a:off x="3486353" y="5515505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70">
            <a:extLst>
              <a:ext uri="{FF2B5EF4-FFF2-40B4-BE49-F238E27FC236}">
                <a16:creationId xmlns:a16="http://schemas.microsoft.com/office/drawing/2014/main" id="{FFDC045D-594D-4A80-A136-12F63C6E1787}"/>
              </a:ext>
            </a:extLst>
          </p:cNvPr>
          <p:cNvCxnSpPr>
            <a:cxnSpLocks/>
          </p:cNvCxnSpPr>
          <p:nvPr/>
        </p:nvCxnSpPr>
        <p:spPr>
          <a:xfrm flipV="1">
            <a:off x="3467438" y="4326312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71">
            <a:extLst>
              <a:ext uri="{FF2B5EF4-FFF2-40B4-BE49-F238E27FC236}">
                <a16:creationId xmlns:a16="http://schemas.microsoft.com/office/drawing/2014/main" id="{C2E025D8-BF86-4053-B1C7-9B501A517497}"/>
              </a:ext>
            </a:extLst>
          </p:cNvPr>
          <p:cNvCxnSpPr>
            <a:cxnSpLocks/>
          </p:cNvCxnSpPr>
          <p:nvPr/>
        </p:nvCxnSpPr>
        <p:spPr>
          <a:xfrm flipV="1">
            <a:off x="3406753" y="4477301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72">
            <a:extLst>
              <a:ext uri="{FF2B5EF4-FFF2-40B4-BE49-F238E27FC236}">
                <a16:creationId xmlns:a16="http://schemas.microsoft.com/office/drawing/2014/main" id="{4F6A9CAB-2E70-47B9-98B8-C75C60431B2B}"/>
              </a:ext>
            </a:extLst>
          </p:cNvPr>
          <p:cNvCxnSpPr>
            <a:cxnSpLocks/>
          </p:cNvCxnSpPr>
          <p:nvPr/>
        </p:nvCxnSpPr>
        <p:spPr>
          <a:xfrm flipV="1">
            <a:off x="3418613" y="4614895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73">
            <a:extLst>
              <a:ext uri="{FF2B5EF4-FFF2-40B4-BE49-F238E27FC236}">
                <a16:creationId xmlns:a16="http://schemas.microsoft.com/office/drawing/2014/main" id="{25D564EE-9FE8-470C-B7A4-368AF4A8B56D}"/>
              </a:ext>
            </a:extLst>
          </p:cNvPr>
          <p:cNvCxnSpPr>
            <a:cxnSpLocks/>
          </p:cNvCxnSpPr>
          <p:nvPr/>
        </p:nvCxnSpPr>
        <p:spPr>
          <a:xfrm flipV="1">
            <a:off x="3430473" y="4763777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74">
            <a:extLst>
              <a:ext uri="{FF2B5EF4-FFF2-40B4-BE49-F238E27FC236}">
                <a16:creationId xmlns:a16="http://schemas.microsoft.com/office/drawing/2014/main" id="{262E166A-7E1F-4BCF-80DA-538426E0BADF}"/>
              </a:ext>
            </a:extLst>
          </p:cNvPr>
          <p:cNvCxnSpPr>
            <a:cxnSpLocks/>
          </p:cNvCxnSpPr>
          <p:nvPr/>
        </p:nvCxnSpPr>
        <p:spPr>
          <a:xfrm flipV="1">
            <a:off x="3482178" y="4891698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75">
            <a:extLst>
              <a:ext uri="{FF2B5EF4-FFF2-40B4-BE49-F238E27FC236}">
                <a16:creationId xmlns:a16="http://schemas.microsoft.com/office/drawing/2014/main" id="{3548E7A4-5C38-47F6-B945-3F0F17763CE3}"/>
              </a:ext>
            </a:extLst>
          </p:cNvPr>
          <p:cNvCxnSpPr>
            <a:cxnSpLocks/>
          </p:cNvCxnSpPr>
          <p:nvPr/>
        </p:nvCxnSpPr>
        <p:spPr>
          <a:xfrm flipV="1">
            <a:off x="3421493" y="5042687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76">
            <a:extLst>
              <a:ext uri="{FF2B5EF4-FFF2-40B4-BE49-F238E27FC236}">
                <a16:creationId xmlns:a16="http://schemas.microsoft.com/office/drawing/2014/main" id="{5B887678-02E0-4FCD-96BD-52AF0C5F4C8F}"/>
              </a:ext>
            </a:extLst>
          </p:cNvPr>
          <p:cNvCxnSpPr>
            <a:cxnSpLocks/>
          </p:cNvCxnSpPr>
          <p:nvPr/>
        </p:nvCxnSpPr>
        <p:spPr>
          <a:xfrm flipV="1">
            <a:off x="3433353" y="5180281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764A500D-0E71-40B2-B7C0-1D5856DBD1AF}"/>
              </a:ext>
            </a:extLst>
          </p:cNvPr>
          <p:cNvSpPr txBox="1"/>
          <p:nvPr/>
        </p:nvSpPr>
        <p:spPr>
          <a:xfrm>
            <a:off x="8297411" y="2559593"/>
            <a:ext cx="1644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요청된 객체 데이터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9883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4" grpId="0" animBg="1"/>
      <p:bldP spid="76" grpId="0"/>
      <p:bldP spid="80" grpId="0" animBg="1"/>
      <p:bldP spid="8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9BA5389-152E-4773-81EF-B4A027C94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HTTP/2 to HTTP/3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525B713-18F4-4B79-AE9A-946C3D44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48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2352B3B-31DB-4649-B63D-E83BD5C49B81}"/>
              </a:ext>
            </a:extLst>
          </p:cNvPr>
          <p:cNvSpPr txBox="1">
            <a:spLocks noChangeArrowheads="1"/>
          </p:cNvSpPr>
          <p:nvPr/>
        </p:nvSpPr>
        <p:spPr>
          <a:xfrm>
            <a:off x="1003084" y="2048927"/>
            <a:ext cx="10458375" cy="448727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087" indent="0">
              <a:lnSpc>
                <a:spcPct val="120000"/>
              </a:lnSpc>
              <a:buNone/>
            </a:pPr>
            <a:r>
              <a:rPr lang="ko-KR" altLang="en-US" sz="2400" dirty="0">
                <a:ea typeface="ＭＳ Ｐゴシック" panose="020B0600070205080204" pitchFamily="34" charset="-128"/>
              </a:rPr>
              <a:t>단일 </a:t>
            </a:r>
            <a:r>
              <a:rPr lang="en-US" altLang="ko-KR" sz="2400" dirty="0">
                <a:ea typeface="ＭＳ Ｐゴシック" panose="020B0600070205080204" pitchFamily="34" charset="-128"/>
              </a:rPr>
              <a:t>TCP </a:t>
            </a:r>
            <a:r>
              <a:rPr lang="ko-KR" altLang="en-US" sz="2400" dirty="0">
                <a:ea typeface="ＭＳ Ｐゴシック" panose="020B0600070205080204" pitchFamily="34" charset="-128"/>
              </a:rPr>
              <a:t>연결에서의 </a:t>
            </a:r>
            <a:r>
              <a:rPr lang="en-US" altLang="en-US" sz="2400" dirty="0">
                <a:ea typeface="ＭＳ Ｐゴシック" panose="020B0600070205080204" pitchFamily="34" charset="-128"/>
              </a:rPr>
              <a:t>HTTP/2 </a:t>
            </a:r>
            <a:r>
              <a:rPr lang="ko-KR" altLang="en-US" sz="2400" dirty="0">
                <a:ea typeface="ＭＳ Ｐゴシック" panose="020B0600070205080204" pitchFamily="34" charset="-128"/>
              </a:rPr>
              <a:t>의미</a:t>
            </a:r>
            <a:r>
              <a:rPr lang="en-US" altLang="en-US" sz="2400" dirty="0">
                <a:ea typeface="ＭＳ Ｐゴシック" panose="020B0600070205080204" pitchFamily="34" charset="-128"/>
              </a:rPr>
              <a:t>:</a:t>
            </a:r>
          </a:p>
          <a:p>
            <a:pPr marL="346075" indent="-280988">
              <a:lnSpc>
                <a:spcPct val="120000"/>
              </a:lnSpc>
            </a:pPr>
            <a:r>
              <a:rPr lang="ko-KR" altLang="en-US" sz="2400" dirty="0">
                <a:ea typeface="ＭＳ Ｐゴシック" panose="020B0600070205080204" pitchFamily="34" charset="-128"/>
              </a:rPr>
              <a:t>패킷 손실 복구는 여전히 모든 객체 전송을 중단시킴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 marL="688975" lvl="1" indent="-280988">
              <a:lnSpc>
                <a:spcPct val="12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HTTP 1.1 </a:t>
            </a:r>
            <a:r>
              <a:rPr lang="ko-KR" altLang="en-US" sz="2000" dirty="0">
                <a:ea typeface="ＭＳ Ｐゴシック" panose="020B0600070205080204" pitchFamily="34" charset="-128"/>
              </a:rPr>
              <a:t>과 마찬가지로 브라우저는 지연을 줄이고 전체 처리량을 늘리기 위해 여러 개의 병렬적 </a:t>
            </a:r>
            <a:r>
              <a:rPr lang="en-US" altLang="ko-KR" sz="2000" dirty="0">
                <a:ea typeface="ＭＳ Ｐゴシック" panose="020B0600070205080204" pitchFamily="34" charset="-128"/>
              </a:rPr>
              <a:t>TCP </a:t>
            </a:r>
            <a:r>
              <a:rPr lang="ko-KR" altLang="en-US" sz="2000" dirty="0">
                <a:ea typeface="ＭＳ Ｐゴシック" panose="020B0600070205080204" pitchFamily="34" charset="-128"/>
              </a:rPr>
              <a:t>연결을 열어야 하는 동기가 있음</a:t>
            </a:r>
            <a:endParaRPr lang="en-US" altLang="ko-KR" sz="2000" dirty="0">
              <a:ea typeface="ＭＳ Ｐゴシック" panose="020B0600070205080204" pitchFamily="34" charset="-128"/>
            </a:endParaRPr>
          </a:p>
          <a:p>
            <a:pPr marL="688975" lvl="1" indent="-280988">
              <a:lnSpc>
                <a:spcPct val="120000"/>
              </a:lnSpc>
            </a:pPr>
            <a:r>
              <a:rPr lang="ko-KR" altLang="en-US" sz="2000" dirty="0">
                <a:ea typeface="ＭＳ Ｐゴシック" panose="020B0600070205080204" pitchFamily="34" charset="-128"/>
              </a:rPr>
              <a:t>기존 </a:t>
            </a:r>
            <a:r>
              <a:rPr lang="en-US" altLang="ko-KR" sz="2000" dirty="0">
                <a:ea typeface="ＭＳ Ｐゴシック" panose="020B0600070205080204" pitchFamily="34" charset="-128"/>
              </a:rPr>
              <a:t>TCP </a:t>
            </a:r>
            <a:r>
              <a:rPr lang="ko-KR" altLang="en-US" sz="2000" dirty="0">
                <a:ea typeface="ＭＳ Ｐゴシック" panose="020B0600070205080204" pitchFamily="34" charset="-128"/>
              </a:rPr>
              <a:t>연결에서는 보안성은 없음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pPr marL="346075" indent="-280988">
              <a:lnSpc>
                <a:spcPct val="12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HTTP/3: </a:t>
            </a:r>
            <a:r>
              <a:rPr lang="ko-KR" altLang="en-US" sz="2400" dirty="0">
                <a:ea typeface="ＭＳ Ｐゴシック" panose="020B0600070205080204" pitchFamily="34" charset="-128"/>
              </a:rPr>
              <a:t>보안을 추가</a:t>
            </a:r>
            <a:r>
              <a:rPr lang="en-US" altLang="ko-KR" sz="2400" dirty="0">
                <a:ea typeface="ＭＳ Ｐゴシック" panose="020B0600070205080204" pitchFamily="34" charset="-128"/>
              </a:rPr>
              <a:t>, UDP</a:t>
            </a:r>
            <a:r>
              <a:rPr lang="ko-KR" altLang="en-US" sz="2400" dirty="0">
                <a:ea typeface="ＭＳ Ｐゴシック" panose="020B0600070205080204" pitchFamily="34" charset="-128"/>
              </a:rPr>
              <a:t>를 통한 객체 오류 제어 및 혼잡 제어를 수행</a:t>
            </a:r>
            <a:r>
              <a:rPr lang="en-US" altLang="ko-KR" sz="2400" dirty="0">
                <a:ea typeface="ＭＳ Ｐゴシック" panose="020B0600070205080204" pitchFamily="34" charset="-128"/>
              </a:rPr>
              <a:t> 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 marL="688975" lvl="1" indent="-280988">
              <a:lnSpc>
                <a:spcPct val="120000"/>
              </a:lnSpc>
            </a:pPr>
            <a:r>
              <a:rPr lang="ko-KR" altLang="en-US" sz="2000" dirty="0">
                <a:ea typeface="ＭＳ Ｐゴシック" panose="020B0600070205080204" pitchFamily="34" charset="-128"/>
              </a:rPr>
              <a:t>전송 계층 부분에서 </a:t>
            </a:r>
            <a:r>
              <a:rPr lang="en-US" altLang="en-US" sz="2000" dirty="0">
                <a:ea typeface="ＭＳ Ｐゴシック" panose="020B0600070205080204" pitchFamily="34" charset="-128"/>
              </a:rPr>
              <a:t>HTTP/3 </a:t>
            </a:r>
            <a:r>
              <a:rPr lang="ko-KR" altLang="en-US" sz="2000" dirty="0">
                <a:ea typeface="ＭＳ Ｐゴシック" panose="020B0600070205080204" pitchFamily="34" charset="-128"/>
              </a:rPr>
              <a:t>참조 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pPr lvl="1">
              <a:lnSpc>
                <a:spcPct val="120000"/>
              </a:lnSpc>
            </a:pPr>
            <a:endParaRPr lang="en-US" altLang="en-US" sz="1800" dirty="0">
              <a:ea typeface="ＭＳ Ｐゴシック" panose="020B0600070205080204" pitchFamily="34" charset="-128"/>
            </a:endParaRPr>
          </a:p>
          <a:p>
            <a:pPr lvl="1">
              <a:lnSpc>
                <a:spcPct val="120000"/>
              </a:lnSpc>
            </a:pPr>
            <a:endParaRPr lang="en-US" altLang="en-US" sz="1800" dirty="0">
              <a:ea typeface="ＭＳ Ｐゴシック" panose="020B0600070205080204" pitchFamily="34" charset="-128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CA21217-DC3D-48D7-8581-64EA2332BEB6}"/>
              </a:ext>
            </a:extLst>
          </p:cNvPr>
          <p:cNvSpPr txBox="1">
            <a:spLocks noChangeArrowheads="1"/>
          </p:cNvSpPr>
          <p:nvPr/>
        </p:nvSpPr>
        <p:spPr>
          <a:xfrm>
            <a:off x="673719" y="1164104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 algn="ctr">
              <a:lnSpc>
                <a:spcPct val="100000"/>
              </a:lnSpc>
              <a:buNone/>
            </a:pPr>
            <a:r>
              <a:rPr lang="ko-KR" altLang="en-US" sz="24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핵심 목표</a:t>
            </a:r>
            <a:r>
              <a:rPr lang="en-US" altLang="ko-KR" sz="24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: </a:t>
            </a:r>
            <a:r>
              <a:rPr lang="ko-KR" altLang="en-US" sz="2400" dirty="0">
                <a:ea typeface="ＭＳ Ｐゴシック" panose="020B0600070205080204" pitchFamily="34" charset="-128"/>
              </a:rPr>
              <a:t>다중 객체 </a:t>
            </a:r>
            <a:r>
              <a:rPr lang="en-US" altLang="en-US" sz="2400" dirty="0">
                <a:ea typeface="ＭＳ Ｐゴシック" panose="020B0600070205080204" pitchFamily="34" charset="-128"/>
              </a:rPr>
              <a:t>HTTP </a:t>
            </a:r>
            <a:r>
              <a:rPr lang="ko-KR" altLang="en-US" sz="2400" dirty="0">
                <a:ea typeface="ＭＳ Ｐゴシック" panose="020B0600070205080204" pitchFamily="34" charset="-128"/>
              </a:rPr>
              <a:t>요청에서의 지연을 줄임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 lvl="1">
              <a:lnSpc>
                <a:spcPct val="100000"/>
              </a:lnSpc>
            </a:pP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5111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1">
      <a:majorFont>
        <a:latin typeface="G마켓 산스 TTF Bold"/>
        <a:ea typeface="G마켓 산스 TTF Bold"/>
        <a:cs typeface=""/>
      </a:majorFont>
      <a:minorFont>
        <a:latin typeface="G마켓 산스 TTF Medium"/>
        <a:ea typeface="넥슨Lv1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 defTabSz="914583">
          <a:defRPr>
            <a:solidFill>
              <a:prstClr val="white"/>
            </a:solidFill>
            <a:latin typeface="나눔스퀘어" panose="020B0600000101010101" pitchFamily="50" charset="-127"/>
            <a:ea typeface="나눔스퀘어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>
        <a:spAutoFit/>
      </a:bodyPr>
      <a:lstStyle>
        <a:defPPr marL="180000" indent="-180000" algn="l">
          <a:lnSpc>
            <a:spcPct val="120000"/>
          </a:lnSpc>
          <a:spcBef>
            <a:spcPts val="600"/>
          </a:spcBef>
          <a:buClr>
            <a:srgbClr val="0B4CA2"/>
          </a:buClr>
          <a:buSzPct val="80000"/>
          <a:defRPr sz="1600">
            <a:ln>
              <a:solidFill>
                <a:srgbClr val="2D5897">
                  <a:alpha val="0"/>
                </a:srgbClr>
              </a:solidFill>
            </a:ln>
            <a:latin typeface="넥슨Lv1고딕" panose="00000500000000000000" pitchFamily="2" charset="-127"/>
            <a:ea typeface="넥슨Lv1고딕" panose="00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3912</TotalTime>
  <Words>3739</Words>
  <Application>Microsoft Office PowerPoint</Application>
  <PresentationFormat>와이드스크린</PresentationFormat>
  <Paragraphs>819</Paragraphs>
  <Slides>48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6" baseType="lpstr">
      <vt:lpstr>넥슨Lv1고딕 Bold</vt:lpstr>
      <vt:lpstr>G마켓 산스 TTF Medium</vt:lpstr>
      <vt:lpstr>Arial</vt:lpstr>
      <vt:lpstr>Wingdings</vt:lpstr>
      <vt:lpstr>넥슨Lv1고딕</vt:lpstr>
      <vt:lpstr>ＭＳ Ｐゴシック</vt:lpstr>
      <vt:lpstr>G마켓 산스 TTF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템포</dc:creator>
  <cp:lastModifiedBy>태호 안</cp:lastModifiedBy>
  <cp:revision>94</cp:revision>
  <dcterms:created xsi:type="dcterms:W3CDTF">2021-12-17T00:49:19Z</dcterms:created>
  <dcterms:modified xsi:type="dcterms:W3CDTF">2026-10-01T04:18:27Z</dcterms:modified>
</cp:coreProperties>
</file>