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6"/>
  </p:notesMasterIdLst>
  <p:sldIdLst>
    <p:sldId id="256" r:id="rId2"/>
    <p:sldId id="328" r:id="rId3"/>
    <p:sldId id="277" r:id="rId4"/>
    <p:sldId id="327" r:id="rId5"/>
    <p:sldId id="329" r:id="rId6"/>
    <p:sldId id="330" r:id="rId7"/>
    <p:sldId id="331" r:id="rId8"/>
    <p:sldId id="332" r:id="rId9"/>
    <p:sldId id="333" r:id="rId10"/>
    <p:sldId id="350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346" r:id="rId22"/>
    <p:sldId id="345" r:id="rId23"/>
    <p:sldId id="347" r:id="rId24"/>
    <p:sldId id="348" r:id="rId25"/>
  </p:sldIdLst>
  <p:sldSz cx="12192000" cy="6858000"/>
  <p:notesSz cx="6858000" cy="9144000"/>
  <p:embeddedFontLst>
    <p:embeddedFont>
      <p:font typeface="G마켓 산스 TTF Bold" panose="02000000000000000000" pitchFamily="2" charset="-127"/>
      <p:bold r:id="rId27"/>
    </p:embeddedFont>
    <p:embeddedFont>
      <p:font typeface="G마켓 산스 TTF Medium" panose="02000000000000000000" pitchFamily="2" charset="-127"/>
      <p:regular r:id="rId28"/>
    </p:embeddedFont>
    <p:embeddedFont>
      <p:font typeface="넥슨Lv1고딕" panose="00000500000000000000" pitchFamily="2" charset="-127"/>
      <p:regular r:id="rId29"/>
    </p:embeddedFont>
    <p:embeddedFont>
      <p:font typeface="넥슨Lv1고딕 Bold" panose="00000800000000000000" pitchFamily="2" charset="-127"/>
      <p:bold r:id="rId3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FFD1"/>
    <a:srgbClr val="105BA0"/>
    <a:srgbClr val="E1ECF7"/>
    <a:srgbClr val="F27037"/>
    <a:srgbClr val="098983"/>
    <a:srgbClr val="F2F2F2"/>
    <a:srgbClr val="EFF5FB"/>
    <a:srgbClr val="4B851F"/>
    <a:srgbClr val="68B82B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3252" autoAdjust="0"/>
  </p:normalViewPr>
  <p:slideViewPr>
    <p:cSldViewPr snapToGrid="0">
      <p:cViewPr varScale="1">
        <p:scale>
          <a:sx n="106" d="100"/>
          <a:sy n="106" d="100"/>
        </p:scale>
        <p:origin x="798" y="108"/>
      </p:cViewPr>
      <p:guideLst>
        <p:guide pos="415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E140C150-30F4-4EB8-A68E-9542B6266399}" type="datetimeFigureOut">
              <a:rPr lang="ko-KR" altLang="en-US" smtClean="0"/>
              <a:pPr/>
              <a:t>2022-02-18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83CE925C-F659-44E3-9F87-D3B4F55FEB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92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879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169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056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562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165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08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583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998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491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203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271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366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36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025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239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3473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287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6975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3645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440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8E58B23-F003-438F-9390-0AE2D7CD0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텍스트 개체 틀 19">
            <a:extLst>
              <a:ext uri="{FF2B5EF4-FFF2-40B4-BE49-F238E27FC236}">
                <a16:creationId xmlns:a16="http://schemas.microsoft.com/office/drawing/2014/main" id="{86EBB590-FEE8-401E-8EA0-BCE5353BDCD0}"/>
              </a:ext>
            </a:extLst>
          </p:cNvPr>
          <p:cNvSpPr txBox="1">
            <a:spLocks/>
          </p:cNvSpPr>
          <p:nvPr/>
        </p:nvSpPr>
        <p:spPr>
          <a:xfrm>
            <a:off x="846203" y="2397206"/>
            <a:ext cx="5249797" cy="1144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6CC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데이터</a:t>
            </a: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통신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EC8F8-3EF6-4B10-A06F-EC62C7E0CD3E}"/>
              </a:ext>
            </a:extLst>
          </p:cNvPr>
          <p:cNvSpPr txBox="1"/>
          <p:nvPr/>
        </p:nvSpPr>
        <p:spPr>
          <a:xfrm>
            <a:off x="846203" y="5458844"/>
            <a:ext cx="3851275" cy="39395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atinLnBrk="1">
              <a:lnSpc>
                <a:spcPct val="130000"/>
              </a:lnSpc>
              <a:spcBef>
                <a:spcPts val="600"/>
              </a:spcBef>
              <a:defRPr/>
            </a:pP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한성대학교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황 호 영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교수 </a:t>
            </a:r>
          </a:p>
        </p:txBody>
      </p:sp>
      <p:pic>
        <p:nvPicPr>
          <p:cNvPr id="12" name="그림 11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84D97AAB-4486-4F3F-86BE-841ABC35D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202" y="770137"/>
            <a:ext cx="1068323" cy="422954"/>
          </a:xfrm>
          <a:prstGeom prst="rect">
            <a:avLst/>
          </a:prstGeom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B09D02F-4765-492A-A03F-2CC73DC21629}"/>
              </a:ext>
            </a:extLst>
          </p:cNvPr>
          <p:cNvSpPr/>
          <p:nvPr/>
        </p:nvSpPr>
        <p:spPr>
          <a:xfrm>
            <a:off x="561974" y="2337557"/>
            <a:ext cx="354331" cy="354331"/>
          </a:xfrm>
          <a:custGeom>
            <a:avLst/>
            <a:gdLst>
              <a:gd name="connsiteX0" fmla="*/ 0 w 646331"/>
              <a:gd name="connsiteY0" fmla="*/ 0 h 646331"/>
              <a:gd name="connsiteX1" fmla="*/ 646331 w 646331"/>
              <a:gd name="connsiteY1" fmla="*/ 0 h 646331"/>
              <a:gd name="connsiteX2" fmla="*/ 646331 w 646331"/>
              <a:gd name="connsiteY2" fmla="*/ 278601 h 646331"/>
              <a:gd name="connsiteX3" fmla="*/ 323165 w 646331"/>
              <a:gd name="connsiteY3" fmla="*/ 278601 h 646331"/>
              <a:gd name="connsiteX4" fmla="*/ 323165 w 646331"/>
              <a:gd name="connsiteY4" fmla="*/ 646331 h 646331"/>
              <a:gd name="connsiteX5" fmla="*/ 0 w 646331"/>
              <a:gd name="connsiteY5" fmla="*/ 64633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6" fmla="*/ 414605 w 646331"/>
              <a:gd name="connsiteY6" fmla="*/ 37004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0" fmla="*/ 323165 w 646331"/>
              <a:gd name="connsiteY0" fmla="*/ 646331 h 646331"/>
              <a:gd name="connsiteX1" fmla="*/ 0 w 646331"/>
              <a:gd name="connsiteY1" fmla="*/ 646331 h 646331"/>
              <a:gd name="connsiteX2" fmla="*/ 0 w 646331"/>
              <a:gd name="connsiteY2" fmla="*/ 0 h 646331"/>
              <a:gd name="connsiteX3" fmla="*/ 646331 w 646331"/>
              <a:gd name="connsiteY3" fmla="*/ 0 h 646331"/>
              <a:gd name="connsiteX4" fmla="*/ 646331 w 646331"/>
              <a:gd name="connsiteY4" fmla="*/ 278601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6331" h="646331">
                <a:moveTo>
                  <a:pt x="323165" y="646331"/>
                </a:moveTo>
                <a:lnTo>
                  <a:pt x="0" y="646331"/>
                </a:lnTo>
                <a:lnTo>
                  <a:pt x="0" y="0"/>
                </a:lnTo>
                <a:lnTo>
                  <a:pt x="646331" y="0"/>
                </a:lnTo>
                <a:lnTo>
                  <a:pt x="646331" y="278601"/>
                </a:lnTo>
              </a:path>
            </a:pathLst>
          </a:custGeom>
          <a:noFill/>
          <a:ln w="28575"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latinLnBrk="0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406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8E84835-0DF2-4DD9-A283-A656C61EAB8C}"/>
              </a:ext>
            </a:extLst>
          </p:cNvPr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4EBD87E-3A54-41C8-9F34-AED9EBD1CB9B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B23F09C4-A7CA-4012-8905-5AEF03E222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7625" b="570"/>
              <a:stretch/>
            </p:blipFill>
            <p:spPr>
              <a:xfrm>
                <a:off x="0" y="0"/>
                <a:ext cx="12192000" cy="2867025"/>
              </a:xfrm>
              <a:prstGeom prst="rect">
                <a:avLst/>
              </a:prstGeom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6BDC9A2E-AA5F-4680-A3C9-D6DD489125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472" b="8334"/>
              <a:stretch/>
            </p:blipFill>
            <p:spPr>
              <a:xfrm>
                <a:off x="0" y="2867025"/>
                <a:ext cx="12192000" cy="3990975"/>
              </a:xfrm>
              <a:prstGeom prst="rect">
                <a:avLst/>
              </a:prstGeom>
            </p:spPr>
          </p:pic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DF38D8D-6B96-4687-9813-B6F30BDFF1A1}"/>
                </a:ext>
              </a:extLst>
            </p:cNvPr>
            <p:cNvSpPr/>
            <p:nvPr/>
          </p:nvSpPr>
          <p:spPr>
            <a:xfrm flipH="1">
              <a:off x="0" y="0"/>
              <a:ext cx="12189534" cy="6858001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95000"/>
                    <a:lumOff val="5000"/>
                    <a:alpha val="65000"/>
                  </a:schemeClr>
                </a:gs>
                <a:gs pos="100000">
                  <a:srgbClr val="09C9A9">
                    <a:alpha val="86000"/>
                  </a:srgbClr>
                </a:gs>
                <a:gs pos="76000">
                  <a:srgbClr val="00AFEF">
                    <a:alpha val="80000"/>
                  </a:srgbClr>
                </a:gs>
                <a:gs pos="42000">
                  <a:srgbClr val="0058A2">
                    <a:alpha val="51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endParaRPr>
            </a:p>
          </p:txBody>
        </p:sp>
      </p:grp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5F0A33CB-60D6-4F92-BEB3-7CA6E3DF02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</a:t>
            </a:r>
            <a:r>
              <a:rPr lang="ko-KR" altLang="en-US"/>
              <a:t>편집하려면 클릭</a:t>
            </a:r>
            <a:endParaRPr lang="ko-KR" altLang="en-US" dirty="0"/>
          </a:p>
        </p:txBody>
      </p:sp>
      <p:pic>
        <p:nvPicPr>
          <p:cNvPr id="18" name="그림 17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104391FA-D3E0-4D50-B6D1-6871FE0B13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492" y="357964"/>
            <a:ext cx="904917" cy="358261"/>
          </a:xfrm>
          <a:prstGeom prst="rect">
            <a:avLst/>
          </a:prstGeom>
        </p:spPr>
      </p:pic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95E1FDB4-6084-4885-9561-CE889B62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6FD91E-E9A9-4A78-A932-60E362AB8C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6"/>
            <a:ext cx="11510246" cy="57551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391533-20A0-45B8-8DC3-4C292E88ADAC}"/>
              </a:ext>
            </a:extLst>
          </p:cNvPr>
          <p:cNvSpPr txBox="1"/>
          <p:nvPr userDrawn="1"/>
        </p:nvSpPr>
        <p:spPr>
          <a:xfrm>
            <a:off x="696915" y="6166170"/>
            <a:ext cx="6113504" cy="323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*출처 </a:t>
            </a: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 『Computer Networking : A Top Down  Approach Eighth Edition』 </a:t>
            </a:r>
          </a:p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32321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59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그룹 69">
            <a:extLst>
              <a:ext uri="{FF2B5EF4-FFF2-40B4-BE49-F238E27FC236}">
                <a16:creationId xmlns:a16="http://schemas.microsoft.com/office/drawing/2014/main" id="{D418C24D-CC88-4BC0-957E-0F8F8C78A2A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B3B77CFE-DABC-4859-BAEC-3077D0B8EB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625" b="570"/>
            <a:stretch/>
          </p:blipFill>
          <p:spPr>
            <a:xfrm>
              <a:off x="0" y="0"/>
              <a:ext cx="12192000" cy="2867025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E42761C8-18CA-4130-B2F4-62F40C4D2D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472" b="8334"/>
            <a:stretch/>
          </p:blipFill>
          <p:spPr>
            <a:xfrm>
              <a:off x="0" y="2867025"/>
              <a:ext cx="12192000" cy="3990975"/>
            </a:xfrm>
            <a:prstGeom prst="rect">
              <a:avLst/>
            </a:prstGeom>
          </p:spPr>
        </p:pic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526B65B-B533-49E0-844F-3A380A12D9EA}"/>
              </a:ext>
            </a:extLst>
          </p:cNvPr>
          <p:cNvSpPr/>
          <p:nvPr/>
        </p:nvSpPr>
        <p:spPr>
          <a:xfrm flipH="1">
            <a:off x="0" y="0"/>
            <a:ext cx="12189534" cy="6858001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65000"/>
                </a:schemeClr>
              </a:gs>
              <a:gs pos="100000">
                <a:srgbClr val="09C9A9">
                  <a:alpha val="86000"/>
                </a:srgbClr>
              </a:gs>
              <a:gs pos="76000">
                <a:srgbClr val="00AFEF">
                  <a:alpha val="80000"/>
                </a:srgbClr>
              </a:gs>
              <a:gs pos="42000">
                <a:srgbClr val="0058A2">
                  <a:alpha val="51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 Bold" panose="00000800000000000000" pitchFamily="2" charset="-127"/>
              <a:ea typeface="넥슨Lv1고딕 Bold" panose="00000800000000000000" pitchFamily="2" charset="-127"/>
              <a:cs typeface="+mn-cs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D982A44-53CC-437A-B1F2-363FE9109416}"/>
              </a:ext>
            </a:extLst>
          </p:cNvPr>
          <p:cNvGrpSpPr/>
          <p:nvPr/>
        </p:nvGrpSpPr>
        <p:grpSpPr>
          <a:xfrm>
            <a:off x="7029061" y="187414"/>
            <a:ext cx="5194689" cy="656355"/>
            <a:chOff x="7199219" y="187414"/>
            <a:chExt cx="5046121" cy="656355"/>
          </a:xfrm>
        </p:grpSpPr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2154770F-0A7B-41FD-A565-0836865DDE4E}"/>
                </a:ext>
              </a:extLst>
            </p:cNvPr>
            <p:cNvSpPr/>
            <p:nvPr/>
          </p:nvSpPr>
          <p:spPr>
            <a:xfrm>
              <a:off x="7540777" y="187414"/>
              <a:ext cx="4704563" cy="436126"/>
            </a:xfrm>
            <a:custGeom>
              <a:avLst/>
              <a:gdLst>
                <a:gd name="connsiteX0" fmla="*/ 265745 w 4547246"/>
                <a:gd name="connsiteY0" fmla="*/ 0 h 419100"/>
                <a:gd name="connsiteX1" fmla="*/ 995371 w 4547246"/>
                <a:gd name="connsiteY1" fmla="*/ 0 h 419100"/>
                <a:gd name="connsiteX2" fmla="*/ 1436134 w 4547246"/>
                <a:gd name="connsiteY2" fmla="*/ 0 h 419100"/>
                <a:gd name="connsiteX3" fmla="*/ 2165760 w 4547246"/>
                <a:gd name="connsiteY3" fmla="*/ 0 h 419100"/>
                <a:gd name="connsiteX4" fmla="*/ 2379395 w 4547246"/>
                <a:gd name="connsiteY4" fmla="*/ 0 h 419100"/>
                <a:gd name="connsiteX5" fmla="*/ 3109021 w 4547246"/>
                <a:gd name="connsiteY5" fmla="*/ 0 h 419100"/>
                <a:gd name="connsiteX6" fmla="*/ 3817620 w 4547246"/>
                <a:gd name="connsiteY6" fmla="*/ 0 h 419100"/>
                <a:gd name="connsiteX7" fmla="*/ 4547246 w 4547246"/>
                <a:gd name="connsiteY7" fmla="*/ 0 h 419100"/>
                <a:gd name="connsiteX8" fmla="*/ 4547246 w 4547246"/>
                <a:gd name="connsiteY8" fmla="*/ 419100 h 419100"/>
                <a:gd name="connsiteX9" fmla="*/ 3817620 w 4547246"/>
                <a:gd name="connsiteY9" fmla="*/ 419100 h 419100"/>
                <a:gd name="connsiteX10" fmla="*/ 2165760 w 4547246"/>
                <a:gd name="connsiteY10" fmla="*/ 419100 h 419100"/>
                <a:gd name="connsiteX11" fmla="*/ 1436134 w 4547246"/>
                <a:gd name="connsiteY11" fmla="*/ 419100 h 419100"/>
                <a:gd name="connsiteX12" fmla="*/ 1436134 w 4547246"/>
                <a:gd name="connsiteY12" fmla="*/ 417862 h 419100"/>
                <a:gd name="connsiteX13" fmla="*/ 729626 w 4547246"/>
                <a:gd name="connsiteY13" fmla="*/ 417862 h 419100"/>
                <a:gd name="connsiteX14" fmla="*/ 0 w 4547246"/>
                <a:gd name="connsiteY14" fmla="*/ 417862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547246" h="419100">
                  <a:moveTo>
                    <a:pt x="265745" y="0"/>
                  </a:moveTo>
                  <a:lnTo>
                    <a:pt x="995371" y="0"/>
                  </a:lnTo>
                  <a:lnTo>
                    <a:pt x="1436134" y="0"/>
                  </a:lnTo>
                  <a:lnTo>
                    <a:pt x="2165760" y="0"/>
                  </a:lnTo>
                  <a:lnTo>
                    <a:pt x="2379395" y="0"/>
                  </a:lnTo>
                  <a:lnTo>
                    <a:pt x="3109021" y="0"/>
                  </a:lnTo>
                  <a:lnTo>
                    <a:pt x="3817620" y="0"/>
                  </a:lnTo>
                  <a:lnTo>
                    <a:pt x="4547246" y="0"/>
                  </a:lnTo>
                  <a:lnTo>
                    <a:pt x="4547246" y="419100"/>
                  </a:lnTo>
                  <a:lnTo>
                    <a:pt x="3817620" y="419100"/>
                  </a:lnTo>
                  <a:lnTo>
                    <a:pt x="2165760" y="419100"/>
                  </a:lnTo>
                  <a:lnTo>
                    <a:pt x="1436134" y="419100"/>
                  </a:lnTo>
                  <a:lnTo>
                    <a:pt x="1436134" y="417862"/>
                  </a:lnTo>
                  <a:lnTo>
                    <a:pt x="729626" y="417862"/>
                  </a:lnTo>
                  <a:lnTo>
                    <a:pt x="0" y="417862"/>
                  </a:lnTo>
                  <a:close/>
                </a:path>
              </a:pathLst>
            </a:custGeom>
            <a:gradFill>
              <a:gsLst>
                <a:gs pos="0">
                  <a:srgbClr val="CAD3DC"/>
                </a:gs>
                <a:gs pos="68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AE9A2CA9-A205-4255-9267-D4309E033CC6}"/>
                </a:ext>
              </a:extLst>
            </p:cNvPr>
            <p:cNvSpPr/>
            <p:nvPr/>
          </p:nvSpPr>
          <p:spPr>
            <a:xfrm>
              <a:off x="7199219" y="267834"/>
              <a:ext cx="5046120" cy="575935"/>
            </a:xfrm>
            <a:custGeom>
              <a:avLst/>
              <a:gdLst>
                <a:gd name="connsiteX0" fmla="*/ 336567 w 5046120"/>
                <a:gd name="connsiteY0" fmla="*/ 0 h 575935"/>
                <a:gd name="connsiteX1" fmla="*/ 1216719 w 5046120"/>
                <a:gd name="connsiteY1" fmla="*/ 0 h 575935"/>
                <a:gd name="connsiteX2" fmla="*/ 1818865 w 5046120"/>
                <a:gd name="connsiteY2" fmla="*/ 0 h 575935"/>
                <a:gd name="connsiteX3" fmla="*/ 2699017 w 5046120"/>
                <a:gd name="connsiteY3" fmla="*/ 0 h 575935"/>
                <a:gd name="connsiteX4" fmla="*/ 3013506 w 5046120"/>
                <a:gd name="connsiteY4" fmla="*/ 0 h 575935"/>
                <a:gd name="connsiteX5" fmla="*/ 3893658 w 5046120"/>
                <a:gd name="connsiteY5" fmla="*/ 0 h 575935"/>
                <a:gd name="connsiteX6" fmla="*/ 4835020 w 5046120"/>
                <a:gd name="connsiteY6" fmla="*/ 0 h 575935"/>
                <a:gd name="connsiteX7" fmla="*/ 5046120 w 5046120"/>
                <a:gd name="connsiteY7" fmla="*/ 0 h 575935"/>
                <a:gd name="connsiteX8" fmla="*/ 5046120 w 5046120"/>
                <a:gd name="connsiteY8" fmla="*/ 575935 h 575935"/>
                <a:gd name="connsiteX9" fmla="*/ 4835020 w 5046120"/>
                <a:gd name="connsiteY9" fmla="*/ 575935 h 575935"/>
                <a:gd name="connsiteX10" fmla="*/ 2699017 w 5046120"/>
                <a:gd name="connsiteY10" fmla="*/ 575935 h 575935"/>
                <a:gd name="connsiteX11" fmla="*/ 1818865 w 5046120"/>
                <a:gd name="connsiteY11" fmla="*/ 575935 h 575935"/>
                <a:gd name="connsiteX12" fmla="*/ 1818865 w 5046120"/>
                <a:gd name="connsiteY12" fmla="*/ 574234 h 575935"/>
                <a:gd name="connsiteX13" fmla="*/ 880153 w 5046120"/>
                <a:gd name="connsiteY13" fmla="*/ 574234 h 575935"/>
                <a:gd name="connsiteX14" fmla="*/ 0 w 5046120"/>
                <a:gd name="connsiteY14" fmla="*/ 574234 h 575935"/>
                <a:gd name="connsiteX15" fmla="*/ 336567 w 5046120"/>
                <a:gd name="connsiteY15" fmla="*/ 0 h 5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046120" h="575935">
                  <a:moveTo>
                    <a:pt x="336567" y="0"/>
                  </a:moveTo>
                  <a:lnTo>
                    <a:pt x="1216719" y="0"/>
                  </a:lnTo>
                  <a:lnTo>
                    <a:pt x="1818865" y="0"/>
                  </a:lnTo>
                  <a:lnTo>
                    <a:pt x="2699017" y="0"/>
                  </a:lnTo>
                  <a:lnTo>
                    <a:pt x="3013506" y="0"/>
                  </a:lnTo>
                  <a:lnTo>
                    <a:pt x="3893658" y="0"/>
                  </a:lnTo>
                  <a:lnTo>
                    <a:pt x="4835020" y="0"/>
                  </a:lnTo>
                  <a:lnTo>
                    <a:pt x="5046120" y="0"/>
                  </a:lnTo>
                  <a:lnTo>
                    <a:pt x="5046120" y="575935"/>
                  </a:lnTo>
                  <a:lnTo>
                    <a:pt x="4835020" y="575935"/>
                  </a:lnTo>
                  <a:lnTo>
                    <a:pt x="2699017" y="575935"/>
                  </a:lnTo>
                  <a:lnTo>
                    <a:pt x="1818865" y="575935"/>
                  </a:lnTo>
                  <a:lnTo>
                    <a:pt x="1818865" y="574234"/>
                  </a:lnTo>
                  <a:lnTo>
                    <a:pt x="880153" y="574234"/>
                  </a:lnTo>
                  <a:lnTo>
                    <a:pt x="0" y="574234"/>
                  </a:lnTo>
                  <a:lnTo>
                    <a:pt x="336567" y="0"/>
                  </a:lnTo>
                  <a:close/>
                </a:path>
              </a:pathLst>
            </a:custGeom>
            <a:gradFill>
              <a:gsLst>
                <a:gs pos="32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pic>
        <p:nvPicPr>
          <p:cNvPr id="75" name="그림 74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FCA79763-5F57-4F6F-B6F4-E6BC8E9AF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660" y="392547"/>
            <a:ext cx="904918" cy="35826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419D1B3F-476C-4A72-B5FB-4FB156D7CB7A}"/>
              </a:ext>
            </a:extLst>
          </p:cNvPr>
          <p:cNvSpPr txBox="1"/>
          <p:nvPr/>
        </p:nvSpPr>
        <p:spPr>
          <a:xfrm>
            <a:off x="7449340" y="426823"/>
            <a:ext cx="3170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Chapter 2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애플리케이션 계층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57300C3-1155-49E7-9A80-E2A1FD129979}"/>
              </a:ext>
            </a:extLst>
          </p:cNvPr>
          <p:cNvCxnSpPr/>
          <p:nvPr/>
        </p:nvCxnSpPr>
        <p:spPr>
          <a:xfrm>
            <a:off x="10693542" y="440813"/>
            <a:ext cx="0" cy="27979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텍스트 개체 틀 25">
            <a:extLst>
              <a:ext uri="{FF2B5EF4-FFF2-40B4-BE49-F238E27FC236}">
                <a16:creationId xmlns:a16="http://schemas.microsoft.com/office/drawing/2014/main" id="{185B5DF7-1CC0-4AEC-B4B5-50A9AFD05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0" dirty="0" smtClean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D9EB6305-F0F6-4138-906E-FA19AC5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BAA3B7-9251-44F2-B84D-DBA0CFF48C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5"/>
            <a:ext cx="11882134" cy="60355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BC2CE8D-32D6-4228-B770-4B421D35A1C2}"/>
              </a:ext>
            </a:extLst>
          </p:cNvPr>
          <p:cNvSpPr txBox="1"/>
          <p:nvPr userDrawn="1"/>
        </p:nvSpPr>
        <p:spPr>
          <a:xfrm>
            <a:off x="658813" y="6413303"/>
            <a:ext cx="6113504" cy="3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*출처 </a:t>
            </a: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:  『Computer Networking : A Top Down  Approach Eighth Edition』 </a:t>
            </a:r>
          </a:p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5617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61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56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36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5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047945F8-6079-4A77-8827-8D891FF7F40B}"/>
              </a:ext>
            </a:extLst>
          </p:cNvPr>
          <p:cNvGrpSpPr/>
          <p:nvPr userDrawn="1"/>
        </p:nvGrpSpPr>
        <p:grpSpPr>
          <a:xfrm>
            <a:off x="818582" y="3564481"/>
            <a:ext cx="1327718" cy="351599"/>
            <a:chOff x="880493" y="3554956"/>
            <a:chExt cx="1630298" cy="351599"/>
          </a:xfrm>
        </p:grpSpPr>
        <p:sp>
          <p:nvSpPr>
            <p:cNvPr id="15" name="사각형: 잘린 대각선 방향 모서리 14">
              <a:extLst>
                <a:ext uri="{FF2B5EF4-FFF2-40B4-BE49-F238E27FC236}">
                  <a16:creationId xmlns:a16="http://schemas.microsoft.com/office/drawing/2014/main" id="{5DC8F214-0E99-4614-BFA2-E88E4BD9962A}"/>
                </a:ext>
              </a:extLst>
            </p:cNvPr>
            <p:cNvSpPr/>
            <p:nvPr/>
          </p:nvSpPr>
          <p:spPr bwMode="auto">
            <a:xfrm>
              <a:off x="880493" y="3554956"/>
              <a:ext cx="1630298" cy="351599"/>
            </a:xfrm>
            <a:prstGeom prst="snip2DiagRect">
              <a:avLst>
                <a:gd name="adj1" fmla="val 0"/>
                <a:gd name="adj2" fmla="val 23443"/>
              </a:avLst>
            </a:prstGeom>
            <a:solidFill>
              <a:srgbClr val="47FFD1">
                <a:alpha val="90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넥슨Lv1고딕 Bold" panose="00000800000000000000" pitchFamily="2" charset="-127"/>
                <a:ea typeface="굴림" pitchFamily="50" charset="-127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AC3E2ECC-989E-4137-85AD-EDA2E7C21B7D}"/>
                </a:ext>
              </a:extLst>
            </p:cNvPr>
            <p:cNvSpPr txBox="1">
              <a:spLocks/>
            </p:cNvSpPr>
            <p:nvPr/>
          </p:nvSpPr>
          <p:spPr>
            <a:xfrm>
              <a:off x="983123" y="3609623"/>
              <a:ext cx="1425038" cy="253916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>
                <a:lnSpc>
                  <a:spcPct val="110000"/>
                </a:lnSpc>
                <a:spcBef>
                  <a:spcPts val="600"/>
                </a:spcBef>
              </a:pPr>
              <a:r>
                <a:rPr lang="en-US" altLang="ko-KR" sz="15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81846"/>
                  </a:solidFill>
                  <a:effectLst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Microsoft GothicNeo" panose="020B0503020000020004" pitchFamily="34" charset="-127"/>
                </a:rPr>
                <a:t>Chapter 2</a:t>
              </a:r>
              <a:endParaRPr lang="ko-KR" altLang="en-US" sz="15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81846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0DB3BC5-EF37-4421-A7D9-CA29AAD5DC6B}"/>
              </a:ext>
            </a:extLst>
          </p:cNvPr>
          <p:cNvSpPr txBox="1"/>
          <p:nvPr/>
        </p:nvSpPr>
        <p:spPr>
          <a:xfrm>
            <a:off x="2189092" y="3483502"/>
            <a:ext cx="4391731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ko-KR" altLang="en-US" sz="2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애플리케이션 계층</a:t>
            </a:r>
            <a:endParaRPr lang="en-US" altLang="ko-KR" sz="22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47FFD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83625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7F6B13A-E939-4337-A845-33A1EB706C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Chapter 2. </a:t>
            </a:r>
            <a:r>
              <a:rPr lang="ko-KR" altLang="en-US" dirty="0">
                <a:solidFill>
                  <a:schemeClr val="bg1"/>
                </a:solidFill>
              </a:rPr>
              <a:t>애플리케이션 계층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E2FACEF-5939-4AD2-89FC-14A18300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8C9E11-9547-4D20-824E-2351DB6D1C10}"/>
              </a:ext>
            </a:extLst>
          </p:cNvPr>
          <p:cNvSpPr txBox="1"/>
          <p:nvPr/>
        </p:nvSpPr>
        <p:spPr>
          <a:xfrm>
            <a:off x="1419224" y="1825636"/>
            <a:ext cx="6929719" cy="36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 애플리케이션의 원리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웹과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HTTP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전자메일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DNS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P2P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파일 분배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비디오 스트리밍과 콘텐츠 분배 네트워크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(CDN)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소켓 프로그래밍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(UDP,TCP)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3E72E2-77C6-4972-98CA-EEB2C7E4DFB2}"/>
              </a:ext>
            </a:extLst>
          </p:cNvPr>
          <p:cNvSpPr txBox="1"/>
          <p:nvPr/>
        </p:nvSpPr>
        <p:spPr>
          <a:xfrm>
            <a:off x="860603" y="1825636"/>
            <a:ext cx="582259" cy="364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2.1.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2.2.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2.3.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2.4.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2.5.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2.6.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2.7.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710F9F0-0F20-4F2F-AB5C-B360A5427667}"/>
              </a:ext>
            </a:extLst>
          </p:cNvPr>
          <p:cNvGrpSpPr/>
          <p:nvPr/>
        </p:nvGrpSpPr>
        <p:grpSpPr>
          <a:xfrm>
            <a:off x="1518597" y="3195573"/>
            <a:ext cx="5314727" cy="401841"/>
            <a:chOff x="1518597" y="2670279"/>
            <a:chExt cx="5314727" cy="401841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832FE0FB-A1FA-42CB-B656-4D5FB047277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2670279"/>
              <a:ext cx="5152947" cy="401841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SMTP, POP3, IMAP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3B7F53B2-D15B-45C1-8C35-D6A078CD7848}"/>
                </a:ext>
              </a:extLst>
            </p:cNvPr>
            <p:cNvGrpSpPr/>
            <p:nvPr/>
          </p:nvGrpSpPr>
          <p:grpSpPr>
            <a:xfrm>
              <a:off x="1518597" y="2811457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047FE7BA-1863-4D0A-A8A4-3339F63CEE1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FC97AB7F-BBC6-4006-A50D-82A82FC69FFA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94D5442B-6FD3-41D4-A42D-DF6FB05BA276}"/>
              </a:ext>
            </a:extLst>
          </p:cNvPr>
          <p:cNvSpPr/>
          <p:nvPr/>
        </p:nvSpPr>
        <p:spPr>
          <a:xfrm>
            <a:off x="923792" y="1143310"/>
            <a:ext cx="1566489" cy="391715"/>
          </a:xfrm>
          <a:prstGeom prst="snip1Rect">
            <a:avLst>
              <a:gd name="adj" fmla="val 37888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E7DDC2F-3186-42B9-854A-0627DEFF0163}"/>
              </a:ext>
            </a:extLst>
          </p:cNvPr>
          <p:cNvSpPr/>
          <p:nvPr/>
        </p:nvSpPr>
        <p:spPr>
          <a:xfrm>
            <a:off x="789517" y="1561257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30" name="그래픽 29">
            <a:extLst>
              <a:ext uri="{FF2B5EF4-FFF2-40B4-BE49-F238E27FC236}">
                <a16:creationId xmlns:a16="http://schemas.microsoft.com/office/drawing/2014/main" id="{70876D59-86B8-4800-BFA9-83FE7BE68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668982" y="1083045"/>
            <a:ext cx="558670" cy="50280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ED08C44-6920-4F6A-B56B-FC768135D7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4" y="1145567"/>
            <a:ext cx="275112" cy="364836"/>
          </a:xfrm>
          <a:prstGeom prst="rect">
            <a:avLst/>
          </a:prstGeom>
        </p:spPr>
      </p:pic>
      <p:sp>
        <p:nvSpPr>
          <p:cNvPr id="16" name="텍스트 개체 틀 19">
            <a:extLst>
              <a:ext uri="{FF2B5EF4-FFF2-40B4-BE49-F238E27FC236}">
                <a16:creationId xmlns:a16="http://schemas.microsoft.com/office/drawing/2014/main" id="{05C80261-218D-43B2-BACB-19E8801D2BED}"/>
              </a:ext>
            </a:extLst>
          </p:cNvPr>
          <p:cNvSpPr txBox="1">
            <a:spLocks/>
          </p:cNvSpPr>
          <p:nvPr/>
        </p:nvSpPr>
        <p:spPr>
          <a:xfrm>
            <a:off x="1274783" y="1180731"/>
            <a:ext cx="139064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Roadmap </a:t>
            </a:r>
          </a:p>
        </p:txBody>
      </p:sp>
    </p:spTree>
    <p:extLst>
      <p:ext uri="{BB962C8B-B14F-4D97-AF65-F5344CB8AC3E}">
        <p14:creationId xmlns:p14="http://schemas.microsoft.com/office/powerpoint/2010/main" val="226841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전자메일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8" name="Google Shape;245;p4">
            <a:extLst>
              <a:ext uri="{FF2B5EF4-FFF2-40B4-BE49-F238E27FC236}">
                <a16:creationId xmlns:a16="http://schemas.microsoft.com/office/drawing/2014/main" id="{98F8E7C5-68A1-474B-8F38-BFF45CA4FB20}"/>
              </a:ext>
            </a:extLst>
          </p:cNvPr>
          <p:cNvSpPr/>
          <p:nvPr/>
        </p:nvSpPr>
        <p:spPr>
          <a:xfrm>
            <a:off x="602490" y="1052513"/>
            <a:ext cx="3782625" cy="5371777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26C60FF-1F51-4F69-8095-046FC9BEC428}"/>
              </a:ext>
            </a:extLst>
          </p:cNvPr>
          <p:cNvGrpSpPr/>
          <p:nvPr/>
        </p:nvGrpSpPr>
        <p:grpSpPr>
          <a:xfrm>
            <a:off x="650390" y="1277591"/>
            <a:ext cx="3656345" cy="4967341"/>
            <a:chOff x="694883" y="1268760"/>
            <a:chExt cx="3656345" cy="4967341"/>
          </a:xfrm>
        </p:grpSpPr>
        <p:pic>
          <p:nvPicPr>
            <p:cNvPr id="10" name="그림 9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C7A37B6C-09D5-4B43-BBC1-BE482DF52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664" y="1268760"/>
              <a:ext cx="370080" cy="797494"/>
            </a:xfrm>
            <a:prstGeom prst="rect">
              <a:avLst/>
            </a:prstGeom>
          </p:spPr>
        </p:pic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31FFEB0F-F075-4930-A233-EA21DFA87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704" y="2852936"/>
              <a:ext cx="0" cy="1764783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EDD43B9-8920-48CE-9F7E-D054E61FBF47}"/>
                </a:ext>
              </a:extLst>
            </p:cNvPr>
            <p:cNvGrpSpPr/>
            <p:nvPr/>
          </p:nvGrpSpPr>
          <p:grpSpPr>
            <a:xfrm>
              <a:off x="743655" y="1832701"/>
              <a:ext cx="736099" cy="902882"/>
              <a:chOff x="3928509" y="1957793"/>
              <a:chExt cx="889042" cy="1009650"/>
            </a:xfrm>
          </p:grpSpPr>
          <p:sp>
            <p:nvSpPr>
              <p:cNvPr id="68" name="Rectangle 97">
                <a:extLst>
                  <a:ext uri="{FF2B5EF4-FFF2-40B4-BE49-F238E27FC236}">
                    <a16:creationId xmlns:a16="http://schemas.microsoft.com/office/drawing/2014/main" id="{C6113F96-9486-4964-BE88-ACA632085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8217" y="1957793"/>
                <a:ext cx="809625" cy="10096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solidFill>
                    <a:schemeClr val="lt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69" name="Text Box 98">
                <a:extLst>
                  <a:ext uri="{FF2B5EF4-FFF2-40B4-BE49-F238E27FC236}">
                    <a16:creationId xmlns:a16="http://schemas.microsoft.com/office/drawing/2014/main" id="{65EF77B8-09DA-4FE5-9961-51673AD9B9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8509" y="1961544"/>
                <a:ext cx="889042" cy="5162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ko-KR" sz="12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ea typeface="+mj-ea"/>
                    <a:cs typeface="+mj-cs"/>
                  </a:rPr>
                  <a:t>mail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altLang="ko-KR" sz="12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ea typeface="+mj-ea"/>
                    <a:cs typeface="+mj-cs"/>
                  </a:rPr>
                  <a:t>server</a:t>
                </a:r>
              </a:p>
            </p:txBody>
          </p:sp>
          <p:sp>
            <p:nvSpPr>
              <p:cNvPr id="70" name="Rectangle 99">
                <a:extLst>
                  <a:ext uri="{FF2B5EF4-FFF2-40B4-BE49-F238E27FC236}">
                    <a16:creationId xmlns:a16="http://schemas.microsoft.com/office/drawing/2014/main" id="{AA254DE9-E9AB-47C1-A00A-48DFF5D4F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5842" y="2533951"/>
                <a:ext cx="714375" cy="190500"/>
              </a:xfrm>
              <a:prstGeom prst="rect">
                <a:avLst/>
              </a:prstGeom>
              <a:solidFill>
                <a:srgbClr val="F2FBFB"/>
              </a:solidFill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solidFill>
                    <a:schemeClr val="lt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C697BA2E-A0F2-4E91-9674-23C02E74794C}"/>
                  </a:ext>
                </a:extLst>
              </p:cNvPr>
              <p:cNvGrpSpPr/>
              <p:nvPr/>
            </p:nvGrpSpPr>
            <p:grpSpPr>
              <a:xfrm>
                <a:off x="4104742" y="2570464"/>
                <a:ext cx="536575" cy="117475"/>
                <a:chOff x="4084105" y="2562631"/>
                <a:chExt cx="536575" cy="117475"/>
              </a:xfrm>
            </p:grpSpPr>
            <p:sp>
              <p:nvSpPr>
                <p:cNvPr id="78" name="Line 100">
                  <a:extLst>
                    <a:ext uri="{FF2B5EF4-FFF2-40B4-BE49-F238E27FC236}">
                      <a16:creationId xmlns:a16="http://schemas.microsoft.com/office/drawing/2014/main" id="{87F7FCCF-C0EF-402A-B52E-95BABA523D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4105" y="2564218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79" name="Line 101">
                  <a:extLst>
                    <a:ext uri="{FF2B5EF4-FFF2-40B4-BE49-F238E27FC236}">
                      <a16:creationId xmlns:a16="http://schemas.microsoft.com/office/drawing/2014/main" id="{5DB8A484-22A1-4164-9DD8-3B0A0E1A93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62963" y="2562631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Line 102">
                  <a:extLst>
                    <a:ext uri="{FF2B5EF4-FFF2-40B4-BE49-F238E27FC236}">
                      <a16:creationId xmlns:a16="http://schemas.microsoft.com/office/drawing/2014/main" id="{EA72E224-440D-4E47-BA59-38CAB804E3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52392" y="2565806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Line 103">
                  <a:extLst>
                    <a:ext uri="{FF2B5EF4-FFF2-40B4-BE49-F238E27FC236}">
                      <a16:creationId xmlns:a16="http://schemas.microsoft.com/office/drawing/2014/main" id="{A585DC9E-C888-448C-91E8-CED607C1BF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821" y="2562631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Line 104">
                  <a:extLst>
                    <a:ext uri="{FF2B5EF4-FFF2-40B4-BE49-F238E27FC236}">
                      <a16:creationId xmlns:a16="http://schemas.microsoft.com/office/drawing/2014/main" id="{CFE3AAE5-2835-407C-89F6-18E384AB02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1250" y="2562631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Line 105">
                  <a:extLst>
                    <a:ext uri="{FF2B5EF4-FFF2-40B4-BE49-F238E27FC236}">
                      <a16:creationId xmlns:a16="http://schemas.microsoft.com/office/drawing/2014/main" id="{538D398E-DE4D-41BF-BCAC-D497C99DC5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20680" y="2562631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Line 106">
                  <a:extLst>
                    <a:ext uri="{FF2B5EF4-FFF2-40B4-BE49-F238E27FC236}">
                      <a16:creationId xmlns:a16="http://schemas.microsoft.com/office/drawing/2014/main" id="{C6E99A00-4B82-4C10-9B73-BE72893527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3534" y="2564218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C3CE3AA2-521A-4D6E-BD0D-B459F3408C1C}"/>
                  </a:ext>
                </a:extLst>
              </p:cNvPr>
              <p:cNvGrpSpPr/>
              <p:nvPr/>
            </p:nvGrpSpPr>
            <p:grpSpPr>
              <a:xfrm>
                <a:off x="4032510" y="2768214"/>
                <a:ext cx="681038" cy="147637"/>
                <a:chOff x="4032510" y="2784881"/>
                <a:chExt cx="681038" cy="147637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73" name="Rectangle 107">
                  <a:extLst>
                    <a:ext uri="{FF2B5EF4-FFF2-40B4-BE49-F238E27FC236}">
                      <a16:creationId xmlns:a16="http://schemas.microsoft.com/office/drawing/2014/main" id="{B02F5062-7ABD-4BE7-A74F-AC4438A052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510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74" name="Rectangle 108">
                  <a:extLst>
                    <a:ext uri="{FF2B5EF4-FFF2-40B4-BE49-F238E27FC236}">
                      <a16:creationId xmlns:a16="http://schemas.microsoft.com/office/drawing/2014/main" id="{DF6B2741-04F1-42F9-9912-166CB9F00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7370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75" name="Rectangle 109">
                  <a:extLst>
                    <a:ext uri="{FF2B5EF4-FFF2-40B4-BE49-F238E27FC236}">
                      <a16:creationId xmlns:a16="http://schemas.microsoft.com/office/drawing/2014/main" id="{6F70D391-4CB5-415B-BAA9-3041425E52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2230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76" name="Rectangle 110">
                  <a:extLst>
                    <a:ext uri="{FF2B5EF4-FFF2-40B4-BE49-F238E27FC236}">
                      <a16:creationId xmlns:a16="http://schemas.microsoft.com/office/drawing/2014/main" id="{B1DDAEB5-7F21-4786-84A0-C0F841D069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67090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77" name="Rectangle 111">
                  <a:extLst>
                    <a:ext uri="{FF2B5EF4-FFF2-40B4-BE49-F238E27FC236}">
                      <a16:creationId xmlns:a16="http://schemas.microsoft.com/office/drawing/2014/main" id="{3BF40168-9150-4760-BE76-A085AC5958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11948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</p:grpSp>
        </p:grpSp>
        <p:sp>
          <p:nvSpPr>
            <p:cNvPr id="13" name="Text Box 127">
              <a:extLst>
                <a:ext uri="{FF2B5EF4-FFF2-40B4-BE49-F238E27FC236}">
                  <a16:creationId xmlns:a16="http://schemas.microsoft.com/office/drawing/2014/main" id="{85FD42B1-2876-4F4A-9E31-87591D173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83" y="3589133"/>
              <a:ext cx="833642" cy="292388"/>
            </a:xfrm>
            <a:prstGeom prst="rect">
              <a:avLst/>
            </a:prstGeom>
            <a:solidFill>
              <a:srgbClr val="EFF5FB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SMTP</a:t>
              </a:r>
            </a:p>
          </p:txBody>
        </p:sp>
        <p:pic>
          <p:nvPicPr>
            <p:cNvPr id="14" name="그림 13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992281DE-D131-400C-9694-429443EBB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559496" y="1279429"/>
              <a:ext cx="383986" cy="565019"/>
            </a:xfrm>
            <a:prstGeom prst="rect">
              <a:avLst/>
            </a:prstGeom>
          </p:spPr>
        </p:pic>
        <p:pic>
          <p:nvPicPr>
            <p:cNvPr id="15" name="그림 14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4F4CD7E6-DCC7-4D6F-A52D-36789E995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1522" y="2564904"/>
              <a:ext cx="370080" cy="797494"/>
            </a:xfrm>
            <a:prstGeom prst="rect">
              <a:avLst/>
            </a:prstGeom>
          </p:spPr>
        </p:pic>
        <p:pic>
          <p:nvPicPr>
            <p:cNvPr id="16" name="그림 15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1FFAC84D-B03C-405B-944E-D8795E7C3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287688" y="2492896"/>
              <a:ext cx="383986" cy="565019"/>
            </a:xfrm>
            <a:prstGeom prst="rect">
              <a:avLst/>
            </a:prstGeom>
          </p:spPr>
        </p:pic>
        <p:pic>
          <p:nvPicPr>
            <p:cNvPr id="17" name="그림 16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6BEB0D54-0994-4CC0-B80A-B687027E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287688" y="3171243"/>
              <a:ext cx="383986" cy="565019"/>
            </a:xfrm>
            <a:prstGeom prst="rect">
              <a:avLst/>
            </a:prstGeom>
          </p:spPr>
        </p:pic>
        <p:pic>
          <p:nvPicPr>
            <p:cNvPr id="18" name="그림 17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204A43B8-8622-4E1F-BE82-AFFF50E56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287688" y="3841616"/>
              <a:ext cx="383986" cy="565019"/>
            </a:xfrm>
            <a:prstGeom prst="rect">
              <a:avLst/>
            </a:prstGeom>
          </p:spPr>
        </p:pic>
        <p:pic>
          <p:nvPicPr>
            <p:cNvPr id="19" name="그림 18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A4934DDE-DE67-4711-9992-AA27177F8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664" y="4653136"/>
              <a:ext cx="370080" cy="797494"/>
            </a:xfrm>
            <a:prstGeom prst="rect">
              <a:avLst/>
            </a:prstGeom>
          </p:spPr>
        </p:pic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3FB56E9-EE9E-497E-BFB3-699DAA2BE5BD}"/>
                </a:ext>
              </a:extLst>
            </p:cNvPr>
            <p:cNvGrpSpPr/>
            <p:nvPr/>
          </p:nvGrpSpPr>
          <p:grpSpPr>
            <a:xfrm>
              <a:off x="2488513" y="3140895"/>
              <a:ext cx="736099" cy="902882"/>
              <a:chOff x="3928509" y="1957793"/>
              <a:chExt cx="889042" cy="1009650"/>
            </a:xfrm>
          </p:grpSpPr>
          <p:sp>
            <p:nvSpPr>
              <p:cNvPr id="51" name="Rectangle 97">
                <a:extLst>
                  <a:ext uri="{FF2B5EF4-FFF2-40B4-BE49-F238E27FC236}">
                    <a16:creationId xmlns:a16="http://schemas.microsoft.com/office/drawing/2014/main" id="{3E1DC2E9-3B1B-438F-8D46-3B187432FD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8217" y="1957793"/>
                <a:ext cx="809625" cy="10096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solidFill>
                    <a:schemeClr val="lt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52" name="Text Box 98">
                <a:extLst>
                  <a:ext uri="{FF2B5EF4-FFF2-40B4-BE49-F238E27FC236}">
                    <a16:creationId xmlns:a16="http://schemas.microsoft.com/office/drawing/2014/main" id="{4EC25C8F-F93E-4915-98A7-7862D62C70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8509" y="1961544"/>
                <a:ext cx="889042" cy="5162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ko-KR" sz="12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ea typeface="+mj-ea"/>
                    <a:cs typeface="+mj-cs"/>
                  </a:rPr>
                  <a:t>mail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altLang="ko-KR" sz="12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ea typeface="+mj-ea"/>
                    <a:cs typeface="+mj-cs"/>
                  </a:rPr>
                  <a:t>server</a:t>
                </a:r>
              </a:p>
            </p:txBody>
          </p:sp>
          <p:sp>
            <p:nvSpPr>
              <p:cNvPr id="53" name="Rectangle 99">
                <a:extLst>
                  <a:ext uri="{FF2B5EF4-FFF2-40B4-BE49-F238E27FC236}">
                    <a16:creationId xmlns:a16="http://schemas.microsoft.com/office/drawing/2014/main" id="{C4E5D4F1-EF75-437A-AB7B-4E09733DDB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5842" y="2533951"/>
                <a:ext cx="714375" cy="190500"/>
              </a:xfrm>
              <a:prstGeom prst="rect">
                <a:avLst/>
              </a:prstGeom>
              <a:solidFill>
                <a:srgbClr val="F2FBFB"/>
              </a:solidFill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solidFill>
                    <a:schemeClr val="lt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24C20E27-466F-421E-A363-D45F4D67BFF0}"/>
                  </a:ext>
                </a:extLst>
              </p:cNvPr>
              <p:cNvGrpSpPr/>
              <p:nvPr/>
            </p:nvGrpSpPr>
            <p:grpSpPr>
              <a:xfrm>
                <a:off x="4104742" y="2570464"/>
                <a:ext cx="536575" cy="117475"/>
                <a:chOff x="4084105" y="2562631"/>
                <a:chExt cx="536575" cy="117475"/>
              </a:xfrm>
            </p:grpSpPr>
            <p:sp>
              <p:nvSpPr>
                <p:cNvPr id="61" name="Line 100">
                  <a:extLst>
                    <a:ext uri="{FF2B5EF4-FFF2-40B4-BE49-F238E27FC236}">
                      <a16:creationId xmlns:a16="http://schemas.microsoft.com/office/drawing/2014/main" id="{4ED0DF01-76F8-481A-BF63-C690ECE4E2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4105" y="2564218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62" name="Line 101">
                  <a:extLst>
                    <a:ext uri="{FF2B5EF4-FFF2-40B4-BE49-F238E27FC236}">
                      <a16:creationId xmlns:a16="http://schemas.microsoft.com/office/drawing/2014/main" id="{A747904C-F4BC-423B-9E20-C191034FA7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62963" y="2562631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63" name="Line 102">
                  <a:extLst>
                    <a:ext uri="{FF2B5EF4-FFF2-40B4-BE49-F238E27FC236}">
                      <a16:creationId xmlns:a16="http://schemas.microsoft.com/office/drawing/2014/main" id="{EBAD2146-ED04-44DE-9576-05EFC458AC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52392" y="2565806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64" name="Line 103">
                  <a:extLst>
                    <a:ext uri="{FF2B5EF4-FFF2-40B4-BE49-F238E27FC236}">
                      <a16:creationId xmlns:a16="http://schemas.microsoft.com/office/drawing/2014/main" id="{B130C11B-4C46-46D5-A3C6-08DD09F139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821" y="2562631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65" name="Line 104">
                  <a:extLst>
                    <a:ext uri="{FF2B5EF4-FFF2-40B4-BE49-F238E27FC236}">
                      <a16:creationId xmlns:a16="http://schemas.microsoft.com/office/drawing/2014/main" id="{CE4AE908-2EC6-42C5-B6C4-C5634DC8CD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1250" y="2562631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66" name="Line 105">
                  <a:extLst>
                    <a:ext uri="{FF2B5EF4-FFF2-40B4-BE49-F238E27FC236}">
                      <a16:creationId xmlns:a16="http://schemas.microsoft.com/office/drawing/2014/main" id="{849633AD-AF05-4924-A4CA-AB94C60463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20680" y="2562631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67" name="Line 106">
                  <a:extLst>
                    <a:ext uri="{FF2B5EF4-FFF2-40B4-BE49-F238E27FC236}">
                      <a16:creationId xmlns:a16="http://schemas.microsoft.com/office/drawing/2014/main" id="{4F5A29B4-0E65-4808-9918-C0DBE18318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3534" y="2564218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DBE95C5C-5E14-48EF-B4CE-A3DACAC45FF1}"/>
                  </a:ext>
                </a:extLst>
              </p:cNvPr>
              <p:cNvGrpSpPr/>
              <p:nvPr/>
            </p:nvGrpSpPr>
            <p:grpSpPr>
              <a:xfrm>
                <a:off x="4032510" y="2768214"/>
                <a:ext cx="681038" cy="147637"/>
                <a:chOff x="4032510" y="2784881"/>
                <a:chExt cx="681038" cy="147637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56" name="Rectangle 107">
                  <a:extLst>
                    <a:ext uri="{FF2B5EF4-FFF2-40B4-BE49-F238E27FC236}">
                      <a16:creationId xmlns:a16="http://schemas.microsoft.com/office/drawing/2014/main" id="{C9EFCDE1-D3CA-4910-AB83-02E4DFA67D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510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57" name="Rectangle 108">
                  <a:extLst>
                    <a:ext uri="{FF2B5EF4-FFF2-40B4-BE49-F238E27FC236}">
                      <a16:creationId xmlns:a16="http://schemas.microsoft.com/office/drawing/2014/main" id="{42085561-CE2A-494E-8E23-0FAC73D0C9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7370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58" name="Rectangle 109">
                  <a:extLst>
                    <a:ext uri="{FF2B5EF4-FFF2-40B4-BE49-F238E27FC236}">
                      <a16:creationId xmlns:a16="http://schemas.microsoft.com/office/drawing/2014/main" id="{057C98B8-A25C-4252-A83A-891CC3CA7B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2230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59" name="Rectangle 110">
                  <a:extLst>
                    <a:ext uri="{FF2B5EF4-FFF2-40B4-BE49-F238E27FC236}">
                      <a16:creationId xmlns:a16="http://schemas.microsoft.com/office/drawing/2014/main" id="{C7F02956-AE80-4C14-B457-8EE720CDEA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67090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60" name="Rectangle 111">
                  <a:extLst>
                    <a:ext uri="{FF2B5EF4-FFF2-40B4-BE49-F238E27FC236}">
                      <a16:creationId xmlns:a16="http://schemas.microsoft.com/office/drawing/2014/main" id="{005C7F90-50AB-4BEC-A1F6-61EE7A8725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11948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</p:grpSp>
        </p:grpSp>
        <p:sp>
          <p:nvSpPr>
            <p:cNvPr id="21" name="Text Box 116">
              <a:extLst>
                <a:ext uri="{FF2B5EF4-FFF2-40B4-BE49-F238E27FC236}">
                  <a16:creationId xmlns:a16="http://schemas.microsoft.com/office/drawing/2014/main" id="{88071107-9493-4BA7-BABC-9EB654A64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642" y="2634162"/>
              <a:ext cx="71058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user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agent</a:t>
              </a:r>
            </a:p>
          </p:txBody>
        </p:sp>
        <p:sp>
          <p:nvSpPr>
            <p:cNvPr id="22" name="Text Box 116">
              <a:extLst>
                <a:ext uri="{FF2B5EF4-FFF2-40B4-BE49-F238E27FC236}">
                  <a16:creationId xmlns:a16="http://schemas.microsoft.com/office/drawing/2014/main" id="{67DCD50A-FC53-4BC4-9335-22CE33F47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642" y="3324168"/>
              <a:ext cx="71058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user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agent</a:t>
              </a:r>
            </a:p>
          </p:txBody>
        </p:sp>
        <p:sp>
          <p:nvSpPr>
            <p:cNvPr id="23" name="Text Box 116">
              <a:extLst>
                <a:ext uri="{FF2B5EF4-FFF2-40B4-BE49-F238E27FC236}">
                  <a16:creationId xmlns:a16="http://schemas.microsoft.com/office/drawing/2014/main" id="{4D203B4F-B184-44B3-9FA0-FB679BC93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642" y="3982018"/>
              <a:ext cx="71058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user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agent</a:t>
              </a:r>
            </a:p>
          </p:txBody>
        </p:sp>
        <p:sp>
          <p:nvSpPr>
            <p:cNvPr id="24" name="Text Box 116">
              <a:extLst>
                <a:ext uri="{FF2B5EF4-FFF2-40B4-BE49-F238E27FC236}">
                  <a16:creationId xmlns:a16="http://schemas.microsoft.com/office/drawing/2014/main" id="{BEB64CBA-414F-4769-AE73-733B930D53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8013" y="1406586"/>
              <a:ext cx="71058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user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agent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DE04B2A3-1E50-4147-A2AB-FE5BEB2A059C}"/>
                </a:ext>
              </a:extLst>
            </p:cNvPr>
            <p:cNvGrpSpPr/>
            <p:nvPr/>
          </p:nvGrpSpPr>
          <p:grpSpPr>
            <a:xfrm>
              <a:off x="743655" y="5216057"/>
              <a:ext cx="736099" cy="902882"/>
              <a:chOff x="3928509" y="1957793"/>
              <a:chExt cx="889042" cy="1009650"/>
            </a:xfrm>
          </p:grpSpPr>
          <p:sp>
            <p:nvSpPr>
              <p:cNvPr id="34" name="Rectangle 97">
                <a:extLst>
                  <a:ext uri="{FF2B5EF4-FFF2-40B4-BE49-F238E27FC236}">
                    <a16:creationId xmlns:a16="http://schemas.microsoft.com/office/drawing/2014/main" id="{7F6B792A-CF88-4BC5-81A2-CD95B6BD40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8217" y="1957793"/>
                <a:ext cx="809625" cy="10096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solidFill>
                    <a:schemeClr val="lt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Text Box 98">
                <a:extLst>
                  <a:ext uri="{FF2B5EF4-FFF2-40B4-BE49-F238E27FC236}">
                    <a16:creationId xmlns:a16="http://schemas.microsoft.com/office/drawing/2014/main" id="{65ED4684-6289-428A-961D-785E0A3963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8509" y="1961544"/>
                <a:ext cx="889042" cy="5162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ko-KR" sz="12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ea typeface="+mj-ea"/>
                    <a:cs typeface="+mj-cs"/>
                  </a:rPr>
                  <a:t>mail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altLang="ko-KR" sz="120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rgbClr val="105BA0"/>
                    </a:solidFill>
                    <a:ea typeface="+mj-ea"/>
                    <a:cs typeface="+mj-cs"/>
                  </a:rPr>
                  <a:t>server</a:t>
                </a:r>
              </a:p>
            </p:txBody>
          </p:sp>
          <p:sp>
            <p:nvSpPr>
              <p:cNvPr id="36" name="Rectangle 99">
                <a:extLst>
                  <a:ext uri="{FF2B5EF4-FFF2-40B4-BE49-F238E27FC236}">
                    <a16:creationId xmlns:a16="http://schemas.microsoft.com/office/drawing/2014/main" id="{2968D7C9-70AD-43EE-A51A-C2BE68EBB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5842" y="2533951"/>
                <a:ext cx="714375" cy="190500"/>
              </a:xfrm>
              <a:prstGeom prst="rect">
                <a:avLst/>
              </a:prstGeom>
              <a:solidFill>
                <a:srgbClr val="F2FBFB"/>
              </a:solidFill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solidFill>
                    <a:schemeClr val="lt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8DD0B0D-24F9-4E6F-BED2-564F93C8763A}"/>
                  </a:ext>
                </a:extLst>
              </p:cNvPr>
              <p:cNvGrpSpPr/>
              <p:nvPr/>
            </p:nvGrpSpPr>
            <p:grpSpPr>
              <a:xfrm>
                <a:off x="4104742" y="2570464"/>
                <a:ext cx="536575" cy="117475"/>
                <a:chOff x="4084105" y="2562631"/>
                <a:chExt cx="536575" cy="117475"/>
              </a:xfrm>
            </p:grpSpPr>
            <p:sp>
              <p:nvSpPr>
                <p:cNvPr id="44" name="Line 100">
                  <a:extLst>
                    <a:ext uri="{FF2B5EF4-FFF2-40B4-BE49-F238E27FC236}">
                      <a16:creationId xmlns:a16="http://schemas.microsoft.com/office/drawing/2014/main" id="{5AD9E83F-58F7-4375-BDCF-2B8BF8955C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4105" y="2564218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45" name="Line 101">
                  <a:extLst>
                    <a:ext uri="{FF2B5EF4-FFF2-40B4-BE49-F238E27FC236}">
                      <a16:creationId xmlns:a16="http://schemas.microsoft.com/office/drawing/2014/main" id="{FC81DB49-2582-4FD8-9B80-086CF240BE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62963" y="2562631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46" name="Line 102">
                  <a:extLst>
                    <a:ext uri="{FF2B5EF4-FFF2-40B4-BE49-F238E27FC236}">
                      <a16:creationId xmlns:a16="http://schemas.microsoft.com/office/drawing/2014/main" id="{B9DC8087-F4F7-4B1C-B67C-28F2FE16BF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52392" y="2565806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47" name="Line 103">
                  <a:extLst>
                    <a:ext uri="{FF2B5EF4-FFF2-40B4-BE49-F238E27FC236}">
                      <a16:creationId xmlns:a16="http://schemas.microsoft.com/office/drawing/2014/main" id="{D8AC4E4D-DCAF-4C3C-B080-14AAD31B52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41821" y="2562631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48" name="Line 104">
                  <a:extLst>
                    <a:ext uri="{FF2B5EF4-FFF2-40B4-BE49-F238E27FC236}">
                      <a16:creationId xmlns:a16="http://schemas.microsoft.com/office/drawing/2014/main" id="{120D32F2-9DD0-4463-8840-176BD7093A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1250" y="2562631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49" name="Line 105">
                  <a:extLst>
                    <a:ext uri="{FF2B5EF4-FFF2-40B4-BE49-F238E27FC236}">
                      <a16:creationId xmlns:a16="http://schemas.microsoft.com/office/drawing/2014/main" id="{01B99A5E-FA5E-4B7B-B7E1-2E83420DFB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20680" y="2562631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0" name="Line 106">
                  <a:extLst>
                    <a:ext uri="{FF2B5EF4-FFF2-40B4-BE49-F238E27FC236}">
                      <a16:creationId xmlns:a16="http://schemas.microsoft.com/office/drawing/2014/main" id="{1448CCF2-EF19-4437-B654-A925D1BE27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3534" y="2564218"/>
                  <a:ext cx="0" cy="114300"/>
                </a:xfrm>
                <a:prstGeom prst="line">
                  <a:avLst/>
                </a:prstGeom>
                <a:noFill/>
                <a:ln w="19050">
                  <a:solidFill>
                    <a:srgbClr val="09898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628311F2-2D09-4FE9-87CA-4B04E4D275D9}"/>
                  </a:ext>
                </a:extLst>
              </p:cNvPr>
              <p:cNvGrpSpPr/>
              <p:nvPr/>
            </p:nvGrpSpPr>
            <p:grpSpPr>
              <a:xfrm>
                <a:off x="4032510" y="2768214"/>
                <a:ext cx="681038" cy="147637"/>
                <a:chOff x="4032510" y="2784881"/>
                <a:chExt cx="681038" cy="147637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39" name="Rectangle 107">
                  <a:extLst>
                    <a:ext uri="{FF2B5EF4-FFF2-40B4-BE49-F238E27FC236}">
                      <a16:creationId xmlns:a16="http://schemas.microsoft.com/office/drawing/2014/main" id="{FAA57F0D-22D0-4E72-A801-B9126CE689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510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40" name="Rectangle 108">
                  <a:extLst>
                    <a:ext uri="{FF2B5EF4-FFF2-40B4-BE49-F238E27FC236}">
                      <a16:creationId xmlns:a16="http://schemas.microsoft.com/office/drawing/2014/main" id="{7F8B4F71-AEE5-40F5-AF7E-DB99C4630C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7370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41" name="Rectangle 109">
                  <a:extLst>
                    <a:ext uri="{FF2B5EF4-FFF2-40B4-BE49-F238E27FC236}">
                      <a16:creationId xmlns:a16="http://schemas.microsoft.com/office/drawing/2014/main" id="{111EC0DE-3102-4FED-986B-471FB4D8BA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2230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42" name="Rectangle 110">
                  <a:extLst>
                    <a:ext uri="{FF2B5EF4-FFF2-40B4-BE49-F238E27FC236}">
                      <a16:creationId xmlns:a16="http://schemas.microsoft.com/office/drawing/2014/main" id="{E4B4729E-3E19-4BDF-8867-B4D1495AFB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67090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  <p:sp>
              <p:nvSpPr>
                <p:cNvPr id="43" name="Rectangle 111">
                  <a:extLst>
                    <a:ext uri="{FF2B5EF4-FFF2-40B4-BE49-F238E27FC236}">
                      <a16:creationId xmlns:a16="http://schemas.microsoft.com/office/drawing/2014/main" id="{3827963F-E55F-4DFE-A00C-4406D4D9FD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11948" y="2784881"/>
                  <a:ext cx="101600" cy="147637"/>
                </a:xfrm>
                <a:prstGeom prst="rect">
                  <a:avLst/>
                </a:prstGeom>
                <a:grpFill/>
                <a:ln>
                  <a:solidFill>
                    <a:srgbClr val="05AAAC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buClr>
                      <a:srgbClr val="000000"/>
                    </a:buClr>
                    <a:buFont typeface="Arial"/>
                  </a:pPr>
                  <a:endParaRPr lang="ko-KR" altLang="ko-KR" sz="1400">
                    <a:latin typeface="넥슨Lv1고딕" panose="00000500000000000000" pitchFamily="2" charset="-127"/>
                    <a:ea typeface="넥슨Lv1고딕" panose="00000500000000000000" pitchFamily="2" charset="-127"/>
                  </a:endParaRPr>
                </a:p>
              </p:txBody>
            </p:sp>
          </p:grpSp>
        </p:grpSp>
        <p:pic>
          <p:nvPicPr>
            <p:cNvPr id="26" name="그림 25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9AEF4325-414B-4951-8D5A-04338F075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63630" y="4581128"/>
              <a:ext cx="383986" cy="565019"/>
            </a:xfrm>
            <a:prstGeom prst="rect">
              <a:avLst/>
            </a:prstGeom>
          </p:spPr>
        </p:pic>
        <p:pic>
          <p:nvPicPr>
            <p:cNvPr id="27" name="그림 26" descr="텍스트, 전자기기, 컴퓨터, 디스플레이이(가) 표시된 사진&#10;&#10;자동 생성된 설명">
              <a:extLst>
                <a:ext uri="{FF2B5EF4-FFF2-40B4-BE49-F238E27FC236}">
                  <a16:creationId xmlns:a16="http://schemas.microsoft.com/office/drawing/2014/main" id="{EDD6AD33-8E0B-49E9-BFAE-F7343DE78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63630" y="5266741"/>
              <a:ext cx="383986" cy="565019"/>
            </a:xfrm>
            <a:prstGeom prst="rect">
              <a:avLst/>
            </a:prstGeom>
          </p:spPr>
        </p:pic>
        <p:sp>
          <p:nvSpPr>
            <p:cNvPr id="28" name="Text Box 116">
              <a:extLst>
                <a:ext uri="{FF2B5EF4-FFF2-40B4-BE49-F238E27FC236}">
                  <a16:creationId xmlns:a16="http://schemas.microsoft.com/office/drawing/2014/main" id="{AA0E587D-B10E-4C70-9BBE-F342C16E3E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584" y="4734053"/>
              <a:ext cx="71058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user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agent</a:t>
              </a:r>
            </a:p>
          </p:txBody>
        </p:sp>
        <p:sp>
          <p:nvSpPr>
            <p:cNvPr id="29" name="Text Box 116">
              <a:extLst>
                <a:ext uri="{FF2B5EF4-FFF2-40B4-BE49-F238E27FC236}">
                  <a16:creationId xmlns:a16="http://schemas.microsoft.com/office/drawing/2014/main" id="{BE9A79CB-6BA2-47E1-A309-4CDD444539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584" y="5407143"/>
              <a:ext cx="71058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user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agent</a:t>
              </a:r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082DF7C8-F390-492E-AC12-0211B0FDC8F6}"/>
                </a:ext>
              </a:extLst>
            </p:cNvPr>
            <p:cNvSpPr/>
            <p:nvPr/>
          </p:nvSpPr>
          <p:spPr>
            <a:xfrm>
              <a:off x="1562100" y="2026920"/>
              <a:ext cx="1348740" cy="457200"/>
            </a:xfrm>
            <a:custGeom>
              <a:avLst/>
              <a:gdLst>
                <a:gd name="connsiteX0" fmla="*/ 0 w 1927860"/>
                <a:gd name="connsiteY0" fmla="*/ 0 h 457200"/>
                <a:gd name="connsiteX1" fmla="*/ 1927860 w 1927860"/>
                <a:gd name="connsiteY1" fmla="*/ 0 h 457200"/>
                <a:gd name="connsiteX2" fmla="*/ 1927860 w 1927860"/>
                <a:gd name="connsiteY2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27860" h="457200">
                  <a:moveTo>
                    <a:pt x="0" y="0"/>
                  </a:moveTo>
                  <a:lnTo>
                    <a:pt x="1927860" y="0"/>
                  </a:lnTo>
                  <a:lnTo>
                    <a:pt x="1927860" y="457200"/>
                  </a:lnTo>
                </a:path>
              </a:pathLst>
            </a:custGeom>
            <a:noFill/>
            <a:ln w="28575">
              <a:solidFill>
                <a:srgbClr val="105BA0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Text Box 127">
              <a:extLst>
                <a:ext uri="{FF2B5EF4-FFF2-40B4-BE49-F238E27FC236}">
                  <a16:creationId xmlns:a16="http://schemas.microsoft.com/office/drawing/2014/main" id="{4717070D-5B4C-4323-BF0A-6C3C6D65BE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4623" y="1882253"/>
              <a:ext cx="833642" cy="292388"/>
            </a:xfrm>
            <a:prstGeom prst="rect">
              <a:avLst/>
            </a:prstGeom>
            <a:solidFill>
              <a:srgbClr val="EFF5FB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SMTP</a:t>
              </a:r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64D87740-1695-4E4D-BAE8-24E3831B832C}"/>
                </a:ext>
              </a:extLst>
            </p:cNvPr>
            <p:cNvSpPr/>
            <p:nvPr/>
          </p:nvSpPr>
          <p:spPr>
            <a:xfrm flipV="1">
              <a:off x="1584960" y="4175760"/>
              <a:ext cx="1295400" cy="1859280"/>
            </a:xfrm>
            <a:custGeom>
              <a:avLst/>
              <a:gdLst>
                <a:gd name="connsiteX0" fmla="*/ 0 w 1927860"/>
                <a:gd name="connsiteY0" fmla="*/ 0 h 457200"/>
                <a:gd name="connsiteX1" fmla="*/ 1927860 w 1927860"/>
                <a:gd name="connsiteY1" fmla="*/ 0 h 457200"/>
                <a:gd name="connsiteX2" fmla="*/ 1927860 w 1927860"/>
                <a:gd name="connsiteY2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27860" h="457200">
                  <a:moveTo>
                    <a:pt x="0" y="0"/>
                  </a:moveTo>
                  <a:lnTo>
                    <a:pt x="1927860" y="0"/>
                  </a:lnTo>
                  <a:lnTo>
                    <a:pt x="1927860" y="457200"/>
                  </a:lnTo>
                </a:path>
              </a:pathLst>
            </a:custGeom>
            <a:noFill/>
            <a:ln w="28575">
              <a:solidFill>
                <a:srgbClr val="105BA0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Text Box 127">
              <a:extLst>
                <a:ext uri="{FF2B5EF4-FFF2-40B4-BE49-F238E27FC236}">
                  <a16:creationId xmlns:a16="http://schemas.microsoft.com/office/drawing/2014/main" id="{B0F1AE03-CAA0-4730-BDE9-2BD5ACB1E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4623" y="5943713"/>
              <a:ext cx="833642" cy="292388"/>
            </a:xfrm>
            <a:prstGeom prst="rect">
              <a:avLst/>
            </a:prstGeom>
            <a:solidFill>
              <a:srgbClr val="EFF5FB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SMTP</a:t>
              </a:r>
            </a:p>
          </p:txBody>
        </p:sp>
      </p:grpSp>
      <p:sp>
        <p:nvSpPr>
          <p:cNvPr id="85" name="Rectangle 3">
            <a:extLst>
              <a:ext uri="{FF2B5EF4-FFF2-40B4-BE49-F238E27FC236}">
                <a16:creationId xmlns:a16="http://schemas.microsoft.com/office/drawing/2014/main" id="{AA7CA218-F9CC-4A01-B29C-61FADCFC4B2D}"/>
              </a:ext>
            </a:extLst>
          </p:cNvPr>
          <p:cNvSpPr txBox="1">
            <a:spLocks noChangeArrowheads="1"/>
          </p:cNvSpPr>
          <p:nvPr/>
        </p:nvSpPr>
        <p:spPr>
          <a:xfrm>
            <a:off x="4470296" y="1078722"/>
            <a:ext cx="378629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ko-KR" altLang="en-US" sz="1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세 가지 주요 요소</a:t>
            </a:r>
            <a:endParaRPr lang="en-US" altLang="ko-KR" sz="18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2CABF05F-8826-485D-B24E-0B9CDDDEB34B}"/>
              </a:ext>
            </a:extLst>
          </p:cNvPr>
          <p:cNvSpPr txBox="1">
            <a:spLocks noChangeArrowheads="1"/>
          </p:cNvSpPr>
          <p:nvPr/>
        </p:nvSpPr>
        <p:spPr>
          <a:xfrm>
            <a:off x="4549230" y="1558782"/>
            <a:ext cx="3783558" cy="11158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사용자 에이전트 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메일 서버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SMTP (simple mail transfer protocol)</a:t>
            </a: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8F98275F-2355-4A5D-BE13-1419BE28C6AB}"/>
              </a:ext>
            </a:extLst>
          </p:cNvPr>
          <p:cNvSpPr txBox="1">
            <a:spLocks noChangeArrowheads="1"/>
          </p:cNvSpPr>
          <p:nvPr/>
        </p:nvSpPr>
        <p:spPr>
          <a:xfrm>
            <a:off x="4470296" y="3068960"/>
            <a:ext cx="378629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ko-KR" altLang="en-US" sz="18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사용자 에이전트</a:t>
            </a:r>
          </a:p>
        </p:txBody>
      </p:sp>
      <p:sp>
        <p:nvSpPr>
          <p:cNvPr id="89" name="Rectangle 3">
            <a:extLst>
              <a:ext uri="{FF2B5EF4-FFF2-40B4-BE49-F238E27FC236}">
                <a16:creationId xmlns:a16="http://schemas.microsoft.com/office/drawing/2014/main" id="{94461379-7848-41B4-A1DB-7036A6240B5D}"/>
              </a:ext>
            </a:extLst>
          </p:cNvPr>
          <p:cNvSpPr txBox="1">
            <a:spLocks noChangeArrowheads="1"/>
          </p:cNvSpPr>
          <p:nvPr/>
        </p:nvSpPr>
        <p:spPr>
          <a:xfrm>
            <a:off x="4549230" y="3549020"/>
            <a:ext cx="3783558" cy="11158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별칭 “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mail reader”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 쓰기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편집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읽기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Outlook, Thunderbird, iPhone mail client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보낼 메시지와 받은 메시지는 서버에 저장됨</a:t>
            </a:r>
          </a:p>
        </p:txBody>
      </p:sp>
      <p:sp>
        <p:nvSpPr>
          <p:cNvPr id="90" name="Rectangle 97">
            <a:extLst>
              <a:ext uri="{FF2B5EF4-FFF2-40B4-BE49-F238E27FC236}">
                <a16:creationId xmlns:a16="http://schemas.microsoft.com/office/drawing/2014/main" id="{884A3DB5-3E13-42B6-BC82-901D00A2A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526" y="976313"/>
            <a:ext cx="1575918" cy="7977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B43259CE-55B3-4D7F-85E8-8E4EFF34F7C3}"/>
              </a:ext>
            </a:extLst>
          </p:cNvPr>
          <p:cNvGrpSpPr/>
          <p:nvPr/>
        </p:nvGrpSpPr>
        <p:grpSpPr>
          <a:xfrm>
            <a:off x="2802080" y="1067011"/>
            <a:ext cx="471346" cy="170355"/>
            <a:chOff x="3304523" y="1277357"/>
            <a:chExt cx="591480" cy="170355"/>
          </a:xfrm>
        </p:grpSpPr>
        <p:sp>
          <p:nvSpPr>
            <p:cNvPr id="91" name="Rectangle 99">
              <a:extLst>
                <a:ext uri="{FF2B5EF4-FFF2-40B4-BE49-F238E27FC236}">
                  <a16:creationId xmlns:a16="http://schemas.microsoft.com/office/drawing/2014/main" id="{391FE258-960D-44BB-BD94-995C6E11F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4523" y="1277357"/>
              <a:ext cx="591480" cy="170355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2" name="Line 100">
              <a:extLst>
                <a:ext uri="{FF2B5EF4-FFF2-40B4-BE49-F238E27FC236}">
                  <a16:creationId xmlns:a16="http://schemas.microsoft.com/office/drawing/2014/main" id="{87533268-6034-4C4B-8260-3B1E2FD87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8129" y="1311428"/>
              <a:ext cx="0" cy="102213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3" name="Line 101">
              <a:extLst>
                <a:ext uri="{FF2B5EF4-FFF2-40B4-BE49-F238E27FC236}">
                  <a16:creationId xmlns:a16="http://schemas.microsoft.com/office/drawing/2014/main" id="{55783FB8-7560-4704-8244-F3FA4CE61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6218" y="1310009"/>
              <a:ext cx="0" cy="102213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4" name="Line 102">
              <a:extLst>
                <a:ext uri="{FF2B5EF4-FFF2-40B4-BE49-F238E27FC236}">
                  <a16:creationId xmlns:a16="http://schemas.microsoft.com/office/drawing/2014/main" id="{C84D0691-427E-42CD-940F-2E575B33D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262" y="1312848"/>
              <a:ext cx="0" cy="102213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5" name="Line 103">
              <a:extLst>
                <a:ext uri="{FF2B5EF4-FFF2-40B4-BE49-F238E27FC236}">
                  <a16:creationId xmlns:a16="http://schemas.microsoft.com/office/drawing/2014/main" id="{6303E4E1-C918-4B05-AC54-99A1B66027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306" y="1310009"/>
              <a:ext cx="0" cy="102213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6" name="Line 104">
              <a:extLst>
                <a:ext uri="{FF2B5EF4-FFF2-40B4-BE49-F238E27FC236}">
                  <a16:creationId xmlns:a16="http://schemas.microsoft.com/office/drawing/2014/main" id="{9FACA22F-3BF3-481B-84A9-FEC04BF1E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8351" y="1310009"/>
              <a:ext cx="0" cy="102213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7" name="Line 105">
              <a:extLst>
                <a:ext uri="{FF2B5EF4-FFF2-40B4-BE49-F238E27FC236}">
                  <a16:creationId xmlns:a16="http://schemas.microsoft.com/office/drawing/2014/main" id="{163E7468-D1A6-4F4A-9F3E-61D1369C0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2396" y="1310009"/>
              <a:ext cx="0" cy="102213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8" name="Line 106">
              <a:extLst>
                <a:ext uri="{FF2B5EF4-FFF2-40B4-BE49-F238E27FC236}">
                  <a16:creationId xmlns:a16="http://schemas.microsoft.com/office/drawing/2014/main" id="{4B11C656-DD80-4752-B4C9-409B6CAE4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2173" y="1311428"/>
              <a:ext cx="0" cy="102213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99" name="Rectangle 107">
            <a:extLst>
              <a:ext uri="{FF2B5EF4-FFF2-40B4-BE49-F238E27FC236}">
                <a16:creationId xmlns:a16="http://schemas.microsoft.com/office/drawing/2014/main" id="{59F469AB-84D8-41EC-92A6-5CF6CB0A6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2078" y="1550921"/>
            <a:ext cx="125271" cy="1320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941A99F-2C14-44BD-AD2F-B14F7F315408}"/>
              </a:ext>
            </a:extLst>
          </p:cNvPr>
          <p:cNvSpPr txBox="1"/>
          <p:nvPr/>
        </p:nvSpPr>
        <p:spPr>
          <a:xfrm>
            <a:off x="2927648" y="1023589"/>
            <a:ext cx="14192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outgoing message queue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94F2C49-282D-4853-B36F-3FE96120CCE3}"/>
              </a:ext>
            </a:extLst>
          </p:cNvPr>
          <p:cNvSpPr txBox="1"/>
          <p:nvPr/>
        </p:nvSpPr>
        <p:spPr>
          <a:xfrm>
            <a:off x="2927648" y="1478434"/>
            <a:ext cx="12681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user mailbox</a:t>
            </a:r>
          </a:p>
        </p:txBody>
      </p:sp>
    </p:spTree>
    <p:extLst>
      <p:ext uri="{BB962C8B-B14F-4D97-AF65-F5344CB8AC3E}">
        <p14:creationId xmlns:p14="http://schemas.microsoft.com/office/powerpoint/2010/main" val="3505339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전자메일 </a:t>
            </a:r>
            <a:r>
              <a:rPr lang="en-US" altLang="ko-KR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Microsoft GothicNeo" panose="020B0503020000020004" pitchFamily="34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메일 서버</a:t>
            </a:r>
            <a:endParaRPr lang="ko-KR" altLang="en-US" spc="0" dirty="0">
              <a:ln>
                <a:solidFill>
                  <a:srgbClr val="00CC99">
                    <a:alpha val="0"/>
                  </a:srgbClr>
                </a:solidFill>
              </a:ln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Microsoft GothicNeo" panose="020B0503020000020004" pitchFamily="34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7" name="Google Shape;245;p4">
            <a:extLst>
              <a:ext uri="{FF2B5EF4-FFF2-40B4-BE49-F238E27FC236}">
                <a16:creationId xmlns:a16="http://schemas.microsoft.com/office/drawing/2014/main" id="{1F49FA8F-0AFA-40BA-BEAF-FCD183FE23C8}"/>
              </a:ext>
            </a:extLst>
          </p:cNvPr>
          <p:cNvSpPr/>
          <p:nvPr/>
        </p:nvSpPr>
        <p:spPr>
          <a:xfrm>
            <a:off x="602490" y="1052513"/>
            <a:ext cx="3782625" cy="5371777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pic>
        <p:nvPicPr>
          <p:cNvPr id="53" name="그림 52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22C24FF9-802D-4A87-A849-CAE12E997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171" y="1277591"/>
            <a:ext cx="370080" cy="797494"/>
          </a:xfrm>
          <a:prstGeom prst="rect">
            <a:avLst/>
          </a:prstGeom>
        </p:spPr>
      </p:pic>
      <p:sp>
        <p:nvSpPr>
          <p:cNvPr id="192" name="Line 9">
            <a:extLst>
              <a:ext uri="{FF2B5EF4-FFF2-40B4-BE49-F238E27FC236}">
                <a16:creationId xmlns:a16="http://schemas.microsoft.com/office/drawing/2014/main" id="{D41D269F-D100-49C1-8D02-E3D16063D4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7211" y="2861767"/>
            <a:ext cx="0" cy="176478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302" name="그룹 301">
            <a:extLst>
              <a:ext uri="{FF2B5EF4-FFF2-40B4-BE49-F238E27FC236}">
                <a16:creationId xmlns:a16="http://schemas.microsoft.com/office/drawing/2014/main" id="{1AB5D07F-9791-4D8F-9C71-D2269D585CAD}"/>
              </a:ext>
            </a:extLst>
          </p:cNvPr>
          <p:cNvGrpSpPr/>
          <p:nvPr/>
        </p:nvGrpSpPr>
        <p:grpSpPr>
          <a:xfrm>
            <a:off x="699162" y="1841532"/>
            <a:ext cx="736099" cy="902882"/>
            <a:chOff x="3928509" y="1957793"/>
            <a:chExt cx="889042" cy="1009650"/>
          </a:xfrm>
        </p:grpSpPr>
        <p:sp>
          <p:nvSpPr>
            <p:cNvPr id="226" name="Rectangle 97">
              <a:extLst>
                <a:ext uri="{FF2B5EF4-FFF2-40B4-BE49-F238E27FC236}">
                  <a16:creationId xmlns:a16="http://schemas.microsoft.com/office/drawing/2014/main" id="{CD019878-017F-45E8-AFF6-40368D1E3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217" y="1957793"/>
              <a:ext cx="809625" cy="1009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27" name="Text Box 98">
              <a:extLst>
                <a:ext uri="{FF2B5EF4-FFF2-40B4-BE49-F238E27FC236}">
                  <a16:creationId xmlns:a16="http://schemas.microsoft.com/office/drawing/2014/main" id="{B7F35725-7570-4127-A24A-A8FB34568A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8509" y="1961544"/>
              <a:ext cx="889042" cy="516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mail</a:t>
              </a:r>
            </a:p>
            <a:p>
              <a:pPr algn="ctr"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server</a:t>
              </a:r>
            </a:p>
          </p:txBody>
        </p:sp>
        <p:sp>
          <p:nvSpPr>
            <p:cNvPr id="228" name="Rectangle 99">
              <a:extLst>
                <a:ext uri="{FF2B5EF4-FFF2-40B4-BE49-F238E27FC236}">
                  <a16:creationId xmlns:a16="http://schemas.microsoft.com/office/drawing/2014/main" id="{0AC8AFFC-CFC8-492B-BC78-F905C36C7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5842" y="2533951"/>
              <a:ext cx="714375" cy="190500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99" name="그룹 298">
              <a:extLst>
                <a:ext uri="{FF2B5EF4-FFF2-40B4-BE49-F238E27FC236}">
                  <a16:creationId xmlns:a16="http://schemas.microsoft.com/office/drawing/2014/main" id="{792447A5-4C76-44BD-BA92-EE7D11B1F5C7}"/>
                </a:ext>
              </a:extLst>
            </p:cNvPr>
            <p:cNvGrpSpPr/>
            <p:nvPr/>
          </p:nvGrpSpPr>
          <p:grpSpPr>
            <a:xfrm>
              <a:off x="4104742" y="2570464"/>
              <a:ext cx="536575" cy="117475"/>
              <a:chOff x="4084105" y="2562631"/>
              <a:chExt cx="536575" cy="117475"/>
            </a:xfrm>
          </p:grpSpPr>
          <p:sp>
            <p:nvSpPr>
              <p:cNvPr id="229" name="Line 100">
                <a:extLst>
                  <a:ext uri="{FF2B5EF4-FFF2-40B4-BE49-F238E27FC236}">
                    <a16:creationId xmlns:a16="http://schemas.microsoft.com/office/drawing/2014/main" id="{08A733C6-703A-475A-B7AC-54F97FD48D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4105" y="2564218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30" name="Line 101">
                <a:extLst>
                  <a:ext uri="{FF2B5EF4-FFF2-40B4-BE49-F238E27FC236}">
                    <a16:creationId xmlns:a16="http://schemas.microsoft.com/office/drawing/2014/main" id="{C2A7F08F-FE2A-4D37-A1BD-C1687857B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963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31" name="Line 102">
                <a:extLst>
                  <a:ext uri="{FF2B5EF4-FFF2-40B4-BE49-F238E27FC236}">
                    <a16:creationId xmlns:a16="http://schemas.microsoft.com/office/drawing/2014/main" id="{0679B5DD-BED1-4E48-890C-8E42BCF7E3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2392" y="2565806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32" name="Line 103">
                <a:extLst>
                  <a:ext uri="{FF2B5EF4-FFF2-40B4-BE49-F238E27FC236}">
                    <a16:creationId xmlns:a16="http://schemas.microsoft.com/office/drawing/2014/main" id="{FC06EF0D-10EF-45A0-8861-1B5938DFA4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1821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33" name="Line 104">
                <a:extLst>
                  <a:ext uri="{FF2B5EF4-FFF2-40B4-BE49-F238E27FC236}">
                    <a16:creationId xmlns:a16="http://schemas.microsoft.com/office/drawing/2014/main" id="{91351591-4F91-4CE2-BA74-F02968B8B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1250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34" name="Line 105">
                <a:extLst>
                  <a:ext uri="{FF2B5EF4-FFF2-40B4-BE49-F238E27FC236}">
                    <a16:creationId xmlns:a16="http://schemas.microsoft.com/office/drawing/2014/main" id="{8675197D-88C6-4273-BD7B-856EA188B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0680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35" name="Line 106">
                <a:extLst>
                  <a:ext uri="{FF2B5EF4-FFF2-40B4-BE49-F238E27FC236}">
                    <a16:creationId xmlns:a16="http://schemas.microsoft.com/office/drawing/2014/main" id="{062D9702-61DC-475D-B1BC-DFE01F3488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3534" y="2564218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301" name="그룹 300">
              <a:extLst>
                <a:ext uri="{FF2B5EF4-FFF2-40B4-BE49-F238E27FC236}">
                  <a16:creationId xmlns:a16="http://schemas.microsoft.com/office/drawing/2014/main" id="{568ECA1E-78AF-48E1-9ADF-2554275D3793}"/>
                </a:ext>
              </a:extLst>
            </p:cNvPr>
            <p:cNvGrpSpPr/>
            <p:nvPr/>
          </p:nvGrpSpPr>
          <p:grpSpPr>
            <a:xfrm>
              <a:off x="4032510" y="2768214"/>
              <a:ext cx="681038" cy="147637"/>
              <a:chOff x="4032510" y="2784881"/>
              <a:chExt cx="681038" cy="147637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36" name="Rectangle 107">
                <a:extLst>
                  <a:ext uri="{FF2B5EF4-FFF2-40B4-BE49-F238E27FC236}">
                    <a16:creationId xmlns:a16="http://schemas.microsoft.com/office/drawing/2014/main" id="{1FB64700-F2CE-4BED-93AC-9AB9C8352A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51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7" name="Rectangle 108">
                <a:extLst>
                  <a:ext uri="{FF2B5EF4-FFF2-40B4-BE49-F238E27FC236}">
                    <a16:creationId xmlns:a16="http://schemas.microsoft.com/office/drawing/2014/main" id="{5392B798-83A0-4D36-8335-F8C8F9CB7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37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8" name="Rectangle 109">
                <a:extLst>
                  <a:ext uri="{FF2B5EF4-FFF2-40B4-BE49-F238E27FC236}">
                    <a16:creationId xmlns:a16="http://schemas.microsoft.com/office/drawing/2014/main" id="{6F87E95B-9683-4C79-8345-C8E99E6B8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223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9" name="Rectangle 110">
                <a:extLst>
                  <a:ext uri="{FF2B5EF4-FFF2-40B4-BE49-F238E27FC236}">
                    <a16:creationId xmlns:a16="http://schemas.microsoft.com/office/drawing/2014/main" id="{A3554612-F853-471C-9A75-BED404A1D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709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40" name="Rectangle 111">
                <a:extLst>
                  <a:ext uri="{FF2B5EF4-FFF2-40B4-BE49-F238E27FC236}">
                    <a16:creationId xmlns:a16="http://schemas.microsoft.com/office/drawing/2014/main" id="{260C5308-E948-44BB-A9F8-E96A1366A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1948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251" name="Text Box 127">
            <a:extLst>
              <a:ext uri="{FF2B5EF4-FFF2-40B4-BE49-F238E27FC236}">
                <a16:creationId xmlns:a16="http://schemas.microsoft.com/office/drawing/2014/main" id="{B3CB0B34-75DD-460A-8AD9-02349529E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390" y="3597964"/>
            <a:ext cx="833642" cy="292388"/>
          </a:xfrm>
          <a:prstGeom prst="rect">
            <a:avLst/>
          </a:prstGeom>
          <a:solidFill>
            <a:srgbClr val="EFF5FB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SMTP</a:t>
            </a:r>
          </a:p>
        </p:txBody>
      </p:sp>
      <p:pic>
        <p:nvPicPr>
          <p:cNvPr id="289" name="그림 288" descr="텍스트, 전자기기, 컴퓨터, 디스플레이이(가) 표시된 사진&#10;&#10;자동 생성된 설명">
            <a:extLst>
              <a:ext uri="{FF2B5EF4-FFF2-40B4-BE49-F238E27FC236}">
                <a16:creationId xmlns:a16="http://schemas.microsoft.com/office/drawing/2014/main" id="{5EC97CC0-B50D-486A-A31F-E5E5FF3F79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15003" y="1288260"/>
            <a:ext cx="383986" cy="565019"/>
          </a:xfrm>
          <a:prstGeom prst="rect">
            <a:avLst/>
          </a:prstGeom>
        </p:spPr>
      </p:pic>
      <p:pic>
        <p:nvPicPr>
          <p:cNvPr id="290" name="그림 289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B74EFE8F-BF1B-4D32-97C2-713547314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029" y="2573735"/>
            <a:ext cx="370080" cy="797494"/>
          </a:xfrm>
          <a:prstGeom prst="rect">
            <a:avLst/>
          </a:prstGeom>
        </p:spPr>
      </p:pic>
      <p:pic>
        <p:nvPicPr>
          <p:cNvPr id="291" name="그림 290" descr="텍스트, 전자기기, 컴퓨터, 디스플레이이(가) 표시된 사진&#10;&#10;자동 생성된 설명">
            <a:extLst>
              <a:ext uri="{FF2B5EF4-FFF2-40B4-BE49-F238E27FC236}">
                <a16:creationId xmlns:a16="http://schemas.microsoft.com/office/drawing/2014/main" id="{7CF2A181-2A4E-437A-9BD3-BD11E8732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43195" y="2501727"/>
            <a:ext cx="383986" cy="565019"/>
          </a:xfrm>
          <a:prstGeom prst="rect">
            <a:avLst/>
          </a:prstGeom>
        </p:spPr>
      </p:pic>
      <p:pic>
        <p:nvPicPr>
          <p:cNvPr id="292" name="그림 291" descr="텍스트, 전자기기, 컴퓨터, 디스플레이이(가) 표시된 사진&#10;&#10;자동 생성된 설명">
            <a:extLst>
              <a:ext uri="{FF2B5EF4-FFF2-40B4-BE49-F238E27FC236}">
                <a16:creationId xmlns:a16="http://schemas.microsoft.com/office/drawing/2014/main" id="{944BEAA2-7FEA-4CD2-AEB4-E03F49E291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43195" y="3180074"/>
            <a:ext cx="383986" cy="565019"/>
          </a:xfrm>
          <a:prstGeom prst="rect">
            <a:avLst/>
          </a:prstGeom>
        </p:spPr>
      </p:pic>
      <p:pic>
        <p:nvPicPr>
          <p:cNvPr id="293" name="그림 292" descr="텍스트, 전자기기, 컴퓨터, 디스플레이이(가) 표시된 사진&#10;&#10;자동 생성된 설명">
            <a:extLst>
              <a:ext uri="{FF2B5EF4-FFF2-40B4-BE49-F238E27FC236}">
                <a16:creationId xmlns:a16="http://schemas.microsoft.com/office/drawing/2014/main" id="{7352DA65-DACA-4587-98CA-1B749C7E76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43195" y="3850447"/>
            <a:ext cx="383986" cy="565019"/>
          </a:xfrm>
          <a:prstGeom prst="rect">
            <a:avLst/>
          </a:prstGeom>
        </p:spPr>
      </p:pic>
      <p:pic>
        <p:nvPicPr>
          <p:cNvPr id="294" name="그림 293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14DD3B8C-2A61-495E-BB36-046B5D7501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171" y="4661967"/>
            <a:ext cx="370080" cy="797494"/>
          </a:xfrm>
          <a:prstGeom prst="rect">
            <a:avLst/>
          </a:prstGeom>
        </p:spPr>
      </p:pic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92A64858-5248-473A-ADC9-995050F7C2A7}"/>
              </a:ext>
            </a:extLst>
          </p:cNvPr>
          <p:cNvGrpSpPr/>
          <p:nvPr/>
        </p:nvGrpSpPr>
        <p:grpSpPr>
          <a:xfrm>
            <a:off x="2444020" y="3149726"/>
            <a:ext cx="736099" cy="902882"/>
            <a:chOff x="3928509" y="1957793"/>
            <a:chExt cx="889042" cy="1009650"/>
          </a:xfrm>
        </p:grpSpPr>
        <p:sp>
          <p:nvSpPr>
            <p:cNvPr id="304" name="Rectangle 97">
              <a:extLst>
                <a:ext uri="{FF2B5EF4-FFF2-40B4-BE49-F238E27FC236}">
                  <a16:creationId xmlns:a16="http://schemas.microsoft.com/office/drawing/2014/main" id="{6A277A97-F7B8-489F-9A93-E2EB06B9D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217" y="1957793"/>
              <a:ext cx="809625" cy="1009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05" name="Text Box 98">
              <a:extLst>
                <a:ext uri="{FF2B5EF4-FFF2-40B4-BE49-F238E27FC236}">
                  <a16:creationId xmlns:a16="http://schemas.microsoft.com/office/drawing/2014/main" id="{12E083F4-4ED8-4ECC-B3B4-4BE0FD831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8509" y="1961544"/>
              <a:ext cx="889042" cy="516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mail</a:t>
              </a:r>
            </a:p>
            <a:p>
              <a:pPr algn="ctr"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server</a:t>
              </a:r>
            </a:p>
          </p:txBody>
        </p:sp>
        <p:sp>
          <p:nvSpPr>
            <p:cNvPr id="306" name="Rectangle 99">
              <a:extLst>
                <a:ext uri="{FF2B5EF4-FFF2-40B4-BE49-F238E27FC236}">
                  <a16:creationId xmlns:a16="http://schemas.microsoft.com/office/drawing/2014/main" id="{F6D72142-A0C3-4B2C-B4E3-82920906A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5842" y="2533951"/>
              <a:ext cx="714375" cy="190500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307" name="그룹 306">
              <a:extLst>
                <a:ext uri="{FF2B5EF4-FFF2-40B4-BE49-F238E27FC236}">
                  <a16:creationId xmlns:a16="http://schemas.microsoft.com/office/drawing/2014/main" id="{01A59056-3311-441D-A2B9-1F4EB52C85F9}"/>
                </a:ext>
              </a:extLst>
            </p:cNvPr>
            <p:cNvGrpSpPr/>
            <p:nvPr/>
          </p:nvGrpSpPr>
          <p:grpSpPr>
            <a:xfrm>
              <a:off x="4104742" y="2570464"/>
              <a:ext cx="536575" cy="117475"/>
              <a:chOff x="4084105" y="2562631"/>
              <a:chExt cx="536575" cy="117475"/>
            </a:xfrm>
          </p:grpSpPr>
          <p:sp>
            <p:nvSpPr>
              <p:cNvPr id="314" name="Line 100">
                <a:extLst>
                  <a:ext uri="{FF2B5EF4-FFF2-40B4-BE49-F238E27FC236}">
                    <a16:creationId xmlns:a16="http://schemas.microsoft.com/office/drawing/2014/main" id="{0DDC7794-6D16-4787-BB09-D2A57448B4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4105" y="2564218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5" name="Line 101">
                <a:extLst>
                  <a:ext uri="{FF2B5EF4-FFF2-40B4-BE49-F238E27FC236}">
                    <a16:creationId xmlns:a16="http://schemas.microsoft.com/office/drawing/2014/main" id="{0A096180-79F5-46E4-BF19-E7E7CDCA0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963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6" name="Line 102">
                <a:extLst>
                  <a:ext uri="{FF2B5EF4-FFF2-40B4-BE49-F238E27FC236}">
                    <a16:creationId xmlns:a16="http://schemas.microsoft.com/office/drawing/2014/main" id="{FD432606-EA92-4094-A960-FE125C7FBF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2392" y="2565806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7" name="Line 103">
                <a:extLst>
                  <a:ext uri="{FF2B5EF4-FFF2-40B4-BE49-F238E27FC236}">
                    <a16:creationId xmlns:a16="http://schemas.microsoft.com/office/drawing/2014/main" id="{E3D51440-A0A2-4237-BC3D-4BD6B94A1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1821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8" name="Line 104">
                <a:extLst>
                  <a:ext uri="{FF2B5EF4-FFF2-40B4-BE49-F238E27FC236}">
                    <a16:creationId xmlns:a16="http://schemas.microsoft.com/office/drawing/2014/main" id="{FD4B1936-FF74-42D2-B3A2-819AE1C6E8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1250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9" name="Line 105">
                <a:extLst>
                  <a:ext uri="{FF2B5EF4-FFF2-40B4-BE49-F238E27FC236}">
                    <a16:creationId xmlns:a16="http://schemas.microsoft.com/office/drawing/2014/main" id="{D409D19D-1498-4B31-B3F8-806DBDAB17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0680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0" name="Line 106">
                <a:extLst>
                  <a:ext uri="{FF2B5EF4-FFF2-40B4-BE49-F238E27FC236}">
                    <a16:creationId xmlns:a16="http://schemas.microsoft.com/office/drawing/2014/main" id="{661CC40F-3138-45F7-B29C-382A44C017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3534" y="2564218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308" name="그룹 307">
              <a:extLst>
                <a:ext uri="{FF2B5EF4-FFF2-40B4-BE49-F238E27FC236}">
                  <a16:creationId xmlns:a16="http://schemas.microsoft.com/office/drawing/2014/main" id="{9B2F1100-987D-499D-8E38-AA5A324A01FB}"/>
                </a:ext>
              </a:extLst>
            </p:cNvPr>
            <p:cNvGrpSpPr/>
            <p:nvPr/>
          </p:nvGrpSpPr>
          <p:grpSpPr>
            <a:xfrm>
              <a:off x="4032510" y="2768214"/>
              <a:ext cx="681038" cy="147637"/>
              <a:chOff x="4032510" y="2784881"/>
              <a:chExt cx="681038" cy="147637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309" name="Rectangle 107">
                <a:extLst>
                  <a:ext uri="{FF2B5EF4-FFF2-40B4-BE49-F238E27FC236}">
                    <a16:creationId xmlns:a16="http://schemas.microsoft.com/office/drawing/2014/main" id="{349C9C4D-401B-49F5-A469-D09720E4AF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51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0" name="Rectangle 108">
                <a:extLst>
                  <a:ext uri="{FF2B5EF4-FFF2-40B4-BE49-F238E27FC236}">
                    <a16:creationId xmlns:a16="http://schemas.microsoft.com/office/drawing/2014/main" id="{C290E07B-8C38-41F5-8311-32203405E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37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1" name="Rectangle 109">
                <a:extLst>
                  <a:ext uri="{FF2B5EF4-FFF2-40B4-BE49-F238E27FC236}">
                    <a16:creationId xmlns:a16="http://schemas.microsoft.com/office/drawing/2014/main" id="{32794FAF-220B-47A5-A7F2-CF8676210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223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2" name="Rectangle 110">
                <a:extLst>
                  <a:ext uri="{FF2B5EF4-FFF2-40B4-BE49-F238E27FC236}">
                    <a16:creationId xmlns:a16="http://schemas.microsoft.com/office/drawing/2014/main" id="{301D448D-4B9F-4CA1-A9D3-DF6DCA3B8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709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3" name="Rectangle 111">
                <a:extLst>
                  <a:ext uri="{FF2B5EF4-FFF2-40B4-BE49-F238E27FC236}">
                    <a16:creationId xmlns:a16="http://schemas.microsoft.com/office/drawing/2014/main" id="{AEE55FA9-B004-4DAC-BEC7-E89E1DD5B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1948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324" name="Text Box 116">
            <a:extLst>
              <a:ext uri="{FF2B5EF4-FFF2-40B4-BE49-F238E27FC236}">
                <a16:creationId xmlns:a16="http://schemas.microsoft.com/office/drawing/2014/main" id="{13F31AD4-0CF3-4807-8463-C91705B8C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6149" y="2642993"/>
            <a:ext cx="7105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user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agent</a:t>
            </a:r>
          </a:p>
        </p:txBody>
      </p:sp>
      <p:sp>
        <p:nvSpPr>
          <p:cNvPr id="325" name="Text Box 116">
            <a:extLst>
              <a:ext uri="{FF2B5EF4-FFF2-40B4-BE49-F238E27FC236}">
                <a16:creationId xmlns:a16="http://schemas.microsoft.com/office/drawing/2014/main" id="{A8E65B1A-E6D0-4DFC-8954-E403C104D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6149" y="3332999"/>
            <a:ext cx="7105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user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agent</a:t>
            </a:r>
          </a:p>
        </p:txBody>
      </p:sp>
      <p:sp>
        <p:nvSpPr>
          <p:cNvPr id="326" name="Text Box 116">
            <a:extLst>
              <a:ext uri="{FF2B5EF4-FFF2-40B4-BE49-F238E27FC236}">
                <a16:creationId xmlns:a16="http://schemas.microsoft.com/office/drawing/2014/main" id="{233A1A37-B3AE-47A7-90B4-8B097F994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6149" y="3990849"/>
            <a:ext cx="7105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user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agent</a:t>
            </a:r>
          </a:p>
        </p:txBody>
      </p:sp>
      <p:sp>
        <p:nvSpPr>
          <p:cNvPr id="327" name="Text Box 116">
            <a:extLst>
              <a:ext uri="{FF2B5EF4-FFF2-40B4-BE49-F238E27FC236}">
                <a16:creationId xmlns:a16="http://schemas.microsoft.com/office/drawing/2014/main" id="{0B2D7896-729F-4333-B184-6601C308E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520" y="1415417"/>
            <a:ext cx="7105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user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agent</a:t>
            </a:r>
          </a:p>
        </p:txBody>
      </p:sp>
      <p:grpSp>
        <p:nvGrpSpPr>
          <p:cNvPr id="328" name="그룹 327">
            <a:extLst>
              <a:ext uri="{FF2B5EF4-FFF2-40B4-BE49-F238E27FC236}">
                <a16:creationId xmlns:a16="http://schemas.microsoft.com/office/drawing/2014/main" id="{3FFDF6AB-CE38-42F6-9DE5-78B2AF17618F}"/>
              </a:ext>
            </a:extLst>
          </p:cNvPr>
          <p:cNvGrpSpPr/>
          <p:nvPr/>
        </p:nvGrpSpPr>
        <p:grpSpPr>
          <a:xfrm>
            <a:off x="699162" y="5224888"/>
            <a:ext cx="736099" cy="902882"/>
            <a:chOff x="3928509" y="1957793"/>
            <a:chExt cx="889042" cy="1009650"/>
          </a:xfrm>
        </p:grpSpPr>
        <p:sp>
          <p:nvSpPr>
            <p:cNvPr id="329" name="Rectangle 97">
              <a:extLst>
                <a:ext uri="{FF2B5EF4-FFF2-40B4-BE49-F238E27FC236}">
                  <a16:creationId xmlns:a16="http://schemas.microsoft.com/office/drawing/2014/main" id="{0914C6C7-A701-47AE-ABE4-56D41125F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217" y="1957793"/>
              <a:ext cx="809625" cy="10096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30" name="Text Box 98">
              <a:extLst>
                <a:ext uri="{FF2B5EF4-FFF2-40B4-BE49-F238E27FC236}">
                  <a16:creationId xmlns:a16="http://schemas.microsoft.com/office/drawing/2014/main" id="{547173B9-D75D-4625-9FAA-35CF916579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8509" y="1961544"/>
              <a:ext cx="889042" cy="516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mail</a:t>
              </a:r>
            </a:p>
            <a:p>
              <a:pPr algn="ctr"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server</a:t>
              </a:r>
            </a:p>
          </p:txBody>
        </p:sp>
        <p:sp>
          <p:nvSpPr>
            <p:cNvPr id="331" name="Rectangle 99">
              <a:extLst>
                <a:ext uri="{FF2B5EF4-FFF2-40B4-BE49-F238E27FC236}">
                  <a16:creationId xmlns:a16="http://schemas.microsoft.com/office/drawing/2014/main" id="{605EA338-0ACD-44B7-9B6D-8C358D3D6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5842" y="2533951"/>
              <a:ext cx="714375" cy="190500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332" name="그룹 331">
              <a:extLst>
                <a:ext uri="{FF2B5EF4-FFF2-40B4-BE49-F238E27FC236}">
                  <a16:creationId xmlns:a16="http://schemas.microsoft.com/office/drawing/2014/main" id="{ED14FEED-FD4A-4910-83DA-61C91F8EB899}"/>
                </a:ext>
              </a:extLst>
            </p:cNvPr>
            <p:cNvGrpSpPr/>
            <p:nvPr/>
          </p:nvGrpSpPr>
          <p:grpSpPr>
            <a:xfrm>
              <a:off x="4104742" y="2570464"/>
              <a:ext cx="536575" cy="117475"/>
              <a:chOff x="4084105" y="2562631"/>
              <a:chExt cx="536575" cy="117475"/>
            </a:xfrm>
          </p:grpSpPr>
          <p:sp>
            <p:nvSpPr>
              <p:cNvPr id="339" name="Line 100">
                <a:extLst>
                  <a:ext uri="{FF2B5EF4-FFF2-40B4-BE49-F238E27FC236}">
                    <a16:creationId xmlns:a16="http://schemas.microsoft.com/office/drawing/2014/main" id="{CB658C1E-6E2C-4727-B625-444B9D950E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4105" y="2564218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40" name="Line 101">
                <a:extLst>
                  <a:ext uri="{FF2B5EF4-FFF2-40B4-BE49-F238E27FC236}">
                    <a16:creationId xmlns:a16="http://schemas.microsoft.com/office/drawing/2014/main" id="{F8678223-EEA9-486B-B890-686455509C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963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41" name="Line 102">
                <a:extLst>
                  <a:ext uri="{FF2B5EF4-FFF2-40B4-BE49-F238E27FC236}">
                    <a16:creationId xmlns:a16="http://schemas.microsoft.com/office/drawing/2014/main" id="{A7B6F8C8-3093-49D9-A11B-179D074D6F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2392" y="2565806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42" name="Line 103">
                <a:extLst>
                  <a:ext uri="{FF2B5EF4-FFF2-40B4-BE49-F238E27FC236}">
                    <a16:creationId xmlns:a16="http://schemas.microsoft.com/office/drawing/2014/main" id="{701CF59B-816A-4063-9B48-C883DA170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1821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43" name="Line 104">
                <a:extLst>
                  <a:ext uri="{FF2B5EF4-FFF2-40B4-BE49-F238E27FC236}">
                    <a16:creationId xmlns:a16="http://schemas.microsoft.com/office/drawing/2014/main" id="{44E16FDB-E609-4BBC-9FF2-4B0327F317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1250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44" name="Line 105">
                <a:extLst>
                  <a:ext uri="{FF2B5EF4-FFF2-40B4-BE49-F238E27FC236}">
                    <a16:creationId xmlns:a16="http://schemas.microsoft.com/office/drawing/2014/main" id="{77A41950-542F-4B6B-B305-650920EC1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0680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45" name="Line 106">
                <a:extLst>
                  <a:ext uri="{FF2B5EF4-FFF2-40B4-BE49-F238E27FC236}">
                    <a16:creationId xmlns:a16="http://schemas.microsoft.com/office/drawing/2014/main" id="{0CED6572-5EC9-4F42-AF93-A6F0EB5A2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3534" y="2564218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333" name="그룹 332">
              <a:extLst>
                <a:ext uri="{FF2B5EF4-FFF2-40B4-BE49-F238E27FC236}">
                  <a16:creationId xmlns:a16="http://schemas.microsoft.com/office/drawing/2014/main" id="{028576F3-91DA-4FB9-AB84-04D421138121}"/>
                </a:ext>
              </a:extLst>
            </p:cNvPr>
            <p:cNvGrpSpPr/>
            <p:nvPr/>
          </p:nvGrpSpPr>
          <p:grpSpPr>
            <a:xfrm>
              <a:off x="4032510" y="2768214"/>
              <a:ext cx="681038" cy="147637"/>
              <a:chOff x="4032510" y="2784881"/>
              <a:chExt cx="681038" cy="147637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334" name="Rectangle 107">
                <a:extLst>
                  <a:ext uri="{FF2B5EF4-FFF2-40B4-BE49-F238E27FC236}">
                    <a16:creationId xmlns:a16="http://schemas.microsoft.com/office/drawing/2014/main" id="{732B4B6A-DD7C-4848-ADB4-34963BECE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51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35" name="Rectangle 108">
                <a:extLst>
                  <a:ext uri="{FF2B5EF4-FFF2-40B4-BE49-F238E27FC236}">
                    <a16:creationId xmlns:a16="http://schemas.microsoft.com/office/drawing/2014/main" id="{96832F9C-CF35-4CC1-BB82-A0A053773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37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36" name="Rectangle 109">
                <a:extLst>
                  <a:ext uri="{FF2B5EF4-FFF2-40B4-BE49-F238E27FC236}">
                    <a16:creationId xmlns:a16="http://schemas.microsoft.com/office/drawing/2014/main" id="{2DFEFB40-70A0-4C8E-A6E9-7E6715266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223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37" name="Rectangle 110">
                <a:extLst>
                  <a:ext uri="{FF2B5EF4-FFF2-40B4-BE49-F238E27FC236}">
                    <a16:creationId xmlns:a16="http://schemas.microsoft.com/office/drawing/2014/main" id="{55306082-7EFC-473E-98D0-224F00C20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709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38" name="Rectangle 111">
                <a:extLst>
                  <a:ext uri="{FF2B5EF4-FFF2-40B4-BE49-F238E27FC236}">
                    <a16:creationId xmlns:a16="http://schemas.microsoft.com/office/drawing/2014/main" id="{F7649DD1-56CA-47B5-A981-1224CF0B66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1948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pic>
        <p:nvPicPr>
          <p:cNvPr id="346" name="그림 345" descr="텍스트, 전자기기, 컴퓨터, 디스플레이이(가) 표시된 사진&#10;&#10;자동 생성된 설명">
            <a:extLst>
              <a:ext uri="{FF2B5EF4-FFF2-40B4-BE49-F238E27FC236}">
                <a16:creationId xmlns:a16="http://schemas.microsoft.com/office/drawing/2014/main" id="{AA9DFEEB-C046-489A-9B29-A61B23E96F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19137" y="4589959"/>
            <a:ext cx="383986" cy="565019"/>
          </a:xfrm>
          <a:prstGeom prst="rect">
            <a:avLst/>
          </a:prstGeom>
        </p:spPr>
      </p:pic>
      <p:pic>
        <p:nvPicPr>
          <p:cNvPr id="347" name="그림 346" descr="텍스트, 전자기기, 컴퓨터, 디스플레이이(가) 표시된 사진&#10;&#10;자동 생성된 설명">
            <a:extLst>
              <a:ext uri="{FF2B5EF4-FFF2-40B4-BE49-F238E27FC236}">
                <a16:creationId xmlns:a16="http://schemas.microsoft.com/office/drawing/2014/main" id="{F08A23CC-3E4A-4EB6-8436-E6F9D34A2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19137" y="5275572"/>
            <a:ext cx="383986" cy="565019"/>
          </a:xfrm>
          <a:prstGeom prst="rect">
            <a:avLst/>
          </a:prstGeom>
        </p:spPr>
      </p:pic>
      <p:sp>
        <p:nvSpPr>
          <p:cNvPr id="348" name="Text Box 116">
            <a:extLst>
              <a:ext uri="{FF2B5EF4-FFF2-40B4-BE49-F238E27FC236}">
                <a16:creationId xmlns:a16="http://schemas.microsoft.com/office/drawing/2014/main" id="{0AA09D45-1670-4DEB-A453-FCC41DEEC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2091" y="4742884"/>
            <a:ext cx="7105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user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agent</a:t>
            </a:r>
          </a:p>
        </p:txBody>
      </p:sp>
      <p:sp>
        <p:nvSpPr>
          <p:cNvPr id="349" name="Text Box 116">
            <a:extLst>
              <a:ext uri="{FF2B5EF4-FFF2-40B4-BE49-F238E27FC236}">
                <a16:creationId xmlns:a16="http://schemas.microsoft.com/office/drawing/2014/main" id="{59F828DE-9428-4344-85B9-CA7EB02E6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2091" y="5415974"/>
            <a:ext cx="7105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user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agent</a:t>
            </a:r>
          </a:p>
        </p:txBody>
      </p:sp>
      <p:sp>
        <p:nvSpPr>
          <p:cNvPr id="350" name="자유형: 도형 349">
            <a:extLst>
              <a:ext uri="{FF2B5EF4-FFF2-40B4-BE49-F238E27FC236}">
                <a16:creationId xmlns:a16="http://schemas.microsoft.com/office/drawing/2014/main" id="{6F3C6F62-70D1-4822-909A-08FF1A4A0F00}"/>
              </a:ext>
            </a:extLst>
          </p:cNvPr>
          <p:cNvSpPr/>
          <p:nvPr/>
        </p:nvSpPr>
        <p:spPr>
          <a:xfrm>
            <a:off x="1517607" y="2035751"/>
            <a:ext cx="1348740" cy="457200"/>
          </a:xfrm>
          <a:custGeom>
            <a:avLst/>
            <a:gdLst>
              <a:gd name="connsiteX0" fmla="*/ 0 w 1927860"/>
              <a:gd name="connsiteY0" fmla="*/ 0 h 457200"/>
              <a:gd name="connsiteX1" fmla="*/ 1927860 w 1927860"/>
              <a:gd name="connsiteY1" fmla="*/ 0 h 457200"/>
              <a:gd name="connsiteX2" fmla="*/ 1927860 w 192786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7860" h="457200">
                <a:moveTo>
                  <a:pt x="0" y="0"/>
                </a:moveTo>
                <a:lnTo>
                  <a:pt x="1927860" y="0"/>
                </a:lnTo>
                <a:lnTo>
                  <a:pt x="1927860" y="457200"/>
                </a:lnTo>
              </a:path>
            </a:pathLst>
          </a:custGeom>
          <a:noFill/>
          <a:ln w="28575">
            <a:solidFill>
              <a:srgbClr val="105BA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1" name="Text Box 127">
            <a:extLst>
              <a:ext uri="{FF2B5EF4-FFF2-40B4-BE49-F238E27FC236}">
                <a16:creationId xmlns:a16="http://schemas.microsoft.com/office/drawing/2014/main" id="{7480F2B8-5C30-4994-A293-84ED252BF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30" y="1891084"/>
            <a:ext cx="833642" cy="292388"/>
          </a:xfrm>
          <a:prstGeom prst="rect">
            <a:avLst/>
          </a:prstGeom>
          <a:solidFill>
            <a:srgbClr val="EFF5FB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SMTP</a:t>
            </a:r>
          </a:p>
        </p:txBody>
      </p:sp>
      <p:sp>
        <p:nvSpPr>
          <p:cNvPr id="352" name="자유형: 도형 351">
            <a:extLst>
              <a:ext uri="{FF2B5EF4-FFF2-40B4-BE49-F238E27FC236}">
                <a16:creationId xmlns:a16="http://schemas.microsoft.com/office/drawing/2014/main" id="{F80B07AE-56AA-4339-B560-86C79D21A76B}"/>
              </a:ext>
            </a:extLst>
          </p:cNvPr>
          <p:cNvSpPr/>
          <p:nvPr/>
        </p:nvSpPr>
        <p:spPr>
          <a:xfrm flipV="1">
            <a:off x="1540467" y="4184591"/>
            <a:ext cx="1295400" cy="1859280"/>
          </a:xfrm>
          <a:custGeom>
            <a:avLst/>
            <a:gdLst>
              <a:gd name="connsiteX0" fmla="*/ 0 w 1927860"/>
              <a:gd name="connsiteY0" fmla="*/ 0 h 457200"/>
              <a:gd name="connsiteX1" fmla="*/ 1927860 w 1927860"/>
              <a:gd name="connsiteY1" fmla="*/ 0 h 457200"/>
              <a:gd name="connsiteX2" fmla="*/ 1927860 w 1927860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7860" h="457200">
                <a:moveTo>
                  <a:pt x="0" y="0"/>
                </a:moveTo>
                <a:lnTo>
                  <a:pt x="1927860" y="0"/>
                </a:lnTo>
                <a:lnTo>
                  <a:pt x="1927860" y="457200"/>
                </a:lnTo>
              </a:path>
            </a:pathLst>
          </a:custGeom>
          <a:noFill/>
          <a:ln w="28575">
            <a:solidFill>
              <a:srgbClr val="105BA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3" name="Text Box 127">
            <a:extLst>
              <a:ext uri="{FF2B5EF4-FFF2-40B4-BE49-F238E27FC236}">
                <a16:creationId xmlns:a16="http://schemas.microsoft.com/office/drawing/2014/main" id="{DFD5A0D1-9E1F-48AB-AEDC-DDA224BEF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30" y="5952544"/>
            <a:ext cx="833642" cy="292388"/>
          </a:xfrm>
          <a:prstGeom prst="rect">
            <a:avLst/>
          </a:prstGeom>
          <a:solidFill>
            <a:srgbClr val="EFF5FB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SMTP</a:t>
            </a:r>
          </a:p>
        </p:txBody>
      </p:sp>
      <p:sp>
        <p:nvSpPr>
          <p:cNvPr id="355" name="Rectangle 3">
            <a:extLst>
              <a:ext uri="{FF2B5EF4-FFF2-40B4-BE49-F238E27FC236}">
                <a16:creationId xmlns:a16="http://schemas.microsoft.com/office/drawing/2014/main" id="{526F69AF-2673-4A89-8D21-1636DB192A8D}"/>
              </a:ext>
            </a:extLst>
          </p:cNvPr>
          <p:cNvSpPr txBox="1">
            <a:spLocks noChangeArrowheads="1"/>
          </p:cNvSpPr>
          <p:nvPr/>
        </p:nvSpPr>
        <p:spPr>
          <a:xfrm>
            <a:off x="4470296" y="1078722"/>
            <a:ext cx="378629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ko-KR" altLang="en-US" sz="18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메일 서버</a:t>
            </a:r>
            <a:endParaRPr lang="en-US" altLang="ko-KR" sz="18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sp>
        <p:nvSpPr>
          <p:cNvPr id="357" name="Rectangle 3">
            <a:extLst>
              <a:ext uri="{FF2B5EF4-FFF2-40B4-BE49-F238E27FC236}">
                <a16:creationId xmlns:a16="http://schemas.microsoft.com/office/drawing/2014/main" id="{A96688EE-482C-49C9-B1ED-A9C1F6BA3703}"/>
              </a:ext>
            </a:extLst>
          </p:cNvPr>
          <p:cNvSpPr txBox="1">
            <a:spLocks noChangeArrowheads="1"/>
          </p:cNvSpPr>
          <p:nvPr/>
        </p:nvSpPr>
        <p:spPr>
          <a:xfrm>
            <a:off x="4473030" y="1558782"/>
            <a:ext cx="3783558" cy="28227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5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mailbox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에는 사용자에게 온 메일이 저장됨</a:t>
            </a:r>
          </a:p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5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message queue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보낼 메일 메시지를 담고 있음</a:t>
            </a:r>
          </a:p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5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SMTP protocol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메일 서버 간에 메일 메시지를 전송하기 위한 프로토콜</a:t>
            </a:r>
          </a:p>
        </p:txBody>
      </p:sp>
      <p:sp>
        <p:nvSpPr>
          <p:cNvPr id="358" name="Rectangle 3">
            <a:extLst>
              <a:ext uri="{FF2B5EF4-FFF2-40B4-BE49-F238E27FC236}">
                <a16:creationId xmlns:a16="http://schemas.microsoft.com/office/drawing/2014/main" id="{2C8D5CB2-7470-46B4-AFAF-E451380BCB3A}"/>
              </a:ext>
            </a:extLst>
          </p:cNvPr>
          <p:cNvSpPr txBox="1">
            <a:spLocks noChangeArrowheads="1"/>
          </p:cNvSpPr>
          <p:nvPr/>
        </p:nvSpPr>
        <p:spPr>
          <a:xfrm>
            <a:off x="4758328" y="3942184"/>
            <a:ext cx="3508446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client :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메일을 보내는 측 메일 서버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server :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메일을 수신하는 측 메일 서버</a:t>
            </a:r>
          </a:p>
        </p:txBody>
      </p:sp>
    </p:spTree>
    <p:extLst>
      <p:ext uri="{BB962C8B-B14F-4D97-AF65-F5344CB8AC3E}">
        <p14:creationId xmlns:p14="http://schemas.microsoft.com/office/powerpoint/2010/main" val="706171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전자메일 </a:t>
            </a:r>
            <a:r>
              <a:rPr lang="en-US" altLang="ko-KR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Microsoft GothicNeo" panose="020B0503020000020004" pitchFamily="34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SMTP [RFC 5321]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F63C45-E705-4439-96B6-A03443D2D8F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전자메일을 신뢰성 있게 전송하기 위해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채용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 25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번 포트 사용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직접 전송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송신 측 서버에서 수신 측 서버로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전송의 세 단계</a:t>
            </a:r>
          </a:p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89C957D-84F7-466C-A2D3-F01A378B6E77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470228"/>
            <a:ext cx="6503592" cy="109382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handshaking 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인사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 전송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닫기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4FAB724-DBE8-4EA2-8401-D3544BE33F0E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714918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명령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/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응답 상호작용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(HTTP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에서처럼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0020103-7C66-4AFF-AC82-566077F4303D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196727"/>
            <a:ext cx="650359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명령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ASCII text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응답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상태 코드와 문장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2968BD5-B97D-4376-9939-6D7A2600A01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164339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메시지는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7-bit ASCII</a:t>
            </a:r>
          </a:p>
        </p:txBody>
      </p:sp>
    </p:spTree>
    <p:extLst>
      <p:ext uri="{BB962C8B-B14F-4D97-AF65-F5344CB8AC3E}">
        <p14:creationId xmlns:p14="http://schemas.microsoft.com/office/powerpoint/2010/main" val="330382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시나리오 </a:t>
            </a:r>
            <a:r>
              <a:rPr lang="en-US" altLang="ko-KR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Microsoft GothicNeo" panose="020B0503020000020004" pitchFamily="34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Alice</a:t>
            </a:r>
            <a:r>
              <a:rPr lang="ko-KR" altLang="en-US" dirty="0">
                <a:solidFill>
                  <a:schemeClr val="bg1"/>
                </a:solidFill>
              </a:rPr>
              <a:t>가 </a:t>
            </a:r>
            <a:r>
              <a:rPr lang="en-US" altLang="ko-KR" dirty="0">
                <a:solidFill>
                  <a:schemeClr val="bg1"/>
                </a:solidFill>
              </a:rPr>
              <a:t>Bob</a:t>
            </a:r>
            <a:r>
              <a:rPr lang="ko-KR" altLang="en-US" dirty="0">
                <a:solidFill>
                  <a:schemeClr val="bg1"/>
                </a:solidFill>
              </a:rPr>
              <a:t>에게 메시지 전송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6</a:t>
            </a:fld>
            <a:endParaRPr lang="en-US" dirty="0"/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8EB84853-C211-4A75-97EB-4D45A4EFE749}"/>
              </a:ext>
            </a:extLst>
          </p:cNvPr>
          <p:cNvGrpSpPr/>
          <p:nvPr/>
        </p:nvGrpSpPr>
        <p:grpSpPr>
          <a:xfrm>
            <a:off x="2791229" y="1340768"/>
            <a:ext cx="5576575" cy="627288"/>
            <a:chOff x="2791229" y="1340768"/>
            <a:chExt cx="5576575" cy="627288"/>
          </a:xfrm>
        </p:grpSpPr>
        <p:sp>
          <p:nvSpPr>
            <p:cNvPr id="54" name="Oval 72">
              <a:extLst>
                <a:ext uri="{FF2B5EF4-FFF2-40B4-BE49-F238E27FC236}">
                  <a16:creationId xmlns:a16="http://schemas.microsoft.com/office/drawing/2014/main" id="{96D35208-6AF7-47FC-B0BC-D3C53D0EE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1229" y="1410619"/>
              <a:ext cx="265545" cy="26509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58" name="Rectangle 3">
              <a:extLst>
                <a:ext uri="{FF2B5EF4-FFF2-40B4-BE49-F238E27FC236}">
                  <a16:creationId xmlns:a16="http://schemas.microsoft.com/office/drawing/2014/main" id="{4497A318-154F-4895-9DF6-89C23B0CDDB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64044" y="1340768"/>
              <a:ext cx="5303760" cy="627288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Alice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가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UA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를 사용해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ea typeface="넥슨Lv1고딕" panose="00000500000000000000" pitchFamily="2" charset="-127"/>
                </a:rPr>
                <a:t>bob@someschool.edu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에게 </a:t>
              </a:r>
              <a:b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보내는 메시지 작성</a:t>
              </a: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052F3A7D-33F3-4B1C-8798-2694FA413F81}"/>
              </a:ext>
            </a:extLst>
          </p:cNvPr>
          <p:cNvGrpSpPr/>
          <p:nvPr/>
        </p:nvGrpSpPr>
        <p:grpSpPr>
          <a:xfrm>
            <a:off x="2791229" y="2240573"/>
            <a:ext cx="5576575" cy="627288"/>
            <a:chOff x="2791229" y="2129774"/>
            <a:chExt cx="5576575" cy="627288"/>
          </a:xfrm>
        </p:grpSpPr>
        <p:sp>
          <p:nvSpPr>
            <p:cNvPr id="81" name="Oval 72">
              <a:extLst>
                <a:ext uri="{FF2B5EF4-FFF2-40B4-BE49-F238E27FC236}">
                  <a16:creationId xmlns:a16="http://schemas.microsoft.com/office/drawing/2014/main" id="{EDD5CF35-F93B-4C81-A216-9C92B73E8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1229" y="2193484"/>
              <a:ext cx="265545" cy="26509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84" name="Rectangle 3">
              <a:extLst>
                <a:ext uri="{FF2B5EF4-FFF2-40B4-BE49-F238E27FC236}">
                  <a16:creationId xmlns:a16="http://schemas.microsoft.com/office/drawing/2014/main" id="{C5D60A5C-858B-4A5F-BE30-C39309ED005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64044" y="2129774"/>
              <a:ext cx="5303760" cy="627288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Alice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의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UA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는 메일 서버에 메시지를 보낸다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 </a:t>
              </a:r>
              <a:b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그리고 메시지는 메시지 큐에 넣어진다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B76E4901-A5E1-44AE-AA6E-C4C8293CA4EF}"/>
              </a:ext>
            </a:extLst>
          </p:cNvPr>
          <p:cNvGrpSpPr/>
          <p:nvPr/>
        </p:nvGrpSpPr>
        <p:grpSpPr>
          <a:xfrm>
            <a:off x="2791229" y="3140378"/>
            <a:ext cx="5576575" cy="350289"/>
            <a:chOff x="2791229" y="2918780"/>
            <a:chExt cx="5576575" cy="350289"/>
          </a:xfrm>
        </p:grpSpPr>
        <p:sp>
          <p:nvSpPr>
            <p:cNvPr id="55" name="Oval 72">
              <a:extLst>
                <a:ext uri="{FF2B5EF4-FFF2-40B4-BE49-F238E27FC236}">
                  <a16:creationId xmlns:a16="http://schemas.microsoft.com/office/drawing/2014/main" id="{98FB9CAF-7346-4452-B31C-CC231FBFE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1229" y="2976349"/>
              <a:ext cx="265545" cy="26509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85" name="Rectangle 3">
              <a:extLst>
                <a:ext uri="{FF2B5EF4-FFF2-40B4-BE49-F238E27FC236}">
                  <a16:creationId xmlns:a16="http://schemas.microsoft.com/office/drawing/2014/main" id="{03FDD2EA-A9EF-4B5E-B97B-13EFB364585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64044" y="2918780"/>
              <a:ext cx="5303760" cy="35028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클라이언트 측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SMTP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가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Bob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의 메일 서버와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TCP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연결을 연다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  <a:endPara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4845B86-D2EC-4029-B340-54D3ABE06500}"/>
              </a:ext>
            </a:extLst>
          </p:cNvPr>
          <p:cNvGrpSpPr/>
          <p:nvPr/>
        </p:nvGrpSpPr>
        <p:grpSpPr>
          <a:xfrm>
            <a:off x="2791229" y="3763184"/>
            <a:ext cx="5576575" cy="627288"/>
            <a:chOff x="2791229" y="3707786"/>
            <a:chExt cx="5576575" cy="627288"/>
          </a:xfrm>
        </p:grpSpPr>
        <p:sp>
          <p:nvSpPr>
            <p:cNvPr id="82" name="Oval 72">
              <a:extLst>
                <a:ext uri="{FF2B5EF4-FFF2-40B4-BE49-F238E27FC236}">
                  <a16:creationId xmlns:a16="http://schemas.microsoft.com/office/drawing/2014/main" id="{DD954DC6-8FA1-4D85-832D-D46A09653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1229" y="3759214"/>
              <a:ext cx="265545" cy="26509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86" name="Rectangle 3">
              <a:extLst>
                <a:ext uri="{FF2B5EF4-FFF2-40B4-BE49-F238E27FC236}">
                  <a16:creationId xmlns:a16="http://schemas.microsoft.com/office/drawing/2014/main" id="{A82581D5-CC59-46A2-BB2C-6AF7B858E61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64044" y="3707786"/>
              <a:ext cx="5303760" cy="627288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SMTP 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클라이언트는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Alice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의 메시지를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TCP 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연결을 통해 보낸다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A2F507DF-E6E4-4393-95DD-CA512A499EDB}"/>
              </a:ext>
            </a:extLst>
          </p:cNvPr>
          <p:cNvGrpSpPr/>
          <p:nvPr/>
        </p:nvGrpSpPr>
        <p:grpSpPr>
          <a:xfrm>
            <a:off x="2791229" y="4662989"/>
            <a:ext cx="5576575" cy="350289"/>
            <a:chOff x="2791229" y="4496792"/>
            <a:chExt cx="5576575" cy="350289"/>
          </a:xfrm>
        </p:grpSpPr>
        <p:sp>
          <p:nvSpPr>
            <p:cNvPr id="56" name="Oval 72">
              <a:extLst>
                <a:ext uri="{FF2B5EF4-FFF2-40B4-BE49-F238E27FC236}">
                  <a16:creationId xmlns:a16="http://schemas.microsoft.com/office/drawing/2014/main" id="{5D4DA9C3-D4B0-470E-8C94-E255B5E7B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1229" y="4542079"/>
              <a:ext cx="265545" cy="26509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87" name="Rectangle 3">
              <a:extLst>
                <a:ext uri="{FF2B5EF4-FFF2-40B4-BE49-F238E27FC236}">
                  <a16:creationId xmlns:a16="http://schemas.microsoft.com/office/drawing/2014/main" id="{72F094CB-9E75-4834-84E7-60920AFA6E8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64044" y="4496792"/>
              <a:ext cx="5303760" cy="35028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Bob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의 메일 서버는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Bob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의 우편함에 그 메시지를 넣는다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170C8054-7CAD-44E1-83AD-14663F2B9B1B}"/>
              </a:ext>
            </a:extLst>
          </p:cNvPr>
          <p:cNvGrpSpPr/>
          <p:nvPr/>
        </p:nvGrpSpPr>
        <p:grpSpPr>
          <a:xfrm>
            <a:off x="2791229" y="5285796"/>
            <a:ext cx="5576575" cy="350289"/>
            <a:chOff x="2791229" y="5285796"/>
            <a:chExt cx="5576575" cy="350289"/>
          </a:xfrm>
        </p:grpSpPr>
        <p:sp>
          <p:nvSpPr>
            <p:cNvPr id="83" name="Oval 72">
              <a:extLst>
                <a:ext uri="{FF2B5EF4-FFF2-40B4-BE49-F238E27FC236}">
                  <a16:creationId xmlns:a16="http://schemas.microsoft.com/office/drawing/2014/main" id="{14A8ACEB-66AB-4259-B33D-6FABE555C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1229" y="5324945"/>
              <a:ext cx="265545" cy="26509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6</a:t>
              </a:r>
            </a:p>
          </p:txBody>
        </p:sp>
        <p:sp>
          <p:nvSpPr>
            <p:cNvPr id="88" name="Rectangle 3">
              <a:extLst>
                <a:ext uri="{FF2B5EF4-FFF2-40B4-BE49-F238E27FC236}">
                  <a16:creationId xmlns:a16="http://schemas.microsoft.com/office/drawing/2014/main" id="{C79D2786-505F-4D4F-99D9-5605181EC1B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64044" y="5285796"/>
              <a:ext cx="5303760" cy="35028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Bob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은 그의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UA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로 메시지를 읽는다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  <a:endPara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27A47917-A92E-42BD-962E-CA7B47FBA4DD}"/>
              </a:ext>
            </a:extLst>
          </p:cNvPr>
          <p:cNvGrpSpPr/>
          <p:nvPr/>
        </p:nvGrpSpPr>
        <p:grpSpPr>
          <a:xfrm>
            <a:off x="658812" y="1059593"/>
            <a:ext cx="1984799" cy="5304994"/>
            <a:chOff x="620712" y="1037496"/>
            <a:chExt cx="1977707" cy="5609005"/>
          </a:xfrm>
        </p:grpSpPr>
        <p:sp>
          <p:nvSpPr>
            <p:cNvPr id="102" name="Google Shape;245;p4">
              <a:extLst>
                <a:ext uri="{FF2B5EF4-FFF2-40B4-BE49-F238E27FC236}">
                  <a16:creationId xmlns:a16="http://schemas.microsoft.com/office/drawing/2014/main" id="{7587A46E-7D8F-4BD5-BB28-68ACE38B7AAF}"/>
                </a:ext>
              </a:extLst>
            </p:cNvPr>
            <p:cNvSpPr/>
            <p:nvPr/>
          </p:nvSpPr>
          <p:spPr>
            <a:xfrm>
              <a:off x="620712" y="1037496"/>
              <a:ext cx="1977707" cy="5609005"/>
            </a:xfrm>
            <a:prstGeom prst="rect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6DF36461-21EE-4967-8CD8-1E55123F1E2A}"/>
                </a:ext>
              </a:extLst>
            </p:cNvPr>
            <p:cNvCxnSpPr>
              <a:cxnSpLocks/>
            </p:cNvCxnSpPr>
            <p:nvPr/>
          </p:nvCxnSpPr>
          <p:spPr>
            <a:xfrm>
              <a:off x="1355662" y="2037985"/>
              <a:ext cx="0" cy="576000"/>
            </a:xfrm>
            <a:prstGeom prst="straightConnector1">
              <a:avLst/>
            </a:prstGeom>
            <a:ln w="25400">
              <a:solidFill>
                <a:srgbClr val="105B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2689DEFB-02B3-4C7A-AA37-6EE8BC5AF19B}"/>
                </a:ext>
              </a:extLst>
            </p:cNvPr>
            <p:cNvCxnSpPr>
              <a:cxnSpLocks/>
            </p:cNvCxnSpPr>
            <p:nvPr/>
          </p:nvCxnSpPr>
          <p:spPr>
            <a:xfrm>
              <a:off x="1355662" y="3535299"/>
              <a:ext cx="0" cy="576000"/>
            </a:xfrm>
            <a:prstGeom prst="straightConnector1">
              <a:avLst/>
            </a:prstGeom>
            <a:ln w="25400">
              <a:solidFill>
                <a:srgbClr val="105B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4EE8CA23-BA81-42C2-8701-F1FA31854B76}"/>
                </a:ext>
              </a:extLst>
            </p:cNvPr>
            <p:cNvCxnSpPr>
              <a:cxnSpLocks/>
            </p:cNvCxnSpPr>
            <p:nvPr/>
          </p:nvCxnSpPr>
          <p:spPr>
            <a:xfrm>
              <a:off x="1355662" y="5037520"/>
              <a:ext cx="0" cy="576000"/>
            </a:xfrm>
            <a:prstGeom prst="straightConnector1">
              <a:avLst/>
            </a:prstGeom>
            <a:ln w="25400">
              <a:solidFill>
                <a:srgbClr val="105B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5DB292B-EE56-496C-B4BD-982DAFD7039E}"/>
                </a:ext>
              </a:extLst>
            </p:cNvPr>
            <p:cNvSpPr/>
            <p:nvPr/>
          </p:nvSpPr>
          <p:spPr>
            <a:xfrm>
              <a:off x="916515" y="1167450"/>
              <a:ext cx="878294" cy="8782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7AADD30-3A74-40C9-A9CA-BCE988B75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61742" y="1220403"/>
              <a:ext cx="285804" cy="709519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9BD8EF1-FA34-4DDC-BEFD-C4C19B0B2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542" y="1157368"/>
              <a:ext cx="754308" cy="863858"/>
            </a:xfrm>
            <a:prstGeom prst="rect">
              <a:avLst/>
            </a:prstGeom>
          </p:spPr>
        </p:pic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7B36D143-243F-4110-B99D-4FDCD8FBAC16}"/>
                </a:ext>
              </a:extLst>
            </p:cNvPr>
            <p:cNvSpPr/>
            <p:nvPr/>
          </p:nvSpPr>
          <p:spPr>
            <a:xfrm>
              <a:off x="916515" y="2668110"/>
              <a:ext cx="878294" cy="8782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3" name="그림 12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E82243BB-47B5-4387-968D-64E920E2F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2539" y="2702657"/>
              <a:ext cx="370080" cy="797494"/>
            </a:xfrm>
            <a:prstGeom prst="rect">
              <a:avLst/>
            </a:prstGeom>
          </p:spPr>
        </p:pic>
        <p:sp>
          <p:nvSpPr>
            <p:cNvPr id="15" name="Rectangle 97">
              <a:extLst>
                <a:ext uri="{FF2B5EF4-FFF2-40B4-BE49-F238E27FC236}">
                  <a16:creationId xmlns:a16="http://schemas.microsoft.com/office/drawing/2014/main" id="{95D01A78-4415-4AB2-8FC0-9CDDB960A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9472" y="2648358"/>
              <a:ext cx="670344" cy="9028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6" name="Text Box 98">
              <a:extLst>
                <a:ext uri="{FF2B5EF4-FFF2-40B4-BE49-F238E27FC236}">
                  <a16:creationId xmlns:a16="http://schemas.microsoft.com/office/drawing/2014/main" id="{B77FD24F-0855-438B-BF16-8E39FFCE8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6595" y="2651712"/>
              <a:ext cx="73609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mail</a:t>
              </a:r>
            </a:p>
            <a:p>
              <a:pPr algn="ctr"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server</a:t>
              </a:r>
            </a:p>
          </p:txBody>
        </p:sp>
        <p:sp>
          <p:nvSpPr>
            <p:cNvPr id="17" name="Rectangle 99">
              <a:extLst>
                <a:ext uri="{FF2B5EF4-FFF2-40B4-BE49-F238E27FC236}">
                  <a16:creationId xmlns:a16="http://schemas.microsoft.com/office/drawing/2014/main" id="{5799C617-D19C-4730-8501-6C6604077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904" y="3144539"/>
              <a:ext cx="591480" cy="170355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6FCABCEE-850A-4CDB-92E9-20219FD65A0E}"/>
                </a:ext>
              </a:extLst>
            </p:cNvPr>
            <p:cNvGrpSpPr/>
            <p:nvPr/>
          </p:nvGrpSpPr>
          <p:grpSpPr>
            <a:xfrm>
              <a:off x="1782510" y="3177191"/>
              <a:ext cx="444267" cy="105052"/>
              <a:chOff x="4084105" y="2562631"/>
              <a:chExt cx="536575" cy="117475"/>
            </a:xfrm>
          </p:grpSpPr>
          <p:sp>
            <p:nvSpPr>
              <p:cNvPr id="25" name="Line 100">
                <a:extLst>
                  <a:ext uri="{FF2B5EF4-FFF2-40B4-BE49-F238E27FC236}">
                    <a16:creationId xmlns:a16="http://schemas.microsoft.com/office/drawing/2014/main" id="{3FFCB7FF-2E5C-4846-878B-A0F39290A1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4105" y="2564218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6" name="Line 101">
                <a:extLst>
                  <a:ext uri="{FF2B5EF4-FFF2-40B4-BE49-F238E27FC236}">
                    <a16:creationId xmlns:a16="http://schemas.microsoft.com/office/drawing/2014/main" id="{1F102C68-03B1-46E5-B7A5-CD9443AA3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963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7" name="Line 102">
                <a:extLst>
                  <a:ext uri="{FF2B5EF4-FFF2-40B4-BE49-F238E27FC236}">
                    <a16:creationId xmlns:a16="http://schemas.microsoft.com/office/drawing/2014/main" id="{B2B59406-6368-4663-88B2-F2CE8E73F0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2392" y="2565806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8" name="Line 103">
                <a:extLst>
                  <a:ext uri="{FF2B5EF4-FFF2-40B4-BE49-F238E27FC236}">
                    <a16:creationId xmlns:a16="http://schemas.microsoft.com/office/drawing/2014/main" id="{7D6FE881-E7FA-41D6-B148-783D15B247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1821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9" name="Line 104">
                <a:extLst>
                  <a:ext uri="{FF2B5EF4-FFF2-40B4-BE49-F238E27FC236}">
                    <a16:creationId xmlns:a16="http://schemas.microsoft.com/office/drawing/2014/main" id="{AB60637D-7293-401C-B2F9-D86C238F1C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1250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0" name="Line 105">
                <a:extLst>
                  <a:ext uri="{FF2B5EF4-FFF2-40B4-BE49-F238E27FC236}">
                    <a16:creationId xmlns:a16="http://schemas.microsoft.com/office/drawing/2014/main" id="{769BE0D0-09F2-4C17-AF90-0C209E6B7F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0680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1" name="Line 106">
                <a:extLst>
                  <a:ext uri="{FF2B5EF4-FFF2-40B4-BE49-F238E27FC236}">
                    <a16:creationId xmlns:a16="http://schemas.microsoft.com/office/drawing/2014/main" id="{A3410681-E37D-4DD3-A511-C0E238509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3534" y="2564218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663DA3AF-C1CD-4371-B280-54166DF9B54A}"/>
                </a:ext>
              </a:extLst>
            </p:cNvPr>
            <p:cNvGrpSpPr/>
            <p:nvPr/>
          </p:nvGrpSpPr>
          <p:grpSpPr>
            <a:xfrm>
              <a:off x="1722705" y="3354029"/>
              <a:ext cx="563878" cy="132025"/>
              <a:chOff x="4032510" y="2784881"/>
              <a:chExt cx="681038" cy="147637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0" name="Rectangle 107">
                <a:extLst>
                  <a:ext uri="{FF2B5EF4-FFF2-40B4-BE49-F238E27FC236}">
                    <a16:creationId xmlns:a16="http://schemas.microsoft.com/office/drawing/2014/main" id="{AB332438-8854-47EF-AEEF-7633E71E8D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51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1" name="Rectangle 108">
                <a:extLst>
                  <a:ext uri="{FF2B5EF4-FFF2-40B4-BE49-F238E27FC236}">
                    <a16:creationId xmlns:a16="http://schemas.microsoft.com/office/drawing/2014/main" id="{FB573767-8A26-4594-A023-E733AEE3A4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37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2" name="Rectangle 109">
                <a:extLst>
                  <a:ext uri="{FF2B5EF4-FFF2-40B4-BE49-F238E27FC236}">
                    <a16:creationId xmlns:a16="http://schemas.microsoft.com/office/drawing/2014/main" id="{2A458BDF-4F99-4AF4-B2C6-E7F74E0AA5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223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Rectangle 110">
                <a:extLst>
                  <a:ext uri="{FF2B5EF4-FFF2-40B4-BE49-F238E27FC236}">
                    <a16:creationId xmlns:a16="http://schemas.microsoft.com/office/drawing/2014/main" id="{C0628F17-C26E-4788-AB8C-4AFCBA889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709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4" name="Rectangle 111">
                <a:extLst>
                  <a:ext uri="{FF2B5EF4-FFF2-40B4-BE49-F238E27FC236}">
                    <a16:creationId xmlns:a16="http://schemas.microsoft.com/office/drawing/2014/main" id="{506D5238-C6F5-473D-979F-C1DB776F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1948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96371D59-25E2-4A4C-A64C-16A75A68D580}"/>
                </a:ext>
              </a:extLst>
            </p:cNvPr>
            <p:cNvSpPr/>
            <p:nvPr/>
          </p:nvSpPr>
          <p:spPr>
            <a:xfrm>
              <a:off x="916515" y="4168770"/>
              <a:ext cx="878294" cy="8782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2" name="그림 31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4E17C3E6-E19E-47AC-A27B-BEBFB6B4B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2539" y="4208153"/>
              <a:ext cx="370080" cy="797494"/>
            </a:xfrm>
            <a:prstGeom prst="rect">
              <a:avLst/>
            </a:prstGeom>
          </p:spPr>
        </p:pic>
        <p:sp>
          <p:nvSpPr>
            <p:cNvPr id="34" name="Rectangle 97">
              <a:extLst>
                <a:ext uri="{FF2B5EF4-FFF2-40B4-BE49-F238E27FC236}">
                  <a16:creationId xmlns:a16="http://schemas.microsoft.com/office/drawing/2014/main" id="{EC59AB56-B994-448D-BF7A-2D8E804EB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9472" y="4153854"/>
              <a:ext cx="670344" cy="9028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5" name="Text Box 98">
              <a:extLst>
                <a:ext uri="{FF2B5EF4-FFF2-40B4-BE49-F238E27FC236}">
                  <a16:creationId xmlns:a16="http://schemas.microsoft.com/office/drawing/2014/main" id="{94F4BFE1-DF25-4CB2-9F39-64D2C66169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6595" y="4157208"/>
              <a:ext cx="73609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mail</a:t>
              </a:r>
            </a:p>
            <a:p>
              <a:pPr algn="ctr"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server</a:t>
              </a:r>
            </a:p>
          </p:txBody>
        </p:sp>
        <p:sp>
          <p:nvSpPr>
            <p:cNvPr id="36" name="Rectangle 99">
              <a:extLst>
                <a:ext uri="{FF2B5EF4-FFF2-40B4-BE49-F238E27FC236}">
                  <a16:creationId xmlns:a16="http://schemas.microsoft.com/office/drawing/2014/main" id="{17322F47-6612-4C65-AEA6-FE254CD09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904" y="4650035"/>
              <a:ext cx="591480" cy="170355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A7B817E-0184-4350-8F5A-2A4BC8A6AF9F}"/>
                </a:ext>
              </a:extLst>
            </p:cNvPr>
            <p:cNvGrpSpPr/>
            <p:nvPr/>
          </p:nvGrpSpPr>
          <p:grpSpPr>
            <a:xfrm>
              <a:off x="1782510" y="4682687"/>
              <a:ext cx="444267" cy="105052"/>
              <a:chOff x="4084105" y="2562631"/>
              <a:chExt cx="536575" cy="117475"/>
            </a:xfrm>
          </p:grpSpPr>
          <p:sp>
            <p:nvSpPr>
              <p:cNvPr id="44" name="Line 100">
                <a:extLst>
                  <a:ext uri="{FF2B5EF4-FFF2-40B4-BE49-F238E27FC236}">
                    <a16:creationId xmlns:a16="http://schemas.microsoft.com/office/drawing/2014/main" id="{5D62A572-4313-434D-ABFB-4E3D30852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4105" y="2564218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5" name="Line 101">
                <a:extLst>
                  <a:ext uri="{FF2B5EF4-FFF2-40B4-BE49-F238E27FC236}">
                    <a16:creationId xmlns:a16="http://schemas.microsoft.com/office/drawing/2014/main" id="{0AC7DF01-6D75-47AB-B1D1-23C0C73B2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2963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6" name="Line 102">
                <a:extLst>
                  <a:ext uri="{FF2B5EF4-FFF2-40B4-BE49-F238E27FC236}">
                    <a16:creationId xmlns:a16="http://schemas.microsoft.com/office/drawing/2014/main" id="{0894E35E-5D14-4490-AA40-9AC4107B90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2392" y="2565806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7" name="Line 103">
                <a:extLst>
                  <a:ext uri="{FF2B5EF4-FFF2-40B4-BE49-F238E27FC236}">
                    <a16:creationId xmlns:a16="http://schemas.microsoft.com/office/drawing/2014/main" id="{7F972AE3-0797-4788-9D9A-8DDA83AFFE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1821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8" name="Line 104">
                <a:extLst>
                  <a:ext uri="{FF2B5EF4-FFF2-40B4-BE49-F238E27FC236}">
                    <a16:creationId xmlns:a16="http://schemas.microsoft.com/office/drawing/2014/main" id="{B1CD84A1-8266-46DC-A4EE-CCFF3F25E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1250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9" name="Line 105">
                <a:extLst>
                  <a:ext uri="{FF2B5EF4-FFF2-40B4-BE49-F238E27FC236}">
                    <a16:creationId xmlns:a16="http://schemas.microsoft.com/office/drawing/2014/main" id="{F3EC86F2-E197-47B3-90AF-E4C27174B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0680" y="2562631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0" name="Line 106">
                <a:extLst>
                  <a:ext uri="{FF2B5EF4-FFF2-40B4-BE49-F238E27FC236}">
                    <a16:creationId xmlns:a16="http://schemas.microsoft.com/office/drawing/2014/main" id="{A3BEFE6A-B866-4135-B07B-5B3D6A4486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3534" y="2564218"/>
                <a:ext cx="0" cy="114300"/>
              </a:xfrm>
              <a:prstGeom prst="line">
                <a:avLst/>
              </a:prstGeom>
              <a:noFill/>
              <a:ln w="19050">
                <a:solidFill>
                  <a:srgbClr val="09898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B3B04939-CA5D-42D6-991F-6CAE5E3EF27A}"/>
                </a:ext>
              </a:extLst>
            </p:cNvPr>
            <p:cNvGrpSpPr/>
            <p:nvPr/>
          </p:nvGrpSpPr>
          <p:grpSpPr>
            <a:xfrm>
              <a:off x="1722705" y="4859525"/>
              <a:ext cx="563878" cy="132025"/>
              <a:chOff x="4032510" y="2784881"/>
              <a:chExt cx="681038" cy="147637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39" name="Rectangle 107">
                <a:extLst>
                  <a:ext uri="{FF2B5EF4-FFF2-40B4-BE49-F238E27FC236}">
                    <a16:creationId xmlns:a16="http://schemas.microsoft.com/office/drawing/2014/main" id="{C8A6C826-C2A4-4029-84EB-0E1C6F3A9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51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40" name="Rectangle 108">
                <a:extLst>
                  <a:ext uri="{FF2B5EF4-FFF2-40B4-BE49-F238E27FC236}">
                    <a16:creationId xmlns:a16="http://schemas.microsoft.com/office/drawing/2014/main" id="{F912710C-96BD-47BB-AAA2-C874DA1704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37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41" name="Rectangle 109">
                <a:extLst>
                  <a:ext uri="{FF2B5EF4-FFF2-40B4-BE49-F238E27FC236}">
                    <a16:creationId xmlns:a16="http://schemas.microsoft.com/office/drawing/2014/main" id="{6379A5EB-3C74-4E87-92F0-FF057C0110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223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42" name="Rectangle 110">
                <a:extLst>
                  <a:ext uri="{FF2B5EF4-FFF2-40B4-BE49-F238E27FC236}">
                    <a16:creationId xmlns:a16="http://schemas.microsoft.com/office/drawing/2014/main" id="{F32AD41C-EF13-442C-B168-2237CF0C6D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7090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43" name="Rectangle 111">
                <a:extLst>
                  <a:ext uri="{FF2B5EF4-FFF2-40B4-BE49-F238E27FC236}">
                    <a16:creationId xmlns:a16="http://schemas.microsoft.com/office/drawing/2014/main" id="{7FDD38FF-B59A-420D-9619-8AC56D3234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1948" y="2784881"/>
                <a:ext cx="101600" cy="147637"/>
              </a:xfrm>
              <a:prstGeom prst="rect">
                <a:avLst/>
              </a:prstGeom>
              <a:grpFill/>
              <a:ln>
                <a:solidFill>
                  <a:srgbClr val="05AAAC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ko-KR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264B86-0D3B-4211-816D-DDC399AC229D}"/>
                </a:ext>
              </a:extLst>
            </p:cNvPr>
            <p:cNvSpPr/>
            <p:nvPr/>
          </p:nvSpPr>
          <p:spPr>
            <a:xfrm>
              <a:off x="916515" y="5669431"/>
              <a:ext cx="878294" cy="8782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353FA28-91E0-4D40-B47A-77C557109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542" y="5659349"/>
              <a:ext cx="754308" cy="863858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99F75AF1-A596-45C6-A53A-D5DEA9CED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862281" y="5785512"/>
              <a:ext cx="284727" cy="747997"/>
            </a:xfrm>
            <a:prstGeom prst="rect">
              <a:avLst/>
            </a:prstGeom>
          </p:spPr>
        </p:pic>
        <p:sp>
          <p:nvSpPr>
            <p:cNvPr id="105" name="Oval 72">
              <a:extLst>
                <a:ext uri="{FF2B5EF4-FFF2-40B4-BE49-F238E27FC236}">
                  <a16:creationId xmlns:a16="http://schemas.microsoft.com/office/drawing/2014/main" id="{9E78BFF2-A886-43E3-BF9B-93B97C1CB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316" y="2790978"/>
              <a:ext cx="265545" cy="26509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06" name="Oval 72">
              <a:extLst>
                <a:ext uri="{FF2B5EF4-FFF2-40B4-BE49-F238E27FC236}">
                  <a16:creationId xmlns:a16="http://schemas.microsoft.com/office/drawing/2014/main" id="{DD94754B-341B-4AB2-947E-AF12D4B43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316" y="1225248"/>
              <a:ext cx="265545" cy="26509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07" name="Oval 72">
              <a:extLst>
                <a:ext uri="{FF2B5EF4-FFF2-40B4-BE49-F238E27FC236}">
                  <a16:creationId xmlns:a16="http://schemas.microsoft.com/office/drawing/2014/main" id="{2B499F0F-AA00-4776-ACF7-9BF690A2D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5738" y="2128253"/>
              <a:ext cx="265545" cy="26509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08" name="Oval 72">
              <a:extLst>
                <a:ext uri="{FF2B5EF4-FFF2-40B4-BE49-F238E27FC236}">
                  <a16:creationId xmlns:a16="http://schemas.microsoft.com/office/drawing/2014/main" id="{AE2B40A1-1CE7-443D-897F-B55835B19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5738" y="3667285"/>
              <a:ext cx="265545" cy="26509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109" name="Oval 72">
              <a:extLst>
                <a:ext uri="{FF2B5EF4-FFF2-40B4-BE49-F238E27FC236}">
                  <a16:creationId xmlns:a16="http://schemas.microsoft.com/office/drawing/2014/main" id="{41466584-CC8E-434A-91F8-DDEFAE3D0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316" y="4109754"/>
              <a:ext cx="265545" cy="26509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110" name="Oval 72">
              <a:extLst>
                <a:ext uri="{FF2B5EF4-FFF2-40B4-BE49-F238E27FC236}">
                  <a16:creationId xmlns:a16="http://schemas.microsoft.com/office/drawing/2014/main" id="{3897BA9B-F2B8-4523-AC6A-CB674CE1F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9063" y="5139574"/>
              <a:ext cx="265545" cy="26509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105B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ea typeface="+mj-ea"/>
                  <a:cs typeface="+mj-cs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4237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SMTP </a:t>
            </a:r>
            <a:r>
              <a:rPr lang="en-US" altLang="ko-KR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Microsoft GothicNeo" panose="020B0503020000020004" pitchFamily="34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기타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5F5811-C232-4EC9-B211-9D4DF4DDEDD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SMTP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는 지속 연결 사용</a:t>
            </a:r>
          </a:p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SMTP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는 메시지가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(header &amp; bod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모두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) 7-bit ASCII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로 구성될 것을 요구함</a:t>
            </a:r>
          </a:p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SMTP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서버는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cs typeface="+mj-cs"/>
              </a:rPr>
              <a:t>CRLF.CRLF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를 보고 메시지의 끝임을 판단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C72C1A8-F921-4D7E-B027-E9716A860EA2}"/>
              </a:ext>
            </a:extLst>
          </p:cNvPr>
          <p:cNvGrpSpPr/>
          <p:nvPr/>
        </p:nvGrpSpPr>
        <p:grpSpPr>
          <a:xfrm>
            <a:off x="666036" y="2676829"/>
            <a:ext cx="502804" cy="590566"/>
            <a:chOff x="5678490" y="2646569"/>
            <a:chExt cx="502804" cy="5905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C8042EFD-EFF1-4B05-B9C6-E0D4680E1A72}"/>
                </a:ext>
              </a:extLst>
            </p:cNvPr>
            <p:cNvSpPr/>
            <p:nvPr/>
          </p:nvSpPr>
          <p:spPr>
            <a:xfrm>
              <a:off x="5771092" y="3152714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15B53986-CF59-44CA-92ED-FA8BB6551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5650557" y="2674502"/>
              <a:ext cx="558670" cy="502804"/>
            </a:xfrm>
            <a:prstGeom prst="rect">
              <a:avLst/>
            </a:prstGeom>
            <a:effectLst/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E840EAF-023C-4193-BE54-50AF58B82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5741954" y="2826171"/>
              <a:ext cx="375876" cy="217726"/>
            </a:xfrm>
            <a:prstGeom prst="rect">
              <a:avLst/>
            </a:prstGeom>
          </p:spPr>
        </p:pic>
      </p:grpSp>
      <p:sp>
        <p:nvSpPr>
          <p:cNvPr id="12" name="Rectangle 5">
            <a:extLst>
              <a:ext uri="{FF2B5EF4-FFF2-40B4-BE49-F238E27FC236}">
                <a16:creationId xmlns:a16="http://schemas.microsoft.com/office/drawing/2014/main" id="{4085474E-FE31-4CB0-8AF6-7A22A9A68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2735208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HTTP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와의 비교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2" name="사각형: 잘린 한쪽 모서리 1">
            <a:extLst>
              <a:ext uri="{FF2B5EF4-FFF2-40B4-BE49-F238E27FC236}">
                <a16:creationId xmlns:a16="http://schemas.microsoft.com/office/drawing/2014/main" id="{F8AE3EE8-ED05-4126-9D4F-1696F3EDB825}"/>
              </a:ext>
            </a:extLst>
          </p:cNvPr>
          <p:cNvSpPr/>
          <p:nvPr/>
        </p:nvSpPr>
        <p:spPr>
          <a:xfrm>
            <a:off x="1343472" y="3375660"/>
            <a:ext cx="3066673" cy="2880320"/>
          </a:xfrm>
          <a:prstGeom prst="snip1Rect">
            <a:avLst>
              <a:gd name="adj" fmla="val 6879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7D35F0D1-1B80-4B06-A77C-4310EDB5506B}"/>
              </a:ext>
            </a:extLst>
          </p:cNvPr>
          <p:cNvSpPr/>
          <p:nvPr/>
        </p:nvSpPr>
        <p:spPr>
          <a:xfrm>
            <a:off x="4591874" y="3375660"/>
            <a:ext cx="3066673" cy="2880320"/>
          </a:xfrm>
          <a:prstGeom prst="snip1Rect">
            <a:avLst>
              <a:gd name="adj" fmla="val 582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F17E96-0BB9-4D34-85E4-BE11F240CA97}"/>
              </a:ext>
            </a:extLst>
          </p:cNvPr>
          <p:cNvSpPr txBox="1"/>
          <p:nvPr/>
        </p:nvSpPr>
        <p:spPr>
          <a:xfrm>
            <a:off x="1557229" y="3717570"/>
            <a:ext cx="25338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HTTP </a:t>
            </a:r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+mj-ea"/>
                <a:cs typeface="+mj-cs"/>
              </a:rPr>
              <a:t>:</a:t>
            </a:r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 pull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BE70F2-E570-487D-BF74-B5CBD0F12B1E}"/>
              </a:ext>
            </a:extLst>
          </p:cNvPr>
          <p:cNvSpPr txBox="1"/>
          <p:nvPr/>
        </p:nvSpPr>
        <p:spPr>
          <a:xfrm>
            <a:off x="4858277" y="3717570"/>
            <a:ext cx="25338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cs"/>
              </a:rPr>
              <a:t>SMTP</a:t>
            </a:r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+mj-ea"/>
                <a:cs typeface="+mj-cs"/>
              </a:rPr>
              <a:t> : </a:t>
            </a:r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cs"/>
              </a:rPr>
              <a:t>push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E5A27FD-3819-4CB2-9146-7AFC0E0C015C}"/>
              </a:ext>
            </a:extLst>
          </p:cNvPr>
          <p:cNvSpPr/>
          <p:nvPr/>
        </p:nvSpPr>
        <p:spPr>
          <a:xfrm>
            <a:off x="1490662" y="4311764"/>
            <a:ext cx="6019800" cy="615440"/>
          </a:xfrm>
          <a:prstGeom prst="rect">
            <a:avLst/>
          </a:prstGeom>
          <a:solidFill>
            <a:schemeClr val="bg1"/>
          </a:solidFill>
          <a:ln w="25400">
            <a:solidFill>
              <a:srgbClr val="4472C4"/>
            </a:solidFill>
          </a:ln>
          <a:effectLst>
            <a:outerShdw blurRad="63500" sx="102000" sy="102000" algn="ctr" rotWithShape="0">
              <a:srgbClr val="BDD7E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85782E-80F8-4401-87DB-92B37F8D1D24}"/>
              </a:ext>
            </a:extLst>
          </p:cNvPr>
          <p:cNvSpPr txBox="1"/>
          <p:nvPr/>
        </p:nvSpPr>
        <p:spPr>
          <a:xfrm>
            <a:off x="1485900" y="4483577"/>
            <a:ext cx="60293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ct val="50000"/>
              </a:spcAft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둘 다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 ASCII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명령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/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응답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상호작용과 상태 코드로 구성된다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ea typeface="넥슨Lv1고딕 Bold" panose="00000800000000000000" pitchFamily="2" charset="-127"/>
                <a:cs typeface="+mj-cs"/>
              </a:rPr>
              <a:t>.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9E2BC52-2E22-4D92-8D5E-10D0AF8F2095}"/>
              </a:ext>
            </a:extLst>
          </p:cNvPr>
          <p:cNvSpPr txBox="1">
            <a:spLocks noChangeArrowheads="1"/>
          </p:cNvSpPr>
          <p:nvPr/>
        </p:nvSpPr>
        <p:spPr>
          <a:xfrm>
            <a:off x="1526553" y="5189208"/>
            <a:ext cx="2738422" cy="6347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a typeface="넥슨Lv1고딕 Bold" panose="00000800000000000000" pitchFamily="2" charset="-127"/>
                <a:cs typeface="+mj-cs"/>
              </a:rPr>
              <a:t>각 객체는 자체적 응답 메시지에 </a:t>
            </a:r>
            <a:r>
              <a:rPr lang="ko-KR" altLang="en-US" sz="15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a typeface="넥슨Lv1고딕 Bold" panose="00000800000000000000" pitchFamily="2" charset="-127"/>
                <a:cs typeface="+mj-cs"/>
              </a:rPr>
              <a:t>캡슐화된다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a typeface="넥슨Lv1고딕 Bold" panose="00000800000000000000" pitchFamily="2" charset="-127"/>
                <a:cs typeface="+mj-cs"/>
              </a:rPr>
              <a:t>.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E3065463-3B98-47B1-97B9-5D5AAB6F672A}"/>
              </a:ext>
            </a:extLst>
          </p:cNvPr>
          <p:cNvSpPr txBox="1">
            <a:spLocks noChangeArrowheads="1"/>
          </p:cNvSpPr>
          <p:nvPr/>
        </p:nvSpPr>
        <p:spPr>
          <a:xfrm>
            <a:off x="4755999" y="5189208"/>
            <a:ext cx="2738422" cy="6347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여러 객체가 한 메시지에 </a:t>
            </a:r>
            <a:b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</a:b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담겨 보내어진다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0802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메일 메시지 포맷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072A0766-8D7A-4E46-8740-38B8F3E44909}"/>
              </a:ext>
            </a:extLst>
          </p:cNvPr>
          <p:cNvSpPr/>
          <p:nvPr/>
        </p:nvSpPr>
        <p:spPr>
          <a:xfrm>
            <a:off x="658813" y="1448850"/>
            <a:ext cx="1490027" cy="433741"/>
          </a:xfrm>
          <a:prstGeom prst="snip1Rect">
            <a:avLst>
              <a:gd name="adj" fmla="val 2430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52CAEE-6732-4EBE-B6E7-BA50713100A9}"/>
              </a:ext>
            </a:extLst>
          </p:cNvPr>
          <p:cNvSpPr txBox="1"/>
          <p:nvPr/>
        </p:nvSpPr>
        <p:spPr>
          <a:xfrm>
            <a:off x="788808" y="1496145"/>
            <a:ext cx="12300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SMTP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C1362A3-09A5-4E3A-A9DA-D3431E61FA56}"/>
              </a:ext>
            </a:extLst>
          </p:cNvPr>
          <p:cNvSpPr txBox="1">
            <a:spLocks noChangeArrowheads="1"/>
          </p:cNvSpPr>
          <p:nvPr/>
        </p:nvSpPr>
        <p:spPr>
          <a:xfrm>
            <a:off x="2207568" y="1482711"/>
            <a:ext cx="5303760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메일 메시지를 교환하기 위한 프로토콜</a:t>
            </a:r>
          </a:p>
        </p:txBody>
      </p:sp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2F085AF5-7E35-4F5C-B455-C20E038ABF24}"/>
              </a:ext>
            </a:extLst>
          </p:cNvPr>
          <p:cNvSpPr/>
          <p:nvPr/>
        </p:nvSpPr>
        <p:spPr>
          <a:xfrm>
            <a:off x="658813" y="2021765"/>
            <a:ext cx="1490027" cy="433741"/>
          </a:xfrm>
          <a:prstGeom prst="snip1Rect">
            <a:avLst>
              <a:gd name="adj" fmla="val 24302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594615-BBFE-4E97-AFA3-330FB6CB5D0A}"/>
              </a:ext>
            </a:extLst>
          </p:cNvPr>
          <p:cNvSpPr txBox="1"/>
          <p:nvPr/>
        </p:nvSpPr>
        <p:spPr>
          <a:xfrm>
            <a:off x="672092" y="2041658"/>
            <a:ext cx="1463468" cy="39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200"/>
              </a:spcBef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RFC 5322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6854688-DE9E-43AD-90CA-03F7526B38AA}"/>
              </a:ext>
            </a:extLst>
          </p:cNvPr>
          <p:cNvSpPr txBox="1">
            <a:spLocks noChangeArrowheads="1"/>
          </p:cNvSpPr>
          <p:nvPr/>
        </p:nvSpPr>
        <p:spPr>
          <a:xfrm>
            <a:off x="2207568" y="2051872"/>
            <a:ext cx="5303760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텍스트 메시지 포맷의 표준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B558A1D-715B-4A38-B53F-E4D41470F68B}"/>
              </a:ext>
            </a:extLst>
          </p:cNvPr>
          <p:cNvSpPr txBox="1">
            <a:spLocks noChangeArrowheads="1"/>
          </p:cNvSpPr>
          <p:nvPr/>
        </p:nvSpPr>
        <p:spPr>
          <a:xfrm>
            <a:off x="5175370" y="2738091"/>
            <a:ext cx="3151328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a typeface="넥슨Lv1고딕 Bold" panose="00000800000000000000" pitchFamily="2" charset="-127"/>
                <a:cs typeface="+mj-cs"/>
              </a:rPr>
              <a:t>헤더 라인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a typeface="넥슨Lv1고딕 Bold" panose="00000800000000000000" pitchFamily="2" charset="-127"/>
                <a:cs typeface="+mj-cs"/>
              </a:rPr>
              <a:t>예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1213392E-AFC6-4FB4-9181-4B6E0176F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5395" y="2996952"/>
            <a:ext cx="2832100" cy="431800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header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1BF07038-AA04-42CC-9D3D-0E43933C5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720" y="3933056"/>
            <a:ext cx="2832100" cy="17399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buClr>
                <a:srgbClr val="000000"/>
              </a:buClr>
              <a:buFont typeface="Arial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body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C5BA253F-F120-4086-806B-8ECFD818F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5520" y="2810099"/>
            <a:ext cx="3238500" cy="307340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sz="2400"/>
          </a:p>
        </p:txBody>
      </p:sp>
      <p:sp>
        <p:nvSpPr>
          <p:cNvPr id="20" name="Text Box 13">
            <a:extLst>
              <a:ext uri="{FF2B5EF4-FFF2-40B4-BE49-F238E27FC236}">
                <a16:creationId xmlns:a16="http://schemas.microsoft.com/office/drawing/2014/main" id="{4A753BB3-3ABD-43C0-B8A1-525BFE147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3341912"/>
            <a:ext cx="146137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a typeface="넥슨Lv1고딕 Bold" panose="00000800000000000000" pitchFamily="2" charset="-127"/>
                <a:cs typeface="+mj-cs"/>
              </a:rPr>
              <a:t>blank line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5040ED5-1B72-40FE-8AD1-BC2CAB4279E1}"/>
              </a:ext>
            </a:extLst>
          </p:cNvPr>
          <p:cNvCxnSpPr>
            <a:cxnSpLocks/>
          </p:cNvCxnSpPr>
          <p:nvPr/>
        </p:nvCxnSpPr>
        <p:spPr>
          <a:xfrm>
            <a:off x="695400" y="3701762"/>
            <a:ext cx="1424321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BB4055D4-D1EE-41E1-A3CE-339349B035C1}"/>
              </a:ext>
            </a:extLst>
          </p:cNvPr>
          <p:cNvSpPr/>
          <p:nvPr/>
        </p:nvSpPr>
        <p:spPr>
          <a:xfrm>
            <a:off x="2108646" y="3656795"/>
            <a:ext cx="82986" cy="82986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2D14A677-86B3-4C85-B952-615B4D8D2D0F}"/>
              </a:ext>
            </a:extLst>
          </p:cNvPr>
          <p:cNvSpPr txBox="1">
            <a:spLocks noChangeArrowheads="1"/>
          </p:cNvSpPr>
          <p:nvPr/>
        </p:nvSpPr>
        <p:spPr>
          <a:xfrm>
            <a:off x="5341031" y="3170567"/>
            <a:ext cx="1743929" cy="109382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To :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From :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Subject :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64634FE6-2472-4106-B135-2CDDDD9BA709}"/>
              </a:ext>
            </a:extLst>
          </p:cNvPr>
          <p:cNvSpPr/>
          <p:nvPr/>
        </p:nvSpPr>
        <p:spPr>
          <a:xfrm>
            <a:off x="4483974" y="5330236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F7103C2-2A70-4222-9DF6-DAEC53BD620D}"/>
              </a:ext>
            </a:extLst>
          </p:cNvPr>
          <p:cNvCxnSpPr>
            <a:cxnSpLocks/>
          </p:cNvCxnSpPr>
          <p:nvPr/>
        </p:nvCxnSpPr>
        <p:spPr>
          <a:xfrm>
            <a:off x="4514689" y="5368483"/>
            <a:ext cx="766363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08D09B2B-400C-46D8-A839-D5A24D19A249}"/>
              </a:ext>
            </a:extLst>
          </p:cNvPr>
          <p:cNvSpPr/>
          <p:nvPr/>
        </p:nvSpPr>
        <p:spPr>
          <a:xfrm>
            <a:off x="4513523" y="2965153"/>
            <a:ext cx="742950" cy="200025"/>
          </a:xfrm>
          <a:custGeom>
            <a:avLst/>
            <a:gdLst>
              <a:gd name="connsiteX0" fmla="*/ 0 w 742950"/>
              <a:gd name="connsiteY0" fmla="*/ 200025 h 200025"/>
              <a:gd name="connsiteX1" fmla="*/ 390525 w 742950"/>
              <a:gd name="connsiteY1" fmla="*/ 200025 h 200025"/>
              <a:gd name="connsiteX2" fmla="*/ 742950 w 742950"/>
              <a:gd name="connsiteY2" fmla="*/ 0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2950" h="200025">
                <a:moveTo>
                  <a:pt x="0" y="200025"/>
                </a:moveTo>
                <a:lnTo>
                  <a:pt x="390525" y="200025"/>
                </a:lnTo>
                <a:lnTo>
                  <a:pt x="742950" y="0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82E716E-7400-433F-A78D-45C3672AB7B2}"/>
              </a:ext>
            </a:extLst>
          </p:cNvPr>
          <p:cNvSpPr/>
          <p:nvPr/>
        </p:nvSpPr>
        <p:spPr>
          <a:xfrm>
            <a:off x="4483974" y="3127129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CB00BE6D-03C8-4DF2-99E6-B4D88391D9C5}"/>
              </a:ext>
            </a:extLst>
          </p:cNvPr>
          <p:cNvSpPr txBox="1">
            <a:spLocks noChangeArrowheads="1"/>
          </p:cNvSpPr>
          <p:nvPr/>
        </p:nvSpPr>
        <p:spPr>
          <a:xfrm>
            <a:off x="5175370" y="5177265"/>
            <a:ext cx="3151328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a typeface="넥슨Lv1고딕 Bold" panose="00000800000000000000" pitchFamily="2" charset="-127"/>
                <a:cs typeface="+mj-cs"/>
              </a:rPr>
              <a:t>몸체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a typeface="넥슨Lv1고딕 Bold" panose="00000800000000000000" pitchFamily="2" charset="-127"/>
                <a:cs typeface="+mj-cs"/>
              </a:rPr>
              <a:t>: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a typeface="넥슨Lv1고딕 Bold" panose="00000800000000000000" pitchFamily="2" charset="-127"/>
                <a:cs typeface="+mj-cs"/>
              </a:rPr>
              <a:t>보낼 “메시지”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97D7A22B-33B8-4A81-ACBD-67502E79F729}"/>
              </a:ext>
            </a:extLst>
          </p:cNvPr>
          <p:cNvSpPr txBox="1">
            <a:spLocks noChangeArrowheads="1"/>
          </p:cNvSpPr>
          <p:nvPr/>
        </p:nvSpPr>
        <p:spPr>
          <a:xfrm>
            <a:off x="5341031" y="5609741"/>
            <a:ext cx="1743929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ASCII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문자만</a:t>
            </a:r>
          </a:p>
        </p:txBody>
      </p:sp>
    </p:spTree>
    <p:extLst>
      <p:ext uri="{BB962C8B-B14F-4D97-AF65-F5344CB8AC3E}">
        <p14:creationId xmlns:p14="http://schemas.microsoft.com/office/powerpoint/2010/main" val="2357393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23E026FE-2C90-4751-8E00-A9FD6D848E64}"/>
              </a:ext>
            </a:extLst>
          </p:cNvPr>
          <p:cNvCxnSpPr>
            <a:cxnSpLocks/>
          </p:cNvCxnSpPr>
          <p:nvPr/>
        </p:nvCxnSpPr>
        <p:spPr>
          <a:xfrm>
            <a:off x="3575720" y="1988840"/>
            <a:ext cx="1021034" cy="0"/>
          </a:xfrm>
          <a:prstGeom prst="straightConnector1">
            <a:avLst/>
          </a:prstGeom>
          <a:ln w="25400">
            <a:solidFill>
              <a:srgbClr val="105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4B82DB6-06AB-42F5-9CAB-D9B47739CF83}"/>
              </a:ext>
            </a:extLst>
          </p:cNvPr>
          <p:cNvCxnSpPr>
            <a:cxnSpLocks/>
          </p:cNvCxnSpPr>
          <p:nvPr/>
        </p:nvCxnSpPr>
        <p:spPr>
          <a:xfrm>
            <a:off x="5422900" y="1988840"/>
            <a:ext cx="1537196" cy="0"/>
          </a:xfrm>
          <a:prstGeom prst="straightConnector1">
            <a:avLst/>
          </a:prstGeom>
          <a:ln w="25400">
            <a:solidFill>
              <a:srgbClr val="105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메일 접속 프로토콜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9</a:t>
            </a:fld>
            <a:endParaRPr 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CA9E103-1399-4734-8F1B-3D8680684DBB}"/>
              </a:ext>
            </a:extLst>
          </p:cNvPr>
          <p:cNvCxnSpPr>
            <a:cxnSpLocks/>
          </p:cNvCxnSpPr>
          <p:nvPr/>
        </p:nvCxnSpPr>
        <p:spPr>
          <a:xfrm>
            <a:off x="1599754" y="1988840"/>
            <a:ext cx="1069830" cy="0"/>
          </a:xfrm>
          <a:prstGeom prst="straightConnector1">
            <a:avLst/>
          </a:prstGeom>
          <a:ln w="25400">
            <a:solidFill>
              <a:srgbClr val="105B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타원 64">
            <a:extLst>
              <a:ext uri="{FF2B5EF4-FFF2-40B4-BE49-F238E27FC236}">
                <a16:creationId xmlns:a16="http://schemas.microsoft.com/office/drawing/2014/main" id="{D8D06153-63E5-47FC-87A1-2651ECFFB749}"/>
              </a:ext>
            </a:extLst>
          </p:cNvPr>
          <p:cNvSpPr/>
          <p:nvPr/>
        </p:nvSpPr>
        <p:spPr>
          <a:xfrm>
            <a:off x="658813" y="1575505"/>
            <a:ext cx="878294" cy="878294"/>
          </a:xfrm>
          <a:prstGeom prst="ellipse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C3A6BE5D-9F54-4A9F-AA31-B60C960E1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6946" y="1799908"/>
            <a:ext cx="285804" cy="709519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4B633C48-EDBF-495A-93FA-A0EB8058A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40" y="1565423"/>
            <a:ext cx="754308" cy="863858"/>
          </a:xfrm>
          <a:prstGeom prst="rect">
            <a:avLst/>
          </a:prstGeom>
        </p:spPr>
      </p:pic>
      <p:grpSp>
        <p:nvGrpSpPr>
          <p:cNvPr id="70" name="그룹 69">
            <a:extLst>
              <a:ext uri="{FF2B5EF4-FFF2-40B4-BE49-F238E27FC236}">
                <a16:creationId xmlns:a16="http://schemas.microsoft.com/office/drawing/2014/main" id="{EC7F25A7-E7B2-4D8D-A37F-C5B544DB9E77}"/>
              </a:ext>
            </a:extLst>
          </p:cNvPr>
          <p:cNvGrpSpPr/>
          <p:nvPr/>
        </p:nvGrpSpPr>
        <p:grpSpPr>
          <a:xfrm>
            <a:off x="2700236" y="1585175"/>
            <a:ext cx="878294" cy="878294"/>
            <a:chOff x="2641855" y="1375240"/>
            <a:chExt cx="878294" cy="878294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96BF603-15F3-40B6-B543-39A9FE544D2F}"/>
                </a:ext>
              </a:extLst>
            </p:cNvPr>
            <p:cNvSpPr/>
            <p:nvPr/>
          </p:nvSpPr>
          <p:spPr>
            <a:xfrm>
              <a:off x="2641855" y="1375240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6" name="그림 45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0B2760EE-A40E-4337-9D86-E5D1DC8E7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7879" y="1409787"/>
              <a:ext cx="370080" cy="797494"/>
            </a:xfrm>
            <a:prstGeom prst="rect">
              <a:avLst/>
            </a:prstGeom>
          </p:spPr>
        </p:pic>
      </p:grpSp>
      <p:sp>
        <p:nvSpPr>
          <p:cNvPr id="48" name="Rectangle 97">
            <a:extLst>
              <a:ext uri="{FF2B5EF4-FFF2-40B4-BE49-F238E27FC236}">
                <a16:creationId xmlns:a16="http://schemas.microsoft.com/office/drawing/2014/main" id="{971341FD-EB55-4437-BC80-4CA1B94A4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332" y="2228491"/>
            <a:ext cx="726281" cy="715682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9" name="Text Box 98">
            <a:extLst>
              <a:ext uri="{FF2B5EF4-FFF2-40B4-BE49-F238E27FC236}">
                <a16:creationId xmlns:a16="http://schemas.microsoft.com/office/drawing/2014/main" id="{72BAAE88-865D-4B0C-A743-FAC6E7209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8502" y="3001526"/>
            <a:ext cx="9143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ko-KR" altLang="en-US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송신자의 </a:t>
            </a:r>
            <a:endParaRPr lang="en-US" altLang="ko-KR" sz="12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+mn-ea"/>
              <a:cs typeface="+mj-cs"/>
            </a:endParaRPr>
          </a:p>
          <a:p>
            <a:pPr algn="ctr">
              <a:spcBef>
                <a:spcPct val="0"/>
              </a:spcBef>
            </a:pPr>
            <a:r>
              <a:rPr lang="ko-KR" altLang="en-US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메일 서버</a:t>
            </a:r>
          </a:p>
        </p:txBody>
      </p:sp>
      <p:sp>
        <p:nvSpPr>
          <p:cNvPr id="50" name="Rectangle 99">
            <a:extLst>
              <a:ext uri="{FF2B5EF4-FFF2-40B4-BE49-F238E27FC236}">
                <a16:creationId xmlns:a16="http://schemas.microsoft.com/office/drawing/2014/main" id="{6624E63E-0A6F-4754-B740-45CEC9DA6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9917" y="2411863"/>
            <a:ext cx="591480" cy="170355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22504FE-EBA9-4BC1-80EB-D43A21F9C5C5}"/>
              </a:ext>
            </a:extLst>
          </p:cNvPr>
          <p:cNvGrpSpPr/>
          <p:nvPr/>
        </p:nvGrpSpPr>
        <p:grpSpPr>
          <a:xfrm>
            <a:off x="2713523" y="2444515"/>
            <a:ext cx="444267" cy="105052"/>
            <a:chOff x="4084105" y="2562631"/>
            <a:chExt cx="536575" cy="117475"/>
          </a:xfrm>
        </p:grpSpPr>
        <p:sp>
          <p:nvSpPr>
            <p:cNvPr id="58" name="Line 100">
              <a:extLst>
                <a:ext uri="{FF2B5EF4-FFF2-40B4-BE49-F238E27FC236}">
                  <a16:creationId xmlns:a16="http://schemas.microsoft.com/office/drawing/2014/main" id="{689894D3-8965-4026-A50A-99FDB41DD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4105" y="2564218"/>
              <a:ext cx="0" cy="114300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9" name="Line 101">
              <a:extLst>
                <a:ext uri="{FF2B5EF4-FFF2-40B4-BE49-F238E27FC236}">
                  <a16:creationId xmlns:a16="http://schemas.microsoft.com/office/drawing/2014/main" id="{4AB75685-606E-4FFE-985A-4DD847F5A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963" y="2562631"/>
              <a:ext cx="0" cy="114300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0" name="Line 102">
              <a:extLst>
                <a:ext uri="{FF2B5EF4-FFF2-40B4-BE49-F238E27FC236}">
                  <a16:creationId xmlns:a16="http://schemas.microsoft.com/office/drawing/2014/main" id="{932581DA-1AA8-48A4-9A61-B32067B7C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2392" y="2565806"/>
              <a:ext cx="0" cy="114300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1" name="Line 103">
              <a:extLst>
                <a:ext uri="{FF2B5EF4-FFF2-40B4-BE49-F238E27FC236}">
                  <a16:creationId xmlns:a16="http://schemas.microsoft.com/office/drawing/2014/main" id="{E5E094CA-C424-4ED8-A1C8-0FCBEB878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1821" y="2562631"/>
              <a:ext cx="0" cy="114300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2" name="Line 104">
              <a:extLst>
                <a:ext uri="{FF2B5EF4-FFF2-40B4-BE49-F238E27FC236}">
                  <a16:creationId xmlns:a16="http://schemas.microsoft.com/office/drawing/2014/main" id="{CC071B3E-DA33-49DD-A3C1-D3D7B2960E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1250" y="2562631"/>
              <a:ext cx="0" cy="114300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3" name="Line 105">
              <a:extLst>
                <a:ext uri="{FF2B5EF4-FFF2-40B4-BE49-F238E27FC236}">
                  <a16:creationId xmlns:a16="http://schemas.microsoft.com/office/drawing/2014/main" id="{DEFB7D63-63D1-49A0-9A4D-CCB7050E7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0680" y="2562631"/>
              <a:ext cx="0" cy="114300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4" name="Line 106">
              <a:extLst>
                <a:ext uri="{FF2B5EF4-FFF2-40B4-BE49-F238E27FC236}">
                  <a16:creationId xmlns:a16="http://schemas.microsoft.com/office/drawing/2014/main" id="{71DCFE1D-4A74-4614-B74D-AC419EFCF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534" y="2564218"/>
              <a:ext cx="0" cy="114300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ABA9D5D-7D8D-4A1B-B396-071D3EB66033}"/>
              </a:ext>
            </a:extLst>
          </p:cNvPr>
          <p:cNvGrpSpPr/>
          <p:nvPr/>
        </p:nvGrpSpPr>
        <p:grpSpPr>
          <a:xfrm>
            <a:off x="2653718" y="2660539"/>
            <a:ext cx="563878" cy="132025"/>
            <a:chOff x="4032510" y="2784881"/>
            <a:chExt cx="681038" cy="147637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53" name="Rectangle 107">
              <a:extLst>
                <a:ext uri="{FF2B5EF4-FFF2-40B4-BE49-F238E27FC236}">
                  <a16:creationId xmlns:a16="http://schemas.microsoft.com/office/drawing/2014/main" id="{2441372B-4732-4C83-BDE0-7157C6247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510" y="2784881"/>
              <a:ext cx="101600" cy="147637"/>
            </a:xfrm>
            <a:prstGeom prst="rect">
              <a:avLst/>
            </a:prstGeom>
            <a:grpFill/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4" name="Rectangle 108">
              <a:extLst>
                <a:ext uri="{FF2B5EF4-FFF2-40B4-BE49-F238E27FC236}">
                  <a16:creationId xmlns:a16="http://schemas.microsoft.com/office/drawing/2014/main" id="{31370365-11E4-4CA8-9307-6B49CA20F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370" y="2784881"/>
              <a:ext cx="101600" cy="147637"/>
            </a:xfrm>
            <a:prstGeom prst="rect">
              <a:avLst/>
            </a:prstGeom>
            <a:grpFill/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5" name="Rectangle 109">
              <a:extLst>
                <a:ext uri="{FF2B5EF4-FFF2-40B4-BE49-F238E27FC236}">
                  <a16:creationId xmlns:a16="http://schemas.microsoft.com/office/drawing/2014/main" id="{5D33E7AB-70C7-419C-B82D-025FD183A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230" y="2784881"/>
              <a:ext cx="101600" cy="147637"/>
            </a:xfrm>
            <a:prstGeom prst="rect">
              <a:avLst/>
            </a:prstGeom>
            <a:grpFill/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6" name="Rectangle 110">
              <a:extLst>
                <a:ext uri="{FF2B5EF4-FFF2-40B4-BE49-F238E27FC236}">
                  <a16:creationId xmlns:a16="http://schemas.microsoft.com/office/drawing/2014/main" id="{3FD956AB-BDAE-4DB7-9E5A-7989722D2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090" y="2784881"/>
              <a:ext cx="101600" cy="147637"/>
            </a:xfrm>
            <a:prstGeom prst="rect">
              <a:avLst/>
            </a:prstGeom>
            <a:grpFill/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7" name="Rectangle 111">
              <a:extLst>
                <a:ext uri="{FF2B5EF4-FFF2-40B4-BE49-F238E27FC236}">
                  <a16:creationId xmlns:a16="http://schemas.microsoft.com/office/drawing/2014/main" id="{790581A1-A034-4EC6-9AF0-9051D00A1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948" y="2784881"/>
              <a:ext cx="101600" cy="147637"/>
            </a:xfrm>
            <a:prstGeom prst="rect">
              <a:avLst/>
            </a:prstGeom>
            <a:grpFill/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1EA9FCD2-0CED-4AA9-B425-19C9E79C5598}"/>
              </a:ext>
            </a:extLst>
          </p:cNvPr>
          <p:cNvGrpSpPr/>
          <p:nvPr/>
        </p:nvGrpSpPr>
        <p:grpSpPr>
          <a:xfrm>
            <a:off x="4668416" y="1580339"/>
            <a:ext cx="878294" cy="878294"/>
            <a:chOff x="4690025" y="1370404"/>
            <a:chExt cx="878294" cy="878294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37152A69-32E1-470D-9142-9C586A2B9B30}"/>
                </a:ext>
              </a:extLst>
            </p:cNvPr>
            <p:cNvSpPr/>
            <p:nvPr/>
          </p:nvSpPr>
          <p:spPr>
            <a:xfrm>
              <a:off x="4690025" y="1370404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6" name="그림 25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58F57E96-CD21-47DF-AC36-3A90324A5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6049" y="1409787"/>
              <a:ext cx="370080" cy="797494"/>
            </a:xfrm>
            <a:prstGeom prst="rect">
              <a:avLst/>
            </a:prstGeom>
          </p:spPr>
        </p:pic>
      </p:grpSp>
      <p:sp>
        <p:nvSpPr>
          <p:cNvPr id="28" name="Rectangle 97">
            <a:extLst>
              <a:ext uri="{FF2B5EF4-FFF2-40B4-BE49-F238E27FC236}">
                <a16:creationId xmlns:a16="http://schemas.microsoft.com/office/drawing/2014/main" id="{F0C1F885-8A37-48B2-A30E-BD4E01DC8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289" y="2228491"/>
            <a:ext cx="726281" cy="715682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9" name="Text Box 98">
            <a:extLst>
              <a:ext uri="{FF2B5EF4-FFF2-40B4-BE49-F238E27FC236}">
                <a16:creationId xmlns:a16="http://schemas.microsoft.com/office/drawing/2014/main" id="{21014FA4-0315-45B2-ACBB-A128A26ED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10" y="3001527"/>
            <a:ext cx="9786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ko-KR" altLang="en-US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수신자의 </a:t>
            </a:r>
            <a:endParaRPr lang="en-US" altLang="ko-KR" sz="12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+mn-ea"/>
              <a:cs typeface="+mj-cs"/>
            </a:endParaRPr>
          </a:p>
          <a:p>
            <a:pPr algn="ctr">
              <a:spcBef>
                <a:spcPct val="0"/>
              </a:spcBef>
            </a:pPr>
            <a:r>
              <a:rPr lang="ko-KR" altLang="en-US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메일 서버</a:t>
            </a:r>
          </a:p>
        </p:txBody>
      </p:sp>
      <p:sp>
        <p:nvSpPr>
          <p:cNvPr id="30" name="Rectangle 99">
            <a:extLst>
              <a:ext uri="{FF2B5EF4-FFF2-40B4-BE49-F238E27FC236}">
                <a16:creationId xmlns:a16="http://schemas.microsoft.com/office/drawing/2014/main" id="{6E92FAF2-F5BC-474A-8518-A5A199EAA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0874" y="2411863"/>
            <a:ext cx="591480" cy="170355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7AC1A42-376A-4EEB-8CC4-A605F5CDD36F}"/>
              </a:ext>
            </a:extLst>
          </p:cNvPr>
          <p:cNvGrpSpPr/>
          <p:nvPr/>
        </p:nvGrpSpPr>
        <p:grpSpPr>
          <a:xfrm>
            <a:off x="4664480" y="2444515"/>
            <a:ext cx="444267" cy="105052"/>
            <a:chOff x="4084105" y="2562631"/>
            <a:chExt cx="536575" cy="117475"/>
          </a:xfrm>
        </p:grpSpPr>
        <p:sp>
          <p:nvSpPr>
            <p:cNvPr id="38" name="Line 100">
              <a:extLst>
                <a:ext uri="{FF2B5EF4-FFF2-40B4-BE49-F238E27FC236}">
                  <a16:creationId xmlns:a16="http://schemas.microsoft.com/office/drawing/2014/main" id="{A5387559-F50D-48FC-9B60-793C97FF2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4105" y="2564218"/>
              <a:ext cx="0" cy="114300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" name="Line 101">
              <a:extLst>
                <a:ext uri="{FF2B5EF4-FFF2-40B4-BE49-F238E27FC236}">
                  <a16:creationId xmlns:a16="http://schemas.microsoft.com/office/drawing/2014/main" id="{BBAA32A5-178D-4663-A581-31BA19E1E9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963" y="2562631"/>
              <a:ext cx="0" cy="114300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0" name="Line 102">
              <a:extLst>
                <a:ext uri="{FF2B5EF4-FFF2-40B4-BE49-F238E27FC236}">
                  <a16:creationId xmlns:a16="http://schemas.microsoft.com/office/drawing/2014/main" id="{2AED038B-E06A-44AC-A6B2-D8C9499A8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2392" y="2565806"/>
              <a:ext cx="0" cy="114300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1" name="Line 103">
              <a:extLst>
                <a:ext uri="{FF2B5EF4-FFF2-40B4-BE49-F238E27FC236}">
                  <a16:creationId xmlns:a16="http://schemas.microsoft.com/office/drawing/2014/main" id="{229A1713-5F56-493F-9DF8-A9BD3D474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1821" y="2562631"/>
              <a:ext cx="0" cy="114300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2" name="Line 104">
              <a:extLst>
                <a:ext uri="{FF2B5EF4-FFF2-40B4-BE49-F238E27FC236}">
                  <a16:creationId xmlns:a16="http://schemas.microsoft.com/office/drawing/2014/main" id="{81ABD722-95FD-4AD0-84F2-2EF771BD5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1250" y="2562631"/>
              <a:ext cx="0" cy="114300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3" name="Line 105">
              <a:extLst>
                <a:ext uri="{FF2B5EF4-FFF2-40B4-BE49-F238E27FC236}">
                  <a16:creationId xmlns:a16="http://schemas.microsoft.com/office/drawing/2014/main" id="{742AF5F8-D9A8-4B67-B9E3-B6EE90729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0680" y="2562631"/>
              <a:ext cx="0" cy="114300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4" name="Line 106">
              <a:extLst>
                <a:ext uri="{FF2B5EF4-FFF2-40B4-BE49-F238E27FC236}">
                  <a16:creationId xmlns:a16="http://schemas.microsoft.com/office/drawing/2014/main" id="{8D83689E-26F7-48FB-81C6-49316E496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534" y="2564218"/>
              <a:ext cx="0" cy="114300"/>
            </a:xfrm>
            <a:prstGeom prst="line">
              <a:avLst/>
            </a:prstGeom>
            <a:noFill/>
            <a:ln w="19050">
              <a:solidFill>
                <a:srgbClr val="09898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6687200-3140-4689-9B15-72A7191CE227}"/>
              </a:ext>
            </a:extLst>
          </p:cNvPr>
          <p:cNvGrpSpPr/>
          <p:nvPr/>
        </p:nvGrpSpPr>
        <p:grpSpPr>
          <a:xfrm>
            <a:off x="4604675" y="2660539"/>
            <a:ext cx="563878" cy="132025"/>
            <a:chOff x="4032510" y="2784881"/>
            <a:chExt cx="681038" cy="147637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33" name="Rectangle 107">
              <a:extLst>
                <a:ext uri="{FF2B5EF4-FFF2-40B4-BE49-F238E27FC236}">
                  <a16:creationId xmlns:a16="http://schemas.microsoft.com/office/drawing/2014/main" id="{9FAD701A-38AC-461F-8615-67BBE9E96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510" y="2784881"/>
              <a:ext cx="101600" cy="147637"/>
            </a:xfrm>
            <a:prstGeom prst="rect">
              <a:avLst/>
            </a:prstGeom>
            <a:grpFill/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4" name="Rectangle 108">
              <a:extLst>
                <a:ext uri="{FF2B5EF4-FFF2-40B4-BE49-F238E27FC236}">
                  <a16:creationId xmlns:a16="http://schemas.microsoft.com/office/drawing/2014/main" id="{09DD0F14-77A7-461A-8771-0E485798F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370" y="2784881"/>
              <a:ext cx="101600" cy="147637"/>
            </a:xfrm>
            <a:prstGeom prst="rect">
              <a:avLst/>
            </a:prstGeom>
            <a:grpFill/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5" name="Rectangle 109">
              <a:extLst>
                <a:ext uri="{FF2B5EF4-FFF2-40B4-BE49-F238E27FC236}">
                  <a16:creationId xmlns:a16="http://schemas.microsoft.com/office/drawing/2014/main" id="{82C527BB-F6B1-46FE-A8DC-8C38207A8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230" y="2784881"/>
              <a:ext cx="101600" cy="147637"/>
            </a:xfrm>
            <a:prstGeom prst="rect">
              <a:avLst/>
            </a:prstGeom>
            <a:grpFill/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6" name="Rectangle 110">
              <a:extLst>
                <a:ext uri="{FF2B5EF4-FFF2-40B4-BE49-F238E27FC236}">
                  <a16:creationId xmlns:a16="http://schemas.microsoft.com/office/drawing/2014/main" id="{27C417A6-9605-4948-B7A9-8FC03F200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090" y="2784881"/>
              <a:ext cx="101600" cy="147637"/>
            </a:xfrm>
            <a:prstGeom prst="rect">
              <a:avLst/>
            </a:prstGeom>
            <a:grpFill/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7" name="Rectangle 111">
              <a:extLst>
                <a:ext uri="{FF2B5EF4-FFF2-40B4-BE49-F238E27FC236}">
                  <a16:creationId xmlns:a16="http://schemas.microsoft.com/office/drawing/2014/main" id="{E3914486-0D8F-44FA-B483-C81A61B96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948" y="2784881"/>
              <a:ext cx="101600" cy="147637"/>
            </a:xfrm>
            <a:prstGeom prst="rect">
              <a:avLst/>
            </a:prstGeom>
            <a:grpFill/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22" name="타원 21">
            <a:extLst>
              <a:ext uri="{FF2B5EF4-FFF2-40B4-BE49-F238E27FC236}">
                <a16:creationId xmlns:a16="http://schemas.microsoft.com/office/drawing/2014/main" id="{B69993B7-7AC5-4BB6-9FB7-08A5E51C459F}"/>
              </a:ext>
            </a:extLst>
          </p:cNvPr>
          <p:cNvSpPr/>
          <p:nvPr/>
        </p:nvSpPr>
        <p:spPr>
          <a:xfrm>
            <a:off x="7003085" y="1575505"/>
            <a:ext cx="878294" cy="878294"/>
          </a:xfrm>
          <a:prstGeom prst="ellipse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DEC1370-E0DA-4CEB-9E85-09CA77A42D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112" y="1565423"/>
            <a:ext cx="754308" cy="86385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367BC43-DBB7-4CFD-8AB3-D5AECA0675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59951" y="1863036"/>
            <a:ext cx="284727" cy="747997"/>
          </a:xfrm>
          <a:prstGeom prst="rect">
            <a:avLst/>
          </a:prstGeom>
        </p:spPr>
      </p:pic>
      <p:sp>
        <p:nvSpPr>
          <p:cNvPr id="74" name="Text Box 98">
            <a:extLst>
              <a:ext uri="{FF2B5EF4-FFF2-40B4-BE49-F238E27FC236}">
                <a16:creationId xmlns:a16="http://schemas.microsoft.com/office/drawing/2014/main" id="{755C33A8-B27B-483C-9750-3C96F87C6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000" y="2531447"/>
            <a:ext cx="6767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user</a:t>
            </a:r>
          </a:p>
          <a:p>
            <a:pPr algn="ctr"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agent</a:t>
            </a:r>
          </a:p>
        </p:txBody>
      </p:sp>
      <p:sp>
        <p:nvSpPr>
          <p:cNvPr id="75" name="Text Box 98">
            <a:extLst>
              <a:ext uri="{FF2B5EF4-FFF2-40B4-BE49-F238E27FC236}">
                <a16:creationId xmlns:a16="http://schemas.microsoft.com/office/drawing/2014/main" id="{FAD055AD-8036-466C-B80C-C9FD8F190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490" y="2531447"/>
            <a:ext cx="6767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user</a:t>
            </a:r>
          </a:p>
          <a:p>
            <a:pPr algn="ctr"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agent</a:t>
            </a:r>
          </a:p>
        </p:txBody>
      </p:sp>
      <p:sp>
        <p:nvSpPr>
          <p:cNvPr id="76" name="Text Box 121">
            <a:extLst>
              <a:ext uri="{FF2B5EF4-FFF2-40B4-BE49-F238E27FC236}">
                <a16:creationId xmlns:a16="http://schemas.microsoft.com/office/drawing/2014/main" id="{99E94116-5C2C-4581-AC1E-66BFF56AD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899" y="1600585"/>
            <a:ext cx="77136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SMTP</a:t>
            </a:r>
          </a:p>
        </p:txBody>
      </p:sp>
      <p:sp>
        <p:nvSpPr>
          <p:cNvPr id="77" name="Text Box 121">
            <a:extLst>
              <a:ext uri="{FF2B5EF4-FFF2-40B4-BE49-F238E27FC236}">
                <a16:creationId xmlns:a16="http://schemas.microsoft.com/office/drawing/2014/main" id="{F8B89D2E-652E-426E-A5AD-CD979CA4B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57" y="1600585"/>
            <a:ext cx="77136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SMTP</a:t>
            </a:r>
          </a:p>
        </p:txBody>
      </p:sp>
      <p:sp>
        <p:nvSpPr>
          <p:cNvPr id="78" name="Text Box 121">
            <a:extLst>
              <a:ext uri="{FF2B5EF4-FFF2-40B4-BE49-F238E27FC236}">
                <a16:creationId xmlns:a16="http://schemas.microsoft.com/office/drawing/2014/main" id="{6707E67B-CF3E-4EB5-9B54-54600A17D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070" y="1424214"/>
            <a:ext cx="9268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메일 접속</a:t>
            </a:r>
          </a:p>
          <a:p>
            <a:pPr algn="ctr">
              <a:spcBef>
                <a:spcPct val="0"/>
              </a:spcBef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프로토콜</a:t>
            </a:r>
          </a:p>
        </p:txBody>
      </p:sp>
      <p:sp>
        <p:nvSpPr>
          <p:cNvPr id="79" name="Text Box 156">
            <a:extLst>
              <a:ext uri="{FF2B5EF4-FFF2-40B4-BE49-F238E27FC236}">
                <a16:creationId xmlns:a16="http://schemas.microsoft.com/office/drawing/2014/main" id="{025F9F79-D791-4A61-A9F4-EC6F0DBDC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7928" y="2067310"/>
            <a:ext cx="1557882" cy="25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rPr>
              <a:t>(e.g., POP, IMAP)</a:t>
            </a:r>
          </a:p>
        </p:txBody>
      </p:sp>
      <p:sp>
        <p:nvSpPr>
          <p:cNvPr id="85" name="Rectangle 3">
            <a:extLst>
              <a:ext uri="{FF2B5EF4-FFF2-40B4-BE49-F238E27FC236}">
                <a16:creationId xmlns:a16="http://schemas.microsoft.com/office/drawing/2014/main" id="{3686DF55-2E25-4F0A-9476-AF2D2878EF5E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737995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7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SMTP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수신자의 서버에까지 전달 및 저장</a:t>
            </a:r>
            <a:endParaRPr lang="en-US" altLang="ko-KR" sz="15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7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ea typeface="넥슨Lv1고딕 Bold" panose="00000800000000000000" pitchFamily="2" charset="-127"/>
                <a:cs typeface="+mj-cs"/>
              </a:rPr>
              <a:t>메일 접속 프로토콜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수신자 서버에서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UA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로 메일 전송 </a:t>
            </a: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740EB120-B697-4BDA-9316-A6FF4A1BB1FB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746107"/>
            <a:ext cx="7096840" cy="133517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POP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Post Office Protocol [RFC 1939]: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인증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다운로드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IMAP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Internet Mail Access Protocol [RFC 3501] : </a:t>
            </a:r>
            <a:b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서버에 저장된 메시지의 조작 등 더 많은 기능 제공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HTTP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gmail, Hotmail, Yahoo! Mail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1882883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7F6B13A-E939-4337-A845-33A1EB706C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Chapter 2. </a:t>
            </a:r>
            <a:r>
              <a:rPr lang="ko-KR" altLang="en-US" dirty="0">
                <a:solidFill>
                  <a:schemeClr val="bg1"/>
                </a:solidFill>
              </a:rPr>
              <a:t>애플리케이션 계층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E2FACEF-5939-4AD2-89FC-14A18300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8C9E11-9547-4D20-824E-2351DB6D1C10}"/>
              </a:ext>
            </a:extLst>
          </p:cNvPr>
          <p:cNvSpPr txBox="1"/>
          <p:nvPr/>
        </p:nvSpPr>
        <p:spPr>
          <a:xfrm>
            <a:off x="1419224" y="1825636"/>
            <a:ext cx="6929719" cy="36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 애플리케이션의 원리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웹과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HTTP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전자메일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DNS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P2P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파일 분배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비디오 스트리밍과 콘텐츠 분배 네트워크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(CDN)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소켓 프로그래밍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(UDP,TCP)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3E72E2-77C6-4972-98CA-EEB2C7E4DFB2}"/>
              </a:ext>
            </a:extLst>
          </p:cNvPr>
          <p:cNvSpPr txBox="1"/>
          <p:nvPr/>
        </p:nvSpPr>
        <p:spPr>
          <a:xfrm>
            <a:off x="860603" y="1825636"/>
            <a:ext cx="582259" cy="364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2.1.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2.2.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2.3.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2.4.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2.5.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2.6.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2.7.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710F9F0-0F20-4F2F-AB5C-B360A5427667}"/>
              </a:ext>
            </a:extLst>
          </p:cNvPr>
          <p:cNvGrpSpPr/>
          <p:nvPr/>
        </p:nvGrpSpPr>
        <p:grpSpPr>
          <a:xfrm>
            <a:off x="1518597" y="3195573"/>
            <a:ext cx="5314727" cy="401841"/>
            <a:chOff x="1518597" y="2670279"/>
            <a:chExt cx="5314727" cy="401841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832FE0FB-A1FA-42CB-B656-4D5FB047277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2670279"/>
              <a:ext cx="5152947" cy="401841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en-US" altLang="ko-KR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SMTP, POP3, IMAP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3B7F53B2-D15B-45C1-8C35-D6A078CD7848}"/>
                </a:ext>
              </a:extLst>
            </p:cNvPr>
            <p:cNvGrpSpPr/>
            <p:nvPr/>
          </p:nvGrpSpPr>
          <p:grpSpPr>
            <a:xfrm>
              <a:off x="1518597" y="2811457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047FE7BA-1863-4D0A-A8A4-3339F63CEE1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FC97AB7F-BBC6-4006-A50D-82A82FC69FFA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94D5442B-6FD3-41D4-A42D-DF6FB05BA276}"/>
              </a:ext>
            </a:extLst>
          </p:cNvPr>
          <p:cNvSpPr/>
          <p:nvPr/>
        </p:nvSpPr>
        <p:spPr>
          <a:xfrm>
            <a:off x="923792" y="1143310"/>
            <a:ext cx="1566489" cy="391715"/>
          </a:xfrm>
          <a:prstGeom prst="snip1Rect">
            <a:avLst>
              <a:gd name="adj" fmla="val 37888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E7DDC2F-3186-42B9-854A-0627DEFF0163}"/>
              </a:ext>
            </a:extLst>
          </p:cNvPr>
          <p:cNvSpPr/>
          <p:nvPr/>
        </p:nvSpPr>
        <p:spPr>
          <a:xfrm>
            <a:off x="789517" y="1561257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30" name="그래픽 29">
            <a:extLst>
              <a:ext uri="{FF2B5EF4-FFF2-40B4-BE49-F238E27FC236}">
                <a16:creationId xmlns:a16="http://schemas.microsoft.com/office/drawing/2014/main" id="{70876D59-86B8-4800-BFA9-83FE7BE68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668982" y="1083045"/>
            <a:ext cx="558670" cy="50280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ED08C44-6920-4F6A-B56B-FC768135D7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4" y="1145567"/>
            <a:ext cx="275112" cy="364836"/>
          </a:xfrm>
          <a:prstGeom prst="rect">
            <a:avLst/>
          </a:prstGeom>
        </p:spPr>
      </p:pic>
      <p:sp>
        <p:nvSpPr>
          <p:cNvPr id="16" name="텍스트 개체 틀 19">
            <a:extLst>
              <a:ext uri="{FF2B5EF4-FFF2-40B4-BE49-F238E27FC236}">
                <a16:creationId xmlns:a16="http://schemas.microsoft.com/office/drawing/2014/main" id="{756A6A80-FE05-4DC9-9BED-D022FBAA6B2B}"/>
              </a:ext>
            </a:extLst>
          </p:cNvPr>
          <p:cNvSpPr txBox="1">
            <a:spLocks/>
          </p:cNvSpPr>
          <p:nvPr/>
        </p:nvSpPr>
        <p:spPr>
          <a:xfrm>
            <a:off x="1274783" y="1180731"/>
            <a:ext cx="139064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Roadmap </a:t>
            </a:r>
          </a:p>
        </p:txBody>
      </p:sp>
    </p:spTree>
    <p:extLst>
      <p:ext uri="{BB962C8B-B14F-4D97-AF65-F5344CB8AC3E}">
        <p14:creationId xmlns:p14="http://schemas.microsoft.com/office/powerpoint/2010/main" val="1949319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DNS </a:t>
            </a:r>
            <a:r>
              <a:rPr lang="en-US" altLang="ko-KR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Microsoft GothicNeo" panose="020B0503020000020004" pitchFamily="34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domain name system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06E303-BF66-4360-ACBA-9BC7A8FF47F7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사람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: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다양한 식별 방법 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3CA944D-E59C-4161-9FB0-7AA789FFBC9E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23422"/>
            <a:ext cx="7096840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주민 번호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이름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여권 번호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7D1E5F5-3E3C-45CC-8CEF-53F7606D4F30}"/>
              </a:ext>
            </a:extLst>
          </p:cNvPr>
          <p:cNvSpPr txBox="1">
            <a:spLocks noChangeArrowheads="1"/>
          </p:cNvSpPr>
          <p:nvPr/>
        </p:nvSpPr>
        <p:spPr>
          <a:xfrm>
            <a:off x="3590960" y="1078722"/>
            <a:ext cx="4665628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인터넷 호스트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라우터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F78F5A7-E935-4637-9BE8-891B39EF0494}"/>
              </a:ext>
            </a:extLst>
          </p:cNvPr>
          <p:cNvSpPr txBox="1">
            <a:spLocks noChangeArrowheads="1"/>
          </p:cNvSpPr>
          <p:nvPr/>
        </p:nvSpPr>
        <p:spPr>
          <a:xfrm>
            <a:off x="3896552" y="1523422"/>
            <a:ext cx="4360036" cy="97770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(32 bit) – datagram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주소를 부여하기 위해 사용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“이름”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www.yahoo.com) –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사람이 사용</a:t>
            </a:r>
          </a:p>
        </p:txBody>
      </p:sp>
      <p:sp>
        <p:nvSpPr>
          <p:cNvPr id="10" name="사각형: 잘린 한쪽 모서리 9">
            <a:extLst>
              <a:ext uri="{FF2B5EF4-FFF2-40B4-BE49-F238E27FC236}">
                <a16:creationId xmlns:a16="http://schemas.microsoft.com/office/drawing/2014/main" id="{461A94BD-EDE6-43DD-8237-C804DCFC8D36}"/>
              </a:ext>
            </a:extLst>
          </p:cNvPr>
          <p:cNvSpPr/>
          <p:nvPr/>
        </p:nvSpPr>
        <p:spPr>
          <a:xfrm>
            <a:off x="844235" y="2784471"/>
            <a:ext cx="4436425" cy="485678"/>
          </a:xfrm>
          <a:prstGeom prst="snip1Rect">
            <a:avLst>
              <a:gd name="adj" fmla="val 24985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F1054652-D76F-4796-9F17-71F820BCD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2814836"/>
            <a:ext cx="6826930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IP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주소와 이름을 어떻게 매핑할 것인가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?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C61B732-9E1A-4B7D-941A-2415C4C759C9}"/>
              </a:ext>
            </a:extLst>
          </p:cNvPr>
          <p:cNvGrpSpPr/>
          <p:nvPr/>
        </p:nvGrpSpPr>
        <p:grpSpPr>
          <a:xfrm>
            <a:off x="595909" y="2753360"/>
            <a:ext cx="507687" cy="593792"/>
            <a:chOff x="595909" y="5784951"/>
            <a:chExt cx="507687" cy="593792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1515B45-279D-4D25-A9A1-4CA86EB46ABA}"/>
                </a:ext>
              </a:extLst>
            </p:cNvPr>
            <p:cNvSpPr/>
            <p:nvPr/>
          </p:nvSpPr>
          <p:spPr>
            <a:xfrm>
              <a:off x="693394" y="6294322"/>
              <a:ext cx="314384" cy="84421"/>
            </a:xfrm>
            <a:prstGeom prst="ellipse">
              <a:avLst/>
            </a:prstGeom>
            <a:solidFill>
              <a:srgbClr val="DCF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래픽 13">
              <a:extLst>
                <a:ext uri="{FF2B5EF4-FFF2-40B4-BE49-F238E27FC236}">
                  <a16:creationId xmlns:a16="http://schemas.microsoft.com/office/drawing/2014/main" id="{202A2252-2DC5-4B33-BFF3-1C9010584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572859" y="5816110"/>
              <a:ext cx="558670" cy="502804"/>
            </a:xfrm>
            <a:prstGeom prst="rect">
              <a:avLst/>
            </a:prstGeom>
          </p:spPr>
        </p:pic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FD871BCB-B11E-421B-923C-E6A698DA3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909" y="5784951"/>
              <a:ext cx="498162" cy="507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2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Q</a:t>
              </a:r>
              <a:endParaRPr lang="en-US" altLang="ko-KR" sz="2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FA8CB45-C396-458E-A4AB-67D56DD168DE}"/>
              </a:ext>
            </a:extLst>
          </p:cNvPr>
          <p:cNvGrpSpPr/>
          <p:nvPr/>
        </p:nvGrpSpPr>
        <p:grpSpPr>
          <a:xfrm>
            <a:off x="673656" y="3542536"/>
            <a:ext cx="7402432" cy="2481370"/>
            <a:chOff x="673656" y="3542536"/>
            <a:chExt cx="7402432" cy="2481370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C6B1F98B-16F3-428D-9212-AC2C9692187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4077072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3"/>
                </a:buBlip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분산된 데이터베이스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 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여러 계층의 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name server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들로 구현됨</a:t>
              </a:r>
            </a:p>
            <a:p>
              <a:pPr marL="216000" lvl="2" indent="-216000">
                <a:lnSpc>
                  <a:spcPct val="130000"/>
                </a:lnSpc>
                <a:spcBef>
                  <a:spcPts val="800"/>
                </a:spcBef>
                <a:buBlip>
                  <a:blip r:embed="rId3"/>
                </a:buBlip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애플리케이션 계층 프로토콜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 </a:t>
              </a:r>
              <a:b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호스트와 네임 서버들은 주소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- 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이름 변환을 위해 통신 함</a:t>
              </a:r>
              <a:endPara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0E9261CA-8249-4D0B-8229-0AB9E93B92B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5301208"/>
              <a:ext cx="7096840" cy="722698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주의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: 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인터넷의 핵심적인 기능이지만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애플리케이션 계층 프로토콜로 구현됨</a:t>
              </a:r>
            </a:p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복잡한 기능은 네트워크의 주변부에</a:t>
              </a:r>
            </a:p>
          </p:txBody>
        </p:sp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336D181C-0F84-460D-B517-8CD2640F2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550" y="3542536"/>
              <a:ext cx="6826930" cy="4316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j-ea"/>
                  <a:ea typeface="+mj-ea"/>
                  <a:cs typeface="+mj-cs"/>
                </a:rPr>
                <a:t>DNS</a:t>
              </a:r>
              <a:r>
                <a:rPr lang="en-US" altLang="ko-KR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 </a:t>
              </a: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ea typeface="+mj-ea"/>
                  <a:cs typeface="+mj-cs"/>
                </a:rPr>
                <a:t>(Domain Name System)</a:t>
              </a:r>
              <a:endPara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+mj-ea"/>
                <a:cs typeface="+mj-cs"/>
              </a:endParaRPr>
            </a:p>
          </p:txBody>
        </p:sp>
      </p:grp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2A99192-0E12-4A2B-B64B-9BBCF0E86BB1}"/>
              </a:ext>
            </a:extLst>
          </p:cNvPr>
          <p:cNvCxnSpPr/>
          <p:nvPr/>
        </p:nvCxnSpPr>
        <p:spPr>
          <a:xfrm>
            <a:off x="3467100" y="1135380"/>
            <a:ext cx="0" cy="14020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7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그룹 41">
            <a:extLst>
              <a:ext uri="{FF2B5EF4-FFF2-40B4-BE49-F238E27FC236}">
                <a16:creationId xmlns:a16="http://schemas.microsoft.com/office/drawing/2014/main" id="{29790305-468C-43E2-A091-AD5587757632}"/>
              </a:ext>
            </a:extLst>
          </p:cNvPr>
          <p:cNvGrpSpPr/>
          <p:nvPr/>
        </p:nvGrpSpPr>
        <p:grpSpPr>
          <a:xfrm>
            <a:off x="853440" y="4732020"/>
            <a:ext cx="6892017" cy="1592580"/>
            <a:chOff x="853440" y="4732020"/>
            <a:chExt cx="6892017" cy="1592580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A6272D8C-85AD-409D-9AF9-D0BB8BFC89DF}"/>
                </a:ext>
              </a:extLst>
            </p:cNvPr>
            <p:cNvSpPr/>
            <p:nvPr/>
          </p:nvSpPr>
          <p:spPr>
            <a:xfrm>
              <a:off x="853440" y="4732020"/>
              <a:ext cx="3703320" cy="15925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38E783E-863E-448D-B1F6-A83B32942C1B}"/>
                </a:ext>
              </a:extLst>
            </p:cNvPr>
            <p:cNvSpPr txBox="1"/>
            <p:nvPr/>
          </p:nvSpPr>
          <p:spPr>
            <a:xfrm>
              <a:off x="4943872" y="5320108"/>
              <a:ext cx="28015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/>
              <a:r>
                <a:rPr lang="en-US" altLang="ko-KR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j-ea"/>
                  <a:ea typeface="+mj-ea"/>
                  <a:cs typeface="+mj-cs"/>
                </a:rPr>
                <a:t>A: </a:t>
              </a:r>
              <a:r>
                <a:rPr lang="ko-KR" altLang="en-US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j-ea"/>
                  <a:ea typeface="+mj-ea"/>
                  <a:cs typeface="+mj-cs"/>
                </a:rPr>
                <a:t>확장성이 없다</a:t>
              </a:r>
              <a:r>
                <a:rPr lang="en-US" altLang="ja-JP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j-ea"/>
                  <a:ea typeface="+mj-ea"/>
                  <a:cs typeface="+mj-cs"/>
                </a:rPr>
                <a:t>!</a:t>
              </a:r>
              <a:endPara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endParaRPr>
            </a:p>
          </p:txBody>
        </p:sp>
        <p:sp>
          <p:nvSpPr>
            <p:cNvPr id="40" name="오른쪽 중괄호 39">
              <a:extLst>
                <a:ext uri="{FF2B5EF4-FFF2-40B4-BE49-F238E27FC236}">
                  <a16:creationId xmlns:a16="http://schemas.microsoft.com/office/drawing/2014/main" id="{E4558ACE-CD43-4F16-9A60-0D3FFCAA322F}"/>
                </a:ext>
              </a:extLst>
            </p:cNvPr>
            <p:cNvSpPr/>
            <p:nvPr/>
          </p:nvSpPr>
          <p:spPr>
            <a:xfrm>
              <a:off x="4551810" y="4736436"/>
              <a:ext cx="336057" cy="1582396"/>
            </a:xfrm>
            <a:prstGeom prst="rightBrace">
              <a:avLst>
                <a:gd name="adj1" fmla="val 58333"/>
                <a:gd name="adj2" fmla="val 50000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rgbClr val="F270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DNS </a:t>
            </a:r>
            <a:r>
              <a:rPr lang="en-US" altLang="ko-KR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Microsoft GothicNeo" panose="020B0503020000020004" pitchFamily="34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서비스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,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구조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DD98787-8DAB-4452-B25D-251A9028342F}"/>
              </a:ext>
            </a:extLst>
          </p:cNvPr>
          <p:cNvSpPr/>
          <p:nvPr/>
        </p:nvSpPr>
        <p:spPr>
          <a:xfrm>
            <a:off x="758638" y="1630889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5" name="그래픽 9">
            <a:extLst>
              <a:ext uri="{FF2B5EF4-FFF2-40B4-BE49-F238E27FC236}">
                <a16:creationId xmlns:a16="http://schemas.microsoft.com/office/drawing/2014/main" id="{2CE53976-4C88-4894-8D7B-DB69BA98E08C}"/>
              </a:ext>
            </a:extLst>
          </p:cNvPr>
          <p:cNvSpPr/>
          <p:nvPr/>
        </p:nvSpPr>
        <p:spPr>
          <a:xfrm rot="5400000">
            <a:off x="638045" y="1152677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1B73DA5-BE1C-458D-854B-7E3AA925E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1188851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DNS 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서비스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EAC97B0-BCBF-4E38-8CE5-2CFF1045D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82" y="1262746"/>
            <a:ext cx="291313" cy="301717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890535A3-0411-4C26-B992-2BF22A75E41F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84482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호스트이름과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IP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주소의 변환</a:t>
            </a: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host aliasing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정식 이름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(canonical name),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별칭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(alias name)</a:t>
            </a:r>
            <a:endParaRPr lang="en-US" altLang="ko-KR" sz="16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mail server aliasing</a:t>
            </a:r>
          </a:p>
          <a:p>
            <a:pPr marL="216000" lvl="2" indent="-216000">
              <a:lnSpc>
                <a:spcPct val="130000"/>
              </a:lnSpc>
              <a:spcBef>
                <a:spcPts val="600"/>
              </a:spcBef>
              <a:buBlip>
                <a:blip r:embed="rId4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부하 분산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8BCAA00-3931-4305-B4B5-03B9B00D554F}"/>
              </a:ext>
            </a:extLst>
          </p:cNvPr>
          <p:cNvSpPr txBox="1">
            <a:spLocks noChangeArrowheads="1"/>
          </p:cNvSpPr>
          <p:nvPr/>
        </p:nvSpPr>
        <p:spPr>
          <a:xfrm>
            <a:off x="979247" y="3474312"/>
            <a:ext cx="6997433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중복된 웹 서버들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여러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주소가 하나의 이름에 연관되어 있음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D05C57A-2B9C-48B4-BDD3-9EADBDB378DF}"/>
              </a:ext>
            </a:extLst>
          </p:cNvPr>
          <p:cNvSpPr/>
          <p:nvPr/>
        </p:nvSpPr>
        <p:spPr>
          <a:xfrm>
            <a:off x="758638" y="4591118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4" name="그래픽 20">
            <a:extLst>
              <a:ext uri="{FF2B5EF4-FFF2-40B4-BE49-F238E27FC236}">
                <a16:creationId xmlns:a16="http://schemas.microsoft.com/office/drawing/2014/main" id="{2A49687A-DB68-4CE9-AAF3-F9DE4C40B8A7}"/>
              </a:ext>
            </a:extLst>
          </p:cNvPr>
          <p:cNvSpPr/>
          <p:nvPr/>
        </p:nvSpPr>
        <p:spPr>
          <a:xfrm rot="5400000">
            <a:off x="638045" y="4112906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F2703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EEC1A38D-CE9E-4879-B887-1E9CB0262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4149080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중앙 집중식의 문제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?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91B5C3F9-048B-498A-A1F0-4C9B1E694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05" y="4219666"/>
            <a:ext cx="304736" cy="342636"/>
          </a:xfrm>
          <a:prstGeom prst="rect">
            <a:avLst/>
          </a:prstGeom>
        </p:spPr>
      </p:pic>
      <p:sp>
        <p:nvSpPr>
          <p:cNvPr id="35" name="Rectangle 3">
            <a:extLst>
              <a:ext uri="{FF2B5EF4-FFF2-40B4-BE49-F238E27FC236}">
                <a16:creationId xmlns:a16="http://schemas.microsoft.com/office/drawing/2014/main" id="{FF7D5E9B-DE57-471B-A387-F011F13903BC}"/>
              </a:ext>
            </a:extLst>
          </p:cNvPr>
          <p:cNvSpPr txBox="1">
            <a:spLocks noChangeArrowheads="1"/>
          </p:cNvSpPr>
          <p:nvPr/>
        </p:nvSpPr>
        <p:spPr>
          <a:xfrm>
            <a:off x="979247" y="4798715"/>
            <a:ext cx="6997433" cy="141211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서버의 고장이 전체를 마비시킴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트래픽의 양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중앙 집중 데이터베이스까지의 거리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유지관리</a:t>
            </a:r>
          </a:p>
        </p:txBody>
      </p:sp>
    </p:spTree>
    <p:extLst>
      <p:ext uri="{BB962C8B-B14F-4D97-AF65-F5344CB8AC3E}">
        <p14:creationId xmlns:p14="http://schemas.microsoft.com/office/powerpoint/2010/main" val="225803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DNS </a:t>
            </a:r>
            <a:r>
              <a:rPr lang="en-US" altLang="ko-KR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Microsoft GothicNeo" panose="020B0503020000020004" pitchFamily="34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분산 계층 데이터베이스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DDE100-3E86-4B40-934D-87BA13F2955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387964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클라이언트가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www.amazon.com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의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IP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주소를 찾는 과정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42162FC-31CB-4267-A192-1BA96F5DC60D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871998"/>
            <a:ext cx="7277340" cy="133517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클라이언트는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root server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질의해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com DNS server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알아낸다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클라이언트는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.com DNS server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질의해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amazon.com DNS server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알아낸다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클라이언트는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amazon.com DNS server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질의해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www.amazon.com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</a:t>
            </a:r>
            <a:b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주소를 알아낸다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BDEA47-4C15-4951-8F51-CB052D2D0284}"/>
              </a:ext>
            </a:extLst>
          </p:cNvPr>
          <p:cNvSpPr/>
          <p:nvPr/>
        </p:nvSpPr>
        <p:spPr>
          <a:xfrm>
            <a:off x="819116" y="1196752"/>
            <a:ext cx="7293108" cy="2925668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300" dirty="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4" name="Line 16">
            <a:extLst>
              <a:ext uri="{FF2B5EF4-FFF2-40B4-BE49-F238E27FC236}">
                <a16:creationId xmlns:a16="http://schemas.microsoft.com/office/drawing/2014/main" id="{201B6279-C0D9-45BD-80D3-49723CEBB6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62812" y="1714500"/>
            <a:ext cx="1583307" cy="1683947"/>
          </a:xfrm>
          <a:prstGeom prst="line">
            <a:avLst/>
          </a:prstGeom>
          <a:noFill/>
          <a:ln w="25400">
            <a:solidFill>
              <a:srgbClr val="105BA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1300"/>
          </a:p>
        </p:txBody>
      </p:sp>
      <p:sp>
        <p:nvSpPr>
          <p:cNvPr id="25" name="Line 17">
            <a:extLst>
              <a:ext uri="{FF2B5EF4-FFF2-40B4-BE49-F238E27FC236}">
                <a16:creationId xmlns:a16="http://schemas.microsoft.com/office/drawing/2014/main" id="{B753B7E9-85FD-41B9-854F-45FD331903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5481" y="2686370"/>
            <a:ext cx="696333" cy="720625"/>
          </a:xfrm>
          <a:prstGeom prst="line">
            <a:avLst/>
          </a:prstGeom>
          <a:noFill/>
          <a:ln w="25400">
            <a:solidFill>
              <a:srgbClr val="105BA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1300"/>
          </a:p>
        </p:txBody>
      </p:sp>
      <p:sp>
        <p:nvSpPr>
          <p:cNvPr id="27" name="Line 19">
            <a:extLst>
              <a:ext uri="{FF2B5EF4-FFF2-40B4-BE49-F238E27FC236}">
                <a16:creationId xmlns:a16="http://schemas.microsoft.com/office/drawing/2014/main" id="{249E7BF9-11C4-4421-85F0-80541C1500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6073" y="1703144"/>
            <a:ext cx="0" cy="1697746"/>
          </a:xfrm>
          <a:prstGeom prst="line">
            <a:avLst/>
          </a:prstGeom>
          <a:noFill/>
          <a:ln w="25400">
            <a:solidFill>
              <a:srgbClr val="105BA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1300"/>
          </a:p>
        </p:txBody>
      </p:sp>
      <p:sp>
        <p:nvSpPr>
          <p:cNvPr id="29" name="Line 16">
            <a:extLst>
              <a:ext uri="{FF2B5EF4-FFF2-40B4-BE49-F238E27FC236}">
                <a16:creationId xmlns:a16="http://schemas.microsoft.com/office/drawing/2014/main" id="{A36D1247-20C6-4858-B21A-3617472E08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95783" y="2697480"/>
            <a:ext cx="680277" cy="700967"/>
          </a:xfrm>
          <a:prstGeom prst="line">
            <a:avLst/>
          </a:prstGeom>
          <a:noFill/>
          <a:ln w="25400">
            <a:solidFill>
              <a:srgbClr val="105BA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1300"/>
          </a:p>
        </p:txBody>
      </p:sp>
      <p:sp>
        <p:nvSpPr>
          <p:cNvPr id="30" name="Line 17">
            <a:extLst>
              <a:ext uri="{FF2B5EF4-FFF2-40B4-BE49-F238E27FC236}">
                <a16:creationId xmlns:a16="http://schemas.microsoft.com/office/drawing/2014/main" id="{D0718628-293E-424D-8D52-79CA9C1F119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3952" y="1623060"/>
            <a:ext cx="1569784" cy="1783935"/>
          </a:xfrm>
          <a:prstGeom prst="line">
            <a:avLst/>
          </a:prstGeom>
          <a:noFill/>
          <a:ln w="25400">
            <a:solidFill>
              <a:srgbClr val="105BA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1300"/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8CD2DAC2-31AF-492A-A264-37D38D3D5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6129" y="1391687"/>
            <a:ext cx="2809764" cy="34261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indent="-342900" algn="ctr">
              <a:lnSpc>
                <a:spcPct val="130000"/>
              </a:lnSpc>
              <a:buClr>
                <a:schemeClr val="accent2"/>
              </a:buClr>
              <a:buSzPct val="85000"/>
              <a:defRPr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300"/>
              <a:t>Root DNS Servers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D3937EF3-EA94-465A-A468-5877A2BC3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466" y="2368976"/>
            <a:ext cx="1591820" cy="33224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none" lIns="144000" tIns="72000" rIns="144000" bIns="72000">
            <a:spAutoFit/>
          </a:bodyPr>
          <a:lstStyle>
            <a:defPPr>
              <a:defRPr lang="ko-KR"/>
            </a:defPPr>
            <a:lvl1pPr>
              <a:spcBef>
                <a:spcPct val="0"/>
              </a:spcBef>
              <a:buClrTx/>
              <a:buSzTx/>
              <a:buFontTx/>
              <a:buNone/>
              <a:defRPr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defRPr>
            </a:lvl1pPr>
          </a:lstStyle>
          <a:p>
            <a:pPr algn="ctr"/>
            <a:r>
              <a:rPr lang="en-US" altLang="ko-KR" sz="1300"/>
              <a:t>com DNS servers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69F3B5B6-E934-4B2E-8FB8-7FD785CC7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3895" y="2368976"/>
            <a:ext cx="1514599" cy="33224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none" lIns="144000" tIns="72000" rIns="144000" bIns="72000">
            <a:spAutoFit/>
          </a:bodyPr>
          <a:lstStyle>
            <a:defPPr>
              <a:defRPr lang="ko-KR"/>
            </a:defPPr>
            <a:lvl1pPr>
              <a:spcBef>
                <a:spcPct val="0"/>
              </a:spcBef>
              <a:buClrTx/>
              <a:buSzTx/>
              <a:buFontTx/>
              <a:buNone/>
              <a:defRPr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defRPr>
            </a:lvl1pPr>
          </a:lstStyle>
          <a:p>
            <a:pPr algn="ctr"/>
            <a:r>
              <a:rPr lang="en-US" altLang="ko-KR" sz="1300"/>
              <a:t>org DNS servers</a:t>
            </a: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78FB9D48-7612-47A8-A403-621B94E79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7973" y="2368976"/>
            <a:ext cx="1765715" cy="33224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square" lIns="144000" tIns="72000" rIns="144000" bIns="72000">
            <a:spAutoFit/>
          </a:bodyPr>
          <a:lstStyle>
            <a:defPPr>
              <a:defRPr lang="ko-KR"/>
            </a:defPPr>
            <a:lvl1pPr>
              <a:spcBef>
                <a:spcPct val="0"/>
              </a:spcBef>
              <a:buClrTx/>
              <a:buSzTx/>
              <a:buFontTx/>
              <a:buNone/>
              <a:defRPr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defRPr>
            </a:lvl1pPr>
          </a:lstStyle>
          <a:p>
            <a:pPr algn="ctr"/>
            <a:r>
              <a:rPr lang="en-US" altLang="ko-KR" sz="1300"/>
              <a:t>edu DNS servers</a:t>
            </a: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4ACDB0F0-51C1-43DB-8885-584220049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9185" y="3387405"/>
            <a:ext cx="1244472" cy="60899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none" lIns="144000" tIns="72000" rIns="144000" bIns="7200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poly.edu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 servers</a:t>
            </a:r>
          </a:p>
        </p:txBody>
      </p:sp>
      <p:sp>
        <p:nvSpPr>
          <p:cNvPr id="19" name="Text Box 11">
            <a:extLst>
              <a:ext uri="{FF2B5EF4-FFF2-40B4-BE49-F238E27FC236}">
                <a16:creationId xmlns:a16="http://schemas.microsoft.com/office/drawing/2014/main" id="{541B3727-F79A-45E4-9B19-DF689CA66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6408" y="3387405"/>
            <a:ext cx="1244472" cy="60899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none" lIns="144000" tIns="72000" rIns="144000" bIns="7200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umass.edu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 servers</a:t>
            </a:r>
          </a:p>
        </p:txBody>
      </p:sp>
      <p:sp>
        <p:nvSpPr>
          <p:cNvPr id="22" name="Text Box 14">
            <a:extLst>
              <a:ext uri="{FF2B5EF4-FFF2-40B4-BE49-F238E27FC236}">
                <a16:creationId xmlns:a16="http://schemas.microsoft.com/office/drawing/2014/main" id="{884375D5-A5FD-4F97-9F48-F099F8E91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851" y="3387605"/>
            <a:ext cx="1244472" cy="60899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none" lIns="144000" tIns="72000" rIns="144000" bIns="7200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yahoo.com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 servers</a:t>
            </a:r>
          </a:p>
        </p:txBody>
      </p:sp>
      <p:sp>
        <p:nvSpPr>
          <p:cNvPr id="23" name="Text Box 15">
            <a:extLst>
              <a:ext uri="{FF2B5EF4-FFF2-40B4-BE49-F238E27FC236}">
                <a16:creationId xmlns:a16="http://schemas.microsoft.com/office/drawing/2014/main" id="{514D20E5-D334-4BBD-BAFE-86A368F0B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5074" y="3387605"/>
            <a:ext cx="1350333" cy="60899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none" lIns="144000" tIns="72000" rIns="144000" bIns="72000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amazon.com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 servers</a:t>
            </a:r>
          </a:p>
        </p:txBody>
      </p:sp>
      <p:sp>
        <p:nvSpPr>
          <p:cNvPr id="26" name="Text Box 18">
            <a:extLst>
              <a:ext uri="{FF2B5EF4-FFF2-40B4-BE49-F238E27FC236}">
                <a16:creationId xmlns:a16="http://schemas.microsoft.com/office/drawing/2014/main" id="{0270DFD6-F71E-4217-BD4A-745D40BEA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962" y="3387605"/>
            <a:ext cx="1244472" cy="60899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none" lIns="144000" tIns="72000" rIns="144000" bIns="72000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pbs.org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 servers</a:t>
            </a: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96DBA00C-C2D4-48C6-836A-C3BDCFBF2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0081" y="1866506"/>
            <a:ext cx="325661" cy="281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algn="ctr"/>
            <a:r>
              <a:rPr lang="en-US" altLang="ko-KR" sz="1300">
                <a:solidFill>
                  <a:srgbClr val="105BA0"/>
                </a:solidFill>
              </a:rPr>
              <a:t>…</a:t>
            </a:r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7CF7BFE8-87C5-439C-BC8F-E71380D84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2182" y="1864979"/>
            <a:ext cx="325661" cy="281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algn="ctr"/>
            <a:r>
              <a:rPr lang="en-US" altLang="ko-KR" sz="1300">
                <a:solidFill>
                  <a:srgbClr val="105BA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87291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직사각형 86">
            <a:extLst>
              <a:ext uri="{FF2B5EF4-FFF2-40B4-BE49-F238E27FC236}">
                <a16:creationId xmlns:a16="http://schemas.microsoft.com/office/drawing/2014/main" id="{4149A591-F470-4480-AA84-05D20595A5A7}"/>
              </a:ext>
            </a:extLst>
          </p:cNvPr>
          <p:cNvSpPr/>
          <p:nvPr/>
        </p:nvSpPr>
        <p:spPr>
          <a:xfrm>
            <a:off x="571500" y="2734148"/>
            <a:ext cx="7685088" cy="3634739"/>
          </a:xfrm>
          <a:prstGeom prst="rect">
            <a:avLst/>
          </a:prstGeom>
          <a:solidFill>
            <a:schemeClr val="bg1"/>
          </a:solidFill>
          <a:ln w="15875">
            <a:solidFill>
              <a:srgbClr val="E1E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DNS </a:t>
            </a:r>
            <a:r>
              <a:rPr lang="en-US" altLang="ko-KR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Microsoft GothicNeo" panose="020B0503020000020004" pitchFamily="34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root name servers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1E3E3F6-AB6E-4D79-B65B-40953095D2F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530559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root name server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05928BA-444A-41E8-821D-0617A9E23931}"/>
              </a:ext>
            </a:extLst>
          </p:cNvPr>
          <p:cNvSpPr txBox="1">
            <a:spLocks noChangeArrowheads="1"/>
          </p:cNvSpPr>
          <p:nvPr/>
        </p:nvSpPr>
        <p:spPr>
          <a:xfrm>
            <a:off x="2805211" y="1586970"/>
            <a:ext cx="4026592" cy="100399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매핑 정보를 모르면 책임 서버에 접속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매핑 정보를 얻는다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로컬 네임 서버에 그 정보를 돌려준다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D446CD02-4822-406C-8B9D-63B242F84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556" y="1056572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로컬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name server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가 이름을 변환하고자 할 때 접속한다</a:t>
            </a:r>
          </a:p>
        </p:txBody>
      </p:sp>
      <p:pic>
        <p:nvPicPr>
          <p:cNvPr id="44" name="Picture 23" descr="worldf">
            <a:extLst>
              <a:ext uri="{FF2B5EF4-FFF2-40B4-BE49-F238E27FC236}">
                <a16:creationId xmlns:a16="http://schemas.microsoft.com/office/drawing/2014/main" id="{1AB07E72-6DC8-438E-92FF-E11D5D5AA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07943" y="3850160"/>
            <a:ext cx="3926897" cy="1980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Text Box 35">
            <a:extLst>
              <a:ext uri="{FF2B5EF4-FFF2-40B4-BE49-F238E27FC236}">
                <a16:creationId xmlns:a16="http://schemas.microsoft.com/office/drawing/2014/main" id="{32450F87-73A9-49FC-B599-4A7497139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558" y="2841124"/>
            <a:ext cx="292158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1323" tIns="35662" rIns="71323" bIns="35662"/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c. Cogent, Herndon, VA (5 other sites)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d. U Maryland College Park, MD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h. ARL Aberdeen, MD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j. Verisign, Dulles VA (69 other sites )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30B41299-9092-4DB5-BC44-AC167A0F7B83}"/>
              </a:ext>
            </a:extLst>
          </p:cNvPr>
          <p:cNvCxnSpPr>
            <a:cxnSpLocks/>
          </p:cNvCxnSpPr>
          <p:nvPr/>
        </p:nvCxnSpPr>
        <p:spPr>
          <a:xfrm flipV="1">
            <a:off x="3114966" y="2927614"/>
            <a:ext cx="0" cy="1373089"/>
          </a:xfrm>
          <a:prstGeom prst="line">
            <a:avLst/>
          </a:prstGeom>
          <a:noFill/>
          <a:ln w="9525" cap="rnd">
            <a:solidFill>
              <a:srgbClr val="4B851F"/>
            </a:solidFill>
            <a:prstDash val="sysDash"/>
            <a:round/>
            <a:headEnd/>
            <a:tailEnd/>
          </a:ln>
        </p:spPr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FD088673-AD9A-4DC9-A62F-46DDC8400322}"/>
              </a:ext>
            </a:extLst>
          </p:cNvPr>
          <p:cNvSpPr/>
          <p:nvPr/>
        </p:nvSpPr>
        <p:spPr>
          <a:xfrm>
            <a:off x="3077855" y="4262263"/>
            <a:ext cx="68584" cy="68584"/>
          </a:xfrm>
          <a:prstGeom prst="ellipse">
            <a:avLst/>
          </a:prstGeom>
          <a:solidFill>
            <a:srgbClr val="4B851F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2918F5E8-E413-4CB2-BBB5-5A0E8D009FAB}"/>
              </a:ext>
            </a:extLst>
          </p:cNvPr>
          <p:cNvSpPr/>
          <p:nvPr/>
        </p:nvSpPr>
        <p:spPr>
          <a:xfrm>
            <a:off x="2946316" y="4295766"/>
            <a:ext cx="68584" cy="68584"/>
          </a:xfrm>
          <a:prstGeom prst="ellipse">
            <a:avLst/>
          </a:prstGeom>
          <a:solidFill>
            <a:srgbClr val="4B851F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4" name="Text Box 35">
            <a:extLst>
              <a:ext uri="{FF2B5EF4-FFF2-40B4-BE49-F238E27FC236}">
                <a16:creationId xmlns:a16="http://schemas.microsoft.com/office/drawing/2014/main" id="{B6E1B885-6478-4AE2-9FD6-FD3D4D699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00" y="6005284"/>
            <a:ext cx="2959572" cy="288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1323" tIns="35662" rIns="71323" bIns="35662"/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g. US DoD Columbus, OH (5 other sites)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B8B9A9F9-217E-4F40-95E8-4E98B4FA6FE6}"/>
              </a:ext>
            </a:extLst>
          </p:cNvPr>
          <p:cNvSpPr/>
          <p:nvPr/>
        </p:nvSpPr>
        <p:spPr>
          <a:xfrm>
            <a:off x="2607707" y="4509913"/>
            <a:ext cx="68584" cy="68584"/>
          </a:xfrm>
          <a:prstGeom prst="ellipse">
            <a:avLst/>
          </a:prstGeom>
          <a:solidFill>
            <a:srgbClr val="4B851F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9" name="Text Box 35">
            <a:extLst>
              <a:ext uri="{FF2B5EF4-FFF2-40B4-BE49-F238E27FC236}">
                <a16:creationId xmlns:a16="http://schemas.microsoft.com/office/drawing/2014/main" id="{38D474E1-AB75-42A3-AC56-2E6B44C1C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00" y="4702322"/>
            <a:ext cx="2318221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1323" tIns="35662" rIns="71323" bIns="35662"/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a. Verisign, Los Angeles CA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(5 other sites)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b. USC-ISI Marina del Rey, CA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l. ICANN Los Angeles, CA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(41 other sites)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7CE154F-889E-4E35-ABF2-36B316FFED7C}"/>
              </a:ext>
            </a:extLst>
          </p:cNvPr>
          <p:cNvSpPr/>
          <p:nvPr/>
        </p:nvSpPr>
        <p:spPr>
          <a:xfrm>
            <a:off x="2582555" y="4362276"/>
            <a:ext cx="68584" cy="68584"/>
          </a:xfrm>
          <a:prstGeom prst="ellipse">
            <a:avLst/>
          </a:prstGeom>
          <a:solidFill>
            <a:srgbClr val="4B851F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261008C7-A61C-42F7-A0FA-F195F3FDB1D0}"/>
              </a:ext>
            </a:extLst>
          </p:cNvPr>
          <p:cNvCxnSpPr>
            <a:cxnSpLocks/>
          </p:cNvCxnSpPr>
          <p:nvPr/>
        </p:nvCxnSpPr>
        <p:spPr>
          <a:xfrm flipV="1">
            <a:off x="2987966" y="4337314"/>
            <a:ext cx="0" cy="1667970"/>
          </a:xfrm>
          <a:prstGeom prst="line">
            <a:avLst/>
          </a:prstGeom>
          <a:noFill/>
          <a:ln w="9525" cap="rnd">
            <a:solidFill>
              <a:srgbClr val="4B851F"/>
            </a:solidFill>
            <a:prstDash val="sysDash"/>
            <a:round/>
            <a:headEnd/>
            <a:tailEnd/>
          </a:ln>
        </p:spPr>
      </p:cxn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E6DF5A3-2416-4F93-82D3-68AC057708F7}"/>
              </a:ext>
            </a:extLst>
          </p:cNvPr>
          <p:cNvGrpSpPr/>
          <p:nvPr/>
        </p:nvGrpSpPr>
        <p:grpSpPr>
          <a:xfrm>
            <a:off x="769510" y="4285621"/>
            <a:ext cx="1845390" cy="449264"/>
            <a:chOff x="878968" y="4445641"/>
            <a:chExt cx="1774031" cy="449264"/>
          </a:xfrm>
        </p:grpSpPr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797F8CF5-F927-4B04-9B6D-462F92B8A92E}"/>
                </a:ext>
              </a:extLst>
            </p:cNvPr>
            <p:cNvSpPr/>
            <p:nvPr/>
          </p:nvSpPr>
          <p:spPr>
            <a:xfrm>
              <a:off x="878968" y="4706785"/>
              <a:ext cx="1774031" cy="188120"/>
            </a:xfrm>
            <a:custGeom>
              <a:avLst/>
              <a:gdLst>
                <a:gd name="connsiteX0" fmla="*/ 266700 w 266700"/>
                <a:gd name="connsiteY0" fmla="*/ 0 h 1171575"/>
                <a:gd name="connsiteX1" fmla="*/ 0 w 266700"/>
                <a:gd name="connsiteY1" fmla="*/ 0 h 1171575"/>
                <a:gd name="connsiteX2" fmla="*/ 0 w 266700"/>
                <a:gd name="connsiteY2" fmla="*/ 1171575 h 1171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00" h="1171575">
                  <a:moveTo>
                    <a:pt x="266700" y="0"/>
                  </a:moveTo>
                  <a:lnTo>
                    <a:pt x="0" y="0"/>
                  </a:lnTo>
                  <a:lnTo>
                    <a:pt x="0" y="1171575"/>
                  </a:lnTo>
                </a:path>
              </a:pathLst>
            </a:custGeom>
            <a:noFill/>
            <a:ln w="9525" cap="rnd">
              <a:solidFill>
                <a:srgbClr val="4B851F"/>
              </a:solidFill>
              <a:prstDash val="sysDash"/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B327A056-C193-471B-85A2-094A1BCF6466}"/>
                </a:ext>
              </a:extLst>
            </p:cNvPr>
            <p:cNvSpPr/>
            <p:nvPr/>
          </p:nvSpPr>
          <p:spPr>
            <a:xfrm flipV="1">
              <a:off x="878968" y="4445641"/>
              <a:ext cx="1774031" cy="104378"/>
            </a:xfrm>
            <a:custGeom>
              <a:avLst/>
              <a:gdLst>
                <a:gd name="connsiteX0" fmla="*/ 266700 w 266700"/>
                <a:gd name="connsiteY0" fmla="*/ 0 h 1171575"/>
                <a:gd name="connsiteX1" fmla="*/ 0 w 266700"/>
                <a:gd name="connsiteY1" fmla="*/ 0 h 1171575"/>
                <a:gd name="connsiteX2" fmla="*/ 0 w 266700"/>
                <a:gd name="connsiteY2" fmla="*/ 1171575 h 1171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00" h="1171575">
                  <a:moveTo>
                    <a:pt x="266700" y="0"/>
                  </a:moveTo>
                  <a:lnTo>
                    <a:pt x="0" y="0"/>
                  </a:lnTo>
                  <a:lnTo>
                    <a:pt x="0" y="1171575"/>
                  </a:lnTo>
                </a:path>
              </a:pathLst>
            </a:custGeom>
            <a:noFill/>
            <a:ln w="9525" cap="rnd">
              <a:solidFill>
                <a:srgbClr val="4B851F"/>
              </a:solidFill>
              <a:prstDash val="sysDash"/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5" name="Text Box 35">
            <a:extLst>
              <a:ext uri="{FF2B5EF4-FFF2-40B4-BE49-F238E27FC236}">
                <a16:creationId xmlns:a16="http://schemas.microsoft.com/office/drawing/2014/main" id="{78B83AFF-3ECB-495A-A37B-CBED8F94B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00" y="3359662"/>
            <a:ext cx="2318221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1323" tIns="35662" rIns="71323" bIns="35662"/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e. NASA Mt View, CA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f. Internet Software C.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Palo Alto, CA (and 48 other   sites)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4AC70723-C6EF-4890-98F7-39388E105BD7}"/>
              </a:ext>
            </a:extLst>
          </p:cNvPr>
          <p:cNvSpPr/>
          <p:nvPr/>
        </p:nvSpPr>
        <p:spPr>
          <a:xfrm>
            <a:off x="5643255" y="4446413"/>
            <a:ext cx="68584" cy="68584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0" name="Text Box 29">
            <a:extLst>
              <a:ext uri="{FF2B5EF4-FFF2-40B4-BE49-F238E27FC236}">
                <a16:creationId xmlns:a16="http://schemas.microsoft.com/office/drawing/2014/main" id="{EC35B0A7-F687-4245-AB21-7F636E843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6698" y="3312972"/>
            <a:ext cx="1749691" cy="22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1323" tIns="35662" rIns="71323" bIns="35662"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1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</a:t>
            </a:r>
            <a: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  <a:r>
              <a:rPr lang="en-US" altLang="ko-KR" sz="11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Netnod</a:t>
            </a:r>
            <a: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Stockholm (37 other sites)</a:t>
            </a:r>
          </a:p>
        </p:txBody>
      </p:sp>
      <p:sp>
        <p:nvSpPr>
          <p:cNvPr id="71" name="Text Box 31">
            <a:extLst>
              <a:ext uri="{FF2B5EF4-FFF2-40B4-BE49-F238E27FC236}">
                <a16:creationId xmlns:a16="http://schemas.microsoft.com/office/drawing/2014/main" id="{E3081140-C057-4C1D-9869-E97CF6D3A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6698" y="2834172"/>
            <a:ext cx="1342549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1323" tIns="35662" rIns="71323" bIns="35662"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k. RIPE London (17 other sites)</a:t>
            </a:r>
          </a:p>
        </p:txBody>
      </p:sp>
      <p:sp>
        <p:nvSpPr>
          <p:cNvPr id="72" name="Text Box 33">
            <a:extLst>
              <a:ext uri="{FF2B5EF4-FFF2-40B4-BE49-F238E27FC236}">
                <a16:creationId xmlns:a16="http://schemas.microsoft.com/office/drawing/2014/main" id="{6DD51764-4E8F-47B8-91A6-E4E3A84CA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6698" y="4128807"/>
            <a:ext cx="1766888" cy="233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1323" tIns="35662" rIns="71323" bIns="35662"/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m. WIDE Tokyo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(5 other sites)</a:t>
            </a:r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28E5E0A8-A29C-4B44-9D5E-EB55EB0BAD0F}"/>
              </a:ext>
            </a:extLst>
          </p:cNvPr>
          <p:cNvSpPr txBox="1">
            <a:spLocks noChangeArrowheads="1"/>
          </p:cNvSpPr>
          <p:nvPr/>
        </p:nvSpPr>
        <p:spPr>
          <a:xfrm>
            <a:off x="6283827" y="6149682"/>
            <a:ext cx="4026592" cy="24711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9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참조</a:t>
            </a:r>
            <a:r>
              <a:rPr lang="en-US" altLang="ko-KR" sz="9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http://www.root-servers.org/</a:t>
            </a:r>
          </a:p>
        </p:txBody>
      </p:sp>
      <p:sp>
        <p:nvSpPr>
          <p:cNvPr id="74" name="자유형: 도형 73">
            <a:extLst>
              <a:ext uri="{FF2B5EF4-FFF2-40B4-BE49-F238E27FC236}">
                <a16:creationId xmlns:a16="http://schemas.microsoft.com/office/drawing/2014/main" id="{5DA1C22F-8F47-4D9F-82BA-5AFC2367A7BA}"/>
              </a:ext>
            </a:extLst>
          </p:cNvPr>
          <p:cNvSpPr/>
          <p:nvPr/>
        </p:nvSpPr>
        <p:spPr>
          <a:xfrm>
            <a:off x="4060826" y="2982284"/>
            <a:ext cx="2152144" cy="1310316"/>
          </a:xfrm>
          <a:custGeom>
            <a:avLst/>
            <a:gdLst>
              <a:gd name="connsiteX0" fmla="*/ 0 w 2085975"/>
              <a:gd name="connsiteY0" fmla="*/ 1209675 h 1209675"/>
              <a:gd name="connsiteX1" fmla="*/ 1857375 w 2085975"/>
              <a:gd name="connsiteY1" fmla="*/ 1209675 h 1209675"/>
              <a:gd name="connsiteX2" fmla="*/ 1857375 w 2085975"/>
              <a:gd name="connsiteY2" fmla="*/ 0 h 1209675"/>
              <a:gd name="connsiteX3" fmla="*/ 2085975 w 2085975"/>
              <a:gd name="connsiteY3" fmla="*/ 0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5975" h="1209675">
                <a:moveTo>
                  <a:pt x="0" y="1209675"/>
                </a:moveTo>
                <a:lnTo>
                  <a:pt x="1857375" y="1209675"/>
                </a:lnTo>
                <a:lnTo>
                  <a:pt x="1857375" y="0"/>
                </a:lnTo>
                <a:lnTo>
                  <a:pt x="2085975" y="0"/>
                </a:lnTo>
              </a:path>
            </a:pathLst>
          </a:custGeom>
          <a:noFill/>
          <a:ln w="9525" cap="rnd">
            <a:solidFill>
              <a:schemeClr val="accent4">
                <a:lumMod val="75000"/>
              </a:schemeClr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자유형: 도형 76">
            <a:extLst>
              <a:ext uri="{FF2B5EF4-FFF2-40B4-BE49-F238E27FC236}">
                <a16:creationId xmlns:a16="http://schemas.microsoft.com/office/drawing/2014/main" id="{80A98F1B-D408-40DA-B6C5-9C6DE254CDC7}"/>
              </a:ext>
            </a:extLst>
          </p:cNvPr>
          <p:cNvSpPr/>
          <p:nvPr/>
        </p:nvSpPr>
        <p:spPr>
          <a:xfrm>
            <a:off x="4102100" y="3477584"/>
            <a:ext cx="2125157" cy="713416"/>
          </a:xfrm>
          <a:custGeom>
            <a:avLst/>
            <a:gdLst>
              <a:gd name="connsiteX0" fmla="*/ 0 w 2200275"/>
              <a:gd name="connsiteY0" fmla="*/ 819150 h 819150"/>
              <a:gd name="connsiteX1" fmla="*/ 2085975 w 2200275"/>
              <a:gd name="connsiteY1" fmla="*/ 819150 h 819150"/>
              <a:gd name="connsiteX2" fmla="*/ 2085975 w 2200275"/>
              <a:gd name="connsiteY2" fmla="*/ 0 h 819150"/>
              <a:gd name="connsiteX3" fmla="*/ 2200275 w 2200275"/>
              <a:gd name="connsiteY3" fmla="*/ 0 h 81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819150">
                <a:moveTo>
                  <a:pt x="0" y="819150"/>
                </a:moveTo>
                <a:lnTo>
                  <a:pt x="2085975" y="819150"/>
                </a:lnTo>
                <a:lnTo>
                  <a:pt x="2085975" y="0"/>
                </a:lnTo>
                <a:lnTo>
                  <a:pt x="2200275" y="0"/>
                </a:lnTo>
              </a:path>
            </a:pathLst>
          </a:custGeom>
          <a:noFill/>
          <a:ln w="9525" cap="rnd">
            <a:solidFill>
              <a:schemeClr val="bg1">
                <a:lumMod val="65000"/>
              </a:schemeClr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A3F9684E-BE83-4B79-A9A1-964A33153EF1}"/>
              </a:ext>
            </a:extLst>
          </p:cNvPr>
          <p:cNvCxnSpPr>
            <a:cxnSpLocks/>
          </p:cNvCxnSpPr>
          <p:nvPr/>
        </p:nvCxnSpPr>
        <p:spPr>
          <a:xfrm>
            <a:off x="5687072" y="4484513"/>
            <a:ext cx="509129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81" name="Rectangle 5">
            <a:extLst>
              <a:ext uri="{FF2B5EF4-FFF2-40B4-BE49-F238E27FC236}">
                <a16:creationId xmlns:a16="http://schemas.microsoft.com/office/drawing/2014/main" id="{18C7C968-8293-463D-88C7-0AD89EB96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916" y="4743243"/>
            <a:ext cx="2022044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chemeClr val="accent2"/>
              </a:buClr>
              <a:buSzPct val="85000"/>
            </a:pP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전세계에 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13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개의 </a:t>
            </a: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logical root name “servers” </a:t>
            </a:r>
          </a:p>
        </p:txBody>
      </p:sp>
      <p:sp>
        <p:nvSpPr>
          <p:cNvPr id="82" name="Rectangle 3">
            <a:extLst>
              <a:ext uri="{FF2B5EF4-FFF2-40B4-BE49-F238E27FC236}">
                <a16:creationId xmlns:a16="http://schemas.microsoft.com/office/drawing/2014/main" id="{004328E4-2926-48B3-921D-EF411BF7C34D}"/>
              </a:ext>
            </a:extLst>
          </p:cNvPr>
          <p:cNvSpPr txBox="1">
            <a:spLocks noChangeArrowheads="1"/>
          </p:cNvSpPr>
          <p:nvPr/>
        </p:nvSpPr>
        <p:spPr>
          <a:xfrm>
            <a:off x="6201916" y="5575646"/>
            <a:ext cx="2114988" cy="52027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“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server” 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중복되어 있음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(replicated)</a:t>
            </a: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1F2508B3-B5E7-4124-971D-C09E07BE1384}"/>
              </a:ext>
            </a:extLst>
          </p:cNvPr>
          <p:cNvSpPr/>
          <p:nvPr/>
        </p:nvSpPr>
        <p:spPr>
          <a:xfrm>
            <a:off x="4093855" y="4157489"/>
            <a:ext cx="68584" cy="68584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3135DB56-B422-48A5-913D-CDF37BD80B7F}"/>
              </a:ext>
            </a:extLst>
          </p:cNvPr>
          <p:cNvSpPr/>
          <p:nvPr/>
        </p:nvSpPr>
        <p:spPr>
          <a:xfrm>
            <a:off x="4001780" y="4249563"/>
            <a:ext cx="68584" cy="68584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3657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TLD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서버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,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책임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DNS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</a:rPr>
              <a:t>서버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64020A1-6D6A-4980-9234-A6D52DD3BDB4}"/>
              </a:ext>
            </a:extLst>
          </p:cNvPr>
          <p:cNvSpPr/>
          <p:nvPr/>
        </p:nvSpPr>
        <p:spPr>
          <a:xfrm>
            <a:off x="758638" y="1658088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4" name="그래픽 9">
            <a:extLst>
              <a:ext uri="{FF2B5EF4-FFF2-40B4-BE49-F238E27FC236}">
                <a16:creationId xmlns:a16="http://schemas.microsoft.com/office/drawing/2014/main" id="{7E636F32-67B3-498A-BD5E-62461E50BF4B}"/>
              </a:ext>
            </a:extLst>
          </p:cNvPr>
          <p:cNvSpPr/>
          <p:nvPr/>
        </p:nvSpPr>
        <p:spPr>
          <a:xfrm rot="5400000">
            <a:off x="638045" y="1179876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09898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ECD4A29E-63F5-40A6-9A98-C1BDF3902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1216050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최상위 레벨 도메인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(top-level domain, TLD) 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서버</a:t>
            </a:r>
            <a:endParaRPr lang="en-US" altLang="ko-KR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8C9F91A-26FE-4596-8C49-9C6AB6220D76}"/>
              </a:ext>
            </a:extLst>
          </p:cNvPr>
          <p:cNvSpPr/>
          <p:nvPr/>
        </p:nvSpPr>
        <p:spPr>
          <a:xfrm>
            <a:off x="758638" y="4015054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8" name="그래픽 9">
            <a:extLst>
              <a:ext uri="{FF2B5EF4-FFF2-40B4-BE49-F238E27FC236}">
                <a16:creationId xmlns:a16="http://schemas.microsoft.com/office/drawing/2014/main" id="{39666A9D-C5D8-46EB-9F28-A5E42ED5CAE4}"/>
              </a:ext>
            </a:extLst>
          </p:cNvPr>
          <p:cNvSpPr/>
          <p:nvPr/>
        </p:nvSpPr>
        <p:spPr>
          <a:xfrm rot="5400000">
            <a:off x="638045" y="3536842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D312197D-7E40-4C33-BBE0-7A59BA39B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3573016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책임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(authoritative) DNS 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서버</a:t>
            </a:r>
            <a:endParaRPr lang="en-US" altLang="ko-KR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8C2EF227-2A3B-4708-A7AC-2065B3576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17" y="3632566"/>
            <a:ext cx="291313" cy="301717"/>
          </a:xfrm>
          <a:prstGeom prst="rect">
            <a:avLst/>
          </a:prstGeom>
        </p:spPr>
      </p:pic>
      <p:sp>
        <p:nvSpPr>
          <p:cNvPr id="22" name="Rectangle 3">
            <a:extLst>
              <a:ext uri="{FF2B5EF4-FFF2-40B4-BE49-F238E27FC236}">
                <a16:creationId xmlns:a16="http://schemas.microsoft.com/office/drawing/2014/main" id="{F7A0CCF8-A5C3-4086-9C95-32711C85D0EE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844824"/>
            <a:ext cx="7277340" cy="133517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com, org, net, </a:t>
            </a: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edu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aero, jobs, museums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등과 최상위 국가 도메인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uk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fr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ca, </a:t>
            </a: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kr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책임진다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Network Solutions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.com TLD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서버를 관리함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Educause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edu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TLD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서버를 관리함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6DBD2C18-6ABB-4452-A8FC-9843F2ED2CCD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184164"/>
            <a:ext cx="7277340" cy="9812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각 기관은 자신의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 server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가지고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기관 내 호스트들의 이름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-IP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매핑을 제공한다 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기관에서 자체적으로 관리하거나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또는 인터넷 서비스 제공자가 관리한다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17B773E-BA72-4920-9B14-06BA9D1E6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128" y="1258543"/>
            <a:ext cx="277090" cy="3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53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로컬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DNS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name server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388A9C-142C-46C5-8856-1E82CDCA79A6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78722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계층 구조에 정확히 들어맞지는 않는다</a:t>
            </a:r>
          </a:p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각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ISP (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지역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ISP,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기업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대학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)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에 하나씩 있다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17FD486-7178-443D-81C6-D798F04709BF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988666"/>
            <a:ext cx="677410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“default name server”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라고도 한다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B536079-829A-4889-B9F2-75A80CFA201F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526804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호스트가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DNS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질의를 하면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로컬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DNS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서버에 보내어진다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7BAB3E6-EBB7-4754-AFC1-ACA4ECE7E90F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958852"/>
            <a:ext cx="6774102" cy="9812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캐시에 최근의 이름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-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 변환쌍을 보관하고 있음 </a:t>
            </a:r>
            <a:b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시간이 지나서 주소가 바뀌었을 수도 있음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!)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프록시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(proxy)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역할을 하여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질의를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계층 구조에 전달함</a:t>
            </a:r>
          </a:p>
        </p:txBody>
      </p:sp>
    </p:spTree>
    <p:extLst>
      <p:ext uri="{BB962C8B-B14F-4D97-AF65-F5344CB8AC3E}">
        <p14:creationId xmlns:p14="http://schemas.microsoft.com/office/powerpoint/2010/main" val="3573575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DNS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이름 변환의 예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5CFF7F-B174-442C-8126-39A75B5BE2BF}"/>
              </a:ext>
            </a:extLst>
          </p:cNvPr>
          <p:cNvSpPr txBox="1">
            <a:spLocks noChangeArrowheads="1"/>
          </p:cNvSpPr>
          <p:nvPr/>
        </p:nvSpPr>
        <p:spPr>
          <a:xfrm>
            <a:off x="4183042" y="1078722"/>
            <a:ext cx="4180285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호스트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cis.poly.edu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가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gaia.cs.umass.edu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의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IP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주소를 원한다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AC10C88-AEA0-4AF6-BB72-EED9D99307AD}"/>
              </a:ext>
            </a:extLst>
          </p:cNvPr>
          <p:cNvSpPr/>
          <p:nvPr/>
        </p:nvSpPr>
        <p:spPr>
          <a:xfrm>
            <a:off x="4243617" y="2565374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8" name="그래픽 9">
            <a:extLst>
              <a:ext uri="{FF2B5EF4-FFF2-40B4-BE49-F238E27FC236}">
                <a16:creationId xmlns:a16="http://schemas.microsoft.com/office/drawing/2014/main" id="{CCBB8F15-F58B-40B5-81E1-83C94E0C597E}"/>
              </a:ext>
            </a:extLst>
          </p:cNvPr>
          <p:cNvSpPr/>
          <p:nvPr/>
        </p:nvSpPr>
        <p:spPr>
          <a:xfrm rot="5400000">
            <a:off x="4123024" y="2087162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B70E8059-268A-40A7-A741-678462CAC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4415" y="2123336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반복적 질의 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(iterated query)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1963B1F-8E3A-4192-B061-FD9BF0359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714" y="2181049"/>
            <a:ext cx="299877" cy="311304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8D3B790F-8A4C-422F-8905-33A0F566E20A}"/>
              </a:ext>
            </a:extLst>
          </p:cNvPr>
          <p:cNvSpPr txBox="1">
            <a:spLocks noChangeArrowheads="1"/>
          </p:cNvSpPr>
          <p:nvPr/>
        </p:nvSpPr>
        <p:spPr>
          <a:xfrm>
            <a:off x="4464227" y="2699400"/>
            <a:ext cx="3577512" cy="9812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질의를 받은 서버는 다음에 접속할 서버의 이름을 돌려준다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“난 모르지만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 서버에 물어 보세요”</a:t>
            </a:r>
          </a:p>
        </p:txBody>
      </p:sp>
      <p:sp>
        <p:nvSpPr>
          <p:cNvPr id="13" name="Google Shape;245;p4">
            <a:extLst>
              <a:ext uri="{FF2B5EF4-FFF2-40B4-BE49-F238E27FC236}">
                <a16:creationId xmlns:a16="http://schemas.microsoft.com/office/drawing/2014/main" id="{41676FD2-1250-4F97-98B0-D083303D6C7D}"/>
              </a:ext>
            </a:extLst>
          </p:cNvPr>
          <p:cNvSpPr/>
          <p:nvPr/>
        </p:nvSpPr>
        <p:spPr>
          <a:xfrm>
            <a:off x="658812" y="1062039"/>
            <a:ext cx="3311208" cy="5330725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035608-84B3-4326-8E42-F05425D66B55}"/>
              </a:ext>
            </a:extLst>
          </p:cNvPr>
          <p:cNvGrpSpPr/>
          <p:nvPr/>
        </p:nvGrpSpPr>
        <p:grpSpPr>
          <a:xfrm>
            <a:off x="2440877" y="5042716"/>
            <a:ext cx="775779" cy="784685"/>
            <a:chOff x="2554037" y="5108257"/>
            <a:chExt cx="853357" cy="863153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0EF26AB2-1870-460D-B1F8-594636C415A3}"/>
                </a:ext>
              </a:extLst>
            </p:cNvPr>
            <p:cNvSpPr/>
            <p:nvPr/>
          </p:nvSpPr>
          <p:spPr>
            <a:xfrm>
              <a:off x="2554037" y="5118053"/>
              <a:ext cx="853357" cy="853357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42EC9E52-71CB-4C79-A452-DF395C6BA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2196" y="5108257"/>
              <a:ext cx="732891" cy="839331"/>
            </a:xfrm>
            <a:prstGeom prst="rect">
              <a:avLst/>
            </a:prstGeom>
          </p:spPr>
        </p:pic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5C04D448-E580-4923-8830-7EF76147839A}"/>
              </a:ext>
            </a:extLst>
          </p:cNvPr>
          <p:cNvGrpSpPr/>
          <p:nvPr/>
        </p:nvGrpSpPr>
        <p:grpSpPr>
          <a:xfrm>
            <a:off x="946906" y="5042716"/>
            <a:ext cx="775779" cy="784685"/>
            <a:chOff x="2554037" y="5108257"/>
            <a:chExt cx="853357" cy="863153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2A1F3037-AC33-4B4E-94AE-232E94FE6CEB}"/>
                </a:ext>
              </a:extLst>
            </p:cNvPr>
            <p:cNvSpPr/>
            <p:nvPr/>
          </p:nvSpPr>
          <p:spPr>
            <a:xfrm>
              <a:off x="2554037" y="5118053"/>
              <a:ext cx="853357" cy="853357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988918F4-9EE0-4F6D-B664-D884E037C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2196" y="5108257"/>
              <a:ext cx="732891" cy="839331"/>
            </a:xfrm>
            <a:prstGeom prst="rect">
              <a:avLst/>
            </a:prstGeom>
          </p:spPr>
        </p:pic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0DB9E6C9-338C-4E41-830A-B81E9A236BBC}"/>
              </a:ext>
            </a:extLst>
          </p:cNvPr>
          <p:cNvSpPr txBox="1"/>
          <p:nvPr/>
        </p:nvSpPr>
        <p:spPr>
          <a:xfrm>
            <a:off x="658813" y="5900321"/>
            <a:ext cx="130714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요청 호스트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cis.poly.edu</a:t>
            </a:r>
            <a:endParaRPr lang="en-US" altLang="ko-KR" sz="14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5D79921-798E-43C2-864D-751B60A4A08D}"/>
              </a:ext>
            </a:extLst>
          </p:cNvPr>
          <p:cNvSpPr txBox="1"/>
          <p:nvPr/>
        </p:nvSpPr>
        <p:spPr>
          <a:xfrm>
            <a:off x="2009805" y="5900321"/>
            <a:ext cx="16379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gaia.cs.umass.edu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F732197-0188-484C-A99F-0682ECCBE876}"/>
              </a:ext>
            </a:extLst>
          </p:cNvPr>
          <p:cNvSpPr txBox="1"/>
          <p:nvPr/>
        </p:nvSpPr>
        <p:spPr>
          <a:xfrm>
            <a:off x="2009805" y="4551581"/>
            <a:ext cx="1637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책임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 server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dns.cs.umass.edu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F189B07-7415-4FE5-9A96-7C777B5E24E0}"/>
              </a:ext>
            </a:extLst>
          </p:cNvPr>
          <p:cNvSpPr txBox="1"/>
          <p:nvPr/>
        </p:nvSpPr>
        <p:spPr>
          <a:xfrm>
            <a:off x="3059838" y="2720012"/>
            <a:ext cx="1061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TLD DNS server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46D2F0A-1977-43A6-BABB-E4C53A1168E6}"/>
              </a:ext>
            </a:extLst>
          </p:cNvPr>
          <p:cNvSpPr txBox="1"/>
          <p:nvPr/>
        </p:nvSpPr>
        <p:spPr>
          <a:xfrm>
            <a:off x="3059838" y="1384201"/>
            <a:ext cx="1061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root DNS server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4C4F124A-DD9A-4022-9C7B-C9961D6FFEF7}"/>
              </a:ext>
            </a:extLst>
          </p:cNvPr>
          <p:cNvGrpSpPr/>
          <p:nvPr/>
        </p:nvGrpSpPr>
        <p:grpSpPr>
          <a:xfrm>
            <a:off x="936656" y="3271838"/>
            <a:ext cx="311119" cy="1752600"/>
            <a:chOff x="936656" y="3271838"/>
            <a:chExt cx="311119" cy="1752600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37328ED6-0D88-477A-B65F-89D581B41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775" y="3271838"/>
              <a:ext cx="0" cy="1752600"/>
            </a:xfrm>
            <a:prstGeom prst="straightConnector1">
              <a:avLst/>
            </a:prstGeom>
            <a:ln w="19050">
              <a:solidFill>
                <a:srgbClr val="105B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 Box 27">
              <a:extLst>
                <a:ext uri="{FF2B5EF4-FFF2-40B4-BE49-F238E27FC236}">
                  <a16:creationId xmlns:a16="http://schemas.microsoft.com/office/drawing/2014/main" id="{ED738277-034B-4918-8BA7-EB1949792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6656" y="4381500"/>
              <a:ext cx="28886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1</a:t>
              </a:r>
            </a:p>
          </p:txBody>
        </p: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812E2A05-54EB-4E89-905F-B05D53D7EA11}"/>
              </a:ext>
            </a:extLst>
          </p:cNvPr>
          <p:cNvGrpSpPr/>
          <p:nvPr/>
        </p:nvGrpSpPr>
        <p:grpSpPr>
          <a:xfrm>
            <a:off x="1393852" y="3284984"/>
            <a:ext cx="323313" cy="1728192"/>
            <a:chOff x="1393852" y="3284984"/>
            <a:chExt cx="323313" cy="1728192"/>
          </a:xfrm>
        </p:grpSpPr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D6800689-9DCE-4F49-90C9-57654151D3E5}"/>
                </a:ext>
              </a:extLst>
            </p:cNvPr>
            <p:cNvCxnSpPr>
              <a:cxnSpLocks/>
            </p:cNvCxnSpPr>
            <p:nvPr/>
          </p:nvCxnSpPr>
          <p:spPr>
            <a:xfrm>
              <a:off x="1393852" y="3284984"/>
              <a:ext cx="0" cy="1728192"/>
            </a:xfrm>
            <a:prstGeom prst="straightConnector1">
              <a:avLst/>
            </a:prstGeom>
            <a:ln w="19050">
              <a:solidFill>
                <a:srgbClr val="105B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 Box 62">
              <a:extLst>
                <a:ext uri="{FF2B5EF4-FFF2-40B4-BE49-F238E27FC236}">
                  <a16:creationId xmlns:a16="http://schemas.microsoft.com/office/drawing/2014/main" id="{3B43A9A5-F984-475B-A45E-09C70F48AF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5480" y="4381500"/>
              <a:ext cx="30168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8</a:t>
              </a:r>
            </a:p>
          </p:txBody>
        </p: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6DC22750-AD2A-4E62-A973-1F085656BF5F}"/>
              </a:ext>
            </a:extLst>
          </p:cNvPr>
          <p:cNvGrpSpPr/>
          <p:nvPr/>
        </p:nvGrpSpPr>
        <p:grpSpPr>
          <a:xfrm>
            <a:off x="1590675" y="3067051"/>
            <a:ext cx="1059083" cy="857527"/>
            <a:chOff x="1590675" y="3067051"/>
            <a:chExt cx="1059083" cy="857527"/>
          </a:xfrm>
        </p:grpSpPr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A5D9F859-AB76-4120-8FB2-28A3AEAC702B}"/>
                </a:ext>
              </a:extLst>
            </p:cNvPr>
            <p:cNvCxnSpPr>
              <a:cxnSpLocks/>
            </p:cNvCxnSpPr>
            <p:nvPr/>
          </p:nvCxnSpPr>
          <p:spPr>
            <a:xfrm>
              <a:off x="1590675" y="3067051"/>
              <a:ext cx="1059083" cy="857527"/>
            </a:xfrm>
            <a:prstGeom prst="straightConnector1">
              <a:avLst/>
            </a:prstGeom>
            <a:ln w="19050">
              <a:solidFill>
                <a:srgbClr val="105B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 Box 62">
              <a:extLst>
                <a:ext uri="{FF2B5EF4-FFF2-40B4-BE49-F238E27FC236}">
                  <a16:creationId xmlns:a16="http://schemas.microsoft.com/office/drawing/2014/main" id="{B4F80CF2-2AD9-47CB-9648-6317EDD23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8589" y="3462909"/>
              <a:ext cx="30168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6</a:t>
              </a:r>
            </a:p>
          </p:txBody>
        </p: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F34E1D79-F215-4F1C-A585-FFCE08206B1C}"/>
              </a:ext>
            </a:extLst>
          </p:cNvPr>
          <p:cNvGrpSpPr/>
          <p:nvPr/>
        </p:nvGrpSpPr>
        <p:grpSpPr>
          <a:xfrm>
            <a:off x="1538288" y="3176592"/>
            <a:ext cx="1181100" cy="1113583"/>
            <a:chOff x="1538288" y="3176592"/>
            <a:chExt cx="1181100" cy="1113583"/>
          </a:xfrm>
        </p:grpSpPr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CECF4091-1427-47AE-9F96-41CF8285D1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8288" y="3176592"/>
              <a:ext cx="1181100" cy="952496"/>
            </a:xfrm>
            <a:prstGeom prst="straightConnector1">
              <a:avLst/>
            </a:prstGeom>
            <a:ln w="19050">
              <a:solidFill>
                <a:srgbClr val="105B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 Box 27">
              <a:extLst>
                <a:ext uri="{FF2B5EF4-FFF2-40B4-BE49-F238E27FC236}">
                  <a16:creationId xmlns:a16="http://schemas.microsoft.com/office/drawing/2014/main" id="{3976DE80-0F17-4D95-A1CC-AEB85FC0E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3397" y="3982398"/>
              <a:ext cx="29206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7</a:t>
              </a: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5BB6F6FB-9C2B-4CE5-A05F-E5A7C8DA06ED}"/>
              </a:ext>
            </a:extLst>
          </p:cNvPr>
          <p:cNvGrpSpPr/>
          <p:nvPr/>
        </p:nvGrpSpPr>
        <p:grpSpPr>
          <a:xfrm>
            <a:off x="1559496" y="2924944"/>
            <a:ext cx="1152128" cy="341685"/>
            <a:chOff x="1559496" y="2924944"/>
            <a:chExt cx="1152128" cy="341685"/>
          </a:xfrm>
        </p:grpSpPr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9FFAEFAD-5045-4C71-B75A-87E997F460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9496" y="2924944"/>
              <a:ext cx="1152128" cy="0"/>
            </a:xfrm>
            <a:prstGeom prst="straightConnector1">
              <a:avLst/>
            </a:prstGeom>
            <a:ln w="19050">
              <a:solidFill>
                <a:srgbClr val="105B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 Box 62">
              <a:extLst>
                <a:ext uri="{FF2B5EF4-FFF2-40B4-BE49-F238E27FC236}">
                  <a16:creationId xmlns:a16="http://schemas.microsoft.com/office/drawing/2014/main" id="{86467062-91F5-49AD-BBC2-242AD9005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8589" y="2958852"/>
              <a:ext cx="30168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5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39293185-E54D-4EA2-916A-2B82211B9880}"/>
              </a:ext>
            </a:extLst>
          </p:cNvPr>
          <p:cNvGrpSpPr/>
          <p:nvPr/>
        </p:nvGrpSpPr>
        <p:grpSpPr>
          <a:xfrm>
            <a:off x="1415480" y="2542158"/>
            <a:ext cx="1261045" cy="307777"/>
            <a:chOff x="1415480" y="2542158"/>
            <a:chExt cx="1261045" cy="307777"/>
          </a:xfrm>
        </p:grpSpPr>
        <p:sp>
          <p:nvSpPr>
            <p:cNvPr id="99" name="Text Box 62">
              <a:extLst>
                <a:ext uri="{FF2B5EF4-FFF2-40B4-BE49-F238E27FC236}">
                  <a16:creationId xmlns:a16="http://schemas.microsoft.com/office/drawing/2014/main" id="{BF0AB8E5-5208-497F-8648-B55E9BF073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8589" y="2542158"/>
              <a:ext cx="30168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4</a:t>
              </a:r>
            </a:p>
          </p:txBody>
        </p:sp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19798E55-8924-4427-BB0E-78BEA60EC6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5480" y="2819595"/>
              <a:ext cx="1261045" cy="0"/>
            </a:xfrm>
            <a:prstGeom prst="straightConnector1">
              <a:avLst/>
            </a:prstGeom>
            <a:ln w="19050">
              <a:solidFill>
                <a:srgbClr val="105B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9" name="그림 68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EC2FF0A9-3E01-4C83-BAD1-66499F6196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828" y="3760465"/>
            <a:ext cx="359572" cy="774851"/>
          </a:xfrm>
          <a:prstGeom prst="rect">
            <a:avLst/>
          </a:prstGeom>
        </p:spPr>
      </p:pic>
      <p:pic>
        <p:nvPicPr>
          <p:cNvPr id="67" name="그림 66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2859CEA1-7BC6-4532-BD8C-AF6A88ACB8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009" y="2582860"/>
            <a:ext cx="359572" cy="774851"/>
          </a:xfrm>
          <a:prstGeom prst="rect">
            <a:avLst/>
          </a:prstGeom>
        </p:spPr>
      </p:pic>
      <p:pic>
        <p:nvPicPr>
          <p:cNvPr id="21" name="그림 20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A3F20CE9-75C4-459D-A8E8-979D6E1139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348" y="1262059"/>
            <a:ext cx="359572" cy="774851"/>
          </a:xfrm>
          <a:prstGeom prst="rect">
            <a:avLst/>
          </a:prstGeom>
        </p:spPr>
      </p:pic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A49E0518-00F2-45C5-87B6-762249B8DC59}"/>
              </a:ext>
            </a:extLst>
          </p:cNvPr>
          <p:cNvGrpSpPr/>
          <p:nvPr/>
        </p:nvGrpSpPr>
        <p:grpSpPr>
          <a:xfrm>
            <a:off x="1409700" y="1633537"/>
            <a:ext cx="1228725" cy="895350"/>
            <a:chOff x="1409700" y="1633537"/>
            <a:chExt cx="1228725" cy="895350"/>
          </a:xfrm>
        </p:grpSpPr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4DC085D9-F4BB-4DCB-85C2-1043DBED44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9700" y="1633537"/>
              <a:ext cx="1228725" cy="895350"/>
            </a:xfrm>
            <a:prstGeom prst="straightConnector1">
              <a:avLst/>
            </a:prstGeom>
            <a:ln w="19050">
              <a:solidFill>
                <a:srgbClr val="105BA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 Box 62">
              <a:extLst>
                <a:ext uri="{FF2B5EF4-FFF2-40B4-BE49-F238E27FC236}">
                  <a16:creationId xmlns:a16="http://schemas.microsoft.com/office/drawing/2014/main" id="{1461F9C8-7CF0-4D39-A0BB-939493B29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239" y="1700781"/>
              <a:ext cx="30168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2</a:t>
              </a: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9AD991E1-BA5F-4DA5-891C-E9D39F2A0F3F}"/>
              </a:ext>
            </a:extLst>
          </p:cNvPr>
          <p:cNvGrpSpPr/>
          <p:nvPr/>
        </p:nvGrpSpPr>
        <p:grpSpPr>
          <a:xfrm>
            <a:off x="1485900" y="1728787"/>
            <a:ext cx="1225724" cy="900113"/>
            <a:chOff x="1485900" y="1728787"/>
            <a:chExt cx="1225724" cy="900113"/>
          </a:xfrm>
        </p:grpSpPr>
        <p:cxnSp>
          <p:nvCxnSpPr>
            <p:cNvPr id="107" name="직선 화살표 연결선 106">
              <a:extLst>
                <a:ext uri="{FF2B5EF4-FFF2-40B4-BE49-F238E27FC236}">
                  <a16:creationId xmlns:a16="http://schemas.microsoft.com/office/drawing/2014/main" id="{12B21EE3-5C44-4D84-BC89-86B21FD7DA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5900" y="1728787"/>
              <a:ext cx="1225724" cy="900113"/>
            </a:xfrm>
            <a:prstGeom prst="straightConnector1">
              <a:avLst/>
            </a:prstGeom>
            <a:ln w="19050">
              <a:solidFill>
                <a:srgbClr val="105B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 Box 62">
              <a:extLst>
                <a:ext uri="{FF2B5EF4-FFF2-40B4-BE49-F238E27FC236}">
                  <a16:creationId xmlns:a16="http://schemas.microsoft.com/office/drawing/2014/main" id="{1F082D53-C652-4B93-B8BD-5D2594488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2851" y="2072256"/>
              <a:ext cx="30168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3</a:t>
              </a:r>
            </a:p>
          </p:txBody>
        </p:sp>
      </p:grpSp>
      <p:pic>
        <p:nvPicPr>
          <p:cNvPr id="68" name="그림 67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2E48E66D-472D-4393-B8E3-0F491957D2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348" y="2582860"/>
            <a:ext cx="359572" cy="774851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94D4E390-0D9B-4606-821D-86C9E5B5D8B4}"/>
              </a:ext>
            </a:extLst>
          </p:cNvPr>
          <p:cNvSpPr txBox="1"/>
          <p:nvPr/>
        </p:nvSpPr>
        <p:spPr>
          <a:xfrm>
            <a:off x="695400" y="3573016"/>
            <a:ext cx="1307147" cy="677108"/>
          </a:xfrm>
          <a:prstGeom prst="rect">
            <a:avLst/>
          </a:prstGeom>
          <a:solidFill>
            <a:srgbClr val="EFF5FB"/>
          </a:solidFill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local DNS server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dns.poly.edu</a:t>
            </a:r>
          </a:p>
        </p:txBody>
      </p:sp>
    </p:spTree>
    <p:extLst>
      <p:ext uri="{BB962C8B-B14F-4D97-AF65-F5344CB8AC3E}">
        <p14:creationId xmlns:p14="http://schemas.microsoft.com/office/powerpoint/2010/main" val="261409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5;p4">
            <a:extLst>
              <a:ext uri="{FF2B5EF4-FFF2-40B4-BE49-F238E27FC236}">
                <a16:creationId xmlns:a16="http://schemas.microsoft.com/office/drawing/2014/main" id="{50A7A275-C197-42CD-BC11-E8ED54C965BC}"/>
              </a:ext>
            </a:extLst>
          </p:cNvPr>
          <p:cNvSpPr/>
          <p:nvPr/>
        </p:nvSpPr>
        <p:spPr>
          <a:xfrm>
            <a:off x="658813" y="1052513"/>
            <a:ext cx="3311208" cy="53402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109CBB50-0927-4242-986C-85D811087B15}"/>
              </a:ext>
            </a:extLst>
          </p:cNvPr>
          <p:cNvCxnSpPr>
            <a:cxnSpLocks/>
          </p:cNvCxnSpPr>
          <p:nvPr/>
        </p:nvCxnSpPr>
        <p:spPr>
          <a:xfrm flipH="1" flipV="1">
            <a:off x="2235200" y="2038350"/>
            <a:ext cx="641350" cy="723900"/>
          </a:xfrm>
          <a:prstGeom prst="straightConnector1">
            <a:avLst/>
          </a:prstGeom>
          <a:ln w="19050">
            <a:solidFill>
              <a:srgbClr val="0989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DNS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이름 변환의 예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18</a:t>
            </a:fld>
            <a:endParaRPr 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1B589A9-3FDC-4191-92B1-2B78B3B3EA83}"/>
              </a:ext>
            </a:extLst>
          </p:cNvPr>
          <p:cNvCxnSpPr>
            <a:cxnSpLocks/>
          </p:cNvCxnSpPr>
          <p:nvPr/>
        </p:nvCxnSpPr>
        <p:spPr>
          <a:xfrm flipV="1">
            <a:off x="1247775" y="3271838"/>
            <a:ext cx="0" cy="1752600"/>
          </a:xfrm>
          <a:prstGeom prst="straightConnector1">
            <a:avLst/>
          </a:prstGeom>
          <a:ln w="19050">
            <a:solidFill>
              <a:srgbClr val="0989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08E138F8-11E9-4C21-8FF4-A149B5643393}"/>
              </a:ext>
            </a:extLst>
          </p:cNvPr>
          <p:cNvGrpSpPr/>
          <p:nvPr/>
        </p:nvGrpSpPr>
        <p:grpSpPr>
          <a:xfrm>
            <a:off x="2440877" y="5042716"/>
            <a:ext cx="775779" cy="784685"/>
            <a:chOff x="2554037" y="5108257"/>
            <a:chExt cx="853357" cy="86315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B99E6C2-959E-4E39-A1B7-916A62819BF1}"/>
                </a:ext>
              </a:extLst>
            </p:cNvPr>
            <p:cNvSpPr/>
            <p:nvPr/>
          </p:nvSpPr>
          <p:spPr>
            <a:xfrm>
              <a:off x="2554037" y="5118053"/>
              <a:ext cx="853357" cy="8533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29D3A7C-1AE2-4326-84A9-422855A5B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2196" y="5108257"/>
              <a:ext cx="732891" cy="839331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11A35E4-3B9B-4E26-9180-59CF79E49ED2}"/>
              </a:ext>
            </a:extLst>
          </p:cNvPr>
          <p:cNvGrpSpPr/>
          <p:nvPr/>
        </p:nvGrpSpPr>
        <p:grpSpPr>
          <a:xfrm>
            <a:off x="946906" y="5042716"/>
            <a:ext cx="775779" cy="784685"/>
            <a:chOff x="2554037" y="5108257"/>
            <a:chExt cx="853357" cy="863153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90A7284D-6F86-4360-9B82-EC5E291477B0}"/>
                </a:ext>
              </a:extLst>
            </p:cNvPr>
            <p:cNvSpPr/>
            <p:nvPr/>
          </p:nvSpPr>
          <p:spPr>
            <a:xfrm>
              <a:off x="2554037" y="5118053"/>
              <a:ext cx="853357" cy="8533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CF7CB49-F86C-4483-BA28-CA2CCB658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2196" y="5108257"/>
              <a:ext cx="732891" cy="839331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C30D610-1D50-4AB8-8D29-A23CC6BBF40D}"/>
              </a:ext>
            </a:extLst>
          </p:cNvPr>
          <p:cNvSpPr txBox="1"/>
          <p:nvPr/>
        </p:nvSpPr>
        <p:spPr>
          <a:xfrm>
            <a:off x="658813" y="5900321"/>
            <a:ext cx="130714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요청 호스트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cis.poly.edu</a:t>
            </a:r>
            <a:endParaRPr lang="en-US" altLang="ko-KR" sz="14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112074-68C9-4C0D-B012-6E51D85B6DCF}"/>
              </a:ext>
            </a:extLst>
          </p:cNvPr>
          <p:cNvSpPr txBox="1"/>
          <p:nvPr/>
        </p:nvSpPr>
        <p:spPr>
          <a:xfrm>
            <a:off x="2009805" y="5900321"/>
            <a:ext cx="16379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gaia.cs.umass.edu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BA931-47F0-4711-B1D7-9A59F3A6BE7F}"/>
              </a:ext>
            </a:extLst>
          </p:cNvPr>
          <p:cNvSpPr txBox="1"/>
          <p:nvPr/>
        </p:nvSpPr>
        <p:spPr>
          <a:xfrm>
            <a:off x="2009805" y="4551581"/>
            <a:ext cx="1637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책임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 server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dns.cs.umass.edu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8B7556-7510-4EF5-B57D-9E2513F09CF5}"/>
              </a:ext>
            </a:extLst>
          </p:cNvPr>
          <p:cNvSpPr txBox="1"/>
          <p:nvPr/>
        </p:nvSpPr>
        <p:spPr>
          <a:xfrm>
            <a:off x="3059838" y="2720012"/>
            <a:ext cx="1061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TLD DNS server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E406EC-E4D8-48B9-BFC3-40C04BBC7DF4}"/>
              </a:ext>
            </a:extLst>
          </p:cNvPr>
          <p:cNvSpPr txBox="1"/>
          <p:nvPr/>
        </p:nvSpPr>
        <p:spPr>
          <a:xfrm>
            <a:off x="2351584" y="1384201"/>
            <a:ext cx="1061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root DNS server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01DFBE1-6EA5-44D0-84D6-F1415A9CC915}"/>
              </a:ext>
            </a:extLst>
          </p:cNvPr>
          <p:cNvCxnSpPr>
            <a:cxnSpLocks/>
          </p:cNvCxnSpPr>
          <p:nvPr/>
        </p:nvCxnSpPr>
        <p:spPr>
          <a:xfrm>
            <a:off x="1393852" y="3333750"/>
            <a:ext cx="0" cy="1679426"/>
          </a:xfrm>
          <a:prstGeom prst="straightConnector1">
            <a:avLst/>
          </a:prstGeom>
          <a:ln w="19050">
            <a:solidFill>
              <a:srgbClr val="0989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0857FEE-6BD2-4FBC-87BB-72E12A6140BC}"/>
              </a:ext>
            </a:extLst>
          </p:cNvPr>
          <p:cNvSpPr txBox="1"/>
          <p:nvPr/>
        </p:nvSpPr>
        <p:spPr>
          <a:xfrm>
            <a:off x="695400" y="3469541"/>
            <a:ext cx="1307147" cy="677108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local DNS server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dns.poly.edu</a:t>
            </a:r>
          </a:p>
        </p:txBody>
      </p:sp>
      <p:sp>
        <p:nvSpPr>
          <p:cNvPr id="21" name="Text Box 27">
            <a:extLst>
              <a:ext uri="{FF2B5EF4-FFF2-40B4-BE49-F238E27FC236}">
                <a16:creationId xmlns:a16="http://schemas.microsoft.com/office/drawing/2014/main" id="{1F0A93C8-FB58-4D51-B468-677F5B9B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56" y="4381500"/>
            <a:ext cx="28886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</a:t>
            </a:r>
          </a:p>
        </p:txBody>
      </p:sp>
      <p:sp>
        <p:nvSpPr>
          <p:cNvPr id="22" name="Text Box 62">
            <a:extLst>
              <a:ext uri="{FF2B5EF4-FFF2-40B4-BE49-F238E27FC236}">
                <a16:creationId xmlns:a16="http://schemas.microsoft.com/office/drawing/2014/main" id="{60A94894-CA7D-4DF8-902A-DAE304B22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80" y="4381500"/>
            <a:ext cx="30168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8</a:t>
            </a:r>
          </a:p>
        </p:txBody>
      </p:sp>
      <p:sp>
        <p:nvSpPr>
          <p:cNvPr id="25" name="Text Box 62">
            <a:extLst>
              <a:ext uri="{FF2B5EF4-FFF2-40B4-BE49-F238E27FC236}">
                <a16:creationId xmlns:a16="http://schemas.microsoft.com/office/drawing/2014/main" id="{65ACC53E-D2AC-4C49-B122-647C00843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600" y="3462909"/>
            <a:ext cx="30168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5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0F98808E-6634-41CA-A35F-83BE3E29A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540" y="3462909"/>
            <a:ext cx="30008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4</a:t>
            </a:r>
          </a:p>
        </p:txBody>
      </p:sp>
      <p:sp>
        <p:nvSpPr>
          <p:cNvPr id="28" name="Text Box 62">
            <a:extLst>
              <a:ext uri="{FF2B5EF4-FFF2-40B4-BE49-F238E27FC236}">
                <a16:creationId xmlns:a16="http://schemas.microsoft.com/office/drawing/2014/main" id="{B4A850A6-CD6E-441D-88A9-9AAA1665A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539" y="1988840"/>
            <a:ext cx="30168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3</a:t>
            </a:r>
          </a:p>
        </p:txBody>
      </p:sp>
      <p:sp>
        <p:nvSpPr>
          <p:cNvPr id="29" name="Text Box 62">
            <a:extLst>
              <a:ext uri="{FF2B5EF4-FFF2-40B4-BE49-F238E27FC236}">
                <a16:creationId xmlns:a16="http://schemas.microsoft.com/office/drawing/2014/main" id="{8065235C-9F4B-46C7-A428-87B034376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7789" y="2342902"/>
            <a:ext cx="30168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6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97B9CE5-E319-4934-BAF6-3C8CAA890588}"/>
              </a:ext>
            </a:extLst>
          </p:cNvPr>
          <p:cNvCxnSpPr>
            <a:cxnSpLocks/>
          </p:cNvCxnSpPr>
          <p:nvPr/>
        </p:nvCxnSpPr>
        <p:spPr>
          <a:xfrm>
            <a:off x="2205929" y="1816143"/>
            <a:ext cx="638236" cy="731690"/>
          </a:xfrm>
          <a:prstGeom prst="straightConnector1">
            <a:avLst/>
          </a:prstGeom>
          <a:ln w="19050">
            <a:solidFill>
              <a:srgbClr val="0989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BC3D2A98-04B6-44CC-B911-9538F4E5DD7B}"/>
              </a:ext>
            </a:extLst>
          </p:cNvPr>
          <p:cNvSpPr/>
          <p:nvPr/>
        </p:nvSpPr>
        <p:spPr>
          <a:xfrm>
            <a:off x="4243617" y="1854814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4" name="그래픽 9">
            <a:extLst>
              <a:ext uri="{FF2B5EF4-FFF2-40B4-BE49-F238E27FC236}">
                <a16:creationId xmlns:a16="http://schemas.microsoft.com/office/drawing/2014/main" id="{10D34FF5-1B62-4D39-A5C1-014AB911980C}"/>
              </a:ext>
            </a:extLst>
          </p:cNvPr>
          <p:cNvSpPr/>
          <p:nvPr/>
        </p:nvSpPr>
        <p:spPr>
          <a:xfrm rot="5400000">
            <a:off x="4123024" y="1376602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09898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5" name="Rectangle 5">
            <a:extLst>
              <a:ext uri="{FF2B5EF4-FFF2-40B4-BE49-F238E27FC236}">
                <a16:creationId xmlns:a16="http://schemas.microsoft.com/office/drawing/2014/main" id="{9AEDFE5B-ADBF-417B-88EB-66A3BDCAF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4415" y="1412776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재귀적 질의 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(recursive query)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C26622E7-C45C-412D-A31B-969FC33BD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714" y="1470489"/>
            <a:ext cx="299877" cy="311304"/>
          </a:xfrm>
          <a:prstGeom prst="rect">
            <a:avLst/>
          </a:prstGeom>
        </p:spPr>
      </p:pic>
      <p:sp>
        <p:nvSpPr>
          <p:cNvPr id="47" name="Rectangle 3">
            <a:extLst>
              <a:ext uri="{FF2B5EF4-FFF2-40B4-BE49-F238E27FC236}">
                <a16:creationId xmlns:a16="http://schemas.microsoft.com/office/drawing/2014/main" id="{D76BA739-EB73-4648-8035-5515C4E56C85}"/>
              </a:ext>
            </a:extLst>
          </p:cNvPr>
          <p:cNvSpPr txBox="1">
            <a:spLocks noChangeArrowheads="1"/>
          </p:cNvSpPr>
          <p:nvPr/>
        </p:nvSpPr>
        <p:spPr>
          <a:xfrm>
            <a:off x="4464227" y="1988840"/>
            <a:ext cx="3577512" cy="9812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질의를 받은 네임 서버는 주소를 알아내서 돌려준다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상위 계층에 과부하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?</a:t>
            </a:r>
            <a:endParaRPr lang="ko-KR" altLang="en-US" sz="15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74FE1C3-B015-45FC-B980-78B0218182DF}"/>
              </a:ext>
            </a:extLst>
          </p:cNvPr>
          <p:cNvGrpSpPr/>
          <p:nvPr/>
        </p:nvGrpSpPr>
        <p:grpSpPr>
          <a:xfrm>
            <a:off x="1312544" y="1822493"/>
            <a:ext cx="669290" cy="923882"/>
            <a:chOff x="1100031" y="1838368"/>
            <a:chExt cx="669290" cy="923882"/>
          </a:xfrm>
        </p:grpSpPr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51371C84-5093-4EDB-98E6-4472597A87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0031" y="2038350"/>
              <a:ext cx="641350" cy="723900"/>
            </a:xfrm>
            <a:prstGeom prst="straightConnector1">
              <a:avLst/>
            </a:prstGeom>
            <a:ln w="19050">
              <a:solidFill>
                <a:srgbClr val="09898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00FF1307-5A91-4AAB-9DCF-AACFDAB1C3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085" y="1838368"/>
              <a:ext cx="638236" cy="731690"/>
            </a:xfrm>
            <a:prstGeom prst="straightConnector1">
              <a:avLst/>
            </a:prstGeom>
            <a:ln w="19050">
              <a:solidFill>
                <a:srgbClr val="09898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그림 31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4D5B89F2-775D-41CA-9039-80A6D29B53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59" y="2582860"/>
            <a:ext cx="359572" cy="774851"/>
          </a:xfrm>
          <a:prstGeom prst="rect">
            <a:avLst/>
          </a:prstGeom>
        </p:spPr>
      </p:pic>
      <p:pic>
        <p:nvPicPr>
          <p:cNvPr id="35" name="그림 34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6C09F959-A86A-4FD9-9A5B-2D8AE603C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178" y="1262059"/>
            <a:ext cx="359572" cy="774851"/>
          </a:xfrm>
          <a:prstGeom prst="rect">
            <a:avLst/>
          </a:prstGeom>
        </p:spPr>
      </p:pic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B034047-B3FA-49EE-86E9-0B73CE1EEFF7}"/>
              </a:ext>
            </a:extLst>
          </p:cNvPr>
          <p:cNvCxnSpPr>
            <a:cxnSpLocks/>
          </p:cNvCxnSpPr>
          <p:nvPr/>
        </p:nvCxnSpPr>
        <p:spPr>
          <a:xfrm>
            <a:off x="2960908" y="3305175"/>
            <a:ext cx="0" cy="450850"/>
          </a:xfrm>
          <a:prstGeom prst="straightConnector1">
            <a:avLst/>
          </a:prstGeom>
          <a:ln w="19050">
            <a:solidFill>
              <a:srgbClr val="0989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F36048D6-9968-4CFA-A3EE-72286F8F8844}"/>
              </a:ext>
            </a:extLst>
          </p:cNvPr>
          <p:cNvCxnSpPr>
            <a:cxnSpLocks/>
          </p:cNvCxnSpPr>
          <p:nvPr/>
        </p:nvCxnSpPr>
        <p:spPr>
          <a:xfrm flipV="1">
            <a:off x="2834627" y="3271838"/>
            <a:ext cx="0" cy="671512"/>
          </a:xfrm>
          <a:prstGeom prst="straightConnector1">
            <a:avLst/>
          </a:prstGeom>
          <a:ln w="19050">
            <a:solidFill>
              <a:srgbClr val="09898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그림 37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08483837-52B1-4955-8A23-8A759748AD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348" y="2582860"/>
            <a:ext cx="359572" cy="774851"/>
          </a:xfrm>
          <a:prstGeom prst="rect">
            <a:avLst/>
          </a:prstGeom>
        </p:spPr>
      </p:pic>
      <p:pic>
        <p:nvPicPr>
          <p:cNvPr id="31" name="그림 30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66C6A153-F837-4AF2-B84B-4856BA8630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828" y="3760465"/>
            <a:ext cx="359572" cy="774851"/>
          </a:xfrm>
          <a:prstGeom prst="rect">
            <a:avLst/>
          </a:prstGeom>
        </p:spPr>
      </p:pic>
      <p:sp>
        <p:nvSpPr>
          <p:cNvPr id="62" name="Text Box 62">
            <a:extLst>
              <a:ext uri="{FF2B5EF4-FFF2-40B4-BE49-F238E27FC236}">
                <a16:creationId xmlns:a16="http://schemas.microsoft.com/office/drawing/2014/main" id="{F1702C75-1515-41D7-A312-E5BFCF146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2342902"/>
            <a:ext cx="30168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7</a:t>
            </a:r>
          </a:p>
        </p:txBody>
      </p:sp>
      <p:sp>
        <p:nvSpPr>
          <p:cNvPr id="63" name="Text Box 62">
            <a:extLst>
              <a:ext uri="{FF2B5EF4-FFF2-40B4-BE49-F238E27FC236}">
                <a16:creationId xmlns:a16="http://schemas.microsoft.com/office/drawing/2014/main" id="{E81CA98D-1BE1-427F-A6F2-AFE53C2F7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988840"/>
            <a:ext cx="30168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5302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5" grpId="0"/>
      <p:bldP spid="26" grpId="0"/>
      <p:bldP spid="28" grpId="0"/>
      <p:bldP spid="29" grpId="0"/>
      <p:bldP spid="62" grpId="0"/>
      <p:bldP spid="6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DNS </a:t>
            </a:r>
            <a:r>
              <a:rPr lang="en-US" altLang="ko-KR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Microsoft GothicNeo" panose="020B0503020000020004" pitchFamily="34" charset="-127"/>
              </a:rPr>
              <a:t>: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</a:t>
            </a:r>
            <a:r>
              <a:rPr lang="ko-KR" altLang="en-US" spc="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캐싱과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갱신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3B3014-B632-4108-BCC1-D8E5750EE81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78722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네임 서버가 매핑 정보를 얻으면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그것을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캐시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에 저장한다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78C39D2-52D8-4FF5-A565-C663D0F70612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26441"/>
            <a:ext cx="677410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캐시의 정보는 일정 시간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(TTL)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후에 무효화된다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TLD server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로컬 네임 서버에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캐싱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된다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501FD7C-FB7C-40A9-8E19-45A2814A6168}"/>
              </a:ext>
            </a:extLst>
          </p:cNvPr>
          <p:cNvSpPr txBox="1">
            <a:spLocks noChangeArrowheads="1"/>
          </p:cNvSpPr>
          <p:nvPr/>
        </p:nvSpPr>
        <p:spPr>
          <a:xfrm>
            <a:off x="1125163" y="2265742"/>
            <a:ext cx="677410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Font typeface="넥슨Lv1고딕" panose="00000500000000000000" pitchFamily="2" charset="-127"/>
              <a:buChar char="-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그래서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root name server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매번 질의할 필요가 없다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C68B482-4CBB-4642-97C4-994673D4A563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975616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캐싱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된 내용은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낡은 정보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일 수도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… (best effort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방식의 이름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-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주소 변환임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!)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A3C8B39-F473-4019-9215-1B802023DBEF}"/>
              </a:ext>
            </a:extLst>
          </p:cNvPr>
          <p:cNvSpPr txBox="1">
            <a:spLocks noChangeArrowheads="1"/>
          </p:cNvSpPr>
          <p:nvPr/>
        </p:nvSpPr>
        <p:spPr>
          <a:xfrm>
            <a:off x="979247" y="3423335"/>
            <a:ext cx="6997433" cy="62728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만일 해당 이름의 호스트가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주소를 바꾸면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TTL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 만료될 때까지 찾지 못할 수도 있음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CD70ADC-72D7-46CF-8470-4F5CE4DD440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4376399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갱신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/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통보 메커니즘이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IETF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표준으로 제안됨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2E946C6-250D-47D2-9B9B-9C616B477B43}"/>
              </a:ext>
            </a:extLst>
          </p:cNvPr>
          <p:cNvSpPr txBox="1">
            <a:spLocks noChangeArrowheads="1"/>
          </p:cNvSpPr>
          <p:nvPr/>
        </p:nvSpPr>
        <p:spPr>
          <a:xfrm>
            <a:off x="979247" y="4824118"/>
            <a:ext cx="6997433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RFC 2136</a:t>
            </a:r>
          </a:p>
        </p:txBody>
      </p:sp>
    </p:spTree>
    <p:extLst>
      <p:ext uri="{BB962C8B-B14F-4D97-AF65-F5344CB8AC3E}">
        <p14:creationId xmlns:p14="http://schemas.microsoft.com/office/powerpoint/2010/main" val="1065714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BCBA4CA4-2567-4F70-B3DB-C1645428A82E}"/>
              </a:ext>
            </a:extLst>
          </p:cNvPr>
          <p:cNvSpPr/>
          <p:nvPr/>
        </p:nvSpPr>
        <p:spPr>
          <a:xfrm>
            <a:off x="839415" y="2708920"/>
            <a:ext cx="7417173" cy="890395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endParaRPr lang="ko-KR" altLang="en-US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  <a:sym typeface="Arial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729E1DF-BFD9-4E8F-A480-29CA7A0099AF}"/>
              </a:ext>
            </a:extLst>
          </p:cNvPr>
          <p:cNvSpPr/>
          <p:nvPr/>
        </p:nvSpPr>
        <p:spPr>
          <a:xfrm>
            <a:off x="839415" y="3691853"/>
            <a:ext cx="7417173" cy="890395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endParaRPr lang="ko-KR" altLang="en-US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  <a:sym typeface="Arial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92A27EA-693C-4898-B9BA-2A41B3378BF1}"/>
              </a:ext>
            </a:extLst>
          </p:cNvPr>
          <p:cNvSpPr/>
          <p:nvPr/>
        </p:nvSpPr>
        <p:spPr>
          <a:xfrm>
            <a:off x="839415" y="4676470"/>
            <a:ext cx="7417173" cy="1019403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endParaRPr lang="ko-KR" altLang="en-US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  <a:sym typeface="Arial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52F2334-8F71-435D-9798-0BB7EEB01F8B}"/>
              </a:ext>
            </a:extLst>
          </p:cNvPr>
          <p:cNvSpPr/>
          <p:nvPr/>
        </p:nvSpPr>
        <p:spPr>
          <a:xfrm>
            <a:off x="839415" y="5777562"/>
            <a:ext cx="7417173" cy="499311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endParaRPr lang="ko-KR" altLang="en-US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  <a:sym typeface="Arial"/>
            </a:endParaRPr>
          </a:p>
        </p:txBody>
      </p:sp>
      <p:sp>
        <p:nvSpPr>
          <p:cNvPr id="30" name="Google Shape;245;p4">
            <a:extLst>
              <a:ext uri="{FF2B5EF4-FFF2-40B4-BE49-F238E27FC236}">
                <a16:creationId xmlns:a16="http://schemas.microsoft.com/office/drawing/2014/main" id="{8C92CADD-4017-473D-9B96-923817235A4C}"/>
              </a:ext>
            </a:extLst>
          </p:cNvPr>
          <p:cNvSpPr/>
          <p:nvPr/>
        </p:nvSpPr>
        <p:spPr>
          <a:xfrm>
            <a:off x="1515938" y="1916832"/>
            <a:ext cx="5730681" cy="569040"/>
          </a:xfrm>
          <a:prstGeom prst="snip2DiagRect">
            <a:avLst/>
          </a:prstGeom>
          <a:solidFill>
            <a:srgbClr val="EFF5FB"/>
          </a:solidFill>
          <a:ln>
            <a:solidFill>
              <a:srgbClr val="105B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DNS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레코드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4" name="그래픽 9">
            <a:extLst>
              <a:ext uri="{FF2B5EF4-FFF2-40B4-BE49-F238E27FC236}">
                <a16:creationId xmlns:a16="http://schemas.microsoft.com/office/drawing/2014/main" id="{49277AD3-0F95-4C70-8173-9B4AF891A233}"/>
              </a:ext>
            </a:extLst>
          </p:cNvPr>
          <p:cNvSpPr/>
          <p:nvPr/>
        </p:nvSpPr>
        <p:spPr>
          <a:xfrm rot="5400000">
            <a:off x="638045" y="1152677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BBB3BD7-70BA-428D-937D-D92E279B9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1188851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DNS : 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자원레코드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(resource records, 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RR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)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가 저장된 분산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DB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030AB49-386B-409C-AF35-9BCAA7803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82" y="1262746"/>
            <a:ext cx="291313" cy="301717"/>
          </a:xfrm>
          <a:prstGeom prst="rect">
            <a:avLst/>
          </a:prstGeom>
        </p:spPr>
      </p:pic>
      <p:sp>
        <p:nvSpPr>
          <p:cNvPr id="12" name="Text Box 6">
            <a:extLst>
              <a:ext uri="{FF2B5EF4-FFF2-40B4-BE49-F238E27FC236}">
                <a16:creationId xmlns:a16="http://schemas.microsoft.com/office/drawing/2014/main" id="{EDE24475-C4CB-460F-817A-7BC8FF513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9197" y="2016686"/>
            <a:ext cx="53641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RR 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형식 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: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(name, value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, type, ttl)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+mj-cs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B26FB42-A1F1-44A4-AC5A-98404FEFBF6B}"/>
              </a:ext>
            </a:extLst>
          </p:cNvPr>
          <p:cNvSpPr txBox="1">
            <a:spLocks noChangeArrowheads="1"/>
          </p:cNvSpPr>
          <p:nvPr/>
        </p:nvSpPr>
        <p:spPr>
          <a:xfrm>
            <a:off x="2698364" y="2819859"/>
            <a:ext cx="2346501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name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호스트 이름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value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B6B6D70C-B44D-49C7-BCA1-F223661FD645}"/>
              </a:ext>
            </a:extLst>
          </p:cNvPr>
          <p:cNvSpPr txBox="1">
            <a:spLocks noChangeArrowheads="1"/>
          </p:cNvSpPr>
          <p:nvPr/>
        </p:nvSpPr>
        <p:spPr>
          <a:xfrm>
            <a:off x="2698364" y="3802792"/>
            <a:ext cx="5996481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name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도메인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foo.com)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value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 도메인의 책임 네임 서버의 이름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CFBD4889-DD4D-479B-BEED-D87BF5EC0A95}"/>
              </a:ext>
            </a:extLst>
          </p:cNvPr>
          <p:cNvSpPr txBox="1">
            <a:spLocks noChangeArrowheads="1"/>
          </p:cNvSpPr>
          <p:nvPr/>
        </p:nvSpPr>
        <p:spPr>
          <a:xfrm>
            <a:off x="2698364" y="4709823"/>
            <a:ext cx="5996481" cy="95269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name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별칭</a:t>
            </a:r>
          </a:p>
          <a:p>
            <a:pPr marL="144000" lvl="3" indent="-144000" latinLnBrk="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예를 들어 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www.ibm.com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은 사실 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servereast.backup2.ibm.com</a:t>
            </a:r>
          </a:p>
          <a:p>
            <a:pPr marL="144000" lvl="3" indent="-144000" latinLnBrk="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Value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정식 이름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1D896AAA-3726-41AB-9DBC-6A77C2678B4E}"/>
              </a:ext>
            </a:extLst>
          </p:cNvPr>
          <p:cNvSpPr txBox="1">
            <a:spLocks noChangeArrowheads="1"/>
          </p:cNvSpPr>
          <p:nvPr/>
        </p:nvSpPr>
        <p:spPr>
          <a:xfrm>
            <a:off x="2698364" y="5860697"/>
            <a:ext cx="5996481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value : name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과 연관된 메일 서버의 이름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B91F3C0-3016-468F-BD47-66315B10FAF9}"/>
              </a:ext>
            </a:extLst>
          </p:cNvPr>
          <p:cNvSpPr txBox="1">
            <a:spLocks noChangeArrowheads="1"/>
          </p:cNvSpPr>
          <p:nvPr/>
        </p:nvSpPr>
        <p:spPr>
          <a:xfrm>
            <a:off x="863486" y="2914883"/>
            <a:ext cx="1688882" cy="478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ctr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lt"/>
                <a:ea typeface="넥슨Lv1고딕 Bold" panose="00000800000000000000" pitchFamily="2" charset="-127"/>
              </a:rPr>
              <a:t>type =A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9A3BAB03-877C-4AF5-8666-B9912C7BE87E}"/>
              </a:ext>
            </a:extLst>
          </p:cNvPr>
          <p:cNvSpPr txBox="1">
            <a:spLocks noChangeArrowheads="1"/>
          </p:cNvSpPr>
          <p:nvPr/>
        </p:nvSpPr>
        <p:spPr>
          <a:xfrm>
            <a:off x="869944" y="3926989"/>
            <a:ext cx="1706598" cy="478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ctr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lt"/>
                <a:ea typeface="넥슨Lv1고딕 Bold" panose="00000800000000000000" pitchFamily="2" charset="-127"/>
              </a:rPr>
              <a:t>type = NS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DB8FE3EB-432F-4EFF-8804-789B1EC93E76}"/>
              </a:ext>
            </a:extLst>
          </p:cNvPr>
          <p:cNvSpPr txBox="1">
            <a:spLocks noChangeArrowheads="1"/>
          </p:cNvSpPr>
          <p:nvPr/>
        </p:nvSpPr>
        <p:spPr>
          <a:xfrm>
            <a:off x="857912" y="4946936"/>
            <a:ext cx="1718410" cy="478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ctr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lt"/>
                <a:ea typeface="넥슨Lv1고딕 Bold" panose="00000800000000000000" pitchFamily="2" charset="-127"/>
              </a:rPr>
              <a:t>type = CNAME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140992C6-A6AD-4BF6-BC15-B30DCA2FA999}"/>
              </a:ext>
            </a:extLst>
          </p:cNvPr>
          <p:cNvSpPr txBox="1">
            <a:spLocks noChangeArrowheads="1"/>
          </p:cNvSpPr>
          <p:nvPr/>
        </p:nvSpPr>
        <p:spPr>
          <a:xfrm>
            <a:off x="863818" y="5830850"/>
            <a:ext cx="1706598" cy="478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ctr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+mj-lt"/>
                <a:ea typeface="넥슨Lv1고딕 Bold" panose="00000800000000000000" pitchFamily="2" charset="-127"/>
              </a:rPr>
              <a:t>type = MX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BEBEE738-BC33-4906-A5AA-F396C91EB1D4}"/>
              </a:ext>
            </a:extLst>
          </p:cNvPr>
          <p:cNvCxnSpPr/>
          <p:nvPr/>
        </p:nvCxnSpPr>
        <p:spPr>
          <a:xfrm>
            <a:off x="2612315" y="2763371"/>
            <a:ext cx="0" cy="746311"/>
          </a:xfrm>
          <a:prstGeom prst="line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0482E6E-7B86-4830-A0FD-1DF9199B47E0}"/>
              </a:ext>
            </a:extLst>
          </p:cNvPr>
          <p:cNvCxnSpPr/>
          <p:nvPr/>
        </p:nvCxnSpPr>
        <p:spPr>
          <a:xfrm>
            <a:off x="2612315" y="3751730"/>
            <a:ext cx="0" cy="746311"/>
          </a:xfrm>
          <a:prstGeom prst="line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3A24B3B9-C781-417E-8605-77AB055F339A}"/>
              </a:ext>
            </a:extLst>
          </p:cNvPr>
          <p:cNvCxnSpPr/>
          <p:nvPr/>
        </p:nvCxnSpPr>
        <p:spPr>
          <a:xfrm>
            <a:off x="2612315" y="4732237"/>
            <a:ext cx="0" cy="903036"/>
          </a:xfrm>
          <a:prstGeom prst="line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1F0A9A7-42A4-4C3F-8198-79209B8155F3}"/>
              </a:ext>
            </a:extLst>
          </p:cNvPr>
          <p:cNvCxnSpPr>
            <a:cxnSpLocks/>
          </p:cNvCxnSpPr>
          <p:nvPr/>
        </p:nvCxnSpPr>
        <p:spPr>
          <a:xfrm>
            <a:off x="2612315" y="5826810"/>
            <a:ext cx="0" cy="400814"/>
          </a:xfrm>
          <a:prstGeom prst="line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62863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Line 58">
            <a:extLst>
              <a:ext uri="{FF2B5EF4-FFF2-40B4-BE49-F238E27FC236}">
                <a16:creationId xmlns:a16="http://schemas.microsoft.com/office/drawing/2014/main" id="{F595C3B4-2FBC-4B9F-8562-67965BDE81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7591" y="1708251"/>
            <a:ext cx="4896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Line 59">
            <a:extLst>
              <a:ext uri="{FF2B5EF4-FFF2-40B4-BE49-F238E27FC236}">
                <a16:creationId xmlns:a16="http://schemas.microsoft.com/office/drawing/2014/main" id="{03E04516-C49E-4842-BD0B-4C4CE704167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38713" y="1708251"/>
            <a:ext cx="4896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Line 63">
            <a:extLst>
              <a:ext uri="{FF2B5EF4-FFF2-40B4-BE49-F238E27FC236}">
                <a16:creationId xmlns:a16="http://schemas.microsoft.com/office/drawing/2014/main" id="{0DE76CF6-BDBE-4F15-AC16-52514E109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4351" y="1708251"/>
            <a:ext cx="492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Line 64">
            <a:extLst>
              <a:ext uri="{FF2B5EF4-FFF2-40B4-BE49-F238E27FC236}">
                <a16:creationId xmlns:a16="http://schemas.microsoft.com/office/drawing/2014/main" id="{CB0E52C1-C704-4460-98CA-23F0E31ABAF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99238" y="1708251"/>
            <a:ext cx="492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DNS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protocol, messages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21</a:t>
            </a:fld>
            <a:endParaRPr lang="en-US" dirty="0"/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B8F67E68-C624-4057-9D37-209D38F77C6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78722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query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와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reply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메시지는 같은 형식을 사용함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0096EF0C-F4E6-46B5-90F7-A9CD2233A7E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541662"/>
            <a:ext cx="396502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Identification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b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16 bit # for query, reply to query uses same #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5F6B5806-DF4A-43D1-B1CC-6F606B39A45B}"/>
              </a:ext>
            </a:extLst>
          </p:cNvPr>
          <p:cNvSpPr txBox="1">
            <a:spLocks noChangeArrowheads="1"/>
          </p:cNvSpPr>
          <p:nvPr/>
        </p:nvSpPr>
        <p:spPr>
          <a:xfrm>
            <a:off x="880129" y="4205488"/>
            <a:ext cx="4566501" cy="4357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query or reply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recursion desired 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recursion available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reply is authoritative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1F742F9-6F0E-49D7-B92A-417150519997}"/>
              </a:ext>
            </a:extLst>
          </p:cNvPr>
          <p:cNvGrpSpPr/>
          <p:nvPr/>
        </p:nvGrpSpPr>
        <p:grpSpPr>
          <a:xfrm>
            <a:off x="666036" y="1778047"/>
            <a:ext cx="502804" cy="590566"/>
            <a:chOff x="5678490" y="2646569"/>
            <a:chExt cx="502804" cy="59056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A1BAABC6-975D-4B78-A483-917B933C2C67}"/>
                </a:ext>
              </a:extLst>
            </p:cNvPr>
            <p:cNvSpPr/>
            <p:nvPr/>
          </p:nvSpPr>
          <p:spPr>
            <a:xfrm>
              <a:off x="5771092" y="3152714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7" name="그래픽 36">
              <a:extLst>
                <a:ext uri="{FF2B5EF4-FFF2-40B4-BE49-F238E27FC236}">
                  <a16:creationId xmlns:a16="http://schemas.microsoft.com/office/drawing/2014/main" id="{1B715B07-6D27-4144-89C7-6D2991229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5650557" y="2674502"/>
              <a:ext cx="558670" cy="502804"/>
            </a:xfrm>
            <a:prstGeom prst="rect">
              <a:avLst/>
            </a:prstGeom>
            <a:effectLst/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91E43DA2-06C7-4EC1-A43F-580147CAF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5741954" y="2826171"/>
              <a:ext cx="375876" cy="217726"/>
            </a:xfrm>
            <a:prstGeom prst="rect">
              <a:avLst/>
            </a:prstGeom>
          </p:spPr>
        </p:pic>
      </p:grpSp>
      <p:sp>
        <p:nvSpPr>
          <p:cNvPr id="39" name="Rectangle 5">
            <a:extLst>
              <a:ext uri="{FF2B5EF4-FFF2-40B4-BE49-F238E27FC236}">
                <a16:creationId xmlns:a16="http://schemas.microsoft.com/office/drawing/2014/main" id="{97DCA64D-7C77-446B-8A2A-4288F1EE6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1828806"/>
            <a:ext cx="6826930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message header</a:t>
            </a: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733F037B-8CC0-4690-8DAA-FEAE4C49E66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3770387"/>
            <a:ext cx="4609559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flags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BCAB328-B1F4-4F1E-886F-FC4C6086F669}"/>
              </a:ext>
            </a:extLst>
          </p:cNvPr>
          <p:cNvGrpSpPr/>
          <p:nvPr/>
        </p:nvGrpSpPr>
        <p:grpSpPr>
          <a:xfrm>
            <a:off x="4943475" y="3440780"/>
            <a:ext cx="3315018" cy="2731419"/>
            <a:chOff x="4943475" y="2931792"/>
            <a:chExt cx="3315018" cy="3240408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9C3D2AD-B9B1-4855-87D5-66099E1120C2}"/>
                </a:ext>
              </a:extLst>
            </p:cNvPr>
            <p:cNvSpPr/>
            <p:nvPr/>
          </p:nvSpPr>
          <p:spPr>
            <a:xfrm>
              <a:off x="4943475" y="5362098"/>
              <a:ext cx="3315018" cy="810102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-342900" algn="ctr"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additional info </a:t>
              </a:r>
              <a:b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</a:b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(variable # of RRs)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9339D35-477E-4F53-80E0-BEB0A20A0AF1}"/>
                </a:ext>
              </a:extLst>
            </p:cNvPr>
            <p:cNvSpPr/>
            <p:nvPr/>
          </p:nvSpPr>
          <p:spPr>
            <a:xfrm>
              <a:off x="4943475" y="4551996"/>
              <a:ext cx="3315018" cy="810102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-342900" algn="ctr"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authority </a:t>
              </a:r>
              <a:b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</a:b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(variable # of RRs)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5F6C363-5CA8-4D1E-A913-F5E68F7F739C}"/>
                </a:ext>
              </a:extLst>
            </p:cNvPr>
            <p:cNvSpPr/>
            <p:nvPr/>
          </p:nvSpPr>
          <p:spPr>
            <a:xfrm>
              <a:off x="4943475" y="3741894"/>
              <a:ext cx="3315018" cy="810102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-342900" algn="ctr"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answers </a:t>
              </a:r>
              <a:b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</a:b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(variable # of RRs)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201DAF7-7797-4C39-A6F7-D0D7F3BA5763}"/>
                </a:ext>
              </a:extLst>
            </p:cNvPr>
            <p:cNvSpPr/>
            <p:nvPr/>
          </p:nvSpPr>
          <p:spPr>
            <a:xfrm>
              <a:off x="4943475" y="2931792"/>
              <a:ext cx="3315018" cy="810102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-342900" algn="ctr"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questions</a:t>
              </a:r>
              <a:b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</a:b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(variable # of questions)</a:t>
              </a: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BC8E246-7887-49BF-AAA2-EFF24AB155D6}"/>
              </a:ext>
            </a:extLst>
          </p:cNvPr>
          <p:cNvSpPr/>
          <p:nvPr/>
        </p:nvSpPr>
        <p:spPr>
          <a:xfrm>
            <a:off x="4943475" y="2972065"/>
            <a:ext cx="1657350" cy="469811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# authority RRs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D7EE7C6-CF18-4382-885A-28826B2B2068}"/>
              </a:ext>
            </a:extLst>
          </p:cNvPr>
          <p:cNvSpPr/>
          <p:nvPr/>
        </p:nvSpPr>
        <p:spPr>
          <a:xfrm>
            <a:off x="6599238" y="2972065"/>
            <a:ext cx="1657350" cy="469811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# additional RRs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3F725F2-F8A4-4137-B5D3-8D7BCEB35BF7}"/>
              </a:ext>
            </a:extLst>
          </p:cNvPr>
          <p:cNvSpPr/>
          <p:nvPr/>
        </p:nvSpPr>
        <p:spPr>
          <a:xfrm>
            <a:off x="4943475" y="2503304"/>
            <a:ext cx="1657350" cy="469811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# questions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6A18029-4D44-4973-A49D-CD300C8F5AEE}"/>
              </a:ext>
            </a:extLst>
          </p:cNvPr>
          <p:cNvSpPr/>
          <p:nvPr/>
        </p:nvSpPr>
        <p:spPr>
          <a:xfrm>
            <a:off x="6599238" y="2503304"/>
            <a:ext cx="1657350" cy="469811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# answer RRs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5A02C5A-F865-41C0-ADB3-51432A91771D}"/>
              </a:ext>
            </a:extLst>
          </p:cNvPr>
          <p:cNvSpPr/>
          <p:nvPr/>
        </p:nvSpPr>
        <p:spPr>
          <a:xfrm>
            <a:off x="4943475" y="2034543"/>
            <a:ext cx="1657350" cy="469811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identification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58FE6DC-77DE-4F2E-94D8-7DCD2616EB82}"/>
              </a:ext>
            </a:extLst>
          </p:cNvPr>
          <p:cNvSpPr/>
          <p:nvPr/>
        </p:nvSpPr>
        <p:spPr>
          <a:xfrm>
            <a:off x="6599238" y="2034543"/>
            <a:ext cx="1657350" cy="469811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flags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9330E160-F370-4377-BFBA-9A77928C4A4C}"/>
              </a:ext>
            </a:extLst>
          </p:cNvPr>
          <p:cNvSpPr/>
          <p:nvPr/>
        </p:nvSpPr>
        <p:spPr>
          <a:xfrm>
            <a:off x="4912879" y="2233448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2FB7BC93-524D-4B90-8D37-2E0DA5EC8FB5}"/>
              </a:ext>
            </a:extLst>
          </p:cNvPr>
          <p:cNvSpPr/>
          <p:nvPr/>
        </p:nvSpPr>
        <p:spPr>
          <a:xfrm>
            <a:off x="7391913" y="1996465"/>
            <a:ext cx="72000" cy="72000"/>
          </a:xfrm>
          <a:prstGeom prst="ellipse">
            <a:avLst/>
          </a:prstGeom>
          <a:solidFill>
            <a:srgbClr val="0B9D96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0B9D96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0" name="자유형: 도형 59">
            <a:extLst>
              <a:ext uri="{FF2B5EF4-FFF2-40B4-BE49-F238E27FC236}">
                <a16:creationId xmlns:a16="http://schemas.microsoft.com/office/drawing/2014/main" id="{160CE590-EF96-4CAB-9731-97F13373DD5B}"/>
              </a:ext>
            </a:extLst>
          </p:cNvPr>
          <p:cNvSpPr/>
          <p:nvPr/>
        </p:nvSpPr>
        <p:spPr>
          <a:xfrm>
            <a:off x="2505075" y="2266950"/>
            <a:ext cx="2433638" cy="504825"/>
          </a:xfrm>
          <a:custGeom>
            <a:avLst/>
            <a:gdLst>
              <a:gd name="connsiteX0" fmla="*/ 0 w 2433638"/>
              <a:gd name="connsiteY0" fmla="*/ 504825 h 504825"/>
              <a:gd name="connsiteX1" fmla="*/ 2052638 w 2433638"/>
              <a:gd name="connsiteY1" fmla="*/ 504825 h 504825"/>
              <a:gd name="connsiteX2" fmla="*/ 2433638 w 2433638"/>
              <a:gd name="connsiteY2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3638" h="504825">
                <a:moveTo>
                  <a:pt x="0" y="504825"/>
                </a:moveTo>
                <a:lnTo>
                  <a:pt x="2052638" y="504825"/>
                </a:lnTo>
                <a:lnTo>
                  <a:pt x="2433638" y="0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2" name="자유형: 도형 61">
            <a:extLst>
              <a:ext uri="{FF2B5EF4-FFF2-40B4-BE49-F238E27FC236}">
                <a16:creationId xmlns:a16="http://schemas.microsoft.com/office/drawing/2014/main" id="{B1774DD3-76DA-457F-9159-F9278CCC0329}"/>
              </a:ext>
            </a:extLst>
          </p:cNvPr>
          <p:cNvSpPr/>
          <p:nvPr/>
        </p:nvSpPr>
        <p:spPr>
          <a:xfrm>
            <a:off x="1595336" y="1867711"/>
            <a:ext cx="5836596" cy="2140085"/>
          </a:xfrm>
          <a:custGeom>
            <a:avLst/>
            <a:gdLst>
              <a:gd name="connsiteX0" fmla="*/ 0 w 5836596"/>
              <a:gd name="connsiteY0" fmla="*/ 2140085 h 2140085"/>
              <a:gd name="connsiteX1" fmla="*/ 2976664 w 5836596"/>
              <a:gd name="connsiteY1" fmla="*/ 2140085 h 2140085"/>
              <a:gd name="connsiteX2" fmla="*/ 2976664 w 5836596"/>
              <a:gd name="connsiteY2" fmla="*/ 0 h 2140085"/>
              <a:gd name="connsiteX3" fmla="*/ 5836596 w 5836596"/>
              <a:gd name="connsiteY3" fmla="*/ 0 h 2140085"/>
              <a:gd name="connsiteX4" fmla="*/ 5836596 w 5836596"/>
              <a:gd name="connsiteY4" fmla="*/ 175098 h 2140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6596" h="2140085">
                <a:moveTo>
                  <a:pt x="0" y="2140085"/>
                </a:moveTo>
                <a:lnTo>
                  <a:pt x="2976664" y="2140085"/>
                </a:lnTo>
                <a:lnTo>
                  <a:pt x="2976664" y="0"/>
                </a:lnTo>
                <a:lnTo>
                  <a:pt x="5836596" y="0"/>
                </a:lnTo>
                <a:lnTo>
                  <a:pt x="5836596" y="175098"/>
                </a:lnTo>
              </a:path>
            </a:pathLst>
          </a:custGeom>
          <a:noFill/>
          <a:ln w="9525" cap="rnd">
            <a:solidFill>
              <a:srgbClr val="098983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Text Box 57">
            <a:extLst>
              <a:ext uri="{FF2B5EF4-FFF2-40B4-BE49-F238E27FC236}">
                <a16:creationId xmlns:a16="http://schemas.microsoft.com/office/drawing/2014/main" id="{F316DC7F-0980-490A-A9D6-DE08C3C2A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999" y="1501876"/>
            <a:ext cx="732893" cy="31252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ko-KR"/>
            </a:defPPr>
            <a:lvl1pPr indent="-342900" algn="ctr">
              <a:lnSpc>
                <a:spcPct val="130000"/>
              </a:lnSpc>
              <a:buClr>
                <a:schemeClr val="accent2"/>
              </a:buClr>
              <a:buSzPct val="85000"/>
              <a:defRPr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defRPr>
            </a:lvl1pPr>
          </a:lstStyle>
          <a:p>
            <a:r>
              <a:rPr lang="en-US" altLang="ko-KR" sz="1200"/>
              <a:t>2 bytes</a:t>
            </a:r>
            <a:endParaRPr lang="en-US" altLang="ko-KR" sz="1200" dirty="0"/>
          </a:p>
        </p:txBody>
      </p:sp>
      <p:sp>
        <p:nvSpPr>
          <p:cNvPr id="68" name="Text Box 62">
            <a:extLst>
              <a:ext uri="{FF2B5EF4-FFF2-40B4-BE49-F238E27FC236}">
                <a16:creationId xmlns:a16="http://schemas.microsoft.com/office/drawing/2014/main" id="{10F40CDA-2316-48B3-88C6-D453EA628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1466" y="1501876"/>
            <a:ext cx="732893" cy="31252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2 bytes</a:t>
            </a:r>
          </a:p>
        </p:txBody>
      </p:sp>
    </p:spTree>
    <p:extLst>
      <p:ext uri="{BB962C8B-B14F-4D97-AF65-F5344CB8AC3E}">
        <p14:creationId xmlns:p14="http://schemas.microsoft.com/office/powerpoint/2010/main" val="1163553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DNS </a:t>
            </a: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protocol, messages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22</a:t>
            </a:fld>
            <a:endParaRPr lang="en-US" dirty="0"/>
          </a:p>
        </p:txBody>
      </p:sp>
      <p:sp>
        <p:nvSpPr>
          <p:cNvPr id="4" name="Line 58">
            <a:extLst>
              <a:ext uri="{FF2B5EF4-FFF2-40B4-BE49-F238E27FC236}">
                <a16:creationId xmlns:a16="http://schemas.microsoft.com/office/drawing/2014/main" id="{6BBC3C5B-87C7-420F-86A8-73F56EC6EF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7591" y="1708251"/>
            <a:ext cx="4896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Line 59">
            <a:extLst>
              <a:ext uri="{FF2B5EF4-FFF2-40B4-BE49-F238E27FC236}">
                <a16:creationId xmlns:a16="http://schemas.microsoft.com/office/drawing/2014/main" id="{C4197657-975D-4564-9409-5EDB8DFB96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38713" y="1708251"/>
            <a:ext cx="4896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Line 63">
            <a:extLst>
              <a:ext uri="{FF2B5EF4-FFF2-40B4-BE49-F238E27FC236}">
                <a16:creationId xmlns:a16="http://schemas.microsoft.com/office/drawing/2014/main" id="{05C04CE3-C649-4737-B3E7-CCF353EA34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4351" y="1708251"/>
            <a:ext cx="492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Line 64">
            <a:extLst>
              <a:ext uri="{FF2B5EF4-FFF2-40B4-BE49-F238E27FC236}">
                <a16:creationId xmlns:a16="http://schemas.microsoft.com/office/drawing/2014/main" id="{044501AD-180F-4DD8-8464-BDA713056AC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99238" y="1708251"/>
            <a:ext cx="492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004920-324B-419B-8E3B-774C8555CA6A}"/>
              </a:ext>
            </a:extLst>
          </p:cNvPr>
          <p:cNvSpPr/>
          <p:nvPr/>
        </p:nvSpPr>
        <p:spPr>
          <a:xfrm>
            <a:off x="4943475" y="5489344"/>
            <a:ext cx="3315018" cy="682855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additional info </a:t>
            </a:r>
            <a:b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</a:b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(variable # of RRs)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3BE52A-F13D-4F0F-8D4B-64B19900F065}"/>
              </a:ext>
            </a:extLst>
          </p:cNvPr>
          <p:cNvSpPr/>
          <p:nvPr/>
        </p:nvSpPr>
        <p:spPr>
          <a:xfrm>
            <a:off x="4943475" y="4806490"/>
            <a:ext cx="3315018" cy="682855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authority </a:t>
            </a:r>
            <a:b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</a:b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(variable # of RRs)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514738-A318-4865-BF4A-F20C4651ECE3}"/>
              </a:ext>
            </a:extLst>
          </p:cNvPr>
          <p:cNvSpPr/>
          <p:nvPr/>
        </p:nvSpPr>
        <p:spPr>
          <a:xfrm>
            <a:off x="4943475" y="4123635"/>
            <a:ext cx="3315018" cy="682855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answers </a:t>
            </a:r>
            <a:b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</a:b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(variable # of RRs)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271FA7B-A9E2-4F06-880D-A673B0688F9C}"/>
              </a:ext>
            </a:extLst>
          </p:cNvPr>
          <p:cNvSpPr/>
          <p:nvPr/>
        </p:nvSpPr>
        <p:spPr>
          <a:xfrm>
            <a:off x="4943475" y="3440780"/>
            <a:ext cx="3315018" cy="682855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questions</a:t>
            </a:r>
            <a:b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</a:b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(variable # of questions)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0CFA88-C0A5-4165-A4B3-765B120017D7}"/>
              </a:ext>
            </a:extLst>
          </p:cNvPr>
          <p:cNvSpPr/>
          <p:nvPr/>
        </p:nvSpPr>
        <p:spPr>
          <a:xfrm>
            <a:off x="4943475" y="2972065"/>
            <a:ext cx="1657350" cy="469811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# authority RRs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E1FA9E-48F9-4E6C-8DDB-225D7B08528C}"/>
              </a:ext>
            </a:extLst>
          </p:cNvPr>
          <p:cNvSpPr/>
          <p:nvPr/>
        </p:nvSpPr>
        <p:spPr>
          <a:xfrm>
            <a:off x="6599238" y="2972065"/>
            <a:ext cx="1657350" cy="469811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# additional RRs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E6D27C-62E6-43DA-AC12-C0ABEBBD7CC5}"/>
              </a:ext>
            </a:extLst>
          </p:cNvPr>
          <p:cNvSpPr/>
          <p:nvPr/>
        </p:nvSpPr>
        <p:spPr>
          <a:xfrm>
            <a:off x="4943475" y="2503304"/>
            <a:ext cx="1657350" cy="469811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# questions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F29C57B-0389-4497-85E0-F8FAC5C0BF0A}"/>
              </a:ext>
            </a:extLst>
          </p:cNvPr>
          <p:cNvSpPr/>
          <p:nvPr/>
        </p:nvSpPr>
        <p:spPr>
          <a:xfrm>
            <a:off x="6599238" y="2503304"/>
            <a:ext cx="1657350" cy="469811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# answer RRs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AB8DB5F-91DF-4B0B-B32D-EA38361595D9}"/>
              </a:ext>
            </a:extLst>
          </p:cNvPr>
          <p:cNvSpPr/>
          <p:nvPr/>
        </p:nvSpPr>
        <p:spPr>
          <a:xfrm>
            <a:off x="4943475" y="2034543"/>
            <a:ext cx="1657350" cy="469811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identification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2198D0A-622E-4718-AF76-C75661B9AD50}"/>
              </a:ext>
            </a:extLst>
          </p:cNvPr>
          <p:cNvSpPr/>
          <p:nvPr/>
        </p:nvSpPr>
        <p:spPr>
          <a:xfrm>
            <a:off x="6599238" y="2034543"/>
            <a:ext cx="1657350" cy="469811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flags</a:t>
            </a:r>
          </a:p>
        </p:txBody>
      </p:sp>
      <p:sp>
        <p:nvSpPr>
          <p:cNvPr id="23" name="Text Box 57">
            <a:extLst>
              <a:ext uri="{FF2B5EF4-FFF2-40B4-BE49-F238E27FC236}">
                <a16:creationId xmlns:a16="http://schemas.microsoft.com/office/drawing/2014/main" id="{C7C15F0C-0F67-4F70-97E3-DCE51C980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999" y="1501876"/>
            <a:ext cx="732893" cy="31252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ko-KR"/>
            </a:defPPr>
            <a:lvl1pPr indent="-342900" algn="ctr">
              <a:lnSpc>
                <a:spcPct val="130000"/>
              </a:lnSpc>
              <a:buClr>
                <a:schemeClr val="accent2"/>
              </a:buClr>
              <a:buSzPct val="85000"/>
              <a:defRPr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defRPr>
            </a:lvl1pPr>
          </a:lstStyle>
          <a:p>
            <a:r>
              <a:rPr lang="en-US" altLang="ko-KR" sz="1200"/>
              <a:t>2 bytes</a:t>
            </a:r>
            <a:endParaRPr lang="en-US" altLang="ko-KR" sz="1200" dirty="0"/>
          </a:p>
        </p:txBody>
      </p:sp>
      <p:sp>
        <p:nvSpPr>
          <p:cNvPr id="24" name="Text Box 62">
            <a:extLst>
              <a:ext uri="{FF2B5EF4-FFF2-40B4-BE49-F238E27FC236}">
                <a16:creationId xmlns:a16="http://schemas.microsoft.com/office/drawing/2014/main" id="{B3B3BC8C-84F9-4B48-8137-38C0FDB1C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1466" y="1501876"/>
            <a:ext cx="732893" cy="31252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indent="-342900"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2 bytes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40BF43D-E9F9-4DF3-9F35-82FB23D08F5E}"/>
              </a:ext>
            </a:extLst>
          </p:cNvPr>
          <p:cNvSpPr/>
          <p:nvPr/>
        </p:nvSpPr>
        <p:spPr>
          <a:xfrm>
            <a:off x="4912879" y="3757448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9F50560-FE50-4B58-9354-701E1E5757E5}"/>
              </a:ext>
            </a:extLst>
          </p:cNvPr>
          <p:cNvSpPr/>
          <p:nvPr/>
        </p:nvSpPr>
        <p:spPr>
          <a:xfrm>
            <a:off x="4912879" y="4429062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1265A2E-5C0B-428C-BA12-49880D228399}"/>
              </a:ext>
            </a:extLst>
          </p:cNvPr>
          <p:cNvSpPr/>
          <p:nvPr/>
        </p:nvSpPr>
        <p:spPr>
          <a:xfrm>
            <a:off x="4912879" y="5111917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91550A7-F28A-40EF-8CAB-477D457B5A56}"/>
              </a:ext>
            </a:extLst>
          </p:cNvPr>
          <p:cNvSpPr/>
          <p:nvPr/>
        </p:nvSpPr>
        <p:spPr>
          <a:xfrm>
            <a:off x="4912879" y="5794771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A44CC8C-12BA-4BCF-B72E-1B9262ABFFFA}"/>
              </a:ext>
            </a:extLst>
          </p:cNvPr>
          <p:cNvGrpSpPr/>
          <p:nvPr/>
        </p:nvGrpSpPr>
        <p:grpSpPr>
          <a:xfrm>
            <a:off x="4332715" y="3793448"/>
            <a:ext cx="590708" cy="2037323"/>
            <a:chOff x="4102100" y="3793448"/>
            <a:chExt cx="821323" cy="2037323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BB407FB-68D7-48E9-8C4D-287B63394A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2100" y="3793448"/>
              <a:ext cx="821323" cy="0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5704F42-4120-4B45-8DE4-D812835170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2100" y="4465062"/>
              <a:ext cx="821323" cy="0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22FD8794-6F98-43F9-BF89-2F72B4B5F9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2100" y="5147917"/>
              <a:ext cx="821323" cy="0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AF6F791B-B76A-4435-8CAC-BB93487783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2100" y="5830771"/>
              <a:ext cx="821323" cy="0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</p:grpSp>
      <p:sp>
        <p:nvSpPr>
          <p:cNvPr id="33" name="Text Box 4">
            <a:extLst>
              <a:ext uri="{FF2B5EF4-FFF2-40B4-BE49-F238E27FC236}">
                <a16:creationId xmlns:a16="http://schemas.microsoft.com/office/drawing/2014/main" id="{4719B624-7773-453A-8273-BCBE06EED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759" y="3671748"/>
            <a:ext cx="3171623" cy="276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name, type fields for a query</a:t>
            </a:r>
          </a:p>
        </p:txBody>
      </p:sp>
      <p:sp>
        <p:nvSpPr>
          <p:cNvPr id="34" name="Text Box 5">
            <a:extLst>
              <a:ext uri="{FF2B5EF4-FFF2-40B4-BE49-F238E27FC236}">
                <a16:creationId xmlns:a16="http://schemas.microsoft.com/office/drawing/2014/main" id="{5060F752-EF35-4203-9E08-859C1408D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585" y="4350263"/>
            <a:ext cx="3174797" cy="276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RRs in response to query</a:t>
            </a:r>
          </a:p>
        </p:txBody>
      </p:sp>
      <p:sp>
        <p:nvSpPr>
          <p:cNvPr id="35" name="Text Box 6">
            <a:extLst>
              <a:ext uri="{FF2B5EF4-FFF2-40B4-BE49-F238E27FC236}">
                <a16:creationId xmlns:a16="http://schemas.microsoft.com/office/drawing/2014/main" id="{7F56C4DA-C685-4270-A5F6-11D432CC4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410" y="5028778"/>
            <a:ext cx="3177972" cy="276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records for authoritative servers</a:t>
            </a:r>
          </a:p>
        </p:txBody>
      </p:sp>
      <p:sp>
        <p:nvSpPr>
          <p:cNvPr id="36" name="Text Box 7">
            <a:extLst>
              <a:ext uri="{FF2B5EF4-FFF2-40B4-BE49-F238E27FC236}">
                <a16:creationId xmlns:a16="http://schemas.microsoft.com/office/drawing/2014/main" id="{F12FABD0-898E-48F2-AA57-0870174B7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410" y="5549752"/>
            <a:ext cx="3177972" cy="591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additional </a:t>
            </a:r>
            <a:r>
              <a:rPr lang="ja-JP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</a:rPr>
              <a:t>“</a:t>
            </a:r>
            <a:r>
              <a:rPr lang="en-US" altLang="ja-JP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helpful</a:t>
            </a:r>
            <a:r>
              <a:rPr lang="ja-JP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</a:rPr>
              <a:t>”</a:t>
            </a:r>
            <a:r>
              <a:rPr lang="en-US" altLang="ja-JP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info that </a:t>
            </a:r>
            <a:b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may be used</a:t>
            </a:r>
          </a:p>
        </p:txBody>
      </p:sp>
    </p:spTree>
    <p:extLst>
      <p:ext uri="{BB962C8B-B14F-4D97-AF65-F5344CB8AC3E}">
        <p14:creationId xmlns:p14="http://schemas.microsoft.com/office/powerpoint/2010/main" val="732348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9B07EA-E215-479A-BA32-543043867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</p:spPr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DNS </a:t>
            </a:r>
            <a:r>
              <a:rPr lang="ko-KR" altLang="en-US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데이터베이스에 레코드 삽입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0C80D-B4F7-43F6-8901-5B177D3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23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C8EAF8-B824-433B-8595-5D8DEC6CA1C7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78722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예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“Network Utopia”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라는 새 회사를 설립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!</a:t>
            </a:r>
          </a:p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networkuptopia.com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이라는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이름을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DNS registrar</a:t>
            </a:r>
            <a:b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예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Network Solutions)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에 등록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6B80327-3FBD-4F7D-90FF-39723F43E33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333640"/>
            <a:ext cx="6774102" cy="12582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책임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name server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이름과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주소를 제공한다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 서버와 부 서버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registrar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RR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두 개를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.com TLD server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삽입한다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(networkutopia.com, dns1.networkutopia.com, NS)</a:t>
            </a:r>
            <a:b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(dns1.networkutopia.com, 212.212.212.1, A)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8C8D18D-860E-4355-8647-6726871D04A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3861048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책임 서버에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www.networkuptopia.com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에 대한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타입 레코드와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networkutopia.com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에 대한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MX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타입 레코드를 만든다</a:t>
            </a:r>
          </a:p>
        </p:txBody>
      </p:sp>
    </p:spTree>
    <p:extLst>
      <p:ext uri="{BB962C8B-B14F-4D97-AF65-F5344CB8AC3E}">
        <p14:creationId xmlns:p14="http://schemas.microsoft.com/office/powerpoint/2010/main" val="3999721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75A467F-7B50-4295-BB36-E0FA41EA1D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Chapter 2. </a:t>
            </a:r>
            <a:r>
              <a:rPr lang="ko-KR" altLang="en-US" dirty="0">
                <a:solidFill>
                  <a:schemeClr val="bg1"/>
                </a:solidFill>
              </a:rPr>
              <a:t>애플리케이션 계층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DDDF34F-2FD0-4283-8479-8C94C53D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24</a:t>
            </a:fld>
            <a:endParaRPr 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404BE46-5F23-4BEA-B13E-1AF074AA3E39}"/>
              </a:ext>
            </a:extLst>
          </p:cNvPr>
          <p:cNvGrpSpPr/>
          <p:nvPr/>
        </p:nvGrpSpPr>
        <p:grpSpPr>
          <a:xfrm>
            <a:off x="673656" y="985889"/>
            <a:ext cx="3817079" cy="1096909"/>
            <a:chOff x="673656" y="985889"/>
            <a:chExt cx="3817079" cy="10969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B0FA27E-1362-4FF8-B9F4-5BBC55567A0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985889"/>
              <a:ext cx="3817078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application architectures</a:t>
              </a:r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E97E204E-DFEF-48B7-997D-82A93A88746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9" y="1378566"/>
              <a:ext cx="3511486" cy="7042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client-server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P2P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4C95628-5DD2-401E-8FBD-0099CF81E313}"/>
              </a:ext>
            </a:extLst>
          </p:cNvPr>
          <p:cNvGrpSpPr/>
          <p:nvPr/>
        </p:nvGrpSpPr>
        <p:grpSpPr>
          <a:xfrm>
            <a:off x="673656" y="2134121"/>
            <a:ext cx="3817085" cy="742966"/>
            <a:chOff x="673656" y="2094756"/>
            <a:chExt cx="3817085" cy="742966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4468DE59-C5BC-45BC-935B-71449205B52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2094756"/>
              <a:ext cx="3817079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application service requirements</a:t>
              </a:r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F9248396-C710-4529-B6DB-3C2381C1D43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9" y="2487433"/>
              <a:ext cx="3511492" cy="35028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reliability, bandwidth, delay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9ABCCA3-4D2F-4766-85C5-78FBB11EAEB6}"/>
              </a:ext>
            </a:extLst>
          </p:cNvPr>
          <p:cNvGrpSpPr/>
          <p:nvPr/>
        </p:nvGrpSpPr>
        <p:grpSpPr>
          <a:xfrm>
            <a:off x="673656" y="2974130"/>
            <a:ext cx="4184094" cy="1096909"/>
            <a:chOff x="673656" y="2958852"/>
            <a:chExt cx="4184094" cy="1096909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C2857AF0-CDBF-4AB9-BC5C-62D58868564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2958852"/>
              <a:ext cx="381708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Internet transport service model</a:t>
              </a: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095B6EC6-F049-4C3C-B52F-29A78C3EF7F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3351529"/>
              <a:ext cx="3878502" cy="7042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connection-oriented,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reliable :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TCP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unreliable, 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datagrams :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UDP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3B1467C-8D8A-4698-809F-079FC0DFD5A6}"/>
              </a:ext>
            </a:extLst>
          </p:cNvPr>
          <p:cNvGrpSpPr/>
          <p:nvPr/>
        </p:nvGrpSpPr>
        <p:grpSpPr>
          <a:xfrm>
            <a:off x="673656" y="4168082"/>
            <a:ext cx="6407229" cy="1066562"/>
            <a:chOff x="673656" y="4110980"/>
            <a:chExt cx="6407229" cy="1066562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79E3F9D5-807A-421D-AD00-4F60475F929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4110980"/>
              <a:ext cx="4108580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specific protocols</a:t>
              </a:r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47788A14-E78A-4E29-925B-9892477F37E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4498958"/>
              <a:ext cx="3640377" cy="678584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HTTP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SMTP, POP, IMAP</a:t>
              </a:r>
            </a:p>
          </p:txBody>
        </p:sp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2641A83A-B1DD-4F73-B1AB-D1D7D65C8BC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440508" y="4498958"/>
              <a:ext cx="3640377" cy="678584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DNS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4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P2P : BitTorrent</a:t>
              </a:r>
            </a:p>
          </p:txBody>
        </p:sp>
      </p:grpSp>
      <p:sp>
        <p:nvSpPr>
          <p:cNvPr id="20" name="Rectangle 3">
            <a:extLst>
              <a:ext uri="{FF2B5EF4-FFF2-40B4-BE49-F238E27FC236}">
                <a16:creationId xmlns:a16="http://schemas.microsoft.com/office/drawing/2014/main" id="{535D069C-361D-4D06-BC1D-8B3076B52378}"/>
              </a:ext>
            </a:extLst>
          </p:cNvPr>
          <p:cNvSpPr txBox="1">
            <a:spLocks noChangeArrowheads="1"/>
          </p:cNvSpPr>
          <p:nvPr/>
        </p:nvSpPr>
        <p:spPr>
          <a:xfrm>
            <a:off x="692706" y="5346928"/>
            <a:ext cx="65418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video streaming, CDNs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socket programming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TCP,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UDP sockets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4688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1">
      <a:majorFont>
        <a:latin typeface="G마켓 산스 TTF Bold"/>
        <a:ea typeface="G마켓 산스 TTF Bold"/>
        <a:cs typeface=""/>
      </a:majorFont>
      <a:minorFont>
        <a:latin typeface="G마켓 산스 TTF Medium"/>
        <a:ea typeface="넥슨Lv1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 defTabSz="914583">
          <a:defRPr>
            <a:solidFill>
              <a:prstClr val="white"/>
            </a:solidFill>
            <a:latin typeface="나눔스퀘어" panose="020B0600000101010101" pitchFamily="50" charset="-127"/>
            <a:ea typeface="나눔스퀘어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>
        <a:spAutoFit/>
      </a:bodyPr>
      <a:lstStyle>
        <a:defPPr marL="180000" indent="-180000" algn="l">
          <a:lnSpc>
            <a:spcPct val="120000"/>
          </a:lnSpc>
          <a:spcBef>
            <a:spcPts val="600"/>
          </a:spcBef>
          <a:buClr>
            <a:srgbClr val="0B4CA2"/>
          </a:buClr>
          <a:buSzPct val="80000"/>
          <a:defRPr sz="1600">
            <a:ln>
              <a:solidFill>
                <a:srgbClr val="2D5897">
                  <a:alpha val="0"/>
                </a:srgbClr>
              </a:solidFill>
            </a:ln>
            <a:latin typeface="넥슨Lv1고딕" panose="00000500000000000000" pitchFamily="2" charset="-127"/>
            <a:ea typeface="넥슨Lv1고딕" panose="00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3502</TotalTime>
  <Words>1906</Words>
  <Application>Microsoft Office PowerPoint</Application>
  <PresentationFormat>와이드스크린</PresentationFormat>
  <Paragraphs>436</Paragraphs>
  <Slides>24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G마켓 산스 TTF Bold</vt:lpstr>
      <vt:lpstr>Arial</vt:lpstr>
      <vt:lpstr>넥슨Lv1고딕 Bold</vt:lpstr>
      <vt:lpstr>G마켓 산스 TTF Medium</vt:lpstr>
      <vt:lpstr>넥슨Lv1고딕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 템포</dc:creator>
  <cp:lastModifiedBy>오브릭스</cp:lastModifiedBy>
  <cp:revision>49</cp:revision>
  <dcterms:created xsi:type="dcterms:W3CDTF">2021-12-17T00:49:19Z</dcterms:created>
  <dcterms:modified xsi:type="dcterms:W3CDTF">2022-02-18T01:31:51Z</dcterms:modified>
</cp:coreProperties>
</file>