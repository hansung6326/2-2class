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40"/>
  </p:notesMasterIdLst>
  <p:sldIdLst>
    <p:sldId id="256" r:id="rId2"/>
    <p:sldId id="318" r:id="rId3"/>
    <p:sldId id="351" r:id="rId4"/>
    <p:sldId id="353" r:id="rId5"/>
    <p:sldId id="354" r:id="rId6"/>
    <p:sldId id="355" r:id="rId7"/>
    <p:sldId id="356" r:id="rId8"/>
    <p:sldId id="357" r:id="rId9"/>
    <p:sldId id="358" r:id="rId10"/>
    <p:sldId id="359" r:id="rId11"/>
    <p:sldId id="360" r:id="rId12"/>
    <p:sldId id="361" r:id="rId13"/>
    <p:sldId id="364" r:id="rId14"/>
    <p:sldId id="363" r:id="rId15"/>
    <p:sldId id="328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49" r:id="rId25"/>
    <p:sldId id="350" r:id="rId26"/>
    <p:sldId id="329" r:id="rId27"/>
    <p:sldId id="336" r:id="rId28"/>
    <p:sldId id="337" r:id="rId29"/>
    <p:sldId id="338" r:id="rId30"/>
    <p:sldId id="339" r:id="rId31"/>
    <p:sldId id="340" r:id="rId32"/>
    <p:sldId id="330" r:id="rId33"/>
    <p:sldId id="331" r:id="rId34"/>
    <p:sldId id="332" r:id="rId35"/>
    <p:sldId id="333" r:id="rId36"/>
    <p:sldId id="334" r:id="rId37"/>
    <p:sldId id="335" r:id="rId38"/>
    <p:sldId id="257" r:id="rId39"/>
  </p:sldIdLst>
  <p:sldSz cx="12192000" cy="6858000"/>
  <p:notesSz cx="6858000" cy="9144000"/>
  <p:embeddedFontLst>
    <p:embeddedFont>
      <p:font typeface="ＭＳ Ｐゴシック" panose="020B0600070205080204" pitchFamily="34" charset="-128"/>
      <p:regular r:id="rId41"/>
    </p:embeddedFont>
    <p:embeddedFont>
      <p:font typeface="넥슨Lv1고딕" panose="020B0600000101010101" charset="-127"/>
      <p:regular r:id="rId42"/>
    </p:embeddedFont>
    <p:embeddedFont>
      <p:font typeface="넥슨Lv1고딕 Bold" panose="020B0600000101010101" charset="-127"/>
      <p:bold r:id="rId43"/>
    </p:embeddedFont>
    <p:embeddedFont>
      <p:font typeface="Abadi" panose="020B0604020104020204" pitchFamily="34" charset="0"/>
      <p:regular r:id="rId44"/>
      <p:bold r:id="rId45"/>
      <p:italic r:id="rId46"/>
      <p:boldItalic r:id="rId47"/>
    </p:embeddedFont>
    <p:embeddedFont>
      <p:font typeface="Microsoft GothicNeo" panose="020B0500000101010101" pitchFamily="50" charset="-127"/>
      <p:regular r:id="rId48"/>
      <p:bold r:id="rId4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19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5BA0"/>
    <a:srgbClr val="E1ECF7"/>
    <a:srgbClr val="9EC4E6"/>
    <a:srgbClr val="F27037"/>
    <a:srgbClr val="098983"/>
    <a:srgbClr val="EFF5FB"/>
    <a:srgbClr val="F2FBFB"/>
    <a:srgbClr val="E4D09D"/>
    <a:srgbClr val="F2E8CE"/>
    <a:srgbClr val="D0F1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9" autoAdjust="0"/>
    <p:restoredTop sz="90820" autoAdjust="0"/>
  </p:normalViewPr>
  <p:slideViewPr>
    <p:cSldViewPr snapToGrid="0">
      <p:cViewPr varScale="1">
        <p:scale>
          <a:sx n="100" d="100"/>
          <a:sy n="100" d="100"/>
        </p:scale>
        <p:origin x="244" y="56"/>
      </p:cViewPr>
      <p:guideLst>
        <p:guide pos="619"/>
        <p:guide orient="horz"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badi" panose="020B0604020104020204" pitchFamily="34" charset="0"/>
                <a:ea typeface="G마켓 산스 TTF Medium" panose="020000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badi" panose="020B0604020104020204" pitchFamily="34" charset="0"/>
                <a:ea typeface="G마켓 산스 TTF Medium" panose="02000000000000000000" pitchFamily="2" charset="-127"/>
              </a:defRPr>
            </a:lvl1pPr>
          </a:lstStyle>
          <a:p>
            <a:fld id="{E140C150-30F4-4EB8-A68E-9542B6266399}" type="datetimeFigureOut">
              <a:rPr lang="ko-KR" altLang="en-US" smtClean="0"/>
              <a:pPr/>
              <a:t>2026-10-01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badi" panose="020B0604020104020204" pitchFamily="34" charset="0"/>
                <a:ea typeface="G마켓 산스 TTF Medium" panose="020000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badi" panose="020B0604020104020204" pitchFamily="34" charset="0"/>
                <a:ea typeface="G마켓 산스 TTF Medium" panose="02000000000000000000" pitchFamily="2" charset="-127"/>
              </a:defRPr>
            </a:lvl1pPr>
          </a:lstStyle>
          <a:p>
            <a:fld id="{83CE925C-F659-44E3-9F87-D3B4F55FEB4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0924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Abadi" panose="020B0604020104020204" pitchFamily="34" charset="0"/>
        <a:ea typeface="G마켓 산스 TTF Medium" panose="020000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대역폭이 늘어나면 전송 속도는 빨라진다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9357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aseline="0" dirty="0"/>
              <a:t>프로세싱 딜레이 </a:t>
            </a:r>
            <a:r>
              <a:rPr lang="en-US" altLang="ko-KR" baseline="0" dirty="0"/>
              <a:t>(1ms</a:t>
            </a:r>
            <a:r>
              <a:rPr lang="ko-KR" altLang="en-US" baseline="0" dirty="0"/>
              <a:t>도 </a:t>
            </a:r>
            <a:r>
              <a:rPr lang="ko-KR" altLang="en-US" baseline="0" dirty="0" err="1"/>
              <a:t>안걸림</a:t>
            </a:r>
            <a:r>
              <a:rPr lang="en-US" altLang="ko-KR" baseline="0" dirty="0"/>
              <a:t>), </a:t>
            </a:r>
            <a:r>
              <a:rPr lang="ko-KR" altLang="en-US" baseline="0" dirty="0" err="1"/>
              <a:t>큐잉</a:t>
            </a:r>
            <a:r>
              <a:rPr lang="ko-KR" altLang="en-US" baseline="0" dirty="0"/>
              <a:t> 딜레이</a:t>
            </a:r>
            <a:r>
              <a:rPr lang="en-US" altLang="ko-KR" baseline="0" dirty="0"/>
              <a:t>(</a:t>
            </a:r>
            <a:r>
              <a:rPr lang="ko-KR" altLang="en-US" baseline="0" dirty="0"/>
              <a:t>트래픽이 많아지면 오래 걸림</a:t>
            </a:r>
            <a:r>
              <a:rPr lang="en-US" altLang="ko-KR" baseline="0" dirty="0"/>
              <a:t>… ) </a:t>
            </a:r>
            <a:r>
              <a:rPr lang="ko-KR" altLang="en-US" baseline="0" dirty="0"/>
              <a:t>큐가 늘어나면 일정하게 </a:t>
            </a:r>
            <a:r>
              <a:rPr lang="ko-KR" altLang="en-US" baseline="0" dirty="0" err="1"/>
              <a:t>늘어나는게</a:t>
            </a:r>
            <a:r>
              <a:rPr lang="ko-KR" altLang="en-US" baseline="0" dirty="0"/>
              <a:t> 아니라 지수 함수처럼 기하 급수적으로 늘어남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1626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트랜스미션 딜레이</a:t>
            </a:r>
            <a:r>
              <a:rPr lang="en-US" altLang="ko-KR" dirty="0"/>
              <a:t>(</a:t>
            </a:r>
            <a:r>
              <a:rPr lang="ko-KR" altLang="en-US" dirty="0"/>
              <a:t>대역폭이 얼마나 </a:t>
            </a:r>
            <a:r>
              <a:rPr lang="ko-KR" altLang="en-US" dirty="0" err="1"/>
              <a:t>되느냐에</a:t>
            </a:r>
            <a:r>
              <a:rPr lang="ko-KR" altLang="en-US" dirty="0"/>
              <a:t> 따라 반비례함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6198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0263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7772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17</a:t>
            </a:r>
            <a:r>
              <a:rPr lang="ko-KR" altLang="en-US" dirty="0"/>
              <a:t>번 처럼 </a:t>
            </a:r>
            <a:r>
              <a:rPr lang="ko-KR" altLang="en-US" dirty="0" err="1"/>
              <a:t>나오는것은</a:t>
            </a:r>
            <a:r>
              <a:rPr lang="ko-KR" altLang="en-US" dirty="0"/>
              <a:t> 손실되거나 라우터가 무응답이라는 뜻이지만 </a:t>
            </a:r>
            <a:r>
              <a:rPr lang="en-US" altLang="ko-KR" dirty="0"/>
              <a:t>19</a:t>
            </a:r>
            <a:r>
              <a:rPr lang="ko-KR" altLang="en-US" dirty="0"/>
              <a:t>번에서 응답이 온 것을 보면 손실된 것이 아닌 무응답인 것을 알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0391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265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25C-F659-44E3-9F87-D3B4F55FEB44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2476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8E58B23-F003-438F-9390-0AE2D7CD0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텍스트 개체 틀 19">
            <a:extLst>
              <a:ext uri="{FF2B5EF4-FFF2-40B4-BE49-F238E27FC236}">
                <a16:creationId xmlns:a16="http://schemas.microsoft.com/office/drawing/2014/main" id="{86EBB590-FEE8-401E-8EA0-BCE5353BDCD0}"/>
              </a:ext>
            </a:extLst>
          </p:cNvPr>
          <p:cNvSpPr txBox="1">
            <a:spLocks/>
          </p:cNvSpPr>
          <p:nvPr/>
        </p:nvSpPr>
        <p:spPr>
          <a:xfrm>
            <a:off x="846203" y="2397206"/>
            <a:ext cx="5249797" cy="102662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ko-KR" altLang="en-US" sz="6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66CCFF"/>
                </a:solidFill>
                <a:latin typeface="Abadi" panose="020F0502020204030204" pitchFamily="34" charset="0"/>
                <a:ea typeface="G마켓 산스 TTF Bold" panose="02000000000000000000" pitchFamily="2" charset="-127"/>
                <a:cs typeface="Microsoft GothicNeo" panose="020B0503020000020004" pitchFamily="34" charset="-127"/>
                <a:sym typeface="Arial"/>
              </a:rPr>
              <a:t>데이터</a:t>
            </a:r>
            <a:r>
              <a:rPr lang="ko-KR" altLang="en-US" sz="6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Abadi" panose="020F0502020204030204" pitchFamily="34" charset="0"/>
                <a:ea typeface="G마켓 산스 TTF Bold" panose="02000000000000000000" pitchFamily="2" charset="-127"/>
                <a:cs typeface="Microsoft GothicNeo" panose="020B0503020000020004" pitchFamily="34" charset="-127"/>
                <a:sym typeface="Arial"/>
              </a:rPr>
              <a:t>통신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BEC8F8-3EF6-4B10-A06F-EC62C7E0CD3E}"/>
              </a:ext>
            </a:extLst>
          </p:cNvPr>
          <p:cNvSpPr txBox="1"/>
          <p:nvPr/>
        </p:nvSpPr>
        <p:spPr>
          <a:xfrm>
            <a:off x="846203" y="5458844"/>
            <a:ext cx="3851275" cy="39395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atinLnBrk="1">
              <a:lnSpc>
                <a:spcPct val="130000"/>
              </a:lnSpc>
              <a:spcBef>
                <a:spcPts val="600"/>
              </a:spcBef>
              <a:defRPr/>
            </a:pP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한성대학교 </a:t>
            </a: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황 호 영 </a:t>
            </a: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교수 </a:t>
            </a:r>
          </a:p>
        </p:txBody>
      </p:sp>
      <p:pic>
        <p:nvPicPr>
          <p:cNvPr id="12" name="그림 11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84D97AAB-4486-4F3F-86BE-841ABC35D2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202" y="770137"/>
            <a:ext cx="1068323" cy="422954"/>
          </a:xfrm>
          <a:prstGeom prst="rect">
            <a:avLst/>
          </a:prstGeom>
        </p:spPr>
      </p:pic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7B09D02F-4765-492A-A03F-2CC73DC21629}"/>
              </a:ext>
            </a:extLst>
          </p:cNvPr>
          <p:cNvSpPr/>
          <p:nvPr/>
        </p:nvSpPr>
        <p:spPr>
          <a:xfrm>
            <a:off x="561974" y="2337557"/>
            <a:ext cx="354331" cy="354331"/>
          </a:xfrm>
          <a:custGeom>
            <a:avLst/>
            <a:gdLst>
              <a:gd name="connsiteX0" fmla="*/ 0 w 646331"/>
              <a:gd name="connsiteY0" fmla="*/ 0 h 646331"/>
              <a:gd name="connsiteX1" fmla="*/ 646331 w 646331"/>
              <a:gd name="connsiteY1" fmla="*/ 0 h 646331"/>
              <a:gd name="connsiteX2" fmla="*/ 646331 w 646331"/>
              <a:gd name="connsiteY2" fmla="*/ 278601 h 646331"/>
              <a:gd name="connsiteX3" fmla="*/ 323165 w 646331"/>
              <a:gd name="connsiteY3" fmla="*/ 278601 h 646331"/>
              <a:gd name="connsiteX4" fmla="*/ 323165 w 646331"/>
              <a:gd name="connsiteY4" fmla="*/ 646331 h 646331"/>
              <a:gd name="connsiteX5" fmla="*/ 0 w 646331"/>
              <a:gd name="connsiteY5" fmla="*/ 646331 h 646331"/>
              <a:gd name="connsiteX0" fmla="*/ 323165 w 646331"/>
              <a:gd name="connsiteY0" fmla="*/ 278601 h 646331"/>
              <a:gd name="connsiteX1" fmla="*/ 323165 w 646331"/>
              <a:gd name="connsiteY1" fmla="*/ 646331 h 646331"/>
              <a:gd name="connsiteX2" fmla="*/ 0 w 646331"/>
              <a:gd name="connsiteY2" fmla="*/ 646331 h 646331"/>
              <a:gd name="connsiteX3" fmla="*/ 0 w 646331"/>
              <a:gd name="connsiteY3" fmla="*/ 0 h 646331"/>
              <a:gd name="connsiteX4" fmla="*/ 646331 w 646331"/>
              <a:gd name="connsiteY4" fmla="*/ 0 h 646331"/>
              <a:gd name="connsiteX5" fmla="*/ 646331 w 646331"/>
              <a:gd name="connsiteY5" fmla="*/ 278601 h 646331"/>
              <a:gd name="connsiteX6" fmla="*/ 414605 w 646331"/>
              <a:gd name="connsiteY6" fmla="*/ 370041 h 646331"/>
              <a:gd name="connsiteX0" fmla="*/ 323165 w 646331"/>
              <a:gd name="connsiteY0" fmla="*/ 278601 h 646331"/>
              <a:gd name="connsiteX1" fmla="*/ 323165 w 646331"/>
              <a:gd name="connsiteY1" fmla="*/ 646331 h 646331"/>
              <a:gd name="connsiteX2" fmla="*/ 0 w 646331"/>
              <a:gd name="connsiteY2" fmla="*/ 646331 h 646331"/>
              <a:gd name="connsiteX3" fmla="*/ 0 w 646331"/>
              <a:gd name="connsiteY3" fmla="*/ 0 h 646331"/>
              <a:gd name="connsiteX4" fmla="*/ 646331 w 646331"/>
              <a:gd name="connsiteY4" fmla="*/ 0 h 646331"/>
              <a:gd name="connsiteX5" fmla="*/ 646331 w 646331"/>
              <a:gd name="connsiteY5" fmla="*/ 278601 h 646331"/>
              <a:gd name="connsiteX0" fmla="*/ 323165 w 646331"/>
              <a:gd name="connsiteY0" fmla="*/ 646331 h 646331"/>
              <a:gd name="connsiteX1" fmla="*/ 0 w 646331"/>
              <a:gd name="connsiteY1" fmla="*/ 646331 h 646331"/>
              <a:gd name="connsiteX2" fmla="*/ 0 w 646331"/>
              <a:gd name="connsiteY2" fmla="*/ 0 h 646331"/>
              <a:gd name="connsiteX3" fmla="*/ 646331 w 646331"/>
              <a:gd name="connsiteY3" fmla="*/ 0 h 646331"/>
              <a:gd name="connsiteX4" fmla="*/ 646331 w 646331"/>
              <a:gd name="connsiteY4" fmla="*/ 278601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6331" h="646331">
                <a:moveTo>
                  <a:pt x="323165" y="646331"/>
                </a:moveTo>
                <a:lnTo>
                  <a:pt x="0" y="646331"/>
                </a:lnTo>
                <a:lnTo>
                  <a:pt x="0" y="0"/>
                </a:lnTo>
                <a:lnTo>
                  <a:pt x="646331" y="0"/>
                </a:lnTo>
                <a:lnTo>
                  <a:pt x="646331" y="278601"/>
                </a:lnTo>
              </a:path>
            </a:pathLst>
          </a:custGeom>
          <a:noFill/>
          <a:ln w="28575"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latinLnBrk="0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406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98E84835-0DF2-4DD9-A283-A656C61EAB8C}"/>
              </a:ext>
            </a:extLst>
          </p:cNvPr>
          <p:cNvGrpSpPr/>
          <p:nvPr/>
        </p:nvGrpSpPr>
        <p:grpSpPr>
          <a:xfrm>
            <a:off x="0" y="0"/>
            <a:ext cx="12192000" cy="6858001"/>
            <a:chOff x="0" y="0"/>
            <a:chExt cx="12192000" cy="6858001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74EBD87E-3A54-41C8-9F34-AED9EBD1CB9B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B23F09C4-A7CA-4012-8905-5AEF03E222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7625" b="570"/>
              <a:stretch/>
            </p:blipFill>
            <p:spPr>
              <a:xfrm>
                <a:off x="0" y="0"/>
                <a:ext cx="12192000" cy="2867025"/>
              </a:xfrm>
              <a:prstGeom prst="rect">
                <a:avLst/>
              </a:prstGeom>
            </p:spPr>
          </p:pic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6BDC9A2E-AA5F-4680-A3C9-D6DD489125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472" b="8334"/>
              <a:stretch/>
            </p:blipFill>
            <p:spPr>
              <a:xfrm>
                <a:off x="0" y="2867025"/>
                <a:ext cx="12192000" cy="3990975"/>
              </a:xfrm>
              <a:prstGeom prst="rect">
                <a:avLst/>
              </a:prstGeom>
            </p:spPr>
          </p:pic>
        </p:grp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DF38D8D-6B96-4687-9813-B6F30BDFF1A1}"/>
                </a:ext>
              </a:extLst>
            </p:cNvPr>
            <p:cNvSpPr/>
            <p:nvPr/>
          </p:nvSpPr>
          <p:spPr>
            <a:xfrm flipH="1">
              <a:off x="0" y="0"/>
              <a:ext cx="12189534" cy="6858001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95000"/>
                    <a:lumOff val="5000"/>
                    <a:alpha val="65000"/>
                  </a:schemeClr>
                </a:gs>
                <a:gs pos="100000">
                  <a:srgbClr val="09C9A9">
                    <a:alpha val="86000"/>
                  </a:srgbClr>
                </a:gs>
                <a:gs pos="76000">
                  <a:srgbClr val="00AFEF">
                    <a:alpha val="80000"/>
                  </a:srgbClr>
                </a:gs>
                <a:gs pos="42000">
                  <a:srgbClr val="0058A2">
                    <a:alpha val="51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endParaRPr>
            </a:p>
          </p:txBody>
        </p:sp>
      </p:grpSp>
      <p:sp>
        <p:nvSpPr>
          <p:cNvPr id="26" name="텍스트 개체 틀 25">
            <a:extLst>
              <a:ext uri="{FF2B5EF4-FFF2-40B4-BE49-F238E27FC236}">
                <a16:creationId xmlns:a16="http://schemas.microsoft.com/office/drawing/2014/main" id="{5F0A33CB-60D6-4F92-BEB3-7CA6E3DF02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Abadi" panose="020F0502020204030204" pitchFamily="34" charset="0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1pPr>
            <a:lvl2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2pPr>
            <a:lvl3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3pPr>
            <a:lvl4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4pPr>
            <a:lvl5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pic>
        <p:nvPicPr>
          <p:cNvPr id="18" name="그림 17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104391FA-D3E0-4D50-B6D1-6871FE0B13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492" y="357964"/>
            <a:ext cx="904917" cy="358261"/>
          </a:xfrm>
          <a:prstGeom prst="rect">
            <a:avLst/>
          </a:prstGeom>
        </p:spPr>
      </p:pic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95E1FDB4-6084-4885-9561-CE889B62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73" y="6445885"/>
            <a:ext cx="514728" cy="24193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>
            <a:lvl1pPr algn="l">
              <a:defRPr lang="ko-KR" altLang="en-US" sz="800" kern="120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Abadi" panose="020B0604020104020204" pitchFamily="34" charset="0"/>
                <a:ea typeface="G마켓 산스 TTF Medium" panose="02000000000000000000" pitchFamily="2" charset="-127"/>
                <a:cs typeface="Times New Roman"/>
              </a:defRPr>
            </a:lvl1pPr>
          </a:lstStyle>
          <a:p>
            <a:fld id="{F1F9D73E-270F-475A-B1DB-D9B489A24756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66FD91E-E9A9-4A78-A932-60E362AB8C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2900" y="828676"/>
            <a:ext cx="11510246" cy="57551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3E7F5B-0F39-4897-8C60-1EF9BF979A04}"/>
              </a:ext>
            </a:extLst>
          </p:cNvPr>
          <p:cNvSpPr txBox="1"/>
          <p:nvPr userDrawn="1"/>
        </p:nvSpPr>
        <p:spPr>
          <a:xfrm>
            <a:off x="696915" y="6166170"/>
            <a:ext cx="6113504" cy="323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 lvl="3" indent="-144000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ko-KR" altLang="en-US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*출처 </a:t>
            </a:r>
            <a:r>
              <a:rPr lang="en-US" altLang="ko-KR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 『Computer Networking : A Top Down  Approach Eighth Edition』 </a:t>
            </a:r>
          </a:p>
          <a:p>
            <a:pPr marL="144000" lvl="3" indent="-144000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en-US" altLang="ko-KR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© All material copyright 1996-2016 J.F Kurose and K.W. Ross,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132321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415" userDrawn="1">
          <p15:clr>
            <a:srgbClr val="FBAE40"/>
          </p15:clr>
        </p15:guide>
        <p15:guide id="3" pos="59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그룹 69">
            <a:extLst>
              <a:ext uri="{FF2B5EF4-FFF2-40B4-BE49-F238E27FC236}">
                <a16:creationId xmlns:a16="http://schemas.microsoft.com/office/drawing/2014/main" id="{D418C24D-CC88-4BC0-957E-0F8F8C78A2AC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B3B77CFE-DABC-4859-BAEC-3077D0B8EB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625" b="570"/>
            <a:stretch/>
          </p:blipFill>
          <p:spPr>
            <a:xfrm>
              <a:off x="0" y="0"/>
              <a:ext cx="12192000" cy="2867025"/>
            </a:xfrm>
            <a:prstGeom prst="rect">
              <a:avLst/>
            </a:prstGeom>
          </p:spPr>
        </p:pic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E42761C8-18CA-4130-B2F4-62F40C4D2D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472" b="8334"/>
            <a:stretch/>
          </p:blipFill>
          <p:spPr>
            <a:xfrm>
              <a:off x="0" y="2867025"/>
              <a:ext cx="12192000" cy="3990975"/>
            </a:xfrm>
            <a:prstGeom prst="rect">
              <a:avLst/>
            </a:prstGeom>
          </p:spPr>
        </p:pic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526B65B-B533-49E0-844F-3A380A12D9EA}"/>
              </a:ext>
            </a:extLst>
          </p:cNvPr>
          <p:cNvSpPr/>
          <p:nvPr/>
        </p:nvSpPr>
        <p:spPr>
          <a:xfrm flipH="1">
            <a:off x="0" y="0"/>
            <a:ext cx="12189534" cy="6858001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  <a:alpha val="65000"/>
                </a:schemeClr>
              </a:gs>
              <a:gs pos="100000">
                <a:srgbClr val="09C9A9">
                  <a:alpha val="86000"/>
                </a:srgbClr>
              </a:gs>
              <a:gs pos="76000">
                <a:srgbClr val="00AFEF">
                  <a:alpha val="80000"/>
                </a:srgbClr>
              </a:gs>
              <a:gs pos="42000">
                <a:srgbClr val="0058A2">
                  <a:alpha val="51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 Bold" panose="00000800000000000000" pitchFamily="2" charset="-127"/>
              <a:ea typeface="넥슨Lv1고딕 Bold" panose="00000800000000000000" pitchFamily="2" charset="-127"/>
              <a:cs typeface="+mn-cs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CD982A44-53CC-437A-B1F2-363FE9109416}"/>
              </a:ext>
            </a:extLst>
          </p:cNvPr>
          <p:cNvGrpSpPr/>
          <p:nvPr/>
        </p:nvGrpSpPr>
        <p:grpSpPr>
          <a:xfrm>
            <a:off x="7029061" y="187414"/>
            <a:ext cx="5194689" cy="656355"/>
            <a:chOff x="7199219" y="187414"/>
            <a:chExt cx="5046121" cy="656355"/>
          </a:xfrm>
        </p:grpSpPr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2154770F-0A7B-41FD-A565-0836865DDE4E}"/>
                </a:ext>
              </a:extLst>
            </p:cNvPr>
            <p:cNvSpPr/>
            <p:nvPr/>
          </p:nvSpPr>
          <p:spPr>
            <a:xfrm>
              <a:off x="7540777" y="187414"/>
              <a:ext cx="4704563" cy="436126"/>
            </a:xfrm>
            <a:custGeom>
              <a:avLst/>
              <a:gdLst>
                <a:gd name="connsiteX0" fmla="*/ 265745 w 4547246"/>
                <a:gd name="connsiteY0" fmla="*/ 0 h 419100"/>
                <a:gd name="connsiteX1" fmla="*/ 995371 w 4547246"/>
                <a:gd name="connsiteY1" fmla="*/ 0 h 419100"/>
                <a:gd name="connsiteX2" fmla="*/ 1436134 w 4547246"/>
                <a:gd name="connsiteY2" fmla="*/ 0 h 419100"/>
                <a:gd name="connsiteX3" fmla="*/ 2165760 w 4547246"/>
                <a:gd name="connsiteY3" fmla="*/ 0 h 419100"/>
                <a:gd name="connsiteX4" fmla="*/ 2379395 w 4547246"/>
                <a:gd name="connsiteY4" fmla="*/ 0 h 419100"/>
                <a:gd name="connsiteX5" fmla="*/ 3109021 w 4547246"/>
                <a:gd name="connsiteY5" fmla="*/ 0 h 419100"/>
                <a:gd name="connsiteX6" fmla="*/ 3817620 w 4547246"/>
                <a:gd name="connsiteY6" fmla="*/ 0 h 419100"/>
                <a:gd name="connsiteX7" fmla="*/ 4547246 w 4547246"/>
                <a:gd name="connsiteY7" fmla="*/ 0 h 419100"/>
                <a:gd name="connsiteX8" fmla="*/ 4547246 w 4547246"/>
                <a:gd name="connsiteY8" fmla="*/ 419100 h 419100"/>
                <a:gd name="connsiteX9" fmla="*/ 3817620 w 4547246"/>
                <a:gd name="connsiteY9" fmla="*/ 419100 h 419100"/>
                <a:gd name="connsiteX10" fmla="*/ 2165760 w 4547246"/>
                <a:gd name="connsiteY10" fmla="*/ 419100 h 419100"/>
                <a:gd name="connsiteX11" fmla="*/ 1436134 w 4547246"/>
                <a:gd name="connsiteY11" fmla="*/ 419100 h 419100"/>
                <a:gd name="connsiteX12" fmla="*/ 1436134 w 4547246"/>
                <a:gd name="connsiteY12" fmla="*/ 417862 h 419100"/>
                <a:gd name="connsiteX13" fmla="*/ 729626 w 4547246"/>
                <a:gd name="connsiteY13" fmla="*/ 417862 h 419100"/>
                <a:gd name="connsiteX14" fmla="*/ 0 w 4547246"/>
                <a:gd name="connsiteY14" fmla="*/ 417862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547246" h="419100">
                  <a:moveTo>
                    <a:pt x="265745" y="0"/>
                  </a:moveTo>
                  <a:lnTo>
                    <a:pt x="995371" y="0"/>
                  </a:lnTo>
                  <a:lnTo>
                    <a:pt x="1436134" y="0"/>
                  </a:lnTo>
                  <a:lnTo>
                    <a:pt x="2165760" y="0"/>
                  </a:lnTo>
                  <a:lnTo>
                    <a:pt x="2379395" y="0"/>
                  </a:lnTo>
                  <a:lnTo>
                    <a:pt x="3109021" y="0"/>
                  </a:lnTo>
                  <a:lnTo>
                    <a:pt x="3817620" y="0"/>
                  </a:lnTo>
                  <a:lnTo>
                    <a:pt x="4547246" y="0"/>
                  </a:lnTo>
                  <a:lnTo>
                    <a:pt x="4547246" y="419100"/>
                  </a:lnTo>
                  <a:lnTo>
                    <a:pt x="3817620" y="419100"/>
                  </a:lnTo>
                  <a:lnTo>
                    <a:pt x="2165760" y="419100"/>
                  </a:lnTo>
                  <a:lnTo>
                    <a:pt x="1436134" y="419100"/>
                  </a:lnTo>
                  <a:lnTo>
                    <a:pt x="1436134" y="417862"/>
                  </a:lnTo>
                  <a:lnTo>
                    <a:pt x="729626" y="417862"/>
                  </a:lnTo>
                  <a:lnTo>
                    <a:pt x="0" y="417862"/>
                  </a:lnTo>
                  <a:close/>
                </a:path>
              </a:pathLst>
            </a:custGeom>
            <a:gradFill>
              <a:gsLst>
                <a:gs pos="0">
                  <a:srgbClr val="CAD3DC"/>
                </a:gs>
                <a:gs pos="68000">
                  <a:srgbClr val="EDF0F3"/>
                </a:gs>
                <a:gs pos="100000">
                  <a:schemeClr val="bg1"/>
                </a:gs>
              </a:gsLst>
              <a:lin ang="5400000" scaled="1"/>
            </a:gra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AE9A2CA9-A205-4255-9267-D4309E033CC6}"/>
                </a:ext>
              </a:extLst>
            </p:cNvPr>
            <p:cNvSpPr/>
            <p:nvPr/>
          </p:nvSpPr>
          <p:spPr>
            <a:xfrm>
              <a:off x="7199219" y="267834"/>
              <a:ext cx="5046120" cy="575935"/>
            </a:xfrm>
            <a:custGeom>
              <a:avLst/>
              <a:gdLst>
                <a:gd name="connsiteX0" fmla="*/ 336567 w 5046120"/>
                <a:gd name="connsiteY0" fmla="*/ 0 h 575935"/>
                <a:gd name="connsiteX1" fmla="*/ 1216719 w 5046120"/>
                <a:gd name="connsiteY1" fmla="*/ 0 h 575935"/>
                <a:gd name="connsiteX2" fmla="*/ 1818865 w 5046120"/>
                <a:gd name="connsiteY2" fmla="*/ 0 h 575935"/>
                <a:gd name="connsiteX3" fmla="*/ 2699017 w 5046120"/>
                <a:gd name="connsiteY3" fmla="*/ 0 h 575935"/>
                <a:gd name="connsiteX4" fmla="*/ 3013506 w 5046120"/>
                <a:gd name="connsiteY4" fmla="*/ 0 h 575935"/>
                <a:gd name="connsiteX5" fmla="*/ 3893658 w 5046120"/>
                <a:gd name="connsiteY5" fmla="*/ 0 h 575935"/>
                <a:gd name="connsiteX6" fmla="*/ 4835020 w 5046120"/>
                <a:gd name="connsiteY6" fmla="*/ 0 h 575935"/>
                <a:gd name="connsiteX7" fmla="*/ 5046120 w 5046120"/>
                <a:gd name="connsiteY7" fmla="*/ 0 h 575935"/>
                <a:gd name="connsiteX8" fmla="*/ 5046120 w 5046120"/>
                <a:gd name="connsiteY8" fmla="*/ 575935 h 575935"/>
                <a:gd name="connsiteX9" fmla="*/ 4835020 w 5046120"/>
                <a:gd name="connsiteY9" fmla="*/ 575935 h 575935"/>
                <a:gd name="connsiteX10" fmla="*/ 2699017 w 5046120"/>
                <a:gd name="connsiteY10" fmla="*/ 575935 h 575935"/>
                <a:gd name="connsiteX11" fmla="*/ 1818865 w 5046120"/>
                <a:gd name="connsiteY11" fmla="*/ 575935 h 575935"/>
                <a:gd name="connsiteX12" fmla="*/ 1818865 w 5046120"/>
                <a:gd name="connsiteY12" fmla="*/ 574234 h 575935"/>
                <a:gd name="connsiteX13" fmla="*/ 880153 w 5046120"/>
                <a:gd name="connsiteY13" fmla="*/ 574234 h 575935"/>
                <a:gd name="connsiteX14" fmla="*/ 0 w 5046120"/>
                <a:gd name="connsiteY14" fmla="*/ 574234 h 575935"/>
                <a:gd name="connsiteX15" fmla="*/ 336567 w 5046120"/>
                <a:gd name="connsiteY15" fmla="*/ 0 h 5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046120" h="575935">
                  <a:moveTo>
                    <a:pt x="336567" y="0"/>
                  </a:moveTo>
                  <a:lnTo>
                    <a:pt x="1216719" y="0"/>
                  </a:lnTo>
                  <a:lnTo>
                    <a:pt x="1818865" y="0"/>
                  </a:lnTo>
                  <a:lnTo>
                    <a:pt x="2699017" y="0"/>
                  </a:lnTo>
                  <a:lnTo>
                    <a:pt x="3013506" y="0"/>
                  </a:lnTo>
                  <a:lnTo>
                    <a:pt x="3893658" y="0"/>
                  </a:lnTo>
                  <a:lnTo>
                    <a:pt x="4835020" y="0"/>
                  </a:lnTo>
                  <a:lnTo>
                    <a:pt x="5046120" y="0"/>
                  </a:lnTo>
                  <a:lnTo>
                    <a:pt x="5046120" y="575935"/>
                  </a:lnTo>
                  <a:lnTo>
                    <a:pt x="4835020" y="575935"/>
                  </a:lnTo>
                  <a:lnTo>
                    <a:pt x="2699017" y="575935"/>
                  </a:lnTo>
                  <a:lnTo>
                    <a:pt x="1818865" y="575935"/>
                  </a:lnTo>
                  <a:lnTo>
                    <a:pt x="1818865" y="574234"/>
                  </a:lnTo>
                  <a:lnTo>
                    <a:pt x="880153" y="574234"/>
                  </a:lnTo>
                  <a:lnTo>
                    <a:pt x="0" y="574234"/>
                  </a:lnTo>
                  <a:lnTo>
                    <a:pt x="336567" y="0"/>
                  </a:lnTo>
                  <a:close/>
                </a:path>
              </a:pathLst>
            </a:custGeom>
            <a:gradFill>
              <a:gsLst>
                <a:gs pos="32000">
                  <a:srgbClr val="EDF0F3"/>
                </a:gs>
                <a:gs pos="100000">
                  <a:schemeClr val="bg1"/>
                </a:gs>
              </a:gsLst>
              <a:lin ang="5400000" scaled="1"/>
            </a:gra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pic>
        <p:nvPicPr>
          <p:cNvPr id="75" name="그림 74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FCA79763-5F57-4F6F-B6F4-E6BC8E9AF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660" y="392547"/>
            <a:ext cx="904918" cy="35826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419D1B3F-476C-4A72-B5FB-4FB156D7CB7A}"/>
              </a:ext>
            </a:extLst>
          </p:cNvPr>
          <p:cNvSpPr txBox="1"/>
          <p:nvPr/>
        </p:nvSpPr>
        <p:spPr>
          <a:xfrm>
            <a:off x="7449340" y="426823"/>
            <a:ext cx="31706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Chapter 1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컴퓨터 네트워크와 인터넷</a:t>
            </a: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157300C3-1155-49E7-9A80-E2A1FD129979}"/>
              </a:ext>
            </a:extLst>
          </p:cNvPr>
          <p:cNvCxnSpPr/>
          <p:nvPr/>
        </p:nvCxnSpPr>
        <p:spPr>
          <a:xfrm>
            <a:off x="10693542" y="440813"/>
            <a:ext cx="0" cy="279797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텍스트 개체 틀 25">
            <a:extLst>
              <a:ext uri="{FF2B5EF4-FFF2-40B4-BE49-F238E27FC236}">
                <a16:creationId xmlns:a16="http://schemas.microsoft.com/office/drawing/2014/main" id="{185B5DF7-1CC0-4AEC-B4B5-50A9AFD059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0" dirty="0" smtClean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Abadi" panose="020F0502020204030204" pitchFamily="34" charset="0"/>
                <a:ea typeface="G마켓 산스 TTF Bold" panose="02000000000000000000" pitchFamily="2" charset="-127"/>
                <a:cs typeface="+mj-cs"/>
              </a:defRPr>
            </a:lvl1pPr>
            <a:lvl2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2pPr>
            <a:lvl3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3pPr>
            <a:lvl4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4pPr>
            <a:lvl5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D9EB6305-F0F6-4138-906E-FA19AC5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73" y="6445885"/>
            <a:ext cx="514728" cy="24193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>
            <a:lvl1pPr algn="l">
              <a:defRPr lang="ko-KR" altLang="en-US" sz="800" kern="120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Abadi" panose="020B0604020104020204" pitchFamily="34" charset="0"/>
                <a:ea typeface="G마켓 산스 TTF Medium" panose="02000000000000000000" pitchFamily="2" charset="-127"/>
                <a:cs typeface="Times New Roman"/>
              </a:defRPr>
            </a:lvl1pPr>
          </a:lstStyle>
          <a:p>
            <a:fld id="{F1F9D73E-270F-475A-B1DB-D9B489A24756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2BAA3B7-9251-44F2-B84D-DBA0CFF48C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2900" y="828675"/>
            <a:ext cx="11882134" cy="60355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B3EE80D-B24A-4A1F-8B9A-CD6E95B4D388}"/>
              </a:ext>
            </a:extLst>
          </p:cNvPr>
          <p:cNvSpPr txBox="1"/>
          <p:nvPr userDrawn="1"/>
        </p:nvSpPr>
        <p:spPr>
          <a:xfrm>
            <a:off x="658813" y="6413303"/>
            <a:ext cx="6113504" cy="3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 lvl="3" indent="-144000" algn="l" defTabSz="914400" rtl="0" eaLnBrk="1" latinLnBrk="1" hangingPunct="1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ko-KR" altLang="en-US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*출처 </a:t>
            </a:r>
            <a:r>
              <a:rPr lang="en-US" altLang="ko-KR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:  『Computer Networking : A Top Down  Approach Eighth Edition』 </a:t>
            </a:r>
          </a:p>
          <a:p>
            <a:pPr marL="144000" lvl="3" indent="-144000" algn="l" defTabSz="914400" rtl="0" eaLnBrk="1" latinLnBrk="1" hangingPunct="1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en-US" altLang="ko-KR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© All material copyright 1996-2016 J.F Kurose and K.W. Ross,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5617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415" userDrawn="1">
          <p15:clr>
            <a:srgbClr val="FBAE40"/>
          </p15:clr>
        </p15:guide>
        <p15:guide id="3" pos="61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756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369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5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5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7.sv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7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24.png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047945F8-6079-4A77-8827-8D891FF7F40B}"/>
              </a:ext>
            </a:extLst>
          </p:cNvPr>
          <p:cNvGrpSpPr/>
          <p:nvPr userDrawn="1"/>
        </p:nvGrpSpPr>
        <p:grpSpPr>
          <a:xfrm>
            <a:off x="818582" y="3564481"/>
            <a:ext cx="1327718" cy="351599"/>
            <a:chOff x="880493" y="3554956"/>
            <a:chExt cx="1630298" cy="351599"/>
          </a:xfrm>
        </p:grpSpPr>
        <p:sp>
          <p:nvSpPr>
            <p:cNvPr id="15" name="사각형: 잘린 대각선 방향 모서리 14">
              <a:extLst>
                <a:ext uri="{FF2B5EF4-FFF2-40B4-BE49-F238E27FC236}">
                  <a16:creationId xmlns:a16="http://schemas.microsoft.com/office/drawing/2014/main" id="{5DC8F214-0E99-4614-BFA2-E88E4BD9962A}"/>
                </a:ext>
              </a:extLst>
            </p:cNvPr>
            <p:cNvSpPr/>
            <p:nvPr/>
          </p:nvSpPr>
          <p:spPr bwMode="auto">
            <a:xfrm>
              <a:off x="880493" y="3554956"/>
              <a:ext cx="1630298" cy="351599"/>
            </a:xfrm>
            <a:prstGeom prst="snip2DiagRect">
              <a:avLst>
                <a:gd name="adj1" fmla="val 0"/>
                <a:gd name="adj2" fmla="val 23443"/>
              </a:avLst>
            </a:prstGeom>
            <a:solidFill>
              <a:srgbClr val="47FFD1">
                <a:alpha val="90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넥슨Lv1고딕 Bold" panose="00000800000000000000" pitchFamily="2" charset="-127"/>
                <a:ea typeface="굴림" pitchFamily="50" charset="-127"/>
              </a:endParaRPr>
            </a:p>
          </p:txBody>
        </p:sp>
        <p:sp>
          <p:nvSpPr>
            <p:cNvPr id="16" name="텍스트 개체 틀 19">
              <a:extLst>
                <a:ext uri="{FF2B5EF4-FFF2-40B4-BE49-F238E27FC236}">
                  <a16:creationId xmlns:a16="http://schemas.microsoft.com/office/drawing/2014/main" id="{AC3E2ECC-989E-4137-85AD-EDA2E7C21B7D}"/>
                </a:ext>
              </a:extLst>
            </p:cNvPr>
            <p:cNvSpPr txBox="1">
              <a:spLocks/>
            </p:cNvSpPr>
            <p:nvPr/>
          </p:nvSpPr>
          <p:spPr>
            <a:xfrm>
              <a:off x="983123" y="3609623"/>
              <a:ext cx="1425038" cy="23936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>
                <a:lnSpc>
                  <a:spcPct val="110000"/>
                </a:lnSpc>
                <a:spcBef>
                  <a:spcPts val="600"/>
                </a:spcBef>
              </a:pPr>
              <a:r>
                <a:rPr lang="en-US" altLang="ko-KR" sz="15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81846"/>
                  </a:solidFill>
                  <a:effectLst/>
                  <a:latin typeface="Abadi" panose="020F0502020204030204" pitchFamily="34" charset="0"/>
                  <a:ea typeface="G마켓 산스 TTF Bold" panose="02000000000000000000" pitchFamily="2" charset="-127"/>
                  <a:cs typeface="Microsoft GothicNeo" panose="020B0503020000020004" pitchFamily="34" charset="-127"/>
                </a:rPr>
                <a:t>Chapter 1</a:t>
              </a:r>
              <a:endParaRPr lang="ko-KR" altLang="en-US" sz="15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81846"/>
                </a:solidFill>
                <a:effectLst/>
                <a:latin typeface="Abadi" panose="020F0502020204030204" pitchFamily="34" charset="0"/>
                <a:ea typeface="G마켓 산스 TTF Bold" panose="02000000000000000000" pitchFamily="2" charset="-127"/>
                <a:cs typeface="Microsoft GothicNeo" panose="020B0503020000020004" pitchFamily="34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0DB3BC5-EF37-4421-A7D9-CA29AAD5DC6B}"/>
              </a:ext>
            </a:extLst>
          </p:cNvPr>
          <p:cNvSpPr txBox="1"/>
          <p:nvPr/>
        </p:nvSpPr>
        <p:spPr>
          <a:xfrm>
            <a:off x="2189092" y="3483502"/>
            <a:ext cx="4391731" cy="468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ko-KR" altLang="en-US" sz="2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Abadi" panose="020F0502020204030204" pitchFamily="34" charset="0"/>
                <a:ea typeface="G마켓 산스 TTF Bold" panose="02000000000000000000" pitchFamily="2" charset="-127"/>
                <a:cs typeface="+mj-cs"/>
              </a:rPr>
              <a:t>컴퓨터 네트워크</a:t>
            </a:r>
            <a:r>
              <a:rPr lang="ko-KR" altLang="en-US" sz="2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Abadi" panose="020B0604020104020204" pitchFamily="34" charset="0"/>
                <a:ea typeface="G마켓 산스 TTF Medium" panose="02000000000000000000" pitchFamily="2" charset="-127"/>
                <a:cs typeface="+mj-cs"/>
              </a:rPr>
              <a:t>와</a:t>
            </a:r>
            <a:r>
              <a:rPr lang="en-US" altLang="ko-KR" sz="2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Abadi" panose="020B0604020104020204" pitchFamily="34" charset="0"/>
                <a:ea typeface="G마켓 산스 TTF Medium" panose="02000000000000000000" pitchFamily="2" charset="-127"/>
                <a:cs typeface="+mj-cs"/>
              </a:rPr>
              <a:t> </a:t>
            </a:r>
            <a:r>
              <a:rPr lang="ko-KR" altLang="en-US" sz="22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Abadi" panose="020F0502020204030204" pitchFamily="34" charset="0"/>
                <a:ea typeface="G마켓 산스 TTF Bold" panose="02000000000000000000" pitchFamily="2" charset="-127"/>
                <a:cs typeface="+mj-cs"/>
              </a:rPr>
              <a:t>인터넷</a:t>
            </a:r>
            <a:endParaRPr lang="en-US" altLang="ko-KR" sz="22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47FFD1"/>
              </a:solidFill>
              <a:latin typeface="Abadi" panose="020F0502020204030204" pitchFamily="34" charset="0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83625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AEEC58C-9F94-42E1-8052-AF2CA478EF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z="18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cs typeface="Microsoft GothicNeo" panose="020B0503020000020004" pitchFamily="34" charset="-127"/>
              </a:rPr>
              <a:t>Chapter 1.</a:t>
            </a:r>
            <a:r>
              <a:rPr lang="ko-KR" altLang="en-US" sz="18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cs typeface="Microsoft GothicNeo" panose="020B0503020000020004" pitchFamily="34" charset="-127"/>
              </a:rPr>
              <a:t> </a:t>
            </a:r>
            <a:r>
              <a:rPr lang="ko-KR" altLang="en-US" sz="1800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cs typeface="+mj-cs"/>
              </a:rPr>
              <a:t>컴퓨터 네트워크</a:t>
            </a:r>
            <a:r>
              <a:rPr lang="ko-KR" altLang="en-US" sz="1800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latin typeface="Abadi" panose="020B0604020104020204" pitchFamily="34" charset="0"/>
                <a:ea typeface="G마켓 산스 TTF Medium" panose="02000000000000000000" pitchFamily="2" charset="-127"/>
                <a:cs typeface="+mj-cs"/>
              </a:rPr>
              <a:t>와</a:t>
            </a:r>
            <a:r>
              <a:rPr lang="ko-KR" altLang="en-US" sz="1800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cs typeface="+mj-cs"/>
              </a:rPr>
              <a:t> 인터넷</a:t>
            </a:r>
            <a:endParaRPr lang="ko-KR" altLang="en-US" sz="1800" spc="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1"/>
              </a:solidFill>
              <a:effectLst/>
              <a:cs typeface="+mj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28B103-30FD-425C-B735-DDDCE8B382D1}"/>
              </a:ext>
            </a:extLst>
          </p:cNvPr>
          <p:cNvSpPr txBox="1"/>
          <p:nvPr/>
        </p:nvSpPr>
        <p:spPr>
          <a:xfrm>
            <a:off x="1419224" y="1825636"/>
            <a:ext cx="6929719" cy="4086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인터넷이란 무엇인가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?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네트워크의 가장자리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(Edge)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네트워크 코어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(Core)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F0502020204030204" pitchFamily="34" charset="0"/>
                <a:ea typeface="G마켓 산스 TTF Bold" panose="02000000000000000000" pitchFamily="2" charset="-127"/>
                <a:cs typeface="+mj-cs"/>
              </a:rPr>
              <a:t>네트워크에서의 지연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F0502020204030204" pitchFamily="34" charset="0"/>
                <a:ea typeface="G마켓 산스 TTF Bold" panose="02000000000000000000" pitchFamily="2" charset="-127"/>
                <a:cs typeface="+mj-cs"/>
              </a:rPr>
              <a:t>,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F0502020204030204" pitchFamily="34" charset="0"/>
                <a:ea typeface="G마켓 산스 TTF Bold" panose="02000000000000000000" pitchFamily="2" charset="-127"/>
                <a:cs typeface="+mj-cs"/>
              </a:rPr>
              <a:t>손실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F0502020204030204" pitchFamily="34" charset="0"/>
                <a:ea typeface="G마켓 산스 TTF Bold" panose="02000000000000000000" pitchFamily="2" charset="-127"/>
                <a:cs typeface="+mj-cs"/>
              </a:rPr>
              <a:t>,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F0502020204030204" pitchFamily="34" charset="0"/>
                <a:ea typeface="G마켓 산스 TTF Bold" panose="02000000000000000000" pitchFamily="2" charset="-127"/>
                <a:cs typeface="+mj-cs"/>
              </a:rPr>
              <a:t>처리율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프로토콜 계층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,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서비스 모델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공격받는 네트워크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보안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역사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1A9A8D-C9B7-4837-B79D-248DF409E2FE}"/>
              </a:ext>
            </a:extLst>
          </p:cNvPr>
          <p:cNvSpPr txBox="1"/>
          <p:nvPr/>
        </p:nvSpPr>
        <p:spPr>
          <a:xfrm>
            <a:off x="860603" y="1825636"/>
            <a:ext cx="582259" cy="4109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F0502020204030204" pitchFamily="34" charset="0"/>
                <a:ea typeface="G마켓 산스 TTF Bold" panose="02000000000000000000" pitchFamily="2" charset="-127"/>
                <a:cs typeface="+mj-cs"/>
              </a:rPr>
              <a:t>1.1.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F0502020204030204" pitchFamily="34" charset="0"/>
                <a:ea typeface="G마켓 산스 TTF Bold" panose="02000000000000000000" pitchFamily="2" charset="-127"/>
                <a:cs typeface="+mj-cs"/>
              </a:rPr>
              <a:t>1.2.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F0502020204030204" pitchFamily="34" charset="0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F0502020204030204" pitchFamily="34" charset="0"/>
                <a:ea typeface="G마켓 산스 TTF Bold" panose="02000000000000000000" pitchFamily="2" charset="-127"/>
                <a:cs typeface="+mj-cs"/>
              </a:rPr>
              <a:t>1.3.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F0502020204030204" pitchFamily="34" charset="0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F0502020204030204" pitchFamily="34" charset="0"/>
                <a:ea typeface="G마켓 산스 TTF Bold" panose="02000000000000000000" pitchFamily="2" charset="-127"/>
                <a:cs typeface="+mj-cs"/>
              </a:rPr>
              <a:t>1.4.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F0502020204030204" pitchFamily="34" charset="0"/>
                <a:ea typeface="G마켓 산스 TTF Bold" panose="02000000000000000000" pitchFamily="2" charset="-127"/>
                <a:cs typeface="+mj-cs"/>
              </a:rPr>
              <a:t>1.5.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F0502020204030204" pitchFamily="34" charset="0"/>
                <a:ea typeface="G마켓 산스 TTF Bold" panose="02000000000000000000" pitchFamily="2" charset="-127"/>
                <a:cs typeface="+mj-cs"/>
              </a:rPr>
              <a:t>1.6.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F0502020204030204" pitchFamily="34" charset="0"/>
                <a:ea typeface="G마켓 산스 TTF Bold" panose="02000000000000000000" pitchFamily="2" charset="-127"/>
                <a:cs typeface="+mj-cs"/>
              </a:rPr>
              <a:t>1.7.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A80A899D-985A-4758-B577-39015E56667C}"/>
              </a:ext>
            </a:extLst>
          </p:cNvPr>
          <p:cNvSpPr txBox="1">
            <a:spLocks noChangeArrowheads="1"/>
          </p:cNvSpPr>
          <p:nvPr/>
        </p:nvSpPr>
        <p:spPr>
          <a:xfrm>
            <a:off x="1680377" y="2670279"/>
            <a:ext cx="5152947" cy="401841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종단 시스템</a:t>
            </a:r>
            <a:r>
              <a:rPr lang="en-US" altLang="ko-KR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접속 네트워크</a:t>
            </a:r>
            <a:r>
              <a:rPr lang="en-US" altLang="ko-KR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링크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22FAC055-714F-4858-AF5C-C1B62DF0F037}"/>
              </a:ext>
            </a:extLst>
          </p:cNvPr>
          <p:cNvSpPr txBox="1">
            <a:spLocks noChangeArrowheads="1"/>
          </p:cNvSpPr>
          <p:nvPr/>
        </p:nvSpPr>
        <p:spPr>
          <a:xfrm>
            <a:off x="1680377" y="3591122"/>
            <a:ext cx="6929719" cy="40184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패킷 교환</a:t>
            </a:r>
            <a:r>
              <a:rPr lang="en-US" altLang="ko-KR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회선 교환</a:t>
            </a:r>
            <a:r>
              <a:rPr lang="en-US" altLang="ko-KR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 구조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4D45FBB-6FF9-405C-8B5C-072FBCA9F484}"/>
              </a:ext>
            </a:extLst>
          </p:cNvPr>
          <p:cNvGrpSpPr/>
          <p:nvPr/>
        </p:nvGrpSpPr>
        <p:grpSpPr>
          <a:xfrm>
            <a:off x="1518597" y="2811457"/>
            <a:ext cx="171105" cy="171646"/>
            <a:chOff x="1029671" y="3159333"/>
            <a:chExt cx="387927" cy="389152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7699D63D-E651-43B0-B2B8-7AAF760A6D6C}"/>
                </a:ext>
              </a:extLst>
            </p:cNvPr>
            <p:cNvSpPr/>
            <p:nvPr/>
          </p:nvSpPr>
          <p:spPr>
            <a:xfrm>
              <a:off x="1029671" y="3159333"/>
              <a:ext cx="387927" cy="38915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5" name="그래픽 40">
              <a:extLst>
                <a:ext uri="{FF2B5EF4-FFF2-40B4-BE49-F238E27FC236}">
                  <a16:creationId xmlns:a16="http://schemas.microsoft.com/office/drawing/2014/main" id="{A1670863-E4A5-4D3C-A887-596A7CE21F21}"/>
                </a:ext>
              </a:extLst>
            </p:cNvPr>
            <p:cNvSpPr/>
            <p:nvPr/>
          </p:nvSpPr>
          <p:spPr>
            <a:xfrm>
              <a:off x="1157596" y="3246355"/>
              <a:ext cx="132078" cy="215105"/>
            </a:xfrm>
            <a:custGeom>
              <a:avLst/>
              <a:gdLst>
                <a:gd name="connsiteX0" fmla="*/ 18217 w 334851"/>
                <a:gd name="connsiteY0" fmla="*/ 18217 h 545353"/>
                <a:gd name="connsiteX1" fmla="*/ 18217 w 334851"/>
                <a:gd name="connsiteY1" fmla="*/ 106132 h 545353"/>
                <a:gd name="connsiteX2" fmla="*/ 184809 w 334851"/>
                <a:gd name="connsiteY2" fmla="*/ 272725 h 545353"/>
                <a:gd name="connsiteX3" fmla="*/ 18217 w 334851"/>
                <a:gd name="connsiteY3" fmla="*/ 439222 h 545353"/>
                <a:gd name="connsiteX4" fmla="*/ 18217 w 334851"/>
                <a:gd name="connsiteY4" fmla="*/ 527137 h 545353"/>
                <a:gd name="connsiteX5" fmla="*/ 106132 w 334851"/>
                <a:gd name="connsiteY5" fmla="*/ 527137 h 545353"/>
                <a:gd name="connsiteX6" fmla="*/ 316635 w 334851"/>
                <a:gd name="connsiteY6" fmla="*/ 316635 h 545353"/>
                <a:gd name="connsiteX7" fmla="*/ 316635 w 334851"/>
                <a:gd name="connsiteY7" fmla="*/ 228719 h 545353"/>
                <a:gd name="connsiteX8" fmla="*/ 106132 w 334851"/>
                <a:gd name="connsiteY8" fmla="*/ 18217 h 545353"/>
                <a:gd name="connsiteX9" fmla="*/ 18217 w 334851"/>
                <a:gd name="connsiteY9" fmla="*/ 18217 h 54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51" h="545353">
                  <a:moveTo>
                    <a:pt x="18217" y="18217"/>
                  </a:moveTo>
                  <a:cubicBezTo>
                    <a:pt x="-6072" y="42505"/>
                    <a:pt x="-6072" y="81844"/>
                    <a:pt x="18217" y="106132"/>
                  </a:cubicBezTo>
                  <a:lnTo>
                    <a:pt x="184809" y="272725"/>
                  </a:lnTo>
                  <a:lnTo>
                    <a:pt x="18217" y="439222"/>
                  </a:lnTo>
                  <a:cubicBezTo>
                    <a:pt x="-6072" y="463510"/>
                    <a:pt x="-6072" y="502849"/>
                    <a:pt x="18217" y="527137"/>
                  </a:cubicBezTo>
                  <a:cubicBezTo>
                    <a:pt x="42505" y="551426"/>
                    <a:pt x="81844" y="551426"/>
                    <a:pt x="106132" y="527137"/>
                  </a:cubicBezTo>
                  <a:lnTo>
                    <a:pt x="316635" y="316635"/>
                  </a:lnTo>
                  <a:cubicBezTo>
                    <a:pt x="340924" y="292346"/>
                    <a:pt x="340924" y="253008"/>
                    <a:pt x="316635" y="228719"/>
                  </a:cubicBezTo>
                  <a:lnTo>
                    <a:pt x="106132" y="18217"/>
                  </a:lnTo>
                  <a:cubicBezTo>
                    <a:pt x="81844" y="-6072"/>
                    <a:pt x="42505" y="-6072"/>
                    <a:pt x="18217" y="18217"/>
                  </a:cubicBezTo>
                  <a:close/>
                </a:path>
              </a:pathLst>
            </a:custGeom>
            <a:solidFill>
              <a:srgbClr val="105BA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194ECE7-80E2-4436-BF05-23F0E589A179}"/>
              </a:ext>
            </a:extLst>
          </p:cNvPr>
          <p:cNvGrpSpPr/>
          <p:nvPr/>
        </p:nvGrpSpPr>
        <p:grpSpPr>
          <a:xfrm>
            <a:off x="1518597" y="3744907"/>
            <a:ext cx="171105" cy="171646"/>
            <a:chOff x="1029671" y="3159333"/>
            <a:chExt cx="387927" cy="389152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C2A8E1A2-23F8-4F4D-91D4-A47ABE5CD0B3}"/>
                </a:ext>
              </a:extLst>
            </p:cNvPr>
            <p:cNvSpPr/>
            <p:nvPr/>
          </p:nvSpPr>
          <p:spPr>
            <a:xfrm>
              <a:off x="1029671" y="3159333"/>
              <a:ext cx="387927" cy="38915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8" name="그래픽 40">
              <a:extLst>
                <a:ext uri="{FF2B5EF4-FFF2-40B4-BE49-F238E27FC236}">
                  <a16:creationId xmlns:a16="http://schemas.microsoft.com/office/drawing/2014/main" id="{32346D4A-C53B-41DB-8CA0-031CC781CDB1}"/>
                </a:ext>
              </a:extLst>
            </p:cNvPr>
            <p:cNvSpPr/>
            <p:nvPr/>
          </p:nvSpPr>
          <p:spPr>
            <a:xfrm>
              <a:off x="1157596" y="3246355"/>
              <a:ext cx="132078" cy="215105"/>
            </a:xfrm>
            <a:custGeom>
              <a:avLst/>
              <a:gdLst>
                <a:gd name="connsiteX0" fmla="*/ 18217 w 334851"/>
                <a:gd name="connsiteY0" fmla="*/ 18217 h 545353"/>
                <a:gd name="connsiteX1" fmla="*/ 18217 w 334851"/>
                <a:gd name="connsiteY1" fmla="*/ 106132 h 545353"/>
                <a:gd name="connsiteX2" fmla="*/ 184809 w 334851"/>
                <a:gd name="connsiteY2" fmla="*/ 272725 h 545353"/>
                <a:gd name="connsiteX3" fmla="*/ 18217 w 334851"/>
                <a:gd name="connsiteY3" fmla="*/ 439222 h 545353"/>
                <a:gd name="connsiteX4" fmla="*/ 18217 w 334851"/>
                <a:gd name="connsiteY4" fmla="*/ 527137 h 545353"/>
                <a:gd name="connsiteX5" fmla="*/ 106132 w 334851"/>
                <a:gd name="connsiteY5" fmla="*/ 527137 h 545353"/>
                <a:gd name="connsiteX6" fmla="*/ 316635 w 334851"/>
                <a:gd name="connsiteY6" fmla="*/ 316635 h 545353"/>
                <a:gd name="connsiteX7" fmla="*/ 316635 w 334851"/>
                <a:gd name="connsiteY7" fmla="*/ 228719 h 545353"/>
                <a:gd name="connsiteX8" fmla="*/ 106132 w 334851"/>
                <a:gd name="connsiteY8" fmla="*/ 18217 h 545353"/>
                <a:gd name="connsiteX9" fmla="*/ 18217 w 334851"/>
                <a:gd name="connsiteY9" fmla="*/ 18217 h 54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51" h="545353">
                  <a:moveTo>
                    <a:pt x="18217" y="18217"/>
                  </a:moveTo>
                  <a:cubicBezTo>
                    <a:pt x="-6072" y="42505"/>
                    <a:pt x="-6072" y="81844"/>
                    <a:pt x="18217" y="106132"/>
                  </a:cubicBezTo>
                  <a:lnTo>
                    <a:pt x="184809" y="272725"/>
                  </a:lnTo>
                  <a:lnTo>
                    <a:pt x="18217" y="439222"/>
                  </a:lnTo>
                  <a:cubicBezTo>
                    <a:pt x="-6072" y="463510"/>
                    <a:pt x="-6072" y="502849"/>
                    <a:pt x="18217" y="527137"/>
                  </a:cubicBezTo>
                  <a:cubicBezTo>
                    <a:pt x="42505" y="551426"/>
                    <a:pt x="81844" y="551426"/>
                    <a:pt x="106132" y="527137"/>
                  </a:cubicBezTo>
                  <a:lnTo>
                    <a:pt x="316635" y="316635"/>
                  </a:lnTo>
                  <a:cubicBezTo>
                    <a:pt x="340924" y="292346"/>
                    <a:pt x="340924" y="253008"/>
                    <a:pt x="316635" y="228719"/>
                  </a:cubicBezTo>
                  <a:lnTo>
                    <a:pt x="106132" y="18217"/>
                  </a:lnTo>
                  <a:cubicBezTo>
                    <a:pt x="81844" y="-6072"/>
                    <a:pt x="42505" y="-6072"/>
                    <a:pt x="18217" y="18217"/>
                  </a:cubicBezTo>
                  <a:close/>
                </a:path>
              </a:pathLst>
            </a:custGeom>
            <a:solidFill>
              <a:srgbClr val="105BA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26" name="사각형: 잘린 한쪽 모서리 25">
            <a:extLst>
              <a:ext uri="{FF2B5EF4-FFF2-40B4-BE49-F238E27FC236}">
                <a16:creationId xmlns:a16="http://schemas.microsoft.com/office/drawing/2014/main" id="{962E8B3B-0CE6-43DE-AF1A-4F74B424AACC}"/>
              </a:ext>
            </a:extLst>
          </p:cNvPr>
          <p:cNvSpPr/>
          <p:nvPr/>
        </p:nvSpPr>
        <p:spPr>
          <a:xfrm>
            <a:off x="923792" y="1143310"/>
            <a:ext cx="1757495" cy="391715"/>
          </a:xfrm>
          <a:prstGeom prst="snip1Rect">
            <a:avLst>
              <a:gd name="adj" fmla="val 37888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7" name="텍스트 개체 틀 19">
            <a:extLst>
              <a:ext uri="{FF2B5EF4-FFF2-40B4-BE49-F238E27FC236}">
                <a16:creationId xmlns:a16="http://schemas.microsoft.com/office/drawing/2014/main" id="{2671EB29-68DC-4434-9271-7EEC353694AC}"/>
              </a:ext>
            </a:extLst>
          </p:cNvPr>
          <p:cNvSpPr txBox="1">
            <a:spLocks/>
          </p:cNvSpPr>
          <p:nvPr/>
        </p:nvSpPr>
        <p:spPr>
          <a:xfrm>
            <a:off x="1333506" y="1180731"/>
            <a:ext cx="1390643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defRPr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Abadi" panose="020F0502020204030204" pitchFamily="34" charset="0"/>
                <a:ea typeface="G마켓 산스 TTF Bold" panose="02000000000000000000" pitchFamily="2" charset="-127"/>
                <a:cs typeface="+mj-cs"/>
              </a:rPr>
              <a:t>Roadmap 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8665E39D-8E9A-4E75-BC90-7657B4E63185}"/>
              </a:ext>
            </a:extLst>
          </p:cNvPr>
          <p:cNvSpPr/>
          <p:nvPr/>
        </p:nvSpPr>
        <p:spPr>
          <a:xfrm>
            <a:off x="789517" y="1561257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29" name="그래픽 28">
            <a:extLst>
              <a:ext uri="{FF2B5EF4-FFF2-40B4-BE49-F238E27FC236}">
                <a16:creationId xmlns:a16="http://schemas.microsoft.com/office/drawing/2014/main" id="{A41F04B1-164D-45BC-96BB-B0B4B0EF17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668982" y="1083045"/>
            <a:ext cx="558670" cy="502804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8020CA77-C53A-4070-AB35-B0187C3B0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64" y="1145567"/>
            <a:ext cx="275112" cy="364836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777972-3589-8940-BF4B-823B34996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837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DF82C29-8DBD-474D-BE02-80B41F97A586}"/>
              </a:ext>
            </a:extLst>
          </p:cNvPr>
          <p:cNvSpPr/>
          <p:nvPr/>
        </p:nvSpPr>
        <p:spPr>
          <a:xfrm>
            <a:off x="982662" y="2676525"/>
            <a:ext cx="7273925" cy="3769360"/>
          </a:xfrm>
          <a:prstGeom prst="rect">
            <a:avLst/>
          </a:prstGeom>
          <a:solidFill>
            <a:srgbClr val="EFF5FB"/>
          </a:solidFill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60877F30-641E-4036-9CC0-5DC315A2FE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6732" y="4651231"/>
            <a:ext cx="3308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BE0B1243-7E7F-4D77-8BE5-A681D5919A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55926" y="4674463"/>
            <a:ext cx="1237298" cy="58642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22" name="Line 24">
            <a:extLst>
              <a:ext uri="{FF2B5EF4-FFF2-40B4-BE49-F238E27FC236}">
                <a16:creationId xmlns:a16="http://schemas.microsoft.com/office/drawing/2014/main" id="{91F4E161-95AE-408A-9645-F58DF015AB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5926" y="3980671"/>
            <a:ext cx="1237298" cy="58642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E2BFEF-EB14-4768-B905-6359130770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손실과 지연</a:t>
            </a:r>
            <a:r>
              <a:rPr lang="ko-KR" altLang="en-US" dirty="0">
                <a:solidFill>
                  <a:schemeClr val="bg1"/>
                </a:solidFill>
                <a:latin typeface="Abadi" panose="020B0604020104020204" pitchFamily="34" charset="0"/>
                <a:ea typeface="G마켓 산스 TTF Medium" panose="02000000000000000000" pitchFamily="2" charset="-127"/>
              </a:rPr>
              <a:t>은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어떻게 발생하는가</a:t>
            </a:r>
            <a:r>
              <a:rPr lang="en-US" altLang="ko-KR" dirty="0">
                <a:solidFill>
                  <a:schemeClr val="bg1"/>
                </a:solidFill>
              </a:rPr>
              <a:t>?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EF49BE4-1F7F-466A-9506-9A0DE126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7FCB67-70CC-4310-A167-1E1965C4A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36" y="1108740"/>
            <a:ext cx="6826930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 sz="20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F0502020204030204" pitchFamily="34" charset="0"/>
                <a:ea typeface="+mj-ea"/>
                <a:cs typeface="+mj-cs"/>
              </a:rPr>
              <a:t>라우터의 버퍼에 패킷들이 </a:t>
            </a:r>
            <a:r>
              <a:rPr lang="ko-KR" altLang="en-US" sz="20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F0502020204030204" pitchFamily="34" charset="0"/>
                <a:ea typeface="+mj-ea"/>
                <a:cs typeface="+mj-cs"/>
              </a:rPr>
              <a:t>큐잉된다</a:t>
            </a:r>
            <a:r>
              <a:rPr lang="en-US" altLang="ko-KR" sz="20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F0502020204030204" pitchFamily="34" charset="0"/>
                <a:ea typeface="+mj-ea"/>
                <a:cs typeface="+mj-cs"/>
              </a:rPr>
              <a:t>.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BB586E3-B05A-4FB3-9589-C5ED14631305}"/>
              </a:ext>
            </a:extLst>
          </p:cNvPr>
          <p:cNvGrpSpPr/>
          <p:nvPr/>
        </p:nvGrpSpPr>
        <p:grpSpPr>
          <a:xfrm>
            <a:off x="666036" y="1057981"/>
            <a:ext cx="502804" cy="590566"/>
            <a:chOff x="5678490" y="2646569"/>
            <a:chExt cx="502804" cy="590566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009CEBFC-5942-4E03-BCC6-4615EA005D58}"/>
                </a:ext>
              </a:extLst>
            </p:cNvPr>
            <p:cNvSpPr/>
            <p:nvPr/>
          </p:nvSpPr>
          <p:spPr>
            <a:xfrm>
              <a:off x="5771092" y="3152714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" name="그래픽 7">
              <a:extLst>
                <a:ext uri="{FF2B5EF4-FFF2-40B4-BE49-F238E27FC236}">
                  <a16:creationId xmlns:a16="http://schemas.microsoft.com/office/drawing/2014/main" id="{8A8FB448-09CE-423D-8C38-D8B5AE1DCB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5650557" y="2674502"/>
              <a:ext cx="558670" cy="502804"/>
            </a:xfrm>
            <a:prstGeom prst="rect">
              <a:avLst/>
            </a:prstGeom>
            <a:effectLst/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C17027B-FC51-4656-AA2D-1B7673FC4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5741954" y="2826171"/>
              <a:ext cx="375876" cy="217726"/>
            </a:xfrm>
            <a:prstGeom prst="rect">
              <a:avLst/>
            </a:prstGeom>
          </p:spPr>
        </p:pic>
      </p:grpSp>
      <p:sp>
        <p:nvSpPr>
          <p:cNvPr id="35" name="Rectangle 3">
            <a:extLst>
              <a:ext uri="{FF2B5EF4-FFF2-40B4-BE49-F238E27FC236}">
                <a16:creationId xmlns:a16="http://schemas.microsoft.com/office/drawing/2014/main" id="{1620D062-95AC-4F0D-8FF2-F687CBF9CB2B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828820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5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패킷 </a:t>
            </a:r>
            <a:r>
              <a:rPr lang="ko-KR" altLang="en-US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도착률이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출력 링크 용량을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일시적으로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)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넘으면 </a:t>
            </a:r>
            <a:b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</a:b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패킷은 큐에서 자기 차례를 기다린다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.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2B2E6DC-83D9-4A9E-A4FA-9B3B28B9E49A}"/>
              </a:ext>
            </a:extLst>
          </p:cNvPr>
          <p:cNvGrpSpPr/>
          <p:nvPr/>
        </p:nvGrpSpPr>
        <p:grpSpPr>
          <a:xfrm>
            <a:off x="1451691" y="4556735"/>
            <a:ext cx="1023241" cy="1217823"/>
            <a:chOff x="3182618" y="4520968"/>
            <a:chExt cx="878294" cy="104531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875C4EE-8B00-4076-A00B-F596A2CF0665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265A36FA-FF2E-4FEB-BF62-98F8D4774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522B2DC-8290-4766-A9DC-10CB6917DC8B}"/>
              </a:ext>
            </a:extLst>
          </p:cNvPr>
          <p:cNvGrpSpPr/>
          <p:nvPr/>
        </p:nvGrpSpPr>
        <p:grpSpPr>
          <a:xfrm>
            <a:off x="1451691" y="3015856"/>
            <a:ext cx="1023241" cy="1217823"/>
            <a:chOff x="3182618" y="4520968"/>
            <a:chExt cx="878294" cy="1045313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2EF24C89-24C2-4C90-9BBD-94C4DC9A5100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5A83E2D2-110F-44B7-9FA4-E8D5B41D9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E3D1855A-D72F-4417-B1A0-9E7BAF5AA6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4943" y="4340711"/>
            <a:ext cx="839864" cy="54228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7A906578-AA6A-4371-8A90-3491941E32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22021" y="4303852"/>
            <a:ext cx="839864" cy="542286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3252937A-1859-4AC8-BBBF-36E09140C96C}"/>
              </a:ext>
            </a:extLst>
          </p:cNvPr>
          <p:cNvGrpSpPr/>
          <p:nvPr/>
        </p:nvGrpSpPr>
        <p:grpSpPr>
          <a:xfrm>
            <a:off x="3394957" y="4835846"/>
            <a:ext cx="4283835" cy="1369091"/>
            <a:chOff x="3394957" y="4835846"/>
            <a:chExt cx="4283835" cy="136909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14EDD96-84B6-4781-AFC5-697207F70CB3}"/>
                </a:ext>
              </a:extLst>
            </p:cNvPr>
            <p:cNvSpPr txBox="1"/>
            <p:nvPr/>
          </p:nvSpPr>
          <p:spPr>
            <a:xfrm>
              <a:off x="3394957" y="5613365"/>
              <a:ext cx="4283835" cy="5915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3" latinLnBrk="0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B4CA2"/>
                </a:buClr>
                <a:buSzPct val="80000"/>
              </a:pPr>
              <a:r>
                <a:rPr lang="ko-KR" altLang="en-US" sz="14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비어있는</a:t>
              </a:r>
              <a:r>
                <a:rPr lang="ko-KR" altLang="en-US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 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(</a:t>
              </a:r>
              <a:r>
                <a:rPr lang="ko-KR" altLang="en-US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사용 가능한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) </a:t>
              </a:r>
              <a:r>
                <a:rPr lang="ko-KR" altLang="en-US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버퍼 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: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 </a:t>
              </a:r>
              <a:b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</a:b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빈 버퍼가 없으면 도착하는 패킷들은 버려진다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.(</a:t>
              </a:r>
              <a:r>
                <a:rPr lang="ko-KR" altLang="en-US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손실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)</a:t>
              </a: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0E3C2768-8821-44DF-8573-78D8DD8AD047}"/>
                </a:ext>
              </a:extLst>
            </p:cNvPr>
            <p:cNvCxnSpPr>
              <a:cxnSpLocks/>
            </p:cNvCxnSpPr>
            <p:nvPr/>
          </p:nvCxnSpPr>
          <p:spPr>
            <a:xfrm>
              <a:off x="3563544" y="4885836"/>
              <a:ext cx="0" cy="736171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ECA08165-2129-4412-8838-6BB9EB254DFF}"/>
                </a:ext>
              </a:extLst>
            </p:cNvPr>
            <p:cNvSpPr/>
            <p:nvPr/>
          </p:nvSpPr>
          <p:spPr>
            <a:xfrm>
              <a:off x="3522051" y="4835846"/>
              <a:ext cx="82986" cy="82986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 dirty="0">
                <a:solidFill>
                  <a:prstClr val="white"/>
                </a:solidFill>
                <a:latin typeface="Abadi" panose="020B0604020104020204" pitchFamily="34" charset="0"/>
                <a:ea typeface="G마켓 산스 TTF Medium" panose="02000000000000000000" pitchFamily="2" charset="-127"/>
              </a:endParaRPr>
            </a:p>
          </p:txBody>
        </p:sp>
      </p:grpSp>
      <p:sp>
        <p:nvSpPr>
          <p:cNvPr id="30" name="Google Shape;5203;p26">
            <a:extLst>
              <a:ext uri="{FF2B5EF4-FFF2-40B4-BE49-F238E27FC236}">
                <a16:creationId xmlns:a16="http://schemas.microsoft.com/office/drawing/2014/main" id="{D5F2C1A6-B03E-4F9B-BC41-2AE85CDCA6DC}"/>
              </a:ext>
            </a:extLst>
          </p:cNvPr>
          <p:cNvSpPr/>
          <p:nvPr/>
        </p:nvSpPr>
        <p:spPr>
          <a:xfrm>
            <a:off x="2756602" y="4946144"/>
            <a:ext cx="165600" cy="165600"/>
          </a:xfrm>
          <a:prstGeom prst="rect">
            <a:avLst/>
          </a:prstGeom>
          <a:solidFill>
            <a:schemeClr val="accent4"/>
          </a:solidFill>
          <a:ln w="9525" cap="flat">
            <a:noFill/>
            <a:prstDash val="solid"/>
            <a:miter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2400">
              <a:solidFill>
                <a:schemeClr val="dk1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1" name="Google Shape;5203;p26">
            <a:extLst>
              <a:ext uri="{FF2B5EF4-FFF2-40B4-BE49-F238E27FC236}">
                <a16:creationId xmlns:a16="http://schemas.microsoft.com/office/drawing/2014/main" id="{A895F896-D216-475D-9A23-3882D6D71A21}"/>
              </a:ext>
            </a:extLst>
          </p:cNvPr>
          <p:cNvSpPr/>
          <p:nvPr/>
        </p:nvSpPr>
        <p:spPr>
          <a:xfrm>
            <a:off x="2756602" y="4092906"/>
            <a:ext cx="165600" cy="165600"/>
          </a:xfrm>
          <a:prstGeom prst="rect">
            <a:avLst/>
          </a:prstGeom>
          <a:solidFill>
            <a:srgbClr val="0B9D96"/>
          </a:solidFill>
          <a:ln w="17130" cap="flat">
            <a:noFill/>
            <a:prstDash val="solid"/>
            <a:miter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5205;p26">
            <a:extLst>
              <a:ext uri="{FF2B5EF4-FFF2-40B4-BE49-F238E27FC236}">
                <a16:creationId xmlns:a16="http://schemas.microsoft.com/office/drawing/2014/main" id="{6E6BD5AB-9317-4FA1-A2F4-8DEBBCFD1D57}"/>
              </a:ext>
            </a:extLst>
          </p:cNvPr>
          <p:cNvCxnSpPr>
            <a:cxnSpLocks/>
          </p:cNvCxnSpPr>
          <p:nvPr/>
        </p:nvCxnSpPr>
        <p:spPr>
          <a:xfrm flipV="1">
            <a:off x="3070922" y="4970527"/>
            <a:ext cx="277020" cy="144464"/>
          </a:xfrm>
          <a:prstGeom prst="straightConnector1">
            <a:avLst/>
          </a:prstGeom>
          <a:noFill/>
          <a:ln w="9525" cap="flat" cmpd="sng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" name="Google Shape;5205;p26">
            <a:extLst>
              <a:ext uri="{FF2B5EF4-FFF2-40B4-BE49-F238E27FC236}">
                <a16:creationId xmlns:a16="http://schemas.microsoft.com/office/drawing/2014/main" id="{9EB636BC-1B9C-401B-97BD-DE6D6C4F3732}"/>
              </a:ext>
            </a:extLst>
          </p:cNvPr>
          <p:cNvCxnSpPr>
            <a:cxnSpLocks/>
          </p:cNvCxnSpPr>
          <p:nvPr/>
        </p:nvCxnSpPr>
        <p:spPr>
          <a:xfrm>
            <a:off x="3070922" y="4154821"/>
            <a:ext cx="277020" cy="144464"/>
          </a:xfrm>
          <a:prstGeom prst="straightConnector1">
            <a:avLst/>
          </a:prstGeom>
          <a:noFill/>
          <a:ln w="9525" cap="flat" cmpd="sng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A37569F-6933-48D5-B83F-6D9F14405916}"/>
              </a:ext>
            </a:extLst>
          </p:cNvPr>
          <p:cNvSpPr txBox="1"/>
          <p:nvPr/>
        </p:nvSpPr>
        <p:spPr>
          <a:xfrm>
            <a:off x="1073349" y="3041137"/>
            <a:ext cx="353274" cy="36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3" algn="ctr" latinLnBrk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B4CA2"/>
              </a:buClr>
              <a:buSzPct val="80000"/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F0502020204030204" pitchFamily="34" charset="0"/>
                <a:ea typeface="+mj-ea"/>
                <a:sym typeface="Arial"/>
              </a:rPr>
              <a:t>A</a:t>
            </a:r>
            <a:endParaRPr lang="ko-KR" altLang="en-US" sz="16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Abadi" panose="020F0502020204030204" pitchFamily="34" charset="0"/>
              <a:ea typeface="+mj-ea"/>
              <a:sym typeface="Arial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E872D4-9855-4734-8B02-EC9DDAD6BA4F}"/>
              </a:ext>
            </a:extLst>
          </p:cNvPr>
          <p:cNvSpPr txBox="1"/>
          <p:nvPr/>
        </p:nvSpPr>
        <p:spPr>
          <a:xfrm>
            <a:off x="1073349" y="4659427"/>
            <a:ext cx="353274" cy="36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3" algn="ctr" latinLnBrk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0B4CA2"/>
              </a:buClr>
              <a:buSzPct val="80000"/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098983"/>
                </a:solidFill>
                <a:latin typeface="Abadi" panose="020F0502020204030204" pitchFamily="34" charset="0"/>
                <a:ea typeface="+mj-ea"/>
                <a:sym typeface="Arial"/>
              </a:rPr>
              <a:t>B</a:t>
            </a:r>
            <a:endParaRPr lang="ko-KR" altLang="en-US" sz="16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098983"/>
              </a:solidFill>
              <a:latin typeface="Abadi" panose="020F0502020204030204" pitchFamily="34" charset="0"/>
              <a:ea typeface="+mj-ea"/>
              <a:sym typeface="Arial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CB59085-7A5D-4101-B23E-8641DC83044B}"/>
              </a:ext>
            </a:extLst>
          </p:cNvPr>
          <p:cNvGrpSpPr/>
          <p:nvPr/>
        </p:nvGrpSpPr>
        <p:grpSpPr>
          <a:xfrm>
            <a:off x="3433086" y="4078967"/>
            <a:ext cx="1109894" cy="212135"/>
            <a:chOff x="3176470" y="4342085"/>
            <a:chExt cx="1109894" cy="212135"/>
          </a:xfrm>
        </p:grpSpPr>
        <p:sp>
          <p:nvSpPr>
            <p:cNvPr id="32" name="Google Shape;5203;p26">
              <a:extLst>
                <a:ext uri="{FF2B5EF4-FFF2-40B4-BE49-F238E27FC236}">
                  <a16:creationId xmlns:a16="http://schemas.microsoft.com/office/drawing/2014/main" id="{349BC40E-677E-4BFE-878C-294CCAC6D147}"/>
                </a:ext>
              </a:extLst>
            </p:cNvPr>
            <p:cNvSpPr/>
            <p:nvPr/>
          </p:nvSpPr>
          <p:spPr>
            <a:xfrm>
              <a:off x="3176470" y="4387805"/>
              <a:ext cx="167725" cy="16641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7130" cap="flat">
              <a:noFill/>
              <a:prstDash val="solid"/>
              <a:miter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5203;p26">
              <a:extLst>
                <a:ext uri="{FF2B5EF4-FFF2-40B4-BE49-F238E27FC236}">
                  <a16:creationId xmlns:a16="http://schemas.microsoft.com/office/drawing/2014/main" id="{8EC8A657-55D4-4727-B536-BCFB863E8E4F}"/>
                </a:ext>
              </a:extLst>
            </p:cNvPr>
            <p:cNvSpPr/>
            <p:nvPr/>
          </p:nvSpPr>
          <p:spPr>
            <a:xfrm>
              <a:off x="3364320" y="4387805"/>
              <a:ext cx="167725" cy="16641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" name="Google Shape;5203;p26">
              <a:extLst>
                <a:ext uri="{FF2B5EF4-FFF2-40B4-BE49-F238E27FC236}">
                  <a16:creationId xmlns:a16="http://schemas.microsoft.com/office/drawing/2014/main" id="{D14052AE-B05D-490F-B0E4-788918DD979E}"/>
                </a:ext>
              </a:extLst>
            </p:cNvPr>
            <p:cNvSpPr/>
            <p:nvPr/>
          </p:nvSpPr>
          <p:spPr>
            <a:xfrm>
              <a:off x="3552170" y="4387805"/>
              <a:ext cx="167725" cy="16641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7130" cap="flat">
              <a:noFill/>
              <a:prstDash val="solid"/>
              <a:miter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5203;p26">
              <a:extLst>
                <a:ext uri="{FF2B5EF4-FFF2-40B4-BE49-F238E27FC236}">
                  <a16:creationId xmlns:a16="http://schemas.microsoft.com/office/drawing/2014/main" id="{84E1320B-F06C-4C5D-8EE4-75BA5FAA591A}"/>
                </a:ext>
              </a:extLst>
            </p:cNvPr>
            <p:cNvSpPr/>
            <p:nvPr/>
          </p:nvSpPr>
          <p:spPr>
            <a:xfrm>
              <a:off x="3740020" y="4387805"/>
              <a:ext cx="167725" cy="166415"/>
            </a:xfrm>
            <a:prstGeom prst="rect">
              <a:avLst/>
            </a:prstGeom>
            <a:solidFill>
              <a:srgbClr val="0B9D96"/>
            </a:solidFill>
            <a:ln w="17130" cap="flat">
              <a:noFill/>
              <a:prstDash val="solid"/>
              <a:miter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5203;p26">
              <a:extLst>
                <a:ext uri="{FF2B5EF4-FFF2-40B4-BE49-F238E27FC236}">
                  <a16:creationId xmlns:a16="http://schemas.microsoft.com/office/drawing/2014/main" id="{E447FFB3-3032-44B5-ABBD-2AB83825BA33}"/>
                </a:ext>
              </a:extLst>
            </p:cNvPr>
            <p:cNvSpPr/>
            <p:nvPr/>
          </p:nvSpPr>
          <p:spPr>
            <a:xfrm>
              <a:off x="3927870" y="4387805"/>
              <a:ext cx="167725" cy="166415"/>
            </a:xfrm>
            <a:prstGeom prst="rect">
              <a:avLst/>
            </a:prstGeom>
            <a:solidFill>
              <a:schemeClr val="accent4"/>
            </a:solidFill>
            <a:ln w="9525" cap="flat">
              <a:noFill/>
              <a:prstDash val="solid"/>
              <a:miter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8" name="Google Shape;5203;p26">
              <a:extLst>
                <a:ext uri="{FF2B5EF4-FFF2-40B4-BE49-F238E27FC236}">
                  <a16:creationId xmlns:a16="http://schemas.microsoft.com/office/drawing/2014/main" id="{094504FC-FB54-47D6-84A6-26B8378E9AC3}"/>
                </a:ext>
              </a:extLst>
            </p:cNvPr>
            <p:cNvSpPr/>
            <p:nvPr/>
          </p:nvSpPr>
          <p:spPr>
            <a:xfrm>
              <a:off x="4118639" y="4342085"/>
              <a:ext cx="167725" cy="166415"/>
            </a:xfrm>
            <a:prstGeom prst="rect">
              <a:avLst/>
            </a:prstGeom>
            <a:solidFill>
              <a:srgbClr val="0B9D96"/>
            </a:solidFill>
            <a:ln w="17130" cap="flat">
              <a:noFill/>
              <a:prstDash val="solid"/>
              <a:miter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D3002B0-2169-4EE5-8658-45BFCE242049}"/>
              </a:ext>
            </a:extLst>
          </p:cNvPr>
          <p:cNvGrpSpPr/>
          <p:nvPr/>
        </p:nvGrpSpPr>
        <p:grpSpPr>
          <a:xfrm>
            <a:off x="3963376" y="4743771"/>
            <a:ext cx="2521429" cy="643834"/>
            <a:chOff x="3963376" y="4743771"/>
            <a:chExt cx="2521429" cy="643834"/>
          </a:xfrm>
        </p:grpSpPr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AC5C304A-8F20-4EE9-9406-FCD070C413BD}"/>
                </a:ext>
              </a:extLst>
            </p:cNvPr>
            <p:cNvCxnSpPr>
              <a:cxnSpLocks/>
            </p:cNvCxnSpPr>
            <p:nvPr/>
          </p:nvCxnSpPr>
          <p:spPr>
            <a:xfrm>
              <a:off x="4004869" y="4793761"/>
              <a:ext cx="302146" cy="411046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979DC8D9-A7FA-4306-9EE0-19EDD3222766}"/>
                </a:ext>
              </a:extLst>
            </p:cNvPr>
            <p:cNvSpPr/>
            <p:nvPr/>
          </p:nvSpPr>
          <p:spPr>
            <a:xfrm>
              <a:off x="3963376" y="4743771"/>
              <a:ext cx="82986" cy="82986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 dirty="0">
                <a:solidFill>
                  <a:prstClr val="white"/>
                </a:solidFill>
                <a:latin typeface="Abadi" panose="020B0604020104020204" pitchFamily="34" charset="0"/>
                <a:ea typeface="G마켓 산스 TTF Medium" panose="02000000000000000000" pitchFamily="2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AB741B-66AF-4152-A069-2348DADD1C2E}"/>
                </a:ext>
              </a:extLst>
            </p:cNvPr>
            <p:cNvSpPr txBox="1"/>
            <p:nvPr/>
          </p:nvSpPr>
          <p:spPr>
            <a:xfrm>
              <a:off x="4316772" y="5054565"/>
              <a:ext cx="2168033" cy="333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3" latinLnBrk="0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B4CA2"/>
                </a:buClr>
                <a:buSzPct val="80000"/>
              </a:pPr>
              <a:r>
                <a:rPr lang="ko-KR" altLang="en-US" sz="14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큐잉된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 패킷들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(</a:t>
              </a:r>
              <a:r>
                <a:rPr lang="ko-KR" altLang="en-US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지연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)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0883740-8906-42E3-A476-9E226072C940}"/>
              </a:ext>
            </a:extLst>
          </p:cNvPr>
          <p:cNvGrpSpPr/>
          <p:nvPr/>
        </p:nvGrpSpPr>
        <p:grpSpPr>
          <a:xfrm>
            <a:off x="3963376" y="2950055"/>
            <a:ext cx="2919197" cy="1538564"/>
            <a:chOff x="3963376" y="2950055"/>
            <a:chExt cx="2919197" cy="1538564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235A82B9-7C35-4AFB-B4B8-A49B78E0BA19}"/>
                </a:ext>
              </a:extLst>
            </p:cNvPr>
            <p:cNvSpPr/>
            <p:nvPr/>
          </p:nvSpPr>
          <p:spPr>
            <a:xfrm>
              <a:off x="3963376" y="4405633"/>
              <a:ext cx="82986" cy="82986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 dirty="0">
                <a:solidFill>
                  <a:prstClr val="white"/>
                </a:solidFill>
                <a:latin typeface="Abadi" panose="020B0604020104020204" pitchFamily="34" charset="0"/>
                <a:ea typeface="G마켓 산스 TTF Medium" panose="02000000000000000000" pitchFamily="2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8C3A4974-6739-44A1-8EFD-961E59751545}"/>
                </a:ext>
              </a:extLst>
            </p:cNvPr>
            <p:cNvSpPr/>
            <p:nvPr/>
          </p:nvSpPr>
          <p:spPr>
            <a:xfrm>
              <a:off x="4014229" y="3288025"/>
              <a:ext cx="878607" cy="1157288"/>
            </a:xfrm>
            <a:custGeom>
              <a:avLst/>
              <a:gdLst>
                <a:gd name="connsiteX0" fmla="*/ 0 w 314325"/>
                <a:gd name="connsiteY0" fmla="*/ 1157288 h 1157288"/>
                <a:gd name="connsiteX1" fmla="*/ 314325 w 314325"/>
                <a:gd name="connsiteY1" fmla="*/ 1033463 h 1157288"/>
                <a:gd name="connsiteX2" fmla="*/ 314325 w 314325"/>
                <a:gd name="connsiteY2" fmla="*/ 0 h 1157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4325" h="1157288">
                  <a:moveTo>
                    <a:pt x="0" y="1157288"/>
                  </a:moveTo>
                  <a:lnTo>
                    <a:pt x="314325" y="1033463"/>
                  </a:lnTo>
                  <a:lnTo>
                    <a:pt x="314325" y="0"/>
                  </a:lnTo>
                </a:path>
              </a:pathLst>
            </a:cu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  <p:txBody>
            <a:bodyPr rtlCol="0" anchor="ctr"/>
            <a:lstStyle/>
            <a:p>
              <a:pPr algn="ctr"/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9244C42-CEFC-4E14-BC64-D0BAB2ABD617}"/>
                </a:ext>
              </a:extLst>
            </p:cNvPr>
            <p:cNvSpPr txBox="1"/>
            <p:nvPr/>
          </p:nvSpPr>
          <p:spPr>
            <a:xfrm>
              <a:off x="4714540" y="2950055"/>
              <a:ext cx="2168033" cy="333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3" latinLnBrk="0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B4CA2"/>
                </a:buClr>
                <a:buSzPct val="80000"/>
              </a:pPr>
              <a:r>
                <a:rPr lang="ko-KR" altLang="en-US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전송되고 있는 패킷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(</a:t>
              </a:r>
              <a:r>
                <a:rPr lang="ko-KR" altLang="en-US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지연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1679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>
            <a:extLst>
              <a:ext uri="{FF2B5EF4-FFF2-40B4-BE49-F238E27FC236}">
                <a16:creationId xmlns:a16="http://schemas.microsoft.com/office/drawing/2014/main" id="{04F63D23-E1F4-4E80-95D0-04C91F312109}"/>
              </a:ext>
            </a:extLst>
          </p:cNvPr>
          <p:cNvSpPr/>
          <p:nvPr/>
        </p:nvSpPr>
        <p:spPr>
          <a:xfrm>
            <a:off x="771526" y="972930"/>
            <a:ext cx="6943724" cy="3313319"/>
          </a:xfrm>
          <a:prstGeom prst="rect">
            <a:avLst/>
          </a:prstGeom>
          <a:solidFill>
            <a:srgbClr val="EFF5FB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E2BFEF-EB14-4768-B905-6359130770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패킷 지연</a:t>
            </a:r>
            <a:r>
              <a:rPr lang="ko-KR" altLang="en-US" dirty="0">
                <a:solidFill>
                  <a:schemeClr val="bg1"/>
                </a:solidFill>
                <a:latin typeface="Abadi" panose="020B0604020104020204" pitchFamily="34" charset="0"/>
                <a:ea typeface="G마켓 산스 TTF Medium" panose="02000000000000000000" pitchFamily="2" charset="-127"/>
              </a:rPr>
              <a:t>의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4</a:t>
            </a:r>
            <a:r>
              <a:rPr lang="ko-KR" altLang="en-US" dirty="0">
                <a:solidFill>
                  <a:schemeClr val="bg1"/>
                </a:solidFill>
              </a:rPr>
              <a:t>가지 원인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EF49BE4-1F7F-466A-9506-9A0DE126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</a:t>
            </a:fld>
            <a:endParaRPr 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E11CB29-6CAF-4392-AB98-0D7142A3EEF3}"/>
              </a:ext>
            </a:extLst>
          </p:cNvPr>
          <p:cNvGrpSpPr/>
          <p:nvPr/>
        </p:nvGrpSpPr>
        <p:grpSpPr>
          <a:xfrm>
            <a:off x="673656" y="4337293"/>
            <a:ext cx="3047444" cy="1499747"/>
            <a:chOff x="673656" y="4859636"/>
            <a:chExt cx="3047444" cy="1499747"/>
          </a:xfrm>
        </p:grpSpPr>
        <p:sp>
          <p:nvSpPr>
            <p:cNvPr id="64" name="Rectangle 3">
              <a:extLst>
                <a:ext uri="{FF2B5EF4-FFF2-40B4-BE49-F238E27FC236}">
                  <a16:creationId xmlns:a16="http://schemas.microsoft.com/office/drawing/2014/main" id="{860D12D6-3FFE-4CBF-9530-7EE19680E4F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4859636"/>
              <a:ext cx="30474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3"/>
                </a:buBlip>
              </a:pPr>
              <a:r>
                <a:rPr lang="en-US" altLang="ko-KR" sz="16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d</a:t>
              </a:r>
              <a:r>
                <a:rPr lang="en-US" altLang="ko-KR" sz="1600" baseline="-250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proc</a:t>
              </a:r>
              <a:r>
                <a:rPr lang="en-US" altLang="ko-KR" sz="1600" baseline="-250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 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: nodal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 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processing</a:t>
              </a:r>
            </a:p>
          </p:txBody>
        </p:sp>
        <p:sp>
          <p:nvSpPr>
            <p:cNvPr id="65" name="Rectangle 3">
              <a:extLst>
                <a:ext uri="{FF2B5EF4-FFF2-40B4-BE49-F238E27FC236}">
                  <a16:creationId xmlns:a16="http://schemas.microsoft.com/office/drawing/2014/main" id="{E5C45F38-D024-43E8-A04D-4765E5861F1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5301208"/>
              <a:ext cx="2700165" cy="1058175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에러 검사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출력 링크 결정</a:t>
              </a:r>
              <a:endPara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대개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msec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이하</a:t>
              </a:r>
              <a:endPara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38938141-4E8F-4DF1-956A-812438F849CB}"/>
              </a:ext>
            </a:extLst>
          </p:cNvPr>
          <p:cNvGrpSpPr/>
          <p:nvPr/>
        </p:nvGrpSpPr>
        <p:grpSpPr>
          <a:xfrm>
            <a:off x="4778104" y="4337293"/>
            <a:ext cx="4176812" cy="1145804"/>
            <a:chOff x="4079776" y="4859636"/>
            <a:chExt cx="4176812" cy="1145804"/>
          </a:xfrm>
        </p:grpSpPr>
        <p:sp>
          <p:nvSpPr>
            <p:cNvPr id="66" name="Rectangle 3">
              <a:extLst>
                <a:ext uri="{FF2B5EF4-FFF2-40B4-BE49-F238E27FC236}">
                  <a16:creationId xmlns:a16="http://schemas.microsoft.com/office/drawing/2014/main" id="{D843A6B2-A90F-4B42-BA9D-43D85A6E14A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079776" y="4859636"/>
              <a:ext cx="30474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3"/>
                </a:buBlip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d</a:t>
              </a:r>
              <a:r>
                <a:rPr lang="en-US" altLang="ko-KR" sz="1600" baseline="-250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queue 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: queueing delay</a:t>
              </a:r>
            </a:p>
          </p:txBody>
        </p:sp>
        <p:sp>
          <p:nvSpPr>
            <p:cNvPr id="67" name="Rectangle 3">
              <a:extLst>
                <a:ext uri="{FF2B5EF4-FFF2-40B4-BE49-F238E27FC236}">
                  <a16:creationId xmlns:a16="http://schemas.microsoft.com/office/drawing/2014/main" id="{1C91A9AD-0083-4E1C-AE6F-ED5D9508F53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385368" y="5301208"/>
              <a:ext cx="3871220" cy="704232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출력 링크에서 전송을 기다리는 시간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라우터의 혼잡 정도에 의존적</a:t>
              </a:r>
            </a:p>
          </p:txBody>
        </p:sp>
      </p:grp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9071B7DA-D66F-44E0-97C0-10EF50AEE547}"/>
              </a:ext>
            </a:extLst>
          </p:cNvPr>
          <p:cNvSpPr/>
          <p:nvPr/>
        </p:nvSpPr>
        <p:spPr>
          <a:xfrm>
            <a:off x="1424943" y="3600043"/>
            <a:ext cx="5636890" cy="540527"/>
          </a:xfrm>
          <a:prstGeom prst="roundRect">
            <a:avLst>
              <a:gd name="adj" fmla="val 4213"/>
            </a:avLst>
          </a:prstGeom>
          <a:solidFill>
            <a:schemeClr val="bg1"/>
          </a:solidFill>
          <a:ln w="25400">
            <a:solidFill>
              <a:srgbClr val="4472C4"/>
            </a:solidFill>
          </a:ln>
          <a:effectLst>
            <a:outerShdw blurRad="63500" sx="102000" sy="102000" algn="ctr" rotWithShape="0">
              <a:srgbClr val="BDD7E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B4F89A58-0C53-48FA-A9C6-1F2A10B6A7F0}"/>
              </a:ext>
            </a:extLst>
          </p:cNvPr>
          <p:cNvGrpSpPr/>
          <p:nvPr/>
        </p:nvGrpSpPr>
        <p:grpSpPr>
          <a:xfrm>
            <a:off x="1622892" y="1139466"/>
            <a:ext cx="5240992" cy="2265151"/>
            <a:chOff x="584551" y="1168041"/>
            <a:chExt cx="6913228" cy="2987890"/>
          </a:xfrm>
        </p:grpSpPr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10553950-E177-415E-9B50-B401E52D6B65}"/>
                </a:ext>
              </a:extLst>
            </p:cNvPr>
            <p:cNvCxnSpPr>
              <a:cxnSpLocks/>
            </p:cNvCxnSpPr>
            <p:nvPr/>
          </p:nvCxnSpPr>
          <p:spPr>
            <a:xfrm>
              <a:off x="3658776" y="1635241"/>
              <a:ext cx="0" cy="543756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  <p:sp>
          <p:nvSpPr>
            <p:cNvPr id="72" name="Line 24">
              <a:extLst>
                <a:ext uri="{FF2B5EF4-FFF2-40B4-BE49-F238E27FC236}">
                  <a16:creationId xmlns:a16="http://schemas.microsoft.com/office/drawing/2014/main" id="{C246EF84-0F5E-406D-AA67-46C2B753A8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2213" y="2803416"/>
              <a:ext cx="330930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73" name="Line 24">
              <a:extLst>
                <a:ext uri="{FF2B5EF4-FFF2-40B4-BE49-F238E27FC236}">
                  <a16:creationId xmlns:a16="http://schemas.microsoft.com/office/drawing/2014/main" id="{52596AA0-D703-42C5-88E7-97ACE9D71A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1408" y="2826648"/>
              <a:ext cx="1237298" cy="5864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74" name="Line 24">
              <a:extLst>
                <a:ext uri="{FF2B5EF4-FFF2-40B4-BE49-F238E27FC236}">
                  <a16:creationId xmlns:a16="http://schemas.microsoft.com/office/drawing/2014/main" id="{93EEC020-5804-4AD5-9A7C-1494D3FE5A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1408" y="2132856"/>
              <a:ext cx="1237298" cy="5864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DB64B2B9-F599-4202-ADDB-1FB5F0D8FE60}"/>
                </a:ext>
              </a:extLst>
            </p:cNvPr>
            <p:cNvGrpSpPr/>
            <p:nvPr/>
          </p:nvGrpSpPr>
          <p:grpSpPr>
            <a:xfrm>
              <a:off x="917173" y="2708920"/>
              <a:ext cx="1023241" cy="1217823"/>
              <a:chOff x="3182618" y="4520968"/>
              <a:chExt cx="878294" cy="1045313"/>
            </a:xfrm>
          </p:grpSpPr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4FD52D12-8912-4D49-9778-7604A99B4354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 dirty="0">
                  <a:solidFill>
                    <a:prstClr val="white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endParaRPr>
              </a:p>
            </p:txBody>
          </p:sp>
          <p:pic>
            <p:nvPicPr>
              <p:cNvPr id="103" name="그림 102">
                <a:extLst>
                  <a:ext uri="{FF2B5EF4-FFF2-40B4-BE49-F238E27FC236}">
                    <a16:creationId xmlns:a16="http://schemas.microsoft.com/office/drawing/2014/main" id="{68F0E591-D55E-44A9-A2E5-10CF8A3CA2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302C79B4-33FA-4116-8CE6-9E21301B05FF}"/>
                </a:ext>
              </a:extLst>
            </p:cNvPr>
            <p:cNvGrpSpPr/>
            <p:nvPr/>
          </p:nvGrpSpPr>
          <p:grpSpPr>
            <a:xfrm>
              <a:off x="917173" y="1168041"/>
              <a:ext cx="1023241" cy="1217823"/>
              <a:chOff x="3182618" y="4520968"/>
              <a:chExt cx="878294" cy="1045313"/>
            </a:xfrm>
          </p:grpSpPr>
          <p:sp>
            <p:nvSpPr>
              <p:cNvPr id="100" name="타원 99">
                <a:extLst>
                  <a:ext uri="{FF2B5EF4-FFF2-40B4-BE49-F238E27FC236}">
                    <a16:creationId xmlns:a16="http://schemas.microsoft.com/office/drawing/2014/main" id="{FC99A702-5806-4CE5-8991-B0D2145B297A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101" name="그림 100">
                <a:extLst>
                  <a:ext uri="{FF2B5EF4-FFF2-40B4-BE49-F238E27FC236}">
                    <a16:creationId xmlns:a16="http://schemas.microsoft.com/office/drawing/2014/main" id="{B99D1753-26F5-461D-9831-E3511F0818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D5E10F70-743A-47FB-AE6E-F140BCF0D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0425" y="2492896"/>
              <a:ext cx="839864" cy="542286"/>
            </a:xfrm>
            <a:prstGeom prst="rect">
              <a:avLst/>
            </a:prstGeom>
          </p:spPr>
        </p:pic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CD05D6BD-F90A-4A35-B7FD-BF5D456130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57915" y="2456037"/>
              <a:ext cx="839864" cy="542286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50BD0BD-8389-4A12-BD17-FB487D617631}"/>
                </a:ext>
              </a:extLst>
            </p:cNvPr>
            <p:cNvSpPr txBox="1"/>
            <p:nvPr/>
          </p:nvSpPr>
          <p:spPr>
            <a:xfrm>
              <a:off x="2024582" y="3468118"/>
              <a:ext cx="2166600" cy="6878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3" algn="ctr" latinLnBrk="0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B4CA2"/>
                </a:buClr>
                <a:buSzPct val="80000"/>
              </a:pPr>
              <a:r>
                <a:rPr lang="ko-KR" altLang="en-US" sz="13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처리</a:t>
              </a:r>
              <a:br>
                <a:rPr lang="en-US" altLang="ko-KR" sz="13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</a:br>
              <a:r>
                <a:rPr lang="en-US" altLang="ko-KR" sz="13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(nodal Processing)</a:t>
              </a:r>
            </a:p>
          </p:txBody>
        </p:sp>
        <p:sp>
          <p:nvSpPr>
            <p:cNvPr id="80" name="Google Shape;5203;p26">
              <a:extLst>
                <a:ext uri="{FF2B5EF4-FFF2-40B4-BE49-F238E27FC236}">
                  <a16:creationId xmlns:a16="http://schemas.microsoft.com/office/drawing/2014/main" id="{6D194944-DB9D-4038-8204-C488E7F55E3F}"/>
                </a:ext>
              </a:extLst>
            </p:cNvPr>
            <p:cNvSpPr/>
            <p:nvPr/>
          </p:nvSpPr>
          <p:spPr>
            <a:xfrm>
              <a:off x="2222084" y="3098329"/>
              <a:ext cx="165600" cy="165600"/>
            </a:xfrm>
            <a:prstGeom prst="rect">
              <a:avLst/>
            </a:prstGeom>
            <a:solidFill>
              <a:schemeClr val="accent4"/>
            </a:solidFill>
            <a:ln w="9525" cap="flat">
              <a:noFill/>
              <a:prstDash val="solid"/>
              <a:miter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1" name="Google Shape;5203;p26">
              <a:extLst>
                <a:ext uri="{FF2B5EF4-FFF2-40B4-BE49-F238E27FC236}">
                  <a16:creationId xmlns:a16="http://schemas.microsoft.com/office/drawing/2014/main" id="{73FB49D4-6164-4B09-98B1-DF6BB41E3FA6}"/>
                </a:ext>
              </a:extLst>
            </p:cNvPr>
            <p:cNvSpPr/>
            <p:nvPr/>
          </p:nvSpPr>
          <p:spPr>
            <a:xfrm>
              <a:off x="2222084" y="2245091"/>
              <a:ext cx="165600" cy="165600"/>
            </a:xfrm>
            <a:prstGeom prst="rect">
              <a:avLst/>
            </a:prstGeom>
            <a:solidFill>
              <a:srgbClr val="0B9D96"/>
            </a:solidFill>
            <a:ln w="17130" cap="flat">
              <a:noFill/>
              <a:prstDash val="solid"/>
              <a:miter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" name="Google Shape;5205;p26">
              <a:extLst>
                <a:ext uri="{FF2B5EF4-FFF2-40B4-BE49-F238E27FC236}">
                  <a16:creationId xmlns:a16="http://schemas.microsoft.com/office/drawing/2014/main" id="{F9FB077C-A350-44A7-B6DE-F94203A127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6404" y="3122712"/>
              <a:ext cx="277020" cy="144464"/>
            </a:xfrm>
            <a:prstGeom prst="straightConnector1">
              <a:avLst/>
            </a:prstGeom>
            <a:noFill/>
            <a:ln w="952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3" name="Google Shape;5205;p26">
              <a:extLst>
                <a:ext uri="{FF2B5EF4-FFF2-40B4-BE49-F238E27FC236}">
                  <a16:creationId xmlns:a16="http://schemas.microsoft.com/office/drawing/2014/main" id="{848F7C33-869E-4932-A930-C5D2444AA709}"/>
                </a:ext>
              </a:extLst>
            </p:cNvPr>
            <p:cNvCxnSpPr>
              <a:cxnSpLocks/>
            </p:cNvCxnSpPr>
            <p:nvPr/>
          </p:nvCxnSpPr>
          <p:spPr>
            <a:xfrm>
              <a:off x="2536404" y="2307006"/>
              <a:ext cx="277020" cy="144464"/>
            </a:xfrm>
            <a:prstGeom prst="straightConnector1">
              <a:avLst/>
            </a:prstGeom>
            <a:noFill/>
            <a:ln w="952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823344F-7A5C-4A16-ACE8-1AFC4216ACAC}"/>
                </a:ext>
              </a:extLst>
            </p:cNvPr>
            <p:cNvSpPr txBox="1"/>
            <p:nvPr/>
          </p:nvSpPr>
          <p:spPr>
            <a:xfrm>
              <a:off x="584551" y="1193322"/>
              <a:ext cx="353274" cy="4828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3" algn="ctr" latinLnBrk="0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B4CA2"/>
                </a:buClr>
                <a:buSzPct val="80000"/>
              </a:pP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Abadi" panose="020F0502020204030204" pitchFamily="34" charset="0"/>
                  <a:ea typeface="+mj-ea"/>
                  <a:sym typeface="Arial"/>
                </a:rPr>
                <a:t>A</a:t>
              </a:r>
              <a:endPara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F0502020204030204" pitchFamily="34" charset="0"/>
                <a:ea typeface="+mj-ea"/>
                <a:sym typeface="Arial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D1C93E3-F345-46E8-B6CC-012C1074A995}"/>
                </a:ext>
              </a:extLst>
            </p:cNvPr>
            <p:cNvSpPr txBox="1"/>
            <p:nvPr/>
          </p:nvSpPr>
          <p:spPr>
            <a:xfrm>
              <a:off x="584551" y="2811613"/>
              <a:ext cx="353274" cy="4828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3" algn="ctr" latinLnBrk="0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B4CA2"/>
                </a:buClr>
                <a:buSzPct val="80000"/>
              </a:pP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Abadi" panose="020F0502020204030204" pitchFamily="34" charset="0"/>
                  <a:ea typeface="+mj-ea"/>
                  <a:sym typeface="Arial"/>
                </a:rPr>
                <a:t>B</a:t>
              </a:r>
              <a:endPara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098983"/>
                </a:solidFill>
                <a:latin typeface="Abadi" panose="020F0502020204030204" pitchFamily="34" charset="0"/>
                <a:ea typeface="+mj-ea"/>
                <a:sym typeface="Arial"/>
              </a:endParaRPr>
            </a:p>
          </p:txBody>
        </p:sp>
        <p:sp>
          <p:nvSpPr>
            <p:cNvPr id="86" name="Google Shape;5203;p26">
              <a:extLst>
                <a:ext uri="{FF2B5EF4-FFF2-40B4-BE49-F238E27FC236}">
                  <a16:creationId xmlns:a16="http://schemas.microsoft.com/office/drawing/2014/main" id="{8EE0C9B3-CC9F-4B5C-B4B2-AE071C0FCB54}"/>
                </a:ext>
              </a:extLst>
            </p:cNvPr>
            <p:cNvSpPr/>
            <p:nvPr/>
          </p:nvSpPr>
          <p:spPr>
            <a:xfrm>
              <a:off x="3184548" y="2276872"/>
              <a:ext cx="167725" cy="166415"/>
            </a:xfrm>
            <a:prstGeom prst="rect">
              <a:avLst/>
            </a:prstGeom>
            <a:solidFill>
              <a:srgbClr val="0B9D96"/>
            </a:solidFill>
            <a:ln w="17130" cap="flat">
              <a:noFill/>
              <a:prstDash val="solid"/>
              <a:miter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7" name="Google Shape;5203;p26">
              <a:extLst>
                <a:ext uri="{FF2B5EF4-FFF2-40B4-BE49-F238E27FC236}">
                  <a16:creationId xmlns:a16="http://schemas.microsoft.com/office/drawing/2014/main" id="{5E496064-D53A-49D0-9DB7-5E72E422C99F}"/>
                </a:ext>
              </a:extLst>
            </p:cNvPr>
            <p:cNvSpPr/>
            <p:nvPr/>
          </p:nvSpPr>
          <p:spPr>
            <a:xfrm>
              <a:off x="3372399" y="2276872"/>
              <a:ext cx="167725" cy="166415"/>
            </a:xfrm>
            <a:prstGeom prst="rect">
              <a:avLst/>
            </a:prstGeom>
            <a:solidFill>
              <a:schemeClr val="accent4"/>
            </a:solidFill>
            <a:ln w="9525" cap="flat">
              <a:noFill/>
              <a:prstDash val="solid"/>
              <a:miter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8" name="Google Shape;5203;p26">
              <a:extLst>
                <a:ext uri="{FF2B5EF4-FFF2-40B4-BE49-F238E27FC236}">
                  <a16:creationId xmlns:a16="http://schemas.microsoft.com/office/drawing/2014/main" id="{36573E47-2FB3-40ED-8E73-FE20CFEF5DE6}"/>
                </a:ext>
              </a:extLst>
            </p:cNvPr>
            <p:cNvSpPr/>
            <p:nvPr/>
          </p:nvSpPr>
          <p:spPr>
            <a:xfrm>
              <a:off x="3563168" y="2245459"/>
              <a:ext cx="167725" cy="166415"/>
            </a:xfrm>
            <a:prstGeom prst="rect">
              <a:avLst/>
            </a:prstGeom>
            <a:solidFill>
              <a:srgbClr val="0B9D96"/>
            </a:solidFill>
            <a:ln w="17130" cap="flat">
              <a:noFill/>
              <a:prstDash val="solid"/>
              <a:miter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FD1D6B97-F8B4-41B8-8019-206E6FCCA698}"/>
                </a:ext>
              </a:extLst>
            </p:cNvPr>
            <p:cNvSpPr/>
            <p:nvPr/>
          </p:nvSpPr>
          <p:spPr>
            <a:xfrm>
              <a:off x="3615743" y="2123979"/>
              <a:ext cx="82985" cy="82985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 dirty="0">
                <a:solidFill>
                  <a:prstClr val="white"/>
                </a:solidFill>
                <a:latin typeface="Abadi" panose="020B0604020104020204" pitchFamily="34" charset="0"/>
                <a:ea typeface="G마켓 산스 TTF Medium" panose="02000000000000000000" pitchFamily="2" charset="-127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32E8356-25BB-4A31-BC37-1D8E4DF08836}"/>
                </a:ext>
              </a:extLst>
            </p:cNvPr>
            <p:cNvSpPr txBox="1"/>
            <p:nvPr/>
          </p:nvSpPr>
          <p:spPr>
            <a:xfrm>
              <a:off x="3492554" y="1262427"/>
              <a:ext cx="2168033" cy="3907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3" latinLnBrk="0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B4CA2"/>
                </a:buClr>
                <a:buSzPct val="80000"/>
              </a:pPr>
              <a:r>
                <a:rPr lang="ko-KR" altLang="en-US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전송</a:t>
              </a: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(transmission)</a:t>
              </a:r>
            </a:p>
          </p:txBody>
        </p:sp>
        <p:sp>
          <p:nvSpPr>
            <p:cNvPr id="91" name="Google Shape;5203;p26">
              <a:extLst>
                <a:ext uri="{FF2B5EF4-FFF2-40B4-BE49-F238E27FC236}">
                  <a16:creationId xmlns:a16="http://schemas.microsoft.com/office/drawing/2014/main" id="{CE9EE9B4-C18D-4E5F-9EC5-E9D1765AE706}"/>
                </a:ext>
              </a:extLst>
            </p:cNvPr>
            <p:cNvSpPr/>
            <p:nvPr/>
          </p:nvSpPr>
          <p:spPr>
            <a:xfrm>
              <a:off x="5240247" y="2570258"/>
              <a:ext cx="167725" cy="166415"/>
            </a:xfrm>
            <a:prstGeom prst="rect">
              <a:avLst/>
            </a:prstGeom>
            <a:solidFill>
              <a:srgbClr val="0B9D96"/>
            </a:solidFill>
            <a:ln w="17130" cap="flat">
              <a:noFill/>
              <a:prstDash val="solid"/>
              <a:miter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FC48AA1-2F34-45FC-B1E5-426682C2A895}"/>
                </a:ext>
              </a:extLst>
            </p:cNvPr>
            <p:cNvSpPr txBox="1"/>
            <p:nvPr/>
          </p:nvSpPr>
          <p:spPr>
            <a:xfrm>
              <a:off x="4271842" y="2205437"/>
              <a:ext cx="2168033" cy="3907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3" algn="ctr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전파</a:t>
              </a: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(propagation)</a:t>
              </a:r>
              <a:endParaRPr lang="en-US" altLang="ko-KR" sz="13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endParaRPr>
            </a:p>
          </p:txBody>
        </p:sp>
        <p:cxnSp>
          <p:nvCxnSpPr>
            <p:cNvPr id="93" name="Google Shape;5205;p26">
              <a:extLst>
                <a:ext uri="{FF2B5EF4-FFF2-40B4-BE49-F238E27FC236}">
                  <a16:creationId xmlns:a16="http://schemas.microsoft.com/office/drawing/2014/main" id="{103F19C2-102B-486D-B640-4C1B794B51D8}"/>
                </a:ext>
              </a:extLst>
            </p:cNvPr>
            <p:cNvCxnSpPr>
              <a:cxnSpLocks/>
            </p:cNvCxnSpPr>
            <p:nvPr/>
          </p:nvCxnSpPr>
          <p:spPr>
            <a:xfrm>
              <a:off x="6269021" y="2389011"/>
              <a:ext cx="396954" cy="0"/>
            </a:xfrm>
            <a:prstGeom prst="straightConnector1">
              <a:avLst/>
            </a:prstGeom>
            <a:noFill/>
            <a:ln w="952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4" name="Google Shape;5205;p26">
              <a:extLst>
                <a:ext uri="{FF2B5EF4-FFF2-40B4-BE49-F238E27FC236}">
                  <a16:creationId xmlns:a16="http://schemas.microsoft.com/office/drawing/2014/main" id="{848F7779-3902-4A42-BF77-E7E8385F0A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8387" y="3413296"/>
              <a:ext cx="889113" cy="0"/>
            </a:xfrm>
            <a:prstGeom prst="straightConnector1">
              <a:avLst/>
            </a:prstGeom>
            <a:noFill/>
            <a:ln w="952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95" name="Google Shape;5205;p26">
              <a:extLst>
                <a:ext uri="{FF2B5EF4-FFF2-40B4-BE49-F238E27FC236}">
                  <a16:creationId xmlns:a16="http://schemas.microsoft.com/office/drawing/2014/main" id="{6BA0B154-E313-4BDB-A2BA-362526B03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3879" y="2933871"/>
              <a:ext cx="414778" cy="0"/>
            </a:xfrm>
            <a:prstGeom prst="straightConnector1">
              <a:avLst/>
            </a:prstGeom>
            <a:noFill/>
            <a:ln w="952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8C841E9F-008D-4919-8B38-F13AB0EFA797}"/>
                </a:ext>
              </a:extLst>
            </p:cNvPr>
            <p:cNvCxnSpPr>
              <a:cxnSpLocks/>
            </p:cNvCxnSpPr>
            <p:nvPr/>
          </p:nvCxnSpPr>
          <p:spPr>
            <a:xfrm>
              <a:off x="3654501" y="2945946"/>
              <a:ext cx="302146" cy="411046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0A16E8C9-A0C8-41C8-A849-DA1A3D5F65E1}"/>
                </a:ext>
              </a:extLst>
            </p:cNvPr>
            <p:cNvSpPr/>
            <p:nvPr/>
          </p:nvSpPr>
          <p:spPr>
            <a:xfrm>
              <a:off x="3613009" y="2895956"/>
              <a:ext cx="82985" cy="82985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 dirty="0">
                <a:solidFill>
                  <a:prstClr val="white"/>
                </a:solidFill>
                <a:latin typeface="Abadi" panose="020B0604020104020204" pitchFamily="34" charset="0"/>
                <a:ea typeface="G마켓 산스 TTF Medium" panose="02000000000000000000" pitchFamily="2" charset="-127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373B89F-3E69-4F95-AA30-8E00B67A6E85}"/>
                </a:ext>
              </a:extLst>
            </p:cNvPr>
            <p:cNvSpPr txBox="1"/>
            <p:nvPr/>
          </p:nvSpPr>
          <p:spPr>
            <a:xfrm>
              <a:off x="3966404" y="3206748"/>
              <a:ext cx="2168033" cy="3907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3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큐잉</a:t>
              </a: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(queueing)</a:t>
              </a:r>
            </a:p>
          </p:txBody>
        </p:sp>
        <p:cxnSp>
          <p:nvCxnSpPr>
            <p:cNvPr id="99" name="Google Shape;5205;p26">
              <a:extLst>
                <a:ext uri="{FF2B5EF4-FFF2-40B4-BE49-F238E27FC236}">
                  <a16:creationId xmlns:a16="http://schemas.microsoft.com/office/drawing/2014/main" id="{FEDCE060-0CEE-4BD7-A08A-285BA6AB27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5946" y="2389011"/>
              <a:ext cx="396954" cy="0"/>
            </a:xfrm>
            <a:prstGeom prst="straightConnector1">
              <a:avLst/>
            </a:prstGeom>
            <a:noFill/>
            <a:ln w="952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04" name="Rectangle 3">
            <a:extLst>
              <a:ext uri="{FF2B5EF4-FFF2-40B4-BE49-F238E27FC236}">
                <a16:creationId xmlns:a16="http://schemas.microsoft.com/office/drawing/2014/main" id="{35BC3AD8-F7A7-48F1-AC06-99BD9246B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0613" y="3565586"/>
            <a:ext cx="4925550" cy="609441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r>
              <a:rPr lang="en-US" altLang="ko-KR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d</a:t>
            </a:r>
            <a:r>
              <a:rPr lang="en-US" altLang="ko-KR" baseline="-250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nodal</a:t>
            </a:r>
            <a:r>
              <a:rPr lang="en-US" altLang="ko-KR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 = </a:t>
            </a:r>
            <a:r>
              <a:rPr lang="en-US" altLang="ko-KR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d</a:t>
            </a:r>
            <a:r>
              <a:rPr lang="en-US" altLang="ko-KR" baseline="-250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proc</a:t>
            </a:r>
            <a:r>
              <a:rPr lang="en-US" altLang="ko-KR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 + </a:t>
            </a:r>
            <a:r>
              <a:rPr lang="en-US" altLang="ko-KR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d</a:t>
            </a:r>
            <a:r>
              <a:rPr lang="en-US" altLang="ko-KR" baseline="-250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queue</a:t>
            </a:r>
            <a:r>
              <a:rPr lang="en-US" altLang="ko-KR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 + </a:t>
            </a:r>
            <a:r>
              <a:rPr lang="en-US" altLang="ko-KR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d</a:t>
            </a:r>
            <a:r>
              <a:rPr lang="en-US" altLang="ko-KR" baseline="-250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trans</a:t>
            </a:r>
            <a:r>
              <a:rPr lang="en-US" altLang="ko-KR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 +  </a:t>
            </a:r>
            <a:r>
              <a:rPr lang="en-US" altLang="ko-KR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d</a:t>
            </a:r>
            <a:r>
              <a:rPr lang="en-US" altLang="ko-KR" baseline="-250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prop</a:t>
            </a:r>
            <a:endParaRPr lang="en-US" altLang="ko-KR" baseline="-250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Abadi" panose="020F0502020204030204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79967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2C90346-A676-4369-B5BA-1D6455EDEDED}"/>
              </a:ext>
            </a:extLst>
          </p:cNvPr>
          <p:cNvGrpSpPr/>
          <p:nvPr/>
        </p:nvGrpSpPr>
        <p:grpSpPr>
          <a:xfrm>
            <a:off x="673656" y="4337293"/>
            <a:ext cx="3047444" cy="1516931"/>
            <a:chOff x="673656" y="4337293"/>
            <a:chExt cx="3047444" cy="1516931"/>
          </a:xfrm>
        </p:grpSpPr>
        <p:sp>
          <p:nvSpPr>
            <p:cNvPr id="70" name="Rectangle 3">
              <a:extLst>
                <a:ext uri="{FF2B5EF4-FFF2-40B4-BE49-F238E27FC236}">
                  <a16:creationId xmlns:a16="http://schemas.microsoft.com/office/drawing/2014/main" id="{3D0BED54-220D-486E-92DD-915EACB5E0A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4337293"/>
              <a:ext cx="30474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3"/>
                </a:buBlip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d</a:t>
              </a:r>
              <a:r>
                <a:rPr lang="en-US" altLang="ko-KR" sz="1600" baseline="-250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trans 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: transmission delay</a:t>
              </a:r>
            </a:p>
          </p:txBody>
        </p:sp>
        <p:sp>
          <p:nvSpPr>
            <p:cNvPr id="71" name="Rectangle 3">
              <a:extLst>
                <a:ext uri="{FF2B5EF4-FFF2-40B4-BE49-F238E27FC236}">
                  <a16:creationId xmlns:a16="http://schemas.microsoft.com/office/drawing/2014/main" id="{75E383FB-4173-4608-A14B-30734990C21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4778865"/>
              <a:ext cx="2700165" cy="107535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L :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패킷 길이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(bits) 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 :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링크 대역폭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(bps)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6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d</a:t>
              </a:r>
              <a:r>
                <a:rPr lang="en-US" altLang="ko-KR" sz="1600" baseline="-250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trans</a:t>
              </a:r>
              <a:r>
                <a:rPr lang="en-US" altLang="ko-KR" sz="1500" baseline="-250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= L/R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F7D54493-A378-4779-894C-BEC310AD1132}"/>
              </a:ext>
            </a:extLst>
          </p:cNvPr>
          <p:cNvGrpSpPr/>
          <p:nvPr/>
        </p:nvGrpSpPr>
        <p:grpSpPr>
          <a:xfrm>
            <a:off x="4778104" y="4337293"/>
            <a:ext cx="4176812" cy="1516931"/>
            <a:chOff x="4854304" y="4653136"/>
            <a:chExt cx="4176812" cy="1516931"/>
          </a:xfrm>
        </p:grpSpPr>
        <p:sp>
          <p:nvSpPr>
            <p:cNvPr id="72" name="Rectangle 3">
              <a:extLst>
                <a:ext uri="{FF2B5EF4-FFF2-40B4-BE49-F238E27FC236}">
                  <a16:creationId xmlns:a16="http://schemas.microsoft.com/office/drawing/2014/main" id="{AF1762D4-D5E9-42AB-A8AF-25D13FB6827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854304" y="4653136"/>
              <a:ext cx="30474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3"/>
                </a:buBlip>
              </a:pPr>
              <a:r>
                <a:rPr lang="en-US" altLang="ko-KR" sz="16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d</a:t>
              </a:r>
              <a:r>
                <a:rPr lang="en-US" altLang="ko-KR" sz="1600" baseline="-250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prop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: propagation delay </a:t>
              </a:r>
            </a:p>
          </p:txBody>
        </p:sp>
        <p:sp>
          <p:nvSpPr>
            <p:cNvPr id="73" name="Rectangle 3">
              <a:extLst>
                <a:ext uri="{FF2B5EF4-FFF2-40B4-BE49-F238E27FC236}">
                  <a16:creationId xmlns:a16="http://schemas.microsoft.com/office/drawing/2014/main" id="{5704AA63-EC85-4B1E-90F9-8D88CA67AE8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159896" y="5094708"/>
              <a:ext cx="3871220" cy="107535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 :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물리 링크의 길이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 :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전파 속도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(~2x10</a:t>
              </a:r>
              <a:r>
                <a:rPr lang="en-US" altLang="ko-KR" sz="1500" baseline="300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8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m/sec)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6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d</a:t>
              </a:r>
              <a:r>
                <a:rPr lang="en-US" altLang="ko-KR" sz="1600" baseline="-250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prop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= d/s</a:t>
              </a:r>
            </a:p>
          </p:txBody>
        </p:sp>
      </p:grp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E2BFEF-EB14-4768-B905-6359130770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패킷 지연</a:t>
            </a:r>
            <a:r>
              <a:rPr lang="ko-KR" altLang="en-US" dirty="0">
                <a:solidFill>
                  <a:schemeClr val="bg1"/>
                </a:solidFill>
                <a:latin typeface="Abadi" panose="020B0604020104020204" pitchFamily="34" charset="0"/>
                <a:ea typeface="G마켓 산스 TTF Medium" panose="02000000000000000000" pitchFamily="2" charset="-127"/>
              </a:rPr>
              <a:t>의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4</a:t>
            </a:r>
            <a:r>
              <a:rPr lang="ko-KR" altLang="en-US" dirty="0">
                <a:solidFill>
                  <a:schemeClr val="bg1"/>
                </a:solidFill>
              </a:rPr>
              <a:t>가지 원인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EF49BE4-1F7F-466A-9506-9A0DE126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5</a:t>
            </a:fld>
            <a:endParaRPr 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EC470AF-619D-44C1-83D7-0AC69FC411DD}"/>
              </a:ext>
            </a:extLst>
          </p:cNvPr>
          <p:cNvGrpSpPr/>
          <p:nvPr/>
        </p:nvGrpSpPr>
        <p:grpSpPr>
          <a:xfrm>
            <a:off x="2324026" y="5489421"/>
            <a:ext cx="2709937" cy="662938"/>
            <a:chOff x="2343076" y="5489421"/>
            <a:chExt cx="2709937" cy="662938"/>
          </a:xfrm>
        </p:grpSpPr>
        <p:sp>
          <p:nvSpPr>
            <p:cNvPr id="75" name="Text Box 62">
              <a:extLst>
                <a:ext uri="{FF2B5EF4-FFF2-40B4-BE49-F238E27FC236}">
                  <a16:creationId xmlns:a16="http://schemas.microsoft.com/office/drawing/2014/main" id="{16CE3C83-59A1-4435-BAA0-C95DDB2200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4322" y="5489421"/>
              <a:ext cx="1719509" cy="6629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ko-KR" sz="16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d</a:t>
              </a:r>
              <a:r>
                <a:rPr lang="en-US" altLang="ko-KR" sz="1600" baseline="-250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trans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 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과 </a:t>
              </a:r>
              <a:r>
                <a:rPr lang="en-US" altLang="ko-KR" sz="16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d</a:t>
              </a:r>
              <a:r>
                <a:rPr lang="en-US" altLang="ko-KR" sz="1600" baseline="-250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prop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는 </a:t>
              </a:r>
              <a:b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</a:b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완전히 다름</a:t>
              </a:r>
              <a:endPara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endParaRPr>
            </a:p>
          </p:txBody>
        </p:sp>
        <p:cxnSp>
          <p:nvCxnSpPr>
            <p:cNvPr id="76" name="Straight Arrow Connector 3">
              <a:extLst>
                <a:ext uri="{FF2B5EF4-FFF2-40B4-BE49-F238E27FC236}">
                  <a16:creationId xmlns:a16="http://schemas.microsoft.com/office/drawing/2014/main" id="{1B70B4B6-E82C-466F-A0A0-76728F19D1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43076" y="5705445"/>
              <a:ext cx="554500" cy="3"/>
            </a:xfrm>
            <a:prstGeom prst="straightConnector1">
              <a:avLst/>
            </a:prstGeom>
            <a:noFill/>
            <a:ln w="31750">
              <a:solidFill>
                <a:srgbClr val="F27037"/>
              </a:solidFill>
              <a:round/>
              <a:headEnd type="triangle" w="med" len="med"/>
              <a:tailEnd type="none" w="lg" len="med"/>
            </a:ln>
          </p:spPr>
        </p:cxnSp>
        <p:cxnSp>
          <p:nvCxnSpPr>
            <p:cNvPr id="77" name="Straight Arrow Connector 72">
              <a:extLst>
                <a:ext uri="{FF2B5EF4-FFF2-40B4-BE49-F238E27FC236}">
                  <a16:creationId xmlns:a16="http://schemas.microsoft.com/office/drawing/2014/main" id="{409BF52F-26EC-46AD-8CE3-C09856FEC4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583832" y="5696850"/>
              <a:ext cx="469181" cy="0"/>
            </a:xfrm>
            <a:prstGeom prst="straightConnector1">
              <a:avLst/>
            </a:prstGeom>
            <a:noFill/>
            <a:ln w="31750">
              <a:solidFill>
                <a:srgbClr val="F27037"/>
              </a:solidFill>
              <a:round/>
              <a:headEnd type="triangle" w="med" len="med"/>
              <a:tailEnd type="none" w="lg" len="med"/>
            </a:ln>
          </p:spPr>
        </p:cxnSp>
      </p:grp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FABAD3E5-F3E0-460A-A7CB-0F23696890CB}"/>
              </a:ext>
            </a:extLst>
          </p:cNvPr>
          <p:cNvSpPr/>
          <p:nvPr/>
        </p:nvSpPr>
        <p:spPr>
          <a:xfrm>
            <a:off x="771526" y="972930"/>
            <a:ext cx="6943724" cy="3313319"/>
          </a:xfrm>
          <a:prstGeom prst="rect">
            <a:avLst/>
          </a:prstGeom>
          <a:solidFill>
            <a:srgbClr val="EFF5FB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1B361DE2-C754-44C9-9353-7FAAE3455218}"/>
              </a:ext>
            </a:extLst>
          </p:cNvPr>
          <p:cNvSpPr/>
          <p:nvPr/>
        </p:nvSpPr>
        <p:spPr>
          <a:xfrm>
            <a:off x="1424943" y="3600043"/>
            <a:ext cx="5636890" cy="540527"/>
          </a:xfrm>
          <a:prstGeom prst="roundRect">
            <a:avLst>
              <a:gd name="adj" fmla="val 4213"/>
            </a:avLst>
          </a:prstGeom>
          <a:solidFill>
            <a:schemeClr val="bg1"/>
          </a:solidFill>
          <a:ln w="25400">
            <a:solidFill>
              <a:srgbClr val="4472C4"/>
            </a:solidFill>
          </a:ln>
          <a:effectLst>
            <a:outerShdw blurRad="63500" sx="102000" sy="102000" algn="ctr" rotWithShape="0">
              <a:srgbClr val="BDD7E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0087C8B8-BA4D-46C1-BACB-A5AAA8F02B08}"/>
              </a:ext>
            </a:extLst>
          </p:cNvPr>
          <p:cNvGrpSpPr/>
          <p:nvPr/>
        </p:nvGrpSpPr>
        <p:grpSpPr>
          <a:xfrm>
            <a:off x="1622892" y="1139466"/>
            <a:ext cx="5240992" cy="2265151"/>
            <a:chOff x="584551" y="1168041"/>
            <a:chExt cx="6913228" cy="2987890"/>
          </a:xfrm>
        </p:grpSpPr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31815B25-CB03-4247-96B2-1ED649EECA59}"/>
                </a:ext>
              </a:extLst>
            </p:cNvPr>
            <p:cNvCxnSpPr>
              <a:cxnSpLocks/>
            </p:cNvCxnSpPr>
            <p:nvPr/>
          </p:nvCxnSpPr>
          <p:spPr>
            <a:xfrm>
              <a:off x="3658776" y="1635241"/>
              <a:ext cx="0" cy="543756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  <p:sp>
          <p:nvSpPr>
            <p:cNvPr id="135" name="Line 24">
              <a:extLst>
                <a:ext uri="{FF2B5EF4-FFF2-40B4-BE49-F238E27FC236}">
                  <a16:creationId xmlns:a16="http://schemas.microsoft.com/office/drawing/2014/main" id="{E2127B58-743B-412C-A1FD-23AC36A3D8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2213" y="2803416"/>
              <a:ext cx="330930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136" name="Line 24">
              <a:extLst>
                <a:ext uri="{FF2B5EF4-FFF2-40B4-BE49-F238E27FC236}">
                  <a16:creationId xmlns:a16="http://schemas.microsoft.com/office/drawing/2014/main" id="{F55E3BD3-CFDB-4485-870F-C472911C98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1408" y="2826648"/>
              <a:ext cx="1237298" cy="5864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137" name="Line 24">
              <a:extLst>
                <a:ext uri="{FF2B5EF4-FFF2-40B4-BE49-F238E27FC236}">
                  <a16:creationId xmlns:a16="http://schemas.microsoft.com/office/drawing/2014/main" id="{95F0F545-2543-4EC3-9CE0-D22A3C70F5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1408" y="2132856"/>
              <a:ext cx="1237298" cy="5864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grpSp>
          <p:nvGrpSpPr>
            <p:cNvPr id="138" name="그룹 137">
              <a:extLst>
                <a:ext uri="{FF2B5EF4-FFF2-40B4-BE49-F238E27FC236}">
                  <a16:creationId xmlns:a16="http://schemas.microsoft.com/office/drawing/2014/main" id="{E7BCCACC-2EF6-4307-A577-65CA643B8110}"/>
                </a:ext>
              </a:extLst>
            </p:cNvPr>
            <p:cNvGrpSpPr/>
            <p:nvPr/>
          </p:nvGrpSpPr>
          <p:grpSpPr>
            <a:xfrm>
              <a:off x="917173" y="2708920"/>
              <a:ext cx="1023241" cy="1217823"/>
              <a:chOff x="3182618" y="4520968"/>
              <a:chExt cx="878294" cy="1045313"/>
            </a:xfrm>
          </p:grpSpPr>
          <p:sp>
            <p:nvSpPr>
              <p:cNvPr id="165" name="타원 164">
                <a:extLst>
                  <a:ext uri="{FF2B5EF4-FFF2-40B4-BE49-F238E27FC236}">
                    <a16:creationId xmlns:a16="http://schemas.microsoft.com/office/drawing/2014/main" id="{BE2FEF62-F52F-4025-B0CA-CEB1A1FCDC87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 dirty="0">
                  <a:solidFill>
                    <a:prstClr val="white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endParaRPr>
              </a:p>
            </p:txBody>
          </p:sp>
          <p:pic>
            <p:nvPicPr>
              <p:cNvPr id="166" name="그림 165">
                <a:extLst>
                  <a:ext uri="{FF2B5EF4-FFF2-40B4-BE49-F238E27FC236}">
                    <a16:creationId xmlns:a16="http://schemas.microsoft.com/office/drawing/2014/main" id="{17A89BF6-5338-4C6D-8DE6-6144F41646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28A214E8-F955-4C4A-B27C-CF59E3670D8E}"/>
                </a:ext>
              </a:extLst>
            </p:cNvPr>
            <p:cNvGrpSpPr/>
            <p:nvPr/>
          </p:nvGrpSpPr>
          <p:grpSpPr>
            <a:xfrm>
              <a:off x="917173" y="1168041"/>
              <a:ext cx="1023241" cy="1217823"/>
              <a:chOff x="3182618" y="4520968"/>
              <a:chExt cx="878294" cy="1045313"/>
            </a:xfrm>
          </p:grpSpPr>
          <p:sp>
            <p:nvSpPr>
              <p:cNvPr id="163" name="타원 162">
                <a:extLst>
                  <a:ext uri="{FF2B5EF4-FFF2-40B4-BE49-F238E27FC236}">
                    <a16:creationId xmlns:a16="http://schemas.microsoft.com/office/drawing/2014/main" id="{FB89809A-6C9C-4B25-9837-2F598D5D06D8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164" name="그림 163">
                <a:extLst>
                  <a:ext uri="{FF2B5EF4-FFF2-40B4-BE49-F238E27FC236}">
                    <a16:creationId xmlns:a16="http://schemas.microsoft.com/office/drawing/2014/main" id="{49E50B79-E547-41D4-A3ED-67481E54C0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pic>
          <p:nvPicPr>
            <p:cNvPr id="140" name="그림 139">
              <a:extLst>
                <a:ext uri="{FF2B5EF4-FFF2-40B4-BE49-F238E27FC236}">
                  <a16:creationId xmlns:a16="http://schemas.microsoft.com/office/drawing/2014/main" id="{FCEE1159-EB6A-4142-94D9-E2507A8451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670425" y="2492896"/>
              <a:ext cx="839864" cy="542286"/>
            </a:xfrm>
            <a:prstGeom prst="rect">
              <a:avLst/>
            </a:prstGeom>
          </p:spPr>
        </p:pic>
        <p:pic>
          <p:nvPicPr>
            <p:cNvPr id="141" name="그림 140">
              <a:extLst>
                <a:ext uri="{FF2B5EF4-FFF2-40B4-BE49-F238E27FC236}">
                  <a16:creationId xmlns:a16="http://schemas.microsoft.com/office/drawing/2014/main" id="{59C14581-582E-4999-975F-E4F160620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57915" y="2456037"/>
              <a:ext cx="839864" cy="542286"/>
            </a:xfrm>
            <a:prstGeom prst="rect">
              <a:avLst/>
            </a:prstGeom>
          </p:spPr>
        </p:pic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2411D2C-2F41-4D7E-AFA5-1AD45923A881}"/>
                </a:ext>
              </a:extLst>
            </p:cNvPr>
            <p:cNvSpPr txBox="1"/>
            <p:nvPr/>
          </p:nvSpPr>
          <p:spPr>
            <a:xfrm>
              <a:off x="2024582" y="3468118"/>
              <a:ext cx="2166600" cy="6878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3" algn="ctr" latinLnBrk="0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B4CA2"/>
                </a:buClr>
                <a:buSzPct val="80000"/>
              </a:pPr>
              <a:r>
                <a:rPr lang="ko-KR" altLang="en-US" sz="13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처리</a:t>
              </a:r>
              <a:br>
                <a:rPr lang="en-US" altLang="ko-KR" sz="13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</a:br>
              <a:r>
                <a:rPr lang="en-US" altLang="ko-KR" sz="13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(nodal Processing)</a:t>
              </a:r>
            </a:p>
          </p:txBody>
        </p:sp>
        <p:sp>
          <p:nvSpPr>
            <p:cNvPr id="143" name="Google Shape;5203;p26">
              <a:extLst>
                <a:ext uri="{FF2B5EF4-FFF2-40B4-BE49-F238E27FC236}">
                  <a16:creationId xmlns:a16="http://schemas.microsoft.com/office/drawing/2014/main" id="{2D07F78C-DC2F-445F-9E07-96B6A80DD45B}"/>
                </a:ext>
              </a:extLst>
            </p:cNvPr>
            <p:cNvSpPr/>
            <p:nvPr/>
          </p:nvSpPr>
          <p:spPr>
            <a:xfrm>
              <a:off x="2222084" y="3098329"/>
              <a:ext cx="165600" cy="165600"/>
            </a:xfrm>
            <a:prstGeom prst="rect">
              <a:avLst/>
            </a:prstGeom>
            <a:solidFill>
              <a:schemeClr val="accent4"/>
            </a:solidFill>
            <a:ln w="9525" cap="flat">
              <a:noFill/>
              <a:prstDash val="solid"/>
              <a:miter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" name="Google Shape;5203;p26">
              <a:extLst>
                <a:ext uri="{FF2B5EF4-FFF2-40B4-BE49-F238E27FC236}">
                  <a16:creationId xmlns:a16="http://schemas.microsoft.com/office/drawing/2014/main" id="{46CF7090-BFAB-4F88-BB5B-1C75506BF90B}"/>
                </a:ext>
              </a:extLst>
            </p:cNvPr>
            <p:cNvSpPr/>
            <p:nvPr/>
          </p:nvSpPr>
          <p:spPr>
            <a:xfrm>
              <a:off x="2222084" y="2245091"/>
              <a:ext cx="165600" cy="165600"/>
            </a:xfrm>
            <a:prstGeom prst="rect">
              <a:avLst/>
            </a:prstGeom>
            <a:solidFill>
              <a:srgbClr val="0B9D96"/>
            </a:solidFill>
            <a:ln w="17130" cap="flat">
              <a:noFill/>
              <a:prstDash val="solid"/>
              <a:miter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5" name="Google Shape;5205;p26">
              <a:extLst>
                <a:ext uri="{FF2B5EF4-FFF2-40B4-BE49-F238E27FC236}">
                  <a16:creationId xmlns:a16="http://schemas.microsoft.com/office/drawing/2014/main" id="{DB1BE95C-1D6A-45FB-8061-D560677951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6404" y="3122712"/>
              <a:ext cx="277020" cy="144464"/>
            </a:xfrm>
            <a:prstGeom prst="straightConnector1">
              <a:avLst/>
            </a:prstGeom>
            <a:noFill/>
            <a:ln w="952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6" name="Google Shape;5205;p26">
              <a:extLst>
                <a:ext uri="{FF2B5EF4-FFF2-40B4-BE49-F238E27FC236}">
                  <a16:creationId xmlns:a16="http://schemas.microsoft.com/office/drawing/2014/main" id="{095C30EC-609C-4D2D-9238-2AD9D6F6953E}"/>
                </a:ext>
              </a:extLst>
            </p:cNvPr>
            <p:cNvCxnSpPr>
              <a:cxnSpLocks/>
            </p:cNvCxnSpPr>
            <p:nvPr/>
          </p:nvCxnSpPr>
          <p:spPr>
            <a:xfrm>
              <a:off x="2536404" y="2307006"/>
              <a:ext cx="277020" cy="144464"/>
            </a:xfrm>
            <a:prstGeom prst="straightConnector1">
              <a:avLst/>
            </a:prstGeom>
            <a:noFill/>
            <a:ln w="952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6B64172A-BBE8-49C3-AD83-ECF7385140A1}"/>
                </a:ext>
              </a:extLst>
            </p:cNvPr>
            <p:cNvSpPr txBox="1"/>
            <p:nvPr/>
          </p:nvSpPr>
          <p:spPr>
            <a:xfrm>
              <a:off x="584551" y="1193322"/>
              <a:ext cx="353274" cy="4828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3" algn="ctr" latinLnBrk="0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B4CA2"/>
                </a:buClr>
                <a:buSzPct val="80000"/>
              </a:pP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Abadi" panose="020F0502020204030204" pitchFamily="34" charset="0"/>
                  <a:ea typeface="+mj-ea"/>
                  <a:sym typeface="Arial"/>
                </a:rPr>
                <a:t>A</a:t>
              </a:r>
              <a:endPara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F0502020204030204" pitchFamily="34" charset="0"/>
                <a:ea typeface="+mj-ea"/>
                <a:sym typeface="Arial"/>
              </a:endParaRP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D8F9D739-25B5-454E-B7BE-900E995040BC}"/>
                </a:ext>
              </a:extLst>
            </p:cNvPr>
            <p:cNvSpPr txBox="1"/>
            <p:nvPr/>
          </p:nvSpPr>
          <p:spPr>
            <a:xfrm>
              <a:off x="584551" y="2811613"/>
              <a:ext cx="353274" cy="4828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3" algn="ctr" latinLnBrk="0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B4CA2"/>
                </a:buClr>
                <a:buSzPct val="80000"/>
              </a:pP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Abadi" panose="020F0502020204030204" pitchFamily="34" charset="0"/>
                  <a:ea typeface="+mj-ea"/>
                  <a:sym typeface="Arial"/>
                </a:rPr>
                <a:t>B</a:t>
              </a:r>
              <a:endPara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098983"/>
                </a:solidFill>
                <a:latin typeface="Abadi" panose="020F0502020204030204" pitchFamily="34" charset="0"/>
                <a:ea typeface="+mj-ea"/>
                <a:sym typeface="Arial"/>
              </a:endParaRPr>
            </a:p>
          </p:txBody>
        </p:sp>
        <p:sp>
          <p:nvSpPr>
            <p:cNvPr id="149" name="Google Shape;5203;p26">
              <a:extLst>
                <a:ext uri="{FF2B5EF4-FFF2-40B4-BE49-F238E27FC236}">
                  <a16:creationId xmlns:a16="http://schemas.microsoft.com/office/drawing/2014/main" id="{8C6C2376-495F-47CF-8EAD-50A261DF5C5F}"/>
                </a:ext>
              </a:extLst>
            </p:cNvPr>
            <p:cNvSpPr/>
            <p:nvPr/>
          </p:nvSpPr>
          <p:spPr>
            <a:xfrm>
              <a:off x="3184548" y="2276872"/>
              <a:ext cx="167725" cy="166415"/>
            </a:xfrm>
            <a:prstGeom prst="rect">
              <a:avLst/>
            </a:prstGeom>
            <a:solidFill>
              <a:srgbClr val="0B9D96"/>
            </a:solidFill>
            <a:ln w="17130" cap="flat">
              <a:noFill/>
              <a:prstDash val="solid"/>
              <a:miter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" name="Google Shape;5203;p26">
              <a:extLst>
                <a:ext uri="{FF2B5EF4-FFF2-40B4-BE49-F238E27FC236}">
                  <a16:creationId xmlns:a16="http://schemas.microsoft.com/office/drawing/2014/main" id="{D45CB64E-EDDC-4B8F-B6FF-6018A0C18C55}"/>
                </a:ext>
              </a:extLst>
            </p:cNvPr>
            <p:cNvSpPr/>
            <p:nvPr/>
          </p:nvSpPr>
          <p:spPr>
            <a:xfrm>
              <a:off x="3372399" y="2276872"/>
              <a:ext cx="167725" cy="166415"/>
            </a:xfrm>
            <a:prstGeom prst="rect">
              <a:avLst/>
            </a:prstGeom>
            <a:solidFill>
              <a:schemeClr val="accent4"/>
            </a:solidFill>
            <a:ln w="9525" cap="flat">
              <a:noFill/>
              <a:prstDash val="solid"/>
              <a:miter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" name="Google Shape;5203;p26">
              <a:extLst>
                <a:ext uri="{FF2B5EF4-FFF2-40B4-BE49-F238E27FC236}">
                  <a16:creationId xmlns:a16="http://schemas.microsoft.com/office/drawing/2014/main" id="{59DFA91D-CD5C-4499-BD2D-C58282F2FBB7}"/>
                </a:ext>
              </a:extLst>
            </p:cNvPr>
            <p:cNvSpPr/>
            <p:nvPr/>
          </p:nvSpPr>
          <p:spPr>
            <a:xfrm>
              <a:off x="3563168" y="2245459"/>
              <a:ext cx="167725" cy="166415"/>
            </a:xfrm>
            <a:prstGeom prst="rect">
              <a:avLst/>
            </a:prstGeom>
            <a:solidFill>
              <a:srgbClr val="0B9D96"/>
            </a:solidFill>
            <a:ln w="17130" cap="flat">
              <a:noFill/>
              <a:prstDash val="solid"/>
              <a:miter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" name="타원 151">
              <a:extLst>
                <a:ext uri="{FF2B5EF4-FFF2-40B4-BE49-F238E27FC236}">
                  <a16:creationId xmlns:a16="http://schemas.microsoft.com/office/drawing/2014/main" id="{47598ACF-4527-446B-BDA3-7AE508CF88B1}"/>
                </a:ext>
              </a:extLst>
            </p:cNvPr>
            <p:cNvSpPr/>
            <p:nvPr/>
          </p:nvSpPr>
          <p:spPr>
            <a:xfrm>
              <a:off x="3615743" y="2123979"/>
              <a:ext cx="82985" cy="82985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 dirty="0">
                <a:solidFill>
                  <a:prstClr val="white"/>
                </a:solidFill>
                <a:latin typeface="Abadi" panose="020B0604020104020204" pitchFamily="34" charset="0"/>
                <a:ea typeface="G마켓 산스 TTF Medium" panose="02000000000000000000" pitchFamily="2" charset="-127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F4DD9A9-8145-43D1-BD8C-95EE4685531E}"/>
                </a:ext>
              </a:extLst>
            </p:cNvPr>
            <p:cNvSpPr txBox="1"/>
            <p:nvPr/>
          </p:nvSpPr>
          <p:spPr>
            <a:xfrm>
              <a:off x="3492554" y="1262427"/>
              <a:ext cx="2168033" cy="3907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3" latinLnBrk="0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B4CA2"/>
                </a:buClr>
                <a:buSzPct val="80000"/>
              </a:pPr>
              <a:r>
                <a:rPr lang="ko-KR" altLang="en-US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전송</a:t>
              </a: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(transmission)</a:t>
              </a:r>
            </a:p>
          </p:txBody>
        </p:sp>
        <p:sp>
          <p:nvSpPr>
            <p:cNvPr id="154" name="Google Shape;5203;p26">
              <a:extLst>
                <a:ext uri="{FF2B5EF4-FFF2-40B4-BE49-F238E27FC236}">
                  <a16:creationId xmlns:a16="http://schemas.microsoft.com/office/drawing/2014/main" id="{99844D9D-30C5-4EAB-878A-5C4375762E30}"/>
                </a:ext>
              </a:extLst>
            </p:cNvPr>
            <p:cNvSpPr/>
            <p:nvPr/>
          </p:nvSpPr>
          <p:spPr>
            <a:xfrm>
              <a:off x="5240247" y="2570258"/>
              <a:ext cx="167725" cy="166415"/>
            </a:xfrm>
            <a:prstGeom prst="rect">
              <a:avLst/>
            </a:prstGeom>
            <a:solidFill>
              <a:srgbClr val="0B9D96"/>
            </a:solidFill>
            <a:ln w="17130" cap="flat">
              <a:noFill/>
              <a:prstDash val="solid"/>
              <a:miter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67FA9520-21E6-4491-B836-C583F4FB50C9}"/>
                </a:ext>
              </a:extLst>
            </p:cNvPr>
            <p:cNvSpPr txBox="1"/>
            <p:nvPr/>
          </p:nvSpPr>
          <p:spPr>
            <a:xfrm>
              <a:off x="4271842" y="2205437"/>
              <a:ext cx="2168033" cy="3907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3" algn="ctr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전파</a:t>
              </a: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(propagation)</a:t>
              </a:r>
              <a:endParaRPr lang="en-US" altLang="ko-KR" sz="13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endParaRPr>
            </a:p>
          </p:txBody>
        </p:sp>
        <p:cxnSp>
          <p:nvCxnSpPr>
            <p:cNvPr id="156" name="Google Shape;5205;p26">
              <a:extLst>
                <a:ext uri="{FF2B5EF4-FFF2-40B4-BE49-F238E27FC236}">
                  <a16:creationId xmlns:a16="http://schemas.microsoft.com/office/drawing/2014/main" id="{6B134D53-1044-46F5-BDA9-5D09A170BFB0}"/>
                </a:ext>
              </a:extLst>
            </p:cNvPr>
            <p:cNvCxnSpPr>
              <a:cxnSpLocks/>
            </p:cNvCxnSpPr>
            <p:nvPr/>
          </p:nvCxnSpPr>
          <p:spPr>
            <a:xfrm>
              <a:off x="6269021" y="2389011"/>
              <a:ext cx="396954" cy="0"/>
            </a:xfrm>
            <a:prstGeom prst="straightConnector1">
              <a:avLst/>
            </a:prstGeom>
            <a:noFill/>
            <a:ln w="952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7" name="Google Shape;5205;p26">
              <a:extLst>
                <a:ext uri="{FF2B5EF4-FFF2-40B4-BE49-F238E27FC236}">
                  <a16:creationId xmlns:a16="http://schemas.microsoft.com/office/drawing/2014/main" id="{604312B9-3B7C-46A9-A8FF-15E20ECE2C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8387" y="3413296"/>
              <a:ext cx="889113" cy="0"/>
            </a:xfrm>
            <a:prstGeom prst="straightConnector1">
              <a:avLst/>
            </a:prstGeom>
            <a:noFill/>
            <a:ln w="952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58" name="Google Shape;5205;p26">
              <a:extLst>
                <a:ext uri="{FF2B5EF4-FFF2-40B4-BE49-F238E27FC236}">
                  <a16:creationId xmlns:a16="http://schemas.microsoft.com/office/drawing/2014/main" id="{3B69344C-CE11-4494-8AE7-6EF405F65F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3879" y="2933871"/>
              <a:ext cx="414778" cy="0"/>
            </a:xfrm>
            <a:prstGeom prst="straightConnector1">
              <a:avLst/>
            </a:prstGeom>
            <a:noFill/>
            <a:ln w="952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37BE64A4-DA80-42B6-AB38-981DB798706D}"/>
                </a:ext>
              </a:extLst>
            </p:cNvPr>
            <p:cNvCxnSpPr>
              <a:cxnSpLocks/>
            </p:cNvCxnSpPr>
            <p:nvPr/>
          </p:nvCxnSpPr>
          <p:spPr>
            <a:xfrm>
              <a:off x="3654501" y="2945946"/>
              <a:ext cx="302146" cy="411046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BACD125A-CB6B-470E-8455-FB45A79A2B59}"/>
                </a:ext>
              </a:extLst>
            </p:cNvPr>
            <p:cNvSpPr/>
            <p:nvPr/>
          </p:nvSpPr>
          <p:spPr>
            <a:xfrm>
              <a:off x="3613009" y="2895956"/>
              <a:ext cx="82985" cy="82985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 dirty="0">
                <a:solidFill>
                  <a:prstClr val="white"/>
                </a:solidFill>
                <a:latin typeface="Abadi" panose="020B0604020104020204" pitchFamily="34" charset="0"/>
                <a:ea typeface="G마켓 산스 TTF Medium" panose="020000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14A69508-531C-4BE0-8FC5-8133A4A098DD}"/>
                </a:ext>
              </a:extLst>
            </p:cNvPr>
            <p:cNvSpPr txBox="1"/>
            <p:nvPr/>
          </p:nvSpPr>
          <p:spPr>
            <a:xfrm>
              <a:off x="3966404" y="3206748"/>
              <a:ext cx="2168033" cy="3907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3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큐잉</a:t>
              </a: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  <a:sym typeface="Arial"/>
                </a:rPr>
                <a:t>(queueing)</a:t>
              </a:r>
            </a:p>
          </p:txBody>
        </p:sp>
        <p:cxnSp>
          <p:nvCxnSpPr>
            <p:cNvPr id="162" name="Google Shape;5205;p26">
              <a:extLst>
                <a:ext uri="{FF2B5EF4-FFF2-40B4-BE49-F238E27FC236}">
                  <a16:creationId xmlns:a16="http://schemas.microsoft.com/office/drawing/2014/main" id="{6D0DAAA1-257D-40C8-B5F3-CAF00F6D12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05946" y="2389011"/>
              <a:ext cx="396954" cy="0"/>
            </a:xfrm>
            <a:prstGeom prst="straightConnector1">
              <a:avLst/>
            </a:prstGeom>
            <a:noFill/>
            <a:ln w="952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67" name="Rectangle 3">
            <a:extLst>
              <a:ext uri="{FF2B5EF4-FFF2-40B4-BE49-F238E27FC236}">
                <a16:creationId xmlns:a16="http://schemas.microsoft.com/office/drawing/2014/main" id="{5DBFEC72-2BCD-44E3-A7AB-323CF70BF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0613" y="3565586"/>
            <a:ext cx="4925550" cy="609441"/>
          </a:xfrm>
          <a:prstGeom prst="rect">
            <a:avLst/>
          </a:prstGeom>
          <a:noFill/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r>
              <a:rPr lang="en-US" altLang="ko-KR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d</a:t>
            </a:r>
            <a:r>
              <a:rPr lang="en-US" altLang="ko-KR" baseline="-250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nodal</a:t>
            </a:r>
            <a:r>
              <a:rPr lang="en-US" altLang="ko-KR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 = </a:t>
            </a:r>
            <a:r>
              <a:rPr lang="en-US" altLang="ko-KR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d</a:t>
            </a:r>
            <a:r>
              <a:rPr lang="en-US" altLang="ko-KR" baseline="-250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proc</a:t>
            </a:r>
            <a:r>
              <a:rPr lang="en-US" altLang="ko-KR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 + </a:t>
            </a:r>
            <a:r>
              <a:rPr lang="en-US" altLang="ko-KR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d</a:t>
            </a:r>
            <a:r>
              <a:rPr lang="en-US" altLang="ko-KR" baseline="-250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queue</a:t>
            </a:r>
            <a:r>
              <a:rPr lang="en-US" altLang="ko-KR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 + </a:t>
            </a:r>
            <a:r>
              <a:rPr lang="en-US" altLang="ko-KR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d</a:t>
            </a:r>
            <a:r>
              <a:rPr lang="en-US" altLang="ko-KR" baseline="-250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trans</a:t>
            </a:r>
            <a:r>
              <a:rPr lang="en-US" altLang="ko-KR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 +  </a:t>
            </a:r>
            <a:r>
              <a:rPr lang="en-US" altLang="ko-KR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d</a:t>
            </a:r>
            <a:r>
              <a:rPr lang="en-US" altLang="ko-KR" baseline="-250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F0502020204030204" pitchFamily="34" charset="0"/>
                <a:ea typeface="+mj-ea"/>
              </a:rPr>
              <a:t>prop</a:t>
            </a:r>
            <a:endParaRPr lang="en-US" altLang="ko-KR" baseline="-250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Abadi" panose="020F0502020204030204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9228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879D6FA-1385-4311-A143-25EE963F24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자동차 대열</a:t>
            </a:r>
            <a:r>
              <a:rPr lang="ko-KR" altLang="en-US" dirty="0">
                <a:solidFill>
                  <a:schemeClr val="bg1"/>
                </a:solidFill>
                <a:latin typeface="Abadi" panose="020B0604020104020204" pitchFamily="34" charset="0"/>
                <a:ea typeface="G마켓 산스 TTF Medium" panose="02000000000000000000" pitchFamily="2" charset="-127"/>
              </a:rPr>
              <a:t>의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비유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201FFDC-114D-463C-9FC8-5A562CFA6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6</a:t>
            </a:fld>
            <a:endParaRPr lang="en-US" dirty="0"/>
          </a:p>
        </p:txBody>
      </p:sp>
      <p:pic>
        <p:nvPicPr>
          <p:cNvPr id="4" name="그림 3" descr="밴이(가) 표시된 사진&#10;&#10;자동 생성된 설명">
            <a:extLst>
              <a:ext uri="{FF2B5EF4-FFF2-40B4-BE49-F238E27FC236}">
                <a16:creationId xmlns:a16="http://schemas.microsoft.com/office/drawing/2014/main" id="{1E5E8DE1-AF8D-4F02-A96A-CC046AA61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756" y="1849408"/>
            <a:ext cx="512546" cy="399081"/>
          </a:xfrm>
          <a:prstGeom prst="rect">
            <a:avLst/>
          </a:prstGeom>
        </p:spPr>
      </p:pic>
      <p:pic>
        <p:nvPicPr>
          <p:cNvPr id="5" name="그림 4" descr="밴이(가) 표시된 사진&#10;&#10;자동 생성된 설명">
            <a:extLst>
              <a:ext uri="{FF2B5EF4-FFF2-40B4-BE49-F238E27FC236}">
                <a16:creationId xmlns:a16="http://schemas.microsoft.com/office/drawing/2014/main" id="{4C6F6E5C-314E-462F-A024-692FEE69BB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045" y="1849408"/>
            <a:ext cx="512546" cy="399081"/>
          </a:xfrm>
          <a:prstGeom prst="rect">
            <a:avLst/>
          </a:prstGeom>
        </p:spPr>
      </p:pic>
      <p:pic>
        <p:nvPicPr>
          <p:cNvPr id="6" name="그림 5" descr="밴이(가) 표시된 사진&#10;&#10;자동 생성된 설명">
            <a:extLst>
              <a:ext uri="{FF2B5EF4-FFF2-40B4-BE49-F238E27FC236}">
                <a16:creationId xmlns:a16="http://schemas.microsoft.com/office/drawing/2014/main" id="{28551930-AEE4-4E31-B451-3196725B7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088" y="1849408"/>
            <a:ext cx="512546" cy="39908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6BE40EE-ED5D-4197-9095-9EBB9FDA58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499" y="1484784"/>
            <a:ext cx="783200" cy="741349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21959A5-B782-4CE2-A8E9-DE4BD0104C64}"/>
              </a:ext>
            </a:extLst>
          </p:cNvPr>
          <p:cNvCxnSpPr/>
          <p:nvPr/>
        </p:nvCxnSpPr>
        <p:spPr>
          <a:xfrm>
            <a:off x="1464710" y="2020903"/>
            <a:ext cx="496916" cy="0"/>
          </a:xfrm>
          <a:prstGeom prst="line">
            <a:avLst/>
          </a:prstGeom>
          <a:ln w="28575" cap="rnd">
            <a:solidFill>
              <a:srgbClr val="9EC4E6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346E6CB5-78C0-4EE7-A010-4C07E21D1B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445" y="1484784"/>
            <a:ext cx="783200" cy="741349"/>
          </a:xfrm>
          <a:prstGeom prst="rect">
            <a:avLst/>
          </a:prstGeom>
        </p:spPr>
      </p:pic>
      <p:sp>
        <p:nvSpPr>
          <p:cNvPr id="13" name="Line 51">
            <a:extLst>
              <a:ext uri="{FF2B5EF4-FFF2-40B4-BE49-F238E27FC236}">
                <a16:creationId xmlns:a16="http://schemas.microsoft.com/office/drawing/2014/main" id="{ACCB0BE2-ACDC-43EC-AFCE-0E7DC2890B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6625" y="1811669"/>
            <a:ext cx="2140818" cy="0"/>
          </a:xfrm>
          <a:prstGeom prst="line">
            <a:avLst/>
          </a:prstGeom>
          <a:noFill/>
          <a:ln w="12700" cap="flat" cmpd="sng">
            <a:solidFill>
              <a:schemeClr val="tx2">
                <a:lumMod val="50000"/>
              </a:schemeClr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14" name="Text Box 52">
            <a:extLst>
              <a:ext uri="{FF2B5EF4-FFF2-40B4-BE49-F238E27FC236}">
                <a16:creationId xmlns:a16="http://schemas.microsoft.com/office/drawing/2014/main" id="{4368DE3F-25B3-4962-811D-9920C59AE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9465" y="1636051"/>
            <a:ext cx="1068401" cy="351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100 km</a:t>
            </a:r>
          </a:p>
        </p:txBody>
      </p:sp>
      <p:sp>
        <p:nvSpPr>
          <p:cNvPr id="17" name="Line 55">
            <a:extLst>
              <a:ext uri="{FF2B5EF4-FFF2-40B4-BE49-F238E27FC236}">
                <a16:creationId xmlns:a16="http://schemas.microsoft.com/office/drawing/2014/main" id="{226E883D-E046-4B8F-B631-771B766CE2D1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2286" y="1811669"/>
            <a:ext cx="30194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19" name="Line 51">
            <a:extLst>
              <a:ext uri="{FF2B5EF4-FFF2-40B4-BE49-F238E27FC236}">
                <a16:creationId xmlns:a16="http://schemas.microsoft.com/office/drawing/2014/main" id="{2AF5AEB1-B64D-477E-B17A-53C8776C17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95287" y="1811669"/>
            <a:ext cx="984719" cy="0"/>
          </a:xfrm>
          <a:prstGeom prst="line">
            <a:avLst/>
          </a:prstGeom>
          <a:noFill/>
          <a:ln w="12700" cap="flat" cmpd="sng">
            <a:solidFill>
              <a:schemeClr val="tx2">
                <a:lumMod val="50000"/>
              </a:schemeClr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20" name="Text Box 52">
            <a:extLst>
              <a:ext uri="{FF2B5EF4-FFF2-40B4-BE49-F238E27FC236}">
                <a16:creationId xmlns:a16="http://schemas.microsoft.com/office/drawing/2014/main" id="{33CB1E75-E73C-48C7-B1FD-2E4BB15B1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3735" y="1636051"/>
            <a:ext cx="1068401" cy="351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100 km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250EAEE5-A9E5-4DAF-A749-2F5C260A8CAB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492896"/>
            <a:ext cx="7228284" cy="19503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차는 시속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100km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로 달린다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요금계산소에서 차 한 대를 처리하는데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12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초가 걸린다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(bit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전송 시간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차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~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비트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;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대열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~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패킷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244AEA6-06F5-47AB-9E4F-01E14AE27A72}"/>
              </a:ext>
            </a:extLst>
          </p:cNvPr>
          <p:cNvGrpSpPr/>
          <p:nvPr/>
        </p:nvGrpSpPr>
        <p:grpSpPr>
          <a:xfrm>
            <a:off x="595909" y="3757930"/>
            <a:ext cx="7075256" cy="834151"/>
            <a:chOff x="595909" y="3757930"/>
            <a:chExt cx="7075256" cy="834151"/>
          </a:xfrm>
        </p:grpSpPr>
        <p:sp>
          <p:nvSpPr>
            <p:cNvPr id="23" name="사각형: 잘린 한쪽 모서리 22">
              <a:extLst>
                <a:ext uri="{FF2B5EF4-FFF2-40B4-BE49-F238E27FC236}">
                  <a16:creationId xmlns:a16="http://schemas.microsoft.com/office/drawing/2014/main" id="{EE16E83C-9C6E-4029-9049-3C45F7004566}"/>
                </a:ext>
              </a:extLst>
            </p:cNvPr>
            <p:cNvSpPr/>
            <p:nvPr/>
          </p:nvSpPr>
          <p:spPr>
            <a:xfrm>
              <a:off x="844235" y="3789040"/>
              <a:ext cx="6826930" cy="803041"/>
            </a:xfrm>
            <a:prstGeom prst="snip1Rect">
              <a:avLst>
                <a:gd name="adj" fmla="val 24985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 dirty="0">
                <a:latin typeface="Abadi" panose="020B0604020104020204" pitchFamily="34" charset="0"/>
                <a:sym typeface="Arial"/>
              </a:endParaRPr>
            </a:p>
          </p:txBody>
        </p:sp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E2031D8A-129D-4E99-99B1-8BE5BA2428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5351" y="3847981"/>
              <a:ext cx="5840289" cy="7046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buClr>
                  <a:schemeClr val="accent2"/>
                </a:buClr>
                <a:buSzPct val="85000"/>
              </a:pP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Abadi" panose="020F0502020204030204" pitchFamily="34" charset="0"/>
                  <a:ea typeface="+mj-ea"/>
                  <a:cs typeface="+mj-cs"/>
                </a:rPr>
                <a:t>2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Abadi" panose="020F0502020204030204" pitchFamily="34" charset="0"/>
                  <a:ea typeface="+mj-ea"/>
                  <a:cs typeface="+mj-cs"/>
                </a:rPr>
                <a:t>번째 요금계산소 앞에 차들이 늘어설 때까지 얼마나 걸리는가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Abadi" panose="020F0502020204030204" pitchFamily="34" charset="0"/>
                  <a:ea typeface="+mj-ea"/>
                  <a:cs typeface="+mj-cs"/>
                </a:rPr>
                <a:t>? </a:t>
              </a:r>
              <a:b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Abadi" panose="020F0502020204030204" pitchFamily="34" charset="0"/>
                  <a:ea typeface="+mj-ea"/>
                  <a:cs typeface="+mj-cs"/>
                </a:rPr>
              </a:b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Abadi" panose="020F0502020204030204" pitchFamily="34" charset="0"/>
                  <a:ea typeface="+mj-ea"/>
                  <a:cs typeface="+mj-cs"/>
                </a:rPr>
                <a:t>(</a:t>
              </a: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Abadi" panose="020F0502020204030204" pitchFamily="34" charset="0"/>
                  <a:ea typeface="+mj-ea"/>
                  <a:cs typeface="+mj-cs"/>
                </a:rPr>
                <a:t>대열이 모두 도착해야 처리 시작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Abadi" panose="020F0502020204030204" pitchFamily="34" charset="0"/>
                  <a:ea typeface="+mj-ea"/>
                  <a:cs typeface="+mj-cs"/>
                </a:rPr>
                <a:t>)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46C373E7-2941-45AB-A554-FD9F5AF495FA}"/>
                </a:ext>
              </a:extLst>
            </p:cNvPr>
            <p:cNvGrpSpPr/>
            <p:nvPr/>
          </p:nvGrpSpPr>
          <p:grpSpPr>
            <a:xfrm>
              <a:off x="595909" y="3757930"/>
              <a:ext cx="507687" cy="593792"/>
              <a:chOff x="595909" y="5784951"/>
              <a:chExt cx="507687" cy="593792"/>
            </a:xfrm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6A3DD701-C6DD-4A93-8D7A-228A89901C48}"/>
                  </a:ext>
                </a:extLst>
              </p:cNvPr>
              <p:cNvSpPr/>
              <p:nvPr/>
            </p:nvSpPr>
            <p:spPr>
              <a:xfrm>
                <a:off x="693394" y="6294322"/>
                <a:ext cx="314384" cy="84421"/>
              </a:xfrm>
              <a:prstGeom prst="ellipse">
                <a:avLst/>
              </a:prstGeom>
              <a:solidFill>
                <a:srgbClr val="DCF5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badi" panose="020B0604020104020204" pitchFamily="34" charset="0"/>
                </a:endParaRPr>
              </a:p>
            </p:txBody>
          </p:sp>
          <p:pic>
            <p:nvPicPr>
              <p:cNvPr id="27" name="그래픽 26">
                <a:extLst>
                  <a:ext uri="{FF2B5EF4-FFF2-40B4-BE49-F238E27FC236}">
                    <a16:creationId xmlns:a16="http://schemas.microsoft.com/office/drawing/2014/main" id="{421ABE37-1418-4CF3-9D3D-AE781EED70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5400000">
                <a:off x="572859" y="5816110"/>
                <a:ext cx="558670" cy="502804"/>
              </a:xfrm>
              <a:prstGeom prst="rect">
                <a:avLst/>
              </a:prstGeom>
            </p:spPr>
          </p:pic>
          <p:sp>
            <p:nvSpPr>
              <p:cNvPr id="28" name="Rectangle 5">
                <a:extLst>
                  <a:ext uri="{FF2B5EF4-FFF2-40B4-BE49-F238E27FC236}">
                    <a16:creationId xmlns:a16="http://schemas.microsoft.com/office/drawing/2014/main" id="{D1D1B4CE-7ED0-4717-94E2-E1A2F6BD2B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909" y="5784951"/>
                <a:ext cx="498162" cy="5070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30000"/>
                  </a:lnSpc>
                  <a:buClr>
                    <a:schemeClr val="accent2"/>
                  </a:buClr>
                  <a:buSzPct val="85000"/>
                </a:pPr>
                <a:r>
                  <a:rPr lang="en-US" altLang="ko-KR" sz="2200" dirty="0">
                    <a:ln>
                      <a:solidFill>
                        <a:srgbClr val="AF3C5E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Abadi" panose="020F0502020204030204" pitchFamily="34" charset="0"/>
                    <a:ea typeface="+mj-ea"/>
                    <a:cs typeface="+mj-cs"/>
                  </a:rPr>
                  <a:t>Q</a:t>
                </a:r>
                <a:endParaRPr lang="en-US" altLang="ko-KR" sz="2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badi" panose="020F0502020204030204" pitchFamily="34" charset="0"/>
                  <a:ea typeface="+mj-ea"/>
                </a:endParaRPr>
              </a:p>
            </p:txBody>
          </p:sp>
        </p:grpSp>
      </p:grpSp>
      <p:sp>
        <p:nvSpPr>
          <p:cNvPr id="29" name="Rectangle 3">
            <a:extLst>
              <a:ext uri="{FF2B5EF4-FFF2-40B4-BE49-F238E27FC236}">
                <a16:creationId xmlns:a16="http://schemas.microsoft.com/office/drawing/2014/main" id="{752609C6-C0FF-4D69-8CE8-D0AB3DCD84EE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4907672"/>
            <a:ext cx="7708344" cy="853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요금계산소에서 전체 대열을 고속도로로 “밀어내는” 데 걸리는 시간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= 12*10 = 120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초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마지막 차가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번에서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2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번 계산소까지 가는 시간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100km/(100km/</a:t>
            </a:r>
            <a:r>
              <a:rPr lang="en-US" altLang="ko-KR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hr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)= 1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시간</a:t>
            </a: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A1FC4DE1-92EA-4287-A215-284BCD781B49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5733256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6"/>
              </a:buBlip>
            </a:pPr>
            <a:r>
              <a:rPr lang="en-US" altLang="ko-KR" sz="18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A : 62 minutes</a:t>
            </a:r>
          </a:p>
        </p:txBody>
      </p:sp>
      <p:sp>
        <p:nvSpPr>
          <p:cNvPr id="31" name="오른쪽 중괄호 30">
            <a:extLst>
              <a:ext uri="{FF2B5EF4-FFF2-40B4-BE49-F238E27FC236}">
                <a16:creationId xmlns:a16="http://schemas.microsoft.com/office/drawing/2014/main" id="{7A795264-2DFC-4710-B72B-DB6775900106}"/>
              </a:ext>
            </a:extLst>
          </p:cNvPr>
          <p:cNvSpPr/>
          <p:nvPr/>
        </p:nvSpPr>
        <p:spPr>
          <a:xfrm rot="16200000">
            <a:off x="1836420" y="539904"/>
            <a:ext cx="281940" cy="2171700"/>
          </a:xfrm>
          <a:prstGeom prst="rightBrace">
            <a:avLst>
              <a:gd name="adj1" fmla="val 37745"/>
              <a:gd name="adj2" fmla="val 50000"/>
            </a:avLst>
          </a:prstGeom>
          <a:ln w="19050">
            <a:solidFill>
              <a:srgbClr val="105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154E97-99F7-4659-B19E-33F150EC0321}"/>
              </a:ext>
            </a:extLst>
          </p:cNvPr>
          <p:cNvSpPr txBox="1"/>
          <p:nvPr/>
        </p:nvSpPr>
        <p:spPr>
          <a:xfrm>
            <a:off x="1274445" y="1124744"/>
            <a:ext cx="142303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10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대의 차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545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879D6FA-1385-4311-A143-25EE963F24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자동차 대열</a:t>
            </a:r>
            <a:r>
              <a:rPr lang="ko-KR" altLang="en-US" dirty="0">
                <a:solidFill>
                  <a:schemeClr val="bg1"/>
                </a:solidFill>
                <a:latin typeface="Abadi" panose="020B0604020104020204" pitchFamily="34" charset="0"/>
                <a:ea typeface="G마켓 산스 TTF Medium" panose="02000000000000000000" pitchFamily="2" charset="-127"/>
              </a:rPr>
              <a:t>의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비유</a:t>
            </a:r>
            <a:r>
              <a:rPr lang="en-US" altLang="ko-KR" dirty="0">
                <a:solidFill>
                  <a:schemeClr val="bg1"/>
                </a:solidFill>
              </a:rPr>
              <a:t>(more)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201FFDC-114D-463C-9FC8-5A562CFA6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250EAEE5-A9E5-4DAF-A749-2F5C260A8CAB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492896"/>
            <a:ext cx="7228284" cy="19503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만약 차가 시속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1000 km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로 달린다면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그리고 요금계산소에서 한 대 처리에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분이 걸린다면</a:t>
            </a:r>
          </a:p>
        </p:txBody>
      </p:sp>
      <p:sp>
        <p:nvSpPr>
          <p:cNvPr id="23" name="사각형: 잘린 한쪽 모서리 22">
            <a:extLst>
              <a:ext uri="{FF2B5EF4-FFF2-40B4-BE49-F238E27FC236}">
                <a16:creationId xmlns:a16="http://schemas.microsoft.com/office/drawing/2014/main" id="{EE16E83C-9C6E-4029-9049-3C45F7004566}"/>
              </a:ext>
            </a:extLst>
          </p:cNvPr>
          <p:cNvSpPr/>
          <p:nvPr/>
        </p:nvSpPr>
        <p:spPr>
          <a:xfrm>
            <a:off x="844234" y="3542651"/>
            <a:ext cx="7412353" cy="520722"/>
          </a:xfrm>
          <a:prstGeom prst="snip1Rect">
            <a:avLst>
              <a:gd name="adj" fmla="val 24985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 dirty="0">
              <a:latin typeface="Abadi" panose="020B0604020104020204" pitchFamily="34" charset="0"/>
              <a:sym typeface="Arial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E2031D8A-129D-4E99-99B1-8BE5BA242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351" y="3606580"/>
            <a:ext cx="6887167" cy="383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Abadi" panose="020B0604020104020204" pitchFamily="34" charset="0"/>
                <a:ea typeface="+mj-ea"/>
                <a:cs typeface="+mj-cs"/>
              </a:rPr>
              <a:t>1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Abadi" panose="020B0604020104020204" pitchFamily="34" charset="0"/>
                <a:ea typeface="+mj-ea"/>
                <a:cs typeface="+mj-cs"/>
              </a:rPr>
              <a:t>번 계산소에서 모든 차가 처리되기도 전에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Abadi" panose="020B0604020104020204" pitchFamily="34" charset="0"/>
                <a:ea typeface="+mj-ea"/>
                <a:cs typeface="+mj-cs"/>
              </a:rPr>
              <a:t>2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Abadi" panose="020B0604020104020204" pitchFamily="34" charset="0"/>
                <a:ea typeface="+mj-ea"/>
                <a:cs typeface="+mj-cs"/>
              </a:rPr>
              <a:t>번 계산소에 차들이 도착할까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Abadi" panose="020B0604020104020204" pitchFamily="34" charset="0"/>
                <a:ea typeface="+mj-ea"/>
                <a:cs typeface="+mj-cs"/>
              </a:rPr>
              <a:t>?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6C373E7-2941-45AB-A554-FD9F5AF495FA}"/>
              </a:ext>
            </a:extLst>
          </p:cNvPr>
          <p:cNvGrpSpPr/>
          <p:nvPr/>
        </p:nvGrpSpPr>
        <p:grpSpPr>
          <a:xfrm>
            <a:off x="595909" y="3511540"/>
            <a:ext cx="507687" cy="593792"/>
            <a:chOff x="595909" y="5784951"/>
            <a:chExt cx="507687" cy="593792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6A3DD701-C6DD-4A93-8D7A-228A89901C48}"/>
                </a:ext>
              </a:extLst>
            </p:cNvPr>
            <p:cNvSpPr/>
            <p:nvPr/>
          </p:nvSpPr>
          <p:spPr>
            <a:xfrm>
              <a:off x="693394" y="6294322"/>
              <a:ext cx="314384" cy="84421"/>
            </a:xfrm>
            <a:prstGeom prst="ellipse">
              <a:avLst/>
            </a:prstGeom>
            <a:solidFill>
              <a:srgbClr val="DCF5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badi" panose="020B0604020104020204" pitchFamily="34" charset="0"/>
              </a:endParaRPr>
            </a:p>
          </p:txBody>
        </p:sp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421ABE37-1418-4CF3-9D3D-AE781EED70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572859" y="5816110"/>
              <a:ext cx="558670" cy="502804"/>
            </a:xfrm>
            <a:prstGeom prst="rect">
              <a:avLst/>
            </a:prstGeom>
          </p:spPr>
        </p:pic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D1D1B4CE-7ED0-4717-94E2-E1A2F6BD2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909" y="5784951"/>
              <a:ext cx="498162" cy="507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buClr>
                  <a:schemeClr val="accent2"/>
                </a:buClr>
                <a:buSzPct val="85000"/>
              </a:pPr>
              <a:r>
                <a:rPr lang="en-US" altLang="ko-KR" sz="22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badi" panose="020B0604020104020204" pitchFamily="34" charset="0"/>
                  <a:ea typeface="+mj-ea"/>
                  <a:cs typeface="+mj-cs"/>
                </a:rPr>
                <a:t>Q</a:t>
              </a:r>
              <a:endParaRPr lang="en-US" altLang="ko-KR" sz="2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Abadi" panose="020B0604020104020204" pitchFamily="34" charset="0"/>
                <a:ea typeface="+mj-ea"/>
              </a:endParaRPr>
            </a:p>
          </p:txBody>
        </p:sp>
      </p:grpSp>
      <p:sp>
        <p:nvSpPr>
          <p:cNvPr id="30" name="Rectangle 3">
            <a:extLst>
              <a:ext uri="{FF2B5EF4-FFF2-40B4-BE49-F238E27FC236}">
                <a16:creationId xmlns:a16="http://schemas.microsoft.com/office/drawing/2014/main" id="{A1FC4DE1-92EA-4287-A215-284BCD781B49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4305285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en-US" altLang="ko-KR" sz="16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A : </a:t>
            </a:r>
            <a:r>
              <a:rPr lang="ko-KR" altLang="en-US" sz="16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그렇다</a:t>
            </a:r>
            <a:r>
              <a:rPr lang="en-US" altLang="ko-KR" sz="1600" u="sng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!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7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분 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,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선두차가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2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번 계산소에 도착한다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.</a:t>
            </a:r>
            <a:b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</a:b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     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그런데 세 대의 차는 아직도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1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번 계산소에 있다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.</a:t>
            </a:r>
          </a:p>
        </p:txBody>
      </p:sp>
      <p:pic>
        <p:nvPicPr>
          <p:cNvPr id="31" name="그림 30" descr="밴이(가) 표시된 사진&#10;&#10;자동 생성된 설명">
            <a:extLst>
              <a:ext uri="{FF2B5EF4-FFF2-40B4-BE49-F238E27FC236}">
                <a16:creationId xmlns:a16="http://schemas.microsoft.com/office/drawing/2014/main" id="{6653C660-FBEB-4A95-A430-D632C89FE1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756" y="1849408"/>
            <a:ext cx="512546" cy="399081"/>
          </a:xfrm>
          <a:prstGeom prst="rect">
            <a:avLst/>
          </a:prstGeom>
        </p:spPr>
      </p:pic>
      <p:pic>
        <p:nvPicPr>
          <p:cNvPr id="32" name="그림 31" descr="밴이(가) 표시된 사진&#10;&#10;자동 생성된 설명">
            <a:extLst>
              <a:ext uri="{FF2B5EF4-FFF2-40B4-BE49-F238E27FC236}">
                <a16:creationId xmlns:a16="http://schemas.microsoft.com/office/drawing/2014/main" id="{85230E0E-43E9-4B95-A033-F2C298794E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045" y="1849408"/>
            <a:ext cx="512546" cy="399081"/>
          </a:xfrm>
          <a:prstGeom prst="rect">
            <a:avLst/>
          </a:prstGeom>
        </p:spPr>
      </p:pic>
      <p:pic>
        <p:nvPicPr>
          <p:cNvPr id="33" name="그림 32" descr="밴이(가) 표시된 사진&#10;&#10;자동 생성된 설명">
            <a:extLst>
              <a:ext uri="{FF2B5EF4-FFF2-40B4-BE49-F238E27FC236}">
                <a16:creationId xmlns:a16="http://schemas.microsoft.com/office/drawing/2014/main" id="{E9FB7CC3-1AC1-4445-ADA7-27F323CE31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088" y="1849408"/>
            <a:ext cx="512546" cy="399081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1137B6DF-7C49-4068-A138-05564C3986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499" y="1484784"/>
            <a:ext cx="783200" cy="741349"/>
          </a:xfrm>
          <a:prstGeom prst="rect">
            <a:avLst/>
          </a:prstGeom>
        </p:spPr>
      </p:pic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B8BED6AD-E932-4E49-8B4C-C693E3A5BFB2}"/>
              </a:ext>
            </a:extLst>
          </p:cNvPr>
          <p:cNvCxnSpPr/>
          <p:nvPr/>
        </p:nvCxnSpPr>
        <p:spPr>
          <a:xfrm>
            <a:off x="1464710" y="2020903"/>
            <a:ext cx="496916" cy="0"/>
          </a:xfrm>
          <a:prstGeom prst="line">
            <a:avLst/>
          </a:prstGeom>
          <a:ln w="28575" cap="rnd">
            <a:solidFill>
              <a:srgbClr val="9EC4E6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그림 35">
            <a:extLst>
              <a:ext uri="{FF2B5EF4-FFF2-40B4-BE49-F238E27FC236}">
                <a16:creationId xmlns:a16="http://schemas.microsoft.com/office/drawing/2014/main" id="{72DCA6C6-5AA0-489D-B69D-BE3A9FCF0F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445" y="1484784"/>
            <a:ext cx="783200" cy="741349"/>
          </a:xfrm>
          <a:prstGeom prst="rect">
            <a:avLst/>
          </a:prstGeom>
        </p:spPr>
      </p:pic>
      <p:sp>
        <p:nvSpPr>
          <p:cNvPr id="37" name="Line 51">
            <a:extLst>
              <a:ext uri="{FF2B5EF4-FFF2-40B4-BE49-F238E27FC236}">
                <a16:creationId xmlns:a16="http://schemas.microsoft.com/office/drawing/2014/main" id="{DB179F58-8C41-481B-86F9-C8D3285767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6625" y="1811669"/>
            <a:ext cx="2140818" cy="0"/>
          </a:xfrm>
          <a:prstGeom prst="line">
            <a:avLst/>
          </a:prstGeom>
          <a:noFill/>
          <a:ln w="12700" cap="flat" cmpd="sng">
            <a:solidFill>
              <a:schemeClr val="tx2">
                <a:lumMod val="50000"/>
              </a:schemeClr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38" name="Text Box 52">
            <a:extLst>
              <a:ext uri="{FF2B5EF4-FFF2-40B4-BE49-F238E27FC236}">
                <a16:creationId xmlns:a16="http://schemas.microsoft.com/office/drawing/2014/main" id="{2C9342D6-6D5C-4A27-BE43-3EF203E35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9465" y="1636051"/>
            <a:ext cx="1068401" cy="351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100 km</a:t>
            </a:r>
          </a:p>
        </p:txBody>
      </p:sp>
      <p:sp>
        <p:nvSpPr>
          <p:cNvPr id="39" name="Line 55">
            <a:extLst>
              <a:ext uri="{FF2B5EF4-FFF2-40B4-BE49-F238E27FC236}">
                <a16:creationId xmlns:a16="http://schemas.microsoft.com/office/drawing/2014/main" id="{28692DA3-AFE2-4E44-981A-F71C2EF3AFFA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2286" y="1811669"/>
            <a:ext cx="30194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40" name="Line 51">
            <a:extLst>
              <a:ext uri="{FF2B5EF4-FFF2-40B4-BE49-F238E27FC236}">
                <a16:creationId xmlns:a16="http://schemas.microsoft.com/office/drawing/2014/main" id="{DF94D78D-46F9-4DBB-9921-6857BFB1E6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95287" y="1811669"/>
            <a:ext cx="984719" cy="0"/>
          </a:xfrm>
          <a:prstGeom prst="line">
            <a:avLst/>
          </a:prstGeom>
          <a:noFill/>
          <a:ln w="12700" cap="flat" cmpd="sng">
            <a:solidFill>
              <a:schemeClr val="tx2">
                <a:lumMod val="50000"/>
              </a:schemeClr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41" name="Text Box 52">
            <a:extLst>
              <a:ext uri="{FF2B5EF4-FFF2-40B4-BE49-F238E27FC236}">
                <a16:creationId xmlns:a16="http://schemas.microsoft.com/office/drawing/2014/main" id="{F9465B07-6E22-47B7-85AE-ABDD05FC5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3735" y="1636051"/>
            <a:ext cx="1068401" cy="3512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100 km</a:t>
            </a:r>
          </a:p>
        </p:txBody>
      </p:sp>
      <p:sp>
        <p:nvSpPr>
          <p:cNvPr id="42" name="오른쪽 중괄호 41">
            <a:extLst>
              <a:ext uri="{FF2B5EF4-FFF2-40B4-BE49-F238E27FC236}">
                <a16:creationId xmlns:a16="http://schemas.microsoft.com/office/drawing/2014/main" id="{33F5A17F-0233-40C7-8F57-B8B2AD49A859}"/>
              </a:ext>
            </a:extLst>
          </p:cNvPr>
          <p:cNvSpPr/>
          <p:nvPr/>
        </p:nvSpPr>
        <p:spPr>
          <a:xfrm rot="16200000">
            <a:off x="1836420" y="539904"/>
            <a:ext cx="281940" cy="2171700"/>
          </a:xfrm>
          <a:prstGeom prst="rightBrace">
            <a:avLst>
              <a:gd name="adj1" fmla="val 37745"/>
              <a:gd name="adj2" fmla="val 50000"/>
            </a:avLst>
          </a:prstGeom>
          <a:ln w="19050">
            <a:solidFill>
              <a:srgbClr val="105B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64C49D-9AB0-45DE-BFFA-A79DFA109C6E}"/>
              </a:ext>
            </a:extLst>
          </p:cNvPr>
          <p:cNvSpPr txBox="1"/>
          <p:nvPr/>
        </p:nvSpPr>
        <p:spPr>
          <a:xfrm>
            <a:off x="1274445" y="1124744"/>
            <a:ext cx="142303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10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대의 차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1806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25D8ABA-C910-4FA1-AC76-D6E405F460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큐잉지연</a:t>
            </a:r>
            <a:r>
              <a:rPr lang="ko-KR" altLang="en-US" dirty="0"/>
              <a:t> </a:t>
            </a:r>
            <a:r>
              <a:rPr lang="en-US" altLang="ko-KR" dirty="0"/>
              <a:t>(revisited)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5A36EAE-D420-4DBC-B832-323B6BA7B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8</a:t>
            </a:fld>
            <a:endParaRPr lang="en-US" dirty="0"/>
          </a:p>
        </p:txBody>
      </p:sp>
      <p:pic>
        <p:nvPicPr>
          <p:cNvPr id="4" name="Picture 60" descr="queueDelay">
            <a:extLst>
              <a:ext uri="{FF2B5EF4-FFF2-40B4-BE49-F238E27FC236}">
                <a16:creationId xmlns:a16="http://schemas.microsoft.com/office/drawing/2014/main" id="{0AD6BCF8-8713-4075-A244-9E648C8AF6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9653" r="9653"/>
          <a:stretch/>
        </p:blipFill>
        <p:spPr bwMode="auto">
          <a:xfrm>
            <a:off x="934323" y="1124745"/>
            <a:ext cx="3406525" cy="259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61">
            <a:extLst>
              <a:ext uri="{FF2B5EF4-FFF2-40B4-BE49-F238E27FC236}">
                <a16:creationId xmlns:a16="http://schemas.microsoft.com/office/drawing/2014/main" id="{975C2D6B-43FE-464A-8BD1-36382E68B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664" y="3398520"/>
            <a:ext cx="2227962" cy="5048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lnSpc>
                <a:spcPct val="120000"/>
              </a:lnSpc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traffic intensity = La/R</a:t>
            </a:r>
          </a:p>
        </p:txBody>
      </p:sp>
      <p:sp>
        <p:nvSpPr>
          <p:cNvPr id="7" name="Rectangle 61">
            <a:extLst>
              <a:ext uri="{FF2B5EF4-FFF2-40B4-BE49-F238E27FC236}">
                <a16:creationId xmlns:a16="http://schemas.microsoft.com/office/drawing/2014/main" id="{258AB3A5-0912-4C03-8420-A5B619B35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" y="955020"/>
            <a:ext cx="1965960" cy="63549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accent2"/>
              </a:buClr>
              <a:buSzPct val="85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Average </a:t>
            </a:r>
            <a:b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</a:b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queueing delay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9ABE0EA-2B9B-4AEC-AA59-883329C7846E}"/>
              </a:ext>
            </a:extLst>
          </p:cNvPr>
          <p:cNvSpPr txBox="1">
            <a:spLocks noChangeArrowheads="1"/>
          </p:cNvSpPr>
          <p:nvPr/>
        </p:nvSpPr>
        <p:spPr>
          <a:xfrm>
            <a:off x="4163616" y="1700808"/>
            <a:ext cx="3540204" cy="1556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 :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링크 대역폭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(bps)</a:t>
            </a:r>
          </a:p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L :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패킷 길이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(bits)</a:t>
            </a:r>
          </a:p>
          <a:p>
            <a:pPr marL="216000" lvl="2" indent="-21600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 :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평균 패킷 </a:t>
            </a:r>
            <a:r>
              <a:rPr lang="ko-KR" altLang="en-US" sz="16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도착률</a:t>
            </a:r>
            <a:endParaRPr lang="ko-KR" altLang="en-US" sz="16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C1FA282-2073-45AF-97DB-44933A529C73}"/>
              </a:ext>
            </a:extLst>
          </p:cNvPr>
          <p:cNvSpPr txBox="1">
            <a:spLocks noChangeArrowheads="1"/>
          </p:cNvSpPr>
          <p:nvPr/>
        </p:nvSpPr>
        <p:spPr>
          <a:xfrm>
            <a:off x="4163616" y="4238992"/>
            <a:ext cx="397867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La/R ~ 0 :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평균 </a:t>
            </a:r>
            <a:r>
              <a:rPr lang="ko-KR" altLang="en-US" sz="16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큐잉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지연이 작음</a:t>
            </a:r>
          </a:p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La/R → 1 :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평균 </a:t>
            </a:r>
            <a:r>
              <a:rPr lang="ko-KR" altLang="en-US" sz="16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큐잉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지연이 커짐</a:t>
            </a:r>
          </a:p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La/R &gt; 1 :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서비스할 수 있는 이상의 </a:t>
            </a:r>
            <a:b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           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“작업이” 도착하므로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b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            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평균지연은 무한대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BA95C0-4671-42BA-BE68-14812AE602FB}"/>
              </a:ext>
            </a:extLst>
          </p:cNvPr>
          <p:cNvSpPr txBox="1"/>
          <p:nvPr/>
        </p:nvSpPr>
        <p:spPr>
          <a:xfrm>
            <a:off x="673656" y="6178689"/>
            <a:ext cx="61150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* Check online interactive animation on queuing and loss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CBA52FE-0292-4702-875A-1070AADA3DEF}"/>
              </a:ext>
            </a:extLst>
          </p:cNvPr>
          <p:cNvGrpSpPr/>
          <p:nvPr/>
        </p:nvGrpSpPr>
        <p:grpSpPr>
          <a:xfrm>
            <a:off x="911424" y="3962772"/>
            <a:ext cx="3102928" cy="2073756"/>
            <a:chOff x="4827329" y="3148266"/>
            <a:chExt cx="3102928" cy="2073756"/>
          </a:xfrm>
        </p:grpSpPr>
        <p:pic>
          <p:nvPicPr>
            <p:cNvPr id="12" name="Picture 13">
              <a:extLst>
                <a:ext uri="{FF2B5EF4-FFF2-40B4-BE49-F238E27FC236}">
                  <a16:creationId xmlns:a16="http://schemas.microsoft.com/office/drawing/2014/main" id="{843CB302-D018-46B6-876C-A151FBEBB2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384032" y="3609658"/>
              <a:ext cx="1546225" cy="12398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" name="Picture 14">
              <a:extLst>
                <a:ext uri="{FF2B5EF4-FFF2-40B4-BE49-F238E27FC236}">
                  <a16:creationId xmlns:a16="http://schemas.microsoft.com/office/drawing/2014/main" id="{AF121F87-A4E8-4C07-9E6A-D04F8E2568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827329" y="3501008"/>
              <a:ext cx="1481138" cy="1117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Text Box 15">
              <a:extLst>
                <a:ext uri="{FF2B5EF4-FFF2-40B4-BE49-F238E27FC236}">
                  <a16:creationId xmlns:a16="http://schemas.microsoft.com/office/drawing/2014/main" id="{0858CA50-DAF1-4B02-9296-662841C60E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4739" y="3148266"/>
              <a:ext cx="1066318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La/R ~ 0</a:t>
              </a:r>
            </a:p>
          </p:txBody>
        </p: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EBF3AD01-82E6-4B13-89B8-58335AF550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97536" y="4883468"/>
              <a:ext cx="1119217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6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La/R → 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0973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Line 261">
            <a:extLst>
              <a:ext uri="{FF2B5EF4-FFF2-40B4-BE49-F238E27FC236}">
                <a16:creationId xmlns:a16="http://schemas.microsoft.com/office/drawing/2014/main" id="{92149BAC-4483-4961-B08B-F2F207308A5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4367" y="5357126"/>
            <a:ext cx="581759" cy="290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943DBF8-974C-469E-B61A-699623B15B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“실제의” </a:t>
            </a:r>
            <a:r>
              <a:rPr lang="ko-KR" altLang="en-US" dirty="0">
                <a:solidFill>
                  <a:schemeClr val="bg1"/>
                </a:solidFill>
              </a:rPr>
              <a:t>인터넷 지연과 경로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A15F11B-4211-470B-A99A-95522F1FA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D04B9F-3ECB-4FB4-B151-2BCC5786632D}"/>
              </a:ext>
            </a:extLst>
          </p:cNvPr>
          <p:cNvSpPr txBox="1">
            <a:spLocks noChangeArrowheads="1"/>
          </p:cNvSpPr>
          <p:nvPr/>
        </p:nvSpPr>
        <p:spPr>
          <a:xfrm>
            <a:off x="602632" y="1078722"/>
            <a:ext cx="7813396" cy="13977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“실제의” 인터넷 지연과 손실은 </a:t>
            </a:r>
            <a:r>
              <a:rPr lang="ko-KR" altLang="en-US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어떠한가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? </a:t>
            </a:r>
          </a:p>
          <a:p>
            <a:pPr marL="216000" lvl="2" indent="-216000" latinLnBrk="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traceroute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프로그램 </a:t>
            </a:r>
            <a:b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</a:b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측에서 수신 측에 가는 경로상의 각 라우터들까지의 지연을 측정하여 제공한다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984AFDE-61CC-47DF-BF59-751EA9539B11}"/>
              </a:ext>
            </a:extLst>
          </p:cNvPr>
          <p:cNvSpPr txBox="1">
            <a:spLocks noChangeArrowheads="1"/>
          </p:cNvSpPr>
          <p:nvPr/>
        </p:nvSpPr>
        <p:spPr>
          <a:xfrm>
            <a:off x="982663" y="2996952"/>
            <a:ext cx="5659677" cy="10581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측까지 가는 경로상의 라우터 </a:t>
            </a:r>
            <a:r>
              <a:rPr lang="en-US" altLang="ko-KR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i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까지 가는 패킷을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3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개 보낸다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라우터 </a:t>
            </a:r>
            <a:r>
              <a:rPr lang="en-US" altLang="ko-KR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i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는 패킷을 송신 측에 되돌려 보낸다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측은 전송에서 응답까지의 시간을 측정한다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  <p:sp>
        <p:nvSpPr>
          <p:cNvPr id="6" name="사각형: 잘린 한쪽 모서리 5">
            <a:extLst>
              <a:ext uri="{FF2B5EF4-FFF2-40B4-BE49-F238E27FC236}">
                <a16:creationId xmlns:a16="http://schemas.microsoft.com/office/drawing/2014/main" id="{7CA96E5B-C037-4E48-ABBA-3AB0F5D5F9C0}"/>
              </a:ext>
            </a:extLst>
          </p:cNvPr>
          <p:cNvSpPr/>
          <p:nvPr/>
        </p:nvSpPr>
        <p:spPr>
          <a:xfrm>
            <a:off x="658813" y="2484260"/>
            <a:ext cx="1596707" cy="391715"/>
          </a:xfrm>
          <a:prstGeom prst="snip1Rect">
            <a:avLst>
              <a:gd name="adj" fmla="val 2816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7" name="텍스트 개체 틀 19">
            <a:extLst>
              <a:ext uri="{FF2B5EF4-FFF2-40B4-BE49-F238E27FC236}">
                <a16:creationId xmlns:a16="http://schemas.microsoft.com/office/drawing/2014/main" id="{2577E0EB-D75F-4953-885F-36C54B398518}"/>
              </a:ext>
            </a:extLst>
          </p:cNvPr>
          <p:cNvSpPr txBox="1">
            <a:spLocks/>
          </p:cNvSpPr>
          <p:nvPr/>
        </p:nvSpPr>
        <p:spPr>
          <a:xfrm>
            <a:off x="839416" y="2523789"/>
            <a:ext cx="1606604" cy="293607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buClr>
                <a:schemeClr val="accent2"/>
              </a:buClr>
              <a:buSzPct val="85000"/>
              <a:defRPr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모든 </a:t>
            </a: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i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에 대해</a:t>
            </a:r>
          </a:p>
        </p:txBody>
      </p:sp>
      <p:sp>
        <p:nvSpPr>
          <p:cNvPr id="47" name="Line 261">
            <a:extLst>
              <a:ext uri="{FF2B5EF4-FFF2-40B4-BE49-F238E27FC236}">
                <a16:creationId xmlns:a16="http://schemas.microsoft.com/office/drawing/2014/main" id="{87A6553F-6C28-4586-B744-4C26A6D712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85352" y="5349576"/>
            <a:ext cx="581759" cy="290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42" name="Line 261">
            <a:extLst>
              <a:ext uri="{FF2B5EF4-FFF2-40B4-BE49-F238E27FC236}">
                <a16:creationId xmlns:a16="http://schemas.microsoft.com/office/drawing/2014/main" id="{A7E4FE58-BFB6-4471-895C-D437432C95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6614" y="4644659"/>
            <a:ext cx="0" cy="108859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23" name="Line 261">
            <a:extLst>
              <a:ext uri="{FF2B5EF4-FFF2-40B4-BE49-F238E27FC236}">
                <a16:creationId xmlns:a16="http://schemas.microsoft.com/office/drawing/2014/main" id="{0BCD2FDF-68E4-4FBE-B293-83883651C3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2791" y="5349576"/>
            <a:ext cx="581759" cy="290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22" name="Line 261">
            <a:extLst>
              <a:ext uri="{FF2B5EF4-FFF2-40B4-BE49-F238E27FC236}">
                <a16:creationId xmlns:a16="http://schemas.microsoft.com/office/drawing/2014/main" id="{0CF3CFBA-E48D-4AE6-8EC7-E499889C54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8884" y="4625609"/>
            <a:ext cx="0" cy="5315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21" name="Line 261">
            <a:extLst>
              <a:ext uri="{FF2B5EF4-FFF2-40B4-BE49-F238E27FC236}">
                <a16:creationId xmlns:a16="http://schemas.microsoft.com/office/drawing/2014/main" id="{87E404B3-C4FF-4552-A024-2F5706AC1B2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6741" y="5349576"/>
            <a:ext cx="581759" cy="290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20" name="Line 261">
            <a:extLst>
              <a:ext uri="{FF2B5EF4-FFF2-40B4-BE49-F238E27FC236}">
                <a16:creationId xmlns:a16="http://schemas.microsoft.com/office/drawing/2014/main" id="{DB30AE61-71CE-4A20-9277-C5C67A6F01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9443" y="5349576"/>
            <a:ext cx="1279600" cy="6717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18" name="Line 261">
            <a:extLst>
              <a:ext uri="{FF2B5EF4-FFF2-40B4-BE49-F238E27FC236}">
                <a16:creationId xmlns:a16="http://schemas.microsoft.com/office/drawing/2014/main" id="{C5DD270A-A5C9-47A0-BB82-AB07DAD0EC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42990" y="5349576"/>
            <a:ext cx="581759" cy="290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1F8777B-B676-4D07-9CF3-56B6EC0BDCE4}"/>
              </a:ext>
            </a:extLst>
          </p:cNvPr>
          <p:cNvSpPr/>
          <p:nvPr/>
        </p:nvSpPr>
        <p:spPr>
          <a:xfrm>
            <a:off x="1184216" y="4720574"/>
            <a:ext cx="809902" cy="809901"/>
          </a:xfrm>
          <a:prstGeom prst="ellipse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BB7FDFD-7BB2-49F9-A55B-D4970EC332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789" y="4566561"/>
            <a:ext cx="748755" cy="8574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1542777-02B0-4E56-AAC6-77B2C694C8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48100" y="5535636"/>
            <a:ext cx="664758" cy="42922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C09D457-832C-4C6A-A11F-350F1523B7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44235" y="5115188"/>
            <a:ext cx="664758" cy="42922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8ACFC77-0050-4C18-9C70-DCE7FD1A23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370" y="5535636"/>
            <a:ext cx="664758" cy="42922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32A4083-D158-4A58-8A30-5AC5A94AC3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6506" y="5027676"/>
            <a:ext cx="664758" cy="42922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F4617C5-7E01-49F3-9F55-2729EABF2E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32641" y="5535636"/>
            <a:ext cx="664758" cy="429223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5183D954-9028-4934-BB86-BD8486D1BB56}"/>
              </a:ext>
            </a:extLst>
          </p:cNvPr>
          <p:cNvGrpSpPr/>
          <p:nvPr/>
        </p:nvGrpSpPr>
        <p:grpSpPr>
          <a:xfrm>
            <a:off x="7109981" y="4566561"/>
            <a:ext cx="809902" cy="963914"/>
            <a:chOff x="6331085" y="4703721"/>
            <a:chExt cx="775730" cy="923244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9FD7C82E-0142-40A3-90CB-D50F5F0A9002}"/>
                </a:ext>
              </a:extLst>
            </p:cNvPr>
            <p:cNvSpPr/>
            <p:nvPr/>
          </p:nvSpPr>
          <p:spPr>
            <a:xfrm>
              <a:off x="6331085" y="4851236"/>
              <a:ext cx="775730" cy="775729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A50A1FC-3CAE-4941-8BCC-F6577F782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0368" y="4703721"/>
              <a:ext cx="717163" cy="821317"/>
            </a:xfrm>
            <a:prstGeom prst="rect">
              <a:avLst/>
            </a:prstGeom>
          </p:spPr>
        </p:pic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A1D5857-C612-4BF8-AE41-E5CAE7479B1D}"/>
              </a:ext>
            </a:extLst>
          </p:cNvPr>
          <p:cNvGrpSpPr/>
          <p:nvPr/>
        </p:nvGrpSpPr>
        <p:grpSpPr>
          <a:xfrm>
            <a:off x="1779581" y="5073953"/>
            <a:ext cx="3147272" cy="746565"/>
            <a:chOff x="1779581" y="5073953"/>
            <a:chExt cx="3147272" cy="746565"/>
          </a:xfrm>
        </p:grpSpPr>
        <p:sp>
          <p:nvSpPr>
            <p:cNvPr id="29" name="Text Box 304">
              <a:extLst>
                <a:ext uri="{FF2B5EF4-FFF2-40B4-BE49-F238E27FC236}">
                  <a16:creationId xmlns:a16="http://schemas.microsoft.com/office/drawing/2014/main" id="{641C2229-ED9C-48FB-A7D0-BDE63118C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9830" y="5073953"/>
              <a:ext cx="1067023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3 probes</a:t>
              </a:r>
            </a:p>
          </p:txBody>
        </p:sp>
        <p:sp>
          <p:nvSpPr>
            <p:cNvPr id="40" name="Freeform 303">
              <a:extLst>
                <a:ext uri="{FF2B5EF4-FFF2-40B4-BE49-F238E27FC236}">
                  <a16:creationId xmlns:a16="http://schemas.microsoft.com/office/drawing/2014/main" id="{64CED466-6E6A-49F4-9257-9FA9DA194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9581" y="5213542"/>
              <a:ext cx="2606381" cy="606976"/>
            </a:xfrm>
            <a:custGeom>
              <a:avLst/>
              <a:gdLst>
                <a:gd name="T0" fmla="*/ 2147483647 w 1416"/>
                <a:gd name="T1" fmla="*/ 2147483647 h 254"/>
                <a:gd name="T2" fmla="*/ 2147483647 w 1416"/>
                <a:gd name="T3" fmla="*/ 2147483647 h 254"/>
                <a:gd name="T4" fmla="*/ 2147483647 w 1416"/>
                <a:gd name="T5" fmla="*/ 2147483647 h 254"/>
                <a:gd name="T6" fmla="*/ 2147483647 w 1416"/>
                <a:gd name="T7" fmla="*/ 2147483647 h 254"/>
                <a:gd name="T8" fmla="*/ 2147483647 w 1416"/>
                <a:gd name="T9" fmla="*/ 2147483647 h 254"/>
                <a:gd name="T10" fmla="*/ 2147483647 w 1416"/>
                <a:gd name="T11" fmla="*/ 2147483647 h 254"/>
                <a:gd name="T12" fmla="*/ 0 w 1416"/>
                <a:gd name="T13" fmla="*/ 2147483647 h 2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16"/>
                <a:gd name="T22" fmla="*/ 0 h 254"/>
                <a:gd name="T23" fmla="*/ 1416 w 1416"/>
                <a:gd name="T24" fmla="*/ 254 h 254"/>
                <a:gd name="connsiteX0" fmla="*/ 342 w 9695"/>
                <a:gd name="connsiteY0" fmla="*/ 1103 h 9767"/>
                <a:gd name="connsiteX1" fmla="*/ 2093 w 9695"/>
                <a:gd name="connsiteY1" fmla="*/ 6615 h 9767"/>
                <a:gd name="connsiteX2" fmla="*/ 6133 w 9695"/>
                <a:gd name="connsiteY2" fmla="*/ 1 h 9767"/>
                <a:gd name="connsiteX3" fmla="*/ 9692 w 9695"/>
                <a:gd name="connsiteY3" fmla="*/ 7087 h 9767"/>
                <a:gd name="connsiteX4" fmla="*/ 6133 w 9695"/>
                <a:gd name="connsiteY4" fmla="*/ 2835 h 9767"/>
                <a:gd name="connsiteX5" fmla="*/ 2206 w 9695"/>
                <a:gd name="connsiteY5" fmla="*/ 9765 h 9767"/>
                <a:gd name="connsiteX6" fmla="*/ 0 w 9695"/>
                <a:gd name="connsiteY6" fmla="*/ 3990 h 9767"/>
                <a:gd name="connsiteX0" fmla="*/ 353 w 10000"/>
                <a:gd name="connsiteY0" fmla="*/ 1129 h 10000"/>
                <a:gd name="connsiteX1" fmla="*/ 2159 w 10000"/>
                <a:gd name="connsiteY1" fmla="*/ 6773 h 10000"/>
                <a:gd name="connsiteX2" fmla="*/ 6326 w 10000"/>
                <a:gd name="connsiteY2" fmla="*/ 1 h 10000"/>
                <a:gd name="connsiteX3" fmla="*/ 9997 w 10000"/>
                <a:gd name="connsiteY3" fmla="*/ 7256 h 10000"/>
                <a:gd name="connsiteX4" fmla="*/ 6326 w 10000"/>
                <a:gd name="connsiteY4" fmla="*/ 2903 h 10000"/>
                <a:gd name="connsiteX5" fmla="*/ 2275 w 10000"/>
                <a:gd name="connsiteY5" fmla="*/ 9998 h 10000"/>
                <a:gd name="connsiteX6" fmla="*/ 0 w 10000"/>
                <a:gd name="connsiteY6" fmla="*/ 4085 h 10000"/>
                <a:gd name="connsiteX0" fmla="*/ 591 w 10000"/>
                <a:gd name="connsiteY0" fmla="*/ 2075 h 10000"/>
                <a:gd name="connsiteX1" fmla="*/ 2159 w 10000"/>
                <a:gd name="connsiteY1" fmla="*/ 6773 h 10000"/>
                <a:gd name="connsiteX2" fmla="*/ 6326 w 10000"/>
                <a:gd name="connsiteY2" fmla="*/ 1 h 10000"/>
                <a:gd name="connsiteX3" fmla="*/ 9997 w 10000"/>
                <a:gd name="connsiteY3" fmla="*/ 7256 h 10000"/>
                <a:gd name="connsiteX4" fmla="*/ 6326 w 10000"/>
                <a:gd name="connsiteY4" fmla="*/ 2903 h 10000"/>
                <a:gd name="connsiteX5" fmla="*/ 2275 w 10000"/>
                <a:gd name="connsiteY5" fmla="*/ 9998 h 10000"/>
                <a:gd name="connsiteX6" fmla="*/ 0 w 10000"/>
                <a:gd name="connsiteY6" fmla="*/ 4085 h 10000"/>
                <a:gd name="connsiteX0" fmla="*/ 591 w 10000"/>
                <a:gd name="connsiteY0" fmla="*/ 2075 h 10000"/>
                <a:gd name="connsiteX1" fmla="*/ 2159 w 10000"/>
                <a:gd name="connsiteY1" fmla="*/ 6773 h 10000"/>
                <a:gd name="connsiteX2" fmla="*/ 6326 w 10000"/>
                <a:gd name="connsiteY2" fmla="*/ 1 h 10000"/>
                <a:gd name="connsiteX3" fmla="*/ 9997 w 10000"/>
                <a:gd name="connsiteY3" fmla="*/ 7256 h 10000"/>
                <a:gd name="connsiteX4" fmla="*/ 6326 w 10000"/>
                <a:gd name="connsiteY4" fmla="*/ 2903 h 10000"/>
                <a:gd name="connsiteX5" fmla="*/ 2275 w 10000"/>
                <a:gd name="connsiteY5" fmla="*/ 9998 h 10000"/>
                <a:gd name="connsiteX6" fmla="*/ 0 w 10000"/>
                <a:gd name="connsiteY6" fmla="*/ 4085 h 10000"/>
                <a:gd name="connsiteX0" fmla="*/ 591 w 10000"/>
                <a:gd name="connsiteY0" fmla="*/ 2087 h 10012"/>
                <a:gd name="connsiteX1" fmla="*/ 2360 w 10000"/>
                <a:gd name="connsiteY1" fmla="*/ 5324 h 10012"/>
                <a:gd name="connsiteX2" fmla="*/ 6326 w 10000"/>
                <a:gd name="connsiteY2" fmla="*/ 13 h 10012"/>
                <a:gd name="connsiteX3" fmla="*/ 9997 w 10000"/>
                <a:gd name="connsiteY3" fmla="*/ 7268 h 10012"/>
                <a:gd name="connsiteX4" fmla="*/ 6326 w 10000"/>
                <a:gd name="connsiteY4" fmla="*/ 2915 h 10012"/>
                <a:gd name="connsiteX5" fmla="*/ 2275 w 10000"/>
                <a:gd name="connsiteY5" fmla="*/ 10010 h 10012"/>
                <a:gd name="connsiteX6" fmla="*/ 0 w 10000"/>
                <a:gd name="connsiteY6" fmla="*/ 4097 h 10012"/>
                <a:gd name="connsiteX0" fmla="*/ 591 w 9997"/>
                <a:gd name="connsiteY0" fmla="*/ 3031 h 10956"/>
                <a:gd name="connsiteX1" fmla="*/ 2360 w 9997"/>
                <a:gd name="connsiteY1" fmla="*/ 6268 h 10956"/>
                <a:gd name="connsiteX2" fmla="*/ 6472 w 9997"/>
                <a:gd name="connsiteY2" fmla="*/ 11 h 10956"/>
                <a:gd name="connsiteX3" fmla="*/ 9997 w 9997"/>
                <a:gd name="connsiteY3" fmla="*/ 8212 h 10956"/>
                <a:gd name="connsiteX4" fmla="*/ 6326 w 9997"/>
                <a:gd name="connsiteY4" fmla="*/ 3859 h 10956"/>
                <a:gd name="connsiteX5" fmla="*/ 2275 w 9997"/>
                <a:gd name="connsiteY5" fmla="*/ 10954 h 10956"/>
                <a:gd name="connsiteX6" fmla="*/ 0 w 9997"/>
                <a:gd name="connsiteY6" fmla="*/ 5041 h 10956"/>
                <a:gd name="connsiteX0" fmla="*/ 591 w 10010"/>
                <a:gd name="connsiteY0" fmla="*/ 2767 h 10000"/>
                <a:gd name="connsiteX1" fmla="*/ 2361 w 10010"/>
                <a:gd name="connsiteY1" fmla="*/ 5721 h 10000"/>
                <a:gd name="connsiteX2" fmla="*/ 6474 w 10010"/>
                <a:gd name="connsiteY2" fmla="*/ 10 h 10000"/>
                <a:gd name="connsiteX3" fmla="*/ 10000 w 10010"/>
                <a:gd name="connsiteY3" fmla="*/ 7495 h 10000"/>
                <a:gd name="connsiteX4" fmla="*/ 6328 w 10010"/>
                <a:gd name="connsiteY4" fmla="*/ 3522 h 10000"/>
                <a:gd name="connsiteX5" fmla="*/ 2276 w 10010"/>
                <a:gd name="connsiteY5" fmla="*/ 9998 h 10000"/>
                <a:gd name="connsiteX6" fmla="*/ 0 w 10010"/>
                <a:gd name="connsiteY6" fmla="*/ 4601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10" h="10000">
                  <a:moveTo>
                    <a:pt x="591" y="2767"/>
                  </a:moveTo>
                  <a:cubicBezTo>
                    <a:pt x="1254" y="5362"/>
                    <a:pt x="1456" y="5721"/>
                    <a:pt x="2361" y="5721"/>
                  </a:cubicBezTo>
                  <a:cubicBezTo>
                    <a:pt x="3359" y="5537"/>
                    <a:pt x="5201" y="-286"/>
                    <a:pt x="6474" y="10"/>
                  </a:cubicBezTo>
                  <a:cubicBezTo>
                    <a:pt x="7747" y="306"/>
                    <a:pt x="10189" y="4007"/>
                    <a:pt x="10000" y="7495"/>
                  </a:cubicBezTo>
                  <a:cubicBezTo>
                    <a:pt x="9811" y="10983"/>
                    <a:pt x="7617" y="3117"/>
                    <a:pt x="6328" y="3522"/>
                  </a:cubicBezTo>
                  <a:cubicBezTo>
                    <a:pt x="5039" y="3927"/>
                    <a:pt x="3361" y="10145"/>
                    <a:pt x="2276" y="9998"/>
                  </a:cubicBezTo>
                  <a:cubicBezTo>
                    <a:pt x="1190" y="9850"/>
                    <a:pt x="489" y="6135"/>
                    <a:pt x="0" y="4601"/>
                  </a:cubicBezTo>
                </a:path>
              </a:pathLst>
            </a:custGeom>
            <a:noFill/>
            <a:ln w="28575">
              <a:solidFill>
                <a:srgbClr val="F27037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F9F3C74-2DD3-47B9-916A-DD91B155E011}"/>
              </a:ext>
            </a:extLst>
          </p:cNvPr>
          <p:cNvGrpSpPr/>
          <p:nvPr/>
        </p:nvGrpSpPr>
        <p:grpSpPr>
          <a:xfrm>
            <a:off x="1797716" y="5073953"/>
            <a:ext cx="1262237" cy="641453"/>
            <a:chOff x="1797716" y="5073953"/>
            <a:chExt cx="1262237" cy="641453"/>
          </a:xfrm>
        </p:grpSpPr>
        <p:sp>
          <p:nvSpPr>
            <p:cNvPr id="48" name="Freeform 299">
              <a:extLst>
                <a:ext uri="{FF2B5EF4-FFF2-40B4-BE49-F238E27FC236}">
                  <a16:creationId xmlns:a16="http://schemas.microsoft.com/office/drawing/2014/main" id="{F2C58CD3-D390-49B6-BA3E-4D2673187BEB}"/>
                </a:ext>
              </a:extLst>
            </p:cNvPr>
            <p:cNvSpPr>
              <a:spLocks/>
            </p:cNvSpPr>
            <p:nvPr/>
          </p:nvSpPr>
          <p:spPr bwMode="auto">
            <a:xfrm rot="21194384">
              <a:off x="1797716" y="5322901"/>
              <a:ext cx="446251" cy="392505"/>
            </a:xfrm>
            <a:custGeom>
              <a:avLst/>
              <a:gdLst>
                <a:gd name="T0" fmla="*/ 2147483647 w 264"/>
                <a:gd name="T1" fmla="*/ 0 h 264"/>
                <a:gd name="T2" fmla="*/ 2147483647 w 264"/>
                <a:gd name="T3" fmla="*/ 2147483647 h 264"/>
                <a:gd name="T4" fmla="*/ 0 w 264"/>
                <a:gd name="T5" fmla="*/ 2147483647 h 264"/>
                <a:gd name="T6" fmla="*/ 0 60000 65536"/>
                <a:gd name="T7" fmla="*/ 0 60000 65536"/>
                <a:gd name="T8" fmla="*/ 0 60000 65536"/>
                <a:gd name="T9" fmla="*/ 0 w 264"/>
                <a:gd name="T10" fmla="*/ 0 h 264"/>
                <a:gd name="T11" fmla="*/ 264 w 264"/>
                <a:gd name="T12" fmla="*/ 264 h 264"/>
                <a:gd name="connsiteX0" fmla="*/ 3505 w 8851"/>
                <a:gd name="connsiteY0" fmla="*/ 0 h 7785"/>
                <a:gd name="connsiteX1" fmla="*/ 8636 w 8851"/>
                <a:gd name="connsiteY1" fmla="*/ 7489 h 7785"/>
                <a:gd name="connsiteX2" fmla="*/ 0 w 8851"/>
                <a:gd name="connsiteY2" fmla="*/ 2489 h 7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51" h="7785">
                  <a:moveTo>
                    <a:pt x="3505" y="0"/>
                  </a:moveTo>
                  <a:cubicBezTo>
                    <a:pt x="4490" y="1174"/>
                    <a:pt x="10000" y="5823"/>
                    <a:pt x="8636" y="7489"/>
                  </a:cubicBezTo>
                  <a:cubicBezTo>
                    <a:pt x="7273" y="9156"/>
                    <a:pt x="2273" y="3285"/>
                    <a:pt x="0" y="2489"/>
                  </a:cubicBezTo>
                </a:path>
              </a:pathLst>
            </a:custGeom>
            <a:noFill/>
            <a:ln w="28575">
              <a:solidFill>
                <a:srgbClr val="F27037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49" name="Text Box 304">
              <a:extLst>
                <a:ext uri="{FF2B5EF4-FFF2-40B4-BE49-F238E27FC236}">
                  <a16:creationId xmlns:a16="http://schemas.microsoft.com/office/drawing/2014/main" id="{60D0EA29-0D5D-4B6E-B246-44FDD39E2D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2930" y="5073953"/>
              <a:ext cx="1067023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3 probes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E7FFABA-685E-4C58-AC50-40A5EBCE0D85}"/>
              </a:ext>
            </a:extLst>
          </p:cNvPr>
          <p:cNvGrpSpPr/>
          <p:nvPr/>
        </p:nvGrpSpPr>
        <p:grpSpPr>
          <a:xfrm>
            <a:off x="1779514" y="5317961"/>
            <a:ext cx="2161501" cy="885121"/>
            <a:chOff x="1779514" y="5317961"/>
            <a:chExt cx="2161501" cy="885121"/>
          </a:xfrm>
        </p:grpSpPr>
        <p:sp>
          <p:nvSpPr>
            <p:cNvPr id="45" name="Freeform 301">
              <a:extLst>
                <a:ext uri="{FF2B5EF4-FFF2-40B4-BE49-F238E27FC236}">
                  <a16:creationId xmlns:a16="http://schemas.microsoft.com/office/drawing/2014/main" id="{5F4FAA03-1C0C-4087-B279-3D5F62170A8C}"/>
                </a:ext>
              </a:extLst>
            </p:cNvPr>
            <p:cNvSpPr>
              <a:spLocks/>
            </p:cNvSpPr>
            <p:nvPr/>
          </p:nvSpPr>
          <p:spPr bwMode="auto">
            <a:xfrm rot="21419331">
              <a:off x="1779514" y="5317961"/>
              <a:ext cx="1531122" cy="507381"/>
            </a:xfrm>
            <a:custGeom>
              <a:avLst/>
              <a:gdLst>
                <a:gd name="T0" fmla="*/ 2147483647 w 848"/>
                <a:gd name="T1" fmla="*/ 2147483647 h 299"/>
                <a:gd name="T2" fmla="*/ 2147483647 w 848"/>
                <a:gd name="T3" fmla="*/ 2147483647 h 299"/>
                <a:gd name="T4" fmla="*/ 2147483647 w 848"/>
                <a:gd name="T5" fmla="*/ 2147483647 h 299"/>
                <a:gd name="T6" fmla="*/ 2147483647 w 848"/>
                <a:gd name="T7" fmla="*/ 2147483647 h 299"/>
                <a:gd name="T8" fmla="*/ 0 w 848"/>
                <a:gd name="T9" fmla="*/ 2147483647 h 2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8"/>
                <a:gd name="T16" fmla="*/ 0 h 299"/>
                <a:gd name="T17" fmla="*/ 848 w 848"/>
                <a:gd name="T18" fmla="*/ 299 h 299"/>
                <a:gd name="connsiteX0" fmla="*/ 896 w 9692"/>
                <a:gd name="connsiteY0" fmla="*/ 543 h 7902"/>
                <a:gd name="connsiteX1" fmla="*/ 3821 w 9692"/>
                <a:gd name="connsiteY1" fmla="*/ 5225 h 7902"/>
                <a:gd name="connsiteX2" fmla="*/ 9670 w 9692"/>
                <a:gd name="connsiteY2" fmla="*/ 543 h 7902"/>
                <a:gd name="connsiteX3" fmla="*/ 4009 w 9692"/>
                <a:gd name="connsiteY3" fmla="*/ 7901 h 7902"/>
                <a:gd name="connsiteX4" fmla="*/ 0 w 9692"/>
                <a:gd name="connsiteY4" fmla="*/ 1212 h 7902"/>
                <a:gd name="connsiteX0" fmla="*/ 924 w 9977"/>
                <a:gd name="connsiteY0" fmla="*/ 79 h 9392"/>
                <a:gd name="connsiteX1" fmla="*/ 4463 w 9977"/>
                <a:gd name="connsiteY1" fmla="*/ 4899 h 9392"/>
                <a:gd name="connsiteX2" fmla="*/ 9977 w 9977"/>
                <a:gd name="connsiteY2" fmla="*/ 79 h 9392"/>
                <a:gd name="connsiteX3" fmla="*/ 4136 w 9977"/>
                <a:gd name="connsiteY3" fmla="*/ 9391 h 9392"/>
                <a:gd name="connsiteX4" fmla="*/ 0 w 9977"/>
                <a:gd name="connsiteY4" fmla="*/ 926 h 9392"/>
                <a:gd name="connsiteX0" fmla="*/ 926 w 10064"/>
                <a:gd name="connsiteY0" fmla="*/ 721 h 10637"/>
                <a:gd name="connsiteX1" fmla="*/ 4473 w 10064"/>
                <a:gd name="connsiteY1" fmla="*/ 5853 h 10637"/>
                <a:gd name="connsiteX2" fmla="*/ 10000 w 10064"/>
                <a:gd name="connsiteY2" fmla="*/ 721 h 10637"/>
                <a:gd name="connsiteX3" fmla="*/ 4146 w 10064"/>
                <a:gd name="connsiteY3" fmla="*/ 10636 h 10637"/>
                <a:gd name="connsiteX4" fmla="*/ 0 w 10064"/>
                <a:gd name="connsiteY4" fmla="*/ 1623 h 10637"/>
                <a:gd name="connsiteX0" fmla="*/ 1085 w 10064"/>
                <a:gd name="connsiteY0" fmla="*/ 76 h 10739"/>
                <a:gd name="connsiteX1" fmla="*/ 4473 w 10064"/>
                <a:gd name="connsiteY1" fmla="*/ 5955 h 10739"/>
                <a:gd name="connsiteX2" fmla="*/ 10000 w 10064"/>
                <a:gd name="connsiteY2" fmla="*/ 823 h 10739"/>
                <a:gd name="connsiteX3" fmla="*/ 4146 w 10064"/>
                <a:gd name="connsiteY3" fmla="*/ 10738 h 10739"/>
                <a:gd name="connsiteX4" fmla="*/ 0 w 10064"/>
                <a:gd name="connsiteY4" fmla="*/ 1725 h 10739"/>
                <a:gd name="connsiteX0" fmla="*/ 1085 w 10064"/>
                <a:gd name="connsiteY0" fmla="*/ 0 h 10663"/>
                <a:gd name="connsiteX1" fmla="*/ 4473 w 10064"/>
                <a:gd name="connsiteY1" fmla="*/ 5879 h 10663"/>
                <a:gd name="connsiteX2" fmla="*/ 10000 w 10064"/>
                <a:gd name="connsiteY2" fmla="*/ 747 h 10663"/>
                <a:gd name="connsiteX3" fmla="*/ 4146 w 10064"/>
                <a:gd name="connsiteY3" fmla="*/ 10662 h 10663"/>
                <a:gd name="connsiteX4" fmla="*/ 0 w 10064"/>
                <a:gd name="connsiteY4" fmla="*/ 1649 h 10663"/>
                <a:gd name="connsiteX0" fmla="*/ 1085 w 10064"/>
                <a:gd name="connsiteY0" fmla="*/ 0 h 10663"/>
                <a:gd name="connsiteX1" fmla="*/ 4473 w 10064"/>
                <a:gd name="connsiteY1" fmla="*/ 5879 h 10663"/>
                <a:gd name="connsiteX2" fmla="*/ 10000 w 10064"/>
                <a:gd name="connsiteY2" fmla="*/ 747 h 10663"/>
                <a:gd name="connsiteX3" fmla="*/ 4146 w 10064"/>
                <a:gd name="connsiteY3" fmla="*/ 10662 h 10663"/>
                <a:gd name="connsiteX4" fmla="*/ 0 w 10064"/>
                <a:gd name="connsiteY4" fmla="*/ 1649 h 10663"/>
                <a:gd name="connsiteX0" fmla="*/ 1085 w 10064"/>
                <a:gd name="connsiteY0" fmla="*/ 0 h 10662"/>
                <a:gd name="connsiteX1" fmla="*/ 4473 w 10064"/>
                <a:gd name="connsiteY1" fmla="*/ 5879 h 10662"/>
                <a:gd name="connsiteX2" fmla="*/ 10000 w 10064"/>
                <a:gd name="connsiteY2" fmla="*/ 747 h 10662"/>
                <a:gd name="connsiteX3" fmla="*/ 4146 w 10064"/>
                <a:gd name="connsiteY3" fmla="*/ 10662 h 10662"/>
                <a:gd name="connsiteX4" fmla="*/ 0 w 10064"/>
                <a:gd name="connsiteY4" fmla="*/ 1649 h 10662"/>
                <a:gd name="connsiteX0" fmla="*/ 1085 w 10081"/>
                <a:gd name="connsiteY0" fmla="*/ 0 h 10697"/>
                <a:gd name="connsiteX1" fmla="*/ 4473 w 10081"/>
                <a:gd name="connsiteY1" fmla="*/ 5879 h 10697"/>
                <a:gd name="connsiteX2" fmla="*/ 10000 w 10081"/>
                <a:gd name="connsiteY2" fmla="*/ 747 h 10697"/>
                <a:gd name="connsiteX3" fmla="*/ 4146 w 10081"/>
                <a:gd name="connsiteY3" fmla="*/ 10662 h 10697"/>
                <a:gd name="connsiteX4" fmla="*/ 0 w 10081"/>
                <a:gd name="connsiteY4" fmla="*/ 1649 h 10697"/>
                <a:gd name="connsiteX0" fmla="*/ 1085 w 10081"/>
                <a:gd name="connsiteY0" fmla="*/ 0 h 10697"/>
                <a:gd name="connsiteX1" fmla="*/ 4473 w 10081"/>
                <a:gd name="connsiteY1" fmla="*/ 5879 h 10697"/>
                <a:gd name="connsiteX2" fmla="*/ 10000 w 10081"/>
                <a:gd name="connsiteY2" fmla="*/ 747 h 10697"/>
                <a:gd name="connsiteX3" fmla="*/ 4146 w 10081"/>
                <a:gd name="connsiteY3" fmla="*/ 10662 h 10697"/>
                <a:gd name="connsiteX4" fmla="*/ 0 w 10081"/>
                <a:gd name="connsiteY4" fmla="*/ 1649 h 10697"/>
                <a:gd name="connsiteX0" fmla="*/ 1085 w 10000"/>
                <a:gd name="connsiteY0" fmla="*/ 0 h 10689"/>
                <a:gd name="connsiteX1" fmla="*/ 4527 w 10000"/>
                <a:gd name="connsiteY1" fmla="*/ 5113 h 10689"/>
                <a:gd name="connsiteX2" fmla="*/ 10000 w 10000"/>
                <a:gd name="connsiteY2" fmla="*/ 747 h 10689"/>
                <a:gd name="connsiteX3" fmla="*/ 4146 w 10000"/>
                <a:gd name="connsiteY3" fmla="*/ 10662 h 10689"/>
                <a:gd name="connsiteX4" fmla="*/ 0 w 10000"/>
                <a:gd name="connsiteY4" fmla="*/ 1649 h 10689"/>
                <a:gd name="connsiteX0" fmla="*/ 1085 w 10000"/>
                <a:gd name="connsiteY0" fmla="*/ 0 h 10689"/>
                <a:gd name="connsiteX1" fmla="*/ 4527 w 10000"/>
                <a:gd name="connsiteY1" fmla="*/ 5113 h 10689"/>
                <a:gd name="connsiteX2" fmla="*/ 10000 w 10000"/>
                <a:gd name="connsiteY2" fmla="*/ 747 h 10689"/>
                <a:gd name="connsiteX3" fmla="*/ 4146 w 10000"/>
                <a:gd name="connsiteY3" fmla="*/ 10662 h 10689"/>
                <a:gd name="connsiteX4" fmla="*/ 0 w 10000"/>
                <a:gd name="connsiteY4" fmla="*/ 1649 h 10689"/>
                <a:gd name="connsiteX0" fmla="*/ 1302 w 10000"/>
                <a:gd name="connsiteY0" fmla="*/ 0 h 11144"/>
                <a:gd name="connsiteX1" fmla="*/ 4527 w 10000"/>
                <a:gd name="connsiteY1" fmla="*/ 5568 h 11144"/>
                <a:gd name="connsiteX2" fmla="*/ 10000 w 10000"/>
                <a:gd name="connsiteY2" fmla="*/ 1202 h 11144"/>
                <a:gd name="connsiteX3" fmla="*/ 4146 w 10000"/>
                <a:gd name="connsiteY3" fmla="*/ 11117 h 11144"/>
                <a:gd name="connsiteX4" fmla="*/ 0 w 10000"/>
                <a:gd name="connsiteY4" fmla="*/ 2104 h 11144"/>
                <a:gd name="connsiteX0" fmla="*/ 1302 w 10090"/>
                <a:gd name="connsiteY0" fmla="*/ 0 h 11151"/>
                <a:gd name="connsiteX1" fmla="*/ 4527 w 10090"/>
                <a:gd name="connsiteY1" fmla="*/ 5568 h 11151"/>
                <a:gd name="connsiteX2" fmla="*/ 10000 w 10090"/>
                <a:gd name="connsiteY2" fmla="*/ 1202 h 11151"/>
                <a:gd name="connsiteX3" fmla="*/ 4146 w 10090"/>
                <a:gd name="connsiteY3" fmla="*/ 11117 h 11151"/>
                <a:gd name="connsiteX4" fmla="*/ 0 w 10090"/>
                <a:gd name="connsiteY4" fmla="*/ 2104 h 11151"/>
                <a:gd name="connsiteX0" fmla="*/ 1302 w 10106"/>
                <a:gd name="connsiteY0" fmla="*/ 0 h 11250"/>
                <a:gd name="connsiteX1" fmla="*/ 4527 w 10106"/>
                <a:gd name="connsiteY1" fmla="*/ 5568 h 11250"/>
                <a:gd name="connsiteX2" fmla="*/ 10000 w 10106"/>
                <a:gd name="connsiteY2" fmla="*/ 1202 h 11250"/>
                <a:gd name="connsiteX3" fmla="*/ 4146 w 10106"/>
                <a:gd name="connsiteY3" fmla="*/ 11117 h 11250"/>
                <a:gd name="connsiteX4" fmla="*/ 0 w 10106"/>
                <a:gd name="connsiteY4" fmla="*/ 2104 h 11250"/>
                <a:gd name="connsiteX0" fmla="*/ 1302 w 10106"/>
                <a:gd name="connsiteY0" fmla="*/ 0 h 11250"/>
                <a:gd name="connsiteX1" fmla="*/ 4527 w 10106"/>
                <a:gd name="connsiteY1" fmla="*/ 5568 h 11250"/>
                <a:gd name="connsiteX2" fmla="*/ 10000 w 10106"/>
                <a:gd name="connsiteY2" fmla="*/ 1202 h 11250"/>
                <a:gd name="connsiteX3" fmla="*/ 4146 w 10106"/>
                <a:gd name="connsiteY3" fmla="*/ 11117 h 11250"/>
                <a:gd name="connsiteX4" fmla="*/ 0 w 10106"/>
                <a:gd name="connsiteY4" fmla="*/ 2104 h 11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6" h="11250">
                  <a:moveTo>
                    <a:pt x="1302" y="0"/>
                  </a:moveTo>
                  <a:cubicBezTo>
                    <a:pt x="2247" y="2491"/>
                    <a:pt x="3077" y="5368"/>
                    <a:pt x="4527" y="5568"/>
                  </a:cubicBezTo>
                  <a:cubicBezTo>
                    <a:pt x="5977" y="5768"/>
                    <a:pt x="9361" y="-1821"/>
                    <a:pt x="10000" y="1202"/>
                  </a:cubicBezTo>
                  <a:cubicBezTo>
                    <a:pt x="10639" y="4225"/>
                    <a:pt x="8371" y="12388"/>
                    <a:pt x="4146" y="11117"/>
                  </a:cubicBezTo>
                  <a:cubicBezTo>
                    <a:pt x="2322" y="10378"/>
                    <a:pt x="831" y="4549"/>
                    <a:pt x="0" y="2104"/>
                  </a:cubicBezTo>
                </a:path>
              </a:pathLst>
            </a:custGeom>
            <a:noFill/>
            <a:ln w="28575">
              <a:solidFill>
                <a:srgbClr val="F27037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50" name="Text Box 304">
              <a:extLst>
                <a:ext uri="{FF2B5EF4-FFF2-40B4-BE49-F238E27FC236}">
                  <a16:creationId xmlns:a16="http://schemas.microsoft.com/office/drawing/2014/main" id="{989BB170-CBE0-484F-A9A4-29754DC7D5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3992" y="5864528"/>
              <a:ext cx="1067023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3 probes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4056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01AE30B-2138-4F74-92BE-5FACB05F2E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“실제의” </a:t>
            </a:r>
            <a:r>
              <a:rPr lang="ko-KR" altLang="en-US" dirty="0">
                <a:solidFill>
                  <a:schemeClr val="bg1"/>
                </a:solidFill>
              </a:rPr>
              <a:t>인터넷 지연과 경로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DC2B068-AF91-4BD0-BC69-B56422DD6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06FDB7D-EFF4-4C0F-AB65-E4DF21262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36" y="1147604"/>
            <a:ext cx="6826930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traceroute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Abadi" panose="020B0604020104020204" pitchFamily="34" charset="0"/>
                <a:ea typeface="+mj-ea"/>
                <a:cs typeface="+mj-cs"/>
              </a:rPr>
              <a:t>: gaia.cs.umass.edu to www.eurecom.fr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679280C-A62B-4F60-AE29-09459C494481}"/>
              </a:ext>
            </a:extLst>
          </p:cNvPr>
          <p:cNvGrpSpPr/>
          <p:nvPr/>
        </p:nvGrpSpPr>
        <p:grpSpPr>
          <a:xfrm>
            <a:off x="666036" y="1073985"/>
            <a:ext cx="502804" cy="590566"/>
            <a:chOff x="5678490" y="2646569"/>
            <a:chExt cx="502804" cy="590566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35EF854C-2C2B-4C06-B051-3E41CE705DBD}"/>
                </a:ext>
              </a:extLst>
            </p:cNvPr>
            <p:cNvSpPr/>
            <p:nvPr/>
          </p:nvSpPr>
          <p:spPr>
            <a:xfrm>
              <a:off x="5771092" y="3152714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7" name="그래픽 6">
              <a:extLst>
                <a:ext uri="{FF2B5EF4-FFF2-40B4-BE49-F238E27FC236}">
                  <a16:creationId xmlns:a16="http://schemas.microsoft.com/office/drawing/2014/main" id="{34EBDF12-4F2C-4B13-A852-288F70B69D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5650557" y="2674502"/>
              <a:ext cx="558670" cy="502804"/>
            </a:xfrm>
            <a:prstGeom prst="rect">
              <a:avLst/>
            </a:prstGeom>
            <a:effectLst/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85F6387-915C-4F2D-819E-32CD22A3C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5741954" y="2826171"/>
              <a:ext cx="375876" cy="217726"/>
            </a:xfrm>
            <a:prstGeom prst="rect">
              <a:avLst/>
            </a:prstGeom>
          </p:spPr>
        </p:pic>
      </p:grpSp>
      <p:sp>
        <p:nvSpPr>
          <p:cNvPr id="9" name="Text Box 4">
            <a:extLst>
              <a:ext uri="{FF2B5EF4-FFF2-40B4-BE49-F238E27FC236}">
                <a16:creationId xmlns:a16="http://schemas.microsoft.com/office/drawing/2014/main" id="{102EAC9C-5E79-44A4-9A88-2F1FD8D7C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63" y="1948582"/>
            <a:ext cx="6202997" cy="4287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  cs-gw (128.119.240.254)  1 ms  1 ms  2 ms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2  border1-rt-fa5-1-0.gw.umass.edu (128.119.3.145)  1 ms  1 ms  2 ms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3  cht-vbns.gw.umass.edu (128.119.3.130)  6 ms 5 ms 5 ms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4  jn1-at1-0-0-19.wor.vbns.net (204.147.132.129)  16 ms 11 ms 13 ms 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5  jn1-so7-0-0-0.wae.vbns.net (204.147.136.136)  21 ms 18 ms 18 ms 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6  abilene-vbns.abilene.ucaid.edu (198.32.11.9)  22 ms  18 ms  22 ms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7  nycm-wash.abilene.ucaid.edu (198.32.8.46)  22 ms  22 ms  22 ms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8  62.40.103.253 (62.40.103.253)  104 ms 109 ms 106 ms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9  de2-1.de1.de.geant.net (62.40.96.129)  109 ms 102 ms 104 ms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10  de.fr1.fr.geant.net (62.40.96.50)  113 ms 121 ms 114 ms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11  renater-gw.fr1.fr.geant.net (62.40.103.54)  112 ms  114 ms  112 ms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12  nio-n2.cssi.renater.fr (193.51.206.13)  111 ms  114 ms  116 ms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13  nice.cssi.renater.fr (195.220.98.102)  123 ms  125 ms  124 ms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14  r3t2-nice.cssi.renater.fr (195.220.98.110)  126 ms  126 ms  124 ms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15  eurecom-valbonne.r3t2.ft.net (193.48.50.54)  135 ms  128 ms  133 ms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16  194.214.211.25 (194.214.211.25)  126 ms  128 ms  126 ms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17  * * *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18  * * *</a:t>
            </a:r>
          </a:p>
          <a:p>
            <a:pPr marL="457200" indent="-457200">
              <a:lnSpc>
                <a:spcPct val="120000"/>
              </a:lnSpc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19  fantasia.eurecom.fr (193.55.113.142)  132 ms  128 ms  136 ms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D05DE3FE-D3AB-47B2-910A-652F15850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6213823"/>
            <a:ext cx="442621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0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* Do some traceroutes from exotic countries at www.traceroute.org</a:t>
            </a:r>
          </a:p>
        </p:txBody>
      </p:sp>
      <p:sp>
        <p:nvSpPr>
          <p:cNvPr id="11" name="Line 6">
            <a:extLst>
              <a:ext uri="{FF2B5EF4-FFF2-40B4-BE49-F238E27FC236}">
                <a16:creationId xmlns:a16="http://schemas.microsoft.com/office/drawing/2014/main" id="{E5B2AAD6-CF5E-4B6E-B495-1CA871F7C6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9179" y="5653573"/>
            <a:ext cx="968375" cy="0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6D098F3E-C964-4627-8D48-DC22A67DD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9616" y="5515074"/>
            <a:ext cx="62865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* 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는 응답이 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없다는 뜻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 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(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손실되거나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 </a:t>
            </a:r>
            <a:r>
              <a:rPr lang="ko-KR" altLang="en-US" sz="120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라우터가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 무응답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)</a:t>
            </a:r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CF51E682-74B4-4E56-B3F6-64ED7AB23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214688"/>
            <a:ext cx="96372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대륙간 링크</a:t>
            </a:r>
            <a:endParaRPr lang="en-US" altLang="ko-KR" sz="12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F27037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20" name="그래픽 18">
            <a:extLst>
              <a:ext uri="{FF2B5EF4-FFF2-40B4-BE49-F238E27FC236}">
                <a16:creationId xmlns:a16="http://schemas.microsoft.com/office/drawing/2014/main" id="{B3DA9592-A82F-4C62-8A44-CF2FE13C66E2}"/>
              </a:ext>
            </a:extLst>
          </p:cNvPr>
          <p:cNvSpPr/>
          <p:nvPr/>
        </p:nvSpPr>
        <p:spPr>
          <a:xfrm>
            <a:off x="5421591" y="3472282"/>
            <a:ext cx="942404" cy="255094"/>
          </a:xfrm>
          <a:custGeom>
            <a:avLst/>
            <a:gdLst>
              <a:gd name="connsiteX0" fmla="*/ 895964 w 942404"/>
              <a:gd name="connsiteY0" fmla="*/ -2867 h 255094"/>
              <a:gd name="connsiteX1" fmla="*/ -190 w 942404"/>
              <a:gd name="connsiteY1" fmla="*/ 210614 h 255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42404" h="255094">
                <a:moveTo>
                  <a:pt x="895964" y="-2867"/>
                </a:moveTo>
                <a:cubicBezTo>
                  <a:pt x="1157763" y="407902"/>
                  <a:pt x="233110" y="195456"/>
                  <a:pt x="-190" y="210614"/>
                </a:cubicBezTo>
              </a:path>
            </a:pathLst>
          </a:custGeom>
          <a:noFill/>
          <a:ln w="19050" cap="flat">
            <a:solidFill>
              <a:srgbClr val="F27037"/>
            </a:solidFill>
            <a:prstDash val="solid"/>
            <a:round/>
            <a:tailEnd type="triangle"/>
          </a:ln>
        </p:spPr>
        <p:txBody>
          <a:bodyPr rtlCol="0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21" name="Text Box 7">
            <a:extLst>
              <a:ext uri="{FF2B5EF4-FFF2-40B4-BE49-F238E27FC236}">
                <a16:creationId xmlns:a16="http://schemas.microsoft.com/office/drawing/2014/main" id="{C1346485-2E55-4FB7-AE03-A3CAD772D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2594" y="1538288"/>
            <a:ext cx="45656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gaia.cs.umass.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edu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에서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 </a:t>
            </a:r>
            <a:b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</a:b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cs-gw</a:t>
            </a: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.cs.umass.edu </a:t>
            </a: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까지의 지연 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측정 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3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F27037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회</a:t>
            </a:r>
            <a:endParaRPr lang="en-US" altLang="ko-KR" sz="1200" dirty="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F27037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22" name="Line 8">
            <a:extLst>
              <a:ext uri="{FF2B5EF4-FFF2-40B4-BE49-F238E27FC236}">
                <a16:creationId xmlns:a16="http://schemas.microsoft.com/office/drawing/2014/main" id="{BAD5A2A3-3158-44BF-87C4-C8113AEAED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25026" y="1655569"/>
            <a:ext cx="575057" cy="353463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23" name="Line 9">
            <a:extLst>
              <a:ext uri="{FF2B5EF4-FFF2-40B4-BE49-F238E27FC236}">
                <a16:creationId xmlns:a16="http://schemas.microsoft.com/office/drawing/2014/main" id="{95495132-9C09-4B69-B6A1-798783DCDE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87247" y="1646053"/>
            <a:ext cx="119634" cy="346665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24" name="Line 10">
            <a:extLst>
              <a:ext uri="{FF2B5EF4-FFF2-40B4-BE49-F238E27FC236}">
                <a16:creationId xmlns:a16="http://schemas.microsoft.com/office/drawing/2014/main" id="{9210797B-16E8-4ED9-B028-174100B6EBF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02802" y="1654210"/>
            <a:ext cx="314039" cy="334430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25" name="Line 11">
            <a:extLst>
              <a:ext uri="{FF2B5EF4-FFF2-40B4-BE49-F238E27FC236}">
                <a16:creationId xmlns:a16="http://schemas.microsoft.com/office/drawing/2014/main" id="{EC8DAF58-B729-403D-87D8-07C0DFC472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96005" y="1652394"/>
            <a:ext cx="323555" cy="2719"/>
          </a:xfrm>
          <a:prstGeom prst="line">
            <a:avLst/>
          </a:prstGeom>
          <a:noFill/>
          <a:ln w="19050">
            <a:solidFill>
              <a:srgbClr val="F27037"/>
            </a:solidFill>
            <a:round/>
            <a:headEnd/>
            <a:tailEnd/>
          </a:ln>
        </p:spPr>
        <p:txBody>
          <a:bodyPr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612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9EFF57-52C1-49B9-8F05-C954B28D25BD}"/>
              </a:ext>
            </a:extLst>
          </p:cNvPr>
          <p:cNvSpPr/>
          <p:nvPr/>
        </p:nvSpPr>
        <p:spPr>
          <a:xfrm>
            <a:off x="977900" y="2795300"/>
            <a:ext cx="6737350" cy="3313319"/>
          </a:xfrm>
          <a:prstGeom prst="rect">
            <a:avLst/>
          </a:prstGeom>
          <a:solidFill>
            <a:srgbClr val="EFF5FB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olidFill>
                <a:srgbClr val="105BA0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0E70426-2E96-4DF3-9CA4-52981DFD90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패킷 손실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12ADABD-297D-43E4-AEA3-DCC2AABDD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8F5EAF-4B0A-4C0D-B666-BAC41F5B8DDA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78722"/>
            <a:ext cx="7582932" cy="13977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링크 앞의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queue (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또는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buffer)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의 용량은 유한하다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.</a:t>
            </a:r>
          </a:p>
          <a:p>
            <a:pPr marL="216000" lvl="2" indent="-216000" latinLnBrk="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버퍼가 꽉 차면 도착하는 패킷은 버려진다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.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즉 손실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)</a:t>
            </a:r>
          </a:p>
          <a:p>
            <a:pPr marL="216000" lvl="2" indent="-216000" latinLnBrk="0">
              <a:lnSpc>
                <a:spcPct val="130000"/>
              </a:lnSpc>
              <a:spcBef>
                <a:spcPts val="8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손실된 패킷은 직전 노드나 송신측 종단 시스템에서 재전송될 수도 있고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, </a:t>
            </a:r>
            <a:b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</a:b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그렇지 않을 수도 있다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.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8C502222-7590-472A-9F3F-02E60B553095}"/>
              </a:ext>
            </a:extLst>
          </p:cNvPr>
          <p:cNvGrpSpPr/>
          <p:nvPr/>
        </p:nvGrpSpPr>
        <p:grpSpPr>
          <a:xfrm>
            <a:off x="1460046" y="2993438"/>
            <a:ext cx="5773058" cy="2967841"/>
            <a:chOff x="911424" y="2911081"/>
            <a:chExt cx="5773058" cy="2967841"/>
          </a:xfrm>
        </p:grpSpPr>
        <p:sp>
          <p:nvSpPr>
            <p:cNvPr id="37" name="Line 24">
              <a:extLst>
                <a:ext uri="{FF2B5EF4-FFF2-40B4-BE49-F238E27FC236}">
                  <a16:creationId xmlns:a16="http://schemas.microsoft.com/office/drawing/2014/main" id="{BBA30771-BB8D-494D-878F-F0AE05F15D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51458" y="4451959"/>
              <a:ext cx="25080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/>
              <a:tailEnd/>
            </a:ln>
          </p:spPr>
          <p:txBody>
            <a:bodyPr wrap="none" anchor="ctr"/>
            <a:lstStyle/>
            <a:p>
              <a:endParaRPr lang="ko-KR" altLang="en-US" dirty="0">
                <a:solidFill>
                  <a:srgbClr val="105BA0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5" name="Line 24">
              <a:extLst>
                <a:ext uri="{FF2B5EF4-FFF2-40B4-BE49-F238E27FC236}">
                  <a16:creationId xmlns:a16="http://schemas.microsoft.com/office/drawing/2014/main" id="{6CA14B01-7479-4983-AD91-3AEBB36FF9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94001" y="4569688"/>
              <a:ext cx="1237298" cy="5864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dirty="0">
                <a:solidFill>
                  <a:srgbClr val="105BA0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6" name="Line 24">
              <a:extLst>
                <a:ext uri="{FF2B5EF4-FFF2-40B4-BE49-F238E27FC236}">
                  <a16:creationId xmlns:a16="http://schemas.microsoft.com/office/drawing/2014/main" id="{E709D87C-C762-44C6-AFB9-54A208749F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4001" y="3875896"/>
              <a:ext cx="1237298" cy="5864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 dirty="0">
                <a:solidFill>
                  <a:srgbClr val="105BA0"/>
                </a:solidFill>
                <a:latin typeface="Abadi" panose="020B0604020104020204" pitchFamily="34" charset="0"/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76FBA9C1-1E92-435D-A7EA-6BA7DFB1DEB6}"/>
                </a:ext>
              </a:extLst>
            </p:cNvPr>
            <p:cNvGrpSpPr/>
            <p:nvPr/>
          </p:nvGrpSpPr>
          <p:grpSpPr>
            <a:xfrm>
              <a:off x="1289766" y="4451960"/>
              <a:ext cx="1023241" cy="1217823"/>
              <a:chOff x="3182618" y="4520968"/>
              <a:chExt cx="878294" cy="1045313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9DB2AE48-064A-4B18-9D11-C140AC47BD76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endParaRPr>
              </a:p>
            </p:txBody>
          </p:sp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1E89790D-4382-482C-AB1A-F43C5817A9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8102C554-F6EE-4258-9B6B-44737C1317FB}"/>
                </a:ext>
              </a:extLst>
            </p:cNvPr>
            <p:cNvGrpSpPr/>
            <p:nvPr/>
          </p:nvGrpSpPr>
          <p:grpSpPr>
            <a:xfrm>
              <a:off x="1289766" y="2911081"/>
              <a:ext cx="1023241" cy="1217823"/>
              <a:chOff x="3182618" y="4520968"/>
              <a:chExt cx="878294" cy="1045313"/>
            </a:xfrm>
          </p:grpSpPr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89FF9E6F-9E46-461F-8597-77BE64EC67DC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endParaRPr>
              </a:p>
            </p:txBody>
          </p:sp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B48D1ECE-8A29-4FA4-9738-38CA47861E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370A6CB-DCFC-48F6-94F1-7DE89A9D2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310791" y="4235936"/>
              <a:ext cx="839864" cy="542286"/>
            </a:xfrm>
            <a:prstGeom prst="rect">
              <a:avLst/>
            </a:prstGeom>
          </p:spPr>
        </p:pic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5AECB80-E9B6-4C37-970C-871D8AB87CBC}"/>
                </a:ext>
              </a:extLst>
            </p:cNvPr>
            <p:cNvCxnSpPr>
              <a:cxnSpLocks/>
              <a:stCxn id="15" idx="5"/>
            </p:cNvCxnSpPr>
            <p:nvPr/>
          </p:nvCxnSpPr>
          <p:spPr>
            <a:xfrm>
              <a:off x="2844796" y="5089988"/>
              <a:ext cx="465995" cy="445347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582A8B7-E2FF-4893-8BC1-B8FB0AEE2200}"/>
                </a:ext>
              </a:extLst>
            </p:cNvPr>
            <p:cNvSpPr/>
            <p:nvPr/>
          </p:nvSpPr>
          <p:spPr>
            <a:xfrm>
              <a:off x="2786256" y="5031448"/>
              <a:ext cx="68584" cy="68584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 dirty="0">
                <a:solidFill>
                  <a:srgbClr val="105BA0"/>
                </a:solidFill>
                <a:latin typeface="Abadi" panose="020B0604020104020204" pitchFamily="34" charset="0"/>
                <a:ea typeface="G마켓 산스 TTF Medium" panose="02000000000000000000" pitchFamily="2" charset="-127"/>
              </a:endParaRPr>
            </a:p>
          </p:txBody>
        </p:sp>
        <p:sp>
          <p:nvSpPr>
            <p:cNvPr id="16" name="Google Shape;5203;p26">
              <a:extLst>
                <a:ext uri="{FF2B5EF4-FFF2-40B4-BE49-F238E27FC236}">
                  <a16:creationId xmlns:a16="http://schemas.microsoft.com/office/drawing/2014/main" id="{413B1EEB-57E4-4E1F-B5A3-7D3827F23328}"/>
                </a:ext>
              </a:extLst>
            </p:cNvPr>
            <p:cNvSpPr/>
            <p:nvPr/>
          </p:nvSpPr>
          <p:spPr>
            <a:xfrm>
              <a:off x="2594677" y="4841369"/>
              <a:ext cx="165600" cy="165600"/>
            </a:xfrm>
            <a:prstGeom prst="rect">
              <a:avLst/>
            </a:prstGeom>
            <a:solidFill>
              <a:srgbClr val="105BA0"/>
            </a:solidFill>
            <a:ln w="9525" cap="flat">
              <a:noFill/>
              <a:prstDash val="solid"/>
              <a:miter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2400">
                <a:solidFill>
                  <a:srgbClr val="105BA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8" name="Google Shape;5205;p26">
              <a:extLst>
                <a:ext uri="{FF2B5EF4-FFF2-40B4-BE49-F238E27FC236}">
                  <a16:creationId xmlns:a16="http://schemas.microsoft.com/office/drawing/2014/main" id="{7BD6342C-B708-4D6C-93D2-7E86874231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08997" y="4865752"/>
              <a:ext cx="277020" cy="144464"/>
            </a:xfrm>
            <a:prstGeom prst="straightConnector1">
              <a:avLst/>
            </a:prstGeom>
            <a:noFill/>
            <a:ln w="952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" name="Google Shape;5205;p26">
              <a:extLst>
                <a:ext uri="{FF2B5EF4-FFF2-40B4-BE49-F238E27FC236}">
                  <a16:creationId xmlns:a16="http://schemas.microsoft.com/office/drawing/2014/main" id="{A368E860-49ED-4908-AE62-77DD1C6AE6E9}"/>
                </a:ext>
              </a:extLst>
            </p:cNvPr>
            <p:cNvCxnSpPr>
              <a:cxnSpLocks/>
            </p:cNvCxnSpPr>
            <p:nvPr/>
          </p:nvCxnSpPr>
          <p:spPr>
            <a:xfrm>
              <a:off x="2908997" y="4050046"/>
              <a:ext cx="277020" cy="144464"/>
            </a:xfrm>
            <a:prstGeom prst="straightConnector1">
              <a:avLst/>
            </a:prstGeom>
            <a:noFill/>
            <a:ln w="9525" cap="flat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AD21EEA-0ECD-4A9E-8D8B-9A7C64083457}"/>
                </a:ext>
              </a:extLst>
            </p:cNvPr>
            <p:cNvSpPr txBox="1"/>
            <p:nvPr/>
          </p:nvSpPr>
          <p:spPr>
            <a:xfrm>
              <a:off x="911424" y="2936362"/>
              <a:ext cx="353274" cy="3649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3" algn="ctr" latinLnBrk="0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B4CA2"/>
                </a:buClr>
                <a:buSzPct val="80000"/>
              </a:pP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Abadi" panose="020B0604020104020204" pitchFamily="34" charset="0"/>
                  <a:ea typeface="+mj-ea"/>
                  <a:sym typeface="Arial"/>
                </a:rPr>
                <a:t>A</a:t>
              </a:r>
              <a:endPara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sym typeface="Arial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CBD8765-F8BB-49C9-BC0C-7B4F057E917B}"/>
                </a:ext>
              </a:extLst>
            </p:cNvPr>
            <p:cNvSpPr txBox="1"/>
            <p:nvPr/>
          </p:nvSpPr>
          <p:spPr>
            <a:xfrm>
              <a:off x="911424" y="4554652"/>
              <a:ext cx="353274" cy="3649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3" algn="ctr" latinLnBrk="0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B4CA2"/>
                </a:buClr>
                <a:buSzPct val="80000"/>
              </a:pP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Abadi" panose="020B0604020104020204" pitchFamily="34" charset="0"/>
                  <a:ea typeface="+mj-ea"/>
                  <a:sym typeface="Arial"/>
                </a:rPr>
                <a:t>B</a:t>
              </a:r>
              <a:endPara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sym typeface="Arial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1334C42-84AB-4773-98E5-A55D6C969ABB}"/>
                </a:ext>
              </a:extLst>
            </p:cNvPr>
            <p:cNvGrpSpPr/>
            <p:nvPr/>
          </p:nvGrpSpPr>
          <p:grpSpPr>
            <a:xfrm>
              <a:off x="3427060" y="4726655"/>
              <a:ext cx="1293250" cy="166415"/>
              <a:chOff x="3176470" y="4387805"/>
              <a:chExt cx="1293250" cy="166415"/>
            </a:xfrm>
          </p:grpSpPr>
          <p:sp>
            <p:nvSpPr>
              <p:cNvPr id="23" name="Google Shape;5203;p26">
                <a:extLst>
                  <a:ext uri="{FF2B5EF4-FFF2-40B4-BE49-F238E27FC236}">
                    <a16:creationId xmlns:a16="http://schemas.microsoft.com/office/drawing/2014/main" id="{C0495086-DD87-43DC-AD32-296644709F87}"/>
                  </a:ext>
                </a:extLst>
              </p:cNvPr>
              <p:cNvSpPr/>
              <p:nvPr/>
            </p:nvSpPr>
            <p:spPr>
              <a:xfrm>
                <a:off x="3176470" y="4387805"/>
                <a:ext cx="167725" cy="166415"/>
              </a:xfrm>
              <a:prstGeom prst="rect">
                <a:avLst/>
              </a:prstGeom>
              <a:solidFill>
                <a:srgbClr val="0B9D96"/>
              </a:solidFill>
              <a:ln w="17130" cap="flat">
                <a:noFill/>
                <a:prstDash val="solid"/>
                <a:miter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sz="2400">
                  <a:solidFill>
                    <a:srgbClr val="105BA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5203;p26">
                <a:extLst>
                  <a:ext uri="{FF2B5EF4-FFF2-40B4-BE49-F238E27FC236}">
                    <a16:creationId xmlns:a16="http://schemas.microsoft.com/office/drawing/2014/main" id="{A3AF77BA-BDBE-4D8F-8E4D-FF29294E8CCA}"/>
                  </a:ext>
                </a:extLst>
              </p:cNvPr>
              <p:cNvSpPr/>
              <p:nvPr/>
            </p:nvSpPr>
            <p:spPr>
              <a:xfrm>
                <a:off x="3364320" y="4387805"/>
                <a:ext cx="167725" cy="166415"/>
              </a:xfrm>
              <a:prstGeom prst="rect">
                <a:avLst/>
              </a:prstGeom>
              <a:solidFill>
                <a:srgbClr val="105BA0"/>
              </a:solidFill>
              <a:ln w="9525" cap="flat">
                <a:noFill/>
                <a:prstDash val="solid"/>
                <a:miter/>
              </a:ln>
              <a:effectLst/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sz="2400">
                  <a:solidFill>
                    <a:srgbClr val="105BA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5203;p26">
                <a:extLst>
                  <a:ext uri="{FF2B5EF4-FFF2-40B4-BE49-F238E27FC236}">
                    <a16:creationId xmlns:a16="http://schemas.microsoft.com/office/drawing/2014/main" id="{8247693F-265D-4DF9-9141-5EDF171B2667}"/>
                  </a:ext>
                </a:extLst>
              </p:cNvPr>
              <p:cNvSpPr/>
              <p:nvPr/>
            </p:nvSpPr>
            <p:spPr>
              <a:xfrm>
                <a:off x="3552170" y="4387805"/>
                <a:ext cx="167725" cy="166415"/>
              </a:xfrm>
              <a:prstGeom prst="rect">
                <a:avLst/>
              </a:prstGeom>
              <a:solidFill>
                <a:srgbClr val="0B9D96"/>
              </a:solidFill>
              <a:ln w="17130" cap="flat">
                <a:noFill/>
                <a:prstDash val="solid"/>
                <a:miter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sz="2400">
                  <a:solidFill>
                    <a:srgbClr val="105BA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5203;p26">
                <a:extLst>
                  <a:ext uri="{FF2B5EF4-FFF2-40B4-BE49-F238E27FC236}">
                    <a16:creationId xmlns:a16="http://schemas.microsoft.com/office/drawing/2014/main" id="{F42806D1-B0DB-48D0-81EC-B0C951802829}"/>
                  </a:ext>
                </a:extLst>
              </p:cNvPr>
              <p:cNvSpPr/>
              <p:nvPr/>
            </p:nvSpPr>
            <p:spPr>
              <a:xfrm>
                <a:off x="3923376" y="4387805"/>
                <a:ext cx="167725" cy="166415"/>
              </a:xfrm>
              <a:prstGeom prst="rect">
                <a:avLst/>
              </a:prstGeom>
              <a:solidFill>
                <a:srgbClr val="105BA0"/>
              </a:solidFill>
              <a:ln w="9525" cap="flat">
                <a:noFill/>
                <a:prstDash val="solid"/>
                <a:miter/>
              </a:ln>
              <a:effectLst/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sz="2400">
                  <a:solidFill>
                    <a:srgbClr val="105BA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5203;p26">
                <a:extLst>
                  <a:ext uri="{FF2B5EF4-FFF2-40B4-BE49-F238E27FC236}">
                    <a16:creationId xmlns:a16="http://schemas.microsoft.com/office/drawing/2014/main" id="{D720535D-8609-4A5D-B847-01E556C6C70A}"/>
                  </a:ext>
                </a:extLst>
              </p:cNvPr>
              <p:cNvSpPr/>
              <p:nvPr/>
            </p:nvSpPr>
            <p:spPr>
              <a:xfrm>
                <a:off x="4111226" y="4387805"/>
                <a:ext cx="167725" cy="166415"/>
              </a:xfrm>
              <a:prstGeom prst="rect">
                <a:avLst/>
              </a:prstGeom>
              <a:solidFill>
                <a:srgbClr val="0B9D96"/>
              </a:solidFill>
              <a:ln w="17130" cap="flat">
                <a:noFill/>
                <a:prstDash val="solid"/>
                <a:miter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sz="2400">
                  <a:solidFill>
                    <a:srgbClr val="105BA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5203;p26">
                <a:extLst>
                  <a:ext uri="{FF2B5EF4-FFF2-40B4-BE49-F238E27FC236}">
                    <a16:creationId xmlns:a16="http://schemas.microsoft.com/office/drawing/2014/main" id="{5D6417DF-8B58-4A9B-9EB7-CD28F8B11CCF}"/>
                  </a:ext>
                </a:extLst>
              </p:cNvPr>
              <p:cNvSpPr/>
              <p:nvPr/>
            </p:nvSpPr>
            <p:spPr>
              <a:xfrm>
                <a:off x="4301995" y="4387805"/>
                <a:ext cx="167725" cy="166415"/>
              </a:xfrm>
              <a:prstGeom prst="rect">
                <a:avLst/>
              </a:prstGeom>
              <a:solidFill>
                <a:srgbClr val="105BA0"/>
              </a:solidFill>
              <a:ln w="9525" cap="flat">
                <a:noFill/>
                <a:prstDash val="solid"/>
                <a:miter/>
              </a:ln>
              <a:effectLst/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sz="2400">
                  <a:solidFill>
                    <a:srgbClr val="105BA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5203;p26">
                <a:extLst>
                  <a:ext uri="{FF2B5EF4-FFF2-40B4-BE49-F238E27FC236}">
                    <a16:creationId xmlns:a16="http://schemas.microsoft.com/office/drawing/2014/main" id="{26AC01F9-3821-4B71-9A0E-D0E88009639D}"/>
                  </a:ext>
                </a:extLst>
              </p:cNvPr>
              <p:cNvSpPr/>
              <p:nvPr/>
            </p:nvSpPr>
            <p:spPr>
              <a:xfrm>
                <a:off x="3735439" y="4387805"/>
                <a:ext cx="167725" cy="166415"/>
              </a:xfrm>
              <a:prstGeom prst="rect">
                <a:avLst/>
              </a:prstGeom>
              <a:solidFill>
                <a:srgbClr val="0B9D96"/>
              </a:solidFill>
              <a:ln w="17130" cap="flat">
                <a:noFill/>
                <a:prstDash val="solid"/>
                <a:miter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endParaRPr sz="2400">
                  <a:solidFill>
                    <a:srgbClr val="105BA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7E773B67-256E-47ED-BC94-4CEAAFC10D96}"/>
                </a:ext>
              </a:extLst>
            </p:cNvPr>
            <p:cNvCxnSpPr>
              <a:cxnSpLocks/>
            </p:cNvCxnSpPr>
            <p:nvPr/>
          </p:nvCxnSpPr>
          <p:spPr>
            <a:xfrm>
              <a:off x="3613746" y="3251200"/>
              <a:ext cx="0" cy="977412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7D7C36AA-1F8F-4F82-A70A-11271C56D8E2}"/>
                </a:ext>
              </a:extLst>
            </p:cNvPr>
            <p:cNvSpPr/>
            <p:nvPr/>
          </p:nvSpPr>
          <p:spPr>
            <a:xfrm>
              <a:off x="3580618" y="4201644"/>
              <a:ext cx="68584" cy="68584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 dirty="0">
                <a:solidFill>
                  <a:srgbClr val="105BA0"/>
                </a:solidFill>
                <a:latin typeface="Abadi" panose="020B0604020104020204" pitchFamily="34" charset="0"/>
                <a:ea typeface="G마켓 산스 TTF Medium" panose="02000000000000000000" pitchFamily="2" charset="-127"/>
              </a:endParaRPr>
            </a:p>
          </p:txBody>
        </p:sp>
        <p:sp>
          <p:nvSpPr>
            <p:cNvPr id="35" name="Rectangle 3">
              <a:extLst>
                <a:ext uri="{FF2B5EF4-FFF2-40B4-BE49-F238E27FC236}">
                  <a16:creationId xmlns:a16="http://schemas.microsoft.com/office/drawing/2014/main" id="{FF230F02-F934-4791-AAAB-9B5DF4A0E54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294556" y="5467876"/>
              <a:ext cx="3389926" cy="4110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버퍼가 꽉 차면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 </a:t>
              </a:r>
              <a:r>
                <a:rPr lang="ko-KR" altLang="en-US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도착하는 패킷은 손실된다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.</a:t>
              </a:r>
            </a:p>
          </p:txBody>
        </p: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1C8B3628-07CC-4093-B592-7FD4F021E9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0354" y="3919006"/>
              <a:ext cx="390677" cy="415421"/>
            </a:xfrm>
            <a:prstGeom prst="line">
              <a:avLst/>
            </a:prstGeom>
            <a:noFill/>
            <a:ln w="9525" cap="rnd">
              <a:solidFill>
                <a:srgbClr val="105BA0"/>
              </a:solidFill>
              <a:prstDash val="sysDash"/>
              <a:round/>
              <a:headEnd/>
              <a:tailEnd/>
            </a:ln>
          </p:spPr>
        </p:cxn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381CD0BA-E149-464F-9F9D-CF1383F25A1A}"/>
                </a:ext>
              </a:extLst>
            </p:cNvPr>
            <p:cNvSpPr/>
            <p:nvPr/>
          </p:nvSpPr>
          <p:spPr>
            <a:xfrm>
              <a:off x="4057226" y="4307459"/>
              <a:ext cx="68584" cy="68584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 dirty="0">
                <a:solidFill>
                  <a:srgbClr val="105BA0"/>
                </a:solidFill>
                <a:latin typeface="Abadi" panose="020B0604020104020204" pitchFamily="34" charset="0"/>
                <a:ea typeface="G마켓 산스 TTF Medium" panose="02000000000000000000" pitchFamily="2" charset="-127"/>
              </a:endParaRPr>
            </a:p>
          </p:txBody>
        </p:sp>
        <p:sp>
          <p:nvSpPr>
            <p:cNvPr id="41" name="Google Shape;5203;p26">
              <a:extLst>
                <a:ext uri="{FF2B5EF4-FFF2-40B4-BE49-F238E27FC236}">
                  <a16:creationId xmlns:a16="http://schemas.microsoft.com/office/drawing/2014/main" id="{4CE69C0E-A406-4C51-AD43-98C8810B1D29}"/>
                </a:ext>
              </a:extLst>
            </p:cNvPr>
            <p:cNvSpPr/>
            <p:nvPr/>
          </p:nvSpPr>
          <p:spPr>
            <a:xfrm>
              <a:off x="5221642" y="4213119"/>
              <a:ext cx="167725" cy="166415"/>
            </a:xfrm>
            <a:prstGeom prst="rect">
              <a:avLst/>
            </a:prstGeom>
            <a:solidFill>
              <a:srgbClr val="0B9D96"/>
            </a:solidFill>
            <a:ln w="17130" cap="flat">
              <a:noFill/>
              <a:prstDash val="solid"/>
              <a:miter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2400">
                <a:solidFill>
                  <a:srgbClr val="105BA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" name="Rectangle 3">
              <a:extLst>
                <a:ext uri="{FF2B5EF4-FFF2-40B4-BE49-F238E27FC236}">
                  <a16:creationId xmlns:a16="http://schemas.microsoft.com/office/drawing/2014/main" id="{97A0DDFF-94C1-46E6-940D-5D2768640EA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442958" y="3732987"/>
              <a:ext cx="1303792" cy="4110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전송되는 패킷</a:t>
              </a:r>
            </a:p>
          </p:txBody>
        </p:sp>
        <p:sp>
          <p:nvSpPr>
            <p:cNvPr id="43" name="Rectangle 3">
              <a:extLst>
                <a:ext uri="{FF2B5EF4-FFF2-40B4-BE49-F238E27FC236}">
                  <a16:creationId xmlns:a16="http://schemas.microsoft.com/office/drawing/2014/main" id="{230D3494-5B2E-4E4E-B2D2-319CB71D4BE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636508" y="3212287"/>
              <a:ext cx="1856242" cy="4110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ko-KR" altLang="en-US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버퍼 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(</a:t>
              </a:r>
              <a:r>
                <a:rPr lang="ko-KR" altLang="en-US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대기 영역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8071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6D38536-E1D5-4F98-9220-A62A198901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처리율 </a:t>
            </a:r>
            <a:r>
              <a:rPr lang="en-US" altLang="ko-KR" dirty="0"/>
              <a:t>(Throughput)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329470C-DB3A-4C24-899C-5F2B35F6D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12</a:t>
            </a:fld>
            <a:endParaRPr 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3F802BCB-DE3C-4D94-AA18-6B92A3993869}"/>
              </a:ext>
            </a:extLst>
          </p:cNvPr>
          <p:cNvGrpSpPr/>
          <p:nvPr/>
        </p:nvGrpSpPr>
        <p:grpSpPr>
          <a:xfrm>
            <a:off x="673656" y="1078722"/>
            <a:ext cx="7340044" cy="1154745"/>
            <a:chOff x="673656" y="1078722"/>
            <a:chExt cx="7340044" cy="1154745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90D934CA-EE54-44B5-8375-BB34ABB7882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1078722"/>
              <a:ext cx="73400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Throughput 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: </a:t>
              </a: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송수신 측 사이에서 비트가 전송되는 전송률 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(bits/</a:t>
              </a:r>
              <a:r>
                <a:rPr lang="ko-KR" altLang="en-US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시간 단위</a:t>
              </a:r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)</a:t>
              </a:r>
              <a:endPara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BDAC427A-8A45-492B-9F13-AB92C9356C2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1510769"/>
              <a:ext cx="6503592" cy="722698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순간</a:t>
              </a:r>
              <a:r>
                <a:rPr lang="en-US" altLang="ko-KR" sz="15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(instantaneous)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: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특점 시점에서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평균</a:t>
              </a:r>
              <a:r>
                <a:rPr lang="en-US" altLang="ko-KR" sz="15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(average) 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:</a:t>
              </a:r>
              <a:r>
                <a:rPr lang="en-US" altLang="ko-KR" sz="15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 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장시간에 걸쳐서</a:t>
              </a:r>
            </a:p>
          </p:txBody>
        </p:sp>
      </p:grp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50B38B63-FDDD-4650-AA37-1C0CD8FD5E7F}"/>
              </a:ext>
            </a:extLst>
          </p:cNvPr>
          <p:cNvCxnSpPr>
            <a:cxnSpLocks/>
          </p:cNvCxnSpPr>
          <p:nvPr/>
        </p:nvCxnSpPr>
        <p:spPr>
          <a:xfrm>
            <a:off x="1480789" y="4424427"/>
            <a:ext cx="0" cy="712697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F54D7B78-15ED-4D3F-A741-EA3725A11F66}"/>
              </a:ext>
            </a:extLst>
          </p:cNvPr>
          <p:cNvCxnSpPr>
            <a:cxnSpLocks/>
          </p:cNvCxnSpPr>
          <p:nvPr/>
        </p:nvCxnSpPr>
        <p:spPr>
          <a:xfrm>
            <a:off x="3558347" y="4424427"/>
            <a:ext cx="0" cy="712697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F946B86D-F05B-4CB0-9814-3EA2B1F40EE5}"/>
              </a:ext>
            </a:extLst>
          </p:cNvPr>
          <p:cNvGrpSpPr/>
          <p:nvPr/>
        </p:nvGrpSpPr>
        <p:grpSpPr>
          <a:xfrm>
            <a:off x="1317578" y="5128757"/>
            <a:ext cx="6605725" cy="591572"/>
            <a:chOff x="1317578" y="5128757"/>
            <a:chExt cx="6605725" cy="591572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CE19EB6-AF90-4E89-8414-774A2193BF66}"/>
                </a:ext>
              </a:extLst>
            </p:cNvPr>
            <p:cNvSpPr txBox="1"/>
            <p:nvPr/>
          </p:nvSpPr>
          <p:spPr>
            <a:xfrm>
              <a:off x="1317578" y="5128757"/>
              <a:ext cx="1995559" cy="5915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3" latinLnBrk="0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B4CA2"/>
                </a:buClr>
                <a:buSzPct val="80000"/>
              </a:pP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server, with file of F bits to send to client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C32C433-63D6-48FD-9EAF-AA58D2727115}"/>
                </a:ext>
              </a:extLst>
            </p:cNvPr>
            <p:cNvSpPr txBox="1"/>
            <p:nvPr/>
          </p:nvSpPr>
          <p:spPr>
            <a:xfrm>
              <a:off x="3395135" y="5128757"/>
              <a:ext cx="2287398" cy="5915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3" latinLnBrk="0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B4CA2"/>
                </a:buClr>
                <a:buSzPct val="80000"/>
              </a:pP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link capacity </a:t>
              </a:r>
              <a:b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</a:b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R</a:t>
              </a:r>
              <a:r>
                <a:rPr lang="en-US" altLang="ko-KR" baseline="-250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s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 bits/sec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41A5D6D-A808-45B2-9A5A-901EBADBE94C}"/>
                </a:ext>
              </a:extLst>
            </p:cNvPr>
            <p:cNvSpPr txBox="1"/>
            <p:nvPr/>
          </p:nvSpPr>
          <p:spPr>
            <a:xfrm>
              <a:off x="5927744" y="5128757"/>
              <a:ext cx="1995559" cy="5915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3" latinLnBrk="0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B4CA2"/>
                </a:buClr>
                <a:buSzPct val="80000"/>
              </a:pP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link capacity </a:t>
              </a:r>
              <a:b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</a:br>
              <a:r>
                <a:rPr lang="en-US" altLang="ko-KR" sz="14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R</a:t>
              </a:r>
              <a:r>
                <a:rPr lang="en-US" altLang="ko-KR" baseline="-250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c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 bits/sec</a:t>
              </a:r>
            </a:p>
          </p:txBody>
        </p:sp>
      </p:grp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F69DE707-ABA4-4241-B1FC-B2BB0052FE39}"/>
              </a:ext>
            </a:extLst>
          </p:cNvPr>
          <p:cNvCxnSpPr>
            <a:cxnSpLocks/>
          </p:cNvCxnSpPr>
          <p:nvPr/>
        </p:nvCxnSpPr>
        <p:spPr>
          <a:xfrm>
            <a:off x="6090955" y="4424427"/>
            <a:ext cx="0" cy="712697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AA7862D8-9D0B-4938-9E3C-10BF242129D7}"/>
              </a:ext>
            </a:extLst>
          </p:cNvPr>
          <p:cNvGrpSpPr/>
          <p:nvPr/>
        </p:nvGrpSpPr>
        <p:grpSpPr>
          <a:xfrm>
            <a:off x="1007127" y="2774495"/>
            <a:ext cx="7043101" cy="1956888"/>
            <a:chOff x="986474" y="2555419"/>
            <a:chExt cx="7275082" cy="2021343"/>
          </a:xfrm>
        </p:grpSpPr>
        <p:sp>
          <p:nvSpPr>
            <p:cNvPr id="65" name="AutoShape 350">
              <a:extLst>
                <a:ext uri="{FF2B5EF4-FFF2-40B4-BE49-F238E27FC236}">
                  <a16:creationId xmlns:a16="http://schemas.microsoft.com/office/drawing/2014/main" id="{2D40FADA-3F3D-49F9-8FBE-B4290CFC8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8390" y="3792537"/>
              <a:ext cx="681234" cy="485775"/>
            </a:xfrm>
            <a:prstGeom prst="rightArrow">
              <a:avLst>
                <a:gd name="adj1" fmla="val 68823"/>
                <a:gd name="adj2" fmla="val 37909"/>
              </a:avLst>
            </a:prstGeom>
            <a:solidFill>
              <a:srgbClr val="F27037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 dirty="0">
                <a:latin typeface="Abadi" panose="020B0604020104020204" pitchFamily="34" charset="0"/>
              </a:endParaRPr>
            </a:p>
          </p:txBody>
        </p:sp>
        <p:sp>
          <p:nvSpPr>
            <p:cNvPr id="83" name="AutoShape 327">
              <a:extLst>
                <a:ext uri="{FF2B5EF4-FFF2-40B4-BE49-F238E27FC236}">
                  <a16:creationId xmlns:a16="http://schemas.microsoft.com/office/drawing/2014/main" id="{B69AE369-2B72-442A-B8F6-721AAD8397F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630468" y="3093148"/>
              <a:ext cx="640222" cy="1860565"/>
            </a:xfrm>
            <a:prstGeom prst="can">
              <a:avLst>
                <a:gd name="adj" fmla="val 23491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1816568F-738B-4A32-97E3-0E359C223AFA}"/>
                </a:ext>
              </a:extLst>
            </p:cNvPr>
            <p:cNvGrpSpPr/>
            <p:nvPr/>
          </p:nvGrpSpPr>
          <p:grpSpPr>
            <a:xfrm>
              <a:off x="7238315" y="3358939"/>
              <a:ext cx="1023241" cy="1217823"/>
              <a:chOff x="3182618" y="4520968"/>
              <a:chExt cx="878294" cy="1045313"/>
            </a:xfrm>
          </p:grpSpPr>
          <p:sp>
            <p:nvSpPr>
              <p:cNvPr id="86" name="타원 85">
                <a:extLst>
                  <a:ext uri="{FF2B5EF4-FFF2-40B4-BE49-F238E27FC236}">
                    <a16:creationId xmlns:a16="http://schemas.microsoft.com/office/drawing/2014/main" id="{23DCDCB7-1C64-4AC6-A0ED-CFF23DBFDB42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rgbClr val="E1EC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87" name="그림 86">
                <a:extLst>
                  <a:ext uri="{FF2B5EF4-FFF2-40B4-BE49-F238E27FC236}">
                    <a16:creationId xmlns:a16="http://schemas.microsoft.com/office/drawing/2014/main" id="{78310E49-8594-4B60-9D58-727955E197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sp>
          <p:nvSpPr>
            <p:cNvPr id="80" name="AutoShape 351">
              <a:extLst>
                <a:ext uri="{FF2B5EF4-FFF2-40B4-BE49-F238E27FC236}">
                  <a16:creationId xmlns:a16="http://schemas.microsoft.com/office/drawing/2014/main" id="{4A0BE922-C951-41CB-B430-034E39FD9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0708" y="3775074"/>
              <a:ext cx="1342312" cy="485775"/>
            </a:xfrm>
            <a:prstGeom prst="rightArrow">
              <a:avLst>
                <a:gd name="adj1" fmla="val 62549"/>
                <a:gd name="adj2" fmla="val 47027"/>
              </a:avLst>
            </a:prstGeom>
            <a:solidFill>
              <a:srgbClr val="F27037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 dirty="0">
                <a:latin typeface="Abadi" panose="020B0604020104020204" pitchFamily="34" charset="0"/>
              </a:endParaRPr>
            </a:p>
          </p:txBody>
        </p:sp>
        <p:sp>
          <p:nvSpPr>
            <p:cNvPr id="82" name="AutoShape 327">
              <a:extLst>
                <a:ext uri="{FF2B5EF4-FFF2-40B4-BE49-F238E27FC236}">
                  <a16:creationId xmlns:a16="http://schemas.microsoft.com/office/drawing/2014/main" id="{59B3287C-6E64-4489-BE39-4454DB62A65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837739" y="3203177"/>
              <a:ext cx="426862" cy="1640505"/>
            </a:xfrm>
            <a:prstGeom prst="can">
              <a:avLst>
                <a:gd name="adj" fmla="val 23491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88" name="화살표: 굽음 87">
              <a:extLst>
                <a:ext uri="{FF2B5EF4-FFF2-40B4-BE49-F238E27FC236}">
                  <a16:creationId xmlns:a16="http://schemas.microsoft.com/office/drawing/2014/main" id="{63E02000-9F88-4F2A-A8B6-1B966E698198}"/>
                </a:ext>
              </a:extLst>
            </p:cNvPr>
            <p:cNvSpPr/>
            <p:nvPr/>
          </p:nvSpPr>
          <p:spPr>
            <a:xfrm rot="10800000" flipH="1">
              <a:off x="1127760" y="3134909"/>
              <a:ext cx="1151754" cy="1094191"/>
            </a:xfrm>
            <a:prstGeom prst="bentArrow">
              <a:avLst>
                <a:gd name="adj1" fmla="val 21012"/>
                <a:gd name="adj2" fmla="val 19351"/>
                <a:gd name="adj3" fmla="val 25000"/>
                <a:gd name="adj4" fmla="val 43750"/>
              </a:avLst>
            </a:prstGeom>
            <a:solidFill>
              <a:srgbClr val="F27037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pic>
          <p:nvPicPr>
            <p:cNvPr id="84" name="그림 83" descr="텍스트, 실내, 컴퓨터이(가) 표시된 사진&#10;&#10;자동 생성된 설명">
              <a:extLst>
                <a:ext uri="{FF2B5EF4-FFF2-40B4-BE49-F238E27FC236}">
                  <a16:creationId xmlns:a16="http://schemas.microsoft.com/office/drawing/2014/main" id="{1E66573B-2F9E-4BEF-AE29-ECC874305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84159" y="3374024"/>
              <a:ext cx="460679" cy="683191"/>
            </a:xfrm>
            <a:prstGeom prst="rect">
              <a:avLst/>
            </a:prstGeom>
          </p:spPr>
        </p:pic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F25873EF-A947-4E2A-B82A-5917E8A06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59054" y="3550920"/>
              <a:ext cx="665824" cy="518156"/>
            </a:xfrm>
            <a:prstGeom prst="rect">
              <a:avLst/>
            </a:prstGeom>
          </p:spPr>
        </p:pic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23668A24-C913-4326-9226-F33BFE3AF99C}"/>
                </a:ext>
              </a:extLst>
            </p:cNvPr>
            <p:cNvSpPr/>
            <p:nvPr/>
          </p:nvSpPr>
          <p:spPr>
            <a:xfrm>
              <a:off x="1441445" y="4216906"/>
              <a:ext cx="68584" cy="68584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 dirty="0">
                <a:solidFill>
                  <a:prstClr val="white"/>
                </a:solidFill>
                <a:latin typeface="Abadi" panose="020B0604020104020204" pitchFamily="34" charset="0"/>
                <a:ea typeface="G마켓 산스 TTF Medium" panose="02000000000000000000" pitchFamily="2" charset="-127"/>
              </a:endParaRPr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B96B986F-D7B5-4A7F-BF78-04E840359A6C}"/>
                </a:ext>
              </a:extLst>
            </p:cNvPr>
            <p:cNvSpPr/>
            <p:nvPr/>
          </p:nvSpPr>
          <p:spPr>
            <a:xfrm>
              <a:off x="3587432" y="4216906"/>
              <a:ext cx="68584" cy="68584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 dirty="0">
                <a:solidFill>
                  <a:prstClr val="white"/>
                </a:solidFill>
                <a:latin typeface="Abadi" panose="020B0604020104020204" pitchFamily="34" charset="0"/>
                <a:ea typeface="G마켓 산스 TTF Medium" panose="02000000000000000000" pitchFamily="2" charset="-127"/>
              </a:endParaRPr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15509517-F333-4A76-900E-6D558930128A}"/>
                </a:ext>
              </a:extLst>
            </p:cNvPr>
            <p:cNvSpPr/>
            <p:nvPr/>
          </p:nvSpPr>
          <p:spPr>
            <a:xfrm>
              <a:off x="6203458" y="4216906"/>
              <a:ext cx="68584" cy="68584"/>
            </a:xfrm>
            <a:prstGeom prst="ellipse">
              <a:avLst/>
            </a:prstGeom>
            <a:solidFill>
              <a:srgbClr val="105BA0"/>
            </a:solidFill>
            <a:ln>
              <a:solidFill>
                <a:schemeClr val="bg1"/>
              </a:solidFill>
            </a:ln>
            <a:effectLst>
              <a:outerShdw blurRad="38100" dist="12700" dir="5400000" algn="t" rotWithShape="0">
                <a:srgbClr val="105BA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 dirty="0">
                <a:solidFill>
                  <a:prstClr val="white"/>
                </a:solidFill>
                <a:latin typeface="Abadi" panose="020B0604020104020204" pitchFamily="34" charset="0"/>
                <a:ea typeface="G마켓 산스 TTF Medium" panose="02000000000000000000" pitchFamily="2" charset="-127"/>
              </a:endParaRPr>
            </a:p>
          </p:txBody>
        </p:sp>
        <p:sp>
          <p:nvSpPr>
            <p:cNvPr id="7" name="AutoShape 327">
              <a:extLst>
                <a:ext uri="{FF2B5EF4-FFF2-40B4-BE49-F238E27FC236}">
                  <a16:creationId xmlns:a16="http://schemas.microsoft.com/office/drawing/2014/main" id="{B8955234-B90F-4899-B6D1-2A3427D1B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474" y="2555419"/>
              <a:ext cx="491806" cy="721766"/>
            </a:xfrm>
            <a:prstGeom prst="can">
              <a:avLst>
                <a:gd name="adj" fmla="val 23491"/>
              </a:avLst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7B00FE37-E6C6-401B-B74F-8E952F4C2126}"/>
              </a:ext>
            </a:extLst>
          </p:cNvPr>
          <p:cNvSpPr/>
          <p:nvPr/>
        </p:nvSpPr>
        <p:spPr>
          <a:xfrm>
            <a:off x="795798" y="2379777"/>
            <a:ext cx="7465758" cy="3697173"/>
          </a:xfrm>
          <a:prstGeom prst="rect">
            <a:avLst/>
          </a:prstGeom>
          <a:noFill/>
          <a:ln w="19050">
            <a:solidFill>
              <a:srgbClr val="E1E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4BD46305-E375-49E3-9EBE-4FBCFA26F043}"/>
              </a:ext>
            </a:extLst>
          </p:cNvPr>
          <p:cNvGrpSpPr/>
          <p:nvPr/>
        </p:nvGrpSpPr>
        <p:grpSpPr>
          <a:xfrm>
            <a:off x="1317578" y="5165731"/>
            <a:ext cx="6605725" cy="591572"/>
            <a:chOff x="1317578" y="5128757"/>
            <a:chExt cx="6605725" cy="591572"/>
          </a:xfrm>
          <a:solidFill>
            <a:schemeClr val="bg1"/>
          </a:solidFill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3803A3E5-29BA-4577-AD24-A99447A03DDD}"/>
                </a:ext>
              </a:extLst>
            </p:cNvPr>
            <p:cNvSpPr txBox="1"/>
            <p:nvPr/>
          </p:nvSpPr>
          <p:spPr>
            <a:xfrm>
              <a:off x="1317578" y="5128757"/>
              <a:ext cx="1995559" cy="59157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marL="0" marR="0" lvl="3" latinLnBrk="0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B4CA2"/>
                </a:buClr>
                <a:buSzPct val="80000"/>
              </a:pP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서버가 파이프에 비트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(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흐름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)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를 보낸다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0306CA1-E414-41C2-9B84-1AD59EB7B6D2}"/>
                </a:ext>
              </a:extLst>
            </p:cNvPr>
            <p:cNvSpPr txBox="1"/>
            <p:nvPr/>
          </p:nvSpPr>
          <p:spPr>
            <a:xfrm>
              <a:off x="3395135" y="5128757"/>
              <a:ext cx="2287398" cy="59157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marL="0" marR="0" lvl="3" latinLnBrk="0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B4CA2"/>
                </a:buClr>
                <a:buSzPct val="80000"/>
              </a:pP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R</a:t>
              </a:r>
              <a:r>
                <a:rPr lang="en-US" altLang="ko-KR" baseline="-250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s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 bits/sec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로 </a:t>
              </a:r>
              <a:b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</a:br>
              <a:r>
                <a:rPr lang="ko-KR" altLang="en-US" sz="14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흘려보낼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 수 있는 파이프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1D1B4725-03E6-421E-9B39-5E3EED2D2D08}"/>
                </a:ext>
              </a:extLst>
            </p:cNvPr>
            <p:cNvSpPr txBox="1"/>
            <p:nvPr/>
          </p:nvSpPr>
          <p:spPr>
            <a:xfrm>
              <a:off x="5927744" y="5128757"/>
              <a:ext cx="1995559" cy="59157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marL="0" marR="0" lvl="3" latinLnBrk="0">
                <a:lnSpc>
                  <a:spcPct val="12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B4CA2"/>
                </a:buClr>
                <a:buSzPct val="80000"/>
              </a:pPr>
              <a:r>
                <a:rPr lang="en-US" altLang="ko-KR" sz="14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R</a:t>
              </a:r>
              <a:r>
                <a:rPr lang="en-US" altLang="ko-KR" baseline="-250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c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 bits/sec </a:t>
              </a:r>
              <a:r>
                <a:rPr lang="ko-KR" altLang="en-US" sz="14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흘려보낼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  <a:sym typeface="Arial"/>
                </a:rPr>
                <a:t> 수 있는 파이프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8968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화살표: 굽음 61">
            <a:extLst>
              <a:ext uri="{FF2B5EF4-FFF2-40B4-BE49-F238E27FC236}">
                <a16:creationId xmlns:a16="http://schemas.microsoft.com/office/drawing/2014/main" id="{28C71D0C-4501-4D5F-BA7D-495E485CF37F}"/>
              </a:ext>
            </a:extLst>
          </p:cNvPr>
          <p:cNvSpPr/>
          <p:nvPr/>
        </p:nvSpPr>
        <p:spPr>
          <a:xfrm rot="10800000" flipH="1">
            <a:off x="1617903" y="4144620"/>
            <a:ext cx="876772" cy="832952"/>
          </a:xfrm>
          <a:prstGeom prst="bentArrow">
            <a:avLst>
              <a:gd name="adj1" fmla="val 21012"/>
              <a:gd name="adj2" fmla="val 19351"/>
              <a:gd name="adj3" fmla="val 25000"/>
              <a:gd name="adj4" fmla="val 43750"/>
            </a:avLst>
          </a:prstGeom>
          <a:solidFill>
            <a:srgbClr val="F2703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582F985-1FAA-4863-A4AB-050A59BF80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처리율 </a:t>
            </a:r>
            <a:r>
              <a:rPr lang="en-US" altLang="ko-KR" dirty="0"/>
              <a:t>(more)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E1C4DFE-22DF-4AE9-9D10-B4914B16A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9FDFC0-C265-40B6-B497-5CE8E5FD753A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78722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R</a:t>
            </a:r>
            <a:r>
              <a:rPr lang="en-US" altLang="ko-KR" sz="1600" baseline="-250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s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&lt; </a:t>
            </a: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R</a:t>
            </a:r>
            <a:r>
              <a:rPr lang="en-US" altLang="ko-KR" sz="1600" baseline="-250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종단간 평균 처리율은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?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C6FECC4-081C-43A3-A5E5-0DBC5925488F}"/>
              </a:ext>
            </a:extLst>
          </p:cNvPr>
          <p:cNvGrpSpPr/>
          <p:nvPr/>
        </p:nvGrpSpPr>
        <p:grpSpPr>
          <a:xfrm>
            <a:off x="1510349" y="1569673"/>
            <a:ext cx="5538151" cy="1538746"/>
            <a:chOff x="1157924" y="1723526"/>
            <a:chExt cx="6138226" cy="1705474"/>
          </a:xfrm>
        </p:grpSpPr>
        <p:sp>
          <p:nvSpPr>
            <p:cNvPr id="13" name="화살표: 굽음 12">
              <a:extLst>
                <a:ext uri="{FF2B5EF4-FFF2-40B4-BE49-F238E27FC236}">
                  <a16:creationId xmlns:a16="http://schemas.microsoft.com/office/drawing/2014/main" id="{F4E90216-CE4A-4D18-94F6-B6E81EB07C26}"/>
                </a:ext>
              </a:extLst>
            </p:cNvPr>
            <p:cNvSpPr/>
            <p:nvPr/>
          </p:nvSpPr>
          <p:spPr>
            <a:xfrm rot="10800000" flipH="1">
              <a:off x="1277132" y="2212461"/>
              <a:ext cx="971773" cy="923205"/>
            </a:xfrm>
            <a:prstGeom prst="bentArrow">
              <a:avLst>
                <a:gd name="adj1" fmla="val 21012"/>
                <a:gd name="adj2" fmla="val 19351"/>
                <a:gd name="adj3" fmla="val 25000"/>
                <a:gd name="adj4" fmla="val 43750"/>
              </a:avLst>
            </a:prstGeom>
            <a:solidFill>
              <a:srgbClr val="F27037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7" name="AutoShape 350">
              <a:extLst>
                <a:ext uri="{FF2B5EF4-FFF2-40B4-BE49-F238E27FC236}">
                  <a16:creationId xmlns:a16="http://schemas.microsoft.com/office/drawing/2014/main" id="{CF1762B2-6124-4E64-A605-E3353B861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7570" y="2767323"/>
              <a:ext cx="574780" cy="409864"/>
            </a:xfrm>
            <a:prstGeom prst="rightArrow">
              <a:avLst>
                <a:gd name="adj1" fmla="val 68823"/>
                <a:gd name="adj2" fmla="val 37909"/>
              </a:avLst>
            </a:prstGeom>
            <a:solidFill>
              <a:srgbClr val="F27037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 dirty="0">
                <a:latin typeface="Abadi" panose="020B0604020104020204" pitchFamily="34" charset="0"/>
              </a:endParaRPr>
            </a:p>
          </p:txBody>
        </p:sp>
        <p:sp>
          <p:nvSpPr>
            <p:cNvPr id="8" name="AutoShape 327">
              <a:extLst>
                <a:ext uri="{FF2B5EF4-FFF2-40B4-BE49-F238E27FC236}">
                  <a16:creationId xmlns:a16="http://schemas.microsoft.com/office/drawing/2014/main" id="{8998645C-BDAD-4CB0-8E4A-3CE990BCF62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076214" y="2177226"/>
              <a:ext cx="540176" cy="1569820"/>
            </a:xfrm>
            <a:prstGeom prst="can">
              <a:avLst>
                <a:gd name="adj" fmla="val 23491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9" name="AutoShape 327">
              <a:extLst>
                <a:ext uri="{FF2B5EF4-FFF2-40B4-BE49-F238E27FC236}">
                  <a16:creationId xmlns:a16="http://schemas.microsoft.com/office/drawing/2014/main" id="{BD8EBF2D-AABB-47D6-B65E-D7460B100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7924" y="1723526"/>
              <a:ext cx="414953" cy="608978"/>
            </a:xfrm>
            <a:prstGeom prst="can">
              <a:avLst>
                <a:gd name="adj" fmla="val 23491"/>
              </a:avLst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1702E547-0659-409C-A9A5-0EE9D20AA1C3}"/>
                </a:ext>
              </a:extLst>
            </p:cNvPr>
            <p:cNvGrpSpPr/>
            <p:nvPr/>
          </p:nvGrpSpPr>
          <p:grpSpPr>
            <a:xfrm>
              <a:off x="6432808" y="2401482"/>
              <a:ext cx="863342" cy="1027518"/>
              <a:chOff x="3182618" y="4520968"/>
              <a:chExt cx="878294" cy="1045313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21F66B61-19F4-40F3-95BD-98A83D2A0FF0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rgbClr val="E1EC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9F62C7EF-7018-4D47-ABCE-308199ECD1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sp>
          <p:nvSpPr>
            <p:cNvPr id="11" name="AutoShape 351">
              <a:extLst>
                <a:ext uri="{FF2B5EF4-FFF2-40B4-BE49-F238E27FC236}">
                  <a16:creationId xmlns:a16="http://schemas.microsoft.com/office/drawing/2014/main" id="{F3F5B77B-CD6F-4D79-B5F2-1BCB951B3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7074" y="2752589"/>
              <a:ext cx="1132553" cy="409864"/>
            </a:xfrm>
            <a:prstGeom prst="rightArrow">
              <a:avLst>
                <a:gd name="adj1" fmla="val 62549"/>
                <a:gd name="adj2" fmla="val 47027"/>
              </a:avLst>
            </a:prstGeom>
            <a:solidFill>
              <a:srgbClr val="F27037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 dirty="0">
                <a:latin typeface="Abadi" panose="020B0604020104020204" pitchFamily="34" charset="0"/>
              </a:endParaRPr>
            </a:p>
          </p:txBody>
        </p:sp>
        <p:sp>
          <p:nvSpPr>
            <p:cNvPr id="12" name="AutoShape 327">
              <a:extLst>
                <a:ext uri="{FF2B5EF4-FFF2-40B4-BE49-F238E27FC236}">
                  <a16:creationId xmlns:a16="http://schemas.microsoft.com/office/drawing/2014/main" id="{E48BC430-40E1-48FD-883D-2BA60E74E0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719897" y="2270061"/>
              <a:ext cx="360158" cy="1384148"/>
            </a:xfrm>
            <a:prstGeom prst="can">
              <a:avLst>
                <a:gd name="adj" fmla="val 23491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4" name="그림 13" descr="텍스트, 실내, 컴퓨터이(가) 표시된 사진&#10;&#10;자동 생성된 설명">
              <a:extLst>
                <a:ext uri="{FF2B5EF4-FFF2-40B4-BE49-F238E27FC236}">
                  <a16:creationId xmlns:a16="http://schemas.microsoft.com/office/drawing/2014/main" id="{61000365-D026-472F-9E26-C1CF5B809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3464" y="2414210"/>
              <a:ext cx="388690" cy="57643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0133D594-6828-4EC8-9742-B95F828B78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750361" y="2563463"/>
              <a:ext cx="561778" cy="437185"/>
            </a:xfrm>
            <a:prstGeom prst="rect">
              <a:avLst/>
            </a:prstGeom>
          </p:spPr>
        </p:pic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11FFA0EE-BD45-4ECD-BB60-4309B6EB9B72}"/>
              </a:ext>
            </a:extLst>
          </p:cNvPr>
          <p:cNvGrpSpPr/>
          <p:nvPr/>
        </p:nvGrpSpPr>
        <p:grpSpPr>
          <a:xfrm>
            <a:off x="600792" y="5399596"/>
            <a:ext cx="7415597" cy="980249"/>
            <a:chOff x="600792" y="5399596"/>
            <a:chExt cx="7415597" cy="980249"/>
          </a:xfrm>
        </p:grpSpPr>
        <p:sp>
          <p:nvSpPr>
            <p:cNvPr id="34" name="사각형: 잘린 한쪽 모서리 33">
              <a:extLst>
                <a:ext uri="{FF2B5EF4-FFF2-40B4-BE49-F238E27FC236}">
                  <a16:creationId xmlns:a16="http://schemas.microsoft.com/office/drawing/2014/main" id="{F9EC5798-80A2-4022-9A3B-8875970F67F5}"/>
                </a:ext>
              </a:extLst>
            </p:cNvPr>
            <p:cNvSpPr/>
            <p:nvPr/>
          </p:nvSpPr>
          <p:spPr>
            <a:xfrm>
              <a:off x="844235" y="5443856"/>
              <a:ext cx="6826930" cy="935989"/>
            </a:xfrm>
            <a:prstGeom prst="snip1Rect">
              <a:avLst>
                <a:gd name="adj" fmla="val 24985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 dirty="0">
                <a:latin typeface="Abadi" panose="020B0604020104020204" pitchFamily="34" charset="0"/>
                <a:sym typeface="Arial"/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3AB3B1FA-4EC2-400D-85F7-76ECA0D8AE53}"/>
                </a:ext>
              </a:extLst>
            </p:cNvPr>
            <p:cNvGrpSpPr/>
            <p:nvPr/>
          </p:nvGrpSpPr>
          <p:grpSpPr>
            <a:xfrm>
              <a:off x="600792" y="5399596"/>
              <a:ext cx="502804" cy="590566"/>
              <a:chOff x="772242" y="4542981"/>
              <a:chExt cx="502804" cy="590566"/>
            </a:xfrm>
          </p:grpSpPr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A700CC02-41C3-4EEC-890F-E2A13C90A978}"/>
                  </a:ext>
                </a:extLst>
              </p:cNvPr>
              <p:cNvSpPr/>
              <p:nvPr/>
            </p:nvSpPr>
            <p:spPr>
              <a:xfrm>
                <a:off x="864844" y="5049126"/>
                <a:ext cx="314384" cy="84421"/>
              </a:xfrm>
              <a:prstGeom prst="ellipse">
                <a:avLst/>
              </a:prstGeom>
              <a:solidFill>
                <a:srgbClr val="DCF5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badi" panose="020B0604020104020204" pitchFamily="34" charset="0"/>
                </a:endParaRPr>
              </a:p>
            </p:txBody>
          </p:sp>
          <p:pic>
            <p:nvPicPr>
              <p:cNvPr id="37" name="그래픽 36">
                <a:extLst>
                  <a:ext uri="{FF2B5EF4-FFF2-40B4-BE49-F238E27FC236}">
                    <a16:creationId xmlns:a16="http://schemas.microsoft.com/office/drawing/2014/main" id="{43283C74-C725-4C87-BED2-22CA449A68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 rot="5400000">
                <a:off x="744309" y="4570914"/>
                <a:ext cx="558670" cy="502804"/>
              </a:xfrm>
              <a:prstGeom prst="rect">
                <a:avLst/>
              </a:prstGeom>
            </p:spPr>
          </p:pic>
          <p:pic>
            <p:nvPicPr>
              <p:cNvPr id="38" name="그림 37">
                <a:extLst>
                  <a:ext uri="{FF2B5EF4-FFF2-40B4-BE49-F238E27FC236}">
                    <a16:creationId xmlns:a16="http://schemas.microsoft.com/office/drawing/2014/main" id="{57A44498-61D8-4B31-B1B0-2F4814952D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2075" y="4642361"/>
                <a:ext cx="299920" cy="350048"/>
              </a:xfrm>
              <a:prstGeom prst="rect">
                <a:avLst/>
              </a:prstGeom>
            </p:spPr>
          </p:pic>
        </p:grpSp>
        <p:sp>
          <p:nvSpPr>
            <p:cNvPr id="39" name="Rectangle 5">
              <a:extLst>
                <a:ext uri="{FF2B5EF4-FFF2-40B4-BE49-F238E27FC236}">
                  <a16:creationId xmlns:a16="http://schemas.microsoft.com/office/drawing/2014/main" id="{A4567FD9-DC0E-4C9D-AF29-1BEDDA328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9459" y="5542548"/>
              <a:ext cx="6826930" cy="3939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buClr>
                  <a:schemeClr val="accent2"/>
                </a:buClr>
                <a:buSzPct val="85000"/>
              </a:pP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Abadi" panose="020B0604020104020204" pitchFamily="34" charset="0"/>
                  <a:ea typeface="+mj-ea"/>
                  <a:cs typeface="+mj-cs"/>
                </a:rPr>
                <a:t>병목 링크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Abadi" panose="020B0604020104020204" pitchFamily="34" charset="0"/>
                  <a:ea typeface="+mj-ea"/>
                  <a:cs typeface="+mj-cs"/>
                </a:rPr>
                <a:t>(bottleneck link)</a:t>
              </a:r>
            </a:p>
          </p:txBody>
        </p:sp>
        <p:sp>
          <p:nvSpPr>
            <p:cNvPr id="41" name="Rectangle 3">
              <a:extLst>
                <a:ext uri="{FF2B5EF4-FFF2-40B4-BE49-F238E27FC236}">
                  <a16:creationId xmlns:a16="http://schemas.microsoft.com/office/drawing/2014/main" id="{105486F0-1A86-47E4-B65A-ECAF50AAFDD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189459" y="5920984"/>
              <a:ext cx="6503592" cy="350289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경로상에서 종단간 처리율을 제한하는 링크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BC0690F-1066-466C-A575-1EC85F357492}"/>
              </a:ext>
            </a:extLst>
          </p:cNvPr>
          <p:cNvSpPr txBox="1"/>
          <p:nvPr/>
        </p:nvSpPr>
        <p:spPr>
          <a:xfrm>
            <a:off x="2416840" y="2531929"/>
            <a:ext cx="1298682" cy="33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3" algn="ctr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R</a:t>
            </a:r>
            <a:r>
              <a:rPr lang="en-US" altLang="ko-KR" sz="1400" baseline="-250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bits/sec</a:t>
            </a:r>
            <a:endParaRPr lang="ko-KR" altLang="en-US" sz="14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C8CE35-468D-4A39-8D02-6338E91104D7}"/>
              </a:ext>
            </a:extLst>
          </p:cNvPr>
          <p:cNvSpPr txBox="1"/>
          <p:nvPr/>
        </p:nvSpPr>
        <p:spPr>
          <a:xfrm>
            <a:off x="4673917" y="2531929"/>
            <a:ext cx="1298682" cy="33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3" algn="ctr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</a:t>
            </a:r>
            <a:r>
              <a:rPr lang="en-US" altLang="ko-KR" sz="1400" baseline="-250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bits/sec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3016314-6FCF-428F-B542-20E4FEBFFEC7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207331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R</a:t>
            </a:r>
            <a:r>
              <a:rPr lang="en-US" altLang="ko-KR" sz="1600" baseline="-250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s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&gt; </a:t>
            </a: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R</a:t>
            </a:r>
            <a:r>
              <a:rPr lang="en-US" altLang="ko-KR" sz="1600" baseline="-250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종단간 평균 처리율은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?</a:t>
            </a:r>
          </a:p>
        </p:txBody>
      </p:sp>
      <p:sp>
        <p:nvSpPr>
          <p:cNvPr id="63" name="AutoShape 350">
            <a:extLst>
              <a:ext uri="{FF2B5EF4-FFF2-40B4-BE49-F238E27FC236}">
                <a16:creationId xmlns:a16="http://schemas.microsoft.com/office/drawing/2014/main" id="{1D6EF4F1-1BF6-4DA4-95FD-E3D99BA02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8066" y="4645239"/>
            <a:ext cx="310101" cy="369795"/>
          </a:xfrm>
          <a:prstGeom prst="rightArrow">
            <a:avLst>
              <a:gd name="adj1" fmla="val 68823"/>
              <a:gd name="adj2" fmla="val 37909"/>
            </a:avLst>
          </a:prstGeom>
          <a:solidFill>
            <a:srgbClr val="F2703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dirty="0">
              <a:latin typeface="Abadi" panose="020B0604020104020204" pitchFamily="34" charset="0"/>
            </a:endParaRPr>
          </a:p>
        </p:txBody>
      </p:sp>
      <p:sp>
        <p:nvSpPr>
          <p:cNvPr id="65" name="AutoShape 327">
            <a:extLst>
              <a:ext uri="{FF2B5EF4-FFF2-40B4-BE49-F238E27FC236}">
                <a16:creationId xmlns:a16="http://schemas.microsoft.com/office/drawing/2014/main" id="{2AC7C8EB-70B4-4240-AEB3-611CF88E5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0349" y="3703484"/>
            <a:ext cx="374387" cy="549444"/>
          </a:xfrm>
          <a:prstGeom prst="can">
            <a:avLst>
              <a:gd name="adj" fmla="val 23491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B1328DF3-B367-4C4E-A356-A102229D2828}"/>
              </a:ext>
            </a:extLst>
          </p:cNvPr>
          <p:cNvGrpSpPr/>
          <p:nvPr/>
        </p:nvGrpSpPr>
        <p:grpSpPr>
          <a:xfrm>
            <a:off x="6269559" y="4315163"/>
            <a:ext cx="778941" cy="927067"/>
            <a:chOff x="3182618" y="4520968"/>
            <a:chExt cx="878294" cy="1045313"/>
          </a:xfrm>
        </p:grpSpPr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5BB09D41-3BAD-4006-AC40-31CF3D614FF2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B11A00EB-7890-4C62-BF5E-A3A6969A2A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sp>
        <p:nvSpPr>
          <p:cNvPr id="68" name="AutoShape 327">
            <a:extLst>
              <a:ext uri="{FF2B5EF4-FFF2-40B4-BE49-F238E27FC236}">
                <a16:creationId xmlns:a16="http://schemas.microsoft.com/office/drawing/2014/main" id="{4DEFA402-155A-451E-8E7A-2B3B704C2F89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144175" y="4130206"/>
            <a:ext cx="324949" cy="1381597"/>
          </a:xfrm>
          <a:prstGeom prst="can">
            <a:avLst>
              <a:gd name="adj" fmla="val 2349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400" dirty="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69" name="그림 68" descr="텍스트, 실내, 컴퓨터이(가) 표시된 사진&#10;&#10;자동 생성된 설명">
            <a:extLst>
              <a:ext uri="{FF2B5EF4-FFF2-40B4-BE49-F238E27FC236}">
                <a16:creationId xmlns:a16="http://schemas.microsoft.com/office/drawing/2014/main" id="{D27CE589-80A0-4FC3-8BB5-1D020E25FE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086" y="4326646"/>
            <a:ext cx="350692" cy="52007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BA9B8476-F38C-41AB-9CDD-B093C613C736}"/>
              </a:ext>
            </a:extLst>
          </p:cNvPr>
          <p:cNvSpPr txBox="1"/>
          <p:nvPr/>
        </p:nvSpPr>
        <p:spPr>
          <a:xfrm>
            <a:off x="4702596" y="4663683"/>
            <a:ext cx="1267970" cy="33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3" algn="ctr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</a:t>
            </a:r>
            <a:r>
              <a:rPr lang="en-US" altLang="ko-KR" sz="1400" baseline="-250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bits/sec</a:t>
            </a:r>
          </a:p>
        </p:txBody>
      </p:sp>
      <p:sp>
        <p:nvSpPr>
          <p:cNvPr id="67" name="AutoShape 351">
            <a:extLst>
              <a:ext uri="{FF2B5EF4-FFF2-40B4-BE49-F238E27FC236}">
                <a16:creationId xmlns:a16="http://schemas.microsoft.com/office/drawing/2014/main" id="{202ED5FD-8EE9-4E4E-A852-7BEDDBFD1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845" y="4631945"/>
            <a:ext cx="1043346" cy="369795"/>
          </a:xfrm>
          <a:prstGeom prst="rightArrow">
            <a:avLst>
              <a:gd name="adj1" fmla="val 62549"/>
              <a:gd name="adj2" fmla="val 47027"/>
            </a:avLst>
          </a:prstGeom>
          <a:solidFill>
            <a:srgbClr val="F27037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 dirty="0">
              <a:latin typeface="Abadi" panose="020B0604020104020204" pitchFamily="34" charset="0"/>
            </a:endParaRPr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8118B339-163E-4F6E-9519-536F80B970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49349" y="4461308"/>
            <a:ext cx="506858" cy="394446"/>
          </a:xfrm>
          <a:prstGeom prst="rect">
            <a:avLst/>
          </a:prstGeom>
        </p:spPr>
      </p:pic>
      <p:sp>
        <p:nvSpPr>
          <p:cNvPr id="64" name="AutoShape 327">
            <a:extLst>
              <a:ext uri="{FF2B5EF4-FFF2-40B4-BE49-F238E27FC236}">
                <a16:creationId xmlns:a16="http://schemas.microsoft.com/office/drawing/2014/main" id="{5CC7EC1F-2E0C-497B-B225-0DBB6FF124E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837853" y="4144163"/>
            <a:ext cx="487368" cy="1267970"/>
          </a:xfrm>
          <a:prstGeom prst="can">
            <a:avLst>
              <a:gd name="adj" fmla="val 2349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400" dirty="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A0E0E32-42D6-4C16-AFC2-8148A839E3A5}"/>
              </a:ext>
            </a:extLst>
          </p:cNvPr>
          <p:cNvSpPr txBox="1"/>
          <p:nvPr/>
        </p:nvSpPr>
        <p:spPr>
          <a:xfrm>
            <a:off x="2539577" y="4622937"/>
            <a:ext cx="1166006" cy="33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3" algn="ctr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</a:t>
            </a:r>
            <a:r>
              <a:rPr lang="en-US" altLang="ko-KR" sz="1400" baseline="-250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bits/sec</a:t>
            </a:r>
          </a:p>
        </p:txBody>
      </p:sp>
    </p:spTree>
    <p:extLst>
      <p:ext uri="{BB962C8B-B14F-4D97-AF65-F5344CB8AC3E}">
        <p14:creationId xmlns:p14="http://schemas.microsoft.com/office/powerpoint/2010/main" val="380561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BA387FF-58BC-4637-B171-C1BFA56343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처리율 </a:t>
            </a:r>
            <a:r>
              <a:rPr lang="en-US" altLang="ko-KR" dirty="0">
                <a:solidFill>
                  <a:schemeClr val="bg1"/>
                </a:solidFill>
                <a:latin typeface="Abadi" panose="020B0604020104020204" pitchFamily="34" charset="0"/>
                <a:ea typeface="G마켓 산스 TTF Medium" panose="02000000000000000000" pitchFamily="2" charset="-127"/>
              </a:rPr>
              <a:t>: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인터넷 시나리오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6514082-7ED3-4DA8-A3FF-32E8495B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14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B7D15F-0FE1-4622-8E6C-F63F3BAC3317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78722"/>
            <a:ext cx="2907218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연결당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종단간 처리율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min(</a:t>
            </a: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R</a:t>
            </a:r>
            <a:r>
              <a:rPr lang="en-US" altLang="ko-KR" sz="1600" baseline="-250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, R</a:t>
            </a:r>
            <a:r>
              <a:rPr lang="en-US" altLang="ko-KR" sz="1600" baseline="-250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s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, R/10)</a:t>
            </a:r>
          </a:p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실제로는 </a:t>
            </a: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R</a:t>
            </a:r>
            <a:r>
              <a:rPr lang="en-US" altLang="ko-KR" sz="1600" baseline="-250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이나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R</a:t>
            </a:r>
            <a:r>
              <a:rPr lang="en-US" altLang="ko-KR" sz="1600" baseline="-250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s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가 </a:t>
            </a:r>
            <a:b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</a:b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주로 병목이 됨</a:t>
            </a:r>
          </a:p>
        </p:txBody>
      </p: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0CE20B33-BE65-4187-83E8-C5B98007DA34}"/>
              </a:ext>
            </a:extLst>
          </p:cNvPr>
          <p:cNvGrpSpPr/>
          <p:nvPr/>
        </p:nvGrpSpPr>
        <p:grpSpPr>
          <a:xfrm>
            <a:off x="3362859" y="1169753"/>
            <a:ext cx="4584770" cy="4469047"/>
            <a:chOff x="3362859" y="1233253"/>
            <a:chExt cx="4578151" cy="4462595"/>
          </a:xfrm>
        </p:grpSpPr>
        <p:sp>
          <p:nvSpPr>
            <p:cNvPr id="195" name="AutoShape 327">
              <a:extLst>
                <a:ext uri="{FF2B5EF4-FFF2-40B4-BE49-F238E27FC236}">
                  <a16:creationId xmlns:a16="http://schemas.microsoft.com/office/drawing/2014/main" id="{60101ADF-5E9D-4A60-B4FA-FBB6FC8B43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3512436">
              <a:off x="5054259" y="4166011"/>
              <a:ext cx="149204" cy="721766"/>
            </a:xfrm>
            <a:prstGeom prst="can">
              <a:avLst>
                <a:gd name="adj" fmla="val 23491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72" name="Google Shape;245;p4">
              <a:extLst>
                <a:ext uri="{FF2B5EF4-FFF2-40B4-BE49-F238E27FC236}">
                  <a16:creationId xmlns:a16="http://schemas.microsoft.com/office/drawing/2014/main" id="{03CEF702-1B31-4B3A-A849-C3B5488F88E9}"/>
                </a:ext>
              </a:extLst>
            </p:cNvPr>
            <p:cNvSpPr/>
            <p:nvPr/>
          </p:nvSpPr>
          <p:spPr>
            <a:xfrm>
              <a:off x="3680461" y="2466496"/>
              <a:ext cx="3990342" cy="1739106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  <a:sym typeface="Arial"/>
              </a:endParaRPr>
            </a:p>
          </p:txBody>
        </p:sp>
        <p:sp>
          <p:nvSpPr>
            <p:cNvPr id="194" name="AutoShape 327">
              <a:extLst>
                <a:ext uri="{FF2B5EF4-FFF2-40B4-BE49-F238E27FC236}">
                  <a16:creationId xmlns:a16="http://schemas.microsoft.com/office/drawing/2014/main" id="{2D986F0B-5E96-4E9D-A233-546B183DF62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4400000">
              <a:off x="4504065" y="3782339"/>
              <a:ext cx="149204" cy="721766"/>
            </a:xfrm>
            <a:prstGeom prst="can">
              <a:avLst>
                <a:gd name="adj" fmla="val 23491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86" name="AutoShape 327">
              <a:extLst>
                <a:ext uri="{FF2B5EF4-FFF2-40B4-BE49-F238E27FC236}">
                  <a16:creationId xmlns:a16="http://schemas.microsoft.com/office/drawing/2014/main" id="{97EADC63-3CAF-4FC3-B6B2-E73D29874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1536" y="2831126"/>
              <a:ext cx="788193" cy="962256"/>
            </a:xfrm>
            <a:prstGeom prst="can">
              <a:avLst>
                <a:gd name="adj" fmla="val 16643"/>
              </a:avLst>
            </a:prstGeom>
            <a:solidFill>
              <a:schemeClr val="bg1"/>
            </a:solidFill>
            <a:ln>
              <a:solidFill>
                <a:srgbClr val="105B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76" name="AutoShape 327">
              <a:extLst>
                <a:ext uri="{FF2B5EF4-FFF2-40B4-BE49-F238E27FC236}">
                  <a16:creationId xmlns:a16="http://schemas.microsoft.com/office/drawing/2014/main" id="{751DA529-3608-4632-9C3C-BEE915BE84C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000000">
              <a:off x="4287819" y="1929412"/>
              <a:ext cx="149204" cy="721766"/>
            </a:xfrm>
            <a:prstGeom prst="can">
              <a:avLst>
                <a:gd name="adj" fmla="val 23491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8" name="Text Box 35">
              <a:extLst>
                <a:ext uri="{FF2B5EF4-FFF2-40B4-BE49-F238E27FC236}">
                  <a16:creationId xmlns:a16="http://schemas.microsoft.com/office/drawing/2014/main" id="{1D8847D3-9507-4C0C-9CD2-0B66C435E1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0456" y="2263807"/>
              <a:ext cx="676275" cy="4206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ko-KR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</a:t>
              </a:r>
              <a:r>
                <a:rPr lang="en-US" altLang="ko-KR" sz="3200" baseline="-100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</a:t>
              </a:r>
              <a:endParaRPr lang="en-US" altLang="ko-KR" baseline="-100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7" name="Line 456">
              <a:extLst>
                <a:ext uri="{FF2B5EF4-FFF2-40B4-BE49-F238E27FC236}">
                  <a16:creationId xmlns:a16="http://schemas.microsoft.com/office/drawing/2014/main" id="{4E685CD7-CF42-42AE-AE90-C632CEAA5D5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792560">
              <a:off x="3828399" y="2284697"/>
              <a:ext cx="1060164" cy="226"/>
            </a:xfrm>
            <a:prstGeom prst="line">
              <a:avLst/>
            </a:prstGeom>
            <a:noFill/>
            <a:ln w="38100">
              <a:solidFill>
                <a:srgbClr val="F27037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27" name="Line 480">
              <a:extLst>
                <a:ext uri="{FF2B5EF4-FFF2-40B4-BE49-F238E27FC236}">
                  <a16:creationId xmlns:a16="http://schemas.microsoft.com/office/drawing/2014/main" id="{FFB90C32-69A2-4758-958C-58611498A8C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807440" flipH="1">
              <a:off x="4025900" y="4185771"/>
              <a:ext cx="955675" cy="0"/>
            </a:xfrm>
            <a:prstGeom prst="line">
              <a:avLst/>
            </a:prstGeom>
            <a:noFill/>
            <a:ln w="38100">
              <a:solidFill>
                <a:srgbClr val="F27037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32" name="Line 487">
              <a:extLst>
                <a:ext uri="{FF2B5EF4-FFF2-40B4-BE49-F238E27FC236}">
                  <a16:creationId xmlns:a16="http://schemas.microsoft.com/office/drawing/2014/main" id="{C457F16B-D075-4977-A463-0FA1B6B9EF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831828" flipV="1">
              <a:off x="4559300" y="4485808"/>
              <a:ext cx="1196975" cy="0"/>
            </a:xfrm>
            <a:prstGeom prst="line">
              <a:avLst/>
            </a:prstGeom>
            <a:noFill/>
            <a:ln w="38100">
              <a:solidFill>
                <a:srgbClr val="F27037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46" name="Text Box 516">
              <a:extLst>
                <a:ext uri="{FF2B5EF4-FFF2-40B4-BE49-F238E27FC236}">
                  <a16:creationId xmlns:a16="http://schemas.microsoft.com/office/drawing/2014/main" id="{9147055F-A312-4A16-9CB6-AD382210B4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541" y="3836562"/>
              <a:ext cx="674688" cy="4206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ko-KR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</a:t>
              </a:r>
              <a:r>
                <a:rPr lang="en-US" altLang="ko-KR" sz="3200" baseline="-100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</a:t>
              </a:r>
              <a:endParaRPr lang="en-US" altLang="ko-KR" sz="3200" baseline="-100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1" name="Text Box 521">
              <a:extLst>
                <a:ext uri="{FF2B5EF4-FFF2-40B4-BE49-F238E27FC236}">
                  <a16:creationId xmlns:a16="http://schemas.microsoft.com/office/drawing/2014/main" id="{2BE2629D-0EFD-4E05-9D86-1AD83FE7C4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3727" y="3172880"/>
              <a:ext cx="67627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ko-KR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17847C44-F3E1-4014-8F9F-0ED6D30C5459}"/>
                </a:ext>
              </a:extLst>
            </p:cNvPr>
            <p:cNvSpPr txBox="1"/>
            <p:nvPr/>
          </p:nvSpPr>
          <p:spPr>
            <a:xfrm>
              <a:off x="5691735" y="1700470"/>
              <a:ext cx="696620" cy="399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Abadi" panose="020B0604020104020204" pitchFamily="34" charset="0"/>
                </a:rPr>
                <a:t>……</a:t>
              </a:r>
              <a:endParaRPr lang="ko-KR" altLang="en-US" sz="2000" dirty="0">
                <a:latin typeface="Abadi" panose="020B0604020104020204" pitchFamily="34" charset="0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521B5EB0-F86B-4AB9-B189-B16492671153}"/>
                </a:ext>
              </a:extLst>
            </p:cNvPr>
            <p:cNvSpPr txBox="1"/>
            <p:nvPr/>
          </p:nvSpPr>
          <p:spPr>
            <a:xfrm>
              <a:off x="5691735" y="4705317"/>
              <a:ext cx="696620" cy="3995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dirty="0">
                  <a:latin typeface="Abadi" panose="020B0604020104020204" pitchFamily="34" charset="0"/>
                </a:rPr>
                <a:t>……</a:t>
              </a:r>
              <a:endParaRPr lang="ko-KR" altLang="en-US" sz="2000" dirty="0">
                <a:latin typeface="Abadi" panose="020B0604020104020204" pitchFamily="34" charset="0"/>
              </a:endParaRPr>
            </a:p>
          </p:txBody>
        </p:sp>
        <p:grpSp>
          <p:nvGrpSpPr>
            <p:cNvPr id="165" name="그룹 164">
              <a:extLst>
                <a:ext uri="{FF2B5EF4-FFF2-40B4-BE49-F238E27FC236}">
                  <a16:creationId xmlns:a16="http://schemas.microsoft.com/office/drawing/2014/main" id="{3A96FAD0-78B0-490A-BD2F-EA9546FD7100}"/>
                </a:ext>
              </a:extLst>
            </p:cNvPr>
            <p:cNvGrpSpPr/>
            <p:nvPr/>
          </p:nvGrpSpPr>
          <p:grpSpPr>
            <a:xfrm>
              <a:off x="7162069" y="4388269"/>
              <a:ext cx="778941" cy="927067"/>
              <a:chOff x="6269559" y="2182806"/>
              <a:chExt cx="778941" cy="927067"/>
            </a:xfrm>
          </p:grpSpPr>
          <p:sp>
            <p:nvSpPr>
              <p:cNvPr id="163" name="타원 162">
                <a:extLst>
                  <a:ext uri="{FF2B5EF4-FFF2-40B4-BE49-F238E27FC236}">
                    <a16:creationId xmlns:a16="http://schemas.microsoft.com/office/drawing/2014/main" id="{7EB278FC-1F53-4747-B861-1F31799474C8}"/>
                  </a:ext>
                </a:extLst>
              </p:cNvPr>
              <p:cNvSpPr/>
              <p:nvPr/>
            </p:nvSpPr>
            <p:spPr>
              <a:xfrm>
                <a:off x="6269559" y="2330932"/>
                <a:ext cx="778941" cy="778941"/>
              </a:xfrm>
              <a:prstGeom prst="ellipse">
                <a:avLst/>
              </a:prstGeom>
              <a:solidFill>
                <a:srgbClr val="E1EC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164" name="그림 163">
                <a:extLst>
                  <a:ext uri="{FF2B5EF4-FFF2-40B4-BE49-F238E27FC236}">
                    <a16:creationId xmlns:a16="http://schemas.microsoft.com/office/drawing/2014/main" id="{F1534DEC-C292-4049-8969-703F403BEB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98963" y="2182806"/>
                <a:ext cx="720132" cy="824718"/>
              </a:xfrm>
              <a:prstGeom prst="rect">
                <a:avLst/>
              </a:prstGeom>
            </p:spPr>
          </p:pic>
        </p:grpSp>
        <p:grpSp>
          <p:nvGrpSpPr>
            <p:cNvPr id="166" name="그룹 165">
              <a:extLst>
                <a:ext uri="{FF2B5EF4-FFF2-40B4-BE49-F238E27FC236}">
                  <a16:creationId xmlns:a16="http://schemas.microsoft.com/office/drawing/2014/main" id="{3D3652FB-DFFC-4922-9EFD-90B478B13AA0}"/>
                </a:ext>
              </a:extLst>
            </p:cNvPr>
            <p:cNvGrpSpPr/>
            <p:nvPr/>
          </p:nvGrpSpPr>
          <p:grpSpPr>
            <a:xfrm>
              <a:off x="4202113" y="4768781"/>
              <a:ext cx="778941" cy="927067"/>
              <a:chOff x="6269559" y="2182806"/>
              <a:chExt cx="778941" cy="927067"/>
            </a:xfrm>
          </p:grpSpPr>
          <p:sp>
            <p:nvSpPr>
              <p:cNvPr id="167" name="타원 166">
                <a:extLst>
                  <a:ext uri="{FF2B5EF4-FFF2-40B4-BE49-F238E27FC236}">
                    <a16:creationId xmlns:a16="http://schemas.microsoft.com/office/drawing/2014/main" id="{F8556380-49A7-459E-A5F2-BDE281F230C0}"/>
                  </a:ext>
                </a:extLst>
              </p:cNvPr>
              <p:cNvSpPr/>
              <p:nvPr/>
            </p:nvSpPr>
            <p:spPr>
              <a:xfrm>
                <a:off x="6269559" y="2330932"/>
                <a:ext cx="778941" cy="778941"/>
              </a:xfrm>
              <a:prstGeom prst="ellipse">
                <a:avLst/>
              </a:prstGeom>
              <a:solidFill>
                <a:srgbClr val="E1EC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168" name="그림 167">
                <a:extLst>
                  <a:ext uri="{FF2B5EF4-FFF2-40B4-BE49-F238E27FC236}">
                    <a16:creationId xmlns:a16="http://schemas.microsoft.com/office/drawing/2014/main" id="{4862A73C-6E9E-462F-81F8-8EF1B2E72B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98963" y="2182806"/>
                <a:ext cx="720132" cy="824718"/>
              </a:xfrm>
              <a:prstGeom prst="rect">
                <a:avLst/>
              </a:prstGeom>
            </p:spPr>
          </p:pic>
        </p:grpSp>
        <p:grpSp>
          <p:nvGrpSpPr>
            <p:cNvPr id="169" name="그룹 168">
              <a:extLst>
                <a:ext uri="{FF2B5EF4-FFF2-40B4-BE49-F238E27FC236}">
                  <a16:creationId xmlns:a16="http://schemas.microsoft.com/office/drawing/2014/main" id="{7469CF25-C80B-4F25-8EEA-0B9184632407}"/>
                </a:ext>
              </a:extLst>
            </p:cNvPr>
            <p:cNvGrpSpPr/>
            <p:nvPr/>
          </p:nvGrpSpPr>
          <p:grpSpPr>
            <a:xfrm>
              <a:off x="3362859" y="4114205"/>
              <a:ext cx="778941" cy="927067"/>
              <a:chOff x="6269559" y="2182806"/>
              <a:chExt cx="778941" cy="927067"/>
            </a:xfrm>
          </p:grpSpPr>
          <p:sp>
            <p:nvSpPr>
              <p:cNvPr id="170" name="타원 169">
                <a:extLst>
                  <a:ext uri="{FF2B5EF4-FFF2-40B4-BE49-F238E27FC236}">
                    <a16:creationId xmlns:a16="http://schemas.microsoft.com/office/drawing/2014/main" id="{CF28709B-FE05-401E-B1CA-AFAC3BD4E4A7}"/>
                  </a:ext>
                </a:extLst>
              </p:cNvPr>
              <p:cNvSpPr/>
              <p:nvPr/>
            </p:nvSpPr>
            <p:spPr>
              <a:xfrm>
                <a:off x="6269559" y="2330932"/>
                <a:ext cx="778941" cy="778941"/>
              </a:xfrm>
              <a:prstGeom prst="ellipse">
                <a:avLst/>
              </a:prstGeom>
              <a:solidFill>
                <a:srgbClr val="E1EC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171" name="그림 170">
                <a:extLst>
                  <a:ext uri="{FF2B5EF4-FFF2-40B4-BE49-F238E27FC236}">
                    <a16:creationId xmlns:a16="http://schemas.microsoft.com/office/drawing/2014/main" id="{BB9BCA90-B3CA-4028-A161-30C3971489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98963" y="2182806"/>
                <a:ext cx="720132" cy="824718"/>
              </a:xfrm>
              <a:prstGeom prst="rect">
                <a:avLst/>
              </a:prstGeom>
            </p:spPr>
          </p:pic>
        </p:grpSp>
        <p:sp>
          <p:nvSpPr>
            <p:cNvPr id="179" name="그래픽 177">
              <a:extLst>
                <a:ext uri="{FF2B5EF4-FFF2-40B4-BE49-F238E27FC236}">
                  <a16:creationId xmlns:a16="http://schemas.microsoft.com/office/drawing/2014/main" id="{69C317B5-31E6-471D-A8A0-8A54C84D7823}"/>
                </a:ext>
              </a:extLst>
            </p:cNvPr>
            <p:cNvSpPr/>
            <p:nvPr/>
          </p:nvSpPr>
          <p:spPr>
            <a:xfrm>
              <a:off x="4800600" y="2533650"/>
              <a:ext cx="624493" cy="1418306"/>
            </a:xfrm>
            <a:custGeom>
              <a:avLst/>
              <a:gdLst>
                <a:gd name="connsiteX0" fmla="*/ -380 w 596667"/>
                <a:gd name="connsiteY0" fmla="*/ -331 h 1035558"/>
                <a:gd name="connsiteX1" fmla="*/ 466345 w 596667"/>
                <a:gd name="connsiteY1" fmla="*/ 143687 h 1035558"/>
                <a:gd name="connsiteX2" fmla="*/ 569977 w 596667"/>
                <a:gd name="connsiteY2" fmla="*/ 172262 h 1035558"/>
                <a:gd name="connsiteX3" fmla="*/ 99632 w 596667"/>
                <a:gd name="connsiteY3" fmla="*/ 1035227 h 1035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667" h="1035558">
                  <a:moveTo>
                    <a:pt x="-380" y="-331"/>
                  </a:moveTo>
                  <a:cubicBezTo>
                    <a:pt x="111729" y="69487"/>
                    <a:pt x="329851" y="144258"/>
                    <a:pt x="466345" y="143687"/>
                  </a:cubicBezTo>
                  <a:cubicBezTo>
                    <a:pt x="496158" y="147211"/>
                    <a:pt x="558071" y="118636"/>
                    <a:pt x="569977" y="172262"/>
                  </a:cubicBezTo>
                  <a:cubicBezTo>
                    <a:pt x="599218" y="1277162"/>
                    <a:pt x="707518" y="872826"/>
                    <a:pt x="99632" y="1035227"/>
                  </a:cubicBezTo>
                </a:path>
              </a:pathLst>
            </a:custGeom>
            <a:noFill/>
            <a:ln w="38100" cap="flat">
              <a:solidFill>
                <a:srgbClr val="F27037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180" name="AutoShape 327">
              <a:extLst>
                <a:ext uri="{FF2B5EF4-FFF2-40B4-BE49-F238E27FC236}">
                  <a16:creationId xmlns:a16="http://schemas.microsoft.com/office/drawing/2014/main" id="{AED374BC-B1FB-4127-9C35-4BBE9B9845E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051868">
              <a:off x="4854517" y="1772827"/>
              <a:ext cx="149204" cy="721766"/>
            </a:xfrm>
            <a:prstGeom prst="can">
              <a:avLst>
                <a:gd name="adj" fmla="val 23491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81" name="Line 456">
              <a:extLst>
                <a:ext uri="{FF2B5EF4-FFF2-40B4-BE49-F238E27FC236}">
                  <a16:creationId xmlns:a16="http://schemas.microsoft.com/office/drawing/2014/main" id="{33D9E1F9-ED1D-4214-A706-A26193346EA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844428">
              <a:off x="4411510" y="2146388"/>
              <a:ext cx="1060164" cy="226"/>
            </a:xfrm>
            <a:prstGeom prst="line">
              <a:avLst/>
            </a:prstGeom>
            <a:noFill/>
            <a:ln w="38100">
              <a:solidFill>
                <a:srgbClr val="F27037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185" name="그래픽 183">
              <a:extLst>
                <a:ext uri="{FF2B5EF4-FFF2-40B4-BE49-F238E27FC236}">
                  <a16:creationId xmlns:a16="http://schemas.microsoft.com/office/drawing/2014/main" id="{ECEC4663-4C19-4C09-87F0-CFAB0B182D8A}"/>
                </a:ext>
              </a:extLst>
            </p:cNvPr>
            <p:cNvSpPr/>
            <p:nvPr/>
          </p:nvSpPr>
          <p:spPr>
            <a:xfrm>
              <a:off x="5290873" y="2522846"/>
              <a:ext cx="427302" cy="1550095"/>
            </a:xfrm>
            <a:custGeom>
              <a:avLst/>
              <a:gdLst>
                <a:gd name="connsiteX0" fmla="*/ -481 w 324534"/>
                <a:gd name="connsiteY0" fmla="*/ -351 h 1177290"/>
                <a:gd name="connsiteX1" fmla="*/ 291365 w 324534"/>
                <a:gd name="connsiteY1" fmla="*/ 154716 h 1177290"/>
                <a:gd name="connsiteX2" fmla="*/ 307272 w 324534"/>
                <a:gd name="connsiteY2" fmla="*/ 196722 h 1177290"/>
                <a:gd name="connsiteX3" fmla="*/ 306224 w 324534"/>
                <a:gd name="connsiteY3" fmla="*/ 1041208 h 1177290"/>
                <a:gd name="connsiteX4" fmla="*/ 198782 w 324534"/>
                <a:gd name="connsiteY4" fmla="*/ 1176940 h 1177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4534" h="1177290">
                  <a:moveTo>
                    <a:pt x="-481" y="-351"/>
                  </a:moveTo>
                  <a:cubicBezTo>
                    <a:pt x="143347" y="176910"/>
                    <a:pt x="192686" y="32320"/>
                    <a:pt x="291365" y="154716"/>
                  </a:cubicBezTo>
                  <a:cubicBezTo>
                    <a:pt x="300976" y="166680"/>
                    <a:pt x="306548" y="181386"/>
                    <a:pt x="307272" y="196722"/>
                  </a:cubicBezTo>
                  <a:cubicBezTo>
                    <a:pt x="318036" y="423322"/>
                    <a:pt x="339467" y="878235"/>
                    <a:pt x="306224" y="1041208"/>
                  </a:cubicBezTo>
                  <a:cubicBezTo>
                    <a:pt x="298128" y="1088833"/>
                    <a:pt x="228215" y="1140554"/>
                    <a:pt x="198782" y="1176940"/>
                  </a:cubicBezTo>
                </a:path>
              </a:pathLst>
            </a:custGeom>
            <a:noFill/>
            <a:ln w="38100" cap="flat">
              <a:solidFill>
                <a:srgbClr val="F27037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pic>
          <p:nvPicPr>
            <p:cNvPr id="174" name="그림 173" descr="텍스트, 실내, 컴퓨터이(가) 표시된 사진&#10;&#10;자동 생성된 설명">
              <a:extLst>
                <a:ext uri="{FF2B5EF4-FFF2-40B4-BE49-F238E27FC236}">
                  <a16:creationId xmlns:a16="http://schemas.microsoft.com/office/drawing/2014/main" id="{C9014DDC-BC47-4156-B44E-85A402212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9807" y="1233253"/>
              <a:ext cx="463551" cy="687450"/>
            </a:xfrm>
            <a:prstGeom prst="rect">
              <a:avLst/>
            </a:prstGeom>
          </p:spPr>
        </p:pic>
        <p:pic>
          <p:nvPicPr>
            <p:cNvPr id="175" name="그림 174" descr="텍스트, 실내, 컴퓨터이(가) 표시된 사진&#10;&#10;자동 생성된 설명">
              <a:extLst>
                <a:ext uri="{FF2B5EF4-FFF2-40B4-BE49-F238E27FC236}">
                  <a16:creationId xmlns:a16="http://schemas.microsoft.com/office/drawing/2014/main" id="{E2412642-9C95-428D-A680-06857771F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1292" y="1465831"/>
              <a:ext cx="463551" cy="687450"/>
            </a:xfrm>
            <a:prstGeom prst="rect">
              <a:avLst/>
            </a:prstGeom>
          </p:spPr>
        </p:pic>
        <p:sp>
          <p:nvSpPr>
            <p:cNvPr id="187" name="Text Box 35">
              <a:extLst>
                <a:ext uri="{FF2B5EF4-FFF2-40B4-BE49-F238E27FC236}">
                  <a16:creationId xmlns:a16="http://schemas.microsoft.com/office/drawing/2014/main" id="{1C82EC46-ECFC-449F-82B8-74250C98A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1689" y="1666897"/>
              <a:ext cx="676275" cy="4206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ko-KR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</a:t>
              </a:r>
              <a:r>
                <a:rPr lang="en-US" altLang="ko-KR" sz="3200" baseline="-100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</a:t>
              </a:r>
              <a:endParaRPr lang="en-US" altLang="ko-KR" baseline="-100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88" name="AutoShape 327">
              <a:extLst>
                <a:ext uri="{FF2B5EF4-FFF2-40B4-BE49-F238E27FC236}">
                  <a16:creationId xmlns:a16="http://schemas.microsoft.com/office/drawing/2014/main" id="{D85519BD-F92D-4E3F-9CDD-D73C796B9FE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527671">
              <a:off x="6643434" y="1922567"/>
              <a:ext cx="149204" cy="721766"/>
            </a:xfrm>
            <a:prstGeom prst="can">
              <a:avLst>
                <a:gd name="adj" fmla="val 23491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89" name="Line 456">
              <a:extLst>
                <a:ext uri="{FF2B5EF4-FFF2-40B4-BE49-F238E27FC236}">
                  <a16:creationId xmlns:a16="http://schemas.microsoft.com/office/drawing/2014/main" id="{EACAF369-EC5F-4183-9561-D02FBE1CDA2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8920231">
              <a:off x="6187955" y="2283338"/>
              <a:ext cx="1060164" cy="226"/>
            </a:xfrm>
            <a:prstGeom prst="line">
              <a:avLst/>
            </a:prstGeom>
            <a:noFill/>
            <a:ln w="38100">
              <a:solidFill>
                <a:srgbClr val="F27037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pic>
          <p:nvPicPr>
            <p:cNvPr id="173" name="그림 172" descr="텍스트, 실내, 컴퓨터이(가) 표시된 사진&#10;&#10;자동 생성된 설명">
              <a:extLst>
                <a:ext uri="{FF2B5EF4-FFF2-40B4-BE49-F238E27FC236}">
                  <a16:creationId xmlns:a16="http://schemas.microsoft.com/office/drawing/2014/main" id="{5826AFC6-BA11-4A9F-8F8C-6A405575E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7985" y="1544205"/>
              <a:ext cx="463551" cy="687450"/>
            </a:xfrm>
            <a:prstGeom prst="rect">
              <a:avLst/>
            </a:prstGeom>
          </p:spPr>
        </p:pic>
        <p:sp>
          <p:nvSpPr>
            <p:cNvPr id="193" name="그래픽 191">
              <a:extLst>
                <a:ext uri="{FF2B5EF4-FFF2-40B4-BE49-F238E27FC236}">
                  <a16:creationId xmlns:a16="http://schemas.microsoft.com/office/drawing/2014/main" id="{F9FC28B9-751B-48F0-9E70-A73DFE4B8F36}"/>
                </a:ext>
              </a:extLst>
            </p:cNvPr>
            <p:cNvSpPr/>
            <p:nvPr/>
          </p:nvSpPr>
          <p:spPr>
            <a:xfrm>
              <a:off x="5926815" y="2548955"/>
              <a:ext cx="468320" cy="1449215"/>
            </a:xfrm>
            <a:custGeom>
              <a:avLst/>
              <a:gdLst>
                <a:gd name="connsiteX0" fmla="*/ 353860 w 468320"/>
                <a:gd name="connsiteY0" fmla="*/ -384 h 1153287"/>
                <a:gd name="connsiteX1" fmla="*/ 96685 w 468320"/>
                <a:gd name="connsiteY1" fmla="*/ 141253 h 1153287"/>
                <a:gd name="connsiteX2" fmla="*/ 34392 w 468320"/>
                <a:gd name="connsiteY2" fmla="*/ 195259 h 1153287"/>
                <a:gd name="connsiteX3" fmla="*/ 16103 w 468320"/>
                <a:gd name="connsiteY3" fmla="*/ 235741 h 1153287"/>
                <a:gd name="connsiteX4" fmla="*/ 6578 w 468320"/>
                <a:gd name="connsiteY4" fmla="*/ 956497 h 1153287"/>
                <a:gd name="connsiteX5" fmla="*/ 105829 w 468320"/>
                <a:gd name="connsiteY5" fmla="*/ 1053462 h 1153287"/>
                <a:gd name="connsiteX6" fmla="*/ 467779 w 468320"/>
                <a:gd name="connsiteY6" fmla="*/ 1152903 h 1153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320" h="1153287">
                  <a:moveTo>
                    <a:pt x="353860" y="-384"/>
                  </a:moveTo>
                  <a:cubicBezTo>
                    <a:pt x="278327" y="42478"/>
                    <a:pt x="176505" y="92484"/>
                    <a:pt x="96685" y="141253"/>
                  </a:cubicBezTo>
                  <a:cubicBezTo>
                    <a:pt x="68872" y="159445"/>
                    <a:pt x="73825" y="152587"/>
                    <a:pt x="34392" y="195259"/>
                  </a:cubicBezTo>
                  <a:cubicBezTo>
                    <a:pt x="24066" y="206413"/>
                    <a:pt x="17647" y="220624"/>
                    <a:pt x="16103" y="235741"/>
                  </a:cubicBezTo>
                  <a:cubicBezTo>
                    <a:pt x="3816" y="362423"/>
                    <a:pt x="-8852" y="878011"/>
                    <a:pt x="6578" y="956497"/>
                  </a:cubicBezTo>
                  <a:cubicBezTo>
                    <a:pt x="22009" y="1043365"/>
                    <a:pt x="52394" y="1033269"/>
                    <a:pt x="105829" y="1053462"/>
                  </a:cubicBezTo>
                  <a:cubicBezTo>
                    <a:pt x="159264" y="1073655"/>
                    <a:pt x="433203" y="1136234"/>
                    <a:pt x="467779" y="1152903"/>
                  </a:cubicBezTo>
                </a:path>
              </a:pathLst>
            </a:custGeom>
            <a:noFill/>
            <a:ln w="38100" cap="flat">
              <a:solidFill>
                <a:srgbClr val="F27037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196" name="AutoShape 327">
              <a:extLst>
                <a:ext uri="{FF2B5EF4-FFF2-40B4-BE49-F238E27FC236}">
                  <a16:creationId xmlns:a16="http://schemas.microsoft.com/office/drawing/2014/main" id="{6F35D5A5-A46C-436E-A48A-057CC9F7FFE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200000" flipH="1">
              <a:off x="6670367" y="3834511"/>
              <a:ext cx="149204" cy="721766"/>
            </a:xfrm>
            <a:prstGeom prst="can">
              <a:avLst>
                <a:gd name="adj" fmla="val 23491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ko-KR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97" name="Line 480">
              <a:extLst>
                <a:ext uri="{FF2B5EF4-FFF2-40B4-BE49-F238E27FC236}">
                  <a16:creationId xmlns:a16="http://schemas.microsoft.com/office/drawing/2014/main" id="{55E120BC-564B-459A-87F5-B4C04A5DEE8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792560" flipV="1">
              <a:off x="6307490" y="4254868"/>
              <a:ext cx="1067785" cy="5426"/>
            </a:xfrm>
            <a:prstGeom prst="line">
              <a:avLst/>
            </a:prstGeom>
            <a:noFill/>
            <a:ln w="38100">
              <a:solidFill>
                <a:srgbClr val="F27037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198" name="Text Box 516">
              <a:extLst>
                <a:ext uri="{FF2B5EF4-FFF2-40B4-BE49-F238E27FC236}">
                  <a16:creationId xmlns:a16="http://schemas.microsoft.com/office/drawing/2014/main" id="{630260F7-18B5-4157-8FB2-2AEBD11FB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5352" y="3813104"/>
              <a:ext cx="674688" cy="4206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ko-KR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</a:t>
              </a:r>
              <a:r>
                <a:rPr lang="en-US" altLang="ko-KR" sz="3200" baseline="-100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</a:t>
              </a:r>
              <a:endParaRPr lang="en-US" altLang="ko-KR" sz="3200" baseline="-100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99" name="Text Box 516">
              <a:extLst>
                <a:ext uri="{FF2B5EF4-FFF2-40B4-BE49-F238E27FC236}">
                  <a16:creationId xmlns:a16="http://schemas.microsoft.com/office/drawing/2014/main" id="{CA133689-65FE-490A-BA43-FFBA1B8E9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1918" y="4606352"/>
              <a:ext cx="674688" cy="4206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ko-KR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</a:t>
              </a:r>
              <a:r>
                <a:rPr lang="en-US" altLang="ko-KR" sz="3200" baseline="-100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</a:t>
              </a:r>
              <a:endParaRPr lang="en-US" altLang="ko-KR" sz="3200" baseline="-100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00" name="Text Box 35">
              <a:extLst>
                <a:ext uri="{FF2B5EF4-FFF2-40B4-BE49-F238E27FC236}">
                  <a16:creationId xmlns:a16="http://schemas.microsoft.com/office/drawing/2014/main" id="{2B1BD19F-A688-4EF9-B229-97644C5AE9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5352" y="2238374"/>
              <a:ext cx="676275" cy="4206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ko-KR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</a:t>
              </a:r>
              <a:r>
                <a:rPr lang="en-US" altLang="ko-KR" sz="3200" baseline="-100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</a:t>
              </a:r>
              <a:endParaRPr lang="en-US" altLang="ko-KR" baseline="-100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3921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AEEC58C-9F94-42E1-8052-AF2CA478EF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z="18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Abadi" panose="020B0604020104020204" pitchFamily="34" charset="0"/>
                <a:cs typeface="Microsoft GothicNeo" panose="020B0503020000020004" pitchFamily="34" charset="-127"/>
              </a:rPr>
              <a:t>Chapter 1.</a:t>
            </a:r>
            <a:r>
              <a:rPr lang="ko-KR" altLang="en-US" sz="18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Abadi" panose="020B0604020104020204" pitchFamily="34" charset="0"/>
                <a:cs typeface="Microsoft GothicNeo" panose="020B0503020000020004" pitchFamily="34" charset="-127"/>
              </a:rPr>
              <a:t> </a:t>
            </a:r>
            <a:r>
              <a:rPr lang="ko-KR" altLang="en-US" sz="1800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latin typeface="Abadi" panose="020B0604020104020204" pitchFamily="34" charset="0"/>
                <a:cs typeface="+mj-cs"/>
              </a:rPr>
              <a:t>컴퓨터 네트워크</a:t>
            </a:r>
            <a:r>
              <a:rPr lang="ko-KR" altLang="en-US" sz="1800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latin typeface="Abadi" panose="020B0604020104020204" pitchFamily="34" charset="0"/>
                <a:ea typeface="G마켓 산스 TTF Medium" panose="02000000000000000000" pitchFamily="2" charset="-127"/>
                <a:cs typeface="+mj-cs"/>
              </a:rPr>
              <a:t>와</a:t>
            </a:r>
            <a:r>
              <a:rPr lang="ko-KR" altLang="en-US" sz="1800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latin typeface="Abadi" panose="020B0604020104020204" pitchFamily="34" charset="0"/>
                <a:cs typeface="+mj-cs"/>
              </a:rPr>
              <a:t> 인터넷</a:t>
            </a:r>
            <a:endParaRPr lang="ko-KR" altLang="en-US" sz="1800" spc="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1"/>
              </a:solidFill>
              <a:effectLst/>
              <a:latin typeface="Abadi" panose="020B0604020104020204" pitchFamily="34" charset="0"/>
              <a:cs typeface="+mj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28B103-30FD-425C-B735-DDDCE8B382D1}"/>
              </a:ext>
            </a:extLst>
          </p:cNvPr>
          <p:cNvSpPr txBox="1"/>
          <p:nvPr/>
        </p:nvSpPr>
        <p:spPr>
          <a:xfrm>
            <a:off x="1419224" y="1825636"/>
            <a:ext cx="6929719" cy="4086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인터넷이란 무엇인가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?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네트워크의 가장자리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(Edge)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네트워크 코어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(Core)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네트워크에서의 지연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,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손실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,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처리율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프로토콜 계층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,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서비스 모델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공격받는 네트워크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보안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역사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1A9A8D-C9B7-4837-B79D-248DF409E2FE}"/>
              </a:ext>
            </a:extLst>
          </p:cNvPr>
          <p:cNvSpPr txBox="1"/>
          <p:nvPr/>
        </p:nvSpPr>
        <p:spPr>
          <a:xfrm>
            <a:off x="860603" y="1825636"/>
            <a:ext cx="582259" cy="4109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1.1.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1.2.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1.3.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1.4.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1.5.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1.6.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1.7.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A80A899D-985A-4758-B577-39015E56667C}"/>
              </a:ext>
            </a:extLst>
          </p:cNvPr>
          <p:cNvSpPr txBox="1">
            <a:spLocks noChangeArrowheads="1"/>
          </p:cNvSpPr>
          <p:nvPr/>
        </p:nvSpPr>
        <p:spPr>
          <a:xfrm>
            <a:off x="1680377" y="2670279"/>
            <a:ext cx="5152947" cy="401841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종단 시스템</a:t>
            </a:r>
            <a:r>
              <a:rPr lang="en-US" altLang="ko-KR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접속 네트워크</a:t>
            </a:r>
            <a:r>
              <a:rPr lang="en-US" altLang="ko-KR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링크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22FAC055-714F-4858-AF5C-C1B62DF0F037}"/>
              </a:ext>
            </a:extLst>
          </p:cNvPr>
          <p:cNvSpPr txBox="1">
            <a:spLocks noChangeArrowheads="1"/>
          </p:cNvSpPr>
          <p:nvPr/>
        </p:nvSpPr>
        <p:spPr>
          <a:xfrm>
            <a:off x="1680377" y="3591122"/>
            <a:ext cx="6929719" cy="40184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패킷 교환</a:t>
            </a:r>
            <a:r>
              <a:rPr lang="en-US" altLang="ko-KR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회선 교환</a:t>
            </a:r>
            <a:r>
              <a:rPr lang="en-US" altLang="ko-KR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 구조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4D45FBB-6FF9-405C-8B5C-072FBCA9F484}"/>
              </a:ext>
            </a:extLst>
          </p:cNvPr>
          <p:cNvGrpSpPr/>
          <p:nvPr/>
        </p:nvGrpSpPr>
        <p:grpSpPr>
          <a:xfrm>
            <a:off x="1518597" y="2811457"/>
            <a:ext cx="171105" cy="171646"/>
            <a:chOff x="1029671" y="3159333"/>
            <a:chExt cx="387927" cy="389152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7699D63D-E651-43B0-B2B8-7AAF760A6D6C}"/>
                </a:ext>
              </a:extLst>
            </p:cNvPr>
            <p:cNvSpPr/>
            <p:nvPr/>
          </p:nvSpPr>
          <p:spPr>
            <a:xfrm>
              <a:off x="1029671" y="3159333"/>
              <a:ext cx="387927" cy="38915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5" name="그래픽 40">
              <a:extLst>
                <a:ext uri="{FF2B5EF4-FFF2-40B4-BE49-F238E27FC236}">
                  <a16:creationId xmlns:a16="http://schemas.microsoft.com/office/drawing/2014/main" id="{A1670863-E4A5-4D3C-A887-596A7CE21F21}"/>
                </a:ext>
              </a:extLst>
            </p:cNvPr>
            <p:cNvSpPr/>
            <p:nvPr/>
          </p:nvSpPr>
          <p:spPr>
            <a:xfrm>
              <a:off x="1157596" y="3246355"/>
              <a:ext cx="132078" cy="215105"/>
            </a:xfrm>
            <a:custGeom>
              <a:avLst/>
              <a:gdLst>
                <a:gd name="connsiteX0" fmla="*/ 18217 w 334851"/>
                <a:gd name="connsiteY0" fmla="*/ 18217 h 545353"/>
                <a:gd name="connsiteX1" fmla="*/ 18217 w 334851"/>
                <a:gd name="connsiteY1" fmla="*/ 106132 h 545353"/>
                <a:gd name="connsiteX2" fmla="*/ 184809 w 334851"/>
                <a:gd name="connsiteY2" fmla="*/ 272725 h 545353"/>
                <a:gd name="connsiteX3" fmla="*/ 18217 w 334851"/>
                <a:gd name="connsiteY3" fmla="*/ 439222 h 545353"/>
                <a:gd name="connsiteX4" fmla="*/ 18217 w 334851"/>
                <a:gd name="connsiteY4" fmla="*/ 527137 h 545353"/>
                <a:gd name="connsiteX5" fmla="*/ 106132 w 334851"/>
                <a:gd name="connsiteY5" fmla="*/ 527137 h 545353"/>
                <a:gd name="connsiteX6" fmla="*/ 316635 w 334851"/>
                <a:gd name="connsiteY6" fmla="*/ 316635 h 545353"/>
                <a:gd name="connsiteX7" fmla="*/ 316635 w 334851"/>
                <a:gd name="connsiteY7" fmla="*/ 228719 h 545353"/>
                <a:gd name="connsiteX8" fmla="*/ 106132 w 334851"/>
                <a:gd name="connsiteY8" fmla="*/ 18217 h 545353"/>
                <a:gd name="connsiteX9" fmla="*/ 18217 w 334851"/>
                <a:gd name="connsiteY9" fmla="*/ 18217 h 54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51" h="545353">
                  <a:moveTo>
                    <a:pt x="18217" y="18217"/>
                  </a:moveTo>
                  <a:cubicBezTo>
                    <a:pt x="-6072" y="42505"/>
                    <a:pt x="-6072" y="81844"/>
                    <a:pt x="18217" y="106132"/>
                  </a:cubicBezTo>
                  <a:lnTo>
                    <a:pt x="184809" y="272725"/>
                  </a:lnTo>
                  <a:lnTo>
                    <a:pt x="18217" y="439222"/>
                  </a:lnTo>
                  <a:cubicBezTo>
                    <a:pt x="-6072" y="463510"/>
                    <a:pt x="-6072" y="502849"/>
                    <a:pt x="18217" y="527137"/>
                  </a:cubicBezTo>
                  <a:cubicBezTo>
                    <a:pt x="42505" y="551426"/>
                    <a:pt x="81844" y="551426"/>
                    <a:pt x="106132" y="527137"/>
                  </a:cubicBezTo>
                  <a:lnTo>
                    <a:pt x="316635" y="316635"/>
                  </a:lnTo>
                  <a:cubicBezTo>
                    <a:pt x="340924" y="292346"/>
                    <a:pt x="340924" y="253008"/>
                    <a:pt x="316635" y="228719"/>
                  </a:cubicBezTo>
                  <a:lnTo>
                    <a:pt x="106132" y="18217"/>
                  </a:lnTo>
                  <a:cubicBezTo>
                    <a:pt x="81844" y="-6072"/>
                    <a:pt x="42505" y="-6072"/>
                    <a:pt x="18217" y="18217"/>
                  </a:cubicBezTo>
                  <a:close/>
                </a:path>
              </a:pathLst>
            </a:custGeom>
            <a:solidFill>
              <a:srgbClr val="105BA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194ECE7-80E2-4436-BF05-23F0E589A179}"/>
              </a:ext>
            </a:extLst>
          </p:cNvPr>
          <p:cNvGrpSpPr/>
          <p:nvPr/>
        </p:nvGrpSpPr>
        <p:grpSpPr>
          <a:xfrm>
            <a:off x="1518597" y="3744907"/>
            <a:ext cx="171105" cy="171646"/>
            <a:chOff x="1029671" y="3159333"/>
            <a:chExt cx="387927" cy="389152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C2A8E1A2-23F8-4F4D-91D4-A47ABE5CD0B3}"/>
                </a:ext>
              </a:extLst>
            </p:cNvPr>
            <p:cNvSpPr/>
            <p:nvPr/>
          </p:nvSpPr>
          <p:spPr>
            <a:xfrm>
              <a:off x="1029671" y="3159333"/>
              <a:ext cx="387927" cy="38915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8" name="그래픽 40">
              <a:extLst>
                <a:ext uri="{FF2B5EF4-FFF2-40B4-BE49-F238E27FC236}">
                  <a16:creationId xmlns:a16="http://schemas.microsoft.com/office/drawing/2014/main" id="{32346D4A-C53B-41DB-8CA0-031CC781CDB1}"/>
                </a:ext>
              </a:extLst>
            </p:cNvPr>
            <p:cNvSpPr/>
            <p:nvPr/>
          </p:nvSpPr>
          <p:spPr>
            <a:xfrm>
              <a:off x="1157596" y="3246355"/>
              <a:ext cx="132078" cy="215105"/>
            </a:xfrm>
            <a:custGeom>
              <a:avLst/>
              <a:gdLst>
                <a:gd name="connsiteX0" fmla="*/ 18217 w 334851"/>
                <a:gd name="connsiteY0" fmla="*/ 18217 h 545353"/>
                <a:gd name="connsiteX1" fmla="*/ 18217 w 334851"/>
                <a:gd name="connsiteY1" fmla="*/ 106132 h 545353"/>
                <a:gd name="connsiteX2" fmla="*/ 184809 w 334851"/>
                <a:gd name="connsiteY2" fmla="*/ 272725 h 545353"/>
                <a:gd name="connsiteX3" fmla="*/ 18217 w 334851"/>
                <a:gd name="connsiteY3" fmla="*/ 439222 h 545353"/>
                <a:gd name="connsiteX4" fmla="*/ 18217 w 334851"/>
                <a:gd name="connsiteY4" fmla="*/ 527137 h 545353"/>
                <a:gd name="connsiteX5" fmla="*/ 106132 w 334851"/>
                <a:gd name="connsiteY5" fmla="*/ 527137 h 545353"/>
                <a:gd name="connsiteX6" fmla="*/ 316635 w 334851"/>
                <a:gd name="connsiteY6" fmla="*/ 316635 h 545353"/>
                <a:gd name="connsiteX7" fmla="*/ 316635 w 334851"/>
                <a:gd name="connsiteY7" fmla="*/ 228719 h 545353"/>
                <a:gd name="connsiteX8" fmla="*/ 106132 w 334851"/>
                <a:gd name="connsiteY8" fmla="*/ 18217 h 545353"/>
                <a:gd name="connsiteX9" fmla="*/ 18217 w 334851"/>
                <a:gd name="connsiteY9" fmla="*/ 18217 h 54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51" h="545353">
                  <a:moveTo>
                    <a:pt x="18217" y="18217"/>
                  </a:moveTo>
                  <a:cubicBezTo>
                    <a:pt x="-6072" y="42505"/>
                    <a:pt x="-6072" y="81844"/>
                    <a:pt x="18217" y="106132"/>
                  </a:cubicBezTo>
                  <a:lnTo>
                    <a:pt x="184809" y="272725"/>
                  </a:lnTo>
                  <a:lnTo>
                    <a:pt x="18217" y="439222"/>
                  </a:lnTo>
                  <a:cubicBezTo>
                    <a:pt x="-6072" y="463510"/>
                    <a:pt x="-6072" y="502849"/>
                    <a:pt x="18217" y="527137"/>
                  </a:cubicBezTo>
                  <a:cubicBezTo>
                    <a:pt x="42505" y="551426"/>
                    <a:pt x="81844" y="551426"/>
                    <a:pt x="106132" y="527137"/>
                  </a:cubicBezTo>
                  <a:lnTo>
                    <a:pt x="316635" y="316635"/>
                  </a:lnTo>
                  <a:cubicBezTo>
                    <a:pt x="340924" y="292346"/>
                    <a:pt x="340924" y="253008"/>
                    <a:pt x="316635" y="228719"/>
                  </a:cubicBezTo>
                  <a:lnTo>
                    <a:pt x="106132" y="18217"/>
                  </a:lnTo>
                  <a:cubicBezTo>
                    <a:pt x="81844" y="-6072"/>
                    <a:pt x="42505" y="-6072"/>
                    <a:pt x="18217" y="18217"/>
                  </a:cubicBezTo>
                  <a:close/>
                </a:path>
              </a:pathLst>
            </a:custGeom>
            <a:solidFill>
              <a:srgbClr val="105BA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26" name="사각형: 잘린 한쪽 모서리 25">
            <a:extLst>
              <a:ext uri="{FF2B5EF4-FFF2-40B4-BE49-F238E27FC236}">
                <a16:creationId xmlns:a16="http://schemas.microsoft.com/office/drawing/2014/main" id="{962E8B3B-0CE6-43DE-AF1A-4F74B424AACC}"/>
              </a:ext>
            </a:extLst>
          </p:cNvPr>
          <p:cNvSpPr/>
          <p:nvPr/>
        </p:nvSpPr>
        <p:spPr>
          <a:xfrm>
            <a:off x="923792" y="1143310"/>
            <a:ext cx="1757495" cy="391715"/>
          </a:xfrm>
          <a:prstGeom prst="snip1Rect">
            <a:avLst>
              <a:gd name="adj" fmla="val 37888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7" name="텍스트 개체 틀 19">
            <a:extLst>
              <a:ext uri="{FF2B5EF4-FFF2-40B4-BE49-F238E27FC236}">
                <a16:creationId xmlns:a16="http://schemas.microsoft.com/office/drawing/2014/main" id="{2671EB29-68DC-4434-9271-7EEC353694AC}"/>
              </a:ext>
            </a:extLst>
          </p:cNvPr>
          <p:cNvSpPr txBox="1">
            <a:spLocks/>
          </p:cNvSpPr>
          <p:nvPr/>
        </p:nvSpPr>
        <p:spPr>
          <a:xfrm>
            <a:off x="1333506" y="1180731"/>
            <a:ext cx="1390643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defRPr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Roadmap 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8665E39D-8E9A-4E75-BC90-7657B4E63185}"/>
              </a:ext>
            </a:extLst>
          </p:cNvPr>
          <p:cNvSpPr/>
          <p:nvPr/>
        </p:nvSpPr>
        <p:spPr>
          <a:xfrm>
            <a:off x="789517" y="1561257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29" name="그래픽 28">
            <a:extLst>
              <a:ext uri="{FF2B5EF4-FFF2-40B4-BE49-F238E27FC236}">
                <a16:creationId xmlns:a16="http://schemas.microsoft.com/office/drawing/2014/main" id="{A41F04B1-164D-45BC-96BB-B0B4B0EF17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668982" y="1083045"/>
            <a:ext cx="558670" cy="502804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8020CA77-C53A-4070-AB35-B0187C3B0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64" y="1145567"/>
            <a:ext cx="275112" cy="364836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B4DBFB1-B935-3644-AD03-6C758E5EA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788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E2BFEF-EB14-4768-B905-6359130770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프로토콜 “</a:t>
            </a:r>
            <a:r>
              <a:rPr lang="ko-KR" altLang="en-US" dirty="0">
                <a:solidFill>
                  <a:schemeClr val="bg1"/>
                </a:solidFill>
              </a:rPr>
              <a:t>계층</a:t>
            </a:r>
            <a:r>
              <a:rPr lang="ko-KR" altLang="en-US" dirty="0"/>
              <a:t>”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EF49BE4-1F7F-466A-9506-9A0DE126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7FCB67-70CC-4310-A167-1E1965C4A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36" y="1412776"/>
            <a:ext cx="6826930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 sz="20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네트워크는 많은 “</a:t>
            </a:r>
            <a:r>
              <a:rPr lang="ko-KR" altLang="en-US" sz="20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요소”들로</a:t>
            </a:r>
            <a:r>
              <a:rPr lang="ko-KR" altLang="en-US" sz="20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 구성되어 복잡하다</a:t>
            </a:r>
            <a:r>
              <a:rPr lang="en-US" altLang="ko-KR" sz="20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.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BB586E3-B05A-4FB3-9589-C5ED14631305}"/>
              </a:ext>
            </a:extLst>
          </p:cNvPr>
          <p:cNvGrpSpPr/>
          <p:nvPr/>
        </p:nvGrpSpPr>
        <p:grpSpPr>
          <a:xfrm>
            <a:off x="666036" y="1362017"/>
            <a:ext cx="502804" cy="590566"/>
            <a:chOff x="5678490" y="2646569"/>
            <a:chExt cx="502804" cy="590566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009CEBFC-5942-4E03-BCC6-4615EA005D58}"/>
                </a:ext>
              </a:extLst>
            </p:cNvPr>
            <p:cNvSpPr/>
            <p:nvPr/>
          </p:nvSpPr>
          <p:spPr>
            <a:xfrm>
              <a:off x="5771092" y="3152714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" name="그래픽 7">
              <a:extLst>
                <a:ext uri="{FF2B5EF4-FFF2-40B4-BE49-F238E27FC236}">
                  <a16:creationId xmlns:a16="http://schemas.microsoft.com/office/drawing/2014/main" id="{8A8FB448-09CE-423D-8C38-D8B5AE1DCB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5650557" y="2674502"/>
              <a:ext cx="558670" cy="502804"/>
            </a:xfrm>
            <a:prstGeom prst="rect">
              <a:avLst/>
            </a:prstGeom>
            <a:effectLst/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C17027B-FC51-4656-AA2D-1B7673FC4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741954" y="2826171"/>
              <a:ext cx="375876" cy="217726"/>
            </a:xfrm>
            <a:prstGeom prst="rect">
              <a:avLst/>
            </a:prstGeom>
          </p:spPr>
        </p:pic>
      </p:grp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256F8156-6C7B-4176-B653-3E71818C0501}"/>
              </a:ext>
            </a:extLst>
          </p:cNvPr>
          <p:cNvSpPr/>
          <p:nvPr/>
        </p:nvSpPr>
        <p:spPr>
          <a:xfrm>
            <a:off x="930474" y="5303383"/>
            <a:ext cx="6826930" cy="861921"/>
          </a:xfrm>
          <a:prstGeom prst="snip1Rect">
            <a:avLst>
              <a:gd name="adj" fmla="val 24985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 dirty="0">
              <a:latin typeface="Abadi" panose="020B0604020104020204" pitchFamily="34" charset="0"/>
              <a:sym typeface="Arial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40D1D95B-5C40-4C8B-9959-8201EC228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90" y="5373216"/>
            <a:ext cx="6826930" cy="714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넥슨Lv1고딕 Bold" panose="00000800000000000000" pitchFamily="2" charset="-127"/>
                <a:cs typeface="+mj-cs"/>
              </a:rPr>
              <a:t>네트워크 구조를 조직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넥슨Lv1고딕 Bold" panose="00000800000000000000" pitchFamily="2" charset="-127"/>
                <a:cs typeface="+mj-cs"/>
              </a:rPr>
              <a:t>(organize)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넥슨Lv1고딕 Bold" panose="00000800000000000000" pitchFamily="2" charset="-127"/>
                <a:cs typeface="+mj-cs"/>
              </a:rPr>
              <a:t>할 수 있을까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넥슨Lv1고딕 Bold" panose="00000800000000000000" pitchFamily="2" charset="-127"/>
                <a:cs typeface="+mj-cs"/>
              </a:rPr>
              <a:t>?</a:t>
            </a:r>
          </a:p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넥슨Lv1고딕 Bold" panose="00000800000000000000" pitchFamily="2" charset="-127"/>
                <a:cs typeface="+mj-cs"/>
              </a:rPr>
              <a:t>…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넥슨Lv1고딕 Bold" panose="00000800000000000000" pitchFamily="2" charset="-127"/>
                <a:cs typeface="+mj-cs"/>
              </a:rPr>
              <a:t>또는 네트워크 구조에 대한 논의가 가능할까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넥슨Lv1고딕 Bold" panose="00000800000000000000" pitchFamily="2" charset="-127"/>
                <a:cs typeface="+mj-cs"/>
              </a:rPr>
              <a:t>?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0024E57-5087-407C-BA5B-E405E77FD914}"/>
              </a:ext>
            </a:extLst>
          </p:cNvPr>
          <p:cNvGrpSpPr/>
          <p:nvPr/>
        </p:nvGrpSpPr>
        <p:grpSpPr>
          <a:xfrm>
            <a:off x="661153" y="5264265"/>
            <a:ext cx="507687" cy="593792"/>
            <a:chOff x="595909" y="5784951"/>
            <a:chExt cx="507687" cy="593792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D624F819-10E5-4429-BEE0-EC69F6D8F91C}"/>
                </a:ext>
              </a:extLst>
            </p:cNvPr>
            <p:cNvSpPr/>
            <p:nvPr/>
          </p:nvSpPr>
          <p:spPr>
            <a:xfrm>
              <a:off x="693394" y="6294322"/>
              <a:ext cx="314384" cy="84421"/>
            </a:xfrm>
            <a:prstGeom prst="ellipse">
              <a:avLst/>
            </a:prstGeom>
            <a:solidFill>
              <a:srgbClr val="DCF5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badi" panose="020B0604020104020204" pitchFamily="34" charset="0"/>
              </a:endParaRPr>
            </a:p>
          </p:txBody>
        </p:sp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39A05898-7636-4F49-A7C9-88EEECF13E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572859" y="5816110"/>
              <a:ext cx="558670" cy="502804"/>
            </a:xfrm>
            <a:prstGeom prst="rect">
              <a:avLst/>
            </a:prstGeom>
          </p:spPr>
        </p:pic>
        <p:sp>
          <p:nvSpPr>
            <p:cNvPr id="16" name="Rectangle 5">
              <a:extLst>
                <a:ext uri="{FF2B5EF4-FFF2-40B4-BE49-F238E27FC236}">
                  <a16:creationId xmlns:a16="http://schemas.microsoft.com/office/drawing/2014/main" id="{01A26877-1279-495D-8770-965DB8E638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909" y="5784951"/>
              <a:ext cx="498162" cy="507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buClr>
                  <a:schemeClr val="accent2"/>
                </a:buClr>
                <a:buSzPct val="85000"/>
              </a:pPr>
              <a:r>
                <a:rPr lang="en-US" altLang="ko-KR" sz="22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badi" panose="020B0604020104020204" pitchFamily="34" charset="0"/>
                  <a:ea typeface="+mj-ea"/>
                  <a:cs typeface="+mj-cs"/>
                </a:rPr>
                <a:t>Q</a:t>
              </a:r>
              <a:endParaRPr lang="en-US" altLang="ko-KR" sz="2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Abadi" panose="020B0604020104020204" pitchFamily="34" charset="0"/>
                <a:ea typeface="+mj-ea"/>
              </a:endParaRPr>
            </a:p>
          </p:txBody>
        </p:sp>
      </p:grpSp>
      <p:sp>
        <p:nvSpPr>
          <p:cNvPr id="25" name="사각형: 잘린 한쪽 모서리 24">
            <a:extLst>
              <a:ext uri="{FF2B5EF4-FFF2-40B4-BE49-F238E27FC236}">
                <a16:creationId xmlns:a16="http://schemas.microsoft.com/office/drawing/2014/main" id="{9DC27F19-6C36-44ED-A569-F9535D63B699}"/>
              </a:ext>
            </a:extLst>
          </p:cNvPr>
          <p:cNvSpPr/>
          <p:nvPr/>
        </p:nvSpPr>
        <p:spPr>
          <a:xfrm>
            <a:off x="954804" y="2138977"/>
            <a:ext cx="1468538" cy="915062"/>
          </a:xfrm>
          <a:prstGeom prst="snip1Rect">
            <a:avLst/>
          </a:prstGeom>
          <a:noFill/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606EB3-0055-480B-A27A-748A9052DA13}"/>
              </a:ext>
            </a:extLst>
          </p:cNvPr>
          <p:cNvSpPr txBox="1"/>
          <p:nvPr/>
        </p:nvSpPr>
        <p:spPr>
          <a:xfrm>
            <a:off x="1168051" y="2385836"/>
            <a:ext cx="1042042" cy="379593"/>
          </a:xfrm>
          <a:prstGeom prst="snip1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lnSpc>
                <a:spcPct val="130000"/>
              </a:lnSpc>
              <a:spcBef>
                <a:spcPts val="1000"/>
              </a:spcBef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호스트</a:t>
            </a:r>
          </a:p>
        </p:txBody>
      </p:sp>
      <p:sp>
        <p:nvSpPr>
          <p:cNvPr id="29" name="사각형: 잘린 한쪽 모서리 28">
            <a:extLst>
              <a:ext uri="{FF2B5EF4-FFF2-40B4-BE49-F238E27FC236}">
                <a16:creationId xmlns:a16="http://schemas.microsoft.com/office/drawing/2014/main" id="{0B52AEF5-D67C-47EA-B8F8-98C0A7592B52}"/>
              </a:ext>
            </a:extLst>
          </p:cNvPr>
          <p:cNvSpPr/>
          <p:nvPr/>
        </p:nvSpPr>
        <p:spPr>
          <a:xfrm>
            <a:off x="2731084" y="2138977"/>
            <a:ext cx="1468538" cy="915062"/>
          </a:xfrm>
          <a:prstGeom prst="snip1Rect">
            <a:avLst/>
          </a:prstGeom>
          <a:noFill/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15E49F-9A21-45C9-ACF2-B047193343E7}"/>
              </a:ext>
            </a:extLst>
          </p:cNvPr>
          <p:cNvSpPr txBox="1"/>
          <p:nvPr/>
        </p:nvSpPr>
        <p:spPr>
          <a:xfrm>
            <a:off x="2944332" y="2385836"/>
            <a:ext cx="1042042" cy="379593"/>
          </a:xfrm>
          <a:prstGeom prst="snip1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lnSpc>
                <a:spcPct val="130000"/>
              </a:lnSpc>
              <a:spcBef>
                <a:spcPts val="1000"/>
              </a:spcBef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라우터</a:t>
            </a:r>
          </a:p>
        </p:txBody>
      </p:sp>
      <p:sp>
        <p:nvSpPr>
          <p:cNvPr id="31" name="사각형: 잘린 한쪽 모서리 30">
            <a:extLst>
              <a:ext uri="{FF2B5EF4-FFF2-40B4-BE49-F238E27FC236}">
                <a16:creationId xmlns:a16="http://schemas.microsoft.com/office/drawing/2014/main" id="{EE047671-36C8-4143-A0C4-BCEF9E4A5461}"/>
              </a:ext>
            </a:extLst>
          </p:cNvPr>
          <p:cNvSpPr/>
          <p:nvPr/>
        </p:nvSpPr>
        <p:spPr>
          <a:xfrm>
            <a:off x="4507364" y="2138977"/>
            <a:ext cx="1468538" cy="915062"/>
          </a:xfrm>
          <a:prstGeom prst="snip1Rect">
            <a:avLst/>
          </a:prstGeom>
          <a:noFill/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99D297-2053-4CF0-BE9A-06774263A183}"/>
              </a:ext>
            </a:extLst>
          </p:cNvPr>
          <p:cNvSpPr txBox="1"/>
          <p:nvPr/>
        </p:nvSpPr>
        <p:spPr>
          <a:xfrm>
            <a:off x="4565169" y="2233609"/>
            <a:ext cx="1352928" cy="684047"/>
          </a:xfrm>
          <a:prstGeom prst="snip1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lnSpc>
                <a:spcPct val="130000"/>
              </a:lnSpc>
              <a:spcBef>
                <a:spcPts val="1000"/>
              </a:spcBef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다양한 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매체의 링크</a:t>
            </a:r>
          </a:p>
        </p:txBody>
      </p:sp>
      <p:sp>
        <p:nvSpPr>
          <p:cNvPr id="33" name="사각형: 잘린 한쪽 모서리 32">
            <a:extLst>
              <a:ext uri="{FF2B5EF4-FFF2-40B4-BE49-F238E27FC236}">
                <a16:creationId xmlns:a16="http://schemas.microsoft.com/office/drawing/2014/main" id="{344C1695-F3A2-483F-BDE4-82D82B6BB9DC}"/>
              </a:ext>
            </a:extLst>
          </p:cNvPr>
          <p:cNvSpPr/>
          <p:nvPr/>
        </p:nvSpPr>
        <p:spPr>
          <a:xfrm>
            <a:off x="6283646" y="2138977"/>
            <a:ext cx="1468538" cy="915062"/>
          </a:xfrm>
          <a:prstGeom prst="snip1Rect">
            <a:avLst/>
          </a:prstGeom>
          <a:noFill/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67BDAC-B404-44A1-9C16-6D8F701D0BD9}"/>
              </a:ext>
            </a:extLst>
          </p:cNvPr>
          <p:cNvSpPr txBox="1"/>
          <p:nvPr/>
        </p:nvSpPr>
        <p:spPr>
          <a:xfrm>
            <a:off x="6496893" y="2385836"/>
            <a:ext cx="1042042" cy="379593"/>
          </a:xfrm>
          <a:prstGeom prst="snip1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lnSpc>
                <a:spcPct val="130000"/>
              </a:lnSpc>
              <a:spcBef>
                <a:spcPts val="1000"/>
              </a:spcBef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응용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ADAB7E1D-8688-49E8-A41D-D4BE5F9836C5}"/>
              </a:ext>
            </a:extLst>
          </p:cNvPr>
          <p:cNvGrpSpPr/>
          <p:nvPr/>
        </p:nvGrpSpPr>
        <p:grpSpPr>
          <a:xfrm>
            <a:off x="954804" y="3228436"/>
            <a:ext cx="5021100" cy="915062"/>
            <a:chOff x="1753184" y="3072532"/>
            <a:chExt cx="5021100" cy="915062"/>
          </a:xfrm>
        </p:grpSpPr>
        <p:sp>
          <p:nvSpPr>
            <p:cNvPr id="59" name="사각형: 잘린 한쪽 모서리 58">
              <a:extLst>
                <a:ext uri="{FF2B5EF4-FFF2-40B4-BE49-F238E27FC236}">
                  <a16:creationId xmlns:a16="http://schemas.microsoft.com/office/drawing/2014/main" id="{9F4BBF89-FAFE-4533-B1A9-42E6FBE97F17}"/>
                </a:ext>
              </a:extLst>
            </p:cNvPr>
            <p:cNvSpPr/>
            <p:nvPr/>
          </p:nvSpPr>
          <p:spPr>
            <a:xfrm>
              <a:off x="1753184" y="3072532"/>
              <a:ext cx="1468538" cy="915062"/>
            </a:xfrm>
            <a:prstGeom prst="snip1Rect">
              <a:avLst/>
            </a:prstGeom>
            <a:noFill/>
            <a:ln w="1905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516EA57-80E9-41AE-A6A0-EE34834A671B}"/>
                </a:ext>
              </a:extLst>
            </p:cNvPr>
            <p:cNvSpPr txBox="1"/>
            <p:nvPr/>
          </p:nvSpPr>
          <p:spPr>
            <a:xfrm>
              <a:off x="1966432" y="3319391"/>
              <a:ext cx="1042042" cy="379593"/>
            </a:xfrm>
            <a:prstGeom prst="snip1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2" algn="ctr">
                <a:lnSpc>
                  <a:spcPct val="130000"/>
                </a:lnSpc>
                <a:spcBef>
                  <a:spcPts val="1000"/>
                </a:spcBef>
              </a:pPr>
              <a:r>
                <a:rPr lang="ko-KR" altLang="en-US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프로토콜</a:t>
              </a:r>
            </a:p>
          </p:txBody>
        </p:sp>
        <p:sp>
          <p:nvSpPr>
            <p:cNvPr id="61" name="사각형: 잘린 한쪽 모서리 60">
              <a:extLst>
                <a:ext uri="{FF2B5EF4-FFF2-40B4-BE49-F238E27FC236}">
                  <a16:creationId xmlns:a16="http://schemas.microsoft.com/office/drawing/2014/main" id="{9711808D-F8AE-4D14-857E-774E07D697AD}"/>
                </a:ext>
              </a:extLst>
            </p:cNvPr>
            <p:cNvSpPr/>
            <p:nvPr/>
          </p:nvSpPr>
          <p:spPr>
            <a:xfrm>
              <a:off x="3529464" y="3072532"/>
              <a:ext cx="1468538" cy="915062"/>
            </a:xfrm>
            <a:prstGeom prst="snip1Rect">
              <a:avLst/>
            </a:prstGeom>
            <a:noFill/>
            <a:ln w="1905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D2EB875-ECF6-4F78-AA76-AA292A2F3C54}"/>
                </a:ext>
              </a:extLst>
            </p:cNvPr>
            <p:cNvSpPr txBox="1"/>
            <p:nvPr/>
          </p:nvSpPr>
          <p:spPr>
            <a:xfrm>
              <a:off x="3587269" y="3340267"/>
              <a:ext cx="1352928" cy="379593"/>
            </a:xfrm>
            <a:prstGeom prst="snip1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2" algn="ctr">
                <a:lnSpc>
                  <a:spcPct val="130000"/>
                </a:lnSpc>
                <a:spcBef>
                  <a:spcPts val="1000"/>
                </a:spcBef>
              </a:pPr>
              <a:r>
                <a:rPr lang="ko-KR" altLang="en-US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하드웨어</a:t>
              </a:r>
            </a:p>
          </p:txBody>
        </p:sp>
        <p:sp>
          <p:nvSpPr>
            <p:cNvPr id="63" name="사각형: 잘린 한쪽 모서리 62">
              <a:extLst>
                <a:ext uri="{FF2B5EF4-FFF2-40B4-BE49-F238E27FC236}">
                  <a16:creationId xmlns:a16="http://schemas.microsoft.com/office/drawing/2014/main" id="{4BE49870-3932-4C88-B2EF-3F80A9EBEBE3}"/>
                </a:ext>
              </a:extLst>
            </p:cNvPr>
            <p:cNvSpPr/>
            <p:nvPr/>
          </p:nvSpPr>
          <p:spPr>
            <a:xfrm>
              <a:off x="5305746" y="3072532"/>
              <a:ext cx="1468538" cy="915062"/>
            </a:xfrm>
            <a:prstGeom prst="snip1Rect">
              <a:avLst/>
            </a:prstGeom>
            <a:noFill/>
            <a:ln w="1905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AC925B6-4BCB-4A5B-900D-384F393B9FE9}"/>
                </a:ext>
              </a:extLst>
            </p:cNvPr>
            <p:cNvSpPr txBox="1"/>
            <p:nvPr/>
          </p:nvSpPr>
          <p:spPr>
            <a:xfrm>
              <a:off x="5479972" y="3340267"/>
              <a:ext cx="1120084" cy="379593"/>
            </a:xfrm>
            <a:prstGeom prst="snip1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2" algn="ctr">
                <a:lnSpc>
                  <a:spcPct val="130000"/>
                </a:lnSpc>
                <a:spcBef>
                  <a:spcPts val="1000"/>
                </a:spcBef>
              </a:pPr>
              <a:r>
                <a:rPr lang="ko-KR" altLang="en-US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소프트웨어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3149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타원 17">
            <a:extLst>
              <a:ext uri="{FF2B5EF4-FFF2-40B4-BE49-F238E27FC236}">
                <a16:creationId xmlns:a16="http://schemas.microsoft.com/office/drawing/2014/main" id="{A698E4BB-4A85-4B22-B915-32FCA27A23BC}"/>
              </a:ext>
            </a:extLst>
          </p:cNvPr>
          <p:cNvSpPr/>
          <p:nvPr/>
        </p:nvSpPr>
        <p:spPr>
          <a:xfrm>
            <a:off x="4129582" y="3165806"/>
            <a:ext cx="1134264" cy="113518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1834B57-B3FA-4F24-9D67-E886057576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항공 여행</a:t>
            </a:r>
            <a:r>
              <a:rPr lang="ko-KR" altLang="en-US" dirty="0">
                <a:solidFill>
                  <a:schemeClr val="bg1"/>
                </a:solidFill>
                <a:latin typeface="Abadi" panose="020B0604020104020204" pitchFamily="34" charset="0"/>
                <a:ea typeface="G마켓 산스 TTF Medium" panose="02000000000000000000" pitchFamily="2" charset="-127"/>
              </a:rPr>
              <a:t>의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조직화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9E605E-8F90-4223-AD82-302381D7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17</a:t>
            </a:fld>
            <a:endParaRPr lang="en-US" dirty="0"/>
          </a:p>
        </p:txBody>
      </p:sp>
      <p:sp>
        <p:nvSpPr>
          <p:cNvPr id="6" name="그래픽 4">
            <a:extLst>
              <a:ext uri="{FF2B5EF4-FFF2-40B4-BE49-F238E27FC236}">
                <a16:creationId xmlns:a16="http://schemas.microsoft.com/office/drawing/2014/main" id="{35BA00A6-9FE9-4FD7-A1CE-D9A83F195458}"/>
              </a:ext>
            </a:extLst>
          </p:cNvPr>
          <p:cNvSpPr/>
          <p:nvPr/>
        </p:nvSpPr>
        <p:spPr>
          <a:xfrm>
            <a:off x="1713251" y="2132856"/>
            <a:ext cx="5966926" cy="2847593"/>
          </a:xfrm>
          <a:custGeom>
            <a:avLst/>
            <a:gdLst>
              <a:gd name="connsiteX0" fmla="*/ 0 w 4881753"/>
              <a:gd name="connsiteY0" fmla="*/ 0 h 2466593"/>
              <a:gd name="connsiteX1" fmla="*/ 4763 w 4881753"/>
              <a:gd name="connsiteY1" fmla="*/ 2066639 h 2466593"/>
              <a:gd name="connsiteX2" fmla="*/ 752475 w 4881753"/>
              <a:gd name="connsiteY2" fmla="*/ 2466594 h 2466593"/>
              <a:gd name="connsiteX3" fmla="*/ 4129278 w 4881753"/>
              <a:gd name="connsiteY3" fmla="*/ 2466594 h 2466593"/>
              <a:gd name="connsiteX4" fmla="*/ 4881753 w 4881753"/>
              <a:gd name="connsiteY4" fmla="*/ 2066639 h 2466593"/>
              <a:gd name="connsiteX5" fmla="*/ 4881753 w 4881753"/>
              <a:gd name="connsiteY5" fmla="*/ 0 h 2466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81753" h="2466593">
                <a:moveTo>
                  <a:pt x="0" y="0"/>
                </a:moveTo>
                <a:lnTo>
                  <a:pt x="4763" y="2066639"/>
                </a:lnTo>
                <a:lnTo>
                  <a:pt x="752475" y="2466594"/>
                </a:lnTo>
                <a:lnTo>
                  <a:pt x="4129278" y="2466594"/>
                </a:lnTo>
                <a:lnTo>
                  <a:pt x="4881753" y="2066639"/>
                </a:lnTo>
                <a:lnTo>
                  <a:pt x="4881753" y="0"/>
                </a:lnTo>
              </a:path>
            </a:pathLst>
          </a:custGeom>
          <a:noFill/>
          <a:ln w="28575">
            <a:solidFill>
              <a:srgbClr val="105B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BCBE9423-DA93-4BEA-8122-AEB28C493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0521" y="1916832"/>
            <a:ext cx="1415772" cy="2413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lvl="2">
              <a:lnSpc>
                <a:spcPct val="150000"/>
              </a:lnSpc>
              <a:spcBef>
                <a:spcPts val="1000"/>
              </a:spcBef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티켓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(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구입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)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2">
              <a:lnSpc>
                <a:spcPct val="150000"/>
              </a:lnSpc>
              <a:spcBef>
                <a:spcPts val="1000"/>
              </a:spcBef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수하물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(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검사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)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2">
              <a:lnSpc>
                <a:spcPct val="150000"/>
              </a:lnSpc>
              <a:spcBef>
                <a:spcPts val="1000"/>
              </a:spcBef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게이트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(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탑승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)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2">
              <a:lnSpc>
                <a:spcPct val="150000"/>
              </a:lnSpc>
              <a:spcBef>
                <a:spcPts val="1000"/>
              </a:spcBef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활주로 이륙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2">
              <a:lnSpc>
                <a:spcPct val="150000"/>
              </a:lnSpc>
              <a:spcBef>
                <a:spcPts val="1000"/>
              </a:spcBef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비행기 라우팅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13953CA9-22F0-4BF7-B215-67A95B5FF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984" y="1916832"/>
            <a:ext cx="1560042" cy="2413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lvl="2">
              <a:lnSpc>
                <a:spcPct val="150000"/>
              </a:lnSpc>
              <a:spcBef>
                <a:spcPts val="1000"/>
              </a:spcBef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티켓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(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항의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)</a:t>
            </a:r>
          </a:p>
          <a:p>
            <a:pPr marL="0" lvl="2">
              <a:lnSpc>
                <a:spcPct val="150000"/>
              </a:lnSpc>
              <a:spcBef>
                <a:spcPts val="1000"/>
              </a:spcBef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수하물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(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클레임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)</a:t>
            </a:r>
          </a:p>
          <a:p>
            <a:pPr marL="0" lvl="2">
              <a:lnSpc>
                <a:spcPct val="150000"/>
              </a:lnSpc>
              <a:spcBef>
                <a:spcPts val="1000"/>
              </a:spcBef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게이트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(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내림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)</a:t>
            </a:r>
          </a:p>
          <a:p>
            <a:pPr marL="0" lvl="2">
              <a:lnSpc>
                <a:spcPct val="150000"/>
              </a:lnSpc>
              <a:spcBef>
                <a:spcPts val="1000"/>
              </a:spcBef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활주로 착륙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2">
              <a:lnSpc>
                <a:spcPct val="150000"/>
              </a:lnSpc>
              <a:spcBef>
                <a:spcPts val="1000"/>
              </a:spcBef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비행기 라우팅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E86533-9847-40BC-82C1-B369DC83F062}"/>
              </a:ext>
            </a:extLst>
          </p:cNvPr>
          <p:cNvSpPr txBox="1"/>
          <p:nvPr/>
        </p:nvSpPr>
        <p:spPr>
          <a:xfrm>
            <a:off x="2796477" y="4494396"/>
            <a:ext cx="3800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000000"/>
              </a:buClr>
              <a:buFont typeface="Arial"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비행기 라우팅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+mj-ea"/>
              <a:cs typeface="+mj-cs"/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8655454F-73DF-43F7-870D-594AD8561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6253" y="5246003"/>
            <a:ext cx="4122014" cy="522695"/>
          </a:xfrm>
          <a:prstGeom prst="snip2Diag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F7446E-3629-4439-9857-BCB9C194DDA3}"/>
              </a:ext>
            </a:extLst>
          </p:cNvPr>
          <p:cNvSpPr txBox="1"/>
          <p:nvPr/>
        </p:nvSpPr>
        <p:spPr>
          <a:xfrm>
            <a:off x="2822456" y="5355932"/>
            <a:ext cx="3849608" cy="348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Clr>
                <a:srgbClr val="000000"/>
              </a:buClr>
              <a:buFont typeface="Arial"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일련의 단계</a:t>
            </a:r>
          </a:p>
        </p:txBody>
      </p:sp>
      <p:pic>
        <p:nvPicPr>
          <p:cNvPr id="17" name="그림 16" descr="항공기, 글라이더, 드론이(가) 표시된 사진&#10;&#10;자동 생성된 설명">
            <a:extLst>
              <a:ext uri="{FF2B5EF4-FFF2-40B4-BE49-F238E27FC236}">
                <a16:creationId xmlns:a16="http://schemas.microsoft.com/office/drawing/2014/main" id="{07C835CE-52CD-49D4-8DB1-67BA0546A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386" y="3213143"/>
            <a:ext cx="1396534" cy="91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9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2">
            <a:extLst>
              <a:ext uri="{FF2B5EF4-FFF2-40B4-BE49-F238E27FC236}">
                <a16:creationId xmlns:a16="http://schemas.microsoft.com/office/drawing/2014/main" id="{2A9EA634-38B4-445D-A1CD-5521F82EC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8053" y="3789040"/>
            <a:ext cx="1549529" cy="355958"/>
          </a:xfrm>
          <a:prstGeom prst="rect">
            <a:avLst/>
          </a:prstGeom>
          <a:solidFill>
            <a:schemeClr val="bg1"/>
          </a:solidFill>
          <a:ln w="15875">
            <a:solidFill>
              <a:srgbClr val="9EC4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airplane routing</a:t>
            </a:r>
          </a:p>
        </p:txBody>
      </p:sp>
      <p:sp>
        <p:nvSpPr>
          <p:cNvPr id="66" name="Rectangle 2">
            <a:extLst>
              <a:ext uri="{FF2B5EF4-FFF2-40B4-BE49-F238E27FC236}">
                <a16:creationId xmlns:a16="http://schemas.microsoft.com/office/drawing/2014/main" id="{A1602DA5-7E9F-4B74-BF0D-76C1C8DE9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2194" y="3789040"/>
            <a:ext cx="1549529" cy="355958"/>
          </a:xfrm>
          <a:prstGeom prst="rect">
            <a:avLst/>
          </a:prstGeom>
          <a:solidFill>
            <a:schemeClr val="bg1"/>
          </a:solidFill>
          <a:ln w="15875">
            <a:solidFill>
              <a:srgbClr val="9EC4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airplane routing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496D4E31-5A3B-4347-AE12-7DC365986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28" y="2163231"/>
            <a:ext cx="1548353" cy="355958"/>
          </a:xfrm>
          <a:prstGeom prst="rect">
            <a:avLst/>
          </a:prstGeom>
          <a:solidFill>
            <a:schemeClr val="bg1"/>
          </a:solidFill>
          <a:ln w="15875">
            <a:solidFill>
              <a:srgbClr val="9EC4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ticket(purchase)</a:t>
            </a:r>
          </a:p>
        </p:txBody>
      </p:sp>
      <p:sp>
        <p:nvSpPr>
          <p:cNvPr id="61" name="Rectangle 2">
            <a:extLst>
              <a:ext uri="{FF2B5EF4-FFF2-40B4-BE49-F238E27FC236}">
                <a16:creationId xmlns:a16="http://schemas.microsoft.com/office/drawing/2014/main" id="{E39A9BE6-4BE8-4EF6-8DDB-5A002661E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28" y="2569683"/>
            <a:ext cx="1548353" cy="355958"/>
          </a:xfrm>
          <a:prstGeom prst="rect">
            <a:avLst/>
          </a:prstGeom>
          <a:solidFill>
            <a:schemeClr val="bg1"/>
          </a:solidFill>
          <a:ln w="15875">
            <a:solidFill>
              <a:srgbClr val="9EC4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baggage(check)</a:t>
            </a:r>
          </a:p>
        </p:txBody>
      </p:sp>
      <p:sp>
        <p:nvSpPr>
          <p:cNvPr id="62" name="Rectangle 2">
            <a:extLst>
              <a:ext uri="{FF2B5EF4-FFF2-40B4-BE49-F238E27FC236}">
                <a16:creationId xmlns:a16="http://schemas.microsoft.com/office/drawing/2014/main" id="{A3E70149-9A65-46A9-A7CD-2D9C75C71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28" y="2976135"/>
            <a:ext cx="1548353" cy="355958"/>
          </a:xfrm>
          <a:prstGeom prst="rect">
            <a:avLst/>
          </a:prstGeom>
          <a:solidFill>
            <a:schemeClr val="bg1"/>
          </a:solidFill>
          <a:ln w="15875">
            <a:solidFill>
              <a:srgbClr val="9EC4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gates(load)</a:t>
            </a:r>
          </a:p>
        </p:txBody>
      </p:sp>
      <p:sp>
        <p:nvSpPr>
          <p:cNvPr id="63" name="Rectangle 2">
            <a:extLst>
              <a:ext uri="{FF2B5EF4-FFF2-40B4-BE49-F238E27FC236}">
                <a16:creationId xmlns:a16="http://schemas.microsoft.com/office/drawing/2014/main" id="{D8258532-BCE5-4667-AF8A-28F80F101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28" y="3382587"/>
            <a:ext cx="1548353" cy="355958"/>
          </a:xfrm>
          <a:prstGeom prst="rect">
            <a:avLst/>
          </a:prstGeom>
          <a:solidFill>
            <a:schemeClr val="bg1"/>
          </a:solidFill>
          <a:ln w="15875">
            <a:solidFill>
              <a:srgbClr val="9EC4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runway(takeoff)</a:t>
            </a:r>
          </a:p>
        </p:txBody>
      </p:sp>
      <p:sp>
        <p:nvSpPr>
          <p:cNvPr id="64" name="Rectangle 2">
            <a:extLst>
              <a:ext uri="{FF2B5EF4-FFF2-40B4-BE49-F238E27FC236}">
                <a16:creationId xmlns:a16="http://schemas.microsoft.com/office/drawing/2014/main" id="{01B9EEC8-109A-4062-AEE8-644E7EF8A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28" y="3789040"/>
            <a:ext cx="1548353" cy="355958"/>
          </a:xfrm>
          <a:prstGeom prst="rect">
            <a:avLst/>
          </a:prstGeom>
          <a:solidFill>
            <a:schemeClr val="bg1"/>
          </a:solidFill>
          <a:ln w="15875">
            <a:solidFill>
              <a:srgbClr val="9EC4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airplane routing</a:t>
            </a:r>
          </a:p>
        </p:txBody>
      </p:sp>
      <p:sp>
        <p:nvSpPr>
          <p:cNvPr id="72" name="Rectangle 2">
            <a:extLst>
              <a:ext uri="{FF2B5EF4-FFF2-40B4-BE49-F238E27FC236}">
                <a16:creationId xmlns:a16="http://schemas.microsoft.com/office/drawing/2014/main" id="{F69C6083-8307-400D-8AF5-E1A878D15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3751" y="2163231"/>
            <a:ext cx="1548353" cy="355958"/>
          </a:xfrm>
          <a:prstGeom prst="rect">
            <a:avLst/>
          </a:prstGeom>
          <a:solidFill>
            <a:schemeClr val="bg1"/>
          </a:solidFill>
          <a:ln w="15875">
            <a:solidFill>
              <a:srgbClr val="9EC4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ticket(complain)</a:t>
            </a:r>
          </a:p>
        </p:txBody>
      </p:sp>
      <p:sp>
        <p:nvSpPr>
          <p:cNvPr id="73" name="Rectangle 2">
            <a:extLst>
              <a:ext uri="{FF2B5EF4-FFF2-40B4-BE49-F238E27FC236}">
                <a16:creationId xmlns:a16="http://schemas.microsoft.com/office/drawing/2014/main" id="{57E7AE5A-1EEA-4D0B-93CC-3A6C4DFDE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3751" y="2569683"/>
            <a:ext cx="1548353" cy="355958"/>
          </a:xfrm>
          <a:prstGeom prst="rect">
            <a:avLst/>
          </a:prstGeom>
          <a:solidFill>
            <a:schemeClr val="bg1"/>
          </a:solidFill>
          <a:ln w="15875">
            <a:solidFill>
              <a:srgbClr val="9EC4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baggage(claim)</a:t>
            </a:r>
          </a:p>
        </p:txBody>
      </p:sp>
      <p:sp>
        <p:nvSpPr>
          <p:cNvPr id="74" name="Rectangle 2">
            <a:extLst>
              <a:ext uri="{FF2B5EF4-FFF2-40B4-BE49-F238E27FC236}">
                <a16:creationId xmlns:a16="http://schemas.microsoft.com/office/drawing/2014/main" id="{8A5E8EE5-5CCE-49DB-8D5E-465D397B7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3751" y="2976135"/>
            <a:ext cx="1548353" cy="355958"/>
          </a:xfrm>
          <a:prstGeom prst="rect">
            <a:avLst/>
          </a:prstGeom>
          <a:solidFill>
            <a:schemeClr val="bg1"/>
          </a:solidFill>
          <a:ln w="15875">
            <a:solidFill>
              <a:srgbClr val="9EC4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gates(unload)</a:t>
            </a:r>
          </a:p>
        </p:txBody>
      </p:sp>
      <p:sp>
        <p:nvSpPr>
          <p:cNvPr id="75" name="Rectangle 2">
            <a:extLst>
              <a:ext uri="{FF2B5EF4-FFF2-40B4-BE49-F238E27FC236}">
                <a16:creationId xmlns:a16="http://schemas.microsoft.com/office/drawing/2014/main" id="{BF5968F3-EB09-4EAC-9755-6CD8E5569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3751" y="3382587"/>
            <a:ext cx="1548353" cy="355958"/>
          </a:xfrm>
          <a:prstGeom prst="rect">
            <a:avLst/>
          </a:prstGeom>
          <a:solidFill>
            <a:schemeClr val="bg1"/>
          </a:solidFill>
          <a:ln w="15875">
            <a:solidFill>
              <a:srgbClr val="9EC4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runway(land)</a:t>
            </a:r>
          </a:p>
        </p:txBody>
      </p:sp>
      <p:sp>
        <p:nvSpPr>
          <p:cNvPr id="76" name="Rectangle 2">
            <a:extLst>
              <a:ext uri="{FF2B5EF4-FFF2-40B4-BE49-F238E27FC236}">
                <a16:creationId xmlns:a16="http://schemas.microsoft.com/office/drawing/2014/main" id="{5D537C61-C5FE-423F-A9E9-B2ACA9A12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3751" y="3789040"/>
            <a:ext cx="1548353" cy="355958"/>
          </a:xfrm>
          <a:prstGeom prst="rect">
            <a:avLst/>
          </a:prstGeom>
          <a:solidFill>
            <a:schemeClr val="bg1"/>
          </a:solidFill>
          <a:ln w="15875">
            <a:solidFill>
              <a:srgbClr val="9EC4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airplane routing</a:t>
            </a:r>
          </a:p>
        </p:txBody>
      </p:sp>
      <p:sp>
        <p:nvSpPr>
          <p:cNvPr id="43" name="Rectangle 30">
            <a:extLst>
              <a:ext uri="{FF2B5EF4-FFF2-40B4-BE49-F238E27FC236}">
                <a16:creationId xmlns:a16="http://schemas.microsoft.com/office/drawing/2014/main" id="{7430EEDA-9859-4D33-ABF0-155FB2671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28" y="2622289"/>
            <a:ext cx="7624560" cy="252000"/>
          </a:xfrm>
          <a:prstGeom prst="rect">
            <a:avLst/>
          </a:prstGeom>
          <a:solidFill>
            <a:srgbClr val="9EC4E6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4" name="Rectangle 31">
            <a:extLst>
              <a:ext uri="{FF2B5EF4-FFF2-40B4-BE49-F238E27FC236}">
                <a16:creationId xmlns:a16="http://schemas.microsoft.com/office/drawing/2014/main" id="{372B040F-8B87-43FC-90D9-66FA9CF4B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587" y="2219543"/>
            <a:ext cx="7626002" cy="252000"/>
          </a:xfrm>
          <a:prstGeom prst="rect">
            <a:avLst/>
          </a:prstGeom>
          <a:solidFill>
            <a:srgbClr val="9EC4E6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400" dirty="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7" name="Rectangle 30">
            <a:extLst>
              <a:ext uri="{FF2B5EF4-FFF2-40B4-BE49-F238E27FC236}">
                <a16:creationId xmlns:a16="http://schemas.microsoft.com/office/drawing/2014/main" id="{AABCF15B-FAD8-4882-99C8-4C581ECFA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28" y="3025035"/>
            <a:ext cx="7624560" cy="252000"/>
          </a:xfrm>
          <a:prstGeom prst="rect">
            <a:avLst/>
          </a:prstGeom>
          <a:solidFill>
            <a:srgbClr val="9EC4E6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8" name="Rectangle 30">
            <a:extLst>
              <a:ext uri="{FF2B5EF4-FFF2-40B4-BE49-F238E27FC236}">
                <a16:creationId xmlns:a16="http://schemas.microsoft.com/office/drawing/2014/main" id="{56A42F4A-DFA0-4716-B8F0-411870E2D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28" y="3427781"/>
            <a:ext cx="7624560" cy="252000"/>
          </a:xfrm>
          <a:prstGeom prst="rect">
            <a:avLst/>
          </a:prstGeom>
          <a:solidFill>
            <a:srgbClr val="9EC4E6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9" name="Rectangle 30">
            <a:extLst>
              <a:ext uri="{FF2B5EF4-FFF2-40B4-BE49-F238E27FC236}">
                <a16:creationId xmlns:a16="http://schemas.microsoft.com/office/drawing/2014/main" id="{93C8023B-81D2-41AF-B9F7-27AF4D59E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28" y="3849577"/>
            <a:ext cx="7624560" cy="252000"/>
          </a:xfrm>
          <a:prstGeom prst="rect">
            <a:avLst/>
          </a:prstGeom>
          <a:solidFill>
            <a:srgbClr val="9EC4E6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1834B57-B3FA-4F24-9D67-E886057576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항공 기능</a:t>
            </a:r>
            <a:r>
              <a:rPr lang="ko-KR" altLang="en-US" dirty="0">
                <a:solidFill>
                  <a:schemeClr val="bg1"/>
                </a:solidFill>
                <a:latin typeface="Abadi" panose="020B0604020104020204" pitchFamily="34" charset="0"/>
                <a:ea typeface="G마켓 산스 TTF Medium" panose="02000000000000000000" pitchFamily="2" charset="-127"/>
              </a:rPr>
              <a:t>의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계층화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9E605E-8F90-4223-AD82-302381D7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18</a:t>
            </a:fld>
            <a:endParaRPr lang="en-US" dirty="0"/>
          </a:p>
        </p:txBody>
      </p:sp>
      <p:sp>
        <p:nvSpPr>
          <p:cNvPr id="25" name="Text Box 8">
            <a:extLst>
              <a:ext uri="{FF2B5EF4-FFF2-40B4-BE49-F238E27FC236}">
                <a16:creationId xmlns:a16="http://schemas.microsoft.com/office/drawing/2014/main" id="{5B97A9A4-F198-4C24-9C9C-BC41D9F3E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683" y="4209220"/>
            <a:ext cx="813043" cy="315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3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출발공항</a:t>
            </a:r>
            <a:endParaRPr lang="en-US" altLang="ko-KR" sz="13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E10DD778-4C24-44A4-A8B7-2F963A075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9832" y="4214738"/>
            <a:ext cx="1810111" cy="315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중간의 비행관제센터들</a:t>
            </a:r>
            <a:endParaRPr lang="en-US" altLang="ko-KR" sz="13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918C8A27-ED58-49FE-AE55-398BE71A2FF3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4797152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계층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(layer)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각 계층은 서비스를 구현한다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.</a:t>
            </a:r>
            <a:endParaRPr lang="ko-KR" altLang="en-US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E52A191E-F5DE-43D9-BD9C-3B5441486046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5200624"/>
            <a:ext cx="650359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계층 자체의 내부 동작을 통해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아래 계층에서 제공되는 서비스에 의존하여</a:t>
            </a:r>
          </a:p>
        </p:txBody>
      </p:sp>
      <p:pic>
        <p:nvPicPr>
          <p:cNvPr id="56" name="그림 55" descr="항공기, 글라이더, 드론이(가) 표시된 사진&#10;&#10;자동 생성된 설명">
            <a:extLst>
              <a:ext uri="{FF2B5EF4-FFF2-40B4-BE49-F238E27FC236}">
                <a16:creationId xmlns:a16="http://schemas.microsoft.com/office/drawing/2014/main" id="{870299D8-0C78-4C30-969D-885EDFAD43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126" y="1130983"/>
            <a:ext cx="1396534" cy="912566"/>
          </a:xfrm>
          <a:prstGeom prst="rect">
            <a:avLst/>
          </a:prstGeom>
        </p:spPr>
      </p:pic>
      <p:sp>
        <p:nvSpPr>
          <p:cNvPr id="81" name="Text Box 36">
            <a:extLst>
              <a:ext uri="{FF2B5EF4-FFF2-40B4-BE49-F238E27FC236}">
                <a16:creationId xmlns:a16="http://schemas.microsoft.com/office/drawing/2014/main" id="{FA15C935-3A19-4462-A781-60C41ADB8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859" y="3806825"/>
            <a:ext cx="1181734" cy="315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비행기 라우팅</a:t>
            </a:r>
            <a:endParaRPr lang="en-US" altLang="ko-KR" sz="13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82" name="Text Box 36">
            <a:extLst>
              <a:ext uri="{FF2B5EF4-FFF2-40B4-BE49-F238E27FC236}">
                <a16:creationId xmlns:a16="http://schemas.microsoft.com/office/drawing/2014/main" id="{C30F25B5-A2EA-4018-A165-D15F55C20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859" y="3399984"/>
            <a:ext cx="655949" cy="315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이착륙</a:t>
            </a:r>
          </a:p>
        </p:txBody>
      </p:sp>
      <p:sp>
        <p:nvSpPr>
          <p:cNvPr id="83" name="Text Box 36">
            <a:extLst>
              <a:ext uri="{FF2B5EF4-FFF2-40B4-BE49-F238E27FC236}">
                <a16:creationId xmlns:a16="http://schemas.microsoft.com/office/drawing/2014/main" id="{BF0DD90B-CC24-4C96-A307-CC10BFF21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859" y="2993144"/>
            <a:ext cx="655949" cy="315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게이트</a:t>
            </a:r>
          </a:p>
        </p:txBody>
      </p:sp>
      <p:sp>
        <p:nvSpPr>
          <p:cNvPr id="84" name="Text Box 36">
            <a:extLst>
              <a:ext uri="{FF2B5EF4-FFF2-40B4-BE49-F238E27FC236}">
                <a16:creationId xmlns:a16="http://schemas.microsoft.com/office/drawing/2014/main" id="{8993F134-10BE-4F8E-B2A7-50CB7C17E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859" y="2586304"/>
            <a:ext cx="655949" cy="315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수하물</a:t>
            </a:r>
          </a:p>
        </p:txBody>
      </p:sp>
      <p:sp>
        <p:nvSpPr>
          <p:cNvPr id="85" name="Text Box 36">
            <a:extLst>
              <a:ext uri="{FF2B5EF4-FFF2-40B4-BE49-F238E27FC236}">
                <a16:creationId xmlns:a16="http://schemas.microsoft.com/office/drawing/2014/main" id="{1F02352B-9E71-491A-BB82-3AD8FCFE0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859" y="2179464"/>
            <a:ext cx="498855" cy="315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티켓</a:t>
            </a:r>
          </a:p>
        </p:txBody>
      </p:sp>
      <p:sp>
        <p:nvSpPr>
          <p:cNvPr id="31" name="Text Box 8">
            <a:extLst>
              <a:ext uri="{FF2B5EF4-FFF2-40B4-BE49-F238E27FC236}">
                <a16:creationId xmlns:a16="http://schemas.microsoft.com/office/drawing/2014/main" id="{00BE7DC4-E572-410E-A49E-66F55C600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049" y="4209220"/>
            <a:ext cx="813043" cy="315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3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도착공항</a:t>
            </a:r>
          </a:p>
        </p:txBody>
      </p:sp>
    </p:spTree>
    <p:extLst>
      <p:ext uri="{BB962C8B-B14F-4D97-AF65-F5344CB8AC3E}">
        <p14:creationId xmlns:p14="http://schemas.microsoft.com/office/powerpoint/2010/main" val="2066014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E2BFEF-EB14-4768-B905-6359130770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계층화</a:t>
            </a:r>
            <a:r>
              <a:rPr lang="ko-KR" altLang="en-US" dirty="0" err="1">
                <a:solidFill>
                  <a:schemeClr val="bg1"/>
                </a:solidFill>
                <a:latin typeface="Abadi" panose="020B0604020104020204" pitchFamily="34" charset="0"/>
                <a:ea typeface="G마켓 산스 TTF Medium" panose="02000000000000000000" pitchFamily="2" charset="-127"/>
              </a:rPr>
              <a:t>하는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이유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EF49BE4-1F7F-466A-9506-9A0DE126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19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7FCB67-70CC-4310-A167-1E1965C4A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36" y="1412776"/>
            <a:ext cx="6826930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 sz="20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복잡한 시스템을 다룰 경우</a:t>
            </a:r>
            <a:endParaRPr lang="en-US" altLang="ko-KR" sz="20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+mj-ea"/>
              <a:cs typeface="+mj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BB586E3-B05A-4FB3-9589-C5ED14631305}"/>
              </a:ext>
            </a:extLst>
          </p:cNvPr>
          <p:cNvGrpSpPr/>
          <p:nvPr/>
        </p:nvGrpSpPr>
        <p:grpSpPr>
          <a:xfrm>
            <a:off x="666036" y="1362017"/>
            <a:ext cx="502804" cy="590566"/>
            <a:chOff x="5678490" y="2646569"/>
            <a:chExt cx="502804" cy="590566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009CEBFC-5942-4E03-BCC6-4615EA005D58}"/>
                </a:ext>
              </a:extLst>
            </p:cNvPr>
            <p:cNvSpPr/>
            <p:nvPr/>
          </p:nvSpPr>
          <p:spPr>
            <a:xfrm>
              <a:off x="5771092" y="3152714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" name="그래픽 7">
              <a:extLst>
                <a:ext uri="{FF2B5EF4-FFF2-40B4-BE49-F238E27FC236}">
                  <a16:creationId xmlns:a16="http://schemas.microsoft.com/office/drawing/2014/main" id="{8A8FB448-09CE-423D-8C38-D8B5AE1DCB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5650557" y="2674502"/>
              <a:ext cx="558670" cy="502804"/>
            </a:xfrm>
            <a:prstGeom prst="rect">
              <a:avLst/>
            </a:prstGeom>
            <a:effectLst/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C17027B-FC51-4656-AA2D-1B7673FC4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741954" y="2826171"/>
              <a:ext cx="375876" cy="217726"/>
            </a:xfrm>
            <a:prstGeom prst="rect">
              <a:avLst/>
            </a:prstGeom>
          </p:spPr>
        </p:pic>
      </p:grpSp>
      <p:sp>
        <p:nvSpPr>
          <p:cNvPr id="35" name="Rectangle 3">
            <a:extLst>
              <a:ext uri="{FF2B5EF4-FFF2-40B4-BE49-F238E27FC236}">
                <a16:creationId xmlns:a16="http://schemas.microsoft.com/office/drawing/2014/main" id="{1620D062-95AC-4F0D-8FF2-F687CBF9CB2B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132856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4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명시적인 구조가 복잡한 시스템 요소들의 식별과 관계를 분명하게 해 줌</a:t>
            </a: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F5FD7DF1-6E63-4BCB-A109-A6764982DADB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536328"/>
            <a:ext cx="650359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논의를 위한 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계층화된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참조 모델</a:t>
            </a:r>
            <a:endParaRPr lang="ko-KR" altLang="en-US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E78BE429-71A5-444F-9F90-7B9B00B11A92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3140968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4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모듈화로 시스템의 관리와 갱신이 용이해짐</a:t>
            </a: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A5EC1A83-8FDA-4A30-933C-0F47EF11B513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544440"/>
            <a:ext cx="650359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한 계층의 구현을 변경해도 시스템의 다른 부분에 영향을 주지 않음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예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게이트에서의 절차를 변경해도 시스템 나머지에 영향을 주지 않음</a:t>
            </a: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49EAFAA6-7C06-4A85-9EE9-819D519C6004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4509120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4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계층화는 결점이 있는가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97029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E2BFEF-EB14-4768-B905-6359130770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인터넷 프로토콜 스택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EF49BE4-1F7F-466A-9506-9A0DE126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20</a:t>
            </a:fld>
            <a:endParaRPr lang="en-US" dirty="0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25B505A8-DFEA-46C2-AE9C-B86BBC455436}"/>
              </a:ext>
            </a:extLst>
          </p:cNvPr>
          <p:cNvSpPr txBox="1">
            <a:spLocks noChangeArrowheads="1"/>
          </p:cNvSpPr>
          <p:nvPr/>
        </p:nvSpPr>
        <p:spPr>
          <a:xfrm>
            <a:off x="2475579" y="1202547"/>
            <a:ext cx="578101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application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b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</a:b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네트워크 응용을 지원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A7EA88CD-69CB-4859-8E32-21BAC1B2ABBA}"/>
              </a:ext>
            </a:extLst>
          </p:cNvPr>
          <p:cNvSpPr txBox="1">
            <a:spLocks noChangeArrowheads="1"/>
          </p:cNvSpPr>
          <p:nvPr/>
        </p:nvSpPr>
        <p:spPr>
          <a:xfrm>
            <a:off x="2794505" y="1902214"/>
            <a:ext cx="3779838" cy="350289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FTP, SMTP, HTTP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6B11C80A-6404-4FCE-8B0C-386147A55D1E}"/>
              </a:ext>
            </a:extLst>
          </p:cNvPr>
          <p:cNvSpPr txBox="1">
            <a:spLocks noChangeArrowheads="1"/>
          </p:cNvSpPr>
          <p:nvPr/>
        </p:nvSpPr>
        <p:spPr>
          <a:xfrm>
            <a:off x="2475579" y="2335224"/>
            <a:ext cx="578101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Transport </a:t>
            </a:r>
            <a:b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</a:b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프로세스간 데이터전송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(end-to-end)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73A8BD98-8F01-4144-932A-3C2601376539}"/>
              </a:ext>
            </a:extLst>
          </p:cNvPr>
          <p:cNvSpPr txBox="1">
            <a:spLocks noChangeArrowheads="1"/>
          </p:cNvSpPr>
          <p:nvPr/>
        </p:nvSpPr>
        <p:spPr>
          <a:xfrm>
            <a:off x="2794505" y="3034891"/>
            <a:ext cx="3779838" cy="350289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TCP, UDP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045A612D-4C09-45ED-874B-0DE753EEBCD2}"/>
              </a:ext>
            </a:extLst>
          </p:cNvPr>
          <p:cNvSpPr txBox="1">
            <a:spLocks noChangeArrowheads="1"/>
          </p:cNvSpPr>
          <p:nvPr/>
        </p:nvSpPr>
        <p:spPr>
          <a:xfrm>
            <a:off x="2475579" y="3467901"/>
            <a:ext cx="578101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network </a:t>
            </a:r>
            <a:b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</a:b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출발지에서 도착지까지의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datagram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경로 설정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(routing)</a:t>
            </a: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0D18DF21-D055-444F-A874-D450813E8C9E}"/>
              </a:ext>
            </a:extLst>
          </p:cNvPr>
          <p:cNvSpPr txBox="1">
            <a:spLocks noChangeArrowheads="1"/>
          </p:cNvSpPr>
          <p:nvPr/>
        </p:nvSpPr>
        <p:spPr>
          <a:xfrm>
            <a:off x="2794505" y="4167568"/>
            <a:ext cx="3779838" cy="350289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IP, routing protocols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B3E3626E-313C-4597-A2AF-458C3600301A}"/>
              </a:ext>
            </a:extLst>
          </p:cNvPr>
          <p:cNvSpPr txBox="1">
            <a:spLocks noChangeArrowheads="1"/>
          </p:cNvSpPr>
          <p:nvPr/>
        </p:nvSpPr>
        <p:spPr>
          <a:xfrm>
            <a:off x="2475579" y="4600578"/>
            <a:ext cx="578101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link </a:t>
            </a:r>
            <a:b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</a:b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이웃한 네트워크 요소들 간의 데이터 전송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(hop-by-hop)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42FE945B-53E2-4ADE-A3F4-F0DCF0613B24}"/>
              </a:ext>
            </a:extLst>
          </p:cNvPr>
          <p:cNvSpPr txBox="1">
            <a:spLocks noChangeArrowheads="1"/>
          </p:cNvSpPr>
          <p:nvPr/>
        </p:nvSpPr>
        <p:spPr>
          <a:xfrm>
            <a:off x="2794505" y="5290720"/>
            <a:ext cx="3779838" cy="350289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Ethernet, 802.11 (</a:t>
            </a:r>
            <a:r>
              <a:rPr lang="en-US" altLang="ko-KR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WiFi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), PPP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88DE89CA-DD59-4CAF-87A0-648DFCBC589C}"/>
              </a:ext>
            </a:extLst>
          </p:cNvPr>
          <p:cNvSpPr txBox="1">
            <a:spLocks noChangeArrowheads="1"/>
          </p:cNvSpPr>
          <p:nvPr/>
        </p:nvSpPr>
        <p:spPr>
          <a:xfrm>
            <a:off x="2475579" y="5733256"/>
            <a:ext cx="578101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Physical(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물리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)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bits “on the wire”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98476D4-D76C-4443-A52D-20C3CCE88E5F}"/>
              </a:ext>
            </a:extLst>
          </p:cNvPr>
          <p:cNvGrpSpPr/>
          <p:nvPr/>
        </p:nvGrpSpPr>
        <p:grpSpPr>
          <a:xfrm>
            <a:off x="658813" y="1268759"/>
            <a:ext cx="1655264" cy="3583567"/>
            <a:chOff x="6332220" y="1151986"/>
            <a:chExt cx="1688384" cy="3062944"/>
          </a:xfrm>
        </p:grpSpPr>
        <p:sp>
          <p:nvSpPr>
            <p:cNvPr id="24" name="사각형: 잘린 한쪽 모서리 23">
              <a:extLst>
                <a:ext uri="{FF2B5EF4-FFF2-40B4-BE49-F238E27FC236}">
                  <a16:creationId xmlns:a16="http://schemas.microsoft.com/office/drawing/2014/main" id="{AF1418E0-AE54-4005-A733-19089EDC222C}"/>
                </a:ext>
              </a:extLst>
            </p:cNvPr>
            <p:cNvSpPr/>
            <p:nvPr/>
          </p:nvSpPr>
          <p:spPr>
            <a:xfrm>
              <a:off x="6332220" y="1151986"/>
              <a:ext cx="1688384" cy="575214"/>
            </a:xfrm>
            <a:prstGeom prst="snip1Rect">
              <a:avLst>
                <a:gd name="adj" fmla="val 20880"/>
              </a:avLst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811AC5D-AD56-435C-AB3C-44445CAD21F3}"/>
                </a:ext>
              </a:extLst>
            </p:cNvPr>
            <p:cNvSpPr txBox="1"/>
            <p:nvPr/>
          </p:nvSpPr>
          <p:spPr>
            <a:xfrm>
              <a:off x="6456624" y="1249797"/>
              <a:ext cx="1439576" cy="324445"/>
            </a:xfrm>
            <a:prstGeom prst="snip1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2" algn="ctr">
                <a:lnSpc>
                  <a:spcPct val="130000"/>
                </a:lnSpc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Application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458F3DC5-6D37-40BA-9850-7B3096F362AE}"/>
                </a:ext>
              </a:extLst>
            </p:cNvPr>
            <p:cNvSpPr/>
            <p:nvPr/>
          </p:nvSpPr>
          <p:spPr>
            <a:xfrm>
              <a:off x="6332220" y="1772816"/>
              <a:ext cx="1688384" cy="575214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28F23E6-D21C-4F0B-B21D-18FA541F503D}"/>
                </a:ext>
              </a:extLst>
            </p:cNvPr>
            <p:cNvSpPr txBox="1"/>
            <p:nvPr/>
          </p:nvSpPr>
          <p:spPr>
            <a:xfrm>
              <a:off x="6616370" y="1851577"/>
              <a:ext cx="1120084" cy="324445"/>
            </a:xfrm>
            <a:prstGeom prst="snip1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2" algn="ctr">
                <a:lnSpc>
                  <a:spcPct val="130000"/>
                </a:lnSpc>
                <a:spcBef>
                  <a:spcPts val="1000"/>
                </a:spcBef>
              </a:pP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Transport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F2D1A635-7847-488C-B9F0-E860AE88BBAE}"/>
                </a:ext>
              </a:extLst>
            </p:cNvPr>
            <p:cNvSpPr/>
            <p:nvPr/>
          </p:nvSpPr>
          <p:spPr>
            <a:xfrm>
              <a:off x="6332220" y="2395116"/>
              <a:ext cx="1688384" cy="575214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F6653C1-D79B-4C29-A6FE-0D2A29FA7003}"/>
                </a:ext>
              </a:extLst>
            </p:cNvPr>
            <p:cNvSpPr txBox="1"/>
            <p:nvPr/>
          </p:nvSpPr>
          <p:spPr>
            <a:xfrm>
              <a:off x="6616370" y="2473877"/>
              <a:ext cx="1120084" cy="324445"/>
            </a:xfrm>
            <a:prstGeom prst="snip1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2" algn="ctr">
                <a:lnSpc>
                  <a:spcPct val="130000"/>
                </a:lnSpc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11F3BBF1-E628-44CB-9B24-F30FBF5EDBCE}"/>
                </a:ext>
              </a:extLst>
            </p:cNvPr>
            <p:cNvSpPr/>
            <p:nvPr/>
          </p:nvSpPr>
          <p:spPr>
            <a:xfrm>
              <a:off x="6332220" y="3017416"/>
              <a:ext cx="1688384" cy="575214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2AD8192-BFAE-4A03-8FF9-9588FE32AE0D}"/>
                </a:ext>
              </a:extLst>
            </p:cNvPr>
            <p:cNvSpPr txBox="1"/>
            <p:nvPr/>
          </p:nvSpPr>
          <p:spPr>
            <a:xfrm>
              <a:off x="6616370" y="3096177"/>
              <a:ext cx="1120084" cy="324445"/>
            </a:xfrm>
            <a:prstGeom prst="snip1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2" algn="ctr">
                <a:lnSpc>
                  <a:spcPct val="130000"/>
                </a:lnSpc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Link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71CFC333-9E8C-425F-AE30-AEC55C2C591D}"/>
                </a:ext>
              </a:extLst>
            </p:cNvPr>
            <p:cNvSpPr/>
            <p:nvPr/>
          </p:nvSpPr>
          <p:spPr>
            <a:xfrm>
              <a:off x="6332220" y="3639716"/>
              <a:ext cx="1688384" cy="575214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13734CF-81ED-427D-B569-A504A077962F}"/>
                </a:ext>
              </a:extLst>
            </p:cNvPr>
            <p:cNvSpPr txBox="1"/>
            <p:nvPr/>
          </p:nvSpPr>
          <p:spPr>
            <a:xfrm>
              <a:off x="6616370" y="3718477"/>
              <a:ext cx="1120084" cy="324445"/>
            </a:xfrm>
            <a:prstGeom prst="snip1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2" algn="ctr">
                <a:lnSpc>
                  <a:spcPct val="130000"/>
                </a:lnSpc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4304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82873C2-1A17-4157-B7A5-2D83874FF1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eaLnBrk="1" hangingPunct="1"/>
            <a:r>
              <a:rPr lang="en-US" altLang="ko-KR" kern="0" dirty="0">
                <a:ea typeface="ＭＳ Ｐゴシック" pitchFamily="34" charset="-128"/>
              </a:rPr>
              <a:t>Hop-by-Hop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A26E685-54F1-40AA-8156-38A4CD5D9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21</a:t>
            </a:fld>
            <a:endParaRPr lang="en-US" dirty="0"/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8D0654A-E94C-41E5-9C58-30188FD962F8}"/>
              </a:ext>
            </a:extLst>
          </p:cNvPr>
          <p:cNvGrpSpPr/>
          <p:nvPr/>
        </p:nvGrpSpPr>
        <p:grpSpPr>
          <a:xfrm>
            <a:off x="621234" y="1700808"/>
            <a:ext cx="7633766" cy="4382492"/>
            <a:chOff x="583134" y="1700808"/>
            <a:chExt cx="7633766" cy="4382492"/>
          </a:xfrm>
        </p:grpSpPr>
        <p:sp>
          <p:nvSpPr>
            <p:cNvPr id="4" name="Line 3">
              <a:extLst>
                <a:ext uri="{FF2B5EF4-FFF2-40B4-BE49-F238E27FC236}">
                  <a16:creationId xmlns:a16="http://schemas.microsoft.com/office/drawing/2014/main" id="{57D67962-89FB-494A-A75D-86EE209394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672" y="4832304"/>
              <a:ext cx="1435006" cy="974470"/>
            </a:xfrm>
            <a:prstGeom prst="line">
              <a:avLst/>
            </a:prstGeom>
            <a:noFill/>
            <a:ln w="41275">
              <a:solidFill>
                <a:schemeClr val="tx2">
                  <a:lumMod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5" name="Line 4">
              <a:extLst>
                <a:ext uri="{FF2B5EF4-FFF2-40B4-BE49-F238E27FC236}">
                  <a16:creationId xmlns:a16="http://schemas.microsoft.com/office/drawing/2014/main" id="{BAD0F0D3-673C-4892-BC46-BA92259732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4000" y="2489200"/>
              <a:ext cx="939800" cy="2260600"/>
            </a:xfrm>
            <a:prstGeom prst="line">
              <a:avLst/>
            </a:prstGeom>
            <a:noFill/>
            <a:ln w="41275">
              <a:solidFill>
                <a:schemeClr val="tx2">
                  <a:lumMod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89AF7019-56CD-4D27-A812-BAD712BE3B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86750" y="5325842"/>
              <a:ext cx="1731650" cy="474257"/>
            </a:xfrm>
            <a:prstGeom prst="line">
              <a:avLst/>
            </a:prstGeom>
            <a:noFill/>
            <a:ln w="41275">
              <a:solidFill>
                <a:schemeClr val="tx2">
                  <a:lumMod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B1C671E4-8F09-451E-B076-66394D4392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0400" y="4724400"/>
              <a:ext cx="2082800" cy="0"/>
            </a:xfrm>
            <a:prstGeom prst="line">
              <a:avLst/>
            </a:prstGeom>
            <a:noFill/>
            <a:ln w="41275">
              <a:solidFill>
                <a:schemeClr val="tx2">
                  <a:lumMod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BAA4DA5F-837A-4F86-9BEF-CB1B5CE615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3400" y="3378200"/>
              <a:ext cx="1498600" cy="1397000"/>
            </a:xfrm>
            <a:prstGeom prst="line">
              <a:avLst/>
            </a:prstGeom>
            <a:noFill/>
            <a:ln w="41275">
              <a:solidFill>
                <a:schemeClr val="tx2">
                  <a:lumMod val="5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5247A0B-C485-4A81-B294-C79AE0247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134" y="1993900"/>
              <a:ext cx="1422400" cy="812800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>
                <a:buClr>
                  <a:srgbClr val="000000"/>
                </a:buClr>
                <a:buNone/>
              </a:pPr>
              <a:r>
                <a:rPr lang="en-US" altLang="ko-KR" sz="15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Abadi" panose="020B0604020104020204" pitchFamily="34" charset="0"/>
                  <a:ea typeface="+mj-ea"/>
                  <a:cs typeface="+mj-cs"/>
                </a:rPr>
                <a:t>Host A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2F05C4-0FAB-44FC-82BA-753DB02CC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4500" y="4889500"/>
              <a:ext cx="1422400" cy="812800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>
                <a:buClr>
                  <a:srgbClr val="000000"/>
                </a:buClr>
                <a:buNone/>
              </a:pPr>
              <a:r>
                <a:rPr lang="en-US" altLang="ko-KR" sz="15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Abadi" panose="020B0604020104020204" pitchFamily="34" charset="0"/>
                  <a:ea typeface="+mj-ea"/>
                  <a:cs typeface="+mj-cs"/>
                </a:rPr>
                <a:t>Host B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741E67-DE87-45AA-876E-863EE2BF1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0300" y="4405604"/>
              <a:ext cx="658800" cy="660400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222375C-5F43-41FA-867B-4A40DDDD8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900" y="2070100"/>
              <a:ext cx="658800" cy="660400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F0DEED8-54BF-471E-B94A-4E2BFD359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9700" y="2984500"/>
              <a:ext cx="658800" cy="660400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9E6393F-B4C2-4121-9C0F-58212944F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300" y="2984500"/>
              <a:ext cx="658800" cy="660400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35B0D32-12B2-40FF-8CC6-8D1827BB1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700" y="4405604"/>
              <a:ext cx="658800" cy="660400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ED9D761-8A01-4363-925C-B1DEADBA3FDA}"/>
                </a:ext>
              </a:extLst>
            </p:cNvPr>
            <p:cNvSpPr txBox="1"/>
            <p:nvPr/>
          </p:nvSpPr>
          <p:spPr>
            <a:xfrm>
              <a:off x="2711624" y="2615776"/>
              <a:ext cx="10422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Router 1</a:t>
              </a:r>
              <a:endPara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70B7238-E50D-409B-9449-5F62764441F1}"/>
                </a:ext>
              </a:extLst>
            </p:cNvPr>
            <p:cNvSpPr txBox="1"/>
            <p:nvPr/>
          </p:nvSpPr>
          <p:spPr>
            <a:xfrm>
              <a:off x="4491158" y="1700808"/>
              <a:ext cx="1043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Router 2</a:t>
              </a:r>
              <a:endPara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5D79829-B426-41AF-BA9A-204AC550D8DD}"/>
                </a:ext>
              </a:extLst>
            </p:cNvPr>
            <p:cNvSpPr txBox="1"/>
            <p:nvPr/>
          </p:nvSpPr>
          <p:spPr>
            <a:xfrm>
              <a:off x="6310661" y="2660650"/>
              <a:ext cx="1043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6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Router 3</a:t>
              </a:r>
              <a:endPara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510BC73B-1307-406A-8B62-868783A61B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77274" y="2356082"/>
              <a:ext cx="1475054" cy="987819"/>
            </a:xfrm>
            <a:prstGeom prst="line">
              <a:avLst/>
            </a:prstGeom>
            <a:noFill/>
            <a:ln w="50800">
              <a:solidFill>
                <a:srgbClr val="098983"/>
              </a:solidFill>
              <a:round/>
              <a:headEnd type="oval"/>
              <a:tailEnd type="oval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40" name="Line 11">
              <a:extLst>
                <a:ext uri="{FF2B5EF4-FFF2-40B4-BE49-F238E27FC236}">
                  <a16:creationId xmlns:a16="http://schemas.microsoft.com/office/drawing/2014/main" id="{5A2E551F-3F51-431D-8738-3411636C67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32655" y="2356082"/>
              <a:ext cx="1475054" cy="987819"/>
            </a:xfrm>
            <a:prstGeom prst="line">
              <a:avLst/>
            </a:prstGeom>
            <a:noFill/>
            <a:ln w="50800">
              <a:solidFill>
                <a:srgbClr val="098983"/>
              </a:solidFill>
              <a:round/>
              <a:headEnd type="oval"/>
              <a:tailEnd type="oval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41" name="Line 11">
              <a:extLst>
                <a:ext uri="{FF2B5EF4-FFF2-40B4-BE49-F238E27FC236}">
                  <a16:creationId xmlns:a16="http://schemas.microsoft.com/office/drawing/2014/main" id="{DAA6DE7D-0E19-4557-A095-6451A5AEAE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21408" y="3544133"/>
              <a:ext cx="473885" cy="1475054"/>
            </a:xfrm>
            <a:prstGeom prst="line">
              <a:avLst/>
            </a:prstGeom>
            <a:noFill/>
            <a:ln w="50800">
              <a:solidFill>
                <a:srgbClr val="098983"/>
              </a:solidFill>
              <a:round/>
              <a:headEnd type="oval"/>
              <a:tailEnd type="oval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ACC1DE3-F03D-44FB-9755-B6BBFD468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9896" y="5422900"/>
              <a:ext cx="658800" cy="660400"/>
            </a:xfrm>
            <a:prstGeom prst="rect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2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굴림" panose="020B0600000101010101" pitchFamily="50" charset="-127"/>
                </a:defRPr>
              </a:lvl9pPr>
            </a:lstStyle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43" name="Line 11">
            <a:extLst>
              <a:ext uri="{FF2B5EF4-FFF2-40B4-BE49-F238E27FC236}">
                <a16:creationId xmlns:a16="http://schemas.microsoft.com/office/drawing/2014/main" id="{D1C8144C-4F84-4C46-9262-069752F531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2620" y="2491740"/>
            <a:ext cx="1325879" cy="662940"/>
          </a:xfrm>
          <a:prstGeom prst="line">
            <a:avLst/>
          </a:prstGeom>
          <a:noFill/>
          <a:ln w="50800">
            <a:solidFill>
              <a:srgbClr val="098983"/>
            </a:solidFill>
            <a:round/>
            <a:headEnd type="oval"/>
            <a:tailEnd type="oval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46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11">
            <a:extLst>
              <a:ext uri="{FF2B5EF4-FFF2-40B4-BE49-F238E27FC236}">
                <a16:creationId xmlns:a16="http://schemas.microsoft.com/office/drawing/2014/main" id="{3C16B12E-F2F2-4042-ABFD-DA9C74DE1C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2620" y="2491740"/>
            <a:ext cx="1325879" cy="662940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82873C2-1A17-4157-B7A5-2D83874FF1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eaLnBrk="1" hangingPunct="1"/>
            <a:r>
              <a:rPr lang="en-US" altLang="ko-KR" kern="0">
                <a:ea typeface="ＭＳ Ｐゴシック" pitchFamily="34" charset="-128"/>
              </a:rPr>
              <a:t>End-to-End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A26E685-54F1-40AA-8156-38A4CD5D9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22</a:t>
            </a:fld>
            <a:endParaRPr lang="en-US" dirty="0"/>
          </a:p>
        </p:txBody>
      </p:sp>
      <p:sp>
        <p:nvSpPr>
          <p:cNvPr id="41" name="Line 11">
            <a:extLst>
              <a:ext uri="{FF2B5EF4-FFF2-40B4-BE49-F238E27FC236}">
                <a16:creationId xmlns:a16="http://schemas.microsoft.com/office/drawing/2014/main" id="{DAA6DE7D-0E19-4557-A095-6451A5AEAE8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59508" y="3544133"/>
            <a:ext cx="473885" cy="1475054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39" name="Line 11">
            <a:extLst>
              <a:ext uri="{FF2B5EF4-FFF2-40B4-BE49-F238E27FC236}">
                <a16:creationId xmlns:a16="http://schemas.microsoft.com/office/drawing/2014/main" id="{510BC73B-1307-406A-8B62-868783A61B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15374" y="2356082"/>
            <a:ext cx="1475054" cy="987819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40" name="Line 11">
            <a:extLst>
              <a:ext uri="{FF2B5EF4-FFF2-40B4-BE49-F238E27FC236}">
                <a16:creationId xmlns:a16="http://schemas.microsoft.com/office/drawing/2014/main" id="{5A2E551F-3F51-431D-8738-3411636C679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70755" y="2356082"/>
            <a:ext cx="1475054" cy="987819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4" name="Line 3">
            <a:extLst>
              <a:ext uri="{FF2B5EF4-FFF2-40B4-BE49-F238E27FC236}">
                <a16:creationId xmlns:a16="http://schemas.microsoft.com/office/drawing/2014/main" id="{57D67962-89FB-494A-A75D-86EE209394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2772" y="4832304"/>
            <a:ext cx="1435006" cy="974470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BAD0F0D3-673C-4892-BC46-BA92259732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02100" y="2489200"/>
            <a:ext cx="939800" cy="2260600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89AF7019-56CD-4D27-A812-BAD712BE3B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24850" y="5325842"/>
            <a:ext cx="1731650" cy="474257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B1C671E4-8F09-451E-B076-66394D4392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8500" y="4724400"/>
            <a:ext cx="2082800" cy="0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BAA4DA5F-837A-4F86-9BEF-CB1B5CE615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41500" y="3378200"/>
            <a:ext cx="1498600" cy="1397000"/>
          </a:xfrm>
          <a:prstGeom prst="line">
            <a:avLst/>
          </a:prstGeom>
          <a:noFill/>
          <a:ln w="41275">
            <a:solidFill>
              <a:schemeClr val="tx2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247A0B-C485-4A81-B294-C79AE0247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234" y="1993900"/>
            <a:ext cx="1422400" cy="812800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buClr>
                <a:srgbClr val="000000"/>
              </a:buClr>
              <a:buNone/>
            </a:pP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Abadi" panose="020B0604020104020204" pitchFamily="34" charset="0"/>
                <a:ea typeface="+mj-ea"/>
                <a:cs typeface="+mj-cs"/>
              </a:rPr>
              <a:t>Process 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2F05C4-0FAB-44FC-82BA-753DB02C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2600" y="4889500"/>
            <a:ext cx="1422400" cy="812800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buClr>
                <a:srgbClr val="000000"/>
              </a:buClr>
              <a:buNone/>
            </a:pP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Abadi" panose="020B0604020104020204" pitchFamily="34" charset="0"/>
                <a:ea typeface="+mj-ea"/>
                <a:cs typeface="+mj-cs"/>
              </a:rPr>
              <a:t>Process 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741E67-DE87-45AA-876E-863EE2BF1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4405604"/>
            <a:ext cx="658800" cy="660400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22375C-5F43-41FA-867B-4A40DDDD8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0" y="2070100"/>
            <a:ext cx="658800" cy="660400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0DEED8-54BF-471E-B94A-4E2BFD359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0" y="2984500"/>
            <a:ext cx="658800" cy="660400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E6393F-B4C2-4121-9C0F-58212944F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2984500"/>
            <a:ext cx="658800" cy="660400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5B0D32-12B2-40FF-8CC6-8D1827BB1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4800" y="4405604"/>
            <a:ext cx="658800" cy="660400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CC1DE3-F03D-44FB-9755-B6BBFD468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7996" y="5422900"/>
            <a:ext cx="658800" cy="660400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5" name="Line 11">
            <a:extLst>
              <a:ext uri="{FF2B5EF4-FFF2-40B4-BE49-F238E27FC236}">
                <a16:creationId xmlns:a16="http://schemas.microsoft.com/office/drawing/2014/main" id="{AAACB2DF-6EEB-4678-9052-1ADDBC7980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8028" y="2550428"/>
            <a:ext cx="4964751" cy="2516872"/>
          </a:xfrm>
          <a:prstGeom prst="line">
            <a:avLst/>
          </a:prstGeom>
          <a:noFill/>
          <a:ln w="50800">
            <a:solidFill>
              <a:srgbClr val="098983"/>
            </a:solidFill>
            <a:round/>
            <a:headEnd type="oval"/>
            <a:tailEnd type="oval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900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E2BFEF-EB14-4768-B905-6359130770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ISO/OSI </a:t>
            </a:r>
            <a:r>
              <a:rPr lang="ko-KR" altLang="en-US" dirty="0">
                <a:solidFill>
                  <a:schemeClr val="bg1"/>
                </a:solidFill>
              </a:rPr>
              <a:t>참조 모델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EF49BE4-1F7F-466A-9506-9A0DE126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23</a:t>
            </a:fld>
            <a:endParaRPr lang="en-US" dirty="0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25B505A8-DFEA-46C2-AE9C-B86BBC455436}"/>
              </a:ext>
            </a:extLst>
          </p:cNvPr>
          <p:cNvSpPr txBox="1">
            <a:spLocks noChangeArrowheads="1"/>
          </p:cNvSpPr>
          <p:nvPr/>
        </p:nvSpPr>
        <p:spPr>
          <a:xfrm>
            <a:off x="2475579" y="1202547"/>
            <a:ext cx="578101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표현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(presentation)</a:t>
            </a:r>
            <a:b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응용이 데이터의 의미를 해석하도록 해 줌 </a:t>
            </a:r>
            <a:b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예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암호화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압축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기계 특유의 표현법</a:t>
            </a:r>
            <a:r>
              <a:rPr lang="en-US" altLang="ko-KR" sz="16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6B11C80A-6404-4FCE-8B0C-386147A55D1E}"/>
              </a:ext>
            </a:extLst>
          </p:cNvPr>
          <p:cNvSpPr txBox="1">
            <a:spLocks noChangeArrowheads="1"/>
          </p:cNvSpPr>
          <p:nvPr/>
        </p:nvSpPr>
        <p:spPr>
          <a:xfrm>
            <a:off x="2475579" y="2335224"/>
            <a:ext cx="578101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세션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(session)</a:t>
            </a:r>
            <a:b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</a:b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데이터 교환시의 동기화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(synchronization), </a:t>
            </a:r>
            <a:b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  </a:t>
            </a:r>
            <a:r>
              <a:rPr lang="ko-KR" altLang="en-US" sz="16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검사점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(checkpointing),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복구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(recovery)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B3E3626E-313C-4597-A2AF-458C3600301A}"/>
              </a:ext>
            </a:extLst>
          </p:cNvPr>
          <p:cNvSpPr txBox="1">
            <a:spLocks noChangeArrowheads="1"/>
          </p:cNvSpPr>
          <p:nvPr/>
        </p:nvSpPr>
        <p:spPr>
          <a:xfrm>
            <a:off x="3161379" y="3942948"/>
            <a:ext cx="578101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latinLnBrk="0">
              <a:lnSpc>
                <a:spcPct val="130000"/>
              </a:lnSpc>
              <a:spcBef>
                <a:spcPts val="1200"/>
              </a:spcBef>
              <a:buNone/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인터넷 스택은 이 계층들이 없음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!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42FE945B-53E2-4ADE-A3F4-F0DCF0613B24}"/>
              </a:ext>
            </a:extLst>
          </p:cNvPr>
          <p:cNvSpPr txBox="1">
            <a:spLocks noChangeArrowheads="1"/>
          </p:cNvSpPr>
          <p:nvPr/>
        </p:nvSpPr>
        <p:spPr>
          <a:xfrm>
            <a:off x="3161379" y="4446986"/>
            <a:ext cx="3779838" cy="704232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필요하면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응용에서 구현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98983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정말로 필요한가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?</a:t>
            </a:r>
          </a:p>
        </p:txBody>
      </p:sp>
      <p:sp>
        <p:nvSpPr>
          <p:cNvPr id="24" name="사각형: 잘린 한쪽 모서리 23">
            <a:extLst>
              <a:ext uri="{FF2B5EF4-FFF2-40B4-BE49-F238E27FC236}">
                <a16:creationId xmlns:a16="http://schemas.microsoft.com/office/drawing/2014/main" id="{AF1418E0-AE54-4005-A733-19089EDC222C}"/>
              </a:ext>
            </a:extLst>
          </p:cNvPr>
          <p:cNvSpPr/>
          <p:nvPr/>
        </p:nvSpPr>
        <p:spPr>
          <a:xfrm>
            <a:off x="658813" y="1268759"/>
            <a:ext cx="1655264" cy="672986"/>
          </a:xfrm>
          <a:prstGeom prst="snip1Rect">
            <a:avLst>
              <a:gd name="adj" fmla="val 20880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+mj-ea"/>
              <a:cs typeface="+mj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11AC5D-AD56-435C-AB3C-44445CAD21F3}"/>
              </a:ext>
            </a:extLst>
          </p:cNvPr>
          <p:cNvSpPr txBox="1"/>
          <p:nvPr/>
        </p:nvSpPr>
        <p:spPr>
          <a:xfrm>
            <a:off x="780777" y="1383195"/>
            <a:ext cx="1411337" cy="379593"/>
          </a:xfrm>
          <a:prstGeom prst="snip1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lnSpc>
                <a:spcPct val="130000"/>
              </a:lnSpc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Application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58F3DC5-6D37-40BA-9850-7B3096F362AE}"/>
              </a:ext>
            </a:extLst>
          </p:cNvPr>
          <p:cNvSpPr/>
          <p:nvPr/>
        </p:nvSpPr>
        <p:spPr>
          <a:xfrm>
            <a:off x="658813" y="1995114"/>
            <a:ext cx="1655264" cy="672986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+mj-ea"/>
              <a:cs typeface="+mj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8F23E6-D21C-4F0B-B21D-18FA541F503D}"/>
              </a:ext>
            </a:extLst>
          </p:cNvPr>
          <p:cNvSpPr txBox="1"/>
          <p:nvPr/>
        </p:nvSpPr>
        <p:spPr>
          <a:xfrm>
            <a:off x="693314" y="2087263"/>
            <a:ext cx="1586262" cy="379593"/>
          </a:xfrm>
          <a:prstGeom prst="snip1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lnSpc>
                <a:spcPct val="130000"/>
              </a:lnSpc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Presentation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2D1A635-7847-488C-B9F0-E860AE88BBAE}"/>
              </a:ext>
            </a:extLst>
          </p:cNvPr>
          <p:cNvSpPr/>
          <p:nvPr/>
        </p:nvSpPr>
        <p:spPr>
          <a:xfrm>
            <a:off x="658813" y="2723190"/>
            <a:ext cx="1655264" cy="672986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+mj-ea"/>
              <a:cs typeface="+mj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6653C1-D79B-4C29-A6FE-0D2A29FA7003}"/>
              </a:ext>
            </a:extLst>
          </p:cNvPr>
          <p:cNvSpPr txBox="1"/>
          <p:nvPr/>
        </p:nvSpPr>
        <p:spPr>
          <a:xfrm>
            <a:off x="937389" y="2815338"/>
            <a:ext cx="1098112" cy="379592"/>
          </a:xfrm>
          <a:prstGeom prst="snip1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lnSpc>
                <a:spcPct val="130000"/>
              </a:lnSpc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Session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1F3BBF1-E628-44CB-9B24-F30FBF5EDBCE}"/>
              </a:ext>
            </a:extLst>
          </p:cNvPr>
          <p:cNvSpPr/>
          <p:nvPr/>
        </p:nvSpPr>
        <p:spPr>
          <a:xfrm>
            <a:off x="658813" y="3451265"/>
            <a:ext cx="1655264" cy="672986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+mj-ea"/>
              <a:cs typeface="+mj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AD8192-BFAE-4A03-8FF9-9588FE32AE0D}"/>
              </a:ext>
            </a:extLst>
          </p:cNvPr>
          <p:cNvSpPr txBox="1"/>
          <p:nvPr/>
        </p:nvSpPr>
        <p:spPr>
          <a:xfrm>
            <a:off x="937389" y="3543413"/>
            <a:ext cx="1098112" cy="379592"/>
          </a:xfrm>
          <a:prstGeom prst="snip1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lnSpc>
                <a:spcPct val="130000"/>
              </a:lnSpc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Transport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1CFC333-9E8C-425F-AE30-AEC55C2C591D}"/>
              </a:ext>
            </a:extLst>
          </p:cNvPr>
          <p:cNvSpPr/>
          <p:nvPr/>
        </p:nvSpPr>
        <p:spPr>
          <a:xfrm>
            <a:off x="658813" y="4179340"/>
            <a:ext cx="1655264" cy="672986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+mj-ea"/>
              <a:cs typeface="+mj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13734CF-81ED-427D-B569-A504A077962F}"/>
              </a:ext>
            </a:extLst>
          </p:cNvPr>
          <p:cNvSpPr txBox="1"/>
          <p:nvPr/>
        </p:nvSpPr>
        <p:spPr>
          <a:xfrm>
            <a:off x="937389" y="4271489"/>
            <a:ext cx="1098112" cy="379592"/>
          </a:xfrm>
          <a:prstGeom prst="snip1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lnSpc>
                <a:spcPct val="130000"/>
              </a:lnSpc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Network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2A6A466-86D3-40EE-B637-F201FFDE8AAA}"/>
              </a:ext>
            </a:extLst>
          </p:cNvPr>
          <p:cNvSpPr/>
          <p:nvPr/>
        </p:nvSpPr>
        <p:spPr>
          <a:xfrm>
            <a:off x="658813" y="4910860"/>
            <a:ext cx="1655264" cy="672986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+mj-ea"/>
              <a:cs typeface="+mj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FB37A8-AD14-44D0-998B-172F46805A74}"/>
              </a:ext>
            </a:extLst>
          </p:cNvPr>
          <p:cNvSpPr txBox="1"/>
          <p:nvPr/>
        </p:nvSpPr>
        <p:spPr>
          <a:xfrm>
            <a:off x="937389" y="5003009"/>
            <a:ext cx="1098112" cy="379592"/>
          </a:xfrm>
          <a:prstGeom prst="snip1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lnSpc>
                <a:spcPct val="130000"/>
              </a:lnSpc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Link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588CDC8-42FE-4AEE-A558-4AEBFBA21F43}"/>
              </a:ext>
            </a:extLst>
          </p:cNvPr>
          <p:cNvSpPr/>
          <p:nvPr/>
        </p:nvSpPr>
        <p:spPr>
          <a:xfrm>
            <a:off x="658813" y="5642380"/>
            <a:ext cx="1655264" cy="672986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+mj-ea"/>
              <a:cs typeface="+mj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6AC5FE-8E78-4D91-A295-443E58F2675F}"/>
              </a:ext>
            </a:extLst>
          </p:cNvPr>
          <p:cNvSpPr txBox="1"/>
          <p:nvPr/>
        </p:nvSpPr>
        <p:spPr>
          <a:xfrm>
            <a:off x="937389" y="5734529"/>
            <a:ext cx="1098112" cy="379592"/>
          </a:xfrm>
          <a:prstGeom prst="snip1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lnSpc>
                <a:spcPct val="130000"/>
              </a:lnSpc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Physical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85BC2A3B-A9E8-450F-81E8-FEBE0E093053}"/>
              </a:ext>
            </a:extLst>
          </p:cNvPr>
          <p:cNvGrpSpPr/>
          <p:nvPr/>
        </p:nvGrpSpPr>
        <p:grpSpPr>
          <a:xfrm>
            <a:off x="2606181" y="3849053"/>
            <a:ext cx="507687" cy="593792"/>
            <a:chOff x="595909" y="5784951"/>
            <a:chExt cx="507687" cy="593792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53D41FA8-3E1D-415B-811E-0E13BCAA353C}"/>
                </a:ext>
              </a:extLst>
            </p:cNvPr>
            <p:cNvSpPr/>
            <p:nvPr/>
          </p:nvSpPr>
          <p:spPr>
            <a:xfrm>
              <a:off x="693394" y="6294322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36" name="그래픽 35">
              <a:extLst>
                <a:ext uri="{FF2B5EF4-FFF2-40B4-BE49-F238E27FC236}">
                  <a16:creationId xmlns:a16="http://schemas.microsoft.com/office/drawing/2014/main" id="{97CB392A-A4B8-4D1E-B772-9349BEB3FE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572859" y="5816110"/>
              <a:ext cx="558670" cy="502804"/>
            </a:xfrm>
            <a:prstGeom prst="rect">
              <a:avLst/>
            </a:prstGeom>
          </p:spPr>
        </p:pic>
        <p:sp>
          <p:nvSpPr>
            <p:cNvPr id="37" name="Rectangle 5">
              <a:extLst>
                <a:ext uri="{FF2B5EF4-FFF2-40B4-BE49-F238E27FC236}">
                  <a16:creationId xmlns:a16="http://schemas.microsoft.com/office/drawing/2014/main" id="{09D2A1E3-036A-4F2D-8022-E1F0E0DCD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909" y="5784951"/>
              <a:ext cx="498162" cy="507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buClr>
                  <a:schemeClr val="accent2"/>
                </a:buClr>
                <a:buSzPct val="85000"/>
              </a:pPr>
              <a:r>
                <a:rPr lang="en-US" altLang="ko-KR" sz="2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Abadi" panose="020B0604020104020204" pitchFamily="34" charset="0"/>
                  <a:ea typeface="+mj-ea"/>
                </a:rPr>
                <a:t>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62867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E2BFEF-EB14-4768-B905-6359130770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ISO/OSI </a:t>
            </a:r>
            <a:r>
              <a:rPr lang="ko-KR" altLang="en-US" dirty="0">
                <a:solidFill>
                  <a:schemeClr val="bg1"/>
                </a:solidFill>
              </a:rPr>
              <a:t>참조 모델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EF49BE4-1F7F-466A-9506-9A0DE126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24</a:t>
            </a:fld>
            <a:endParaRPr lang="en-US" dirty="0"/>
          </a:p>
        </p:txBody>
      </p:sp>
      <p:sp>
        <p:nvSpPr>
          <p:cNvPr id="24" name="사각형: 잘린 한쪽 모서리 23">
            <a:extLst>
              <a:ext uri="{FF2B5EF4-FFF2-40B4-BE49-F238E27FC236}">
                <a16:creationId xmlns:a16="http://schemas.microsoft.com/office/drawing/2014/main" id="{AF1418E0-AE54-4005-A733-19089EDC222C}"/>
              </a:ext>
            </a:extLst>
          </p:cNvPr>
          <p:cNvSpPr/>
          <p:nvPr/>
        </p:nvSpPr>
        <p:spPr>
          <a:xfrm>
            <a:off x="2426652" y="1299350"/>
            <a:ext cx="3097847" cy="611805"/>
          </a:xfrm>
          <a:prstGeom prst="snip1Rect">
            <a:avLst>
              <a:gd name="adj" fmla="val 20880"/>
            </a:avLst>
          </a:prstGeom>
          <a:solidFill>
            <a:srgbClr val="F2E8CE"/>
          </a:solidFill>
          <a:ln>
            <a:solidFill>
              <a:srgbClr val="E4D0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+mj-ea"/>
              <a:cs typeface="+mj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11AC5D-AD56-435C-AB3C-44445CAD21F3}"/>
              </a:ext>
            </a:extLst>
          </p:cNvPr>
          <p:cNvSpPr txBox="1"/>
          <p:nvPr/>
        </p:nvSpPr>
        <p:spPr>
          <a:xfrm>
            <a:off x="2654909" y="1383195"/>
            <a:ext cx="2641335" cy="379593"/>
          </a:xfrm>
          <a:prstGeom prst="snip1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lnSpc>
                <a:spcPct val="130000"/>
              </a:lnSpc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Application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58F3DC5-6D37-40BA-9850-7B3096F362AE}"/>
              </a:ext>
            </a:extLst>
          </p:cNvPr>
          <p:cNvSpPr/>
          <p:nvPr/>
        </p:nvSpPr>
        <p:spPr>
          <a:xfrm>
            <a:off x="2426652" y="2025705"/>
            <a:ext cx="3097847" cy="611805"/>
          </a:xfrm>
          <a:prstGeom prst="rect">
            <a:avLst/>
          </a:prstGeom>
          <a:solidFill>
            <a:srgbClr val="F2E8CE"/>
          </a:solidFill>
          <a:ln>
            <a:solidFill>
              <a:srgbClr val="E4D0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+mj-ea"/>
              <a:cs typeface="+mj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8F23E6-D21C-4F0B-B21D-18FA541F503D}"/>
              </a:ext>
            </a:extLst>
          </p:cNvPr>
          <p:cNvSpPr txBox="1"/>
          <p:nvPr/>
        </p:nvSpPr>
        <p:spPr>
          <a:xfrm>
            <a:off x="2625985" y="2087263"/>
            <a:ext cx="2699181" cy="379593"/>
          </a:xfrm>
          <a:prstGeom prst="snip1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lnSpc>
                <a:spcPct val="130000"/>
              </a:lnSpc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Presentation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2D1A635-7847-488C-B9F0-E860AE88BBAE}"/>
              </a:ext>
            </a:extLst>
          </p:cNvPr>
          <p:cNvSpPr/>
          <p:nvPr/>
        </p:nvSpPr>
        <p:spPr>
          <a:xfrm>
            <a:off x="2426652" y="2753781"/>
            <a:ext cx="3097847" cy="611805"/>
          </a:xfrm>
          <a:prstGeom prst="rect">
            <a:avLst/>
          </a:prstGeom>
          <a:solidFill>
            <a:srgbClr val="F2E8CE"/>
          </a:solidFill>
          <a:ln>
            <a:solidFill>
              <a:srgbClr val="E4D0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+mj-ea"/>
              <a:cs typeface="+mj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6653C1-D79B-4C29-A6FE-0D2A29FA7003}"/>
              </a:ext>
            </a:extLst>
          </p:cNvPr>
          <p:cNvSpPr txBox="1"/>
          <p:nvPr/>
        </p:nvSpPr>
        <p:spPr>
          <a:xfrm>
            <a:off x="2948010" y="2815338"/>
            <a:ext cx="2055130" cy="379592"/>
          </a:xfrm>
          <a:prstGeom prst="snip1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lnSpc>
                <a:spcPct val="130000"/>
              </a:lnSpc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Session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1F3BBF1-E628-44CB-9B24-F30FBF5EDBCE}"/>
              </a:ext>
            </a:extLst>
          </p:cNvPr>
          <p:cNvSpPr/>
          <p:nvPr/>
        </p:nvSpPr>
        <p:spPr>
          <a:xfrm>
            <a:off x="2426652" y="3481856"/>
            <a:ext cx="3097847" cy="611805"/>
          </a:xfrm>
          <a:prstGeom prst="rect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AD8192-BFAE-4A03-8FF9-9588FE32AE0D}"/>
              </a:ext>
            </a:extLst>
          </p:cNvPr>
          <p:cNvSpPr txBox="1"/>
          <p:nvPr/>
        </p:nvSpPr>
        <p:spPr>
          <a:xfrm>
            <a:off x="2948010" y="3543413"/>
            <a:ext cx="2055130" cy="379592"/>
          </a:xfrm>
          <a:prstGeom prst="snip1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lnSpc>
                <a:spcPct val="130000"/>
              </a:lnSpc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Transport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1CFC333-9E8C-425F-AE30-AEC55C2C591D}"/>
              </a:ext>
            </a:extLst>
          </p:cNvPr>
          <p:cNvSpPr/>
          <p:nvPr/>
        </p:nvSpPr>
        <p:spPr>
          <a:xfrm>
            <a:off x="2426652" y="4209931"/>
            <a:ext cx="3097847" cy="611805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+mj-ea"/>
              <a:cs typeface="+mj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13734CF-81ED-427D-B569-A504A077962F}"/>
              </a:ext>
            </a:extLst>
          </p:cNvPr>
          <p:cNvSpPr txBox="1"/>
          <p:nvPr/>
        </p:nvSpPr>
        <p:spPr>
          <a:xfrm>
            <a:off x="2948010" y="4271489"/>
            <a:ext cx="2055130" cy="379592"/>
          </a:xfrm>
          <a:prstGeom prst="snip1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lnSpc>
                <a:spcPct val="130000"/>
              </a:lnSpc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Network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2A6A466-86D3-40EE-B637-F201FFDE8AAA}"/>
              </a:ext>
            </a:extLst>
          </p:cNvPr>
          <p:cNvSpPr/>
          <p:nvPr/>
        </p:nvSpPr>
        <p:spPr>
          <a:xfrm>
            <a:off x="2426652" y="4941451"/>
            <a:ext cx="3097847" cy="6118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+mj-ea"/>
              <a:cs typeface="+mj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FB37A8-AD14-44D0-998B-172F46805A74}"/>
              </a:ext>
            </a:extLst>
          </p:cNvPr>
          <p:cNvSpPr txBox="1"/>
          <p:nvPr/>
        </p:nvSpPr>
        <p:spPr>
          <a:xfrm>
            <a:off x="2948010" y="5003009"/>
            <a:ext cx="2055130" cy="379592"/>
          </a:xfrm>
          <a:prstGeom prst="snip1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lnSpc>
                <a:spcPct val="130000"/>
              </a:lnSpc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Data Link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588CDC8-42FE-4AEE-A558-4AEBFBA21F43}"/>
              </a:ext>
            </a:extLst>
          </p:cNvPr>
          <p:cNvSpPr/>
          <p:nvPr/>
        </p:nvSpPr>
        <p:spPr>
          <a:xfrm>
            <a:off x="2426652" y="5672971"/>
            <a:ext cx="3097847" cy="6118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+mj-ea"/>
              <a:cs typeface="+mj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6AC5FE-8E78-4D91-A295-443E58F2675F}"/>
              </a:ext>
            </a:extLst>
          </p:cNvPr>
          <p:cNvSpPr txBox="1"/>
          <p:nvPr/>
        </p:nvSpPr>
        <p:spPr>
          <a:xfrm>
            <a:off x="2948010" y="5734529"/>
            <a:ext cx="2055130" cy="379592"/>
          </a:xfrm>
          <a:prstGeom prst="snip1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lnSpc>
                <a:spcPct val="130000"/>
              </a:lnSpc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Physical</a:t>
            </a:r>
          </a:p>
        </p:txBody>
      </p:sp>
      <p:sp>
        <p:nvSpPr>
          <p:cNvPr id="39" name="오른쪽 중괄호 38">
            <a:extLst>
              <a:ext uri="{FF2B5EF4-FFF2-40B4-BE49-F238E27FC236}">
                <a16:creationId xmlns:a16="http://schemas.microsoft.com/office/drawing/2014/main" id="{150493FB-35F0-4BFB-AE21-6164EB5A401A}"/>
              </a:ext>
            </a:extLst>
          </p:cNvPr>
          <p:cNvSpPr/>
          <p:nvPr/>
        </p:nvSpPr>
        <p:spPr bwMode="auto">
          <a:xfrm>
            <a:off x="5614099" y="1288746"/>
            <a:ext cx="231112" cy="2109774"/>
          </a:xfrm>
          <a:prstGeom prst="rightBrace">
            <a:avLst>
              <a:gd name="adj1" fmla="val 64384"/>
              <a:gd name="adj2" fmla="val 50000"/>
            </a:avLst>
          </a:prstGeom>
          <a:noFill/>
          <a:ln w="19050" cap="flat" cmpd="sng" algn="ctr">
            <a:solidFill>
              <a:schemeClr val="bg2">
                <a:lumMod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75ECB42-618F-4964-AF0E-A02DE117EF63}"/>
              </a:ext>
            </a:extLst>
          </p:cNvPr>
          <p:cNvSpPr txBox="1"/>
          <p:nvPr/>
        </p:nvSpPr>
        <p:spPr>
          <a:xfrm>
            <a:off x="5989991" y="2178584"/>
            <a:ext cx="19663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Layer 5 in TCP/IP</a:t>
            </a:r>
            <a:endParaRPr lang="ko-KR" altLang="en-US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153A35-E9C4-4FA7-887E-57A47E58AF7A}"/>
              </a:ext>
            </a:extLst>
          </p:cNvPr>
          <p:cNvSpPr txBox="1"/>
          <p:nvPr/>
        </p:nvSpPr>
        <p:spPr>
          <a:xfrm>
            <a:off x="1989096" y="142058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7</a:t>
            </a:r>
            <a:endParaRPr lang="ko-KR" altLang="en-US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+mn-ea"/>
              <a:cs typeface="+mj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9EDF60-77E1-43E8-8C7F-27DB9B6E73A2}"/>
              </a:ext>
            </a:extLst>
          </p:cNvPr>
          <p:cNvSpPr txBox="1"/>
          <p:nvPr/>
        </p:nvSpPr>
        <p:spPr>
          <a:xfrm>
            <a:off x="1989096" y="2146941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6</a:t>
            </a:r>
            <a:endParaRPr lang="ko-KR" altLang="en-US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+mn-ea"/>
              <a:cs typeface="+mj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238914E-1FA4-4393-B04D-6289B9AF9A8A}"/>
              </a:ext>
            </a:extLst>
          </p:cNvPr>
          <p:cNvSpPr txBox="1"/>
          <p:nvPr/>
        </p:nvSpPr>
        <p:spPr>
          <a:xfrm>
            <a:off x="1989096" y="287501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5</a:t>
            </a:r>
            <a:endParaRPr lang="ko-KR" altLang="en-US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+mn-ea"/>
              <a:cs typeface="+mj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87B4EB-7631-4179-A722-CFD1EC8528F4}"/>
              </a:ext>
            </a:extLst>
          </p:cNvPr>
          <p:cNvSpPr txBox="1"/>
          <p:nvPr/>
        </p:nvSpPr>
        <p:spPr>
          <a:xfrm>
            <a:off x="1984287" y="3603092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4</a:t>
            </a:r>
            <a:endParaRPr lang="ko-KR" altLang="en-US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+mn-ea"/>
              <a:cs typeface="+mj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8E1DA0-D4D7-4D3D-9FF0-F1593024682A}"/>
              </a:ext>
            </a:extLst>
          </p:cNvPr>
          <p:cNvSpPr txBox="1"/>
          <p:nvPr/>
        </p:nvSpPr>
        <p:spPr>
          <a:xfrm>
            <a:off x="1989096" y="433116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3</a:t>
            </a:r>
            <a:endParaRPr lang="ko-KR" altLang="en-US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+mn-ea"/>
              <a:cs typeface="+mj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D1B6A7-7CF3-49A4-A499-52E40D84C6EB}"/>
              </a:ext>
            </a:extLst>
          </p:cNvPr>
          <p:cNvSpPr txBox="1"/>
          <p:nvPr/>
        </p:nvSpPr>
        <p:spPr>
          <a:xfrm>
            <a:off x="1989096" y="506268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2</a:t>
            </a:r>
            <a:endParaRPr lang="ko-KR" altLang="en-US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+mn-ea"/>
              <a:cs typeface="+mj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192C4A-D85F-4BEE-AB2E-623B492AAD08}"/>
              </a:ext>
            </a:extLst>
          </p:cNvPr>
          <p:cNvSpPr txBox="1"/>
          <p:nvPr/>
        </p:nvSpPr>
        <p:spPr>
          <a:xfrm>
            <a:off x="1989096" y="579420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ea"/>
                <a:cs typeface="+mj-cs"/>
              </a:rPr>
              <a:t>1</a:t>
            </a:r>
            <a:endParaRPr lang="ko-KR" altLang="en-US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+mn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206386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Freeform 10">
            <a:extLst>
              <a:ext uri="{FF2B5EF4-FFF2-40B4-BE49-F238E27FC236}">
                <a16:creationId xmlns:a16="http://schemas.microsoft.com/office/drawing/2014/main" id="{6B86C266-8956-43FC-8D66-959A773A6681}"/>
              </a:ext>
            </a:extLst>
          </p:cNvPr>
          <p:cNvSpPr>
            <a:spLocks/>
          </p:cNvSpPr>
          <p:nvPr/>
        </p:nvSpPr>
        <p:spPr bwMode="auto">
          <a:xfrm>
            <a:off x="6966204" y="4587572"/>
            <a:ext cx="545592" cy="947604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rgbClr val="E1ECF7"/>
              </a:gs>
              <a:gs pos="100000">
                <a:schemeClr val="bg1"/>
              </a:gs>
            </a:gsLst>
            <a:lin ang="0" scaled="1"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pic>
        <p:nvPicPr>
          <p:cNvPr id="81" name="그림 80">
            <a:extLst>
              <a:ext uri="{FF2B5EF4-FFF2-40B4-BE49-F238E27FC236}">
                <a16:creationId xmlns:a16="http://schemas.microsoft.com/office/drawing/2014/main" id="{BDC757C1-5DA6-4D3E-A689-F5751BC74C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56100" y="4873170"/>
            <a:ext cx="495040" cy="291818"/>
          </a:xfrm>
          <a:prstGeom prst="rect">
            <a:avLst/>
          </a:prstGeom>
        </p:spPr>
      </p:pic>
      <p:sp>
        <p:nvSpPr>
          <p:cNvPr id="138" name="자유형: 도형 137">
            <a:extLst>
              <a:ext uri="{FF2B5EF4-FFF2-40B4-BE49-F238E27FC236}">
                <a16:creationId xmlns:a16="http://schemas.microsoft.com/office/drawing/2014/main" id="{6BCF198B-0310-42AB-ABB4-09DE9B43C333}"/>
              </a:ext>
            </a:extLst>
          </p:cNvPr>
          <p:cNvSpPr/>
          <p:nvPr/>
        </p:nvSpPr>
        <p:spPr>
          <a:xfrm>
            <a:off x="3683915" y="2526112"/>
            <a:ext cx="4572326" cy="3308944"/>
          </a:xfrm>
          <a:custGeom>
            <a:avLst/>
            <a:gdLst>
              <a:gd name="connsiteX0" fmla="*/ 0 w 4545686"/>
              <a:gd name="connsiteY0" fmla="*/ 2657681 h 3308944"/>
              <a:gd name="connsiteX1" fmla="*/ 0 w 4545686"/>
              <a:gd name="connsiteY1" fmla="*/ 3308944 h 3308944"/>
              <a:gd name="connsiteX2" fmla="*/ 4545686 w 4545686"/>
              <a:gd name="connsiteY2" fmla="*/ 3308944 h 3308944"/>
              <a:gd name="connsiteX3" fmla="*/ 4545686 w 4545686"/>
              <a:gd name="connsiteY3" fmla="*/ 0 h 3308944"/>
              <a:gd name="connsiteX4" fmla="*/ 1960368 w 4545686"/>
              <a:gd name="connsiteY4" fmla="*/ 0 h 3308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45686" h="3308944">
                <a:moveTo>
                  <a:pt x="0" y="2657681"/>
                </a:moveTo>
                <a:lnTo>
                  <a:pt x="0" y="3308944"/>
                </a:lnTo>
                <a:lnTo>
                  <a:pt x="4545686" y="3308944"/>
                </a:lnTo>
                <a:lnTo>
                  <a:pt x="4545686" y="0"/>
                </a:lnTo>
                <a:lnTo>
                  <a:pt x="1960368" y="0"/>
                </a:lnTo>
              </a:path>
            </a:pathLst>
          </a:cu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ko-KR" altLang="en-US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6009B2E-6473-4A8B-BCA1-1D4FE4E7E5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캡슐화 </a:t>
            </a:r>
            <a:r>
              <a:rPr lang="en-US" altLang="ko-KR" dirty="0"/>
              <a:t>(Encapsulation)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CBEDB25-AB09-44F7-A948-32583B74B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25</a:t>
            </a:fld>
            <a:endParaRPr lang="en-US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87C0ACF9-70D2-4133-8092-3EC6A210D364}"/>
              </a:ext>
            </a:extLst>
          </p:cNvPr>
          <p:cNvSpPr/>
          <p:nvPr/>
        </p:nvSpPr>
        <p:spPr>
          <a:xfrm>
            <a:off x="5699315" y="4598511"/>
            <a:ext cx="1266889" cy="285048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lvl="2"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network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16BC4FB-96CA-49C1-AC7F-1A7FA0947A56}"/>
              </a:ext>
            </a:extLst>
          </p:cNvPr>
          <p:cNvSpPr/>
          <p:nvPr/>
        </p:nvSpPr>
        <p:spPr>
          <a:xfrm>
            <a:off x="5699315" y="4927117"/>
            <a:ext cx="1266889" cy="285048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lvl="2"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link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390D8376-49D8-44B1-A120-85B7244AE68D}"/>
              </a:ext>
            </a:extLst>
          </p:cNvPr>
          <p:cNvSpPr/>
          <p:nvPr/>
        </p:nvSpPr>
        <p:spPr>
          <a:xfrm>
            <a:off x="5699315" y="5255190"/>
            <a:ext cx="1266889" cy="285048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lvl="2"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Physical</a:t>
            </a:r>
          </a:p>
        </p:txBody>
      </p:sp>
      <p:sp>
        <p:nvSpPr>
          <p:cNvPr id="73" name="Freeform 10">
            <a:extLst>
              <a:ext uri="{FF2B5EF4-FFF2-40B4-BE49-F238E27FC236}">
                <a16:creationId xmlns:a16="http://schemas.microsoft.com/office/drawing/2014/main" id="{03F3F13B-38BE-4772-828F-0167ED7600A7}"/>
              </a:ext>
            </a:extLst>
          </p:cNvPr>
          <p:cNvSpPr>
            <a:spLocks/>
          </p:cNvSpPr>
          <p:nvPr/>
        </p:nvSpPr>
        <p:spPr bwMode="auto">
          <a:xfrm>
            <a:off x="7218874" y="3175686"/>
            <a:ext cx="341255" cy="602688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rgbClr val="E1ECF7"/>
              </a:gs>
              <a:gs pos="100000">
                <a:schemeClr val="bg1"/>
              </a:gs>
            </a:gsLst>
            <a:lin ang="0" scaled="1"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1D10F32C-4E08-4530-AD95-3D1D90CF4AC6}"/>
              </a:ext>
            </a:extLst>
          </p:cNvPr>
          <p:cNvSpPr/>
          <p:nvPr/>
        </p:nvSpPr>
        <p:spPr>
          <a:xfrm>
            <a:off x="5951984" y="3165952"/>
            <a:ext cx="1266889" cy="285048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lvl="2"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Link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1915053D-E717-496C-9528-4BF62F41DC4F}"/>
              </a:ext>
            </a:extLst>
          </p:cNvPr>
          <p:cNvSpPr/>
          <p:nvPr/>
        </p:nvSpPr>
        <p:spPr>
          <a:xfrm>
            <a:off x="5951984" y="3494559"/>
            <a:ext cx="1266889" cy="285048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lvl="2"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Physical</a:t>
            </a:r>
          </a:p>
        </p:txBody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2E11F85D-1532-4072-B244-87FCB9F706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15959" y="3319768"/>
            <a:ext cx="549652" cy="405865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B968A6C6-32B6-4757-A784-8E49B53B30C3}"/>
              </a:ext>
            </a:extLst>
          </p:cNvPr>
          <p:cNvSpPr txBox="1"/>
          <p:nvPr/>
        </p:nvSpPr>
        <p:spPr>
          <a:xfrm>
            <a:off x="7275074" y="3760294"/>
            <a:ext cx="9367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spcBef>
                <a:spcPts val="1000"/>
              </a:spcBef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switch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6219DB5-A262-4641-A9B4-75C1693217BC}"/>
              </a:ext>
            </a:extLst>
          </p:cNvPr>
          <p:cNvSpPr txBox="1"/>
          <p:nvPr/>
        </p:nvSpPr>
        <p:spPr>
          <a:xfrm>
            <a:off x="7135270" y="5230766"/>
            <a:ext cx="9367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spcBef>
                <a:spcPts val="1000"/>
              </a:spcBef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router</a:t>
            </a:r>
          </a:p>
        </p:txBody>
      </p:sp>
      <p:sp>
        <p:nvSpPr>
          <p:cNvPr id="82" name="Freeform 10">
            <a:extLst>
              <a:ext uri="{FF2B5EF4-FFF2-40B4-BE49-F238E27FC236}">
                <a16:creationId xmlns:a16="http://schemas.microsoft.com/office/drawing/2014/main" id="{B1517AC1-340B-4E1A-82E6-A8E533FCE3A2}"/>
              </a:ext>
            </a:extLst>
          </p:cNvPr>
          <p:cNvSpPr>
            <a:spLocks/>
          </p:cNvSpPr>
          <p:nvPr/>
        </p:nvSpPr>
        <p:spPr bwMode="auto">
          <a:xfrm>
            <a:off x="3100785" y="4123747"/>
            <a:ext cx="332467" cy="1599943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rgbClr val="E1ECF7"/>
              </a:gs>
              <a:gs pos="100000">
                <a:schemeClr val="bg1"/>
              </a:gs>
            </a:gsLst>
            <a:lin ang="0" scaled="1"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AEE747D5-9D02-4639-AB63-C9E845DA70EE}"/>
              </a:ext>
            </a:extLst>
          </p:cNvPr>
          <p:cNvGrpSpPr/>
          <p:nvPr/>
        </p:nvGrpSpPr>
        <p:grpSpPr>
          <a:xfrm>
            <a:off x="4321015" y="4635302"/>
            <a:ext cx="1310953" cy="527782"/>
            <a:chOff x="1627477" y="2159714"/>
            <a:chExt cx="1420948" cy="572065"/>
          </a:xfrm>
        </p:grpSpPr>
        <p:sp>
          <p:nvSpPr>
            <p:cNvPr id="110" name="Rectangle 176">
              <a:extLst>
                <a:ext uri="{FF2B5EF4-FFF2-40B4-BE49-F238E27FC236}">
                  <a16:creationId xmlns:a16="http://schemas.microsoft.com/office/drawing/2014/main" id="{8D85EB15-7F80-429D-ABDD-2AED821FC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0439" y="2159714"/>
              <a:ext cx="387986" cy="2571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M</a:t>
              </a:r>
            </a:p>
          </p:txBody>
        </p:sp>
        <p:sp>
          <p:nvSpPr>
            <p:cNvPr id="111" name="Rectangle 176">
              <a:extLst>
                <a:ext uri="{FF2B5EF4-FFF2-40B4-BE49-F238E27FC236}">
                  <a16:creationId xmlns:a16="http://schemas.microsoft.com/office/drawing/2014/main" id="{843E7A12-18A7-4B10-B518-AA82B7976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0439" y="2474604"/>
              <a:ext cx="387986" cy="2571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M</a:t>
              </a:r>
            </a:p>
          </p:txBody>
        </p:sp>
        <p:sp>
          <p:nvSpPr>
            <p:cNvPr id="112" name="Rectangle 176">
              <a:extLst>
                <a:ext uri="{FF2B5EF4-FFF2-40B4-BE49-F238E27FC236}">
                  <a16:creationId xmlns:a16="http://schemas.microsoft.com/office/drawing/2014/main" id="{333DA6FE-2F72-4BF4-BAFA-D5E964BBB7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739" y="2159714"/>
              <a:ext cx="345124" cy="2571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H</a:t>
              </a:r>
              <a:r>
                <a:rPr lang="en-US" altLang="ko-KR" sz="1400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</a:t>
              </a:r>
            </a:p>
          </p:txBody>
        </p:sp>
        <p:sp>
          <p:nvSpPr>
            <p:cNvPr id="113" name="Rectangle 176">
              <a:extLst>
                <a:ext uri="{FF2B5EF4-FFF2-40B4-BE49-F238E27FC236}">
                  <a16:creationId xmlns:a16="http://schemas.microsoft.com/office/drawing/2014/main" id="{8CEAD32E-CE48-484D-908F-DD60787B9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739" y="2474604"/>
              <a:ext cx="345124" cy="2571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H</a:t>
              </a:r>
              <a:r>
                <a:rPr lang="en-US" altLang="ko-KR" sz="1400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</a:t>
              </a:r>
            </a:p>
          </p:txBody>
        </p:sp>
        <p:sp>
          <p:nvSpPr>
            <p:cNvPr id="114" name="Rectangle 176">
              <a:extLst>
                <a:ext uri="{FF2B5EF4-FFF2-40B4-BE49-F238E27FC236}">
                  <a16:creationId xmlns:a16="http://schemas.microsoft.com/office/drawing/2014/main" id="{A7083635-FBCA-4137-B1CC-B50831D55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614" y="2159714"/>
              <a:ext cx="345124" cy="2571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H</a:t>
              </a:r>
              <a:r>
                <a:rPr lang="en-US" altLang="ko-KR" sz="1400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</a:t>
              </a:r>
            </a:p>
          </p:txBody>
        </p:sp>
        <p:sp>
          <p:nvSpPr>
            <p:cNvPr id="115" name="Rectangle 176">
              <a:extLst>
                <a:ext uri="{FF2B5EF4-FFF2-40B4-BE49-F238E27FC236}">
                  <a16:creationId xmlns:a16="http://schemas.microsoft.com/office/drawing/2014/main" id="{A7F996B6-8C07-429F-B1EB-17884D743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614" y="2474604"/>
              <a:ext cx="345124" cy="2571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H</a:t>
              </a:r>
              <a:r>
                <a:rPr lang="en-US" altLang="ko-KR" sz="1400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</a:t>
              </a:r>
            </a:p>
          </p:txBody>
        </p:sp>
        <p:sp>
          <p:nvSpPr>
            <p:cNvPr id="116" name="Rectangle 176">
              <a:extLst>
                <a:ext uri="{FF2B5EF4-FFF2-40B4-BE49-F238E27FC236}">
                  <a16:creationId xmlns:a16="http://schemas.microsoft.com/office/drawing/2014/main" id="{643BA22F-27B5-4196-933A-40A808859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7477" y="2474604"/>
              <a:ext cx="345124" cy="2571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H</a:t>
              </a:r>
              <a:r>
                <a:rPr lang="en-US" altLang="ko-KR" sz="1400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I</a:t>
              </a: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BF120728-3D23-478C-BE8B-D335AD9E0214}"/>
              </a:ext>
            </a:extLst>
          </p:cNvPr>
          <p:cNvGrpSpPr/>
          <p:nvPr/>
        </p:nvGrpSpPr>
        <p:grpSpPr>
          <a:xfrm>
            <a:off x="3287688" y="4415959"/>
            <a:ext cx="752251" cy="895299"/>
            <a:chOff x="3182618" y="4520968"/>
            <a:chExt cx="878294" cy="1045313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B756837B-4BAF-4952-843A-E696BA96FF2A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9EC4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ACCFA34F-1148-428E-9523-5F5A91A06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B7AC70F5-934B-461C-A6C5-76C2FAFD5B89}"/>
              </a:ext>
            </a:extLst>
          </p:cNvPr>
          <p:cNvGrpSpPr/>
          <p:nvPr/>
        </p:nvGrpSpPr>
        <p:grpSpPr>
          <a:xfrm>
            <a:off x="1826572" y="4131583"/>
            <a:ext cx="1266889" cy="1599474"/>
            <a:chOff x="2982913" y="1284208"/>
            <a:chExt cx="1655264" cy="1733677"/>
          </a:xfrm>
        </p:grpSpPr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D76446B4-2841-4229-9F14-53DA32CBADDA}"/>
                </a:ext>
              </a:extLst>
            </p:cNvPr>
            <p:cNvSpPr/>
            <p:nvPr/>
          </p:nvSpPr>
          <p:spPr>
            <a:xfrm>
              <a:off x="2982913" y="1284208"/>
              <a:ext cx="1655264" cy="308965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Application</a:t>
              </a: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74AC9458-5AD3-4FA4-9BD3-EA1A7B499996}"/>
                </a:ext>
              </a:extLst>
            </p:cNvPr>
            <p:cNvSpPr/>
            <p:nvPr/>
          </p:nvSpPr>
          <p:spPr>
            <a:xfrm>
              <a:off x="2982913" y="1640386"/>
              <a:ext cx="1655264" cy="308965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Transport</a:t>
              </a: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B1EB67C2-4974-4F3B-BC07-47B69BC87D8E}"/>
                </a:ext>
              </a:extLst>
            </p:cNvPr>
            <p:cNvSpPr/>
            <p:nvPr/>
          </p:nvSpPr>
          <p:spPr>
            <a:xfrm>
              <a:off x="2982913" y="1996564"/>
              <a:ext cx="1655264" cy="308965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B778DC3D-9F4C-41DA-85B4-B35AD60EFB1F}"/>
                </a:ext>
              </a:extLst>
            </p:cNvPr>
            <p:cNvSpPr/>
            <p:nvPr/>
          </p:nvSpPr>
          <p:spPr>
            <a:xfrm>
              <a:off x="2982913" y="2352742"/>
              <a:ext cx="1655264" cy="308965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Link</a:t>
              </a: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C7D35D95-E443-4CFE-9998-EBF3297DA72A}"/>
                </a:ext>
              </a:extLst>
            </p:cNvPr>
            <p:cNvSpPr/>
            <p:nvPr/>
          </p:nvSpPr>
          <p:spPr>
            <a:xfrm>
              <a:off x="2982913" y="2708920"/>
              <a:ext cx="1655264" cy="308965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B569953C-D5D3-46C9-A2EA-D1B2E9E9F317}"/>
              </a:ext>
            </a:extLst>
          </p:cNvPr>
          <p:cNvSpPr txBox="1"/>
          <p:nvPr/>
        </p:nvSpPr>
        <p:spPr>
          <a:xfrm>
            <a:off x="1646310" y="3824532"/>
            <a:ext cx="16274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spcBef>
                <a:spcPts val="1000"/>
              </a:spcBef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destination</a:t>
            </a: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BC817409-AEC6-4BCC-8707-5247F82D4E32}"/>
              </a:ext>
            </a:extLst>
          </p:cNvPr>
          <p:cNvGrpSpPr/>
          <p:nvPr/>
        </p:nvGrpSpPr>
        <p:grpSpPr>
          <a:xfrm>
            <a:off x="460454" y="4181789"/>
            <a:ext cx="1310953" cy="1108811"/>
            <a:chOff x="460454" y="4181789"/>
            <a:chExt cx="1310953" cy="1108811"/>
          </a:xfrm>
        </p:grpSpPr>
        <p:sp>
          <p:nvSpPr>
            <p:cNvPr id="117" name="Rectangle 176">
              <a:extLst>
                <a:ext uri="{FF2B5EF4-FFF2-40B4-BE49-F238E27FC236}">
                  <a16:creationId xmlns:a16="http://schemas.microsoft.com/office/drawing/2014/main" id="{EA1117C2-963E-42C0-8577-A90DB73AD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3455" y="4181789"/>
              <a:ext cx="357952" cy="2372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M</a:t>
              </a:r>
            </a:p>
          </p:txBody>
        </p:sp>
        <p:sp>
          <p:nvSpPr>
            <p:cNvPr id="118" name="Rectangle 176">
              <a:extLst>
                <a:ext uri="{FF2B5EF4-FFF2-40B4-BE49-F238E27FC236}">
                  <a16:creationId xmlns:a16="http://schemas.microsoft.com/office/drawing/2014/main" id="{37243F02-1EF7-4BD5-8C73-065F0D24F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3455" y="4472304"/>
              <a:ext cx="357952" cy="2372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M</a:t>
              </a:r>
            </a:p>
          </p:txBody>
        </p:sp>
        <p:sp>
          <p:nvSpPr>
            <p:cNvPr id="119" name="Rectangle 176">
              <a:extLst>
                <a:ext uri="{FF2B5EF4-FFF2-40B4-BE49-F238E27FC236}">
                  <a16:creationId xmlns:a16="http://schemas.microsoft.com/office/drawing/2014/main" id="{84602652-992B-4D9A-B6D0-6DBBF5888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515" y="4472304"/>
              <a:ext cx="318408" cy="2372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H</a:t>
              </a:r>
              <a:r>
                <a:rPr lang="en-US" altLang="ko-KR" sz="1400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</a:t>
              </a:r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470B51EE-D79C-4D08-B441-58B661AD70F1}"/>
                </a:ext>
              </a:extLst>
            </p:cNvPr>
            <p:cNvGrpSpPr/>
            <p:nvPr/>
          </p:nvGrpSpPr>
          <p:grpSpPr>
            <a:xfrm>
              <a:off x="460454" y="4762818"/>
              <a:ext cx="1310953" cy="527782"/>
              <a:chOff x="1627477" y="2159714"/>
              <a:chExt cx="1420948" cy="572065"/>
            </a:xfrm>
          </p:grpSpPr>
          <p:sp>
            <p:nvSpPr>
              <p:cNvPr id="121" name="Rectangle 176">
                <a:extLst>
                  <a:ext uri="{FF2B5EF4-FFF2-40B4-BE49-F238E27FC236}">
                    <a16:creationId xmlns:a16="http://schemas.microsoft.com/office/drawing/2014/main" id="{AD1BCEC9-AF35-45DA-BA5E-9333559484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0439" y="2159714"/>
                <a:ext cx="387986" cy="2571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lvl="2" algn="ctr">
                  <a:spcBef>
                    <a:spcPts val="1000"/>
                  </a:spcBef>
                </a:pPr>
                <a:r>
                  <a:rPr lang="en-US" altLang="ko-KR" sz="14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M</a:t>
                </a:r>
              </a:p>
            </p:txBody>
          </p:sp>
          <p:sp>
            <p:nvSpPr>
              <p:cNvPr id="122" name="Rectangle 176">
                <a:extLst>
                  <a:ext uri="{FF2B5EF4-FFF2-40B4-BE49-F238E27FC236}">
                    <a16:creationId xmlns:a16="http://schemas.microsoft.com/office/drawing/2014/main" id="{CD50B171-3251-420A-A0CF-AB8371199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0439" y="2474604"/>
                <a:ext cx="387986" cy="2571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lvl="2" algn="ctr">
                  <a:spcBef>
                    <a:spcPts val="1000"/>
                  </a:spcBef>
                </a:pPr>
                <a:r>
                  <a:rPr lang="en-US" altLang="ko-KR" sz="14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M</a:t>
                </a:r>
              </a:p>
            </p:txBody>
          </p:sp>
          <p:sp>
            <p:nvSpPr>
              <p:cNvPr id="123" name="Rectangle 176">
                <a:extLst>
                  <a:ext uri="{FF2B5EF4-FFF2-40B4-BE49-F238E27FC236}">
                    <a16:creationId xmlns:a16="http://schemas.microsoft.com/office/drawing/2014/main" id="{A427D4B2-9F7F-458F-9D69-9162525682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4739" y="2159714"/>
                <a:ext cx="345124" cy="2571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lvl="2" algn="ctr">
                  <a:spcBef>
                    <a:spcPts val="1000"/>
                  </a:spcBef>
                </a:pPr>
                <a:r>
                  <a:rPr lang="en-US" altLang="ko-KR" sz="14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H</a:t>
                </a:r>
                <a:r>
                  <a:rPr lang="en-US" altLang="ko-KR" sz="1400" baseline="-250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t</a:t>
                </a:r>
              </a:p>
            </p:txBody>
          </p:sp>
          <p:sp>
            <p:nvSpPr>
              <p:cNvPr id="124" name="Rectangle 176">
                <a:extLst>
                  <a:ext uri="{FF2B5EF4-FFF2-40B4-BE49-F238E27FC236}">
                    <a16:creationId xmlns:a16="http://schemas.microsoft.com/office/drawing/2014/main" id="{15784060-9A57-497D-927D-C4D7C0985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4739" y="2474604"/>
                <a:ext cx="345124" cy="2571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lvl="2" algn="ctr">
                  <a:spcBef>
                    <a:spcPts val="1000"/>
                  </a:spcBef>
                </a:pPr>
                <a:r>
                  <a:rPr lang="en-US" altLang="ko-KR" sz="14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H</a:t>
                </a:r>
                <a:r>
                  <a:rPr lang="en-US" altLang="ko-KR" sz="1400" baseline="-250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t</a:t>
                </a:r>
              </a:p>
            </p:txBody>
          </p:sp>
          <p:sp>
            <p:nvSpPr>
              <p:cNvPr id="125" name="Rectangle 176">
                <a:extLst>
                  <a:ext uri="{FF2B5EF4-FFF2-40B4-BE49-F238E27FC236}">
                    <a16:creationId xmlns:a16="http://schemas.microsoft.com/office/drawing/2014/main" id="{66672E0A-9897-4C7D-BD05-D1E136FE0F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5614" y="2159714"/>
                <a:ext cx="345124" cy="2571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lvl="2" algn="ctr">
                  <a:spcBef>
                    <a:spcPts val="1000"/>
                  </a:spcBef>
                </a:pPr>
                <a:r>
                  <a:rPr lang="en-US" altLang="ko-KR" sz="14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H</a:t>
                </a:r>
                <a:r>
                  <a:rPr lang="en-US" altLang="ko-KR" sz="1400" baseline="-250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n</a:t>
                </a:r>
              </a:p>
            </p:txBody>
          </p:sp>
          <p:sp>
            <p:nvSpPr>
              <p:cNvPr id="126" name="Rectangle 176">
                <a:extLst>
                  <a:ext uri="{FF2B5EF4-FFF2-40B4-BE49-F238E27FC236}">
                    <a16:creationId xmlns:a16="http://schemas.microsoft.com/office/drawing/2014/main" id="{709785AA-18D1-4947-988A-7F1CCB5543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5614" y="2474604"/>
                <a:ext cx="345124" cy="2571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lvl="2" algn="ctr">
                  <a:spcBef>
                    <a:spcPts val="1000"/>
                  </a:spcBef>
                </a:pPr>
                <a:r>
                  <a:rPr lang="en-US" altLang="ko-KR" sz="14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H</a:t>
                </a:r>
                <a:r>
                  <a:rPr lang="en-US" altLang="ko-KR" sz="1400" baseline="-250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n</a:t>
                </a:r>
              </a:p>
            </p:txBody>
          </p:sp>
          <p:sp>
            <p:nvSpPr>
              <p:cNvPr id="127" name="Rectangle 176">
                <a:extLst>
                  <a:ext uri="{FF2B5EF4-FFF2-40B4-BE49-F238E27FC236}">
                    <a16:creationId xmlns:a16="http://schemas.microsoft.com/office/drawing/2014/main" id="{3F67E01D-D2B0-4C54-AA0E-E132AE19AD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7477" y="2474604"/>
                <a:ext cx="345124" cy="2571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lvl="2" algn="ctr">
                  <a:spcBef>
                    <a:spcPts val="1000"/>
                  </a:spcBef>
                </a:pPr>
                <a:r>
                  <a:rPr lang="en-US" altLang="ko-KR" sz="14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H</a:t>
                </a:r>
                <a:r>
                  <a:rPr lang="en-US" altLang="ko-KR" sz="1400" baseline="-250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I</a:t>
                </a:r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A0C4799-DABC-4E81-98FD-3D04DB5314C6}"/>
              </a:ext>
            </a:extLst>
          </p:cNvPr>
          <p:cNvSpPr txBox="1"/>
          <p:nvPr/>
        </p:nvSpPr>
        <p:spPr>
          <a:xfrm>
            <a:off x="3574797" y="1124744"/>
            <a:ext cx="11722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algn="ctr">
              <a:spcBef>
                <a:spcPts val="1000"/>
              </a:spcBef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source</a:t>
            </a:r>
          </a:p>
        </p:txBody>
      </p:sp>
      <p:sp>
        <p:nvSpPr>
          <p:cNvPr id="151" name="그래픽 149">
            <a:extLst>
              <a:ext uri="{FF2B5EF4-FFF2-40B4-BE49-F238E27FC236}">
                <a16:creationId xmlns:a16="http://schemas.microsoft.com/office/drawing/2014/main" id="{3DFBAA35-F5FE-4878-9316-B197457D1C5A}"/>
              </a:ext>
            </a:extLst>
          </p:cNvPr>
          <p:cNvSpPr/>
          <p:nvPr/>
        </p:nvSpPr>
        <p:spPr>
          <a:xfrm>
            <a:off x="1847528" y="1412776"/>
            <a:ext cx="5251787" cy="4539601"/>
          </a:xfrm>
          <a:custGeom>
            <a:avLst/>
            <a:gdLst>
              <a:gd name="connsiteX0" fmla="*/ 1516380 w 3898010"/>
              <a:gd name="connsiteY0" fmla="*/ 0 h 3372897"/>
              <a:gd name="connsiteX1" fmla="*/ 1522286 w 3898010"/>
              <a:gd name="connsiteY1" fmla="*/ 1443323 h 3372897"/>
              <a:gd name="connsiteX2" fmla="*/ 3021425 w 3898010"/>
              <a:gd name="connsiteY2" fmla="*/ 1443323 h 3372897"/>
              <a:gd name="connsiteX3" fmla="*/ 3021425 w 3898010"/>
              <a:gd name="connsiteY3" fmla="*/ 1149001 h 3372897"/>
              <a:gd name="connsiteX4" fmla="*/ 3898011 w 3898010"/>
              <a:gd name="connsiteY4" fmla="*/ 1149001 h 3372897"/>
              <a:gd name="connsiteX5" fmla="*/ 3898011 w 3898010"/>
              <a:gd name="connsiteY5" fmla="*/ 3051334 h 3372897"/>
              <a:gd name="connsiteX6" fmla="*/ 3734276 w 3898010"/>
              <a:gd name="connsiteY6" fmla="*/ 2909983 h 3372897"/>
              <a:gd name="connsiteX7" fmla="*/ 3729419 w 3898010"/>
              <a:gd name="connsiteY7" fmla="*/ 2326291 h 3372897"/>
              <a:gd name="connsiteX8" fmla="*/ 2917222 w 3898010"/>
              <a:gd name="connsiteY8" fmla="*/ 2326291 h 3372897"/>
              <a:gd name="connsiteX9" fmla="*/ 2917222 w 3898010"/>
              <a:gd name="connsiteY9" fmla="*/ 2991898 h 3372897"/>
              <a:gd name="connsiteX10" fmla="*/ 1696688 w 3898010"/>
              <a:gd name="connsiteY10" fmla="*/ 3372898 h 3372897"/>
              <a:gd name="connsiteX11" fmla="*/ 0 w 3898010"/>
              <a:gd name="connsiteY11" fmla="*/ 3372898 h 3372897"/>
              <a:gd name="connsiteX12" fmla="*/ 0 w 3898010"/>
              <a:gd name="connsiteY12" fmla="*/ 2494788 h 3372897"/>
              <a:gd name="connsiteX0" fmla="*/ 1516380 w 3898011"/>
              <a:gd name="connsiteY0" fmla="*/ 0 h 3372898"/>
              <a:gd name="connsiteX1" fmla="*/ 1522286 w 3898011"/>
              <a:gd name="connsiteY1" fmla="*/ 1443323 h 3372898"/>
              <a:gd name="connsiteX2" fmla="*/ 3021425 w 3898011"/>
              <a:gd name="connsiteY2" fmla="*/ 1443323 h 3372898"/>
              <a:gd name="connsiteX3" fmla="*/ 3021425 w 3898011"/>
              <a:gd name="connsiteY3" fmla="*/ 1149001 h 3372898"/>
              <a:gd name="connsiteX4" fmla="*/ 3898011 w 3898011"/>
              <a:gd name="connsiteY4" fmla="*/ 1149001 h 3372898"/>
              <a:gd name="connsiteX5" fmla="*/ 3898011 w 3898011"/>
              <a:gd name="connsiteY5" fmla="*/ 3051334 h 3372898"/>
              <a:gd name="connsiteX6" fmla="*/ 3734276 w 3898011"/>
              <a:gd name="connsiteY6" fmla="*/ 2909983 h 3372898"/>
              <a:gd name="connsiteX7" fmla="*/ 3729419 w 3898011"/>
              <a:gd name="connsiteY7" fmla="*/ 2326291 h 3372898"/>
              <a:gd name="connsiteX8" fmla="*/ 2917222 w 3898011"/>
              <a:gd name="connsiteY8" fmla="*/ 2326291 h 3372898"/>
              <a:gd name="connsiteX9" fmla="*/ 2917222 w 3898011"/>
              <a:gd name="connsiteY9" fmla="*/ 2991898 h 3372898"/>
              <a:gd name="connsiteX10" fmla="*/ 1696688 w 3898011"/>
              <a:gd name="connsiteY10" fmla="*/ 3372898 h 3372898"/>
              <a:gd name="connsiteX11" fmla="*/ 0 w 3898011"/>
              <a:gd name="connsiteY11" fmla="*/ 3372898 h 3372898"/>
              <a:gd name="connsiteX12" fmla="*/ 0 w 3898011"/>
              <a:gd name="connsiteY12" fmla="*/ 2013551 h 3372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898011" h="3372898">
                <a:moveTo>
                  <a:pt x="1516380" y="0"/>
                </a:moveTo>
                <a:cubicBezTo>
                  <a:pt x="1518349" y="481108"/>
                  <a:pt x="1520317" y="962215"/>
                  <a:pt x="1522286" y="1443323"/>
                </a:cubicBezTo>
                <a:lnTo>
                  <a:pt x="3021425" y="1443323"/>
                </a:lnTo>
                <a:lnTo>
                  <a:pt x="3021425" y="1149001"/>
                </a:lnTo>
                <a:lnTo>
                  <a:pt x="3898011" y="1149001"/>
                </a:lnTo>
                <a:lnTo>
                  <a:pt x="3898011" y="3051334"/>
                </a:lnTo>
                <a:lnTo>
                  <a:pt x="3734276" y="2909983"/>
                </a:lnTo>
                <a:lnTo>
                  <a:pt x="3729419" y="2326291"/>
                </a:lnTo>
                <a:lnTo>
                  <a:pt x="2917222" y="2326291"/>
                </a:lnTo>
                <a:lnTo>
                  <a:pt x="2917222" y="2991898"/>
                </a:lnTo>
                <a:lnTo>
                  <a:pt x="1696688" y="3372898"/>
                </a:lnTo>
                <a:lnTo>
                  <a:pt x="0" y="3372898"/>
                </a:lnTo>
                <a:lnTo>
                  <a:pt x="0" y="2013551"/>
                </a:lnTo>
              </a:path>
            </a:pathLst>
          </a:custGeom>
          <a:noFill/>
          <a:ln w="38100" cap="flat">
            <a:solidFill>
              <a:srgbClr val="105BA0"/>
            </a:solidFill>
            <a:prstDash val="solid"/>
            <a:round/>
            <a:headEnd type="triangle"/>
            <a:tailEnd type="triangle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E9EE20A4-E575-423D-84FB-A52F82720BE1}"/>
              </a:ext>
            </a:extLst>
          </p:cNvPr>
          <p:cNvSpPr>
            <a:spLocks/>
          </p:cNvSpPr>
          <p:nvPr/>
        </p:nvSpPr>
        <p:spPr bwMode="auto">
          <a:xfrm>
            <a:off x="4801703" y="1567976"/>
            <a:ext cx="332467" cy="1599943"/>
          </a:xfrm>
          <a:custGeom>
            <a:avLst/>
            <a:gdLst>
              <a:gd name="T0" fmla="*/ 2147483647 w 267"/>
              <a:gd name="T1" fmla="*/ 2147483647 h 1186"/>
              <a:gd name="T2" fmla="*/ 0 w 267"/>
              <a:gd name="T3" fmla="*/ 0 h 1186"/>
              <a:gd name="T4" fmla="*/ 0 w 267"/>
              <a:gd name="T5" fmla="*/ 2147483647 h 1186"/>
              <a:gd name="T6" fmla="*/ 2147483647 w 267"/>
              <a:gd name="T7" fmla="*/ 2147483647 h 1186"/>
              <a:gd name="T8" fmla="*/ 2147483647 w 267"/>
              <a:gd name="T9" fmla="*/ 2147483647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rgbClr val="E1ECF7"/>
              </a:gs>
              <a:gs pos="100000">
                <a:schemeClr val="bg1"/>
              </a:gs>
            </a:gsLst>
            <a:lin ang="0" scaled="1"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A0071D9-A517-4BFF-AF09-3F04C7528D67}"/>
              </a:ext>
            </a:extLst>
          </p:cNvPr>
          <p:cNvGrpSpPr/>
          <p:nvPr/>
        </p:nvGrpSpPr>
        <p:grpSpPr>
          <a:xfrm>
            <a:off x="3527490" y="1575812"/>
            <a:ext cx="1266889" cy="1599475"/>
            <a:chOff x="2982913" y="1284208"/>
            <a:chExt cx="1655264" cy="173367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6F64CBD-D73F-483A-8BAD-C6C6C87CDEE2}"/>
                </a:ext>
              </a:extLst>
            </p:cNvPr>
            <p:cNvSpPr/>
            <p:nvPr/>
          </p:nvSpPr>
          <p:spPr>
            <a:xfrm>
              <a:off x="2982913" y="1284208"/>
              <a:ext cx="1655264" cy="308965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Application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725B6B1-9C76-478A-9823-7883F54300EC}"/>
                </a:ext>
              </a:extLst>
            </p:cNvPr>
            <p:cNvSpPr/>
            <p:nvPr/>
          </p:nvSpPr>
          <p:spPr>
            <a:xfrm>
              <a:off x="2982913" y="1640386"/>
              <a:ext cx="1655264" cy="308965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Transport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F526C6D-E61B-482F-8E11-A84C4ED2A4B6}"/>
                </a:ext>
              </a:extLst>
            </p:cNvPr>
            <p:cNvSpPr/>
            <p:nvPr/>
          </p:nvSpPr>
          <p:spPr>
            <a:xfrm>
              <a:off x="2982913" y="1996564"/>
              <a:ext cx="1655264" cy="308965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Network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D6DFEA0-B704-446A-8B19-39ADCD851EB9}"/>
                </a:ext>
              </a:extLst>
            </p:cNvPr>
            <p:cNvSpPr/>
            <p:nvPr/>
          </p:nvSpPr>
          <p:spPr>
            <a:xfrm>
              <a:off x="2982913" y="2352742"/>
              <a:ext cx="1655264" cy="308965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Link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AEC1355-6763-4281-B969-23CCC5ADA7A8}"/>
                </a:ext>
              </a:extLst>
            </p:cNvPr>
            <p:cNvSpPr/>
            <p:nvPr/>
          </p:nvSpPr>
          <p:spPr>
            <a:xfrm>
              <a:off x="2982913" y="2708920"/>
              <a:ext cx="1655264" cy="308965"/>
            </a:xfrm>
            <a:prstGeom prst="rect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Physical</a:t>
              </a:r>
            </a:p>
          </p:txBody>
        </p:sp>
      </p:grpSp>
      <p:sp>
        <p:nvSpPr>
          <p:cNvPr id="43" name="Text Box 174">
            <a:extLst>
              <a:ext uri="{FF2B5EF4-FFF2-40B4-BE49-F238E27FC236}">
                <a16:creationId xmlns:a16="http://schemas.microsoft.com/office/drawing/2014/main" id="{6FE32EA8-F11B-4312-9E47-714377D4D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0983" y="1586288"/>
            <a:ext cx="75405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lvl="2" algn="r">
              <a:spcBef>
                <a:spcPts val="1000"/>
              </a:spcBef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message</a:t>
            </a:r>
          </a:p>
        </p:txBody>
      </p:sp>
      <p:sp>
        <p:nvSpPr>
          <p:cNvPr id="45" name="Rectangle 176">
            <a:extLst>
              <a:ext uri="{FF2B5EF4-FFF2-40B4-BE49-F238E27FC236}">
                <a16:creationId xmlns:a16="http://schemas.microsoft.com/office/drawing/2014/main" id="{17F481A5-C3E2-46A9-8D5A-A8FBC6251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3633" y="1609630"/>
            <a:ext cx="357952" cy="237267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lvl="2"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M</a:t>
            </a:r>
          </a:p>
        </p:txBody>
      </p:sp>
      <p:sp>
        <p:nvSpPr>
          <p:cNvPr id="95" name="Text Box 174">
            <a:extLst>
              <a:ext uri="{FF2B5EF4-FFF2-40B4-BE49-F238E27FC236}">
                <a16:creationId xmlns:a16="http://schemas.microsoft.com/office/drawing/2014/main" id="{769EA438-3C93-4D0A-8796-EB8644687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2293" y="1876803"/>
            <a:ext cx="74270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lvl="2" algn="r">
              <a:spcBef>
                <a:spcPts val="1000"/>
              </a:spcBef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segment</a:t>
            </a:r>
          </a:p>
        </p:txBody>
      </p:sp>
      <p:sp>
        <p:nvSpPr>
          <p:cNvPr id="97" name="Text Box 174">
            <a:extLst>
              <a:ext uri="{FF2B5EF4-FFF2-40B4-BE49-F238E27FC236}">
                <a16:creationId xmlns:a16="http://schemas.microsoft.com/office/drawing/2014/main" id="{099B32E2-6B62-4410-9172-52DC78471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1641" y="2167317"/>
            <a:ext cx="80021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lvl="2" algn="r">
              <a:spcBef>
                <a:spcPts val="1000"/>
              </a:spcBef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datagram</a:t>
            </a:r>
          </a:p>
        </p:txBody>
      </p:sp>
      <p:sp>
        <p:nvSpPr>
          <p:cNvPr id="99" name="Text Box 174">
            <a:extLst>
              <a:ext uri="{FF2B5EF4-FFF2-40B4-BE49-F238E27FC236}">
                <a16:creationId xmlns:a16="http://schemas.microsoft.com/office/drawing/2014/main" id="{1D4E7D58-FE8B-41EB-866C-1000D8FDA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493" y="2462885"/>
            <a:ext cx="55021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lvl="2" algn="r">
              <a:spcBef>
                <a:spcPts val="1000"/>
              </a:spcBef>
            </a:pPr>
            <a: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frame</a:t>
            </a: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3ABCF82-1F0E-4624-A73A-B11DC41F1649}"/>
              </a:ext>
            </a:extLst>
          </p:cNvPr>
          <p:cNvGrpSpPr/>
          <p:nvPr/>
        </p:nvGrpSpPr>
        <p:grpSpPr>
          <a:xfrm>
            <a:off x="2774693" y="1900145"/>
            <a:ext cx="676892" cy="237267"/>
            <a:chOff x="2774693" y="1900145"/>
            <a:chExt cx="676892" cy="237267"/>
          </a:xfrm>
        </p:grpSpPr>
        <p:sp>
          <p:nvSpPr>
            <p:cNvPr id="96" name="Rectangle 176">
              <a:extLst>
                <a:ext uri="{FF2B5EF4-FFF2-40B4-BE49-F238E27FC236}">
                  <a16:creationId xmlns:a16="http://schemas.microsoft.com/office/drawing/2014/main" id="{DE737D0E-A2B4-4C62-847E-0ED7D84E4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3633" y="1900145"/>
              <a:ext cx="357952" cy="2372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M</a:t>
              </a:r>
            </a:p>
          </p:txBody>
        </p:sp>
        <p:sp>
          <p:nvSpPr>
            <p:cNvPr id="101" name="Rectangle 176">
              <a:extLst>
                <a:ext uri="{FF2B5EF4-FFF2-40B4-BE49-F238E27FC236}">
                  <a16:creationId xmlns:a16="http://schemas.microsoft.com/office/drawing/2014/main" id="{5F9A321F-9473-4FE1-8D7A-A99AFD7E5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693" y="1900145"/>
              <a:ext cx="318408" cy="2372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H</a:t>
              </a:r>
              <a:r>
                <a:rPr lang="en-US" altLang="ko-KR" sz="1400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</a:t>
              </a: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28238B25-088C-495C-BDB5-36AE5C6A4067}"/>
              </a:ext>
            </a:extLst>
          </p:cNvPr>
          <p:cNvGrpSpPr/>
          <p:nvPr/>
        </p:nvGrpSpPr>
        <p:grpSpPr>
          <a:xfrm>
            <a:off x="2452594" y="2190660"/>
            <a:ext cx="998991" cy="237267"/>
            <a:chOff x="2452594" y="2190660"/>
            <a:chExt cx="998991" cy="237267"/>
          </a:xfrm>
        </p:grpSpPr>
        <p:sp>
          <p:nvSpPr>
            <p:cNvPr id="98" name="Rectangle 176">
              <a:extLst>
                <a:ext uri="{FF2B5EF4-FFF2-40B4-BE49-F238E27FC236}">
                  <a16:creationId xmlns:a16="http://schemas.microsoft.com/office/drawing/2014/main" id="{62FB849A-786E-4765-AD52-1A9F17235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3633" y="2190660"/>
              <a:ext cx="357952" cy="2372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M</a:t>
              </a:r>
            </a:p>
          </p:txBody>
        </p:sp>
        <p:sp>
          <p:nvSpPr>
            <p:cNvPr id="102" name="Rectangle 176">
              <a:extLst>
                <a:ext uri="{FF2B5EF4-FFF2-40B4-BE49-F238E27FC236}">
                  <a16:creationId xmlns:a16="http://schemas.microsoft.com/office/drawing/2014/main" id="{505DF009-9F38-432F-ABB8-150D2EEEC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693" y="2190660"/>
              <a:ext cx="318408" cy="2372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H</a:t>
              </a:r>
              <a:r>
                <a:rPr lang="en-US" altLang="ko-KR" sz="1400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</a:t>
              </a:r>
            </a:p>
          </p:txBody>
        </p:sp>
        <p:sp>
          <p:nvSpPr>
            <p:cNvPr id="104" name="Rectangle 176">
              <a:extLst>
                <a:ext uri="{FF2B5EF4-FFF2-40B4-BE49-F238E27FC236}">
                  <a16:creationId xmlns:a16="http://schemas.microsoft.com/office/drawing/2014/main" id="{B6030A4A-E2E4-49B0-93F9-A55105C2F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594" y="2190660"/>
              <a:ext cx="318408" cy="2372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H</a:t>
              </a:r>
              <a:r>
                <a:rPr lang="en-US" altLang="ko-KR" sz="1400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</a:t>
              </a: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92398236-AFB9-4F60-A4BB-E45FADE2FBFF}"/>
              </a:ext>
            </a:extLst>
          </p:cNvPr>
          <p:cNvGrpSpPr/>
          <p:nvPr/>
        </p:nvGrpSpPr>
        <p:grpSpPr>
          <a:xfrm>
            <a:off x="2140632" y="2481175"/>
            <a:ext cx="1310953" cy="237267"/>
            <a:chOff x="2140632" y="2481175"/>
            <a:chExt cx="1310953" cy="237267"/>
          </a:xfrm>
        </p:grpSpPr>
        <p:sp>
          <p:nvSpPr>
            <p:cNvPr id="100" name="Rectangle 176">
              <a:extLst>
                <a:ext uri="{FF2B5EF4-FFF2-40B4-BE49-F238E27FC236}">
                  <a16:creationId xmlns:a16="http://schemas.microsoft.com/office/drawing/2014/main" id="{BE0576C0-E172-479F-868A-0377EA5E1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3633" y="2481175"/>
              <a:ext cx="357952" cy="2372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M</a:t>
              </a:r>
            </a:p>
          </p:txBody>
        </p:sp>
        <p:sp>
          <p:nvSpPr>
            <p:cNvPr id="103" name="Rectangle 176">
              <a:extLst>
                <a:ext uri="{FF2B5EF4-FFF2-40B4-BE49-F238E27FC236}">
                  <a16:creationId xmlns:a16="http://schemas.microsoft.com/office/drawing/2014/main" id="{F8D15E8C-789F-4BAD-BECA-0281C70A7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693" y="2481175"/>
              <a:ext cx="318408" cy="2372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H</a:t>
              </a:r>
              <a:r>
                <a:rPr lang="en-US" altLang="ko-KR" sz="1400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</a:t>
              </a:r>
            </a:p>
          </p:txBody>
        </p:sp>
        <p:sp>
          <p:nvSpPr>
            <p:cNvPr id="105" name="Rectangle 176">
              <a:extLst>
                <a:ext uri="{FF2B5EF4-FFF2-40B4-BE49-F238E27FC236}">
                  <a16:creationId xmlns:a16="http://schemas.microsoft.com/office/drawing/2014/main" id="{054D400B-6F04-4F3E-A415-D3C162E54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594" y="2481175"/>
              <a:ext cx="318408" cy="2372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H</a:t>
              </a:r>
              <a:r>
                <a:rPr lang="en-US" altLang="ko-KR" sz="1400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</a:t>
              </a:r>
            </a:p>
          </p:txBody>
        </p:sp>
        <p:sp>
          <p:nvSpPr>
            <p:cNvPr id="106" name="Rectangle 176">
              <a:extLst>
                <a:ext uri="{FF2B5EF4-FFF2-40B4-BE49-F238E27FC236}">
                  <a16:creationId xmlns:a16="http://schemas.microsoft.com/office/drawing/2014/main" id="{30A8A15C-A350-401B-8C2B-2EA493035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0632" y="2481175"/>
              <a:ext cx="318408" cy="2372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H</a:t>
              </a:r>
              <a:r>
                <a:rPr lang="en-US" altLang="ko-KR" sz="1400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I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3F4961A-EED8-4410-8DC9-A11E52466E18}"/>
              </a:ext>
            </a:extLst>
          </p:cNvPr>
          <p:cNvGrpSpPr/>
          <p:nvPr/>
        </p:nvGrpSpPr>
        <p:grpSpPr>
          <a:xfrm>
            <a:off x="5026258" y="1838860"/>
            <a:ext cx="752251" cy="895299"/>
            <a:chOff x="3182618" y="4520968"/>
            <a:chExt cx="878294" cy="1045313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F4B2EB5-9A94-4198-B4A7-C2BBC1511B0D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9EC4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6B8B7F49-BFF1-42B5-B1C3-BE75B7858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D2AA0DF9-16E6-458D-B3C6-DD02946367C3}"/>
              </a:ext>
            </a:extLst>
          </p:cNvPr>
          <p:cNvGrpSpPr/>
          <p:nvPr/>
        </p:nvGrpSpPr>
        <p:grpSpPr>
          <a:xfrm>
            <a:off x="7248128" y="4972188"/>
            <a:ext cx="998991" cy="237267"/>
            <a:chOff x="2452594" y="2190660"/>
            <a:chExt cx="998991" cy="237267"/>
          </a:xfrm>
        </p:grpSpPr>
        <p:sp>
          <p:nvSpPr>
            <p:cNvPr id="133" name="Rectangle 176">
              <a:extLst>
                <a:ext uri="{FF2B5EF4-FFF2-40B4-BE49-F238E27FC236}">
                  <a16:creationId xmlns:a16="http://schemas.microsoft.com/office/drawing/2014/main" id="{04F78E7F-4E6B-47F2-B19A-4820A0168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3633" y="2190660"/>
              <a:ext cx="357952" cy="2372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M</a:t>
              </a:r>
            </a:p>
          </p:txBody>
        </p:sp>
        <p:sp>
          <p:nvSpPr>
            <p:cNvPr id="134" name="Rectangle 176">
              <a:extLst>
                <a:ext uri="{FF2B5EF4-FFF2-40B4-BE49-F238E27FC236}">
                  <a16:creationId xmlns:a16="http://schemas.microsoft.com/office/drawing/2014/main" id="{0441AA76-DCDF-438B-897A-40461B27A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693" y="2190660"/>
              <a:ext cx="318408" cy="2372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H</a:t>
              </a:r>
              <a:r>
                <a:rPr lang="en-US" altLang="ko-KR" sz="1400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</a:t>
              </a:r>
            </a:p>
          </p:txBody>
        </p:sp>
        <p:sp>
          <p:nvSpPr>
            <p:cNvPr id="135" name="Rectangle 176">
              <a:extLst>
                <a:ext uri="{FF2B5EF4-FFF2-40B4-BE49-F238E27FC236}">
                  <a16:creationId xmlns:a16="http://schemas.microsoft.com/office/drawing/2014/main" id="{2305F036-94C2-4F1E-96F5-553AA9A18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594" y="2190660"/>
              <a:ext cx="318408" cy="2372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lvl="2" algn="ctr">
                <a:spcBef>
                  <a:spcPts val="1000"/>
                </a:spcBef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H</a:t>
              </a:r>
              <a:r>
                <a:rPr lang="en-US" altLang="ko-KR" sz="1400" baseline="-250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3909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1.85185E-6 L 6.25E-7 0.0419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8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1.85185E-6 L 6.25E-7 0.0419 " pathEditMode="relative" rAng="0" ptsTypes="AA">
                                      <p:cBhvr>
                                        <p:cTn id="23" dur="12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83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1.85185E-6 L 6.25E-7 0.0419 " pathEditMode="relative" rAng="0" ptsTypes="AA">
                                      <p:cBhvr>
                                        <p:cTn id="39" dur="125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83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0" presetClass="path" presetSubtype="0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2.70833E-6 -2.22222E-6 L 2.70833E-6 0.13172 L 0.23763 0.13172 L 0.23763 0.09375 L 0.33724 0.0956 L 0.33724 0.50162 L 0.39271 0.4588 L 0.39271 0.36366 " pathEditMode="relative" rAng="0" ptsTypes="AAAAAAAA">
                                      <p:cBhvr>
                                        <p:cTn id="56" dur="3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35" y="25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11111E-6 L 3.33333E-6 -0.05231 " pathEditMode="relative" rAng="0" ptsTypes="AA">
                                      <p:cBhvr>
                                        <p:cTn id="66" dur="125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6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5" grpId="0" animBg="1"/>
      <p:bldP spid="45" grpId="1" animBg="1"/>
      <p:bldP spid="95" grpId="0"/>
      <p:bldP spid="95" grpId="1"/>
      <p:bldP spid="97" grpId="0"/>
      <p:bldP spid="97" grpId="1"/>
      <p:bldP spid="99" grpId="0"/>
      <p:bldP spid="99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AEEC58C-9F94-42E1-8052-AF2CA478EF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z="18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Abadi" panose="020B0604020104020204" pitchFamily="34" charset="0"/>
                <a:cs typeface="Microsoft GothicNeo" panose="020B0503020000020004" pitchFamily="34" charset="-127"/>
              </a:rPr>
              <a:t>Chapter 1.</a:t>
            </a:r>
            <a:r>
              <a:rPr lang="ko-KR" altLang="en-US" sz="18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Abadi" panose="020B0604020104020204" pitchFamily="34" charset="0"/>
                <a:cs typeface="Microsoft GothicNeo" panose="020B0503020000020004" pitchFamily="34" charset="-127"/>
              </a:rPr>
              <a:t> </a:t>
            </a:r>
            <a:r>
              <a:rPr lang="ko-KR" altLang="en-US" sz="1800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latin typeface="Abadi" panose="020B0604020104020204" pitchFamily="34" charset="0"/>
                <a:cs typeface="+mj-cs"/>
              </a:rPr>
              <a:t>컴퓨터 네트워크</a:t>
            </a:r>
            <a:r>
              <a:rPr lang="ko-KR" altLang="en-US" sz="1800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latin typeface="Abadi" panose="020B0604020104020204" pitchFamily="34" charset="0"/>
                <a:ea typeface="G마켓 산스 TTF Medium" panose="02000000000000000000" pitchFamily="2" charset="-127"/>
                <a:cs typeface="+mj-cs"/>
              </a:rPr>
              <a:t>와</a:t>
            </a:r>
            <a:r>
              <a:rPr lang="ko-KR" altLang="en-US" sz="1800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latin typeface="Abadi" panose="020B0604020104020204" pitchFamily="34" charset="0"/>
                <a:cs typeface="+mj-cs"/>
              </a:rPr>
              <a:t> 인터넷</a:t>
            </a:r>
            <a:endParaRPr lang="ko-KR" altLang="en-US" sz="1800" spc="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1"/>
              </a:solidFill>
              <a:effectLst/>
              <a:latin typeface="Abadi" panose="020B0604020104020204" pitchFamily="34" charset="0"/>
              <a:cs typeface="+mj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28B103-30FD-425C-B735-DDDCE8B382D1}"/>
              </a:ext>
            </a:extLst>
          </p:cNvPr>
          <p:cNvSpPr txBox="1"/>
          <p:nvPr/>
        </p:nvSpPr>
        <p:spPr>
          <a:xfrm>
            <a:off x="1419224" y="1825636"/>
            <a:ext cx="6929719" cy="4086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인터넷이란 무엇인가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?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네트워크의 가장자리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(Edge)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네트워크 코어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(Core)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네트워크에서의 지연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,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손실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,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처리율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프로토콜 계층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,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서비스 모델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공격받는 네트워크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: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보안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역사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1A9A8D-C9B7-4837-B79D-248DF409E2FE}"/>
              </a:ext>
            </a:extLst>
          </p:cNvPr>
          <p:cNvSpPr txBox="1"/>
          <p:nvPr/>
        </p:nvSpPr>
        <p:spPr>
          <a:xfrm>
            <a:off x="860603" y="1825636"/>
            <a:ext cx="582259" cy="4109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1.1.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1.2.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1.3.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1.4.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1.5.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1.6.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1.7.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A80A899D-985A-4758-B577-39015E56667C}"/>
              </a:ext>
            </a:extLst>
          </p:cNvPr>
          <p:cNvSpPr txBox="1">
            <a:spLocks noChangeArrowheads="1"/>
          </p:cNvSpPr>
          <p:nvPr/>
        </p:nvSpPr>
        <p:spPr>
          <a:xfrm>
            <a:off x="1680377" y="2670279"/>
            <a:ext cx="5152947" cy="401841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종단 시스템</a:t>
            </a:r>
            <a:r>
              <a:rPr lang="en-US" altLang="ko-KR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접속 네트워크</a:t>
            </a:r>
            <a:r>
              <a:rPr lang="en-US" altLang="ko-KR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링크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22FAC055-714F-4858-AF5C-C1B62DF0F037}"/>
              </a:ext>
            </a:extLst>
          </p:cNvPr>
          <p:cNvSpPr txBox="1">
            <a:spLocks noChangeArrowheads="1"/>
          </p:cNvSpPr>
          <p:nvPr/>
        </p:nvSpPr>
        <p:spPr>
          <a:xfrm>
            <a:off x="1680377" y="3591122"/>
            <a:ext cx="6929719" cy="40184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패킷 교환</a:t>
            </a:r>
            <a:r>
              <a:rPr lang="en-US" altLang="ko-KR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회선 교환</a:t>
            </a:r>
            <a:r>
              <a:rPr lang="en-US" altLang="ko-KR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 구조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4D45FBB-6FF9-405C-8B5C-072FBCA9F484}"/>
              </a:ext>
            </a:extLst>
          </p:cNvPr>
          <p:cNvGrpSpPr/>
          <p:nvPr/>
        </p:nvGrpSpPr>
        <p:grpSpPr>
          <a:xfrm>
            <a:off x="1518597" y="2811457"/>
            <a:ext cx="171105" cy="171646"/>
            <a:chOff x="1029671" y="3159333"/>
            <a:chExt cx="387927" cy="389152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7699D63D-E651-43B0-B2B8-7AAF760A6D6C}"/>
                </a:ext>
              </a:extLst>
            </p:cNvPr>
            <p:cNvSpPr/>
            <p:nvPr/>
          </p:nvSpPr>
          <p:spPr>
            <a:xfrm>
              <a:off x="1029671" y="3159333"/>
              <a:ext cx="387927" cy="38915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5" name="그래픽 40">
              <a:extLst>
                <a:ext uri="{FF2B5EF4-FFF2-40B4-BE49-F238E27FC236}">
                  <a16:creationId xmlns:a16="http://schemas.microsoft.com/office/drawing/2014/main" id="{A1670863-E4A5-4D3C-A887-596A7CE21F21}"/>
                </a:ext>
              </a:extLst>
            </p:cNvPr>
            <p:cNvSpPr/>
            <p:nvPr/>
          </p:nvSpPr>
          <p:spPr>
            <a:xfrm>
              <a:off x="1157596" y="3246355"/>
              <a:ext cx="132078" cy="215105"/>
            </a:xfrm>
            <a:custGeom>
              <a:avLst/>
              <a:gdLst>
                <a:gd name="connsiteX0" fmla="*/ 18217 w 334851"/>
                <a:gd name="connsiteY0" fmla="*/ 18217 h 545353"/>
                <a:gd name="connsiteX1" fmla="*/ 18217 w 334851"/>
                <a:gd name="connsiteY1" fmla="*/ 106132 h 545353"/>
                <a:gd name="connsiteX2" fmla="*/ 184809 w 334851"/>
                <a:gd name="connsiteY2" fmla="*/ 272725 h 545353"/>
                <a:gd name="connsiteX3" fmla="*/ 18217 w 334851"/>
                <a:gd name="connsiteY3" fmla="*/ 439222 h 545353"/>
                <a:gd name="connsiteX4" fmla="*/ 18217 w 334851"/>
                <a:gd name="connsiteY4" fmla="*/ 527137 h 545353"/>
                <a:gd name="connsiteX5" fmla="*/ 106132 w 334851"/>
                <a:gd name="connsiteY5" fmla="*/ 527137 h 545353"/>
                <a:gd name="connsiteX6" fmla="*/ 316635 w 334851"/>
                <a:gd name="connsiteY6" fmla="*/ 316635 h 545353"/>
                <a:gd name="connsiteX7" fmla="*/ 316635 w 334851"/>
                <a:gd name="connsiteY7" fmla="*/ 228719 h 545353"/>
                <a:gd name="connsiteX8" fmla="*/ 106132 w 334851"/>
                <a:gd name="connsiteY8" fmla="*/ 18217 h 545353"/>
                <a:gd name="connsiteX9" fmla="*/ 18217 w 334851"/>
                <a:gd name="connsiteY9" fmla="*/ 18217 h 54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51" h="545353">
                  <a:moveTo>
                    <a:pt x="18217" y="18217"/>
                  </a:moveTo>
                  <a:cubicBezTo>
                    <a:pt x="-6072" y="42505"/>
                    <a:pt x="-6072" y="81844"/>
                    <a:pt x="18217" y="106132"/>
                  </a:cubicBezTo>
                  <a:lnTo>
                    <a:pt x="184809" y="272725"/>
                  </a:lnTo>
                  <a:lnTo>
                    <a:pt x="18217" y="439222"/>
                  </a:lnTo>
                  <a:cubicBezTo>
                    <a:pt x="-6072" y="463510"/>
                    <a:pt x="-6072" y="502849"/>
                    <a:pt x="18217" y="527137"/>
                  </a:cubicBezTo>
                  <a:cubicBezTo>
                    <a:pt x="42505" y="551426"/>
                    <a:pt x="81844" y="551426"/>
                    <a:pt x="106132" y="527137"/>
                  </a:cubicBezTo>
                  <a:lnTo>
                    <a:pt x="316635" y="316635"/>
                  </a:lnTo>
                  <a:cubicBezTo>
                    <a:pt x="340924" y="292346"/>
                    <a:pt x="340924" y="253008"/>
                    <a:pt x="316635" y="228719"/>
                  </a:cubicBezTo>
                  <a:lnTo>
                    <a:pt x="106132" y="18217"/>
                  </a:lnTo>
                  <a:cubicBezTo>
                    <a:pt x="81844" y="-6072"/>
                    <a:pt x="42505" y="-6072"/>
                    <a:pt x="18217" y="18217"/>
                  </a:cubicBezTo>
                  <a:close/>
                </a:path>
              </a:pathLst>
            </a:custGeom>
            <a:solidFill>
              <a:srgbClr val="105BA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194ECE7-80E2-4436-BF05-23F0E589A179}"/>
              </a:ext>
            </a:extLst>
          </p:cNvPr>
          <p:cNvGrpSpPr/>
          <p:nvPr/>
        </p:nvGrpSpPr>
        <p:grpSpPr>
          <a:xfrm>
            <a:off x="1518597" y="3744907"/>
            <a:ext cx="171105" cy="171646"/>
            <a:chOff x="1029671" y="3159333"/>
            <a:chExt cx="387927" cy="389152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C2A8E1A2-23F8-4F4D-91D4-A47ABE5CD0B3}"/>
                </a:ext>
              </a:extLst>
            </p:cNvPr>
            <p:cNvSpPr/>
            <p:nvPr/>
          </p:nvSpPr>
          <p:spPr>
            <a:xfrm>
              <a:off x="1029671" y="3159333"/>
              <a:ext cx="387927" cy="38915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8" name="그래픽 40">
              <a:extLst>
                <a:ext uri="{FF2B5EF4-FFF2-40B4-BE49-F238E27FC236}">
                  <a16:creationId xmlns:a16="http://schemas.microsoft.com/office/drawing/2014/main" id="{32346D4A-C53B-41DB-8CA0-031CC781CDB1}"/>
                </a:ext>
              </a:extLst>
            </p:cNvPr>
            <p:cNvSpPr/>
            <p:nvPr/>
          </p:nvSpPr>
          <p:spPr>
            <a:xfrm>
              <a:off x="1157596" y="3246355"/>
              <a:ext cx="132078" cy="215105"/>
            </a:xfrm>
            <a:custGeom>
              <a:avLst/>
              <a:gdLst>
                <a:gd name="connsiteX0" fmla="*/ 18217 w 334851"/>
                <a:gd name="connsiteY0" fmla="*/ 18217 h 545353"/>
                <a:gd name="connsiteX1" fmla="*/ 18217 w 334851"/>
                <a:gd name="connsiteY1" fmla="*/ 106132 h 545353"/>
                <a:gd name="connsiteX2" fmla="*/ 184809 w 334851"/>
                <a:gd name="connsiteY2" fmla="*/ 272725 h 545353"/>
                <a:gd name="connsiteX3" fmla="*/ 18217 w 334851"/>
                <a:gd name="connsiteY3" fmla="*/ 439222 h 545353"/>
                <a:gd name="connsiteX4" fmla="*/ 18217 w 334851"/>
                <a:gd name="connsiteY4" fmla="*/ 527137 h 545353"/>
                <a:gd name="connsiteX5" fmla="*/ 106132 w 334851"/>
                <a:gd name="connsiteY5" fmla="*/ 527137 h 545353"/>
                <a:gd name="connsiteX6" fmla="*/ 316635 w 334851"/>
                <a:gd name="connsiteY6" fmla="*/ 316635 h 545353"/>
                <a:gd name="connsiteX7" fmla="*/ 316635 w 334851"/>
                <a:gd name="connsiteY7" fmla="*/ 228719 h 545353"/>
                <a:gd name="connsiteX8" fmla="*/ 106132 w 334851"/>
                <a:gd name="connsiteY8" fmla="*/ 18217 h 545353"/>
                <a:gd name="connsiteX9" fmla="*/ 18217 w 334851"/>
                <a:gd name="connsiteY9" fmla="*/ 18217 h 54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51" h="545353">
                  <a:moveTo>
                    <a:pt x="18217" y="18217"/>
                  </a:moveTo>
                  <a:cubicBezTo>
                    <a:pt x="-6072" y="42505"/>
                    <a:pt x="-6072" y="81844"/>
                    <a:pt x="18217" y="106132"/>
                  </a:cubicBezTo>
                  <a:lnTo>
                    <a:pt x="184809" y="272725"/>
                  </a:lnTo>
                  <a:lnTo>
                    <a:pt x="18217" y="439222"/>
                  </a:lnTo>
                  <a:cubicBezTo>
                    <a:pt x="-6072" y="463510"/>
                    <a:pt x="-6072" y="502849"/>
                    <a:pt x="18217" y="527137"/>
                  </a:cubicBezTo>
                  <a:cubicBezTo>
                    <a:pt x="42505" y="551426"/>
                    <a:pt x="81844" y="551426"/>
                    <a:pt x="106132" y="527137"/>
                  </a:cubicBezTo>
                  <a:lnTo>
                    <a:pt x="316635" y="316635"/>
                  </a:lnTo>
                  <a:cubicBezTo>
                    <a:pt x="340924" y="292346"/>
                    <a:pt x="340924" y="253008"/>
                    <a:pt x="316635" y="228719"/>
                  </a:cubicBezTo>
                  <a:lnTo>
                    <a:pt x="106132" y="18217"/>
                  </a:lnTo>
                  <a:cubicBezTo>
                    <a:pt x="81844" y="-6072"/>
                    <a:pt x="42505" y="-6072"/>
                    <a:pt x="18217" y="18217"/>
                  </a:cubicBezTo>
                  <a:close/>
                </a:path>
              </a:pathLst>
            </a:custGeom>
            <a:solidFill>
              <a:srgbClr val="105BA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26" name="사각형: 잘린 한쪽 모서리 25">
            <a:extLst>
              <a:ext uri="{FF2B5EF4-FFF2-40B4-BE49-F238E27FC236}">
                <a16:creationId xmlns:a16="http://schemas.microsoft.com/office/drawing/2014/main" id="{962E8B3B-0CE6-43DE-AF1A-4F74B424AACC}"/>
              </a:ext>
            </a:extLst>
          </p:cNvPr>
          <p:cNvSpPr/>
          <p:nvPr/>
        </p:nvSpPr>
        <p:spPr>
          <a:xfrm>
            <a:off x="923792" y="1143310"/>
            <a:ext cx="1757495" cy="391715"/>
          </a:xfrm>
          <a:prstGeom prst="snip1Rect">
            <a:avLst>
              <a:gd name="adj" fmla="val 37888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7" name="텍스트 개체 틀 19">
            <a:extLst>
              <a:ext uri="{FF2B5EF4-FFF2-40B4-BE49-F238E27FC236}">
                <a16:creationId xmlns:a16="http://schemas.microsoft.com/office/drawing/2014/main" id="{2671EB29-68DC-4434-9271-7EEC353694AC}"/>
              </a:ext>
            </a:extLst>
          </p:cNvPr>
          <p:cNvSpPr txBox="1">
            <a:spLocks/>
          </p:cNvSpPr>
          <p:nvPr/>
        </p:nvSpPr>
        <p:spPr>
          <a:xfrm>
            <a:off x="1333506" y="1180731"/>
            <a:ext cx="1390643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defRPr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Roadmap 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8665E39D-8E9A-4E75-BC90-7657B4E63185}"/>
              </a:ext>
            </a:extLst>
          </p:cNvPr>
          <p:cNvSpPr/>
          <p:nvPr/>
        </p:nvSpPr>
        <p:spPr>
          <a:xfrm>
            <a:off x="789517" y="1561257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29" name="그래픽 28">
            <a:extLst>
              <a:ext uri="{FF2B5EF4-FFF2-40B4-BE49-F238E27FC236}">
                <a16:creationId xmlns:a16="http://schemas.microsoft.com/office/drawing/2014/main" id="{A41F04B1-164D-45BC-96BB-B0B4B0EF17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668982" y="1083045"/>
            <a:ext cx="558670" cy="502804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8020CA77-C53A-4070-AB35-B0187C3B0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64" y="1145567"/>
            <a:ext cx="275112" cy="364836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5470371-1B3F-6C45-B86B-A12090979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4857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CF4648C-783C-4855-B50A-2E1F0D3C08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 dirty="0"/>
              <a:t>네트워크 보안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08D3F4C-894F-4F73-9E41-EE5FFD6F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27</a:t>
            </a:fld>
            <a:endParaRPr lang="en-US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CC889FE-F8DA-4D71-89F9-3E39CDD337E4}"/>
              </a:ext>
            </a:extLst>
          </p:cNvPr>
          <p:cNvGrpSpPr/>
          <p:nvPr/>
        </p:nvGrpSpPr>
        <p:grpSpPr>
          <a:xfrm>
            <a:off x="673656" y="1078722"/>
            <a:ext cx="7340044" cy="1461647"/>
            <a:chOff x="673656" y="1078722"/>
            <a:chExt cx="7340044" cy="146164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59B7D54-DB99-4828-9D90-D4D70A68128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1078722"/>
              <a:ext cx="73400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네트워크 보안의 분야</a:t>
              </a:r>
              <a:endPara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endParaRPr>
            </a:p>
          </p:txBody>
        </p:sp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2102C7FC-2866-4BC6-B21E-F153D373595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1482194"/>
              <a:ext cx="6503592" cy="1058175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악당들은 컴퓨터 네트워크를 어떻게 공격하는가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?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우리는 공격을 어떻게 방어할 것인가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?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공격하기 어려운 시스템을 어떻게 설계할 것인가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?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B5EADDE-119E-4C6A-9466-9121E7A3C950}"/>
              </a:ext>
            </a:extLst>
          </p:cNvPr>
          <p:cNvGrpSpPr/>
          <p:nvPr/>
        </p:nvGrpSpPr>
        <p:grpSpPr>
          <a:xfrm>
            <a:off x="673656" y="2852936"/>
            <a:ext cx="7340044" cy="1553980"/>
            <a:chOff x="673656" y="3861048"/>
            <a:chExt cx="7340044" cy="1553980"/>
          </a:xfrm>
        </p:grpSpPr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3CFE6C25-1008-4F3E-81FB-8BBE101E7AB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6" y="3861048"/>
              <a:ext cx="7340044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인터넷은 원래 보안을 별로 염두에 두지 않고 설계되었음</a:t>
              </a:r>
            </a:p>
          </p:txBody>
        </p: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F66E07C9-C073-4425-8D28-4D871471D47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4264520"/>
              <a:ext cx="6945552" cy="1150508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original vision: “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상호 신뢰하는 일군의 사용자들이 접속된 투명한 네트워크” </a:t>
              </a:r>
              <a:r>
                <a:rPr lang="en-US" altLang="ja-JP" sz="2000" dirty="0">
                  <a:latin typeface="Arial" panose="020B0604020202020204" pitchFamily="34" charset="0"/>
                  <a:ea typeface="ＭＳ Ｐゴシック" pitchFamily="34" charset="-128"/>
                  <a:cs typeface="Arial" panose="020B0604020202020204" pitchFamily="34" charset="0"/>
                  <a:sym typeface="Wingdings" pitchFamily="2" charset="2"/>
                </a:rPr>
                <a:t></a:t>
              </a: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프로토콜 설계자들은 보안 문제를 따라잡아야 함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모든 계층에서 보안이 고려되어야 함</a:t>
              </a:r>
              <a:r>
                <a:rPr lang="en-US" altLang="ko-KR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76814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97A51A5-6A50-428D-B2CD-427D8F4B0FE2}"/>
              </a:ext>
            </a:extLst>
          </p:cNvPr>
          <p:cNvSpPr/>
          <p:nvPr/>
        </p:nvSpPr>
        <p:spPr>
          <a:xfrm>
            <a:off x="1438275" y="3139997"/>
            <a:ext cx="6219825" cy="1000125"/>
          </a:xfrm>
          <a:prstGeom prst="roundRect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583"/>
            <a:endParaRPr lang="ko-KR" altLang="en-US" dirty="0">
              <a:solidFill>
                <a:prstClr val="white"/>
              </a:solidFill>
              <a:latin typeface="Abadi" panose="020B0604020104020204" pitchFamily="34" charset="0"/>
              <a:ea typeface="G마켓 산스 TTF Medium" panose="02000000000000000000" pitchFamily="2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47415F6-AFDB-4188-863E-4AFD5EC69A80}"/>
              </a:ext>
            </a:extLst>
          </p:cNvPr>
          <p:cNvSpPr/>
          <p:nvPr/>
        </p:nvSpPr>
        <p:spPr>
          <a:xfrm>
            <a:off x="1438275" y="1743931"/>
            <a:ext cx="6219825" cy="1000125"/>
          </a:xfrm>
          <a:prstGeom prst="roundRect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914583"/>
            <a:endParaRPr lang="ko-KR" altLang="en-US" dirty="0">
              <a:solidFill>
                <a:prstClr val="white"/>
              </a:solidFill>
              <a:latin typeface="Abadi" panose="020B0604020104020204" pitchFamily="34" charset="0"/>
              <a:ea typeface="G마켓 산스 TTF Medium" panose="020000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CF4648C-783C-4855-B50A-2E1F0D3C08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악당들</a:t>
            </a:r>
            <a:r>
              <a:rPr lang="ko-KR" altLang="en-US" dirty="0">
                <a:solidFill>
                  <a:srgbClr val="FFFFFF"/>
                </a:solidFill>
              </a:rPr>
              <a:t> </a:t>
            </a:r>
            <a:r>
              <a:rPr lang="en-US" altLang="ko-KR" dirty="0">
                <a:solidFill>
                  <a:srgbClr val="FFFFFF"/>
                </a:solidFill>
                <a:latin typeface="Abadi" panose="020B0604020104020204" pitchFamily="34" charset="0"/>
                <a:ea typeface="G마켓 산스 TTF Medium" panose="02000000000000000000" pitchFamily="2" charset="-127"/>
              </a:rPr>
              <a:t>: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rgbClr val="FFFFFF"/>
                </a:solidFill>
              </a:rPr>
              <a:t>인터넷을 통해 </a:t>
            </a:r>
            <a:r>
              <a:rPr lang="en-US" altLang="ko-KR" dirty="0">
                <a:solidFill>
                  <a:srgbClr val="FFFFFF"/>
                </a:solidFill>
              </a:rPr>
              <a:t>malware</a:t>
            </a:r>
            <a:r>
              <a:rPr lang="ko-KR" altLang="en-US" dirty="0">
                <a:solidFill>
                  <a:srgbClr val="FFFFFF"/>
                </a:solidFill>
              </a:rPr>
              <a:t>를 침투시킴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08D3F4C-894F-4F73-9E41-EE5FFD6F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28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9B7D54-DB99-4828-9D90-D4D70A681283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78722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Malware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는 다음 형태로 컴퓨터에 침투한다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.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3CFE6C25-1008-4F3E-81FB-8BBE101E7ABB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4581128"/>
            <a:ext cx="7340044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spyware malware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키보드 입력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방문한 웹사이트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업로드 정보 등을 </a:t>
            </a:r>
            <a:b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수집해서 특정 사이트로 전송할 수 있다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감염된 호스트들로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botnet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이 구성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되어 스팸이나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DDoS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공격에 사용된다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8560BE6-58FE-4AEF-8CE6-78D43535859D}"/>
              </a:ext>
            </a:extLst>
          </p:cNvPr>
          <p:cNvSpPr/>
          <p:nvPr/>
        </p:nvSpPr>
        <p:spPr>
          <a:xfrm>
            <a:off x="929289" y="1676400"/>
            <a:ext cx="1134264" cy="1135187"/>
          </a:xfrm>
          <a:prstGeom prst="ellipse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Clr>
                <a:srgbClr val="000000"/>
              </a:buClr>
              <a:buFont typeface="Arial"/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Abadi" panose="020B0604020104020204" pitchFamily="34" charset="0"/>
                <a:ea typeface="+mj-ea"/>
                <a:cs typeface="+mj-cs"/>
              </a:rPr>
              <a:t>virus</a:t>
            </a:r>
            <a:endParaRPr lang="ko-KR" altLang="en-US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Abadi" panose="020B0604020104020204" pitchFamily="34" charset="0"/>
              <a:ea typeface="+mj-ea"/>
              <a:cs typeface="+mj-cs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B28FAE9-7F36-435A-BCC6-6D2346F563A3}"/>
              </a:ext>
            </a:extLst>
          </p:cNvPr>
          <p:cNvSpPr/>
          <p:nvPr/>
        </p:nvSpPr>
        <p:spPr>
          <a:xfrm>
            <a:off x="929289" y="3072466"/>
            <a:ext cx="1134264" cy="1135187"/>
          </a:xfrm>
          <a:prstGeom prst="ellips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buClr>
                <a:srgbClr val="000000"/>
              </a:buClr>
              <a:buFont typeface="Arial"/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worm</a:t>
            </a:r>
            <a:endParaRPr lang="ko-KR" altLang="en-US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+mj-ea"/>
              <a:cs typeface="+mj-cs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C2069807-5C6B-4560-AB93-4790F6D4E517}"/>
              </a:ext>
            </a:extLst>
          </p:cNvPr>
          <p:cNvSpPr txBox="1">
            <a:spLocks noChangeArrowheads="1"/>
          </p:cNvSpPr>
          <p:nvPr/>
        </p:nvSpPr>
        <p:spPr>
          <a:xfrm>
            <a:off x="2135560" y="1960926"/>
            <a:ext cx="5231051" cy="62728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특정 오브젝트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예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첨부문서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 기생하며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b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오브젝트를 수신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/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실행할 때 자기복제를 통해 감염</a:t>
            </a:r>
            <a:endParaRPr lang="ko-KR" altLang="en-US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8910070A-B627-40C4-AA98-5724DC32065D}"/>
              </a:ext>
            </a:extLst>
          </p:cNvPr>
          <p:cNvSpPr txBox="1">
            <a:spLocks noChangeArrowheads="1"/>
          </p:cNvSpPr>
          <p:nvPr/>
        </p:nvSpPr>
        <p:spPr>
          <a:xfrm>
            <a:off x="2135560" y="3356992"/>
            <a:ext cx="5231051" cy="62728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네트워크를 통해 독립적으로 실행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전파되고 오브젝트가 실행될 때 자기복제를 통해 감염</a:t>
            </a:r>
          </a:p>
        </p:txBody>
      </p:sp>
    </p:spTree>
    <p:extLst>
      <p:ext uri="{BB962C8B-B14F-4D97-AF65-F5344CB8AC3E}">
        <p14:creationId xmlns:p14="http://schemas.microsoft.com/office/powerpoint/2010/main" val="4159586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69CFFACC-CBB2-4E39-9C74-B26B54B4F0FC}"/>
              </a:ext>
            </a:extLst>
          </p:cNvPr>
          <p:cNvGrpSpPr/>
          <p:nvPr/>
        </p:nvGrpSpPr>
        <p:grpSpPr>
          <a:xfrm>
            <a:off x="4281795" y="3209933"/>
            <a:ext cx="3008162" cy="2688754"/>
            <a:chOff x="9360759" y="3671740"/>
            <a:chExt cx="3008162" cy="2688754"/>
          </a:xfrm>
        </p:grpSpPr>
        <p:sp>
          <p:nvSpPr>
            <p:cNvPr id="62" name="Line 68">
              <a:extLst>
                <a:ext uri="{FF2B5EF4-FFF2-40B4-BE49-F238E27FC236}">
                  <a16:creationId xmlns:a16="http://schemas.microsoft.com/office/drawing/2014/main" id="{2EB5F025-C76A-4873-867F-8B485ADB00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82961" y="4005116"/>
              <a:ext cx="648840" cy="493513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63" name="Line 68">
              <a:extLst>
                <a:ext uri="{FF2B5EF4-FFF2-40B4-BE49-F238E27FC236}">
                  <a16:creationId xmlns:a16="http://schemas.microsoft.com/office/drawing/2014/main" id="{BB805D50-06BF-41BF-8FBF-7DB9E0E12D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97337" y="3671740"/>
              <a:ext cx="178494" cy="656009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64" name="Line 68">
              <a:extLst>
                <a:ext uri="{FF2B5EF4-FFF2-40B4-BE49-F238E27FC236}">
                  <a16:creationId xmlns:a16="http://schemas.microsoft.com/office/drawing/2014/main" id="{0432BEF4-6A54-4C1F-B18B-F7B3816088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20999" y="3757467"/>
              <a:ext cx="414536" cy="58095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65" name="Line 68">
              <a:extLst>
                <a:ext uri="{FF2B5EF4-FFF2-40B4-BE49-F238E27FC236}">
                  <a16:creationId xmlns:a16="http://schemas.microsoft.com/office/drawing/2014/main" id="{DCD12203-361B-44ED-81F5-F491EAE445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51309" y="4427390"/>
              <a:ext cx="617612" cy="289297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66" name="Line 68">
              <a:extLst>
                <a:ext uri="{FF2B5EF4-FFF2-40B4-BE49-F238E27FC236}">
                  <a16:creationId xmlns:a16="http://schemas.microsoft.com/office/drawing/2014/main" id="{377DDCF1-E51C-4506-8C8E-4D33E79952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748208" y="5171928"/>
              <a:ext cx="495301" cy="492125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67" name="Line 68">
              <a:extLst>
                <a:ext uri="{FF2B5EF4-FFF2-40B4-BE49-F238E27FC236}">
                  <a16:creationId xmlns:a16="http://schemas.microsoft.com/office/drawing/2014/main" id="{DC0573E2-254B-4D7C-819A-B2E8FA7EB1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71785" y="5664053"/>
              <a:ext cx="276349" cy="696441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68" name="Line 68">
              <a:extLst>
                <a:ext uri="{FF2B5EF4-FFF2-40B4-BE49-F238E27FC236}">
                  <a16:creationId xmlns:a16="http://schemas.microsoft.com/office/drawing/2014/main" id="{062EA797-9D34-48E4-8AAB-730F654D56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60759" y="5201247"/>
              <a:ext cx="1640954" cy="504056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69" name="Line 68">
              <a:extLst>
                <a:ext uri="{FF2B5EF4-FFF2-40B4-BE49-F238E27FC236}">
                  <a16:creationId xmlns:a16="http://schemas.microsoft.com/office/drawing/2014/main" id="{657C985A-1965-4E39-9BE2-AC85841868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90885" y="5276703"/>
              <a:ext cx="768350" cy="57785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70" name="Line 68">
              <a:extLst>
                <a:ext uri="{FF2B5EF4-FFF2-40B4-BE49-F238E27FC236}">
                  <a16:creationId xmlns:a16="http://schemas.microsoft.com/office/drawing/2014/main" id="{B1B17F68-AA4E-426D-BD46-73C33F51AD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35285" y="5098903"/>
              <a:ext cx="1054100" cy="15875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  <p:sp>
          <p:nvSpPr>
            <p:cNvPr id="95" name="Line 68">
              <a:extLst>
                <a:ext uri="{FF2B5EF4-FFF2-40B4-BE49-F238E27FC236}">
                  <a16:creationId xmlns:a16="http://schemas.microsoft.com/office/drawing/2014/main" id="{2580B1C4-952F-44BC-B5BC-42CAC268A4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43185" y="4622654"/>
              <a:ext cx="1360806" cy="364808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ko-KR" altLang="en-US" dirty="0">
                <a:latin typeface="Abadi" panose="020B0604020104020204" pitchFamily="34" charset="0"/>
              </a:endParaRPr>
            </a:p>
          </p:txBody>
        </p:sp>
      </p:grp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31366B8-AAB5-483E-BC58-4BDE01407A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악당들 </a:t>
            </a:r>
            <a:r>
              <a:rPr lang="en-US" altLang="ko-KR" dirty="0">
                <a:solidFill>
                  <a:srgbClr val="FFFFFF"/>
                </a:solidFill>
                <a:latin typeface="Abadi" panose="020B0604020104020204" pitchFamily="34" charset="0"/>
                <a:ea typeface="G마켓 산스 TTF Medium" panose="02000000000000000000" pitchFamily="2" charset="-127"/>
              </a:rPr>
              <a:t>: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rgbClr val="FFFFFF"/>
                </a:solidFill>
              </a:rPr>
              <a:t>서버나 네트웍 기반구조를 공격함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65E98CC-CBD7-48A3-AA8E-48B2BF20A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29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FC0823-76C5-4EB3-9739-64C88D4190F2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78722"/>
            <a:ext cx="758293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Denial of Service (DoS)</a:t>
            </a:r>
            <a:b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</a:b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가짜 트래픽으로 자원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서버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대역폭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을 낭비하게 하여 정상적인 서비스를 어렵게 만든다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B95C5E3-6122-4C9E-A36F-64D6628E454F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959602"/>
            <a:ext cx="3641031" cy="36497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1.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대상을 선정한다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.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A8E64D7-E483-49EB-86C8-36F9217A29D6}"/>
              </a:ext>
            </a:extLst>
          </p:cNvPr>
          <p:cNvGrpSpPr/>
          <p:nvPr/>
        </p:nvGrpSpPr>
        <p:grpSpPr>
          <a:xfrm>
            <a:off x="5941695" y="3861048"/>
            <a:ext cx="810543" cy="1333019"/>
            <a:chOff x="6075045" y="3861048"/>
            <a:chExt cx="810543" cy="1333019"/>
          </a:xfrm>
        </p:grpSpPr>
        <p:sp>
          <p:nvSpPr>
            <p:cNvPr id="21" name="Text Box 21">
              <a:extLst>
                <a:ext uri="{FF2B5EF4-FFF2-40B4-BE49-F238E27FC236}">
                  <a16:creationId xmlns:a16="http://schemas.microsoft.com/office/drawing/2014/main" id="{39EA967E-D778-451D-BDCD-A103AD6880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5045" y="4855513"/>
              <a:ext cx="810543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target</a:t>
              </a:r>
            </a:p>
          </p:txBody>
        </p:sp>
        <p:pic>
          <p:nvPicPr>
            <p:cNvPr id="7" name="그림 6" descr="텍스트, 실내, 컴퓨터이(가) 표시된 사진&#10;&#10;자동 생성된 설명">
              <a:extLst>
                <a:ext uri="{FF2B5EF4-FFF2-40B4-BE49-F238E27FC236}">
                  <a16:creationId xmlns:a16="http://schemas.microsoft.com/office/drawing/2014/main" id="{CC6BF140-F44D-4A0C-8C36-5106480E97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6995" y="3861048"/>
              <a:ext cx="670827" cy="994851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30281D3-65E3-4CF1-8973-8F9C05A5190B}"/>
              </a:ext>
            </a:extLst>
          </p:cNvPr>
          <p:cNvGrpSpPr/>
          <p:nvPr/>
        </p:nvGrpSpPr>
        <p:grpSpPr>
          <a:xfrm>
            <a:off x="6388810" y="5272963"/>
            <a:ext cx="594467" cy="707512"/>
            <a:chOff x="3182618" y="4520968"/>
            <a:chExt cx="878294" cy="104531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186C1B91-FBA7-4F49-8763-FF43E5B11FE3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4E3ED15E-03DF-4868-ACCB-4AFCA1D33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sp>
        <p:nvSpPr>
          <p:cNvPr id="12" name="타원 11">
            <a:extLst>
              <a:ext uri="{FF2B5EF4-FFF2-40B4-BE49-F238E27FC236}">
                <a16:creationId xmlns:a16="http://schemas.microsoft.com/office/drawing/2014/main" id="{D1964F80-982E-40F7-9254-695943B259CA}"/>
              </a:ext>
            </a:extLst>
          </p:cNvPr>
          <p:cNvSpPr/>
          <p:nvPr/>
        </p:nvSpPr>
        <p:spPr>
          <a:xfrm>
            <a:off x="7090677" y="4996855"/>
            <a:ext cx="594467" cy="594466"/>
          </a:xfrm>
          <a:prstGeom prst="ellipse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A9EB560-0ECB-4F53-9122-A6FB0E7059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3118" y="4883809"/>
            <a:ext cx="549586" cy="629402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5C5F1327-A9B8-4B75-8465-8359CAA5331E}"/>
              </a:ext>
            </a:extLst>
          </p:cNvPr>
          <p:cNvGrpSpPr/>
          <p:nvPr/>
        </p:nvGrpSpPr>
        <p:grpSpPr>
          <a:xfrm>
            <a:off x="7264406" y="4202790"/>
            <a:ext cx="594467" cy="707512"/>
            <a:chOff x="3182618" y="4520968"/>
            <a:chExt cx="878294" cy="104531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048E907-1260-49EE-B9BF-0E03042CD61A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2D86B50-3E7E-49BE-A0C4-D8DCBD6C0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sp>
        <p:nvSpPr>
          <p:cNvPr id="112" name="타원 111">
            <a:extLst>
              <a:ext uri="{FF2B5EF4-FFF2-40B4-BE49-F238E27FC236}">
                <a16:creationId xmlns:a16="http://schemas.microsoft.com/office/drawing/2014/main" id="{2716FC95-5051-4F8B-8ED2-967C477B812D}"/>
              </a:ext>
            </a:extLst>
          </p:cNvPr>
          <p:cNvSpPr/>
          <p:nvPr/>
        </p:nvSpPr>
        <p:spPr>
          <a:xfrm>
            <a:off x="7132372" y="3558221"/>
            <a:ext cx="594467" cy="594466"/>
          </a:xfrm>
          <a:prstGeom prst="ellipse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113" name="그림 112">
            <a:extLst>
              <a:ext uri="{FF2B5EF4-FFF2-40B4-BE49-F238E27FC236}">
                <a16:creationId xmlns:a16="http://schemas.microsoft.com/office/drawing/2014/main" id="{866E25F3-184B-4A3A-AD2D-380232D0BA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813" y="3445175"/>
            <a:ext cx="549586" cy="629402"/>
          </a:xfrm>
          <a:prstGeom prst="rect">
            <a:avLst/>
          </a:prstGeom>
        </p:spPr>
      </p:pic>
      <p:sp>
        <p:nvSpPr>
          <p:cNvPr id="115" name="타원 114">
            <a:extLst>
              <a:ext uri="{FF2B5EF4-FFF2-40B4-BE49-F238E27FC236}">
                <a16:creationId xmlns:a16="http://schemas.microsoft.com/office/drawing/2014/main" id="{ED56F222-B2F3-4DED-BA46-AE1927AA7521}"/>
              </a:ext>
            </a:extLst>
          </p:cNvPr>
          <p:cNvSpPr/>
          <p:nvPr/>
        </p:nvSpPr>
        <p:spPr>
          <a:xfrm>
            <a:off x="6659828" y="2919051"/>
            <a:ext cx="594467" cy="594466"/>
          </a:xfrm>
          <a:prstGeom prst="ellipse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116" name="그림 115">
            <a:extLst>
              <a:ext uri="{FF2B5EF4-FFF2-40B4-BE49-F238E27FC236}">
                <a16:creationId xmlns:a16="http://schemas.microsoft.com/office/drawing/2014/main" id="{FF65984F-D0EF-4CDB-8C9F-45546C1219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269" y="2806005"/>
            <a:ext cx="549586" cy="629402"/>
          </a:xfrm>
          <a:prstGeom prst="rect">
            <a:avLst/>
          </a:prstGeom>
        </p:spPr>
      </p:pic>
      <p:sp>
        <p:nvSpPr>
          <p:cNvPr id="118" name="타원 117">
            <a:extLst>
              <a:ext uri="{FF2B5EF4-FFF2-40B4-BE49-F238E27FC236}">
                <a16:creationId xmlns:a16="http://schemas.microsoft.com/office/drawing/2014/main" id="{FDEE0CBC-5CA4-4C15-A653-5D0BE1AA8EE1}"/>
              </a:ext>
            </a:extLst>
          </p:cNvPr>
          <p:cNvSpPr/>
          <p:nvPr/>
        </p:nvSpPr>
        <p:spPr>
          <a:xfrm>
            <a:off x="5801238" y="2821966"/>
            <a:ext cx="594467" cy="594466"/>
          </a:xfrm>
          <a:prstGeom prst="ellipse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119" name="그림 118">
            <a:extLst>
              <a:ext uri="{FF2B5EF4-FFF2-40B4-BE49-F238E27FC236}">
                <a16:creationId xmlns:a16="http://schemas.microsoft.com/office/drawing/2014/main" id="{A3DBE996-B4A9-4AE2-A7E8-D2C405D841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679" y="2708920"/>
            <a:ext cx="549586" cy="629402"/>
          </a:xfrm>
          <a:prstGeom prst="rect">
            <a:avLst/>
          </a:prstGeom>
        </p:spPr>
      </p:pic>
      <p:sp>
        <p:nvSpPr>
          <p:cNvPr id="121" name="타원 120">
            <a:extLst>
              <a:ext uri="{FF2B5EF4-FFF2-40B4-BE49-F238E27FC236}">
                <a16:creationId xmlns:a16="http://schemas.microsoft.com/office/drawing/2014/main" id="{F37E8589-66A3-4E21-AF2A-D046EBE61FC3}"/>
              </a:ext>
            </a:extLst>
          </p:cNvPr>
          <p:cNvSpPr/>
          <p:nvPr/>
        </p:nvSpPr>
        <p:spPr>
          <a:xfrm>
            <a:off x="5005923" y="3120577"/>
            <a:ext cx="594467" cy="594466"/>
          </a:xfrm>
          <a:prstGeom prst="ellipse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122" name="그림 121">
            <a:extLst>
              <a:ext uri="{FF2B5EF4-FFF2-40B4-BE49-F238E27FC236}">
                <a16:creationId xmlns:a16="http://schemas.microsoft.com/office/drawing/2014/main" id="{320CD359-7DCC-4C40-9BEF-EF92A3A283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364" y="3007531"/>
            <a:ext cx="549586" cy="629402"/>
          </a:xfrm>
          <a:prstGeom prst="rect">
            <a:avLst/>
          </a:prstGeom>
        </p:spPr>
      </p:pic>
      <p:sp>
        <p:nvSpPr>
          <p:cNvPr id="127" name="타원 126">
            <a:extLst>
              <a:ext uri="{FF2B5EF4-FFF2-40B4-BE49-F238E27FC236}">
                <a16:creationId xmlns:a16="http://schemas.microsoft.com/office/drawing/2014/main" id="{CCC74EF9-F563-41F0-84EE-F8CF8DB0C500}"/>
              </a:ext>
            </a:extLst>
          </p:cNvPr>
          <p:cNvSpPr/>
          <p:nvPr/>
        </p:nvSpPr>
        <p:spPr>
          <a:xfrm>
            <a:off x="4561176" y="4413124"/>
            <a:ext cx="594467" cy="594466"/>
          </a:xfrm>
          <a:prstGeom prst="ellipse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128" name="그림 127">
            <a:extLst>
              <a:ext uri="{FF2B5EF4-FFF2-40B4-BE49-F238E27FC236}">
                <a16:creationId xmlns:a16="http://schemas.microsoft.com/office/drawing/2014/main" id="{02C07ABB-5922-467D-B0CD-86DF89C2AE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617" y="4300078"/>
            <a:ext cx="549586" cy="629402"/>
          </a:xfrm>
          <a:prstGeom prst="rect">
            <a:avLst/>
          </a:prstGeom>
        </p:spPr>
      </p:pic>
      <p:sp>
        <p:nvSpPr>
          <p:cNvPr id="130" name="타원 129">
            <a:extLst>
              <a:ext uri="{FF2B5EF4-FFF2-40B4-BE49-F238E27FC236}">
                <a16:creationId xmlns:a16="http://schemas.microsoft.com/office/drawing/2014/main" id="{814BB7E7-B54D-4A6F-9E0C-2AC18D74885F}"/>
              </a:ext>
            </a:extLst>
          </p:cNvPr>
          <p:cNvSpPr/>
          <p:nvPr/>
        </p:nvSpPr>
        <p:spPr>
          <a:xfrm>
            <a:off x="3914902" y="4906516"/>
            <a:ext cx="594467" cy="594466"/>
          </a:xfrm>
          <a:prstGeom prst="ellipse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131" name="그림 130">
            <a:extLst>
              <a:ext uri="{FF2B5EF4-FFF2-40B4-BE49-F238E27FC236}">
                <a16:creationId xmlns:a16="http://schemas.microsoft.com/office/drawing/2014/main" id="{D86EF905-6E5E-444D-8B06-AD6F022BCE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343" y="4793470"/>
            <a:ext cx="549586" cy="629402"/>
          </a:xfrm>
          <a:prstGeom prst="rect">
            <a:avLst/>
          </a:prstGeom>
        </p:spPr>
      </p:pic>
      <p:sp>
        <p:nvSpPr>
          <p:cNvPr id="133" name="타원 132">
            <a:extLst>
              <a:ext uri="{FF2B5EF4-FFF2-40B4-BE49-F238E27FC236}">
                <a16:creationId xmlns:a16="http://schemas.microsoft.com/office/drawing/2014/main" id="{CDB1E55C-A21D-4861-8AE5-0BC433A05171}"/>
              </a:ext>
            </a:extLst>
          </p:cNvPr>
          <p:cNvSpPr/>
          <p:nvPr/>
        </p:nvSpPr>
        <p:spPr>
          <a:xfrm>
            <a:off x="5485416" y="5754316"/>
            <a:ext cx="594467" cy="594466"/>
          </a:xfrm>
          <a:prstGeom prst="ellipse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134" name="그림 133">
            <a:extLst>
              <a:ext uri="{FF2B5EF4-FFF2-40B4-BE49-F238E27FC236}">
                <a16:creationId xmlns:a16="http://schemas.microsoft.com/office/drawing/2014/main" id="{BC9CD0A8-BA74-4ABF-AFFC-433DCAA0EF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857" y="5641270"/>
            <a:ext cx="549586" cy="629402"/>
          </a:xfrm>
          <a:prstGeom prst="rect">
            <a:avLst/>
          </a:prstGeom>
        </p:spPr>
      </p:pic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9B374D60-C49E-4B51-A0D6-94A0200B4D00}"/>
              </a:ext>
            </a:extLst>
          </p:cNvPr>
          <p:cNvGrpSpPr/>
          <p:nvPr/>
        </p:nvGrpSpPr>
        <p:grpSpPr>
          <a:xfrm>
            <a:off x="5165754" y="3792788"/>
            <a:ext cx="594467" cy="707512"/>
            <a:chOff x="3182618" y="4520968"/>
            <a:chExt cx="878294" cy="1045313"/>
          </a:xfrm>
        </p:grpSpPr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03EFC8D8-1A00-439B-8E9A-16847F660AD8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37" name="그림 136">
              <a:extLst>
                <a:ext uri="{FF2B5EF4-FFF2-40B4-BE49-F238E27FC236}">
                  <a16:creationId xmlns:a16="http://schemas.microsoft.com/office/drawing/2014/main" id="{D88EE9D3-1111-4494-93F1-13AB5AB73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sp>
        <p:nvSpPr>
          <p:cNvPr id="139" name="타원 138">
            <a:extLst>
              <a:ext uri="{FF2B5EF4-FFF2-40B4-BE49-F238E27FC236}">
                <a16:creationId xmlns:a16="http://schemas.microsoft.com/office/drawing/2014/main" id="{AC204E15-11E0-4A01-BFA7-2C2BD18A1925}"/>
              </a:ext>
            </a:extLst>
          </p:cNvPr>
          <p:cNvSpPr/>
          <p:nvPr/>
        </p:nvSpPr>
        <p:spPr>
          <a:xfrm>
            <a:off x="4943380" y="5087195"/>
            <a:ext cx="594467" cy="594466"/>
          </a:xfrm>
          <a:prstGeom prst="ellipse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140" name="그림 139">
            <a:extLst>
              <a:ext uri="{FF2B5EF4-FFF2-40B4-BE49-F238E27FC236}">
                <a16:creationId xmlns:a16="http://schemas.microsoft.com/office/drawing/2014/main" id="{C7A93F21-DA00-4115-B6C6-1EC42DB658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821" y="4974149"/>
            <a:ext cx="549586" cy="629402"/>
          </a:xfrm>
          <a:prstGeom prst="rect">
            <a:avLst/>
          </a:prstGeom>
        </p:spPr>
      </p:pic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F20CD832-D82F-465D-99F6-359795C0CAB2}"/>
              </a:ext>
            </a:extLst>
          </p:cNvPr>
          <p:cNvGrpSpPr/>
          <p:nvPr/>
        </p:nvGrpSpPr>
        <p:grpSpPr>
          <a:xfrm>
            <a:off x="4213717" y="3577364"/>
            <a:ext cx="594467" cy="707512"/>
            <a:chOff x="3182618" y="4520968"/>
            <a:chExt cx="878294" cy="1045313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868BA3CD-B7FD-4060-9339-A8ACE7A2A48F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rgbClr val="E1EC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25" name="그림 124">
              <a:extLst>
                <a:ext uri="{FF2B5EF4-FFF2-40B4-BE49-F238E27FC236}">
                  <a16:creationId xmlns:a16="http://schemas.microsoft.com/office/drawing/2014/main" id="{E9E40157-3CFB-42A6-B816-F2147816E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279284CF-0C34-43C3-940F-599C0E98F7C7}"/>
              </a:ext>
            </a:extLst>
          </p:cNvPr>
          <p:cNvGrpSpPr/>
          <p:nvPr/>
        </p:nvGrpSpPr>
        <p:grpSpPr>
          <a:xfrm>
            <a:off x="3918129" y="2581882"/>
            <a:ext cx="3811937" cy="3765997"/>
            <a:chOff x="8897187" y="3058888"/>
            <a:chExt cx="3811937" cy="3765997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52D605B1-0F9B-4A03-ABBB-74EA8110B311}"/>
                </a:ext>
              </a:extLst>
            </p:cNvPr>
            <p:cNvSpPr/>
            <p:nvPr/>
          </p:nvSpPr>
          <p:spPr>
            <a:xfrm>
              <a:off x="12072962" y="5472958"/>
              <a:ext cx="594467" cy="59446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69E70960-CF13-4ECB-A6AC-F4DA4FB1E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95403" y="5359912"/>
              <a:ext cx="549586" cy="629402"/>
            </a:xfrm>
            <a:prstGeom prst="rect">
              <a:avLst/>
            </a:prstGeom>
          </p:spPr>
        </p:pic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8CAB5B9D-4C87-40C3-93FC-2C5852FCA13E}"/>
                </a:ext>
              </a:extLst>
            </p:cNvPr>
            <p:cNvSpPr/>
            <p:nvPr/>
          </p:nvSpPr>
          <p:spPr>
            <a:xfrm>
              <a:off x="12114657" y="4034324"/>
              <a:ext cx="594467" cy="59446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962173EA-CB76-41BD-872A-D58B8D524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37098" y="3921278"/>
              <a:ext cx="549586" cy="629402"/>
            </a:xfrm>
            <a:prstGeom prst="rect">
              <a:avLst/>
            </a:prstGeom>
          </p:spPr>
        </p:pic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4EEF57BC-793C-4154-B21C-202EAF1E9196}"/>
                </a:ext>
              </a:extLst>
            </p:cNvPr>
            <p:cNvSpPr/>
            <p:nvPr/>
          </p:nvSpPr>
          <p:spPr>
            <a:xfrm>
              <a:off x="11642113" y="3395154"/>
              <a:ext cx="594467" cy="59446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69176E68-EFFB-497E-BD90-1F81A1AAB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64554" y="3282108"/>
              <a:ext cx="549586" cy="629402"/>
            </a:xfrm>
            <a:prstGeom prst="rect">
              <a:avLst/>
            </a:prstGeom>
          </p:spPr>
        </p:pic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A3CF80F2-A9BC-4E47-AD71-50192B6C8BBA}"/>
                </a:ext>
              </a:extLst>
            </p:cNvPr>
            <p:cNvSpPr/>
            <p:nvPr/>
          </p:nvSpPr>
          <p:spPr>
            <a:xfrm>
              <a:off x="10783523" y="3298069"/>
              <a:ext cx="594467" cy="59446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212BC7A5-517B-4904-9FD8-CA13CCE7F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5964" y="3185023"/>
              <a:ext cx="549586" cy="629402"/>
            </a:xfrm>
            <a:prstGeom prst="rect">
              <a:avLst/>
            </a:prstGeom>
          </p:spPr>
        </p:pic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89B67E9A-DB17-4757-ABC0-8428976A69D3}"/>
                </a:ext>
              </a:extLst>
            </p:cNvPr>
            <p:cNvSpPr/>
            <p:nvPr/>
          </p:nvSpPr>
          <p:spPr>
            <a:xfrm>
              <a:off x="9988208" y="3596680"/>
              <a:ext cx="594467" cy="59446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pic>
          <p:nvPicPr>
            <p:cNvPr id="84" name="그림 83">
              <a:extLst>
                <a:ext uri="{FF2B5EF4-FFF2-40B4-BE49-F238E27FC236}">
                  <a16:creationId xmlns:a16="http://schemas.microsoft.com/office/drawing/2014/main" id="{0215CBCA-A1E9-46A3-8164-F397F1D1E7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0649" y="3483634"/>
              <a:ext cx="549586" cy="629402"/>
            </a:xfrm>
            <a:prstGeom prst="rect">
              <a:avLst/>
            </a:prstGeom>
          </p:spPr>
        </p:pic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C224FEB6-ABC8-45EA-8701-929322B501C2}"/>
                </a:ext>
              </a:extLst>
            </p:cNvPr>
            <p:cNvSpPr/>
            <p:nvPr/>
          </p:nvSpPr>
          <p:spPr>
            <a:xfrm>
              <a:off x="9543461" y="4889227"/>
              <a:ext cx="594467" cy="59446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AC0464D7-2C76-4CB2-A511-4EC990B9B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65902" y="4776181"/>
              <a:ext cx="549586" cy="629402"/>
            </a:xfrm>
            <a:prstGeom prst="rect">
              <a:avLst/>
            </a:prstGeom>
          </p:spPr>
        </p:pic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24EECB92-7655-4471-8158-2410ACCEBBF3}"/>
                </a:ext>
              </a:extLst>
            </p:cNvPr>
            <p:cNvSpPr/>
            <p:nvPr/>
          </p:nvSpPr>
          <p:spPr>
            <a:xfrm>
              <a:off x="8897187" y="5382619"/>
              <a:ext cx="594467" cy="59446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F9D48AB8-4572-4A27-A053-2D49EBCF7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9628" y="5269573"/>
              <a:ext cx="549586" cy="629402"/>
            </a:xfrm>
            <a:prstGeom prst="rect">
              <a:avLst/>
            </a:prstGeom>
          </p:spPr>
        </p:pic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F2947E56-2026-4553-9906-7ED09ACF3B80}"/>
                </a:ext>
              </a:extLst>
            </p:cNvPr>
            <p:cNvSpPr/>
            <p:nvPr/>
          </p:nvSpPr>
          <p:spPr>
            <a:xfrm>
              <a:off x="10467701" y="6230419"/>
              <a:ext cx="594467" cy="59446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4655B94E-5FA9-49FE-BE00-24DB9624C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90142" y="6117373"/>
              <a:ext cx="549586" cy="629402"/>
            </a:xfrm>
            <a:prstGeom prst="rect">
              <a:avLst/>
            </a:prstGeom>
          </p:spPr>
        </p:pic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05ABE468-DBA5-4963-82D2-D636EE6F50FB}"/>
                </a:ext>
              </a:extLst>
            </p:cNvPr>
            <p:cNvSpPr/>
            <p:nvPr/>
          </p:nvSpPr>
          <p:spPr>
            <a:xfrm>
              <a:off x="9925665" y="5563298"/>
              <a:ext cx="594467" cy="59446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pic>
          <p:nvPicPr>
            <p:cNvPr id="93" name="그림 92">
              <a:extLst>
                <a:ext uri="{FF2B5EF4-FFF2-40B4-BE49-F238E27FC236}">
                  <a16:creationId xmlns:a16="http://schemas.microsoft.com/office/drawing/2014/main" id="{182F21C5-EA46-46A4-8A0D-0CBF622D1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106" y="5450252"/>
              <a:ext cx="549586" cy="629402"/>
            </a:xfrm>
            <a:prstGeom prst="rect">
              <a:avLst/>
            </a:prstGeom>
          </p:spPr>
        </p:pic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F908726D-83C9-46F6-9462-E2CD5656E0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20538" y="5167338"/>
              <a:ext cx="187499" cy="366261"/>
            </a:xfrm>
            <a:prstGeom prst="rect">
              <a:avLst/>
            </a:prstGeom>
          </p:spPr>
        </p:pic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9359D263-4C6A-451E-B8A3-F41A925150ED}"/>
                </a:ext>
              </a:extLst>
            </p:cNvPr>
            <p:cNvGrpSpPr/>
            <p:nvPr/>
          </p:nvGrpSpPr>
          <p:grpSpPr>
            <a:xfrm>
              <a:off x="9196002" y="4053467"/>
              <a:ext cx="594467" cy="707512"/>
              <a:chOff x="3182618" y="4520968"/>
              <a:chExt cx="878294" cy="1045313"/>
            </a:xfrm>
          </p:grpSpPr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78BC0A34-F3AE-49CB-B827-43D5B933B574}"/>
                  </a:ext>
                </a:extLst>
              </p:cNvPr>
              <p:cNvSpPr/>
              <p:nvPr/>
            </p:nvSpPr>
            <p:spPr>
              <a:xfrm>
                <a:off x="3182618" y="4687987"/>
                <a:ext cx="878294" cy="87829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583"/>
                <a:endParaRPr lang="ko-KR" altLang="en-US">
                  <a:solidFill>
                    <a:prstClr val="white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endParaRPr>
              </a:p>
            </p:txBody>
          </p:sp>
          <p:pic>
            <p:nvPicPr>
              <p:cNvPr id="107" name="그림 106">
                <a:extLst>
                  <a:ext uri="{FF2B5EF4-FFF2-40B4-BE49-F238E27FC236}">
                    <a16:creationId xmlns:a16="http://schemas.microsoft.com/office/drawing/2014/main" id="{EB231A1B-1B0A-4C51-8F97-E06D078577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15773" y="4520968"/>
                <a:ext cx="811984" cy="929910"/>
              </a:xfrm>
              <a:prstGeom prst="rect">
                <a:avLst/>
              </a:prstGeom>
            </p:spPr>
          </p:pic>
        </p:grpSp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DFB93C4D-68E7-44C4-B3F0-5DFAF3AB9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48791" y="4678139"/>
              <a:ext cx="187499" cy="366261"/>
            </a:xfrm>
            <a:prstGeom prst="rect">
              <a:avLst/>
            </a:prstGeom>
          </p:spPr>
        </p:pic>
        <p:pic>
          <p:nvPicPr>
            <p:cNvPr id="98" name="그림 97">
              <a:extLst>
                <a:ext uri="{FF2B5EF4-FFF2-40B4-BE49-F238E27FC236}">
                  <a16:creationId xmlns:a16="http://schemas.microsoft.com/office/drawing/2014/main" id="{2E9D8E31-444B-402C-86EC-622D13A6B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20179" y="3939951"/>
              <a:ext cx="187499" cy="366261"/>
            </a:xfrm>
            <a:prstGeom prst="rect">
              <a:avLst/>
            </a:prstGeom>
          </p:spPr>
        </p:pic>
        <p:pic>
          <p:nvPicPr>
            <p:cNvPr id="99" name="그림 98">
              <a:extLst>
                <a:ext uri="{FF2B5EF4-FFF2-40B4-BE49-F238E27FC236}">
                  <a16:creationId xmlns:a16="http://schemas.microsoft.com/office/drawing/2014/main" id="{867AA279-637C-4293-94B0-476B2DCC83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05991" y="3382738"/>
              <a:ext cx="187499" cy="366261"/>
            </a:xfrm>
            <a:prstGeom prst="rect">
              <a:avLst/>
            </a:prstGeom>
          </p:spPr>
        </p:pic>
        <p:pic>
          <p:nvPicPr>
            <p:cNvPr id="100" name="그림 99">
              <a:extLst>
                <a:ext uri="{FF2B5EF4-FFF2-40B4-BE49-F238E27FC236}">
                  <a16:creationId xmlns:a16="http://schemas.microsoft.com/office/drawing/2014/main" id="{92734034-408B-4BAA-9D06-636BC54FA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10854" y="3058888"/>
              <a:ext cx="187499" cy="366261"/>
            </a:xfrm>
            <a:prstGeom prst="rect">
              <a:avLst/>
            </a:prstGeom>
          </p:spPr>
        </p:pic>
        <p:pic>
          <p:nvPicPr>
            <p:cNvPr id="101" name="그림 100">
              <a:extLst>
                <a:ext uri="{FF2B5EF4-FFF2-40B4-BE49-F238E27FC236}">
                  <a16:creationId xmlns:a16="http://schemas.microsoft.com/office/drawing/2014/main" id="{0F42B024-69A4-43DA-A3F4-27ECBBC18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34766" y="3154138"/>
              <a:ext cx="187499" cy="366261"/>
            </a:xfrm>
            <a:prstGeom prst="rect">
              <a:avLst/>
            </a:prstGeom>
          </p:spPr>
        </p:pic>
        <p:pic>
          <p:nvPicPr>
            <p:cNvPr id="102" name="그림 101">
              <a:extLst>
                <a:ext uri="{FF2B5EF4-FFF2-40B4-BE49-F238E27FC236}">
                  <a16:creationId xmlns:a16="http://schemas.microsoft.com/office/drawing/2014/main" id="{B4960AB7-7324-40F1-A53E-0E83F96C99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34828" y="3816125"/>
              <a:ext cx="187499" cy="366261"/>
            </a:xfrm>
            <a:prstGeom prst="rect">
              <a:avLst/>
            </a:prstGeom>
          </p:spPr>
        </p:pic>
        <p:pic>
          <p:nvPicPr>
            <p:cNvPr id="103" name="그림 102">
              <a:extLst>
                <a:ext uri="{FF2B5EF4-FFF2-40B4-BE49-F238E27FC236}">
                  <a16:creationId xmlns:a16="http://schemas.microsoft.com/office/drawing/2014/main" id="{6B058EFC-CECE-4525-AE08-47078529E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82441" y="5249637"/>
              <a:ext cx="187499" cy="366261"/>
            </a:xfrm>
            <a:prstGeom prst="rect">
              <a:avLst/>
            </a:prstGeom>
          </p:spPr>
        </p:pic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580B1FF6-56E2-4249-86BA-508D6E32F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87003" y="6021162"/>
              <a:ext cx="187499" cy="366261"/>
            </a:xfrm>
            <a:prstGeom prst="rect">
              <a:avLst/>
            </a:prstGeom>
          </p:spPr>
        </p:pic>
        <p:pic>
          <p:nvPicPr>
            <p:cNvPr id="105" name="그림 104">
              <a:extLst>
                <a:ext uri="{FF2B5EF4-FFF2-40B4-BE49-F238E27FC236}">
                  <a16:creationId xmlns:a16="http://schemas.microsoft.com/office/drawing/2014/main" id="{F59D61F0-738D-4DD3-818F-DC8247658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44078" y="5335362"/>
              <a:ext cx="187499" cy="366261"/>
            </a:xfrm>
            <a:prstGeom prst="rect">
              <a:avLst/>
            </a:prstGeom>
          </p:spPr>
        </p:pic>
      </p:grpSp>
      <p:sp>
        <p:nvSpPr>
          <p:cNvPr id="120" name="Rectangle 3">
            <a:extLst>
              <a:ext uri="{FF2B5EF4-FFF2-40B4-BE49-F238E27FC236}">
                <a16:creationId xmlns:a16="http://schemas.microsoft.com/office/drawing/2014/main" id="{917B125E-5924-4DE1-973C-D0FDF55C55E7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398699"/>
            <a:ext cx="3641031" cy="65409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2.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네트워크의 호스트들에 침투한다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. </a:t>
            </a:r>
            <a:b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</a:b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    (botnet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참조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)</a:t>
            </a:r>
          </a:p>
        </p:txBody>
      </p:sp>
      <p:sp>
        <p:nvSpPr>
          <p:cNvPr id="126" name="Rectangle 3">
            <a:extLst>
              <a:ext uri="{FF2B5EF4-FFF2-40B4-BE49-F238E27FC236}">
                <a16:creationId xmlns:a16="http://schemas.microsoft.com/office/drawing/2014/main" id="{243CBD76-2602-4E68-AD4F-F75AA2CE69E6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152926"/>
            <a:ext cx="3641031" cy="65409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3.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포섭한 </a:t>
            </a:r>
            <a:r>
              <a:rPr lang="ko-KR" altLang="en-US" sz="1600" dirty="0" err="1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호스트들에서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 </a:t>
            </a:r>
            <a:b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</a:b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    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대상에 패킷을 보낸다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2686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0" grpId="0"/>
      <p:bldP spid="1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245;p4">
            <a:extLst>
              <a:ext uri="{FF2B5EF4-FFF2-40B4-BE49-F238E27FC236}">
                <a16:creationId xmlns:a16="http://schemas.microsoft.com/office/drawing/2014/main" id="{B0F06A76-72EF-4981-8246-86BD38BEB37B}"/>
              </a:ext>
            </a:extLst>
          </p:cNvPr>
          <p:cNvSpPr/>
          <p:nvPr/>
        </p:nvSpPr>
        <p:spPr>
          <a:xfrm>
            <a:off x="1070680" y="2466496"/>
            <a:ext cx="7092245" cy="2960698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68" name="Freeform 43">
            <a:extLst>
              <a:ext uri="{FF2B5EF4-FFF2-40B4-BE49-F238E27FC236}">
                <a16:creationId xmlns:a16="http://schemas.microsoft.com/office/drawing/2014/main" id="{D12DA937-5ADE-43B8-8392-B47EFBED9FD0}"/>
              </a:ext>
            </a:extLst>
          </p:cNvPr>
          <p:cNvSpPr>
            <a:spLocks/>
          </p:cNvSpPr>
          <p:nvPr/>
        </p:nvSpPr>
        <p:spPr bwMode="auto">
          <a:xfrm>
            <a:off x="2049241" y="3573016"/>
            <a:ext cx="5106256" cy="728663"/>
          </a:xfrm>
          <a:custGeom>
            <a:avLst/>
            <a:gdLst>
              <a:gd name="T0" fmla="*/ 2147483647 w 2620"/>
              <a:gd name="T1" fmla="*/ 0 h 459"/>
              <a:gd name="T2" fmla="*/ 0 w 2620"/>
              <a:gd name="T3" fmla="*/ 2147483647 h 459"/>
              <a:gd name="T4" fmla="*/ 2147483647 w 2620"/>
              <a:gd name="T5" fmla="*/ 2147483647 h 459"/>
              <a:gd name="T6" fmla="*/ 2147483647 w 2620"/>
              <a:gd name="T7" fmla="*/ 2147483647 h 459"/>
              <a:gd name="T8" fmla="*/ 0 60000 65536"/>
              <a:gd name="T9" fmla="*/ 0 60000 65536"/>
              <a:gd name="T10" fmla="*/ 0 60000 65536"/>
              <a:gd name="T11" fmla="*/ 0 60000 65536"/>
              <a:gd name="T12" fmla="*/ 0 w 2620"/>
              <a:gd name="T13" fmla="*/ 0 h 459"/>
              <a:gd name="T14" fmla="*/ 2620 w 2620"/>
              <a:gd name="T15" fmla="*/ 459 h 4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20" h="459">
                <a:moveTo>
                  <a:pt x="2" y="0"/>
                </a:moveTo>
                <a:lnTo>
                  <a:pt x="0" y="253"/>
                </a:lnTo>
                <a:lnTo>
                  <a:pt x="2620" y="253"/>
                </a:lnTo>
                <a:lnTo>
                  <a:pt x="2620" y="45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31366B8-AAB5-483E-BC58-4BDE01407A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악당들은 패킷을 </a:t>
            </a:r>
            <a:r>
              <a:rPr lang="ko-KR" altLang="en-US" dirty="0">
                <a:solidFill>
                  <a:schemeClr val="bg1"/>
                </a:solidFill>
              </a:rPr>
              <a:t>“</a:t>
            </a:r>
            <a:r>
              <a:rPr lang="en-US" altLang="ko-KR" dirty="0">
                <a:solidFill>
                  <a:schemeClr val="bg1"/>
                </a:solidFill>
              </a:rPr>
              <a:t>sniff”</a:t>
            </a:r>
            <a:r>
              <a:rPr lang="ko-KR" altLang="en-US" dirty="0"/>
              <a:t>한다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65E98CC-CBD7-48A3-AA8E-48B2BF20A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30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FC0823-76C5-4EB3-9739-64C88D4190F2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78722"/>
            <a:ext cx="758293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packet “sniffing” </a:t>
            </a: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F26BD628-40FA-4671-986F-5D856BBC5BDB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547974"/>
            <a:ext cx="7316136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방송형 매체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공유형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Ethernet,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무선망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 인터페이스는 지나다니는 모든 패킷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패스워드 포함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!)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을 읽고 기록할 수 있다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  <p:pic>
        <p:nvPicPr>
          <p:cNvPr id="60" name="그림 59" descr="텍스트, 실내, 컴퓨터이(가) 표시된 사진&#10;&#10;자동 생성된 설명">
            <a:extLst>
              <a:ext uri="{FF2B5EF4-FFF2-40B4-BE49-F238E27FC236}">
                <a16:creationId xmlns:a16="http://schemas.microsoft.com/office/drawing/2014/main" id="{87262429-139C-491A-A2BD-521F0497C2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942" y="2780928"/>
            <a:ext cx="590952" cy="876392"/>
          </a:xfrm>
          <a:prstGeom prst="rect">
            <a:avLst/>
          </a:prstGeom>
        </p:spPr>
      </p:pic>
      <p:sp>
        <p:nvSpPr>
          <p:cNvPr id="69" name="Freeform 44">
            <a:extLst>
              <a:ext uri="{FF2B5EF4-FFF2-40B4-BE49-F238E27FC236}">
                <a16:creationId xmlns:a16="http://schemas.microsoft.com/office/drawing/2014/main" id="{B516181A-3AD7-412A-A774-F1DBC1328FEF}"/>
              </a:ext>
            </a:extLst>
          </p:cNvPr>
          <p:cNvSpPr>
            <a:spLocks/>
          </p:cNvSpPr>
          <p:nvPr/>
        </p:nvSpPr>
        <p:spPr bwMode="auto">
          <a:xfrm>
            <a:off x="4995227" y="3456091"/>
            <a:ext cx="0" cy="522288"/>
          </a:xfrm>
          <a:custGeom>
            <a:avLst/>
            <a:gdLst>
              <a:gd name="T0" fmla="*/ 0 w 3"/>
              <a:gd name="T1" fmla="*/ 2147483647 h 329"/>
              <a:gd name="T2" fmla="*/ 2147483647 w 3"/>
              <a:gd name="T3" fmla="*/ 0 h 329"/>
              <a:gd name="T4" fmla="*/ 0 60000 65536"/>
              <a:gd name="T5" fmla="*/ 0 60000 65536"/>
              <a:gd name="T6" fmla="*/ 0 w 3"/>
              <a:gd name="T7" fmla="*/ 0 h 329"/>
              <a:gd name="T8" fmla="*/ 3 w 3"/>
              <a:gd name="T9" fmla="*/ 329 h 32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329">
                <a:moveTo>
                  <a:pt x="0" y="329"/>
                </a:moveTo>
                <a:lnTo>
                  <a:pt x="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699A5BE-E579-49A7-A526-CFEDB769C744}"/>
              </a:ext>
            </a:extLst>
          </p:cNvPr>
          <p:cNvGrpSpPr/>
          <p:nvPr/>
        </p:nvGrpSpPr>
        <p:grpSpPr>
          <a:xfrm>
            <a:off x="4589924" y="2572557"/>
            <a:ext cx="815368" cy="1114644"/>
            <a:chOff x="7265722" y="3162404"/>
            <a:chExt cx="594467" cy="812665"/>
          </a:xfrm>
        </p:grpSpPr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BB3DCFFA-EE29-4666-B9E1-9F715C548D13}"/>
                </a:ext>
              </a:extLst>
            </p:cNvPr>
            <p:cNvSpPr/>
            <p:nvPr/>
          </p:nvSpPr>
          <p:spPr>
            <a:xfrm>
              <a:off x="7265722" y="3380603"/>
              <a:ext cx="594467" cy="5944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E12A137F-E6D6-4CAA-A00B-108F2CC72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8163" y="3267557"/>
              <a:ext cx="549586" cy="629402"/>
            </a:xfrm>
            <a:prstGeom prst="rect">
              <a:avLst/>
            </a:prstGeom>
          </p:spPr>
        </p:pic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CA65E880-7CD9-487A-9206-AF0407E00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5893" y="3162404"/>
              <a:ext cx="187499" cy="366261"/>
            </a:xfrm>
            <a:prstGeom prst="rect">
              <a:avLst/>
            </a:prstGeom>
          </p:spPr>
        </p:pic>
      </p:grpSp>
      <p:sp>
        <p:nvSpPr>
          <p:cNvPr id="70" name="Freeform 44">
            <a:extLst>
              <a:ext uri="{FF2B5EF4-FFF2-40B4-BE49-F238E27FC236}">
                <a16:creationId xmlns:a16="http://schemas.microsoft.com/office/drawing/2014/main" id="{E03EA816-CFC3-417F-B51E-26E13C6B2CC8}"/>
              </a:ext>
            </a:extLst>
          </p:cNvPr>
          <p:cNvSpPr>
            <a:spLocks/>
          </p:cNvSpPr>
          <p:nvPr/>
        </p:nvSpPr>
        <p:spPr bwMode="auto">
          <a:xfrm flipH="1">
            <a:off x="3320929" y="3982363"/>
            <a:ext cx="0" cy="1168537"/>
          </a:xfrm>
          <a:custGeom>
            <a:avLst/>
            <a:gdLst>
              <a:gd name="T0" fmla="*/ 0 w 3"/>
              <a:gd name="T1" fmla="*/ 2147483647 h 329"/>
              <a:gd name="T2" fmla="*/ 2147483647 w 3"/>
              <a:gd name="T3" fmla="*/ 0 h 329"/>
              <a:gd name="T4" fmla="*/ 0 60000 65536"/>
              <a:gd name="T5" fmla="*/ 0 60000 65536"/>
              <a:gd name="T6" fmla="*/ 0 w 3"/>
              <a:gd name="T7" fmla="*/ 0 h 329"/>
              <a:gd name="T8" fmla="*/ 3 w 3"/>
              <a:gd name="T9" fmla="*/ 329 h 32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329">
                <a:moveTo>
                  <a:pt x="0" y="329"/>
                </a:moveTo>
                <a:lnTo>
                  <a:pt x="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B87BAC14-7EEF-44EF-AB9E-B1D8E750E3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03429" y="4517190"/>
            <a:ext cx="635001" cy="378215"/>
          </a:xfrm>
          <a:prstGeom prst="rect">
            <a:avLst/>
          </a:prstGeom>
        </p:spPr>
      </p:pic>
      <p:sp>
        <p:nvSpPr>
          <p:cNvPr id="72" name="Freeform 56">
            <a:extLst>
              <a:ext uri="{FF2B5EF4-FFF2-40B4-BE49-F238E27FC236}">
                <a16:creationId xmlns:a16="http://schemas.microsoft.com/office/drawing/2014/main" id="{108E428B-B0F7-4E30-8EF6-39EA13C9B5AA}"/>
              </a:ext>
            </a:extLst>
          </p:cNvPr>
          <p:cNvSpPr>
            <a:spLocks/>
          </p:cNvSpPr>
          <p:nvPr/>
        </p:nvSpPr>
        <p:spPr bwMode="auto">
          <a:xfrm>
            <a:off x="3663037" y="4167188"/>
            <a:ext cx="3318669" cy="241300"/>
          </a:xfrm>
          <a:custGeom>
            <a:avLst/>
            <a:gdLst>
              <a:gd name="T0" fmla="*/ 2147483647 w 1660"/>
              <a:gd name="T1" fmla="*/ 2147483647 h 152"/>
              <a:gd name="T2" fmla="*/ 2147483647 w 1660"/>
              <a:gd name="T3" fmla="*/ 0 h 152"/>
              <a:gd name="T4" fmla="*/ 0 w 1660"/>
              <a:gd name="T5" fmla="*/ 2147483647 h 152"/>
              <a:gd name="T6" fmla="*/ 0 60000 65536"/>
              <a:gd name="T7" fmla="*/ 0 60000 65536"/>
              <a:gd name="T8" fmla="*/ 0 60000 65536"/>
              <a:gd name="T9" fmla="*/ 0 w 1660"/>
              <a:gd name="T10" fmla="*/ 0 h 152"/>
              <a:gd name="T11" fmla="*/ 1660 w 1660"/>
              <a:gd name="T12" fmla="*/ 152 h 1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60" h="152">
                <a:moveTo>
                  <a:pt x="1660" y="152"/>
                </a:moveTo>
                <a:lnTo>
                  <a:pt x="1660" y="0"/>
                </a:lnTo>
                <a:lnTo>
                  <a:pt x="0" y="4"/>
                </a:ln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73" name="Line 57">
            <a:extLst>
              <a:ext uri="{FF2B5EF4-FFF2-40B4-BE49-F238E27FC236}">
                <a16:creationId xmlns:a16="http://schemas.microsoft.com/office/drawing/2014/main" id="{8774DF28-E60B-416A-9B5B-BF8D337333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62505" y="3717032"/>
            <a:ext cx="0" cy="450156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4AFCD0A-0593-4C57-9C2B-54994CB9F2A4}"/>
              </a:ext>
            </a:extLst>
          </p:cNvPr>
          <p:cNvGrpSpPr/>
          <p:nvPr/>
        </p:nvGrpSpPr>
        <p:grpSpPr>
          <a:xfrm>
            <a:off x="3753995" y="4554712"/>
            <a:ext cx="2502858" cy="276225"/>
            <a:chOff x="4282117" y="5905357"/>
            <a:chExt cx="2502858" cy="276225"/>
          </a:xfrm>
        </p:grpSpPr>
        <p:sp>
          <p:nvSpPr>
            <p:cNvPr id="80" name="Rectangle 51">
              <a:extLst>
                <a:ext uri="{FF2B5EF4-FFF2-40B4-BE49-F238E27FC236}">
                  <a16:creationId xmlns:a16="http://schemas.microsoft.com/office/drawing/2014/main" id="{2C654A47-83D2-4AAA-BDC8-E094A324F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2117" y="5905357"/>
              <a:ext cx="696283" cy="2762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4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Src</a:t>
              </a:r>
              <a:r>
                <a:rPr lang="en-US" altLang="ko-KR" sz="1400" spc="-15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: 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B</a:t>
              </a:r>
              <a:endParaRPr lang="ko-KR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83" name="Rectangle 51">
              <a:extLst>
                <a:ext uri="{FF2B5EF4-FFF2-40B4-BE49-F238E27FC236}">
                  <a16:creationId xmlns:a16="http://schemas.microsoft.com/office/drawing/2014/main" id="{2607EC54-B074-4B6B-AAA6-31CF5E3C0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7442" y="5905357"/>
              <a:ext cx="696283" cy="2762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4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</a:t>
              </a:r>
              <a:r>
                <a:rPr lang="en-US" altLang="ko-KR" sz="1400" spc="-15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: 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</a:t>
              </a:r>
              <a:endParaRPr lang="ko-KR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84" name="Rectangle 51">
              <a:extLst>
                <a:ext uri="{FF2B5EF4-FFF2-40B4-BE49-F238E27FC236}">
                  <a16:creationId xmlns:a16="http://schemas.microsoft.com/office/drawing/2014/main" id="{478C8219-EE70-43CE-A74C-D13317DB3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2768" y="5905357"/>
              <a:ext cx="185108" cy="2762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85" name="Rectangle 51">
              <a:extLst>
                <a:ext uri="{FF2B5EF4-FFF2-40B4-BE49-F238E27FC236}">
                  <a16:creationId xmlns:a16="http://schemas.microsoft.com/office/drawing/2014/main" id="{8F9904FD-2EB3-4310-91F9-D6A9D0A7E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0567" y="5905357"/>
              <a:ext cx="934408" cy="2762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payload</a:t>
              </a:r>
              <a:endParaRPr lang="ko-KR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87" name="Text Box 47">
            <a:extLst>
              <a:ext uri="{FF2B5EF4-FFF2-40B4-BE49-F238E27FC236}">
                <a16:creationId xmlns:a16="http://schemas.microsoft.com/office/drawing/2014/main" id="{534A300D-80F7-47E3-BC8E-3B4FFC0FD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0208" y="2818765"/>
            <a:ext cx="3289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buClr>
                <a:srgbClr val="000000"/>
              </a:buClr>
              <a:buFont typeface="Arial"/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A</a:t>
            </a:r>
          </a:p>
        </p:txBody>
      </p:sp>
      <p:sp>
        <p:nvSpPr>
          <p:cNvPr id="88" name="Text Box 47">
            <a:extLst>
              <a:ext uri="{FF2B5EF4-FFF2-40B4-BE49-F238E27FC236}">
                <a16:creationId xmlns:a16="http://schemas.microsoft.com/office/drawing/2014/main" id="{E7E3DB8C-6D6B-41EE-A34C-70724A716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8856" y="2818765"/>
            <a:ext cx="3193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buClr>
                <a:srgbClr val="000000"/>
              </a:buClr>
              <a:buFont typeface="Arial"/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C</a:t>
            </a:r>
          </a:p>
        </p:txBody>
      </p:sp>
      <p:sp>
        <p:nvSpPr>
          <p:cNvPr id="90" name="Text Box 47">
            <a:extLst>
              <a:ext uri="{FF2B5EF4-FFF2-40B4-BE49-F238E27FC236}">
                <a16:creationId xmlns:a16="http://schemas.microsoft.com/office/drawing/2014/main" id="{0A5CD204-6E82-4D4E-9A2E-ADADC2843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528" y="4149080"/>
            <a:ext cx="3241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buClr>
                <a:srgbClr val="000000"/>
              </a:buClr>
              <a:buFont typeface="Arial"/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B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09BC04C-D9BB-430E-B8DB-749A20119BFB}"/>
              </a:ext>
            </a:extLst>
          </p:cNvPr>
          <p:cNvGrpSpPr/>
          <p:nvPr/>
        </p:nvGrpSpPr>
        <p:grpSpPr>
          <a:xfrm>
            <a:off x="6763894" y="4221088"/>
            <a:ext cx="815368" cy="970418"/>
            <a:chOff x="3182618" y="4520968"/>
            <a:chExt cx="878294" cy="1045313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39400E0B-0A44-482B-9C1D-E9D8D1547E74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A67A0BBC-8874-4D55-89E1-A23C30269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37312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45;p4">
            <a:extLst>
              <a:ext uri="{FF2B5EF4-FFF2-40B4-BE49-F238E27FC236}">
                <a16:creationId xmlns:a16="http://schemas.microsoft.com/office/drawing/2014/main" id="{2DEE55CF-B4BB-4462-98A0-9DA99570D4BE}"/>
              </a:ext>
            </a:extLst>
          </p:cNvPr>
          <p:cNvSpPr/>
          <p:nvPr/>
        </p:nvSpPr>
        <p:spPr>
          <a:xfrm>
            <a:off x="1070680" y="2456971"/>
            <a:ext cx="7092245" cy="2960698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49" name="Freeform 44">
            <a:extLst>
              <a:ext uri="{FF2B5EF4-FFF2-40B4-BE49-F238E27FC236}">
                <a16:creationId xmlns:a16="http://schemas.microsoft.com/office/drawing/2014/main" id="{543F44CD-4F98-4692-9EAB-4988E0A51504}"/>
              </a:ext>
            </a:extLst>
          </p:cNvPr>
          <p:cNvSpPr>
            <a:spLocks/>
          </p:cNvSpPr>
          <p:nvPr/>
        </p:nvSpPr>
        <p:spPr bwMode="auto">
          <a:xfrm flipH="1">
            <a:off x="3320929" y="3972838"/>
            <a:ext cx="0" cy="1168537"/>
          </a:xfrm>
          <a:custGeom>
            <a:avLst/>
            <a:gdLst>
              <a:gd name="T0" fmla="*/ 0 w 3"/>
              <a:gd name="T1" fmla="*/ 2147483647 h 329"/>
              <a:gd name="T2" fmla="*/ 2147483647 w 3"/>
              <a:gd name="T3" fmla="*/ 0 h 329"/>
              <a:gd name="T4" fmla="*/ 0 60000 65536"/>
              <a:gd name="T5" fmla="*/ 0 60000 65536"/>
              <a:gd name="T6" fmla="*/ 0 w 3"/>
              <a:gd name="T7" fmla="*/ 0 h 329"/>
              <a:gd name="T8" fmla="*/ 3 w 3"/>
              <a:gd name="T9" fmla="*/ 329 h 32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329">
                <a:moveTo>
                  <a:pt x="0" y="329"/>
                </a:moveTo>
                <a:lnTo>
                  <a:pt x="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E3349FDD-3147-4B6A-8605-E60E4CC84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03429" y="4507665"/>
            <a:ext cx="635001" cy="378215"/>
          </a:xfrm>
          <a:prstGeom prst="rect">
            <a:avLst/>
          </a:prstGeom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31366B8-AAB5-483E-BC58-4BDE01407A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악당들은 </a:t>
            </a:r>
            <a:r>
              <a:rPr lang="ko-KR" altLang="en-US" dirty="0">
                <a:solidFill>
                  <a:schemeClr val="bg1"/>
                </a:solidFill>
              </a:rPr>
              <a:t>가짜 주소를 이용한다</a:t>
            </a:r>
            <a:endParaRPr lang="ko-KR" altLang="en-US" sz="1800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65E98CC-CBD7-48A3-AA8E-48B2BF20A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FC0823-76C5-4EB3-9739-64C88D4190F2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1078722"/>
            <a:ext cx="758293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200"/>
              </a:spcBef>
              <a:buBlip>
                <a:blip r:embed="rId4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IP spoofing</a:t>
            </a: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F26BD628-40FA-4671-986F-5D856BBC5BDB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547974"/>
            <a:ext cx="7316136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가짜 송신 주소를 포함한 패킷을 전송한다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  <p:sp>
        <p:nvSpPr>
          <p:cNvPr id="27" name="Freeform 43">
            <a:extLst>
              <a:ext uri="{FF2B5EF4-FFF2-40B4-BE49-F238E27FC236}">
                <a16:creationId xmlns:a16="http://schemas.microsoft.com/office/drawing/2014/main" id="{3B2E3446-8A6B-4DA3-BA10-DC6EC9C28D63}"/>
              </a:ext>
            </a:extLst>
          </p:cNvPr>
          <p:cNvSpPr>
            <a:spLocks/>
          </p:cNvSpPr>
          <p:nvPr/>
        </p:nvSpPr>
        <p:spPr bwMode="auto">
          <a:xfrm>
            <a:off x="2049241" y="3563491"/>
            <a:ext cx="5106256" cy="728663"/>
          </a:xfrm>
          <a:custGeom>
            <a:avLst/>
            <a:gdLst>
              <a:gd name="T0" fmla="*/ 2147483647 w 2620"/>
              <a:gd name="T1" fmla="*/ 0 h 459"/>
              <a:gd name="T2" fmla="*/ 0 w 2620"/>
              <a:gd name="T3" fmla="*/ 2147483647 h 459"/>
              <a:gd name="T4" fmla="*/ 2147483647 w 2620"/>
              <a:gd name="T5" fmla="*/ 2147483647 h 459"/>
              <a:gd name="T6" fmla="*/ 2147483647 w 2620"/>
              <a:gd name="T7" fmla="*/ 2147483647 h 459"/>
              <a:gd name="T8" fmla="*/ 0 60000 65536"/>
              <a:gd name="T9" fmla="*/ 0 60000 65536"/>
              <a:gd name="T10" fmla="*/ 0 60000 65536"/>
              <a:gd name="T11" fmla="*/ 0 60000 65536"/>
              <a:gd name="T12" fmla="*/ 0 w 2620"/>
              <a:gd name="T13" fmla="*/ 0 h 459"/>
              <a:gd name="T14" fmla="*/ 2620 w 2620"/>
              <a:gd name="T15" fmla="*/ 459 h 4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20" h="459">
                <a:moveTo>
                  <a:pt x="2" y="0"/>
                </a:moveTo>
                <a:lnTo>
                  <a:pt x="0" y="253"/>
                </a:lnTo>
                <a:lnTo>
                  <a:pt x="2620" y="253"/>
                </a:lnTo>
                <a:lnTo>
                  <a:pt x="2620" y="45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pic>
        <p:nvPicPr>
          <p:cNvPr id="28" name="그림 27" descr="텍스트, 실내, 컴퓨터이(가) 표시된 사진&#10;&#10;자동 생성된 설명">
            <a:extLst>
              <a:ext uri="{FF2B5EF4-FFF2-40B4-BE49-F238E27FC236}">
                <a16:creationId xmlns:a16="http://schemas.microsoft.com/office/drawing/2014/main" id="{043EC035-E6D9-47A0-80A8-52BD201E6C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942" y="2771403"/>
            <a:ext cx="590952" cy="876392"/>
          </a:xfrm>
          <a:prstGeom prst="rect">
            <a:avLst/>
          </a:prstGeom>
        </p:spPr>
      </p:pic>
      <p:sp>
        <p:nvSpPr>
          <p:cNvPr id="29" name="Freeform 44">
            <a:extLst>
              <a:ext uri="{FF2B5EF4-FFF2-40B4-BE49-F238E27FC236}">
                <a16:creationId xmlns:a16="http://schemas.microsoft.com/office/drawing/2014/main" id="{50BA53C3-F279-4504-ABDD-FEC7D8DA9C1C}"/>
              </a:ext>
            </a:extLst>
          </p:cNvPr>
          <p:cNvSpPr>
            <a:spLocks/>
          </p:cNvSpPr>
          <p:nvPr/>
        </p:nvSpPr>
        <p:spPr bwMode="auto">
          <a:xfrm>
            <a:off x="4995227" y="3446566"/>
            <a:ext cx="0" cy="522288"/>
          </a:xfrm>
          <a:custGeom>
            <a:avLst/>
            <a:gdLst>
              <a:gd name="T0" fmla="*/ 0 w 3"/>
              <a:gd name="T1" fmla="*/ 2147483647 h 329"/>
              <a:gd name="T2" fmla="*/ 2147483647 w 3"/>
              <a:gd name="T3" fmla="*/ 0 h 329"/>
              <a:gd name="T4" fmla="*/ 0 60000 65536"/>
              <a:gd name="T5" fmla="*/ 0 60000 65536"/>
              <a:gd name="T6" fmla="*/ 0 w 3"/>
              <a:gd name="T7" fmla="*/ 0 h 329"/>
              <a:gd name="T8" fmla="*/ 3 w 3"/>
              <a:gd name="T9" fmla="*/ 329 h 32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329">
                <a:moveTo>
                  <a:pt x="0" y="329"/>
                </a:moveTo>
                <a:lnTo>
                  <a:pt x="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sp>
        <p:nvSpPr>
          <p:cNvPr id="36" name="Freeform 56">
            <a:extLst>
              <a:ext uri="{FF2B5EF4-FFF2-40B4-BE49-F238E27FC236}">
                <a16:creationId xmlns:a16="http://schemas.microsoft.com/office/drawing/2014/main" id="{5E15C1BD-9804-4EFE-9A01-609B8D294E56}"/>
              </a:ext>
            </a:extLst>
          </p:cNvPr>
          <p:cNvSpPr>
            <a:spLocks/>
          </p:cNvSpPr>
          <p:nvPr/>
        </p:nvSpPr>
        <p:spPr bwMode="auto">
          <a:xfrm flipV="1">
            <a:off x="2100263" y="3634917"/>
            <a:ext cx="3026329" cy="430647"/>
          </a:xfrm>
          <a:custGeom>
            <a:avLst/>
            <a:gdLst>
              <a:gd name="T0" fmla="*/ 2147483647 w 1660"/>
              <a:gd name="T1" fmla="*/ 2147483647 h 152"/>
              <a:gd name="T2" fmla="*/ 2147483647 w 1660"/>
              <a:gd name="T3" fmla="*/ 0 h 152"/>
              <a:gd name="T4" fmla="*/ 0 w 1660"/>
              <a:gd name="T5" fmla="*/ 2147483647 h 152"/>
              <a:gd name="T6" fmla="*/ 0 60000 65536"/>
              <a:gd name="T7" fmla="*/ 0 60000 65536"/>
              <a:gd name="T8" fmla="*/ 0 60000 65536"/>
              <a:gd name="T9" fmla="*/ 0 w 1660"/>
              <a:gd name="T10" fmla="*/ 0 h 152"/>
              <a:gd name="T11" fmla="*/ 1660 w 1660"/>
              <a:gd name="T12" fmla="*/ 152 h 1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60" h="152">
                <a:moveTo>
                  <a:pt x="1660" y="152"/>
                </a:moveTo>
                <a:lnTo>
                  <a:pt x="1660" y="0"/>
                </a:lnTo>
                <a:lnTo>
                  <a:pt x="0" y="4"/>
                </a:ln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ko-KR" altLang="en-US" dirty="0">
              <a:latin typeface="Abadi" panose="020B0604020104020204" pitchFamily="34" charset="0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F5413FFA-30C5-4013-A13E-642C78B4F8E7}"/>
              </a:ext>
            </a:extLst>
          </p:cNvPr>
          <p:cNvGrpSpPr/>
          <p:nvPr/>
        </p:nvGrpSpPr>
        <p:grpSpPr>
          <a:xfrm>
            <a:off x="2377108" y="3860755"/>
            <a:ext cx="2502858" cy="276225"/>
            <a:chOff x="4282117" y="5905357"/>
            <a:chExt cx="2502858" cy="276225"/>
          </a:xfrm>
        </p:grpSpPr>
        <p:sp>
          <p:nvSpPr>
            <p:cNvPr id="39" name="Rectangle 51">
              <a:extLst>
                <a:ext uri="{FF2B5EF4-FFF2-40B4-BE49-F238E27FC236}">
                  <a16:creationId xmlns:a16="http://schemas.microsoft.com/office/drawing/2014/main" id="{3F9F6863-A375-41DC-AB3B-6A599E831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2117" y="5905357"/>
              <a:ext cx="696283" cy="2762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4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C0000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Src</a:t>
              </a:r>
              <a:r>
                <a:rPr lang="en-US" altLang="ko-KR" sz="1400" spc="-15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C0000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 : 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C0000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B</a:t>
              </a:r>
              <a:endParaRPr lang="ko-KR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C0000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sp>
          <p:nvSpPr>
            <p:cNvPr id="40" name="Rectangle 51">
              <a:extLst>
                <a:ext uri="{FF2B5EF4-FFF2-40B4-BE49-F238E27FC236}">
                  <a16:creationId xmlns:a16="http://schemas.microsoft.com/office/drawing/2014/main" id="{2812E956-7F81-40F7-BFE6-CD80A1BA6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7442" y="5905357"/>
              <a:ext cx="696283" cy="2762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4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Dest</a:t>
              </a:r>
              <a:r>
                <a:rPr lang="en-US" altLang="ko-KR" sz="1400" spc="-15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: 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</a:t>
              </a:r>
              <a:endParaRPr lang="ko-KR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41" name="Rectangle 51">
              <a:extLst>
                <a:ext uri="{FF2B5EF4-FFF2-40B4-BE49-F238E27FC236}">
                  <a16:creationId xmlns:a16="http://schemas.microsoft.com/office/drawing/2014/main" id="{22FD80CA-ABC8-4258-B4E9-D8ED046DE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2768" y="5905357"/>
              <a:ext cx="185108" cy="2762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42" name="Rectangle 51">
              <a:extLst>
                <a:ext uri="{FF2B5EF4-FFF2-40B4-BE49-F238E27FC236}">
                  <a16:creationId xmlns:a16="http://schemas.microsoft.com/office/drawing/2014/main" id="{365A09E4-7794-47F7-A3EE-4AF3D0E30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0567" y="5905357"/>
              <a:ext cx="934408" cy="2762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payload</a:t>
              </a:r>
              <a:endParaRPr lang="ko-KR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43" name="Text Box 47">
            <a:extLst>
              <a:ext uri="{FF2B5EF4-FFF2-40B4-BE49-F238E27FC236}">
                <a16:creationId xmlns:a16="http://schemas.microsoft.com/office/drawing/2014/main" id="{4E208906-0DF4-4F3E-BB26-3CA57C489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0208" y="2809240"/>
            <a:ext cx="3289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buClr>
                <a:srgbClr val="000000"/>
              </a:buClr>
              <a:buFont typeface="Arial"/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A</a:t>
            </a:r>
          </a:p>
        </p:txBody>
      </p:sp>
      <p:sp>
        <p:nvSpPr>
          <p:cNvPr id="44" name="Text Box 47">
            <a:extLst>
              <a:ext uri="{FF2B5EF4-FFF2-40B4-BE49-F238E27FC236}">
                <a16:creationId xmlns:a16="http://schemas.microsoft.com/office/drawing/2014/main" id="{20CBD10D-8FC9-4E32-A4FF-625CD994E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8856" y="2809240"/>
            <a:ext cx="3193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buClr>
                <a:srgbClr val="000000"/>
              </a:buClr>
              <a:buFont typeface="Arial"/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C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3BBEA479-A583-4E53-AC0D-9B25D4318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528" y="4139555"/>
            <a:ext cx="32412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buClr>
                <a:srgbClr val="000000"/>
              </a:buClr>
              <a:buFont typeface="Arial"/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Abadi" panose="020B0604020104020204" pitchFamily="34" charset="0"/>
                <a:ea typeface="+mj-ea"/>
                <a:cs typeface="+mj-cs"/>
              </a:rPr>
              <a:t>B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D3BA82B7-248F-43C8-82F7-D12AD5C76AA4}"/>
              </a:ext>
            </a:extLst>
          </p:cNvPr>
          <p:cNvGrpSpPr/>
          <p:nvPr/>
        </p:nvGrpSpPr>
        <p:grpSpPr>
          <a:xfrm>
            <a:off x="6763894" y="4211563"/>
            <a:ext cx="815368" cy="970418"/>
            <a:chOff x="3182618" y="4520968"/>
            <a:chExt cx="878294" cy="1045313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FE82847-DBC5-4D26-8E2C-BDD3BB20C44F}"/>
                </a:ext>
              </a:extLst>
            </p:cNvPr>
            <p:cNvSpPr/>
            <p:nvPr/>
          </p:nvSpPr>
          <p:spPr>
            <a:xfrm>
              <a:off x="3182618" y="4687987"/>
              <a:ext cx="878294" cy="8782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E2725EB1-0EFC-4E39-BB1B-A5B633BDB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73" y="4520968"/>
              <a:ext cx="811984" cy="929910"/>
            </a:xfrm>
            <a:prstGeom prst="rect">
              <a:avLst/>
            </a:prstGeom>
          </p:spPr>
        </p:pic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B21C862-9A1B-4928-A077-84BF30E0E5D4}"/>
              </a:ext>
            </a:extLst>
          </p:cNvPr>
          <p:cNvGrpSpPr/>
          <p:nvPr/>
        </p:nvGrpSpPr>
        <p:grpSpPr>
          <a:xfrm>
            <a:off x="4589924" y="2563032"/>
            <a:ext cx="815368" cy="1114644"/>
            <a:chOff x="7265722" y="3162404"/>
            <a:chExt cx="594467" cy="812665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8B31151E-5D8D-4A13-8F26-EDDD9368FBC2}"/>
                </a:ext>
              </a:extLst>
            </p:cNvPr>
            <p:cNvSpPr/>
            <p:nvPr/>
          </p:nvSpPr>
          <p:spPr>
            <a:xfrm>
              <a:off x="7265722" y="3380603"/>
              <a:ext cx="594467" cy="5944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endParaRPr>
            </a:p>
          </p:txBody>
        </p:sp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182C0D01-B8F0-49BD-9878-D39F815AE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8163" y="3267557"/>
              <a:ext cx="549586" cy="629402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F4322D1C-3DAA-402D-B673-835E8C44D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5893" y="3162404"/>
              <a:ext cx="187499" cy="3662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08834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AEEC58C-9F94-42E1-8052-AF2CA478EF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z="18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Abadi" panose="020B0604020104020204" pitchFamily="34" charset="0"/>
                <a:cs typeface="Microsoft GothicNeo" panose="020B0503020000020004" pitchFamily="34" charset="-127"/>
              </a:rPr>
              <a:t>Chapter 1.</a:t>
            </a:r>
            <a:r>
              <a:rPr lang="ko-KR" altLang="en-US" sz="18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Abadi" panose="020B0604020104020204" pitchFamily="34" charset="0"/>
                <a:cs typeface="Microsoft GothicNeo" panose="020B0503020000020004" pitchFamily="34" charset="-127"/>
              </a:rPr>
              <a:t> </a:t>
            </a:r>
            <a:r>
              <a:rPr lang="ko-KR" altLang="en-US" sz="1800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latin typeface="Abadi" panose="020B0604020104020204" pitchFamily="34" charset="0"/>
                <a:cs typeface="+mj-cs"/>
              </a:rPr>
              <a:t>컴퓨터 네트워크</a:t>
            </a:r>
            <a:r>
              <a:rPr lang="ko-KR" altLang="en-US" sz="1800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latin typeface="Abadi" panose="020B0604020104020204" pitchFamily="34" charset="0"/>
                <a:ea typeface="G마켓 산스 TTF Medium" panose="02000000000000000000" pitchFamily="2" charset="-127"/>
                <a:cs typeface="+mj-cs"/>
              </a:rPr>
              <a:t>와</a:t>
            </a:r>
            <a:r>
              <a:rPr lang="ko-KR" altLang="en-US" sz="1800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latin typeface="Abadi" panose="020B0604020104020204" pitchFamily="34" charset="0"/>
                <a:cs typeface="+mj-cs"/>
              </a:rPr>
              <a:t> 인터넷</a:t>
            </a:r>
            <a:endParaRPr lang="ko-KR" altLang="en-US" sz="1800" spc="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1"/>
              </a:solidFill>
              <a:effectLst/>
              <a:latin typeface="Abadi" panose="020B0604020104020204" pitchFamily="34" charset="0"/>
              <a:cs typeface="+mj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28B103-30FD-425C-B735-DDDCE8B382D1}"/>
              </a:ext>
            </a:extLst>
          </p:cNvPr>
          <p:cNvSpPr txBox="1"/>
          <p:nvPr/>
        </p:nvSpPr>
        <p:spPr>
          <a:xfrm>
            <a:off x="1419224" y="1825636"/>
            <a:ext cx="6929719" cy="4086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인터넷이란 무엇인가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?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네트워크의 가장자리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(Edge)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네트워크 코어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(Core)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네트워크에서의 지연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,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손실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,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처리율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프로토콜 계층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,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서비스 모델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공격받는 네트워크 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보안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역사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G마켓 산스 TTF Bold" panose="02000000000000000000" pitchFamily="2" charset="-127"/>
              <a:cs typeface="+mj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1A9A8D-C9B7-4837-B79D-248DF409E2FE}"/>
              </a:ext>
            </a:extLst>
          </p:cNvPr>
          <p:cNvSpPr txBox="1"/>
          <p:nvPr/>
        </p:nvSpPr>
        <p:spPr>
          <a:xfrm>
            <a:off x="860603" y="1825636"/>
            <a:ext cx="582259" cy="4109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1.1.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1.2.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1.3.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1.4.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1.5.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1.6.</a:t>
            </a:r>
          </a:p>
          <a:p>
            <a:pPr marL="0" lvl="1">
              <a:lnSpc>
                <a:spcPct val="120000"/>
              </a:lnSpc>
              <a:spcBef>
                <a:spcPts val="1000"/>
              </a:spcBef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1.7.</a:t>
            </a: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A80A899D-985A-4758-B577-39015E56667C}"/>
              </a:ext>
            </a:extLst>
          </p:cNvPr>
          <p:cNvSpPr txBox="1">
            <a:spLocks noChangeArrowheads="1"/>
          </p:cNvSpPr>
          <p:nvPr/>
        </p:nvSpPr>
        <p:spPr>
          <a:xfrm>
            <a:off x="1680377" y="2670279"/>
            <a:ext cx="5152947" cy="401841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종단 시스템</a:t>
            </a:r>
            <a:r>
              <a:rPr lang="en-US" altLang="ko-KR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접속 네트워크</a:t>
            </a:r>
            <a:r>
              <a:rPr lang="en-US" altLang="ko-KR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링크</a:t>
            </a: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22FAC055-714F-4858-AF5C-C1B62DF0F037}"/>
              </a:ext>
            </a:extLst>
          </p:cNvPr>
          <p:cNvSpPr txBox="1">
            <a:spLocks noChangeArrowheads="1"/>
          </p:cNvSpPr>
          <p:nvPr/>
        </p:nvSpPr>
        <p:spPr>
          <a:xfrm>
            <a:off x="1680377" y="3591122"/>
            <a:ext cx="6929719" cy="40184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패킷 교환</a:t>
            </a:r>
            <a:r>
              <a:rPr lang="en-US" altLang="ko-KR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회선 교환</a:t>
            </a:r>
            <a:r>
              <a:rPr lang="en-US" altLang="ko-KR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 구조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4D45FBB-6FF9-405C-8B5C-072FBCA9F484}"/>
              </a:ext>
            </a:extLst>
          </p:cNvPr>
          <p:cNvGrpSpPr/>
          <p:nvPr/>
        </p:nvGrpSpPr>
        <p:grpSpPr>
          <a:xfrm>
            <a:off x="1518597" y="2811457"/>
            <a:ext cx="171105" cy="171646"/>
            <a:chOff x="1029671" y="3159333"/>
            <a:chExt cx="387927" cy="389152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7699D63D-E651-43B0-B2B8-7AAF760A6D6C}"/>
                </a:ext>
              </a:extLst>
            </p:cNvPr>
            <p:cNvSpPr/>
            <p:nvPr/>
          </p:nvSpPr>
          <p:spPr>
            <a:xfrm>
              <a:off x="1029671" y="3159333"/>
              <a:ext cx="387927" cy="38915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5" name="그래픽 40">
              <a:extLst>
                <a:ext uri="{FF2B5EF4-FFF2-40B4-BE49-F238E27FC236}">
                  <a16:creationId xmlns:a16="http://schemas.microsoft.com/office/drawing/2014/main" id="{A1670863-E4A5-4D3C-A887-596A7CE21F21}"/>
                </a:ext>
              </a:extLst>
            </p:cNvPr>
            <p:cNvSpPr/>
            <p:nvPr/>
          </p:nvSpPr>
          <p:spPr>
            <a:xfrm>
              <a:off x="1157596" y="3246355"/>
              <a:ext cx="132078" cy="215105"/>
            </a:xfrm>
            <a:custGeom>
              <a:avLst/>
              <a:gdLst>
                <a:gd name="connsiteX0" fmla="*/ 18217 w 334851"/>
                <a:gd name="connsiteY0" fmla="*/ 18217 h 545353"/>
                <a:gd name="connsiteX1" fmla="*/ 18217 w 334851"/>
                <a:gd name="connsiteY1" fmla="*/ 106132 h 545353"/>
                <a:gd name="connsiteX2" fmla="*/ 184809 w 334851"/>
                <a:gd name="connsiteY2" fmla="*/ 272725 h 545353"/>
                <a:gd name="connsiteX3" fmla="*/ 18217 w 334851"/>
                <a:gd name="connsiteY3" fmla="*/ 439222 h 545353"/>
                <a:gd name="connsiteX4" fmla="*/ 18217 w 334851"/>
                <a:gd name="connsiteY4" fmla="*/ 527137 h 545353"/>
                <a:gd name="connsiteX5" fmla="*/ 106132 w 334851"/>
                <a:gd name="connsiteY5" fmla="*/ 527137 h 545353"/>
                <a:gd name="connsiteX6" fmla="*/ 316635 w 334851"/>
                <a:gd name="connsiteY6" fmla="*/ 316635 h 545353"/>
                <a:gd name="connsiteX7" fmla="*/ 316635 w 334851"/>
                <a:gd name="connsiteY7" fmla="*/ 228719 h 545353"/>
                <a:gd name="connsiteX8" fmla="*/ 106132 w 334851"/>
                <a:gd name="connsiteY8" fmla="*/ 18217 h 545353"/>
                <a:gd name="connsiteX9" fmla="*/ 18217 w 334851"/>
                <a:gd name="connsiteY9" fmla="*/ 18217 h 54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51" h="545353">
                  <a:moveTo>
                    <a:pt x="18217" y="18217"/>
                  </a:moveTo>
                  <a:cubicBezTo>
                    <a:pt x="-6072" y="42505"/>
                    <a:pt x="-6072" y="81844"/>
                    <a:pt x="18217" y="106132"/>
                  </a:cubicBezTo>
                  <a:lnTo>
                    <a:pt x="184809" y="272725"/>
                  </a:lnTo>
                  <a:lnTo>
                    <a:pt x="18217" y="439222"/>
                  </a:lnTo>
                  <a:cubicBezTo>
                    <a:pt x="-6072" y="463510"/>
                    <a:pt x="-6072" y="502849"/>
                    <a:pt x="18217" y="527137"/>
                  </a:cubicBezTo>
                  <a:cubicBezTo>
                    <a:pt x="42505" y="551426"/>
                    <a:pt x="81844" y="551426"/>
                    <a:pt x="106132" y="527137"/>
                  </a:cubicBezTo>
                  <a:lnTo>
                    <a:pt x="316635" y="316635"/>
                  </a:lnTo>
                  <a:cubicBezTo>
                    <a:pt x="340924" y="292346"/>
                    <a:pt x="340924" y="253008"/>
                    <a:pt x="316635" y="228719"/>
                  </a:cubicBezTo>
                  <a:lnTo>
                    <a:pt x="106132" y="18217"/>
                  </a:lnTo>
                  <a:cubicBezTo>
                    <a:pt x="81844" y="-6072"/>
                    <a:pt x="42505" y="-6072"/>
                    <a:pt x="18217" y="18217"/>
                  </a:cubicBezTo>
                  <a:close/>
                </a:path>
              </a:pathLst>
            </a:custGeom>
            <a:solidFill>
              <a:srgbClr val="105BA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9194ECE7-80E2-4436-BF05-23F0E589A179}"/>
              </a:ext>
            </a:extLst>
          </p:cNvPr>
          <p:cNvGrpSpPr/>
          <p:nvPr/>
        </p:nvGrpSpPr>
        <p:grpSpPr>
          <a:xfrm>
            <a:off x="1518597" y="3744907"/>
            <a:ext cx="171105" cy="171646"/>
            <a:chOff x="1029671" y="3159333"/>
            <a:chExt cx="387927" cy="389152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C2A8E1A2-23F8-4F4D-91D4-A47ABE5CD0B3}"/>
                </a:ext>
              </a:extLst>
            </p:cNvPr>
            <p:cNvSpPr/>
            <p:nvPr/>
          </p:nvSpPr>
          <p:spPr>
            <a:xfrm>
              <a:off x="1029671" y="3159333"/>
              <a:ext cx="387927" cy="389152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8" name="그래픽 40">
              <a:extLst>
                <a:ext uri="{FF2B5EF4-FFF2-40B4-BE49-F238E27FC236}">
                  <a16:creationId xmlns:a16="http://schemas.microsoft.com/office/drawing/2014/main" id="{32346D4A-C53B-41DB-8CA0-031CC781CDB1}"/>
                </a:ext>
              </a:extLst>
            </p:cNvPr>
            <p:cNvSpPr/>
            <p:nvPr/>
          </p:nvSpPr>
          <p:spPr>
            <a:xfrm>
              <a:off x="1157596" y="3246355"/>
              <a:ext cx="132078" cy="215105"/>
            </a:xfrm>
            <a:custGeom>
              <a:avLst/>
              <a:gdLst>
                <a:gd name="connsiteX0" fmla="*/ 18217 w 334851"/>
                <a:gd name="connsiteY0" fmla="*/ 18217 h 545353"/>
                <a:gd name="connsiteX1" fmla="*/ 18217 w 334851"/>
                <a:gd name="connsiteY1" fmla="*/ 106132 h 545353"/>
                <a:gd name="connsiteX2" fmla="*/ 184809 w 334851"/>
                <a:gd name="connsiteY2" fmla="*/ 272725 h 545353"/>
                <a:gd name="connsiteX3" fmla="*/ 18217 w 334851"/>
                <a:gd name="connsiteY3" fmla="*/ 439222 h 545353"/>
                <a:gd name="connsiteX4" fmla="*/ 18217 w 334851"/>
                <a:gd name="connsiteY4" fmla="*/ 527137 h 545353"/>
                <a:gd name="connsiteX5" fmla="*/ 106132 w 334851"/>
                <a:gd name="connsiteY5" fmla="*/ 527137 h 545353"/>
                <a:gd name="connsiteX6" fmla="*/ 316635 w 334851"/>
                <a:gd name="connsiteY6" fmla="*/ 316635 h 545353"/>
                <a:gd name="connsiteX7" fmla="*/ 316635 w 334851"/>
                <a:gd name="connsiteY7" fmla="*/ 228719 h 545353"/>
                <a:gd name="connsiteX8" fmla="*/ 106132 w 334851"/>
                <a:gd name="connsiteY8" fmla="*/ 18217 h 545353"/>
                <a:gd name="connsiteX9" fmla="*/ 18217 w 334851"/>
                <a:gd name="connsiteY9" fmla="*/ 18217 h 54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51" h="545353">
                  <a:moveTo>
                    <a:pt x="18217" y="18217"/>
                  </a:moveTo>
                  <a:cubicBezTo>
                    <a:pt x="-6072" y="42505"/>
                    <a:pt x="-6072" y="81844"/>
                    <a:pt x="18217" y="106132"/>
                  </a:cubicBezTo>
                  <a:lnTo>
                    <a:pt x="184809" y="272725"/>
                  </a:lnTo>
                  <a:lnTo>
                    <a:pt x="18217" y="439222"/>
                  </a:lnTo>
                  <a:cubicBezTo>
                    <a:pt x="-6072" y="463510"/>
                    <a:pt x="-6072" y="502849"/>
                    <a:pt x="18217" y="527137"/>
                  </a:cubicBezTo>
                  <a:cubicBezTo>
                    <a:pt x="42505" y="551426"/>
                    <a:pt x="81844" y="551426"/>
                    <a:pt x="106132" y="527137"/>
                  </a:cubicBezTo>
                  <a:lnTo>
                    <a:pt x="316635" y="316635"/>
                  </a:lnTo>
                  <a:cubicBezTo>
                    <a:pt x="340924" y="292346"/>
                    <a:pt x="340924" y="253008"/>
                    <a:pt x="316635" y="228719"/>
                  </a:cubicBezTo>
                  <a:lnTo>
                    <a:pt x="106132" y="18217"/>
                  </a:lnTo>
                  <a:cubicBezTo>
                    <a:pt x="81844" y="-6072"/>
                    <a:pt x="42505" y="-6072"/>
                    <a:pt x="18217" y="18217"/>
                  </a:cubicBezTo>
                  <a:close/>
                </a:path>
              </a:pathLst>
            </a:custGeom>
            <a:solidFill>
              <a:srgbClr val="105BA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26" name="사각형: 잘린 한쪽 모서리 25">
            <a:extLst>
              <a:ext uri="{FF2B5EF4-FFF2-40B4-BE49-F238E27FC236}">
                <a16:creationId xmlns:a16="http://schemas.microsoft.com/office/drawing/2014/main" id="{962E8B3B-0CE6-43DE-AF1A-4F74B424AACC}"/>
              </a:ext>
            </a:extLst>
          </p:cNvPr>
          <p:cNvSpPr/>
          <p:nvPr/>
        </p:nvSpPr>
        <p:spPr>
          <a:xfrm>
            <a:off x="923792" y="1143310"/>
            <a:ext cx="1757495" cy="391715"/>
          </a:xfrm>
          <a:prstGeom prst="snip1Rect">
            <a:avLst>
              <a:gd name="adj" fmla="val 37888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7" name="텍스트 개체 틀 19">
            <a:extLst>
              <a:ext uri="{FF2B5EF4-FFF2-40B4-BE49-F238E27FC236}">
                <a16:creationId xmlns:a16="http://schemas.microsoft.com/office/drawing/2014/main" id="{2671EB29-68DC-4434-9271-7EEC353694AC}"/>
              </a:ext>
            </a:extLst>
          </p:cNvPr>
          <p:cNvSpPr txBox="1">
            <a:spLocks/>
          </p:cNvSpPr>
          <p:nvPr/>
        </p:nvSpPr>
        <p:spPr>
          <a:xfrm>
            <a:off x="1333506" y="1180731"/>
            <a:ext cx="1390643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defRPr/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Abadi" panose="020B0604020104020204" pitchFamily="34" charset="0"/>
                <a:ea typeface="G마켓 산스 TTF Bold" panose="02000000000000000000" pitchFamily="2" charset="-127"/>
                <a:cs typeface="+mj-cs"/>
              </a:rPr>
              <a:t>Roadmap 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8665E39D-8E9A-4E75-BC90-7657B4E63185}"/>
              </a:ext>
            </a:extLst>
          </p:cNvPr>
          <p:cNvSpPr/>
          <p:nvPr/>
        </p:nvSpPr>
        <p:spPr>
          <a:xfrm>
            <a:off x="789517" y="1561257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29" name="그래픽 28">
            <a:extLst>
              <a:ext uri="{FF2B5EF4-FFF2-40B4-BE49-F238E27FC236}">
                <a16:creationId xmlns:a16="http://schemas.microsoft.com/office/drawing/2014/main" id="{A41F04B1-164D-45BC-96BB-B0B4B0EF17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668982" y="1083045"/>
            <a:ext cx="558670" cy="502804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8020CA77-C53A-4070-AB35-B0187C3B0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64" y="1145567"/>
            <a:ext cx="275112" cy="364836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D248EA5-F03A-EE4D-BD8A-DDC9BE7DC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4937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7F96208-BE6F-4841-905E-6F7BA0D90B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인터넷</a:t>
            </a:r>
            <a:r>
              <a:rPr lang="ko-KR" altLang="en-US" dirty="0">
                <a:solidFill>
                  <a:schemeClr val="bg1"/>
                </a:solidFill>
                <a:latin typeface="Abadi" panose="020B0604020104020204" pitchFamily="34" charset="0"/>
                <a:ea typeface="G마켓 산스 TTF Medium" panose="02000000000000000000" pitchFamily="2" charset="-127"/>
              </a:rPr>
              <a:t>의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역사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A69347A-9883-4EE4-AA80-AACE8BADC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33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72263F1-2675-45D1-8D46-006FD3A25F69}"/>
              </a:ext>
            </a:extLst>
          </p:cNvPr>
          <p:cNvSpPr txBox="1">
            <a:spLocks noChangeArrowheads="1"/>
          </p:cNvSpPr>
          <p:nvPr/>
        </p:nvSpPr>
        <p:spPr>
          <a:xfrm>
            <a:off x="666036" y="1730500"/>
            <a:ext cx="759055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1961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Kleinrock –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큐잉 이론으로 패킷 교환의 효율성을 보임</a:t>
            </a:r>
            <a:endParaRPr lang="en-US" altLang="ko-KR" sz="15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1964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Baran –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군사네트워크에 패킷 교환 적용</a:t>
            </a:r>
          </a:p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1967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ARPAnet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이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ARPA(Advanced Research Projects Agency)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에 의해 고안됨</a:t>
            </a:r>
          </a:p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1969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최초의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ARPAnet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노드가 동작</a:t>
            </a:r>
            <a:endParaRPr lang="en-US" altLang="ko-KR" sz="15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1972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endParaRPr lang="ko-KR" altLang="en-US" sz="15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endParaRPr lang="ko-KR" altLang="en-US" sz="15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8BD9190-D59D-4F83-BD4C-120740D55327}"/>
              </a:ext>
            </a:extLst>
          </p:cNvPr>
          <p:cNvGrpSpPr/>
          <p:nvPr/>
        </p:nvGrpSpPr>
        <p:grpSpPr>
          <a:xfrm>
            <a:off x="666036" y="1048432"/>
            <a:ext cx="502804" cy="590566"/>
            <a:chOff x="5678490" y="2646569"/>
            <a:chExt cx="502804" cy="5905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BC382EA-F2E6-4DF8-9ED5-79054F882244}"/>
                </a:ext>
              </a:extLst>
            </p:cNvPr>
            <p:cNvSpPr/>
            <p:nvPr/>
          </p:nvSpPr>
          <p:spPr>
            <a:xfrm>
              <a:off x="5771092" y="3152714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38" name="그래픽 37">
              <a:extLst>
                <a:ext uri="{FF2B5EF4-FFF2-40B4-BE49-F238E27FC236}">
                  <a16:creationId xmlns:a16="http://schemas.microsoft.com/office/drawing/2014/main" id="{1AC02FA4-DE3D-4EA2-B552-A6EF34BF2E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5650557" y="2674502"/>
              <a:ext cx="558670" cy="502804"/>
            </a:xfrm>
            <a:prstGeom prst="rect">
              <a:avLst/>
            </a:prstGeom>
            <a:effectLst/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80DDFA31-DF83-43C9-8E79-B94B387CE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5741954" y="2826171"/>
              <a:ext cx="375876" cy="217726"/>
            </a:xfrm>
            <a:prstGeom prst="rect">
              <a:avLst/>
            </a:prstGeom>
          </p:spPr>
        </p:pic>
      </p:grpSp>
      <p:sp>
        <p:nvSpPr>
          <p:cNvPr id="40" name="Rectangle 5">
            <a:extLst>
              <a:ext uri="{FF2B5EF4-FFF2-40B4-BE49-F238E27FC236}">
                <a16:creationId xmlns:a16="http://schemas.microsoft.com/office/drawing/2014/main" id="{A3589067-7842-464A-B579-93858E6FC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36" y="1112347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1961-1972 :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초기 </a:t>
            </a:r>
            <a:r>
              <a:rPr lang="ko-KR" altLang="en-US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패킷교환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 원리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87F65657-E69F-4A5F-AAAE-CE68AF3BC624}"/>
              </a:ext>
            </a:extLst>
          </p:cNvPr>
          <p:cNvSpPr txBox="1">
            <a:spLocks noChangeArrowheads="1"/>
          </p:cNvSpPr>
          <p:nvPr/>
        </p:nvSpPr>
        <p:spPr>
          <a:xfrm>
            <a:off x="979249" y="3932292"/>
            <a:ext cx="4257172" cy="168911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ARPAnet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공개 데모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NCP (Network Control Protocol) </a:t>
            </a:r>
            <a:b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최초의 호스트간 프로토콜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최초의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e-mail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프로그램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ARPAnet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15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개의 노드 존재</a:t>
            </a:r>
            <a:endParaRPr lang="ko-KR" altLang="en-US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35" name="Picture 6" descr="arpanet2">
            <a:extLst>
              <a:ext uri="{FF2B5EF4-FFF2-40B4-BE49-F238E27FC236}">
                <a16:creationId xmlns:a16="http://schemas.microsoft.com/office/drawing/2014/main" id="{FC0B352F-723E-4414-8B39-47765C376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 b="8458"/>
          <a:stretch>
            <a:fillRect/>
          </a:stretch>
        </p:blipFill>
        <p:spPr bwMode="auto">
          <a:xfrm>
            <a:off x="4871864" y="3235072"/>
            <a:ext cx="2855100" cy="2769997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952552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7F96208-BE6F-4841-905E-6F7BA0D90B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인터넷</a:t>
            </a:r>
            <a:r>
              <a:rPr lang="ko-KR" altLang="en-US" dirty="0">
                <a:solidFill>
                  <a:schemeClr val="bg1"/>
                </a:solidFill>
                <a:latin typeface="Abadi" panose="020B0604020104020204" pitchFamily="34" charset="0"/>
                <a:ea typeface="G마켓 산스 TTF Medium" panose="02000000000000000000" pitchFamily="2" charset="-127"/>
              </a:rPr>
              <a:t>의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역사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A69347A-9883-4EE4-AA80-AACE8BADC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34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72263F1-2675-45D1-8D46-006FD3A25F69}"/>
              </a:ext>
            </a:extLst>
          </p:cNvPr>
          <p:cNvSpPr txBox="1">
            <a:spLocks noChangeArrowheads="1"/>
          </p:cNvSpPr>
          <p:nvPr/>
        </p:nvSpPr>
        <p:spPr>
          <a:xfrm>
            <a:off x="666036" y="1730500"/>
            <a:ext cx="759055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1970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하와이의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ALOHAnet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위성 네트워크</a:t>
            </a:r>
          </a:p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1974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Cerf and Kahn –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 상호연결을 위한 아키텍처</a:t>
            </a:r>
          </a:p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1976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Xerox PARC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Ethernet</a:t>
            </a:r>
          </a:p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70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년대 후반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독점 아키텍처들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DECnet, SNA, XNA</a:t>
            </a:r>
          </a:p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70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년대 후반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고정길이 패킷의 스위칭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(ATM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전조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1979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ARPAnet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200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개의 노드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8BD9190-D59D-4F83-BD4C-120740D55327}"/>
              </a:ext>
            </a:extLst>
          </p:cNvPr>
          <p:cNvGrpSpPr/>
          <p:nvPr/>
        </p:nvGrpSpPr>
        <p:grpSpPr>
          <a:xfrm>
            <a:off x="666036" y="1048432"/>
            <a:ext cx="502804" cy="590566"/>
            <a:chOff x="5678490" y="2646569"/>
            <a:chExt cx="502804" cy="5905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BC382EA-F2E6-4DF8-9ED5-79054F882244}"/>
                </a:ext>
              </a:extLst>
            </p:cNvPr>
            <p:cNvSpPr/>
            <p:nvPr/>
          </p:nvSpPr>
          <p:spPr>
            <a:xfrm>
              <a:off x="5771092" y="3152714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38" name="그래픽 37">
              <a:extLst>
                <a:ext uri="{FF2B5EF4-FFF2-40B4-BE49-F238E27FC236}">
                  <a16:creationId xmlns:a16="http://schemas.microsoft.com/office/drawing/2014/main" id="{1AC02FA4-DE3D-4EA2-B552-A6EF34BF2E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5650557" y="2674502"/>
              <a:ext cx="558670" cy="502804"/>
            </a:xfrm>
            <a:prstGeom prst="rect">
              <a:avLst/>
            </a:prstGeom>
            <a:effectLst/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80DDFA31-DF83-43C9-8E79-B94B387CE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5741954" y="2826171"/>
              <a:ext cx="375876" cy="217726"/>
            </a:xfrm>
            <a:prstGeom prst="rect">
              <a:avLst/>
            </a:prstGeom>
          </p:spPr>
        </p:pic>
      </p:grpSp>
      <p:sp>
        <p:nvSpPr>
          <p:cNvPr id="12" name="Rectangle 5">
            <a:extLst>
              <a:ext uri="{FF2B5EF4-FFF2-40B4-BE49-F238E27FC236}">
                <a16:creationId xmlns:a16="http://schemas.microsoft.com/office/drawing/2014/main" id="{A6599841-0030-4569-A804-194FE4D30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36" y="1112347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1972-1980 : </a:t>
            </a:r>
            <a:r>
              <a:rPr lang="ko-KR" altLang="en-US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인터네트워킹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,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새로운 독점 네트워크들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E70D8C1D-EDD3-4A6E-BB41-27624A330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40" y="4472940"/>
            <a:ext cx="7326948" cy="1949916"/>
          </a:xfrm>
          <a:prstGeom prst="snip1Rect">
            <a:avLst>
              <a:gd name="adj" fmla="val 9863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C8A284-9695-4A7D-B91C-107C00F794C3}"/>
              </a:ext>
            </a:extLst>
          </p:cNvPr>
          <p:cNvSpPr txBox="1"/>
          <p:nvPr/>
        </p:nvSpPr>
        <p:spPr>
          <a:xfrm>
            <a:off x="1055440" y="4622025"/>
            <a:ext cx="5478780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Cerf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와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 Kahn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의 </a:t>
            </a:r>
            <a:r>
              <a:rPr lang="en-US" altLang="ja-JP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internetworking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원칙</a:t>
            </a:r>
            <a:endParaRPr lang="en-US" altLang="ja-JP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Abadi" panose="020B0604020104020204" pitchFamily="34" charset="0"/>
              <a:ea typeface="+mj-ea"/>
              <a:cs typeface="+mj-cs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CA2CA831-6AE9-4D46-B59E-F77311B30C4C}"/>
              </a:ext>
            </a:extLst>
          </p:cNvPr>
          <p:cNvSpPr txBox="1">
            <a:spLocks noChangeArrowheads="1"/>
          </p:cNvSpPr>
          <p:nvPr/>
        </p:nvSpPr>
        <p:spPr>
          <a:xfrm>
            <a:off x="1101978" y="4978504"/>
            <a:ext cx="7463711" cy="133517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minimalism, autonomy –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 상호 연결을 위해 내부 변경을 요구하면 안됨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best effort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서비스 모델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stateless routers</a:t>
            </a:r>
          </a:p>
          <a:p>
            <a:pPr marL="144000" lvl="3" indent="-144000">
              <a:lnSpc>
                <a:spcPct val="120000"/>
              </a:lnSpc>
              <a:spcBef>
                <a:spcPts val="4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decentralized control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BC9ACF9-2904-4063-B73F-5CA016859E5A}"/>
              </a:ext>
            </a:extLst>
          </p:cNvPr>
          <p:cNvGrpSpPr/>
          <p:nvPr/>
        </p:nvGrpSpPr>
        <p:grpSpPr>
          <a:xfrm>
            <a:off x="4007768" y="5775960"/>
            <a:ext cx="4112612" cy="694783"/>
            <a:chOff x="3883660" y="5806440"/>
            <a:chExt cx="4236720" cy="694783"/>
          </a:xfrm>
        </p:grpSpPr>
        <p:sp>
          <p:nvSpPr>
            <p:cNvPr id="6" name="사각형: 잘린 한쪽 모서리 5">
              <a:extLst>
                <a:ext uri="{FF2B5EF4-FFF2-40B4-BE49-F238E27FC236}">
                  <a16:creationId xmlns:a16="http://schemas.microsoft.com/office/drawing/2014/main" id="{0C111E07-1709-4939-94FB-0476A2B1DED2}"/>
                </a:ext>
              </a:extLst>
            </p:cNvPr>
            <p:cNvSpPr/>
            <p:nvPr/>
          </p:nvSpPr>
          <p:spPr>
            <a:xfrm>
              <a:off x="3883660" y="5806440"/>
              <a:ext cx="4236720" cy="510540"/>
            </a:xfrm>
            <a:prstGeom prst="snip1Rect">
              <a:avLst/>
            </a:prstGeom>
            <a:solidFill>
              <a:schemeClr val="bg1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72B532-0362-4FE4-8C56-C9AAEDE396EB}"/>
                </a:ext>
              </a:extLst>
            </p:cNvPr>
            <p:cNvSpPr txBox="1"/>
            <p:nvPr/>
          </p:nvSpPr>
          <p:spPr>
            <a:xfrm>
              <a:off x="4048443" y="5910292"/>
              <a:ext cx="3907155" cy="5909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 eaLnBrk="1" hangingPunct="1">
                <a:lnSpc>
                  <a:spcPct val="90000"/>
                </a:lnSpc>
                <a:buFont typeface="Wingdings" pitchFamily="2" charset="2"/>
                <a:buNone/>
              </a:pPr>
              <a:r>
                <a:rPr lang="ko-KR" altLang="en-US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Abadi" panose="020B0604020104020204" pitchFamily="34" charset="0"/>
                  <a:ea typeface="+mj-ea"/>
                  <a:cs typeface="+mj-cs"/>
                </a:rPr>
                <a:t>오늘날의 인터넷 아키텍처를 정의함</a:t>
              </a:r>
              <a:endPara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98035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6">
            <a:extLst>
              <a:ext uri="{FF2B5EF4-FFF2-40B4-BE49-F238E27FC236}">
                <a16:creationId xmlns:a16="http://schemas.microsoft.com/office/drawing/2014/main" id="{E70D8C1D-EDD3-4A6E-BB41-27624A330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4319073"/>
            <a:ext cx="6133706" cy="519545"/>
          </a:xfrm>
          <a:prstGeom prst="snip1Rect">
            <a:avLst>
              <a:gd name="adj" fmla="val 9863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C8A284-9695-4A7D-B91C-107C00F794C3}"/>
              </a:ext>
            </a:extLst>
          </p:cNvPr>
          <p:cNvSpPr txBox="1"/>
          <p:nvPr/>
        </p:nvSpPr>
        <p:spPr>
          <a:xfrm>
            <a:off x="1372047" y="4460077"/>
            <a:ext cx="5478780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새 국가 네트워크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: </a:t>
            </a: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CSnet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, </a:t>
            </a: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BITnet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, NSFnet, Minitel</a:t>
            </a: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1EBC76FA-6C9F-4B4F-BD14-2CC13F1FC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4967145"/>
            <a:ext cx="6133706" cy="519545"/>
          </a:xfrm>
          <a:prstGeom prst="snip1Rect">
            <a:avLst>
              <a:gd name="adj" fmla="val 9863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9791E9-875D-4438-8C59-90034328A056}"/>
              </a:ext>
            </a:extLst>
          </p:cNvPr>
          <p:cNvSpPr txBox="1"/>
          <p:nvPr/>
        </p:nvSpPr>
        <p:spPr>
          <a:xfrm>
            <a:off x="1372047" y="5101799"/>
            <a:ext cx="5478780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100,000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대의 호스트가 네트워크에 연결됨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DD395A6-FE23-422F-A701-29E1F9004178}"/>
              </a:ext>
            </a:extLst>
          </p:cNvPr>
          <p:cNvSpPr/>
          <p:nvPr/>
        </p:nvSpPr>
        <p:spPr>
          <a:xfrm>
            <a:off x="952500" y="4383583"/>
            <a:ext cx="390525" cy="3905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7C3D109-4DAC-4965-86B1-2B69FDF7BEC3}"/>
              </a:ext>
            </a:extLst>
          </p:cNvPr>
          <p:cNvSpPr/>
          <p:nvPr/>
        </p:nvSpPr>
        <p:spPr>
          <a:xfrm>
            <a:off x="952500" y="5031655"/>
            <a:ext cx="390525" cy="3905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7F96208-BE6F-4841-905E-6F7BA0D90B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인터넷</a:t>
            </a:r>
            <a:r>
              <a:rPr lang="ko-KR" altLang="en-US" dirty="0">
                <a:solidFill>
                  <a:schemeClr val="bg1"/>
                </a:solidFill>
                <a:latin typeface="Abadi" panose="020B0604020104020204" pitchFamily="34" charset="0"/>
                <a:ea typeface="G마켓 산스 TTF Medium" panose="02000000000000000000" pitchFamily="2" charset="-127"/>
              </a:rPr>
              <a:t>의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역사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A69347A-9883-4EE4-AA80-AACE8BADC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35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72263F1-2675-45D1-8D46-006FD3A25F69}"/>
              </a:ext>
            </a:extLst>
          </p:cNvPr>
          <p:cNvSpPr txBox="1">
            <a:spLocks noChangeArrowheads="1"/>
          </p:cNvSpPr>
          <p:nvPr/>
        </p:nvSpPr>
        <p:spPr>
          <a:xfrm>
            <a:off x="666036" y="1760980"/>
            <a:ext cx="759055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1983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TCP/IP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채택</a:t>
            </a:r>
          </a:p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1982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SMTP e-mail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프로토콜 정의</a:t>
            </a:r>
          </a:p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1983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이름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-IP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주소 변환을 위한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DNS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정의</a:t>
            </a:r>
          </a:p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1985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ftp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프로토콜 정의</a:t>
            </a:r>
          </a:p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1988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TCP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혼잡 제어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8BD9190-D59D-4F83-BD4C-120740D55327}"/>
              </a:ext>
            </a:extLst>
          </p:cNvPr>
          <p:cNvGrpSpPr/>
          <p:nvPr/>
        </p:nvGrpSpPr>
        <p:grpSpPr>
          <a:xfrm>
            <a:off x="666036" y="1048432"/>
            <a:ext cx="502804" cy="590566"/>
            <a:chOff x="5678490" y="2646569"/>
            <a:chExt cx="502804" cy="5905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BC382EA-F2E6-4DF8-9ED5-79054F882244}"/>
                </a:ext>
              </a:extLst>
            </p:cNvPr>
            <p:cNvSpPr/>
            <p:nvPr/>
          </p:nvSpPr>
          <p:spPr>
            <a:xfrm>
              <a:off x="5771092" y="3152714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38" name="그래픽 37">
              <a:extLst>
                <a:ext uri="{FF2B5EF4-FFF2-40B4-BE49-F238E27FC236}">
                  <a16:creationId xmlns:a16="http://schemas.microsoft.com/office/drawing/2014/main" id="{1AC02FA4-DE3D-4EA2-B552-A6EF34BF2E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5650557" y="2674502"/>
              <a:ext cx="558670" cy="502804"/>
            </a:xfrm>
            <a:prstGeom prst="rect">
              <a:avLst/>
            </a:prstGeom>
            <a:effectLst/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80DDFA31-DF83-43C9-8E79-B94B387CE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5741954" y="2826171"/>
              <a:ext cx="375876" cy="217726"/>
            </a:xfrm>
            <a:prstGeom prst="rect">
              <a:avLst/>
            </a:prstGeom>
          </p:spPr>
        </p:pic>
      </p:grpSp>
      <p:sp>
        <p:nvSpPr>
          <p:cNvPr id="12" name="Rectangle 5">
            <a:extLst>
              <a:ext uri="{FF2B5EF4-FFF2-40B4-BE49-F238E27FC236}">
                <a16:creationId xmlns:a16="http://schemas.microsoft.com/office/drawing/2014/main" id="{A6599841-0030-4569-A804-194FE4D30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36" y="1112347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1980-1990 :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새로운 프로토콜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,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네트워크의 확산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E0787C2-4362-467A-ABC9-EB084232C6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893" y="4434479"/>
            <a:ext cx="235738" cy="36267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675283A-C68C-4783-A81A-0306469FE2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15" y="5045435"/>
            <a:ext cx="304945" cy="31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4492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7F96208-BE6F-4841-905E-6F7BA0D90B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인터넷</a:t>
            </a:r>
            <a:r>
              <a:rPr lang="ko-KR" altLang="en-US" dirty="0">
                <a:solidFill>
                  <a:schemeClr val="bg1"/>
                </a:solidFill>
                <a:latin typeface="Abadi" panose="020B0604020104020204" pitchFamily="34" charset="0"/>
                <a:ea typeface="G마켓 산스 TTF Medium" panose="02000000000000000000" pitchFamily="2" charset="-127"/>
              </a:rPr>
              <a:t>의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역사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A69347A-9883-4EE4-AA80-AACE8BADC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36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72263F1-2675-45D1-8D46-006FD3A25F69}"/>
              </a:ext>
            </a:extLst>
          </p:cNvPr>
          <p:cNvSpPr txBox="1">
            <a:spLocks noChangeArrowheads="1"/>
          </p:cNvSpPr>
          <p:nvPr/>
        </p:nvSpPr>
        <p:spPr>
          <a:xfrm>
            <a:off x="666036" y="1730500"/>
            <a:ext cx="759055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1990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년대 초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ARPAnet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퇴역</a:t>
            </a:r>
          </a:p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1991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NSFnet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상업화 제한 해제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(1995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년에 퇴역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1990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년대 초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Web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8BD9190-D59D-4F83-BD4C-120740D55327}"/>
              </a:ext>
            </a:extLst>
          </p:cNvPr>
          <p:cNvGrpSpPr/>
          <p:nvPr/>
        </p:nvGrpSpPr>
        <p:grpSpPr>
          <a:xfrm>
            <a:off x="666036" y="1048432"/>
            <a:ext cx="502804" cy="590566"/>
            <a:chOff x="5678490" y="2646569"/>
            <a:chExt cx="502804" cy="5905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BC382EA-F2E6-4DF8-9ED5-79054F882244}"/>
                </a:ext>
              </a:extLst>
            </p:cNvPr>
            <p:cNvSpPr/>
            <p:nvPr/>
          </p:nvSpPr>
          <p:spPr>
            <a:xfrm>
              <a:off x="5771092" y="3152714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38" name="그래픽 37">
              <a:extLst>
                <a:ext uri="{FF2B5EF4-FFF2-40B4-BE49-F238E27FC236}">
                  <a16:creationId xmlns:a16="http://schemas.microsoft.com/office/drawing/2014/main" id="{1AC02FA4-DE3D-4EA2-B552-A6EF34BF2E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5650557" y="2674502"/>
              <a:ext cx="558670" cy="502804"/>
            </a:xfrm>
            <a:prstGeom prst="rect">
              <a:avLst/>
            </a:prstGeom>
            <a:effectLst/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80DDFA31-DF83-43C9-8E79-B94B387CE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5741954" y="2826171"/>
              <a:ext cx="375876" cy="217726"/>
            </a:xfrm>
            <a:prstGeom prst="rect">
              <a:avLst/>
            </a:prstGeom>
          </p:spPr>
        </p:pic>
      </p:grpSp>
      <p:sp>
        <p:nvSpPr>
          <p:cNvPr id="12" name="Rectangle 5">
            <a:extLst>
              <a:ext uri="{FF2B5EF4-FFF2-40B4-BE49-F238E27FC236}">
                <a16:creationId xmlns:a16="http://schemas.microsoft.com/office/drawing/2014/main" id="{A6599841-0030-4569-A804-194FE4D30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36" y="1112347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1990, 2000’s: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상업화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,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웹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,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새 응용들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48ABC0F9-7A8F-4E15-841F-B63784C93140}"/>
              </a:ext>
            </a:extLst>
          </p:cNvPr>
          <p:cNvSpPr txBox="1">
            <a:spLocks noChangeArrowheads="1"/>
          </p:cNvSpPr>
          <p:nvPr/>
        </p:nvSpPr>
        <p:spPr>
          <a:xfrm>
            <a:off x="979249" y="3030836"/>
            <a:ext cx="4257172" cy="141211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hypertext [Bush 1945, Nelson 1960’s]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HTML, HTTP : Berners-Lee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1994 : Mosaic,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후에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Netscape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1990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년대 후반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웹의 상업화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C5570BAF-BA3D-4DA4-80F9-F0042CCAC419}"/>
              </a:ext>
            </a:extLst>
          </p:cNvPr>
          <p:cNvSpPr txBox="1">
            <a:spLocks noChangeArrowheads="1"/>
          </p:cNvSpPr>
          <p:nvPr/>
        </p:nvSpPr>
        <p:spPr>
          <a:xfrm>
            <a:off x="666036" y="4622656"/>
            <a:ext cx="759055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1990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대 후반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– 2000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년대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F37AB8D8-F29D-4A27-A613-810B99DA5B7F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5047084"/>
            <a:ext cx="6396911" cy="141211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더 많은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killer app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들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instant messaging, P2P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파일 공유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보안 문제가 대두됨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약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5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천만 대의 호스트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1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억 명 이상의 사용자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backbone link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Gbps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급으로</a:t>
            </a:r>
          </a:p>
        </p:txBody>
      </p:sp>
    </p:spTree>
    <p:extLst>
      <p:ext uri="{BB962C8B-B14F-4D97-AF65-F5344CB8AC3E}">
        <p14:creationId xmlns:p14="http://schemas.microsoft.com/office/powerpoint/2010/main" val="40105547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7F96208-BE6F-4841-905E-6F7BA0D90B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인터넷</a:t>
            </a:r>
            <a:r>
              <a:rPr lang="ko-KR" altLang="en-US" dirty="0">
                <a:solidFill>
                  <a:schemeClr val="bg1"/>
                </a:solidFill>
                <a:latin typeface="Abadi" panose="020B0604020104020204" pitchFamily="34" charset="0"/>
                <a:ea typeface="G마켓 산스 TTF Medium" panose="02000000000000000000" pitchFamily="2" charset="-127"/>
              </a:rPr>
              <a:t>의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역사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A69347A-9883-4EE4-AA80-AACE8BADC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37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72263F1-2675-45D1-8D46-006FD3A25F69}"/>
              </a:ext>
            </a:extLst>
          </p:cNvPr>
          <p:cNvSpPr txBox="1">
            <a:spLocks noChangeArrowheads="1"/>
          </p:cNvSpPr>
          <p:nvPr/>
        </p:nvSpPr>
        <p:spPr>
          <a:xfrm>
            <a:off x="666036" y="1730500"/>
            <a:ext cx="759055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180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억대의 장비가 인터넷에 연결됨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(2017)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8BD9190-D59D-4F83-BD4C-120740D55327}"/>
              </a:ext>
            </a:extLst>
          </p:cNvPr>
          <p:cNvGrpSpPr/>
          <p:nvPr/>
        </p:nvGrpSpPr>
        <p:grpSpPr>
          <a:xfrm>
            <a:off x="666036" y="1048432"/>
            <a:ext cx="502804" cy="590566"/>
            <a:chOff x="5678490" y="2646569"/>
            <a:chExt cx="502804" cy="590566"/>
          </a:xfrm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BC382EA-F2E6-4DF8-9ED5-79054F882244}"/>
                </a:ext>
              </a:extLst>
            </p:cNvPr>
            <p:cNvSpPr/>
            <p:nvPr/>
          </p:nvSpPr>
          <p:spPr>
            <a:xfrm>
              <a:off x="5771092" y="3152714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38" name="그래픽 37">
              <a:extLst>
                <a:ext uri="{FF2B5EF4-FFF2-40B4-BE49-F238E27FC236}">
                  <a16:creationId xmlns:a16="http://schemas.microsoft.com/office/drawing/2014/main" id="{1AC02FA4-DE3D-4EA2-B552-A6EF34BF2E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5650557" y="2674502"/>
              <a:ext cx="558670" cy="502804"/>
            </a:xfrm>
            <a:prstGeom prst="rect">
              <a:avLst/>
            </a:prstGeom>
            <a:effectLst/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80DDFA31-DF83-43C9-8E79-B94B387CE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5741954" y="2826171"/>
              <a:ext cx="375876" cy="217726"/>
            </a:xfrm>
            <a:prstGeom prst="rect">
              <a:avLst/>
            </a:prstGeom>
          </p:spPr>
        </p:pic>
      </p:grpSp>
      <p:sp>
        <p:nvSpPr>
          <p:cNvPr id="12" name="Rectangle 5">
            <a:extLst>
              <a:ext uri="{FF2B5EF4-FFF2-40B4-BE49-F238E27FC236}">
                <a16:creationId xmlns:a16="http://schemas.microsoft.com/office/drawing/2014/main" id="{A6599841-0030-4569-A804-194FE4D30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36" y="1112347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2005-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Abadi" panose="020B0604020104020204" pitchFamily="34" charset="0"/>
                <a:ea typeface="+mj-ea"/>
                <a:cs typeface="+mj-cs"/>
              </a:rPr>
              <a:t>현재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48ABC0F9-7A8F-4E15-841F-B63784C93140}"/>
              </a:ext>
            </a:extLst>
          </p:cNvPr>
          <p:cNvSpPr txBox="1">
            <a:spLocks noChangeArrowheads="1"/>
          </p:cNvSpPr>
          <p:nvPr/>
        </p:nvSpPr>
        <p:spPr>
          <a:xfrm>
            <a:off x="979249" y="2125236"/>
            <a:ext cx="425717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스마트폰과 태블릿 등</a:t>
            </a: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C5570BAF-BA3D-4DA4-80F9-F0042CCAC419}"/>
              </a:ext>
            </a:extLst>
          </p:cNvPr>
          <p:cNvSpPr txBox="1">
            <a:spLocks noChangeArrowheads="1"/>
          </p:cNvSpPr>
          <p:nvPr/>
        </p:nvSpPr>
        <p:spPr>
          <a:xfrm>
            <a:off x="666036" y="2636912"/>
            <a:ext cx="759055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광대역 접속의 광범위한 적용 </a:t>
            </a:r>
          </a:p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고속 무선 접속의 증가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(4G, 5G, WiFi)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4AB9F3AB-139E-4BEA-A6DC-4C667DE8FE52}"/>
              </a:ext>
            </a:extLst>
          </p:cNvPr>
          <p:cNvSpPr txBox="1">
            <a:spLocks noChangeArrowheads="1"/>
          </p:cNvSpPr>
          <p:nvPr/>
        </p:nvSpPr>
        <p:spPr>
          <a:xfrm>
            <a:off x="666036" y="3519676"/>
            <a:ext cx="759055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online social network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등장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8280278-4AEF-46CF-91D2-63FD90D6BBC4}"/>
              </a:ext>
            </a:extLst>
          </p:cNvPr>
          <p:cNvSpPr txBox="1">
            <a:spLocks noChangeArrowheads="1"/>
          </p:cNvSpPr>
          <p:nvPr/>
        </p:nvSpPr>
        <p:spPr>
          <a:xfrm>
            <a:off x="979249" y="3914412"/>
            <a:ext cx="4257172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Facebook : ~ 25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억명의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사용자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A7DECCD-2096-48C5-937E-9EF3CC88F75A}"/>
              </a:ext>
            </a:extLst>
          </p:cNvPr>
          <p:cNvSpPr txBox="1">
            <a:spLocks noChangeArrowheads="1"/>
          </p:cNvSpPr>
          <p:nvPr/>
        </p:nvSpPr>
        <p:spPr>
          <a:xfrm>
            <a:off x="666036" y="4414252"/>
            <a:ext cx="759055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서비스 제공자들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(Google, Microsoft)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자체 네트워크 구성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4E21C50A-9F9C-472B-9ADD-C3FAD3888BF5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808988"/>
            <a:ext cx="6572171" cy="35028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인터넷을 우회하여 검색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비디오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메일 등을 즉시 접속하도록 함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2920540C-0E43-4F60-B36C-250A0A488C58}"/>
              </a:ext>
            </a:extLst>
          </p:cNvPr>
          <p:cNvSpPr txBox="1">
            <a:spLocks noChangeArrowheads="1"/>
          </p:cNvSpPr>
          <p:nvPr/>
        </p:nvSpPr>
        <p:spPr>
          <a:xfrm>
            <a:off x="666036" y="5301208"/>
            <a:ext cx="759055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>
              <a:lnSpc>
                <a:spcPct val="130000"/>
              </a:lnSpc>
              <a:spcBef>
                <a:spcPts val="10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기업 등 “클라우드”에서 서비스 운영 </a:t>
            </a: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(e.g., Amazon Web Service, MS Azure)</a:t>
            </a:r>
          </a:p>
        </p:txBody>
      </p:sp>
    </p:spTree>
    <p:extLst>
      <p:ext uri="{BB962C8B-B14F-4D97-AF65-F5344CB8AC3E}">
        <p14:creationId xmlns:p14="http://schemas.microsoft.com/office/powerpoint/2010/main" val="31182098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타원 139">
            <a:extLst>
              <a:ext uri="{FF2B5EF4-FFF2-40B4-BE49-F238E27FC236}">
                <a16:creationId xmlns:a16="http://schemas.microsoft.com/office/drawing/2014/main" id="{34483E7B-986C-4E6B-A267-779885B3493A}"/>
              </a:ext>
            </a:extLst>
          </p:cNvPr>
          <p:cNvSpPr/>
          <p:nvPr/>
        </p:nvSpPr>
        <p:spPr>
          <a:xfrm>
            <a:off x="789517" y="1593775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56" name="사각형: 잘린 한쪽 모서리 55">
            <a:extLst>
              <a:ext uri="{FF2B5EF4-FFF2-40B4-BE49-F238E27FC236}">
                <a16:creationId xmlns:a16="http://schemas.microsoft.com/office/drawing/2014/main" id="{9040002F-3D7B-41B5-927D-57A5DD508EAE}"/>
              </a:ext>
            </a:extLst>
          </p:cNvPr>
          <p:cNvSpPr/>
          <p:nvPr/>
        </p:nvSpPr>
        <p:spPr>
          <a:xfrm>
            <a:off x="922020" y="5330066"/>
            <a:ext cx="1789604" cy="430887"/>
          </a:xfrm>
          <a:prstGeom prst="snip1Rect">
            <a:avLst>
              <a:gd name="adj" fmla="val 26946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55" name="사각형: 잘린 한쪽 모서리 54">
            <a:extLst>
              <a:ext uri="{FF2B5EF4-FFF2-40B4-BE49-F238E27FC236}">
                <a16:creationId xmlns:a16="http://schemas.microsoft.com/office/drawing/2014/main" id="{6C2CE71F-580C-48A1-9CE5-0733B3B8EFF2}"/>
              </a:ext>
            </a:extLst>
          </p:cNvPr>
          <p:cNvSpPr/>
          <p:nvPr/>
        </p:nvSpPr>
        <p:spPr>
          <a:xfrm>
            <a:off x="922020" y="1184786"/>
            <a:ext cx="1789604" cy="430887"/>
          </a:xfrm>
          <a:prstGeom prst="snip1Rect">
            <a:avLst>
              <a:gd name="adj" fmla="val 26946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FE6863A-2EFF-4F3B-9B9F-1844AD284A56}"/>
              </a:ext>
            </a:extLst>
          </p:cNvPr>
          <p:cNvGrpSpPr/>
          <p:nvPr/>
        </p:nvGrpSpPr>
        <p:grpSpPr>
          <a:xfrm>
            <a:off x="2927648" y="5357976"/>
            <a:ext cx="4484300" cy="811184"/>
            <a:chOff x="853199" y="5537096"/>
            <a:chExt cx="4484300" cy="81118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E61AEB9-2C58-4D10-BA47-6CE3770D6123}"/>
                </a:ext>
              </a:extLst>
            </p:cNvPr>
            <p:cNvSpPr txBox="1"/>
            <p:nvPr/>
          </p:nvSpPr>
          <p:spPr>
            <a:xfrm>
              <a:off x="1073314" y="5537096"/>
              <a:ext cx="4264185" cy="811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3" latinLnBrk="0">
                <a:lnSpc>
                  <a:spcPct val="120000"/>
                </a:lnSpc>
                <a:spcBef>
                  <a:spcPts val="600"/>
                </a:spcBef>
                <a:buClr>
                  <a:srgbClr val="0B9D96"/>
                </a:buClr>
                <a:buSzPct val="80000"/>
              </a:pPr>
              <a:r>
                <a:rPr lang="ko-KR" altLang="en-US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네트워킹 전반에 대한 개요와 느낌</a:t>
              </a:r>
            </a:p>
            <a:p>
              <a:pPr marL="0" lvl="3" latinLnBrk="0">
                <a:lnSpc>
                  <a:spcPct val="120000"/>
                </a:lnSpc>
                <a:spcBef>
                  <a:spcPts val="600"/>
                </a:spcBef>
                <a:buClr>
                  <a:srgbClr val="0B9D96"/>
                </a:buClr>
                <a:buSzPct val="80000"/>
              </a:pPr>
              <a:r>
                <a:rPr lang="ko-KR" altLang="en-US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뒤에 더 깊이 있는 내용이 나옴</a:t>
              </a:r>
              <a:r>
                <a:rPr lang="en-US" altLang="ko-KR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!</a:t>
              </a: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4DE6166C-B303-4549-8D4F-D9DADE78E2E4}"/>
                </a:ext>
              </a:extLst>
            </p:cNvPr>
            <p:cNvGrpSpPr/>
            <p:nvPr/>
          </p:nvGrpSpPr>
          <p:grpSpPr>
            <a:xfrm>
              <a:off x="853199" y="5640007"/>
              <a:ext cx="171105" cy="171646"/>
              <a:chOff x="1029671" y="3159333"/>
              <a:chExt cx="387927" cy="389152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ADF01F6F-43C0-44C3-BB1D-FF84F5B0B505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rgbClr val="DCF5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9" name="그래픽 40">
                <a:extLst>
                  <a:ext uri="{FF2B5EF4-FFF2-40B4-BE49-F238E27FC236}">
                    <a16:creationId xmlns:a16="http://schemas.microsoft.com/office/drawing/2014/main" id="{EFDC9379-F84F-4427-B193-FA4542DC39E2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0BA59E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ED2C74BC-4191-4332-9AAF-B6F00B206848}"/>
                </a:ext>
              </a:extLst>
            </p:cNvPr>
            <p:cNvGrpSpPr/>
            <p:nvPr/>
          </p:nvGrpSpPr>
          <p:grpSpPr>
            <a:xfrm>
              <a:off x="853199" y="6075060"/>
              <a:ext cx="171105" cy="171646"/>
              <a:chOff x="1029671" y="3159333"/>
              <a:chExt cx="387927" cy="389152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26712775-2AD7-49B4-B942-67E628468777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rgbClr val="DCF5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94" name="그래픽 40">
                <a:extLst>
                  <a:ext uri="{FF2B5EF4-FFF2-40B4-BE49-F238E27FC236}">
                    <a16:creationId xmlns:a16="http://schemas.microsoft.com/office/drawing/2014/main" id="{9E2B760F-FD6A-440F-8E0F-E93025032C3A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0BA59E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46" name="텍스트 개체 틀 19">
            <a:extLst>
              <a:ext uri="{FF2B5EF4-FFF2-40B4-BE49-F238E27FC236}">
                <a16:creationId xmlns:a16="http://schemas.microsoft.com/office/drawing/2014/main" id="{2046D7D4-D433-4E94-A998-63D7FF12AAF4}"/>
              </a:ext>
            </a:extLst>
          </p:cNvPr>
          <p:cNvSpPr txBox="1">
            <a:spLocks/>
          </p:cNvSpPr>
          <p:nvPr/>
        </p:nvSpPr>
        <p:spPr>
          <a:xfrm>
            <a:off x="1327791" y="5373216"/>
            <a:ext cx="1226814" cy="330283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defRPr/>
            </a:pP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습득한 내용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C6133566-FFE2-4E4A-90EE-1DCE36C01D75}"/>
              </a:ext>
            </a:extLst>
          </p:cNvPr>
          <p:cNvSpPr/>
          <p:nvPr/>
        </p:nvSpPr>
        <p:spPr>
          <a:xfrm>
            <a:off x="894616" y="5609726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92D4AE1-5FD2-4663-B72E-8C549690063D}"/>
              </a:ext>
            </a:extLst>
          </p:cNvPr>
          <p:cNvGrpSpPr/>
          <p:nvPr/>
        </p:nvGrpSpPr>
        <p:grpSpPr>
          <a:xfrm>
            <a:off x="696915" y="5247597"/>
            <a:ext cx="502804" cy="558670"/>
            <a:chOff x="5180015" y="1172579"/>
            <a:chExt cx="502804" cy="558670"/>
          </a:xfrm>
        </p:grpSpPr>
        <p:pic>
          <p:nvPicPr>
            <p:cNvPr id="131" name="그래픽 130">
              <a:extLst>
                <a:ext uri="{FF2B5EF4-FFF2-40B4-BE49-F238E27FC236}">
                  <a16:creationId xmlns:a16="http://schemas.microsoft.com/office/drawing/2014/main" id="{82608832-9134-414F-9642-1FE94BE6AF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5152082" y="1200512"/>
              <a:ext cx="558670" cy="502804"/>
            </a:xfrm>
            <a:prstGeom prst="rect">
              <a:avLst/>
            </a:prstGeom>
          </p:spPr>
        </p:pic>
        <p:pic>
          <p:nvPicPr>
            <p:cNvPr id="132" name="그림 131">
              <a:extLst>
                <a:ext uri="{FF2B5EF4-FFF2-40B4-BE49-F238E27FC236}">
                  <a16:creationId xmlns:a16="http://schemas.microsoft.com/office/drawing/2014/main" id="{2DCED444-E826-4809-A9ED-95F71AABC6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5286372" y="1268610"/>
              <a:ext cx="290090" cy="345821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01BAC8D-E626-45D5-9A9B-8CA4F9C1514B}"/>
              </a:ext>
            </a:extLst>
          </p:cNvPr>
          <p:cNvGrpSpPr/>
          <p:nvPr/>
        </p:nvGrpSpPr>
        <p:grpSpPr>
          <a:xfrm>
            <a:off x="2927648" y="1140356"/>
            <a:ext cx="4254835" cy="3789692"/>
            <a:chOff x="3570905" y="1178456"/>
            <a:chExt cx="4254835" cy="378969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3EDF889-B088-460F-B922-AB727F02E712}"/>
                </a:ext>
              </a:extLst>
            </p:cNvPr>
            <p:cNvSpPr txBox="1"/>
            <p:nvPr/>
          </p:nvSpPr>
          <p:spPr>
            <a:xfrm>
              <a:off x="3791020" y="1178456"/>
              <a:ext cx="4034720" cy="37896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3">
                <a:lnSpc>
                  <a:spcPct val="130000"/>
                </a:lnSpc>
                <a:spcBef>
                  <a:spcPts val="600"/>
                </a:spcBef>
                <a:buClr>
                  <a:srgbClr val="105BA0"/>
                </a:buClr>
                <a:buSzPct val="80000"/>
              </a:pPr>
              <a:r>
                <a:rPr lang="ko-KR" altLang="en-US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인터넷 개관</a:t>
              </a:r>
            </a:p>
            <a:p>
              <a:pPr marL="0" lvl="3">
                <a:lnSpc>
                  <a:spcPct val="130000"/>
                </a:lnSpc>
                <a:spcBef>
                  <a:spcPts val="600"/>
                </a:spcBef>
                <a:buClr>
                  <a:srgbClr val="105BA0"/>
                </a:buClr>
                <a:buSzPct val="80000"/>
              </a:pPr>
              <a:r>
                <a:rPr lang="ko-KR" altLang="en-US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프로토콜이란</a:t>
              </a:r>
              <a:r>
                <a:rPr lang="en-US" altLang="ko-KR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?</a:t>
              </a:r>
            </a:p>
            <a:p>
              <a:pPr marL="0" lvl="3">
                <a:lnSpc>
                  <a:spcPct val="130000"/>
                </a:lnSpc>
                <a:spcBef>
                  <a:spcPts val="600"/>
                </a:spcBef>
                <a:buClr>
                  <a:srgbClr val="105BA0"/>
                </a:buClr>
                <a:buSzPct val="80000"/>
              </a:pPr>
              <a:r>
                <a:rPr lang="ko-KR" altLang="en-US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네트워크 </a:t>
              </a:r>
              <a:r>
                <a:rPr lang="en-US" altLang="ko-KR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Edge, Core, </a:t>
              </a:r>
              <a:r>
                <a:rPr lang="ko-KR" altLang="en-US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접속 네트워크</a:t>
              </a:r>
            </a:p>
            <a:p>
              <a:pPr marL="180000" lvl="3" indent="-180000">
                <a:lnSpc>
                  <a:spcPct val="120000"/>
                </a:lnSpc>
                <a:spcBef>
                  <a:spcPts val="600"/>
                </a:spcBef>
                <a:buClr>
                  <a:srgbClr val="105BA0"/>
                </a:buClr>
                <a:buSzPct val="80000"/>
                <a:buFont typeface="Arial" panose="020B0604020202020204" pitchFamily="34" charset="0"/>
                <a:buChar char="•"/>
              </a:pPr>
              <a:r>
                <a:rPr lang="ko-KR" altLang="en-US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패킷교환과 회선교환</a:t>
              </a:r>
            </a:p>
            <a:p>
              <a:pPr marL="180000" lvl="3" indent="-180000">
                <a:lnSpc>
                  <a:spcPct val="120000"/>
                </a:lnSpc>
                <a:spcBef>
                  <a:spcPts val="600"/>
                </a:spcBef>
                <a:buClr>
                  <a:srgbClr val="105BA0"/>
                </a:buClr>
                <a:buSzPct val="80000"/>
                <a:buFont typeface="Arial" panose="020B0604020202020204" pitchFamily="34" charset="0"/>
                <a:buChar char="•"/>
              </a:pPr>
              <a:r>
                <a:rPr lang="ko-KR" altLang="en-US" sz="16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인터넷 구조</a:t>
              </a:r>
            </a:p>
            <a:p>
              <a:pPr marL="0" lvl="3">
                <a:lnSpc>
                  <a:spcPct val="130000"/>
                </a:lnSpc>
                <a:spcBef>
                  <a:spcPts val="600"/>
                </a:spcBef>
                <a:buClr>
                  <a:srgbClr val="105BA0"/>
                </a:buClr>
                <a:buSzPct val="80000"/>
              </a:pPr>
              <a:r>
                <a:rPr lang="ko-KR" altLang="en-US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성능</a:t>
              </a:r>
              <a:r>
                <a:rPr lang="en-US" altLang="ko-KR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: </a:t>
              </a:r>
              <a:r>
                <a:rPr lang="ko-KR" altLang="en-US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손실</a:t>
              </a:r>
              <a:r>
                <a:rPr lang="en-US" altLang="ko-KR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, </a:t>
              </a:r>
              <a:r>
                <a:rPr lang="ko-KR" altLang="en-US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지연</a:t>
              </a:r>
              <a:r>
                <a:rPr lang="en-US" altLang="ko-KR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, </a:t>
              </a:r>
              <a:r>
                <a:rPr lang="ko-KR" altLang="en-US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대역폭</a:t>
              </a:r>
            </a:p>
            <a:p>
              <a:pPr marL="0" lvl="3">
                <a:lnSpc>
                  <a:spcPct val="130000"/>
                </a:lnSpc>
                <a:spcBef>
                  <a:spcPts val="600"/>
                </a:spcBef>
                <a:buClr>
                  <a:srgbClr val="105BA0"/>
                </a:buClr>
                <a:buSzPct val="80000"/>
              </a:pPr>
              <a:r>
                <a:rPr lang="ko-KR" altLang="en-US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계층화</a:t>
              </a:r>
              <a:r>
                <a:rPr lang="en-US" altLang="ko-KR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, </a:t>
              </a:r>
              <a:r>
                <a:rPr lang="ko-KR" altLang="en-US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서비스 모델</a:t>
              </a:r>
            </a:p>
            <a:p>
              <a:pPr marL="0" lvl="3">
                <a:lnSpc>
                  <a:spcPct val="130000"/>
                </a:lnSpc>
                <a:spcBef>
                  <a:spcPts val="600"/>
                </a:spcBef>
                <a:buClr>
                  <a:srgbClr val="105BA0"/>
                </a:buClr>
                <a:buSzPct val="80000"/>
              </a:pPr>
              <a:r>
                <a:rPr lang="ko-KR" altLang="en-US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보안</a:t>
              </a:r>
            </a:p>
            <a:p>
              <a:pPr marL="0" lvl="3">
                <a:lnSpc>
                  <a:spcPct val="130000"/>
                </a:lnSpc>
                <a:spcBef>
                  <a:spcPts val="600"/>
                </a:spcBef>
                <a:buClr>
                  <a:srgbClr val="105BA0"/>
                </a:buClr>
                <a:buSzPct val="80000"/>
              </a:pPr>
              <a:r>
                <a:rPr lang="ko-KR" altLang="en-US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chemeClr val="bg2">
                      <a:lumMod val="1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역사</a:t>
              </a:r>
            </a:p>
          </p:txBody>
        </p: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C93964C2-07D3-4AD6-8B78-379A2DC05A1F}"/>
                </a:ext>
              </a:extLst>
            </p:cNvPr>
            <p:cNvGrpSpPr/>
            <p:nvPr/>
          </p:nvGrpSpPr>
          <p:grpSpPr>
            <a:xfrm>
              <a:off x="3570905" y="1319467"/>
              <a:ext cx="171105" cy="171646"/>
              <a:chOff x="1029671" y="3159333"/>
              <a:chExt cx="387927" cy="389152"/>
            </a:xfrm>
          </p:grpSpPr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8AFD80B9-3DF3-4F89-BCD6-3BFC9ED30AA7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97" name="그래픽 40">
                <a:extLst>
                  <a:ext uri="{FF2B5EF4-FFF2-40B4-BE49-F238E27FC236}">
                    <a16:creationId xmlns:a16="http://schemas.microsoft.com/office/drawing/2014/main" id="{46EBAC56-EDCA-4069-8FE9-911E99091C66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AFEB8ECF-1DE5-4361-A7A8-B04E03F8D70E}"/>
                </a:ext>
              </a:extLst>
            </p:cNvPr>
            <p:cNvGrpSpPr/>
            <p:nvPr/>
          </p:nvGrpSpPr>
          <p:grpSpPr>
            <a:xfrm>
              <a:off x="3570905" y="1754520"/>
              <a:ext cx="171105" cy="171646"/>
              <a:chOff x="1029671" y="3159333"/>
              <a:chExt cx="387927" cy="389152"/>
            </a:xfrm>
          </p:grpSpPr>
          <p:sp>
            <p:nvSpPr>
              <p:cNvPr id="99" name="타원 98">
                <a:extLst>
                  <a:ext uri="{FF2B5EF4-FFF2-40B4-BE49-F238E27FC236}">
                    <a16:creationId xmlns:a16="http://schemas.microsoft.com/office/drawing/2014/main" id="{695ECECF-DAB7-4BDD-A987-FFBECF8A9FC4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100" name="그래픽 40">
                <a:extLst>
                  <a:ext uri="{FF2B5EF4-FFF2-40B4-BE49-F238E27FC236}">
                    <a16:creationId xmlns:a16="http://schemas.microsoft.com/office/drawing/2014/main" id="{4F40250F-7F6D-4D6D-8A70-5063E4F78A97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C35CBAD5-AFD9-4069-B35D-1EB889C7604B}"/>
                </a:ext>
              </a:extLst>
            </p:cNvPr>
            <p:cNvGrpSpPr/>
            <p:nvPr/>
          </p:nvGrpSpPr>
          <p:grpSpPr>
            <a:xfrm>
              <a:off x="3570905" y="2192757"/>
              <a:ext cx="171105" cy="171646"/>
              <a:chOff x="1029671" y="3159333"/>
              <a:chExt cx="387927" cy="389152"/>
            </a:xfrm>
          </p:grpSpPr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B11C26CA-FC22-409D-9FF0-E1F8D24D4084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103" name="그래픽 40">
                <a:extLst>
                  <a:ext uri="{FF2B5EF4-FFF2-40B4-BE49-F238E27FC236}">
                    <a16:creationId xmlns:a16="http://schemas.microsoft.com/office/drawing/2014/main" id="{F1DB9304-0254-4D12-8A98-05AA2F61D7A4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3223C0C5-464D-4BD0-AA4F-33290F52930D}"/>
                </a:ext>
              </a:extLst>
            </p:cNvPr>
            <p:cNvGrpSpPr/>
            <p:nvPr/>
          </p:nvGrpSpPr>
          <p:grpSpPr>
            <a:xfrm>
              <a:off x="3570905" y="3346316"/>
              <a:ext cx="171105" cy="171646"/>
              <a:chOff x="1029671" y="3159333"/>
              <a:chExt cx="387927" cy="389152"/>
            </a:xfrm>
          </p:grpSpPr>
          <p:sp>
            <p:nvSpPr>
              <p:cNvPr id="108" name="타원 107">
                <a:extLst>
                  <a:ext uri="{FF2B5EF4-FFF2-40B4-BE49-F238E27FC236}">
                    <a16:creationId xmlns:a16="http://schemas.microsoft.com/office/drawing/2014/main" id="{858750BB-FA77-4B14-8CD5-624C64A78752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109" name="그래픽 40">
                <a:extLst>
                  <a:ext uri="{FF2B5EF4-FFF2-40B4-BE49-F238E27FC236}">
                    <a16:creationId xmlns:a16="http://schemas.microsoft.com/office/drawing/2014/main" id="{54375FE9-2A45-40EE-87A8-D440842E763A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EE86680E-BEBC-4757-920D-6554327143BB}"/>
                </a:ext>
              </a:extLst>
            </p:cNvPr>
            <p:cNvGrpSpPr/>
            <p:nvPr/>
          </p:nvGrpSpPr>
          <p:grpSpPr>
            <a:xfrm>
              <a:off x="3570905" y="3782961"/>
              <a:ext cx="171105" cy="171646"/>
              <a:chOff x="1029671" y="3159333"/>
              <a:chExt cx="387927" cy="389152"/>
            </a:xfrm>
          </p:grpSpPr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D20CCE7F-0127-42BD-A8F3-677EB5F5FE4D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112" name="그래픽 40">
                <a:extLst>
                  <a:ext uri="{FF2B5EF4-FFF2-40B4-BE49-F238E27FC236}">
                    <a16:creationId xmlns:a16="http://schemas.microsoft.com/office/drawing/2014/main" id="{23CB830A-D05A-4959-B007-7C3DAE8D9CCF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16275661-9155-4D81-AB69-D1A092167401}"/>
                </a:ext>
              </a:extLst>
            </p:cNvPr>
            <p:cNvGrpSpPr/>
            <p:nvPr/>
          </p:nvGrpSpPr>
          <p:grpSpPr>
            <a:xfrm>
              <a:off x="3570905" y="4219606"/>
              <a:ext cx="171105" cy="171646"/>
              <a:chOff x="1029671" y="3159333"/>
              <a:chExt cx="387927" cy="389152"/>
            </a:xfrm>
          </p:grpSpPr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888D923F-B54A-49BC-92B0-870D09765898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115" name="그래픽 40">
                <a:extLst>
                  <a:ext uri="{FF2B5EF4-FFF2-40B4-BE49-F238E27FC236}">
                    <a16:creationId xmlns:a16="http://schemas.microsoft.com/office/drawing/2014/main" id="{D85B28D0-E407-48BD-BBFF-8E584F08C6B9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62221626-B04C-4B8E-8E78-83883BA97D60}"/>
                </a:ext>
              </a:extLst>
            </p:cNvPr>
            <p:cNvGrpSpPr/>
            <p:nvPr/>
          </p:nvGrpSpPr>
          <p:grpSpPr>
            <a:xfrm>
              <a:off x="3570905" y="4656251"/>
              <a:ext cx="171105" cy="171646"/>
              <a:chOff x="1029671" y="3159333"/>
              <a:chExt cx="387927" cy="389152"/>
            </a:xfrm>
          </p:grpSpPr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2055B372-4737-41C0-A8F4-398A4D9B4931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118" name="그래픽 40">
                <a:extLst>
                  <a:ext uri="{FF2B5EF4-FFF2-40B4-BE49-F238E27FC236}">
                    <a16:creationId xmlns:a16="http://schemas.microsoft.com/office/drawing/2014/main" id="{08B691DE-CCBC-4F38-BD95-F718EFD1203D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137" name="텍스트 개체 틀 19">
            <a:extLst>
              <a:ext uri="{FF2B5EF4-FFF2-40B4-BE49-F238E27FC236}">
                <a16:creationId xmlns:a16="http://schemas.microsoft.com/office/drawing/2014/main" id="{92AE30FD-68A1-4CD8-A7DA-D206F1F367AC}"/>
              </a:ext>
            </a:extLst>
          </p:cNvPr>
          <p:cNvSpPr txBox="1">
            <a:spLocks/>
          </p:cNvSpPr>
          <p:nvPr/>
        </p:nvSpPr>
        <p:spPr>
          <a:xfrm>
            <a:off x="1327791" y="1213249"/>
            <a:ext cx="2425059" cy="330283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defRPr/>
            </a:pP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살펴본 내용</a:t>
            </a:r>
          </a:p>
        </p:txBody>
      </p:sp>
      <p:pic>
        <p:nvPicPr>
          <p:cNvPr id="141" name="그래픽 140">
            <a:extLst>
              <a:ext uri="{FF2B5EF4-FFF2-40B4-BE49-F238E27FC236}">
                <a16:creationId xmlns:a16="http://schemas.microsoft.com/office/drawing/2014/main" id="{D5F2BC23-2053-44B7-B4F1-09895E1F42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668982" y="1115563"/>
            <a:ext cx="558670" cy="502804"/>
          </a:xfrm>
          <a:prstGeom prst="rect">
            <a:avLst/>
          </a:prstGeom>
          <a:effectLst/>
        </p:spPr>
      </p:pic>
      <p:pic>
        <p:nvPicPr>
          <p:cNvPr id="143" name="그림 142">
            <a:extLst>
              <a:ext uri="{FF2B5EF4-FFF2-40B4-BE49-F238E27FC236}">
                <a16:creationId xmlns:a16="http://schemas.microsoft.com/office/drawing/2014/main" id="{B7E13997-A56D-44BF-AA29-B901F66A39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0379" y="1267232"/>
            <a:ext cx="375876" cy="217726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99CFC2-FFAE-4177-975F-3154CDD341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atinLnBrk="0">
              <a:lnSpc>
                <a:spcPct val="110000"/>
              </a:lnSpc>
              <a:spcBef>
                <a:spcPts val="600"/>
              </a:spcBef>
            </a:pPr>
            <a:r>
              <a:rPr lang="en-US" altLang="ko-KR" sz="18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Abadi" panose="020B0604020104020204" pitchFamily="34" charset="0"/>
                <a:cs typeface="Microsoft GothicNeo" panose="020B0503020000020004" pitchFamily="34" charset="-127"/>
              </a:rPr>
              <a:t>Chapter 1.</a:t>
            </a:r>
            <a:r>
              <a:rPr lang="ko-KR" altLang="en-US" sz="18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Abadi" panose="020B0604020104020204" pitchFamily="34" charset="0"/>
                <a:cs typeface="Microsoft GothicNeo" panose="020B0503020000020004" pitchFamily="34" charset="-127"/>
              </a:rPr>
              <a:t> </a:t>
            </a:r>
            <a:r>
              <a:rPr lang="ko-KR" altLang="en-US" sz="1800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latin typeface="Abadi" panose="020B0604020104020204" pitchFamily="34" charset="0"/>
                <a:cs typeface="+mj-cs"/>
              </a:rPr>
              <a:t>컴퓨터 네트워크</a:t>
            </a:r>
            <a:r>
              <a:rPr lang="ko-KR" altLang="en-US" sz="1800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latin typeface="Abadi" panose="020B0604020104020204" pitchFamily="34" charset="0"/>
                <a:ea typeface="G마켓 산스 TTF Medium" panose="02000000000000000000" pitchFamily="2" charset="-127"/>
                <a:cs typeface="+mj-cs"/>
              </a:rPr>
              <a:t>와</a:t>
            </a:r>
            <a:r>
              <a:rPr lang="ko-KR" altLang="en-US" sz="1800" spc="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latin typeface="Abadi" panose="020B0604020104020204" pitchFamily="34" charset="0"/>
                <a:cs typeface="+mj-cs"/>
              </a:rPr>
              <a:t> 인터넷 요약</a:t>
            </a:r>
            <a:endParaRPr lang="ko-KR" altLang="en-US" sz="1800" spc="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1"/>
              </a:solidFill>
              <a:effectLst/>
              <a:latin typeface="Abadi" panose="020B0604020104020204" pitchFamily="34" charset="0"/>
              <a:cs typeface="+mj-cs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3975020E-7325-45EA-A29F-FFCDB2B6A782}"/>
              </a:ext>
            </a:extLst>
          </p:cNvPr>
          <p:cNvCxnSpPr>
            <a:cxnSpLocks/>
          </p:cNvCxnSpPr>
          <p:nvPr/>
        </p:nvCxnSpPr>
        <p:spPr>
          <a:xfrm flipH="1">
            <a:off x="587716" y="5061436"/>
            <a:ext cx="760378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14DF04B2-5A33-464A-B322-685213678A55}"/>
              </a:ext>
            </a:extLst>
          </p:cNvPr>
          <p:cNvSpPr/>
          <p:nvPr/>
        </p:nvSpPr>
        <p:spPr>
          <a:xfrm>
            <a:off x="789517" y="5797644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1F657D-395C-2B43-A6A6-40BA0D43F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208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1">
      <a:majorFont>
        <a:latin typeface="G마켓 산스 TTF Bold"/>
        <a:ea typeface="G마켓 산스 TTF Bold"/>
        <a:cs typeface=""/>
      </a:majorFont>
      <a:minorFont>
        <a:latin typeface="G마켓 산스 TTF Medium"/>
        <a:ea typeface="넥슨Lv1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 defTabSz="914583">
          <a:defRPr>
            <a:solidFill>
              <a:prstClr val="white"/>
            </a:solidFill>
            <a:latin typeface="나눔스퀘어" panose="020B0600000101010101" pitchFamily="50" charset="-127"/>
            <a:ea typeface="나눔스퀘어" panose="020B060000010101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91440" tIns="45720" rIns="91440" bIns="45720" rtlCol="0">
        <a:spAutoFit/>
      </a:bodyPr>
      <a:lstStyle>
        <a:defPPr marL="180000" indent="-180000" algn="l">
          <a:lnSpc>
            <a:spcPct val="120000"/>
          </a:lnSpc>
          <a:spcBef>
            <a:spcPts val="600"/>
          </a:spcBef>
          <a:buClr>
            <a:srgbClr val="0B4CA2"/>
          </a:buClr>
          <a:buSzPct val="80000"/>
          <a:defRPr sz="1600">
            <a:ln>
              <a:solidFill>
                <a:srgbClr val="2D5897">
                  <a:alpha val="0"/>
                </a:srgbClr>
              </a:solidFill>
            </a:ln>
            <a:latin typeface="넥슨Lv1고딕" panose="00000500000000000000" pitchFamily="2" charset="-127"/>
            <a:ea typeface="넥슨Lv1고딕" panose="000005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3304</TotalTime>
  <Words>2628</Words>
  <Application>Microsoft Office PowerPoint</Application>
  <PresentationFormat>와이드스크린</PresentationFormat>
  <Paragraphs>567</Paragraphs>
  <Slides>38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7" baseType="lpstr">
      <vt:lpstr>넥슨Lv1고딕 Bold</vt:lpstr>
      <vt:lpstr>Abadi</vt:lpstr>
      <vt:lpstr>Microsoft GothicNeo</vt:lpstr>
      <vt:lpstr>Arial</vt:lpstr>
      <vt:lpstr>Wingdings</vt:lpstr>
      <vt:lpstr>넥슨Lv1고딕</vt:lpstr>
      <vt:lpstr>ＭＳ Ｐゴシック</vt:lpstr>
      <vt:lpstr>G마켓 산스 TTF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 템포</dc:creator>
  <cp:lastModifiedBy>태호 안</cp:lastModifiedBy>
  <cp:revision>72</cp:revision>
  <dcterms:created xsi:type="dcterms:W3CDTF">2021-12-17T00:49:19Z</dcterms:created>
  <dcterms:modified xsi:type="dcterms:W3CDTF">2026-10-01T04:18:34Z</dcterms:modified>
</cp:coreProperties>
</file>