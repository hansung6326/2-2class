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9" r:id="rId13"/>
    <p:sldId id="270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09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22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1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91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10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02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659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E17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1강 · 개요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423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Source Software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" y="3063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이해하기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저작권은 있지만 자유롭게 쓸 수 있는 소프트웨어 — 그 정의부터 참여 방법까지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용어와 정의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939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Software와 OSS는 어떻게 다른가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96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라이선스와 형태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9352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원칙과 대표 유형은 무엇인가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38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장점과 단점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7764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쓰고, 무엇을 조심해야 하는가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197096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279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역사와 중요성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성장해왔고, 왜 지금 중요한가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038344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생태계 참여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17320" y="5458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GitHub에서 어떻게 기여를 시작하는가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용어와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정리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4028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Software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715768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Software Foundation (FSF) · 윤리적 관점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3383280"/>
            <a:ext cx="2734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실행·연구(수정)·배포·수정본 재배포라는 4대 자유를 보장하는 데 중점. GPL 등 카피레프트 라이선스는 파생물도 동일한 자유를 유지하도록 요구.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E1F8EC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224028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Source Software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462272" y="2715768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Source Initiative (OSI) · 실용적 관점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62272" y="3383280"/>
            <a:ext cx="2734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소스코드를 공개하는 것이 더 나은 소프트웨어를 만드는 방법이라는 관점.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코드에 대한 검증과 협업으로 품질과 개발 속도를 높이는 데 중점.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9659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7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8028432" y="224028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Proprietary Software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028432" y="2715768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Closed Source Software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28432" y="3383280"/>
            <a:ext cx="2734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비공개.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·수정·배포가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저작권자가 허락한 범위 안에서만 가능.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solidFill>
            <a:srgbClr val="F7F5FB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FOSS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(Free Open Source Software), </a:t>
            </a:r>
            <a:r>
              <a:rPr lang="en-US" sz="12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FLOSS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(Free/Libre Open Source Software) </a:t>
            </a:r>
            <a:endParaRPr lang="en-US" sz="125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buNone/>
            </a:pP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개념을 함께 아우르는 표현으로, 국내에서는 흔히 “공개 소프트웨어”라고 부릅니다.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6295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용어와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OSS의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저작권자가 소스코드를 </a:t>
            </a:r>
            <a:r>
              <a:rPr lang="en-US" sz="20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하여, </a:t>
            </a:r>
            <a:endParaRPr lang="en-US" sz="2000" b="1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</a:t>
            </a:r>
            <a:r>
              <a:rPr lang="en-US" sz="20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자유롭게 </a:t>
            </a:r>
            <a:r>
              <a:rPr lang="en-US" sz="2000" b="1" u="sng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사용·수정·재배포</a:t>
            </a: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</a:t>
            </a:r>
            <a:r>
              <a:rPr lang="en-US" sz="2000" b="1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</a:t>
            </a:r>
            <a:r>
              <a:rPr lang="en-US" sz="20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SW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9832" y="3096489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D3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9832" y="3096489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77192" y="3096489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9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7192" y="3096489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14552" y="3096489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C2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4552" y="3096489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재배포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3949" y="536420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공유와 협업을 통한 지속적 발전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95160" y="1827139"/>
            <a:ext cx="4526280" cy="4114800"/>
          </a:xfrm>
          <a:prstGeom prst="roundRect">
            <a:avLst>
              <a:gd name="adj" fmla="val 1778"/>
            </a:avLst>
          </a:prstGeom>
          <a:solidFill>
            <a:srgbClr val="F7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라이선스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26060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2547849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느슨함 — 표시만 하면 자유롭게 사용·수정·재배포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9480" y="331927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33192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324861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MIT와 유사 + 특허 조항 포함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69480" y="4032504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40325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3968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카피레프트 — 파생물도 동일 라이선스로 공개해야 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69480" y="49834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Source Initiative(OSI)에는 약 80개의 인증 라이선스가 등록되어 있습니다.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9"/>
          <p:cNvSpPr/>
          <p:nvPr/>
        </p:nvSpPr>
        <p:spPr>
          <a:xfrm>
            <a:off x="423949" y="5941939"/>
            <a:ext cx="6467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/>
              <a:t>무료 배포되지만 소스가 비공개인 프로그램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</a:t>
            </a:r>
            <a:r>
              <a:rPr lang="ko-KR" altLang="en-US" sz="1100" dirty="0" err="1" smtClean="0"/>
              <a:t>카카오톡</a:t>
            </a:r>
            <a:r>
              <a:rPr lang="en-US" altLang="ko-KR" sz="1100" dirty="0" smtClean="0"/>
              <a:t>)</a:t>
            </a:r>
            <a:r>
              <a:rPr lang="ko-KR" altLang="en-US" sz="1100" dirty="0"/>
              <a:t>은 </a:t>
            </a:r>
            <a:r>
              <a:rPr lang="en-US" altLang="ko-KR" sz="1100" dirty="0"/>
              <a:t>OSS</a:t>
            </a:r>
            <a:r>
              <a:rPr lang="ko-KR" altLang="en-US" sz="1100" dirty="0"/>
              <a:t>가 아님 </a:t>
            </a:r>
            <a:r>
              <a:rPr lang="en-US" altLang="ko-KR" sz="1100" dirty="0"/>
              <a:t>— </a:t>
            </a:r>
            <a:r>
              <a:rPr lang="ko-KR" altLang="en-US" sz="1100" dirty="0" smtClean="0"/>
              <a:t>소스 공개도</a:t>
            </a:r>
            <a:r>
              <a:rPr lang="en-US" altLang="ko-KR" sz="1100" dirty="0"/>
              <a:t>, </a:t>
            </a:r>
            <a:r>
              <a:rPr lang="ko-KR" altLang="en-US" sz="1100" dirty="0"/>
              <a:t>협업도 안 되니까</a:t>
            </a:r>
            <a:endParaRPr lang="en-US" sz="1100" dirty="0"/>
          </a:p>
        </p:txBody>
      </p:sp>
      <p:sp>
        <p:nvSpPr>
          <p:cNvPr id="30" name="Shape 4"/>
          <p:cNvSpPr/>
          <p:nvPr/>
        </p:nvSpPr>
        <p:spPr>
          <a:xfrm>
            <a:off x="384048" y="406368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E1F8EC"/>
          </a:solidFill>
          <a:ln/>
        </p:spPr>
      </p:sp>
      <p:sp>
        <p:nvSpPr>
          <p:cNvPr id="31" name="Text 5"/>
          <p:cNvSpPr/>
          <p:nvPr/>
        </p:nvSpPr>
        <p:spPr>
          <a:xfrm>
            <a:off x="640080" y="4063680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OSS에도 저작권은 존재합니다. </a:t>
            </a:r>
            <a:r>
              <a:rPr lang="en-US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공개·협업”이 핵심이며, 라이선스가 정한 의무사항(출처 표기, 재배포 조건 등)은 반드시 지켜야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라이선스와 형태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라이선스, 핵심 원칙 5가지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4904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OSI가 정한 10대 기준 중, 실무에서 가장 중요한 원칙만 정리했습니다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EFEAFD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재배포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로열티나 수수료 없이 누구나 재배포할 수 있어야 한다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07208" y="21031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E1F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026664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026664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90088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공개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0088" y="3474720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소스코드를 함께 공개하여야 한다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74336" y="21031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EFEAFD"/>
          </a:solidFill>
          <a:ln/>
        </p:spPr>
      </p:sp>
      <p:sp>
        <p:nvSpPr>
          <p:cNvPr id="17" name="Shape 15"/>
          <p:cNvSpPr/>
          <p:nvPr/>
        </p:nvSpPr>
        <p:spPr>
          <a:xfrm>
            <a:off x="5193792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57216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파생 저작물 허용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57216" y="3474720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수정을 통한 2차 저작물 창작을 허용해야 한다 (단, 라이선스에 따라 동일 조건 배포를 요구하기도 함)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41464" y="21031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E1F8EC"/>
          </a:solidFill>
          <a:ln/>
        </p:spPr>
      </p:sp>
      <p:sp>
        <p:nvSpPr>
          <p:cNvPr id="22" name="Shape 20"/>
          <p:cNvSpPr/>
          <p:nvPr/>
        </p:nvSpPr>
        <p:spPr>
          <a:xfrm>
            <a:off x="7360920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24344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무차별 원칙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24344" y="3474720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개인·단체·사용 분야·기술을 차별해서는 안 된다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08592" y="21031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EFEAFD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8048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528048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91472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독립성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91472" y="3474720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제품에 종속되지 않고, 함께 배포되는 다른 SW를 제한하지 않는다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10대 기준과 라이선스 전문(MIT, Apache, GPL 등)은 OSI 홈페이지(opensource.org)에서 확인할 수 있습니다.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라이선스와 형태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OSS의 두 가지 형태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12171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7F5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40771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패키지 형태 OSS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97971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라이브러리·모듈 단위로 배포되며, 저작권·라이선스 고지문이 함께 포함됩니다.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138051"/>
            <a:ext cx="4526280" cy="2606040"/>
          </a:xfrm>
          <a:prstGeom prst="roundRect">
            <a:avLst>
              <a:gd name="adj" fmla="val 2105"/>
            </a:avLst>
          </a:prstGeom>
          <a:solidFill>
            <a:srgbClr val="1410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75211"/>
            <a:ext cx="4160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Copyright (c) 1997-2000 Leon Brocard.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rights reserved.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may distribute this under the terms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either the GNU General Public License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the Artistic License.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program is distributed WITHOUT ANY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WARRANTY; without even the implied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warranty of MERCHANTABILITY or FITNESS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E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PARTICULAR PURPOSE.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89320" y="1812171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E1F8EC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040771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프로젝트 형태 OSS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2497971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시스템 전체가 소스코드 단위로 공개되는 경우입니다. </a:t>
            </a:r>
            <a:endParaRPr lang="en-US" sz="115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대표적인</a:t>
            </a:r>
            <a:r>
              <a:rPr lang="en-US" sz="11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스택: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138051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19291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0" y="3430659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3138051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319291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서버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52560" y="3430659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Nginx, Apache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51283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90614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414389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MySQL, PostgreSQL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15400" y="3851283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390614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언어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52560" y="414389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Python, JavaScript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564515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619379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485712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Django, Spring, React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15400" y="4564515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4619379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컨테이너/오케스트레이션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052560" y="485712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Docker, Kubernetes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575646" y="6043455"/>
            <a:ext cx="10370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패키지 형태는 </a:t>
            </a:r>
            <a:r>
              <a:rPr lang="en-US" altLang="ko-KR" sz="1400" dirty="0"/>
              <a:t>"</a:t>
            </a:r>
            <a:r>
              <a:rPr lang="ko-KR" altLang="en-US" sz="1400" dirty="0"/>
              <a:t>부품 단위</a:t>
            </a:r>
            <a:r>
              <a:rPr lang="en-US" altLang="ko-KR" sz="1400" dirty="0"/>
              <a:t>"</a:t>
            </a:r>
            <a:r>
              <a:rPr lang="ko-KR" altLang="en-US" sz="1400" dirty="0"/>
              <a:t>의 오픈소스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라이브러리 하나</a:t>
            </a:r>
            <a:r>
              <a:rPr lang="en-US" altLang="ko-KR" sz="1400" dirty="0"/>
              <a:t>), </a:t>
            </a:r>
            <a:r>
              <a:rPr lang="ko-KR" altLang="en-US" sz="1400" dirty="0"/>
              <a:t>프로젝트 형태는 </a:t>
            </a:r>
            <a:r>
              <a:rPr lang="en-US" altLang="ko-KR" sz="1400" dirty="0"/>
              <a:t>"</a:t>
            </a:r>
            <a:r>
              <a:rPr lang="ko-KR" altLang="en-US" sz="1400" dirty="0"/>
              <a:t>완제품 단위</a:t>
            </a:r>
            <a:r>
              <a:rPr lang="en-US" altLang="ko-KR" sz="1400" dirty="0"/>
              <a:t>"</a:t>
            </a:r>
            <a:r>
              <a:rPr lang="ko-KR" altLang="en-US" sz="1400" dirty="0"/>
              <a:t>의 오픈소스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리눅스 운영체제 전체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장점과 단점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OSS의 장점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E1F8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종속성 탈피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벤더·기술의 Lock-in에서 벗어나고, 필요하면 직접 버그를 수정하고 요구사항 변화에 대응할 수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EFEAFD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절감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55080" y="244144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라이선스를 통해 초기 도입 비용과 유지 비용을 크게 줄일 수 있습니다.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E1F8E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· 개발기간 단축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427024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오픈소스 코드와 라이브러리를 재사용해 “바퀴를 다시 발명(reinvent the wheel)”하지 않아도 됩니다. 활성화된 커뮤니티가 신뢰성과 보안성도 함께 높여줍니다.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370332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EFEA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역량 증대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55080" y="427024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소스코드로 알고리즘과 설계를 직접 분석·응용하며, 설계자·개발자·테스터로서의 기술력을 키울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장점과 단점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OSS의 단점과 대응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7F5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보증 부족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제품과 달리 품질을 공식적으로 보증하는 기업이 없고, 프로젝트 지속성도 불확실할 수 있습니다.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35240" y="228600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22860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성숙한 커뮤니티와 유지관리 이력이 있는 프로젝트를 선택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7F5F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15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IPR 관련 잠재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공개로 인한 영업비밀·핵심기술 유출 가능성, 라이선스 미준수 시 저작자와의 분쟁, 특허 침해 가능성이 있습니다.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443484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44348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OSS에 대한 체계적인 관리 방안(Governance) 도입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역사와 중요성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역사, 자유SW에서 AI 시대까지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85800" y="3246120"/>
            <a:ext cx="10835640" cy="0"/>
          </a:xfrm>
          <a:prstGeom prst="line">
            <a:avLst/>
          </a:prstGeom>
          <a:noFill/>
          <a:ln w="25400">
            <a:solidFill>
              <a:srgbClr val="D9D3EE"/>
            </a:solidFill>
            <a:prstDash val="solid"/>
          </a:ln>
        </p:spPr>
      </p:sp>
      <p:sp>
        <p:nvSpPr>
          <p:cNvPr id="7" name="Dot 100"/>
          <p:cNvSpPr/>
          <p:nvPr/>
        </p:nvSpPr>
        <p:spPr>
          <a:xfrm>
            <a:off x="630936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8" name="Text 101"/>
          <p:cNvSpPr/>
          <p:nvPr/>
        </p:nvSpPr>
        <p:spPr>
          <a:xfrm>
            <a:off x="228600" y="18288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1200" dirty="0"/>
          </a:p>
        </p:txBody>
      </p:sp>
      <p:sp>
        <p:nvSpPr>
          <p:cNvPr id="9" name="Text 102"/>
          <p:cNvSpPr/>
          <p:nvPr/>
        </p:nvSpPr>
        <p:spPr>
          <a:xfrm>
            <a:off x="228600" y="21031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프로젝트 시작</a:t>
            </a:r>
            <a:endParaRPr lang="en-US" sz="950" dirty="0"/>
          </a:p>
        </p:txBody>
      </p:sp>
      <p:sp>
        <p:nvSpPr>
          <p:cNvPr id="10" name="Text 103"/>
          <p:cNvSpPr/>
          <p:nvPr/>
        </p:nvSpPr>
        <p:spPr>
          <a:xfrm>
            <a:off x="228600" y="2560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리처드 스톨만, “Free Software” 개념 제시</a:t>
            </a:r>
            <a:endParaRPr lang="en-US" sz="800" dirty="0"/>
          </a:p>
        </p:txBody>
      </p:sp>
      <p:sp>
        <p:nvSpPr>
          <p:cNvPr id="11" name="Dot 104"/>
          <p:cNvSpPr/>
          <p:nvPr/>
        </p:nvSpPr>
        <p:spPr>
          <a:xfrm>
            <a:off x="1615994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12" name="Text 105"/>
          <p:cNvSpPr/>
          <p:nvPr/>
        </p:nvSpPr>
        <p:spPr>
          <a:xfrm>
            <a:off x="970858" y="34290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1985</a:t>
            </a:r>
            <a:endParaRPr lang="en-US" sz="1200" dirty="0"/>
          </a:p>
        </p:txBody>
      </p:sp>
      <p:sp>
        <p:nvSpPr>
          <p:cNvPr id="13" name="Text 106"/>
          <p:cNvSpPr/>
          <p:nvPr/>
        </p:nvSpPr>
        <p:spPr>
          <a:xfrm>
            <a:off x="970858" y="3703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FSF 설립</a:t>
            </a:r>
            <a:endParaRPr lang="en-US" sz="950" dirty="0"/>
          </a:p>
        </p:txBody>
      </p:sp>
      <p:sp>
        <p:nvSpPr>
          <p:cNvPr id="14" name="Text 107"/>
          <p:cNvSpPr/>
          <p:nvPr/>
        </p:nvSpPr>
        <p:spPr>
          <a:xfrm>
            <a:off x="970858" y="41605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Software Foundation</a:t>
            </a:r>
            <a:endParaRPr lang="en-US" sz="800" dirty="0"/>
          </a:p>
        </p:txBody>
      </p:sp>
      <p:sp>
        <p:nvSpPr>
          <p:cNvPr id="15" name="Dot 108"/>
          <p:cNvSpPr/>
          <p:nvPr/>
        </p:nvSpPr>
        <p:spPr>
          <a:xfrm>
            <a:off x="2601052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16" name="Text 109"/>
          <p:cNvSpPr/>
          <p:nvPr/>
        </p:nvSpPr>
        <p:spPr>
          <a:xfrm>
            <a:off x="1955916" y="18288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1989</a:t>
            </a:r>
            <a:endParaRPr lang="en-US" sz="1200" dirty="0"/>
          </a:p>
        </p:txBody>
      </p:sp>
      <p:sp>
        <p:nvSpPr>
          <p:cNvPr id="17" name="Text 110"/>
          <p:cNvSpPr/>
          <p:nvPr/>
        </p:nvSpPr>
        <p:spPr>
          <a:xfrm>
            <a:off x="1955916" y="21031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GPL v1 발표</a:t>
            </a:r>
            <a:endParaRPr lang="en-US" sz="950" dirty="0"/>
          </a:p>
        </p:txBody>
      </p:sp>
      <p:sp>
        <p:nvSpPr>
          <p:cNvPr id="18" name="Text 111"/>
          <p:cNvSpPr/>
          <p:nvPr/>
        </p:nvSpPr>
        <p:spPr>
          <a:xfrm>
            <a:off x="1955916" y="2560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리처드 스톨만, 최초의 카피레프트 라이선스</a:t>
            </a:r>
            <a:endParaRPr lang="en-US" sz="800" dirty="0"/>
          </a:p>
        </p:txBody>
      </p:sp>
      <p:sp>
        <p:nvSpPr>
          <p:cNvPr id="19" name="Dot 112"/>
          <p:cNvSpPr/>
          <p:nvPr/>
        </p:nvSpPr>
        <p:spPr>
          <a:xfrm>
            <a:off x="3586111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20" name="Text 113"/>
          <p:cNvSpPr/>
          <p:nvPr/>
        </p:nvSpPr>
        <p:spPr>
          <a:xfrm>
            <a:off x="2940975" y="34290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1991</a:t>
            </a:r>
            <a:endParaRPr lang="en-US" sz="1200" dirty="0"/>
          </a:p>
        </p:txBody>
      </p:sp>
      <p:sp>
        <p:nvSpPr>
          <p:cNvPr id="21" name="Text 114"/>
          <p:cNvSpPr/>
          <p:nvPr/>
        </p:nvSpPr>
        <p:spPr>
          <a:xfrm>
            <a:off x="2940975" y="3703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커널 공개</a:t>
            </a:r>
            <a:endParaRPr lang="en-US" sz="950" dirty="0"/>
          </a:p>
        </p:txBody>
      </p:sp>
      <p:sp>
        <p:nvSpPr>
          <p:cNvPr id="22" name="Text 115"/>
          <p:cNvSpPr/>
          <p:nvPr/>
        </p:nvSpPr>
        <p:spPr>
          <a:xfrm>
            <a:off x="2940975" y="41605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리누스 토발즈</a:t>
            </a:r>
            <a:endParaRPr lang="en-US" sz="800" dirty="0"/>
          </a:p>
        </p:txBody>
      </p:sp>
      <p:sp>
        <p:nvSpPr>
          <p:cNvPr id="23" name="Dot 116"/>
          <p:cNvSpPr/>
          <p:nvPr/>
        </p:nvSpPr>
        <p:spPr>
          <a:xfrm>
            <a:off x="4571169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24" name="Text 117"/>
          <p:cNvSpPr/>
          <p:nvPr/>
        </p:nvSpPr>
        <p:spPr>
          <a:xfrm>
            <a:off x="3926033" y="18288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</a:t>
            </a:r>
            <a:endParaRPr lang="en-US" sz="1200" dirty="0"/>
          </a:p>
        </p:txBody>
      </p:sp>
      <p:sp>
        <p:nvSpPr>
          <p:cNvPr id="25" name="Text 118"/>
          <p:cNvSpPr/>
          <p:nvPr/>
        </p:nvSpPr>
        <p:spPr>
          <a:xfrm>
            <a:off x="3926033" y="21031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OSI 설립</a:t>
            </a:r>
            <a:endParaRPr lang="en-US" sz="950" dirty="0"/>
          </a:p>
        </p:txBody>
      </p:sp>
      <p:sp>
        <p:nvSpPr>
          <p:cNvPr id="26" name="Text 119"/>
          <p:cNvSpPr/>
          <p:nvPr/>
        </p:nvSpPr>
        <p:spPr>
          <a:xfrm>
            <a:off x="3926033" y="2560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에릭 레이먼드, “Open Source” 용어 확산</a:t>
            </a:r>
            <a:endParaRPr lang="en-US" sz="800" dirty="0"/>
          </a:p>
        </p:txBody>
      </p:sp>
      <p:sp>
        <p:nvSpPr>
          <p:cNvPr id="27" name="Dot 120"/>
          <p:cNvSpPr/>
          <p:nvPr/>
        </p:nvSpPr>
        <p:spPr>
          <a:xfrm>
            <a:off x="5556227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28" name="Text 121"/>
          <p:cNvSpPr/>
          <p:nvPr/>
        </p:nvSpPr>
        <p:spPr>
          <a:xfrm>
            <a:off x="4911091" y="34290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1999</a:t>
            </a:r>
            <a:endParaRPr lang="en-US" sz="1200" dirty="0"/>
          </a:p>
        </p:txBody>
      </p:sp>
      <p:sp>
        <p:nvSpPr>
          <p:cNvPr id="29" name="Text 122"/>
          <p:cNvSpPr/>
          <p:nvPr/>
        </p:nvSpPr>
        <p:spPr>
          <a:xfrm>
            <a:off x="4911091" y="3703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재단 설립</a:t>
            </a:r>
            <a:endParaRPr lang="en-US" sz="950" dirty="0"/>
          </a:p>
        </p:txBody>
      </p:sp>
      <p:sp>
        <p:nvSpPr>
          <p:cNvPr id="30" name="Text 123"/>
          <p:cNvSpPr/>
          <p:nvPr/>
        </p:nvSpPr>
        <p:spPr>
          <a:xfrm>
            <a:off x="4911091" y="41605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Software Foundation</a:t>
            </a:r>
            <a:endParaRPr lang="en-US" sz="800" dirty="0"/>
          </a:p>
        </p:txBody>
      </p:sp>
      <p:sp>
        <p:nvSpPr>
          <p:cNvPr id="31" name="Dot 124"/>
          <p:cNvSpPr/>
          <p:nvPr/>
        </p:nvSpPr>
        <p:spPr>
          <a:xfrm>
            <a:off x="6541285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32" name="Text 125"/>
          <p:cNvSpPr/>
          <p:nvPr/>
        </p:nvSpPr>
        <p:spPr>
          <a:xfrm>
            <a:off x="5896149" y="18288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</a:t>
            </a:r>
            <a:endParaRPr lang="en-US" sz="1200" dirty="0"/>
          </a:p>
        </p:txBody>
      </p:sp>
      <p:sp>
        <p:nvSpPr>
          <p:cNvPr id="33" name="Text 126"/>
          <p:cNvSpPr/>
          <p:nvPr/>
        </p:nvSpPr>
        <p:spPr>
          <a:xfrm>
            <a:off x="5896149" y="21031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최초 공개</a:t>
            </a:r>
            <a:endParaRPr lang="en-US" sz="950" dirty="0"/>
          </a:p>
        </p:txBody>
      </p:sp>
      <p:sp>
        <p:nvSpPr>
          <p:cNvPr id="34" name="Text 127"/>
          <p:cNvSpPr/>
          <p:nvPr/>
        </p:nvSpPr>
        <p:spPr>
          <a:xfrm>
            <a:off x="5896149" y="2560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리누스 토발즈, 분산 버전관리 시스템</a:t>
            </a:r>
            <a:endParaRPr lang="en-US" sz="800" dirty="0"/>
          </a:p>
        </p:txBody>
      </p:sp>
      <p:sp>
        <p:nvSpPr>
          <p:cNvPr id="35" name="Dot 128"/>
          <p:cNvSpPr/>
          <p:nvPr/>
        </p:nvSpPr>
        <p:spPr>
          <a:xfrm>
            <a:off x="7526343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36" name="Text 129"/>
          <p:cNvSpPr/>
          <p:nvPr/>
        </p:nvSpPr>
        <p:spPr>
          <a:xfrm>
            <a:off x="6881207" y="34290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2007</a:t>
            </a:r>
            <a:endParaRPr lang="en-US" sz="1200" dirty="0"/>
          </a:p>
        </p:txBody>
      </p:sp>
      <p:sp>
        <p:nvSpPr>
          <p:cNvPr id="37" name="Text 130"/>
          <p:cNvSpPr/>
          <p:nvPr/>
        </p:nvSpPr>
        <p:spPr>
          <a:xfrm>
            <a:off x="6881207" y="3703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v3 발표</a:t>
            </a:r>
            <a:endParaRPr lang="en-US" sz="950" dirty="0"/>
          </a:p>
        </p:txBody>
      </p:sp>
      <p:sp>
        <p:nvSpPr>
          <p:cNvPr id="38" name="Dot 131"/>
          <p:cNvSpPr/>
          <p:nvPr/>
        </p:nvSpPr>
        <p:spPr>
          <a:xfrm>
            <a:off x="8511401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39" name="Text 132"/>
          <p:cNvSpPr/>
          <p:nvPr/>
        </p:nvSpPr>
        <p:spPr>
          <a:xfrm>
            <a:off x="7866265" y="18288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2008</a:t>
            </a:r>
            <a:endParaRPr lang="en-US" sz="1200" dirty="0"/>
          </a:p>
        </p:txBody>
      </p:sp>
      <p:sp>
        <p:nvSpPr>
          <p:cNvPr id="40" name="Text 133"/>
          <p:cNvSpPr/>
          <p:nvPr/>
        </p:nvSpPr>
        <p:spPr>
          <a:xfrm>
            <a:off x="7866265" y="21031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창립</a:t>
            </a:r>
            <a:endParaRPr lang="en-US" sz="950" dirty="0"/>
          </a:p>
        </p:txBody>
      </p:sp>
      <p:sp>
        <p:nvSpPr>
          <p:cNvPr id="41" name="Text 134"/>
          <p:cNvSpPr/>
          <p:nvPr/>
        </p:nvSpPr>
        <p:spPr>
          <a:xfrm>
            <a:off x="7866265" y="2560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기반 오픈소스 확산의 전환점</a:t>
            </a:r>
            <a:endParaRPr lang="en-US" sz="800" dirty="0"/>
          </a:p>
          <a:p>
            <a:pPr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(Pull Request 기반의 협업 방식)</a:t>
            </a:r>
            <a:endParaRPr lang="en-US" sz="800" dirty="0"/>
          </a:p>
        </p:txBody>
      </p:sp>
      <p:sp>
        <p:nvSpPr>
          <p:cNvPr id="42" name="Dot 135"/>
          <p:cNvSpPr/>
          <p:nvPr/>
        </p:nvSpPr>
        <p:spPr>
          <a:xfrm>
            <a:off x="9496460" y="3191256"/>
            <a:ext cx="109728" cy="109728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43" name="Text 136"/>
          <p:cNvSpPr/>
          <p:nvPr/>
        </p:nvSpPr>
        <p:spPr>
          <a:xfrm>
            <a:off x="8851324" y="34290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2014</a:t>
            </a:r>
            <a:endParaRPr lang="en-US" sz="1200" dirty="0"/>
          </a:p>
        </p:txBody>
      </p:sp>
      <p:sp>
        <p:nvSpPr>
          <p:cNvPr id="44" name="Text 137"/>
          <p:cNvSpPr/>
          <p:nvPr/>
        </p:nvSpPr>
        <p:spPr>
          <a:xfrm>
            <a:off x="8851324" y="3703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공개</a:t>
            </a:r>
            <a:endParaRPr lang="en-US" sz="950" dirty="0"/>
          </a:p>
        </p:txBody>
      </p:sp>
      <p:sp>
        <p:nvSpPr>
          <p:cNvPr id="45" name="Text 138"/>
          <p:cNvSpPr/>
          <p:nvPr/>
        </p:nvSpPr>
        <p:spPr>
          <a:xfrm>
            <a:off x="8851324" y="41605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기술 대중화</a:t>
            </a:r>
            <a:endParaRPr lang="en-US" sz="800" dirty="0"/>
          </a:p>
        </p:txBody>
      </p:sp>
      <p:sp>
        <p:nvSpPr>
          <p:cNvPr id="46" name="Dot 139"/>
          <p:cNvSpPr/>
          <p:nvPr/>
        </p:nvSpPr>
        <p:spPr>
          <a:xfrm>
            <a:off x="10481518" y="3191256"/>
            <a:ext cx="109728" cy="10972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47" name="Text 140"/>
          <p:cNvSpPr/>
          <p:nvPr/>
        </p:nvSpPr>
        <p:spPr>
          <a:xfrm>
            <a:off x="9836382" y="18288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2015~</a:t>
            </a:r>
            <a:endParaRPr lang="en-US" sz="1200" dirty="0"/>
          </a:p>
        </p:txBody>
      </p:sp>
      <p:sp>
        <p:nvSpPr>
          <p:cNvPr id="48" name="Text 141"/>
          <p:cNvSpPr/>
          <p:nvPr/>
        </p:nvSpPr>
        <p:spPr>
          <a:xfrm>
            <a:off x="9836382" y="21031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프레임워크 공개</a:t>
            </a:r>
            <a:endParaRPr lang="en-US" sz="950" dirty="0"/>
          </a:p>
        </p:txBody>
      </p:sp>
      <p:sp>
        <p:nvSpPr>
          <p:cNvPr id="49" name="Text 142"/>
          <p:cNvSpPr/>
          <p:nvPr/>
        </p:nvSpPr>
        <p:spPr>
          <a:xfrm>
            <a:off x="9836382" y="2560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TensorFlow, PyTorch</a:t>
            </a:r>
            <a:endParaRPr lang="en-US" sz="800" dirty="0"/>
          </a:p>
        </p:txBody>
      </p:sp>
      <p:sp>
        <p:nvSpPr>
          <p:cNvPr id="50" name="Dot 143"/>
          <p:cNvSpPr/>
          <p:nvPr/>
        </p:nvSpPr>
        <p:spPr>
          <a:xfrm>
            <a:off x="11466576" y="3191256"/>
            <a:ext cx="109728" cy="10972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51" name="Text 144"/>
          <p:cNvSpPr/>
          <p:nvPr/>
        </p:nvSpPr>
        <p:spPr>
          <a:xfrm>
            <a:off x="10563400" y="3429000"/>
            <a:ext cx="1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2023~</a:t>
            </a:r>
            <a:endParaRPr lang="en-US" sz="1200" dirty="0"/>
          </a:p>
        </p:txBody>
      </p:sp>
      <p:sp>
        <p:nvSpPr>
          <p:cNvPr id="52" name="Text 145"/>
          <p:cNvSpPr/>
          <p:nvPr/>
        </p:nvSpPr>
        <p:spPr>
          <a:xfrm>
            <a:off x="10563400" y="37033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웨이트 LLM 경쟁</a:t>
            </a:r>
            <a:endParaRPr lang="en-US" sz="950" dirty="0"/>
          </a:p>
        </p:txBody>
      </p:sp>
      <p:sp>
        <p:nvSpPr>
          <p:cNvPr id="53" name="Text 146"/>
          <p:cNvSpPr/>
          <p:nvPr/>
        </p:nvSpPr>
        <p:spPr>
          <a:xfrm>
            <a:off x="10563400" y="4160520"/>
            <a:ext cx="14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Llama, DeepSeek, Qwen …</a:t>
            </a:r>
            <a:endParaRPr lang="en-US" sz="800" dirty="0"/>
          </a:p>
        </p:txBody>
      </p:sp>
      <p:sp>
        <p:nvSpPr>
          <p:cNvPr id="54" name="Text 3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55" name="Text 3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4635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역사와 중요성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OSS의 중요성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입장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생산성 증대, 개발 비용 절감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No Vendor Lock-in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OSS 기반의 자체 비즈니스 모델 </a:t>
            </a:r>
            <a:r>
              <a:rPr lang="en-US" sz="13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</a:t>
            </a: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창출</a:t>
            </a:r>
            <a:endParaRPr lang="en-US" sz="1300" dirty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   (</a:t>
            </a:r>
            <a:r>
              <a:rPr lang="ko-KR" altLang="en-US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예</a:t>
            </a:r>
            <a:r>
              <a:rPr lang="en-US" altLang="ko-KR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: </a:t>
            </a:r>
            <a:r>
              <a:rPr lang="en-US" altLang="ko-KR" sz="13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Redhat</a:t>
            </a:r>
            <a:r>
              <a:rPr lang="en-US" altLang="ko-KR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 : </a:t>
            </a:r>
            <a:r>
              <a:rPr lang="ko-KR" altLang="en-US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오픈 소스 </a:t>
            </a:r>
            <a:r>
              <a:rPr lang="en-US" altLang="ko-KR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+ </a:t>
            </a:r>
            <a:r>
              <a:rPr lang="ko-KR" altLang="en-US" sz="13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유료지원</a:t>
            </a:r>
            <a:r>
              <a:rPr lang="en-US" altLang="ko-KR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/</a:t>
            </a:r>
            <a:r>
              <a:rPr lang="ko-KR" altLang="en-US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컨설팅</a:t>
            </a:r>
            <a:r>
              <a:rPr lang="en-US" altLang="ko-KR" sz="13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92024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26364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입장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코딩 능력 제고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협업 및 소통 능력 향상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개발 프로세스 전체 이해 — 설계 · 개발 · 테스트 · 배포 · 모니터링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4343400"/>
            <a:ext cx="4983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46520" y="43434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시, OSS 개발 이력(예: GitHub 계정)이 곧 가장 강력한 증명이 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생태계 참여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생태계 참여하기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0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 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(github.com) — 리누스 토발즈가 만든 Git 기반의, 세계 최대 오픈소스 저장소입니다.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214884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58E39B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개발자라면 계정 필수!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Contributor → Committer, 참여의 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EFEAF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22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찾아보기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있는 프로젝트 탐색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70632" y="365760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EFEAFD"/>
          </a:solidFill>
          <a:ln/>
        </p:spPr>
      </p:sp>
      <p:sp>
        <p:nvSpPr>
          <p:cNvPr id="14" name="Text 12"/>
          <p:cNvSpPr/>
          <p:nvPr/>
        </p:nvSpPr>
        <p:spPr>
          <a:xfrm>
            <a:off x="2907792" y="3822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살펴보기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07792" y="4251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이슈를 분석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01184" y="365760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EFEAFD"/>
          </a:solidFill>
          <a:ln/>
        </p:spPr>
      </p:sp>
      <p:sp>
        <p:nvSpPr>
          <p:cNvPr id="17" name="Text 15"/>
          <p:cNvSpPr/>
          <p:nvPr/>
        </p:nvSpPr>
        <p:spPr>
          <a:xfrm>
            <a:off x="5038344" y="3822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발견 · 제안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38344" y="4251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 리포트, 개선 아이디어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31736" y="365760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E1F8EC"/>
          </a:solidFill>
          <a:ln/>
        </p:spPr>
      </p:sp>
      <p:sp>
        <p:nvSpPr>
          <p:cNvPr id="20" name="Text 18"/>
          <p:cNvSpPr/>
          <p:nvPr/>
        </p:nvSpPr>
        <p:spPr>
          <a:xfrm>
            <a:off x="7168896" y="3822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기여(PR)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68896" y="4251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수정 및 Pull Request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62288" y="365760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E1F8EC"/>
          </a:solidFill>
          <a:ln/>
        </p:spPr>
      </p:sp>
      <p:sp>
        <p:nvSpPr>
          <p:cNvPr id="23" name="Text 21"/>
          <p:cNvSpPr/>
          <p:nvPr/>
        </p:nvSpPr>
        <p:spPr>
          <a:xfrm>
            <a:off x="9299448" y="3822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병합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99448" y="4251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Maintainer </a:t>
            </a: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후 반영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78024" y="416052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08576" y="416052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39128" y="416052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0" y="416052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7F5F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257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꾸준히 기여하며 신뢰를 쌓으면 </a:t>
            </a:r>
            <a:r>
              <a:rPr lang="en-US" sz="12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Committer</a:t>
            </a: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(코드 리뷰·병합 권한을 가진 핵심 관리자)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성장할 수 있습니다.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생태계 참여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프로젝트의 순환 구조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4904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팀과 커뮤니티가 서로 피드백을 주고받으며 프로젝트가 성장합니다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2560320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</a:rPr>
              <a:t>Core 팀</a:t>
            </a:r>
            <a:r>
              <a:rPr lang="en-US" sz="1050" i="1" dirty="0">
                <a:solidFill>
                  <a:srgbClr val="6E6690"/>
                </a:solidFill>
              </a:rPr>
              <a:t>  핵심 개발자 · 관리자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개발 · 문서화 · 테스트 담당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3401568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의사결정 — 설계 변경, 기능 추가 여부 결정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" y="3886200"/>
            <a:ext cx="4379976" cy="0"/>
          </a:xfrm>
          <a:prstGeom prst="line">
            <a:avLst/>
          </a:prstGeom>
          <a:noFill/>
          <a:ln w="12700">
            <a:solidFill>
              <a:srgbClr val="D9D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4023360"/>
            <a:ext cx="4379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단계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" y="43891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96112" y="4389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스냅샷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13432" y="438912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468880" y="4389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베타(시험판)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438912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41648" y="43891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041648" y="4389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 릴리즈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" y="5029200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팀은 커뮤니티 기여를 검토해 다음 릴리즈에 반영할지 결정합니다.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2331720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85432" y="2560320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</a:rPr>
              <a:t>커뮤니티</a:t>
            </a:r>
            <a:r>
              <a:rPr lang="en-US" sz="1050" i="1" dirty="0">
                <a:solidFill>
                  <a:srgbClr val="6E6690"/>
                </a:solidFill>
              </a:rPr>
              <a:t>  개발자 · 사용자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85432" y="3017520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기능 추가 제안 · 버그 수정 기여 (Pull Request)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85432" y="3401568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버그 리포트 · 기능 요청 (Issue)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85432" y="3886200"/>
            <a:ext cx="4379976" cy="0"/>
          </a:xfrm>
          <a:prstGeom prst="line">
            <a:avLst/>
          </a:prstGeom>
          <a:noFill/>
          <a:ln w="12700">
            <a:solidFill>
              <a:srgbClr val="C3E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85432" y="4023360"/>
            <a:ext cx="4379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커뮤니티가 만들어내는 것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85432" y="43891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85432" y="4389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Patch(수정 소스)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58200" y="43891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458200" y="4389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Bug Report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030968" y="43891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030968" y="4389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Forum 논의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85432" y="5029200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산출물이 다시 Core 팀에게 전달되며 순환이 이어집니다.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41848" y="3200400"/>
            <a:ext cx="877824" cy="0"/>
          </a:xfrm>
          <a:prstGeom prst="line">
            <a:avLst/>
          </a:prstGeom>
          <a:noFill/>
          <a:ln w="22225">
            <a:solidFill>
              <a:srgbClr val="6D3FD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532120" y="2834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41848" y="4937760"/>
            <a:ext cx="877824" cy="0"/>
          </a:xfrm>
          <a:prstGeom prst="line">
            <a:avLst/>
          </a:prstGeom>
          <a:noFill/>
          <a:ln w="22225">
            <a:solidFill>
              <a:srgbClr val="0E9A57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349240" y="4983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Feedback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57607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7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8680" y="5760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Maintainer가 기여를 검토·반영하는 이 순환이 반복되며 프로젝트가 발전합니다 — 체계적 관리(Governance)가 이 순환을 지속가능하게 만듭니다.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9209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생태계 참여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개발의 실무 흐름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4904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등록부터 배포까지 — ALM(Application Lifecycle Management)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673352" cy="1691640"/>
          </a:xfrm>
          <a:prstGeom prst="roundRect">
            <a:avLst>
              <a:gd name="adj" fmla="val 3825"/>
            </a:avLst>
          </a:prstGeom>
          <a:solidFill>
            <a:srgbClr val="EFEAFD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24597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86207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등록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" y="3337560"/>
            <a:ext cx="1435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요구사항·버그 관리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32304" y="2331720"/>
            <a:ext cx="1673352" cy="1691640"/>
          </a:xfrm>
          <a:prstGeom prst="roundRect">
            <a:avLst>
              <a:gd name="adj" fmla="val 3825"/>
            </a:avLst>
          </a:prstGeom>
          <a:solidFill>
            <a:srgbClr val="EFEAFD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24597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51176" y="286207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개발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51176" y="3337560"/>
            <a:ext cx="1435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기반 코드 작성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24528" y="2331720"/>
            <a:ext cx="1673352" cy="1691640"/>
          </a:xfrm>
          <a:prstGeom prst="roundRect">
            <a:avLst>
              <a:gd name="adj" fmla="val 3825"/>
            </a:avLst>
          </a:prstGeom>
          <a:solidFill>
            <a:srgbClr val="EFEAFD"/>
          </a:solidFill>
          <a:ln/>
        </p:spPr>
      </p:sp>
      <p:sp>
        <p:nvSpPr>
          <p:cNvPr id="17" name="Shape 15"/>
          <p:cNvSpPr/>
          <p:nvPr/>
        </p:nvSpPr>
        <p:spPr>
          <a:xfrm>
            <a:off x="4352544" y="24597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52544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286207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 제출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43400" y="3337560"/>
            <a:ext cx="1435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변경사항 리뷰 요청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16752" y="2331720"/>
            <a:ext cx="1673352" cy="1691640"/>
          </a:xfrm>
          <a:prstGeom prst="roundRect">
            <a:avLst>
              <a:gd name="adj" fmla="val 3825"/>
            </a:avLst>
          </a:prstGeom>
          <a:solidFill>
            <a:srgbClr val="E1F8EC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4768" y="24597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144768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5624" y="286207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리뷰 · CI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35624" y="3337560"/>
            <a:ext cx="1435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+ 자동 빌드/테스트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08976" y="2331720"/>
            <a:ext cx="1673352" cy="1691640"/>
          </a:xfrm>
          <a:prstGeom prst="roundRect">
            <a:avLst>
              <a:gd name="adj" fmla="val 3825"/>
            </a:avLst>
          </a:prstGeom>
          <a:solidFill>
            <a:srgbClr val="E1F8EC"/>
          </a:solidFill>
          <a:ln/>
        </p:spPr>
      </p:sp>
      <p:sp>
        <p:nvSpPr>
          <p:cNvPr id="27" name="Shape 25"/>
          <p:cNvSpPr/>
          <p:nvPr/>
        </p:nvSpPr>
        <p:spPr>
          <a:xfrm>
            <a:off x="7936992" y="24597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936992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27848" y="286207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검사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27848" y="3337560"/>
            <a:ext cx="1435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분석 · 보안 스캔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01200" y="2331720"/>
            <a:ext cx="1673352" cy="1691640"/>
          </a:xfrm>
          <a:prstGeom prst="roundRect">
            <a:avLst>
              <a:gd name="adj" fmla="val 3825"/>
            </a:avLst>
          </a:prstGeom>
          <a:solidFill>
            <a:srgbClr val="E1F8EC"/>
          </a:solidFill>
          <a:ln/>
        </p:spPr>
      </p:sp>
      <p:sp>
        <p:nvSpPr>
          <p:cNvPr id="32" name="Shape 30"/>
          <p:cNvSpPr/>
          <p:nvPr/>
        </p:nvSpPr>
        <p:spPr>
          <a:xfrm>
            <a:off x="9729216" y="24597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729216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20072" y="286207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병합 · 배포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720072" y="3337560"/>
            <a:ext cx="1435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Merge → 자동 배포(CI/CD)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67128" y="29946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59352" y="29946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51576" y="29946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43800" y="29946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36024" y="29946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02B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4622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ALM(Application Lifecycle Management)  </a:t>
            </a: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이란, 요구사항부터 배포까지 소프트웨어의 전체 생명주기를 관리하는 체계입니다.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4400" y="4864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프로젝트에서는 GitHub Issues, Pull Request 리뷰, GitHub Actions(CI/CD) 같은 도구들이 이 역할을 담당합니다.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강좌 2단계(GitHub Actions)·3단계(클라우드 배포)에서 위 흐름을 직접 실습합니다.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082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OSS는 “공짜 코드”가 아니라,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위에서 자유와 책임을 함께 나누는 협업의 규칙입니다.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이해하기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10881360" cy="2606040"/>
          </a:xfrm>
          <a:prstGeom prst="roundRect">
            <a:avLst>
              <a:gd name="adj" fmla="val 6000"/>
            </a:avLst>
          </a:prstGeom>
          <a:solidFill>
            <a:srgbClr val="1E1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7AFDA"/>
                </a:solidFill>
                <a:latin typeface="맑은 고딕"/>
              </a:rPr>
              <a:t>참고문헌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D9D3EE"/>
                </a:solidFill>
                <a:latin typeface="맑은 고딕"/>
              </a:rPr>
              <a:t>·  「공개 SW 라이선스 가이드」, 정보통신산업진흥원(NIPA)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9D3EE"/>
                </a:solidFill>
                <a:latin typeface="맑은 고딕"/>
              </a:rPr>
              <a:t>·  「Open Source Software and GitHub」, 이민석, 국민대학교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9D3EE"/>
                </a:solidFill>
                <a:latin typeface="맑은 고딕"/>
              </a:rPr>
              <a:t>·  「기업이 알아야 할 오픈소스 라이선스」, Black Duck Software Korea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9D3EE"/>
                </a:solidFill>
                <a:latin typeface="맑은 고딕"/>
              </a:rPr>
              <a:t>·  Open Source Initiative, opensource.org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1425</Words>
  <Application>Microsoft Office PowerPoint</Application>
  <PresentationFormat>와이드스크린</PresentationFormat>
  <Paragraphs>294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Hansung</cp:lastModifiedBy>
  <cp:revision>13</cp:revision>
  <dcterms:created xsi:type="dcterms:W3CDTF">2026-08-21T04:10:19Z</dcterms:created>
  <dcterms:modified xsi:type="dcterms:W3CDTF">2026-08-24T06:13:59Z</dcterms:modified>
</cp:coreProperties>
</file>