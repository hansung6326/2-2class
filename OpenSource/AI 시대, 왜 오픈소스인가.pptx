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70" r:id="rId10"/>
    <p:sldId id="266" r:id="rId11"/>
    <p:sldId id="271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919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(0:00-1:00) 인사 및 오늘 강의 소개. 이번 학기 OSS 강좌의 첫 시간임을 알리고, 30분간 'AI 시대, 왜 오픈소스인가'를 이야기한다고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(1:00-2:00) 오늘 다룰 4가지 이야기를 간단히 훑는다. 각 섹션이 서로 연결된다는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(2:00-4:00) 훅 질문 던지기: 실제로 업계에서 나온 이야기임을 강조하며 학생들의 반응을 유도. '여러분이 취업할 때 마주할 현실'이라는 긴장감 조성.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(4:00-6:30) 국내 데이터 제시. 수치를 하나씩 짚어가며 '고용 없는 성장'이 무엇을 의미하는지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(8:30-11:00) 그럼 무엇을 준비해야 하는가로 전환. 창의성/문제해결/협업 세 가지가 이번 학기 전체를 관통하는 키워드임을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(11:00-11:30) 섹션 전환. 잠시 멈추고 '오픈소스'라는 답을 던진다. 짧고 임팩트 있게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(11:30-14:00) AI 자체가 오픈소스 위에 세워져 있다는 점을 6개 프로젝트로 설명. Git/Linux/Docker를 배우는 이유와 직접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(14:00-16:30) 오픈소스 LLM 경쟁 구도 소개. 폐쇄형 독점이 아니라 오픈소스가 최전선에 있다는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(16:30-19:00) 왼쪽(이력서의 자기 주장)과 오른쪽(GitHub이 보여주는 증거)을 대비시켜 설명. '나도 저렇게 자기소개서에 썼는데'라는 공감을 유도한 뒤, 아래 4개 태그(실전 경험/협업 역량/문서화·테스트/최신 기술 이해)가 바로 그 증거를 만드는 과정에서 실제로 몸에 익히는 능력이라고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90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(19:00-22:00) 한성대 실제 수상 사례 소개. 구체적 프로젝트명과 성과를 언급해 신뢰감과 동기부여 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(22:00-25:00) 3단계 구조로 설명: 1단계(기초)는 OSS를 이해하고 서버/클라우드 환경을 다루는 법, 2단계(협업 도구)는 실제 협업에 쓰는 Git·CI/CD·컨테이너, 3단계(실전 응용)는 AI 코딩 도구 활용·오픈소스 보안·실제 기여 캡스톤 프로젝트임을 강조. 3단계가 바로 오늘 강의에서 말한 'OSS 경험 = 포트폴리오'를 실현하는 단계라는 점을 짚어준다.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4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(25:00-28:00) 결론 3문장을 천천히 읽으며 핵심 메시지를 각인. 마지막 문장은 강조해서 전달.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9659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
</a:t>
            </a:r>
            <a:r>
              <a:rPr lang="en-US" sz="50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오픈소스인가?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58368" y="4160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코드를 대신 쓰는 시대, 대학생 개발자는 무엇으로 자신을 증명해야 하는가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01367"/>
            <a:ext cx="566928" cy="566928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1367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691639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 인식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2112263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신입 개발자 채용을 어떻게 바꾸고 있는가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679191"/>
            <a:ext cx="9875520" cy="914"/>
          </a:xfrm>
          <a:prstGeom prst="line">
            <a:avLst/>
          </a:prstGeom>
          <a:noFill/>
          <a:ln w="12700">
            <a:solidFill>
              <a:srgbClr val="E7E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916935"/>
            <a:ext cx="566928" cy="566928"/>
          </a:xfrm>
          <a:prstGeom prst="ellipse">
            <a:avLst/>
          </a:prstGeom>
          <a:solidFill>
            <a:srgbClr val="E1F8E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1693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807207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오픈소스인가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3227831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인프라와 오픈소스는 어떤 관계인가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794759"/>
            <a:ext cx="9875520" cy="914"/>
          </a:xfrm>
          <a:prstGeom prst="line">
            <a:avLst/>
          </a:prstGeom>
          <a:noFill/>
          <a:ln w="12700">
            <a:solidFill>
              <a:srgbClr val="E7E3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032503"/>
            <a:ext cx="566928" cy="566928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325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922775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증명된 성과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54480" y="4343399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 경험은 실제로 무엇을 만들어냈는가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4910327"/>
            <a:ext cx="9875520" cy="914"/>
          </a:xfrm>
          <a:prstGeom prst="line">
            <a:avLst/>
          </a:prstGeom>
          <a:noFill/>
          <a:ln w="12700">
            <a:solidFill>
              <a:srgbClr val="E7E3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148071"/>
            <a:ext cx="566928" cy="566928"/>
          </a:xfrm>
          <a:prstGeom prst="ellipse">
            <a:avLst/>
          </a:prstGeom>
          <a:solidFill>
            <a:srgbClr val="E1F8E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148071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5038343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 로드맵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54480" y="5458967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무엇을, 왜 함께 배우는가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 인식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 </a:t>
            </a:r>
            <a:r>
              <a:rPr lang="en-US" sz="3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3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코드를 대신</a:t>
            </a:r>
            <a:r>
              <a:rPr lang="en-US" sz="3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짜주는데,</a:t>
            </a:r>
            <a:endParaRPr lang="en-US" sz="34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개발자가 왜 필요하지? 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10058400" cy="1234440"/>
          </a:xfrm>
          <a:prstGeom prst="roundRect">
            <a:avLst>
              <a:gd name="adj" fmla="val 8889"/>
            </a:avLst>
          </a:prstGeom>
          <a:solidFill>
            <a:srgbClr val="1E17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3434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 기업은 월 10달러짜리 코파일럿이, 연봉 9만 달러 신입보다 효율적이라고 판단한다 ”
</a:t>
            </a:r>
            <a:r>
              <a:rPr lang="en-US" sz="1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실리콘밸리 시니어 엔지니어 치라그 아그라왈(Chirag Agrawal)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CIO.com, “AI 시대, 프로그래머 역할이 바뀐다” (</a:t>
            </a:r>
            <a:r>
              <a:rPr lang="en-US" sz="1000" dirty="0" smtClean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2"/>
          <p:cNvSpPr/>
          <p:nvPr/>
        </p:nvSpPr>
        <p:spPr>
          <a:xfrm>
            <a:off x="658368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Copilot, </a:t>
            </a:r>
            <a:r>
              <a:rPr lang="en-US" sz="1400" dirty="0" smtClean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Cursor, Claude Code </a:t>
            </a:r>
            <a:r>
              <a:rPr lang="en-US" sz="14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AI 코딩 도구가 쏟아지는 시대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보는 국내 SW 채용 현실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</a:t>
            </a:r>
            <a:r>
              <a:rPr lang="en-US" sz="14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인력 시장 데이터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인력 증가율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</a:t>
            </a: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7.3% → </a:t>
            </a:r>
            <a:r>
              <a:rPr lang="en-US" sz="12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</a:t>
            </a: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0.2%</a:t>
            </a:r>
            <a:endParaRPr lang="en-US" sz="12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사실상 고용 확대가 멈췄다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96596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2377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43484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충원 계획 기업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38862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신규 채용 계획이 있는</a:t>
            </a:r>
            <a:endParaRPr lang="en-US" sz="12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기업은 4곳 중 1곳뿐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196596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2377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2.8배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00100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경력직 : 신입 채용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0" y="38862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경력직 1만 5천 명 vs</a:t>
            </a:r>
            <a:endParaRPr lang="en-US" sz="12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5,300명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한국경제, “개발자 쓸어가던 SW업계도 신입 안뽑아” (2026.08)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코딩의 시대는 끝났다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코드를 대신 쓴다. 기업은 이제 다른 능력을 본다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058400" cy="1143000"/>
          </a:xfrm>
          <a:prstGeom prst="roundRect">
            <a:avLst>
              <a:gd name="adj" fmla="val 8000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67128"/>
            <a:ext cx="731520" cy="731520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2130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5328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“어떤 문제를 풀어야 하는가”를 스스로 정의하고 새로운 가치를 만들어내는 능력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058400" cy="1143000"/>
          </a:xfrm>
          <a:prstGeom prst="roundRect">
            <a:avLst>
              <a:gd name="adj" fmla="val 8000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38728"/>
            <a:ext cx="731520" cy="731520"/>
          </a:xfrm>
          <a:prstGeom prst="ellipse">
            <a:avLst/>
          </a:prstGeom>
          <a:solidFill>
            <a:srgbClr val="E1F8E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387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3502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문제해결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3904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알고리즘 설계, 아키텍처 구성, 오픈소스를 조합해 문제를 해결하는 능력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058400" cy="1143000"/>
          </a:xfrm>
          <a:prstGeom prst="roundRect">
            <a:avLst>
              <a:gd name="adj" fmla="val 8000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910328"/>
            <a:ext cx="731520" cy="731520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10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4873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52760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팀과 함께 성과를 내는 능력, 그리고 오픈소스 커뮤니티 참여 경험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그렇다면,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시대에 살아남는 방법은?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오픈소스에 답이 있다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인프라의 뼈대, 사실은 전부 오픈소스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매일 쓰는 AI 서비스도, 그 아래에는 오픈소스가 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EFEAF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020824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PyTorch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41248" y="242316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메타(Meta)가 공개한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딥러닝 프레임워크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18745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EFEAFD"/>
          </a:solidFill>
          <a:ln/>
        </p:spPr>
      </p:sp>
      <p:sp>
        <p:nvSpPr>
          <p:cNvPr id="8" name="Text 6"/>
          <p:cNvSpPr/>
          <p:nvPr/>
        </p:nvSpPr>
        <p:spPr>
          <a:xfrm>
            <a:off x="4361688" y="2020824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TensorFlow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361688" y="242316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구글이 공개한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머신러닝 프레임워크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18745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EFEAFD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2020824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Hugging Face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882128" y="242316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 · 데이터셋을 공유하는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 생태계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E1F8EC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39312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1248" y="4041648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세계 AI 서버의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운영체제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60520" y="3493008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E1F8EC"/>
          </a:solidFill>
          <a:ln/>
        </p:spPr>
      </p:sp>
      <p:sp>
        <p:nvSpPr>
          <p:cNvPr id="17" name="Text 15"/>
          <p:cNvSpPr/>
          <p:nvPr/>
        </p:nvSpPr>
        <p:spPr>
          <a:xfrm>
            <a:off x="4361688" y="3639312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Kubernetes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361688" y="4041648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구글발 오픈소스,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서비스 배포·운영의 표준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80960" y="3493008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E1F8EC"/>
          </a:solidFill>
          <a:ln/>
        </p:spPr>
      </p:sp>
      <p:sp>
        <p:nvSpPr>
          <p:cNvPr id="20" name="Text 18"/>
          <p:cNvSpPr/>
          <p:nvPr/>
        </p:nvSpPr>
        <p:spPr>
          <a:xfrm>
            <a:off x="7882128" y="3639312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882128" y="4041648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개발의 사실상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언어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배우게 될 Git · Linux · Docker는, 바로 이 생태계에서 통용되는 “공용어”입니다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웨이트 모델 경쟁, 지금 이 순간에도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수준의 AI조차, 폐쇄형 독점이 아니라 오픈소스 경쟁 구도로 발전한다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598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Introl, “오픈소스 AI 모델, 격차 해소” (2025) 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27" name="Shape 2"/>
          <p:cNvSpPr/>
          <p:nvPr/>
        </p:nvSpPr>
        <p:spPr>
          <a:xfrm>
            <a:off x="640080" y="1536192"/>
            <a:ext cx="10058400" cy="512064"/>
          </a:xfrm>
          <a:prstGeom prst="roundRect">
            <a:avLst>
              <a:gd name="adj" fmla="val 14286"/>
            </a:avLst>
          </a:prstGeom>
          <a:solidFill>
            <a:srgbClr val="EFEAFD"/>
          </a:solidFill>
          <a:ln/>
        </p:spPr>
      </p:sp>
      <p:sp>
        <p:nvSpPr>
          <p:cNvPr id="28" name="Text 3"/>
          <p:cNvSpPr/>
          <p:nvPr/>
        </p:nvSpPr>
        <p:spPr>
          <a:xfrm>
            <a:off x="868680" y="153619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웨이트(open-weight)  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모델을 학습시킨 결과물인 “가중치(weight)” 파일 자체를 공개해, 누구나 내려받아 그대로 실행하거나 다시 학습·수정할 수 있게 한 것</a:t>
            </a:r>
            <a:endParaRPr lang="en-US" sz="1250" dirty="0"/>
          </a:p>
        </p:txBody>
      </p:sp>
      <p:sp>
        <p:nvSpPr>
          <p:cNvPr id="29" name="Shape 4"/>
          <p:cNvSpPr/>
          <p:nvPr/>
        </p:nvSpPr>
        <p:spPr>
          <a:xfrm>
            <a:off x="640080" y="2331720"/>
            <a:ext cx="2514600" cy="2697480"/>
          </a:xfrm>
          <a:prstGeom prst="roundRect">
            <a:avLst>
              <a:gd name="adj" fmla="val 3636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30" name="Shape 5"/>
          <p:cNvSpPr/>
          <p:nvPr/>
        </p:nvSpPr>
        <p:spPr>
          <a:xfrm>
            <a:off x="841248" y="2560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1F8EC"/>
          </a:solidFill>
          <a:ln/>
        </p:spPr>
      </p:sp>
      <p:sp>
        <p:nvSpPr>
          <p:cNvPr id="31" name="Text 6"/>
          <p:cNvSpPr/>
          <p:nvPr/>
        </p:nvSpPr>
        <p:spPr>
          <a:xfrm>
            <a:off x="841248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841248" y="31089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Llama</a:t>
            </a:r>
            <a:endParaRPr lang="en-US" sz="2000" dirty="0"/>
          </a:p>
        </p:txBody>
      </p:sp>
      <p:sp>
        <p:nvSpPr>
          <p:cNvPr id="33" name="Text 8"/>
          <p:cNvSpPr/>
          <p:nvPr/>
        </p:nvSpPr>
        <p:spPr>
          <a:xfrm>
            <a:off x="841248" y="3703320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</a:t>
            </a:r>
            <a:r>
              <a:rPr lang="en-US" sz="1200" dirty="0" err="1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내려받아</a:t>
            </a: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 smtClean="0">
              <a:solidFill>
                <a:srgbClr val="6E669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1200" dirty="0" err="1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·수정</a:t>
            </a: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가능한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웨이트 모델 시리즈</a:t>
            </a:r>
            <a:endParaRPr lang="en-US" sz="1200" dirty="0"/>
          </a:p>
        </p:txBody>
      </p:sp>
      <p:sp>
        <p:nvSpPr>
          <p:cNvPr id="34" name="Shape 9"/>
          <p:cNvSpPr/>
          <p:nvPr/>
        </p:nvSpPr>
        <p:spPr>
          <a:xfrm>
            <a:off x="3319272" y="2331720"/>
            <a:ext cx="2514600" cy="2697480"/>
          </a:xfrm>
          <a:prstGeom prst="roundRect">
            <a:avLst>
              <a:gd name="adj" fmla="val 3636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35" name="Shape 10"/>
          <p:cNvSpPr/>
          <p:nvPr/>
        </p:nvSpPr>
        <p:spPr>
          <a:xfrm>
            <a:off x="3520440" y="2560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1F8EC"/>
          </a:solidFill>
          <a:ln/>
        </p:spPr>
      </p:sp>
      <p:sp>
        <p:nvSpPr>
          <p:cNvPr id="36" name="Text 11"/>
          <p:cNvSpPr/>
          <p:nvPr/>
        </p:nvSpPr>
        <p:spPr>
          <a:xfrm>
            <a:off x="352044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DeepSeek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3520440" y="31089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DeepSeek</a:t>
            </a:r>
            <a:endParaRPr lang="en-US" sz="2000" dirty="0"/>
          </a:p>
        </p:txBody>
      </p:sp>
      <p:sp>
        <p:nvSpPr>
          <p:cNvPr id="38" name="Text 13"/>
          <p:cNvSpPr/>
          <p:nvPr/>
        </p:nvSpPr>
        <p:spPr>
          <a:xfrm>
            <a:off x="3520440" y="3703320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비용, 높은 성능으로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 </a:t>
            </a:r>
            <a:r>
              <a:rPr lang="en-US" sz="1200" dirty="0" err="1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진영에</a:t>
            </a: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 smtClean="0">
              <a:solidFill>
                <a:srgbClr val="6E669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충격을</a:t>
            </a:r>
            <a:r>
              <a:rPr lang="en-US" sz="12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 모델</a:t>
            </a:r>
            <a:endParaRPr lang="en-US" sz="1200" dirty="0"/>
          </a:p>
        </p:txBody>
      </p:sp>
      <p:sp>
        <p:nvSpPr>
          <p:cNvPr id="39" name="Shape 14"/>
          <p:cNvSpPr/>
          <p:nvPr/>
        </p:nvSpPr>
        <p:spPr>
          <a:xfrm>
            <a:off x="5998464" y="2331720"/>
            <a:ext cx="2514600" cy="2697480"/>
          </a:xfrm>
          <a:prstGeom prst="roundRect">
            <a:avLst>
              <a:gd name="adj" fmla="val 3636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40" name="Shape 15"/>
          <p:cNvSpPr/>
          <p:nvPr/>
        </p:nvSpPr>
        <p:spPr>
          <a:xfrm>
            <a:off x="6199632" y="2560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1F8EC"/>
          </a:solidFill>
          <a:ln/>
        </p:spPr>
      </p:sp>
      <p:sp>
        <p:nvSpPr>
          <p:cNvPr id="41" name="Text 16"/>
          <p:cNvSpPr/>
          <p:nvPr/>
        </p:nvSpPr>
        <p:spPr>
          <a:xfrm>
            <a:off x="6199632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Alibaba</a:t>
            </a: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6199632" y="31089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</a:t>
            </a:r>
            <a:endParaRPr lang="en-US" sz="2000" dirty="0"/>
          </a:p>
        </p:txBody>
      </p:sp>
      <p:sp>
        <p:nvSpPr>
          <p:cNvPr id="43" name="Text 18"/>
          <p:cNvSpPr/>
          <p:nvPr/>
        </p:nvSpPr>
        <p:spPr>
          <a:xfrm>
            <a:off x="6199632" y="3703320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성능을 앞세운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웨이트 모델 라인업</a:t>
            </a:r>
            <a:endParaRPr lang="en-US" sz="1200" dirty="0"/>
          </a:p>
        </p:txBody>
      </p:sp>
      <p:sp>
        <p:nvSpPr>
          <p:cNvPr id="44" name="Shape 19"/>
          <p:cNvSpPr/>
          <p:nvPr/>
        </p:nvSpPr>
        <p:spPr>
          <a:xfrm>
            <a:off x="8677656" y="2331720"/>
            <a:ext cx="2514600" cy="2697480"/>
          </a:xfrm>
          <a:prstGeom prst="roundRect">
            <a:avLst>
              <a:gd name="adj" fmla="val 3636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45" name="Shape 20"/>
          <p:cNvSpPr/>
          <p:nvPr/>
        </p:nvSpPr>
        <p:spPr>
          <a:xfrm>
            <a:off x="8878824" y="2560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1F8EC"/>
          </a:solidFill>
          <a:ln/>
        </p:spPr>
      </p:sp>
      <p:sp>
        <p:nvSpPr>
          <p:cNvPr id="46" name="Text 21"/>
          <p:cNvSpPr/>
          <p:nvPr/>
        </p:nvSpPr>
        <p:spPr>
          <a:xfrm>
            <a:off x="8878824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Moonshot AI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8878824" y="31089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Kimi K3</a:t>
            </a:r>
            <a:endParaRPr lang="en-US" sz="2000" dirty="0"/>
          </a:p>
        </p:txBody>
      </p:sp>
      <p:sp>
        <p:nvSpPr>
          <p:cNvPr id="48" name="Text 23"/>
          <p:cNvSpPr/>
          <p:nvPr/>
        </p:nvSpPr>
        <p:spPr>
          <a:xfrm>
            <a:off x="8878824" y="3703320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r>
              <a:rPr lang="en-US" sz="12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 7월 </a:t>
            </a:r>
            <a:r>
              <a:rPr lang="en-US" sz="1200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</a:t>
            </a:r>
            <a:r>
              <a:rPr lang="en-US" sz="12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역대</a:t>
            </a:r>
            <a:r>
              <a:rPr lang="en-US" sz="12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</a:t>
            </a:r>
            <a:r>
              <a:rPr lang="en-US" sz="12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r>
              <a:rPr lang="en-US" sz="12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</a:t>
            </a:r>
            <a:r>
              <a:rPr lang="en-US" sz="12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웨이트</a:t>
            </a: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r>
              <a:rPr lang="en-US" sz="12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2.8조 파라미터)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GPT·Claude 최신 모델급 성능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기록 = 가장 강력한 포트폴리오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 활용 가능합니다 ” 라는 말과, 그 말을 증명하는 기록의 차이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892040" cy="3246120"/>
          </a:xfrm>
          <a:prstGeom prst="roundRect">
            <a:avLst>
              <a:gd name="adj" fmla="val 2817"/>
            </a:avLst>
          </a:prstGeom>
          <a:solidFill>
            <a:srgbClr val="F7F5FB"/>
          </a:solidFill>
          <a:ln w="12700">
            <a:solidFill>
              <a:srgbClr val="E7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0195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7E3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이력서 · 자기소개서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377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하는 주장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365760" cy="365760"/>
          </a:xfrm>
          <a:prstGeom prst="ellipse">
            <a:avLst/>
          </a:prstGeom>
          <a:solidFill>
            <a:srgbClr val="E7E3F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8529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· GitHub 활용 가능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483864"/>
            <a:ext cx="365760" cy="365760"/>
          </a:xfrm>
          <a:prstGeom prst="ellipse">
            <a:avLst/>
          </a:prstGeom>
          <a:solidFill>
            <a:srgbClr val="E7E3F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4564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능력 우수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087368"/>
            <a:ext cx="365760" cy="365760"/>
          </a:xfrm>
          <a:prstGeom prst="ellipse">
            <a:avLst/>
          </a:prstGeom>
          <a:solidFill>
            <a:srgbClr val="E7E3F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05993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문제해결 능력 보유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1645920"/>
            <a:ext cx="4892040" cy="3246120"/>
          </a:xfrm>
          <a:prstGeom prst="roundRect">
            <a:avLst>
              <a:gd name="adj" fmla="val 2817"/>
            </a:avLst>
          </a:prstGeom>
          <a:solidFill>
            <a:srgbClr val="EFEA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90195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6D3FD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프로필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2377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확인할 수 있는 기록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2880360"/>
            <a:ext cx="365760" cy="365760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12280" y="28529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커밋 · PR 기록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483864"/>
            <a:ext cx="365760" cy="365760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12280" y="34564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Maintainer와</a:t>
            </a:r>
            <a:r>
              <a:rPr lang="en-US" sz="1400" b="1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주고받은 코드 리뷰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4087368"/>
            <a:ext cx="365760" cy="365760"/>
          </a:xfrm>
          <a:prstGeom prst="ellipse">
            <a:avLst/>
          </a:prstGeom>
          <a:solidFill>
            <a:srgbClr val="6D3FD6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12280" y="405993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버그를 고친 코드와 테스트 결과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82412" y="3067812"/>
            <a:ext cx="402336" cy="402336"/>
          </a:xfrm>
          <a:prstGeom prst="ellipse">
            <a:avLst/>
          </a:prstGeom>
          <a:solidFill>
            <a:srgbClr val="14102B"/>
          </a:solidFill>
          <a:ln/>
        </p:spPr>
      </p:sp>
      <p:sp>
        <p:nvSpPr>
          <p:cNvPr id="31" name="Text 29"/>
          <p:cNvSpPr/>
          <p:nvPr/>
        </p:nvSpPr>
        <p:spPr>
          <a:xfrm>
            <a:off x="5582412" y="3067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461108" y="514807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3" name="Text 31"/>
          <p:cNvSpPr/>
          <p:nvPr/>
        </p:nvSpPr>
        <p:spPr>
          <a:xfrm>
            <a:off x="2461108" y="51480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경험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07028" y="514807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1F8EC"/>
          </a:solidFill>
          <a:ln/>
        </p:spPr>
      </p:sp>
      <p:sp>
        <p:nvSpPr>
          <p:cNvPr id="35" name="Text 33"/>
          <p:cNvSpPr/>
          <p:nvPr/>
        </p:nvSpPr>
        <p:spPr>
          <a:xfrm>
            <a:off x="4107028" y="51480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역량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752948" y="5148072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7" name="Text 35"/>
          <p:cNvSpPr/>
          <p:nvPr/>
        </p:nvSpPr>
        <p:spPr>
          <a:xfrm>
            <a:off x="5752948" y="5148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3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문서화 · 테스트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856068" y="5148072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E1F8EC"/>
          </a:solidFill>
          <a:ln/>
        </p:spPr>
      </p:sp>
      <p:sp>
        <p:nvSpPr>
          <p:cNvPr id="39" name="Text 37"/>
          <p:cNvSpPr/>
          <p:nvPr/>
        </p:nvSpPr>
        <p:spPr>
          <a:xfrm>
            <a:off x="7856068" y="5148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기술 이해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56509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네 가지를 실제로 몸에 익히게 됩니다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08478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경험은 실제 성과로 이어진다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2025년, 한성대학교 학생들의 수상 사례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892040" cy="3063240"/>
          </a:xfrm>
          <a:prstGeom prst="roundRect">
            <a:avLst>
              <a:gd name="adj" fmla="val 3582"/>
            </a:avLst>
          </a:prstGeom>
          <a:solidFill>
            <a:srgbClr val="EFEAF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5856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멋쟁이사자처럼 해커톤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67919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Park Here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60120" y="338328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6D3FD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383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1965960"/>
            <a:ext cx="4892040" cy="3063240"/>
          </a:xfrm>
          <a:prstGeom prst="roundRect">
            <a:avLst>
              <a:gd name="adj" fmla="val 3582"/>
            </a:avLst>
          </a:prstGeom>
          <a:solidFill>
            <a:srgbClr val="E1F8E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25856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SW중심대학 디지털 경진대회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67919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상상부기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E9A5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383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최우수상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경험 → 실제 대회 수상, 그리고 상용화 아이디어로 연결됩니다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학기, 우리가 함께 배울 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세계 오픈소스 개발자들이 함께 쓰는 “공용어”에서, 실전 기여까지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10712" cy="457200"/>
          </a:xfrm>
          <a:prstGeom prst="roundRect">
            <a:avLst>
              <a:gd name="adj" fmla="val 16000"/>
            </a:avLst>
          </a:prstGeom>
          <a:solidFill>
            <a:srgbClr val="1E1740"/>
          </a:solidFill>
          <a:ln w="12700">
            <a:solidFill>
              <a:srgbClr val="3A32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39D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· 기초 다지기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95144"/>
            <a:ext cx="3410712" cy="658368"/>
          </a:xfrm>
          <a:prstGeom prst="roundRect">
            <a:avLst>
              <a:gd name="adj" fmla="val 11111"/>
            </a:avLst>
          </a:prstGeom>
          <a:solidFill>
            <a:srgbClr val="241C4A"/>
          </a:solidFill>
          <a:ln w="12700">
            <a:solidFill>
              <a:srgbClr val="332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951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9D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29514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개요 · 라이선스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3410712" cy="658368"/>
          </a:xfrm>
          <a:prstGeom prst="roundRect">
            <a:avLst>
              <a:gd name="adj" fmla="val 11111"/>
            </a:avLst>
          </a:prstGeom>
          <a:solidFill>
            <a:srgbClr val="1F1840"/>
          </a:solidFill>
          <a:ln w="12700">
            <a:solidFill>
              <a:srgbClr val="332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9D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0632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개요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31336"/>
            <a:ext cx="3410712" cy="658368"/>
          </a:xfrm>
          <a:prstGeom prst="roundRect">
            <a:avLst>
              <a:gd name="adj" fmla="val 11111"/>
            </a:avLst>
          </a:prstGeom>
          <a:solidFill>
            <a:srgbClr val="241C4A"/>
          </a:solidFill>
          <a:ln w="12700">
            <a:solidFill>
              <a:srgbClr val="332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8313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9D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831336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· AWS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70832" y="1691640"/>
            <a:ext cx="3410712" cy="457200"/>
          </a:xfrm>
          <a:prstGeom prst="roundRect">
            <a:avLst>
              <a:gd name="adj" fmla="val 16000"/>
            </a:avLst>
          </a:prstGeom>
          <a:solidFill>
            <a:srgbClr val="1E1740"/>
          </a:solidFill>
          <a:ln w="12700">
            <a:solidFill>
              <a:srgbClr val="3A32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69164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· 협업 도구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370832" y="2295144"/>
            <a:ext cx="3410712" cy="658368"/>
          </a:xfrm>
          <a:prstGeom prst="roundRect">
            <a:avLst>
              <a:gd name="adj" fmla="val 11111"/>
            </a:avLst>
          </a:prstGeom>
          <a:solidFill>
            <a:srgbClr val="241C4A"/>
          </a:solidFill>
          <a:ln w="12700">
            <a:solidFill>
              <a:srgbClr val="332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22951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229514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· GitHub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70832" y="3063240"/>
            <a:ext cx="3410712" cy="658368"/>
          </a:xfrm>
          <a:prstGeom prst="roundRect">
            <a:avLst>
              <a:gd name="adj" fmla="val 11111"/>
            </a:avLst>
          </a:prstGeom>
          <a:solidFill>
            <a:srgbClr val="1F1840"/>
          </a:solidFill>
          <a:ln w="12700">
            <a:solidFill>
              <a:srgbClr val="332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5424" y="30632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65192" y="30632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70832" y="3831336"/>
            <a:ext cx="3410712" cy="658368"/>
          </a:xfrm>
          <a:prstGeom prst="roundRect">
            <a:avLst>
              <a:gd name="adj" fmla="val 11111"/>
            </a:avLst>
          </a:prstGeom>
          <a:solidFill>
            <a:srgbClr val="241C4A"/>
          </a:solidFill>
          <a:ln w="12700">
            <a:solidFill>
              <a:srgbClr val="332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38313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65192" y="3831336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01584" y="1691640"/>
            <a:ext cx="3410712" cy="457200"/>
          </a:xfrm>
          <a:prstGeom prst="roundRect">
            <a:avLst>
              <a:gd name="adj" fmla="val 16000"/>
            </a:avLst>
          </a:prstGeom>
          <a:solidFill>
            <a:srgbClr val="1E1740"/>
          </a:solidFill>
          <a:ln w="12700">
            <a:solidFill>
              <a:srgbClr val="3A32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01584" y="169164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39D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· 실전 응용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01584" y="2635966"/>
            <a:ext cx="3410712" cy="658368"/>
          </a:xfrm>
          <a:prstGeom prst="roundRect">
            <a:avLst>
              <a:gd name="adj" fmla="val 11111"/>
            </a:avLst>
          </a:prstGeom>
          <a:solidFill>
            <a:srgbClr val="241C4A"/>
          </a:solidFill>
          <a:ln w="12700">
            <a:solidFill>
              <a:srgbClr val="332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6176" y="263596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9D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95944" y="2635966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코딩 도구 활용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01584" y="3404062"/>
            <a:ext cx="3410712" cy="658368"/>
          </a:xfrm>
          <a:prstGeom prst="roundRect">
            <a:avLst>
              <a:gd name="adj" fmla="val 11111"/>
            </a:avLst>
          </a:prstGeom>
          <a:solidFill>
            <a:srgbClr val="1F1840"/>
          </a:solidFill>
          <a:ln w="12700">
            <a:solidFill>
              <a:srgbClr val="332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66176" y="340406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9D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95944" y="340406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alt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</a:t>
            </a:r>
            <a:r>
              <a:rPr lang="en-US" altLang="ko-KR" sz="13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기여</a:t>
            </a:r>
            <a:r>
              <a:rPr lang="en-US" altLang="ko-KR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00" b="1" dirty="0" err="1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endParaRPr lang="en-US" altLang="ko-KR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3단계는 오늘 다룬 “AI 시대의 오픈소스”를 실제로 몸에 익히는 시간입니다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살펴본 “왜”가, 앞으로 15주 동안 배울 “어떻게”의 이유가 됩니다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41" name="Text 0"/>
          <p:cNvSpPr/>
          <p:nvPr/>
        </p:nvSpPr>
        <p:spPr>
          <a:xfrm>
            <a:off x="640080" y="594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학기, 우리가 함께 배울 것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6481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참여는 단순히 코드 몇 줄을 작성하는 일이 아닙니다.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200"/>
              </a:lnSpc>
            </a:pPr>
            <a:r>
              <a:rPr lang="ko-KR" altLang="en-US" sz="2200" dirty="0" smtClean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대규모 </a:t>
            </a:r>
            <a:r>
              <a:rPr lang="ko-KR" altLang="en-US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속에서 일하는 법</a:t>
            </a:r>
            <a:r>
              <a:rPr lang="en-US" altLang="ko-KR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문서로 소통하는 법</a:t>
            </a:r>
            <a:r>
              <a:rPr lang="en-US" altLang="ko-KR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테스트로 품질을 보장하는 법</a:t>
            </a:r>
            <a:r>
              <a:rPr lang="en-US" altLang="ko-KR" sz="2200" dirty="0" smtClean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200" dirty="0" smtClean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서비스를 개발</a:t>
            </a:r>
            <a:r>
              <a:rPr lang="en-US" altLang="ko-KR" sz="2200" dirty="0" smtClean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r>
              <a:rPr lang="en-US" altLang="ko-KR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운영하는 법까지 </a:t>
            </a:r>
            <a:r>
              <a:rPr lang="en-US" altLang="ko-KR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r>
              <a:rPr lang="ko-KR" altLang="en-US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모든 것이 여러분의 </a:t>
            </a:r>
            <a:r>
              <a:rPr lang="en-US" altLang="ko-KR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</a:t>
            </a:r>
            <a:r>
              <a:rPr lang="ko-KR" altLang="en-US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기록에 그대로 남습니다</a:t>
            </a:r>
            <a:r>
              <a:rPr lang="en-US" altLang="ko-KR" sz="22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7947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400"/>
              </a:lnSpc>
            </a:pPr>
            <a:r>
              <a:rPr lang="ko-KR" altLang="en-US" sz="2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곧 실무 경험이고</a:t>
            </a: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AI </a:t>
            </a: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시대를 살아남는 가장 확실한 증거입니다</a:t>
            </a: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24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이는 AI 시대를 살아남는 가장 확실한 방법입니다.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시대, 왜 오픈소스인가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1171</Words>
  <Application>Microsoft Office PowerPoint</Application>
  <PresentationFormat>와이드스크린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Hansung</cp:lastModifiedBy>
  <cp:revision>10</cp:revision>
  <dcterms:created xsi:type="dcterms:W3CDTF">2026-08-20T02:04:38Z</dcterms:created>
  <dcterms:modified xsi:type="dcterms:W3CDTF">2026-08-24T06:15:09Z</dcterms:modified>
</cp:coreProperties>
</file>