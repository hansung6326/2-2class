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DE4C17BB-6CA1-0D40-508A-4A51252DE560}">
          <p14:sldIdLst>
            <p14:sldId id="256"/>
            <p14:sldId id="257"/>
          </p14:sldIdLst>
        </p14:section>
        <p14:section name="1. 브랜치와 HEAD" id="{D7D97069-17F8-0C75-94FB-CAB28F6B329A}">
          <p14:sldIdLst>
            <p14:sldId id="258"/>
            <p14:sldId id="259"/>
            <p14:sldId id="260"/>
          </p14:sldIdLst>
        </p14:section>
        <p14:section name="2. 브랜치 만들기와 전환" id="{784B96F5-634F-5A5A-0EF1-1947B69E9F53}">
          <p14:sldIdLst>
            <p14:sldId id="261"/>
            <p14:sldId id="262"/>
            <p14:sldId id="263"/>
            <p14:sldId id="264"/>
            <p14:sldId id="265"/>
          </p14:sldIdLst>
        </p14:section>
        <p14:section name="3. 병합(Merge)" id="{D6D77701-E74C-05F4-81F4-43E98655734B}">
          <p14:sldIdLst>
            <p14:sldId id="266"/>
            <p14:sldId id="267"/>
            <p14:sldId id="268"/>
          </p14:sldIdLst>
        </p14:section>
        <p14:section name="4. 병합 충돌 해결" id="{602AAFC8-5898-924E-3556-41B475B62CF7}">
          <p14:sldIdLst>
            <p14:sldId id="269"/>
            <p14:sldId id="270"/>
            <p14:sldId id="271"/>
          </p14:sldIdLst>
        </p14:section>
        <p14:section name="5. 브랜치 정리와 원격 브랜치" id="{FE2110A6-FE08-8386-EA3F-DE6D2C09C7CB}">
          <p14:sldIdLst>
            <p14:sldId id="272"/>
            <p14:sldId id="273"/>
          </p14:sldIdLst>
        </p14:section>
        <p14:section name="6. 커밋 수정과 되돌리기" id="{A6D698D4-2C2E-FA2F-062B-3270DE7E621D}">
          <p14:sldIdLst>
            <p14:sldId id="274"/>
            <p14:sldId id="275"/>
            <p14:sldId id="276"/>
            <p14:sldId id="277"/>
            <p14:sldId id="278"/>
          </p14:sldIdLst>
        </p14:section>
        <p14:section name="7. git stash" id="{AE6C1C75-1B9A-786D-6265-99F7C0E1CFCB}">
          <p14:sldIdLst>
            <p14:sldId id="279"/>
          </p14:sldIdLst>
        </p14:section>
        <p14:section name="8. 실습과 정리" id="{949D9EF9-37BA-992D-9913-4397294D7708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51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1AA"/>
                </a:solidFill>
              </a:rPr>
              <a:t>Git Branch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1460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F0A28F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1AA"/>
                </a:solidFill>
              </a:rPr>
              <a:t>Git Branch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2"/>
                </a:solidFill>
              </a:rPr>
              <a:t>Git Branch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WEEK 9 · GIT"/>
          <p:cNvSpPr/>
          <p:nvPr/>
        </p:nvSpPr>
        <p:spPr>
          <a:xfrm>
            <a:off x="457200" y="196596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WEEK 9 · GIT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146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Git &amp; GitHub —  브랜치와 병합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0A28F"/>
                </a:solidFill>
              </a:rPr>
              <a:t>브랜치로 작업을 나누고,  merge 로 합치고,  충돌을 해결하고,  실수를 되돌리기</a:t>
            </a:r>
            <a:endParaRPr lang="en-US" sz="1600" dirty="0"/>
          </a:p>
        </p:txBody>
      </p:sp>
      <p:sp>
        <p:nvSpPr>
          <p:cNvPr id="5" name="dot-0-0"/>
          <p:cNvSpPr/>
          <p:nvPr/>
        </p:nvSpPr>
        <p:spPr>
          <a:xfrm>
            <a:off x="9418320" y="4480560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6" name="dot-0-1"/>
          <p:cNvSpPr/>
          <p:nvPr/>
        </p:nvSpPr>
        <p:spPr>
          <a:xfrm>
            <a:off x="9710928" y="4480560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7" name="dot-0-2"/>
          <p:cNvSpPr/>
          <p:nvPr/>
        </p:nvSpPr>
        <p:spPr>
          <a:xfrm>
            <a:off x="10003536" y="4480560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8" name="dot-0-3"/>
          <p:cNvSpPr/>
          <p:nvPr/>
        </p:nvSpPr>
        <p:spPr>
          <a:xfrm>
            <a:off x="10296144" y="4480560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9" name="dot-0-4"/>
          <p:cNvSpPr/>
          <p:nvPr/>
        </p:nvSpPr>
        <p:spPr>
          <a:xfrm>
            <a:off x="10588752" y="4480560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10" name="dot-1-0"/>
          <p:cNvSpPr/>
          <p:nvPr/>
        </p:nvSpPr>
        <p:spPr>
          <a:xfrm>
            <a:off x="9418320" y="4773168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11" name="dot-1-1"/>
          <p:cNvSpPr/>
          <p:nvPr/>
        </p:nvSpPr>
        <p:spPr>
          <a:xfrm>
            <a:off x="9710928" y="4773168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12" name="dot-1-2"/>
          <p:cNvSpPr/>
          <p:nvPr/>
        </p:nvSpPr>
        <p:spPr>
          <a:xfrm>
            <a:off x="10003536" y="4773168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13" name="dot-1-3"/>
          <p:cNvSpPr/>
          <p:nvPr/>
        </p:nvSpPr>
        <p:spPr>
          <a:xfrm>
            <a:off x="10296144" y="4773168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14" name="dot-1-4"/>
          <p:cNvSpPr/>
          <p:nvPr/>
        </p:nvSpPr>
        <p:spPr>
          <a:xfrm>
            <a:off x="10588752" y="4773168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15" name="dot-2-0"/>
          <p:cNvSpPr/>
          <p:nvPr/>
        </p:nvSpPr>
        <p:spPr>
          <a:xfrm>
            <a:off x="9418320" y="5065776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16" name="dot-2-1"/>
          <p:cNvSpPr/>
          <p:nvPr/>
        </p:nvSpPr>
        <p:spPr>
          <a:xfrm>
            <a:off x="9710928" y="5065776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17" name="dot-2-2"/>
          <p:cNvSpPr/>
          <p:nvPr/>
        </p:nvSpPr>
        <p:spPr>
          <a:xfrm>
            <a:off x="10003536" y="5065776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18" name="dot-2-3"/>
          <p:cNvSpPr/>
          <p:nvPr/>
        </p:nvSpPr>
        <p:spPr>
          <a:xfrm>
            <a:off x="10296144" y="5065776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19" name="dot-2-4"/>
          <p:cNvSpPr/>
          <p:nvPr/>
        </p:nvSpPr>
        <p:spPr>
          <a:xfrm>
            <a:off x="10588752" y="5065776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20" name="dot-3-0"/>
          <p:cNvSpPr/>
          <p:nvPr/>
        </p:nvSpPr>
        <p:spPr>
          <a:xfrm>
            <a:off x="9418320" y="5358384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21" name="dot-3-1"/>
          <p:cNvSpPr/>
          <p:nvPr/>
        </p:nvSpPr>
        <p:spPr>
          <a:xfrm>
            <a:off x="9710928" y="5358384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22" name="dot-3-2"/>
          <p:cNvSpPr/>
          <p:nvPr/>
        </p:nvSpPr>
        <p:spPr>
          <a:xfrm>
            <a:off x="10003536" y="5358384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23" name="dot-3-3"/>
          <p:cNvSpPr/>
          <p:nvPr/>
        </p:nvSpPr>
        <p:spPr>
          <a:xfrm>
            <a:off x="10296144" y="5358384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24" name="dot-3-4"/>
          <p:cNvSpPr/>
          <p:nvPr/>
        </p:nvSpPr>
        <p:spPr>
          <a:xfrm>
            <a:off x="10588752" y="5358384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25" name="dot-4-0"/>
          <p:cNvSpPr/>
          <p:nvPr/>
        </p:nvSpPr>
        <p:spPr>
          <a:xfrm>
            <a:off x="9418320" y="5650992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26" name="dot-4-1"/>
          <p:cNvSpPr/>
          <p:nvPr/>
        </p:nvSpPr>
        <p:spPr>
          <a:xfrm>
            <a:off x="9710928" y="5650992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27" name="dot-4-2"/>
          <p:cNvSpPr/>
          <p:nvPr/>
        </p:nvSpPr>
        <p:spPr>
          <a:xfrm>
            <a:off x="10003536" y="5650992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28" name="dot-4-3"/>
          <p:cNvSpPr/>
          <p:nvPr/>
        </p:nvSpPr>
        <p:spPr>
          <a:xfrm>
            <a:off x="10296144" y="5650992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29" name="dot-4-4"/>
          <p:cNvSpPr/>
          <p:nvPr/>
        </p:nvSpPr>
        <p:spPr>
          <a:xfrm>
            <a:off x="10588752" y="5650992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목차</a:t>
            </a:r>
            <a:endParaRPr lang="en-US" sz="3200" dirty="0"/>
          </a:p>
        </p:txBody>
      </p:sp>
      <p:sp>
        <p:nvSpPr>
          <p:cNvPr id="3" name="badge-01"/>
          <p:cNvSpPr/>
          <p:nvPr/>
        </p:nvSpPr>
        <p:spPr>
          <a:xfrm>
            <a:off x="457200" y="160020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oc-1"/>
          <p:cNvSpPr txBox="1"/>
          <p:nvPr/>
        </p:nvSpPr>
        <p:spPr>
          <a:xfrm>
            <a:off x="1234440" y="156362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브랜치(Branch)와 HEAD 이해하기</a:t>
            </a:r>
            <a:endParaRPr lang="en-US" sz="1600" dirty="0"/>
          </a:p>
        </p:txBody>
      </p:sp>
      <p:sp>
        <p:nvSpPr>
          <p:cNvPr id="5" name="badge-02"/>
          <p:cNvSpPr/>
          <p:nvPr/>
        </p:nvSpPr>
        <p:spPr>
          <a:xfrm>
            <a:off x="457200" y="216027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oc-2"/>
          <p:cNvSpPr txBox="1"/>
          <p:nvPr/>
        </p:nvSpPr>
        <p:spPr>
          <a:xfrm>
            <a:off x="1234440" y="212369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브랜치 만들기와 전환하기 (git branch · git switch)</a:t>
            </a:r>
            <a:endParaRPr lang="en-US" sz="1600" dirty="0"/>
          </a:p>
        </p:txBody>
      </p:sp>
      <p:sp>
        <p:nvSpPr>
          <p:cNvPr id="7" name="badge-03"/>
          <p:cNvSpPr/>
          <p:nvPr/>
        </p:nvSpPr>
        <p:spPr>
          <a:xfrm>
            <a:off x="457200" y="272034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</a:t>
            </a:r>
            <a:endParaRPr lang="en-US" sz="1100" dirty="0"/>
          </a:p>
        </p:txBody>
      </p:sp>
      <p:sp>
        <p:nvSpPr>
          <p:cNvPr id="8" name="toc-3"/>
          <p:cNvSpPr txBox="1"/>
          <p:nvPr/>
        </p:nvSpPr>
        <p:spPr>
          <a:xfrm>
            <a:off x="1234440" y="268376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병합(Merge) — Fast-forward 와 3-way</a:t>
            </a:r>
            <a:endParaRPr lang="en-US" sz="1600" dirty="0"/>
          </a:p>
        </p:txBody>
      </p:sp>
      <p:sp>
        <p:nvSpPr>
          <p:cNvPr id="9" name="badge-04"/>
          <p:cNvSpPr/>
          <p:nvPr/>
        </p:nvSpPr>
        <p:spPr>
          <a:xfrm>
            <a:off x="457200" y="328041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</a:t>
            </a:r>
            <a:endParaRPr lang="en-US" sz="1100" dirty="0"/>
          </a:p>
        </p:txBody>
      </p:sp>
      <p:sp>
        <p:nvSpPr>
          <p:cNvPr id="10" name="toc-4"/>
          <p:cNvSpPr txBox="1"/>
          <p:nvPr/>
        </p:nvSpPr>
        <p:spPr>
          <a:xfrm>
            <a:off x="1234440" y="324383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병합 충돌(Conflict) 해결하기</a:t>
            </a:r>
            <a:endParaRPr lang="en-US" sz="1600" dirty="0"/>
          </a:p>
        </p:txBody>
      </p:sp>
      <p:sp>
        <p:nvSpPr>
          <p:cNvPr id="11" name="badge-05"/>
          <p:cNvSpPr/>
          <p:nvPr/>
        </p:nvSpPr>
        <p:spPr>
          <a:xfrm>
            <a:off x="457200" y="384048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</a:t>
            </a:r>
            <a:endParaRPr lang="en-US" sz="1100" dirty="0"/>
          </a:p>
        </p:txBody>
      </p:sp>
      <p:sp>
        <p:nvSpPr>
          <p:cNvPr id="12" name="toc-5"/>
          <p:cNvSpPr txBox="1"/>
          <p:nvPr/>
        </p:nvSpPr>
        <p:spPr>
          <a:xfrm>
            <a:off x="1234440" y="38039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브랜치 정리와 원격 브랜치</a:t>
            </a:r>
            <a:endParaRPr lang="en-US" sz="1600" dirty="0"/>
          </a:p>
        </p:txBody>
      </p:sp>
      <p:sp>
        <p:nvSpPr>
          <p:cNvPr id="13" name="badge-06"/>
          <p:cNvSpPr/>
          <p:nvPr/>
        </p:nvSpPr>
        <p:spPr>
          <a:xfrm>
            <a:off x="457200" y="440055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06</a:t>
            </a:r>
            <a:endParaRPr lang="en-US" sz="1100" dirty="0"/>
          </a:p>
        </p:txBody>
      </p:sp>
      <p:sp>
        <p:nvSpPr>
          <p:cNvPr id="14" name="toc-6"/>
          <p:cNvSpPr txBox="1"/>
          <p:nvPr/>
        </p:nvSpPr>
        <p:spPr>
          <a:xfrm>
            <a:off x="1234440" y="436397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커밋 수정과 되돌리기 (amend · restore · reset · revert)</a:t>
            </a:r>
            <a:endParaRPr lang="en-US" sz="1600" dirty="0"/>
          </a:p>
        </p:txBody>
      </p:sp>
      <p:sp>
        <p:nvSpPr>
          <p:cNvPr id="15" name="badge-07"/>
          <p:cNvSpPr/>
          <p:nvPr/>
        </p:nvSpPr>
        <p:spPr>
          <a:xfrm>
            <a:off x="457200" y="496062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</a:t>
            </a:r>
            <a:endParaRPr lang="en-US" sz="1100" dirty="0"/>
          </a:p>
        </p:txBody>
      </p:sp>
      <p:sp>
        <p:nvSpPr>
          <p:cNvPr id="16" name="toc-7"/>
          <p:cNvSpPr txBox="1"/>
          <p:nvPr/>
        </p:nvSpPr>
        <p:spPr>
          <a:xfrm>
            <a:off x="1234440" y="492404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작업 임시 저장하기 (git stash)</a:t>
            </a:r>
            <a:endParaRPr lang="en-US" sz="1600" dirty="0"/>
          </a:p>
        </p:txBody>
      </p:sp>
      <p:sp>
        <p:nvSpPr>
          <p:cNvPr id="17" name="badge-08"/>
          <p:cNvSpPr/>
          <p:nvPr/>
        </p:nvSpPr>
        <p:spPr>
          <a:xfrm>
            <a:off x="457200" y="552069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</a:t>
            </a:r>
            <a:endParaRPr lang="en-US" sz="1100" dirty="0"/>
          </a:p>
        </p:txBody>
      </p:sp>
      <p:sp>
        <p:nvSpPr>
          <p:cNvPr id="18" name="toc-8"/>
          <p:cNvSpPr txBox="1"/>
          <p:nvPr/>
        </p:nvSpPr>
        <p:spPr>
          <a:xfrm>
            <a:off x="1234440" y="548411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실습: 브랜치 만들고 충돌 해결하기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브랜치(Branch)란?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기존 코드에 영향을 주지 않고 독립적으로 작업하기 위한 "작업 흐름"입니다.</a:t>
            </a:r>
            <a:endParaRPr lang="en-US" sz="1400" dirty="0"/>
          </a:p>
        </p:txBody>
      </p:sp>
      <p:sp>
        <p:nvSpPr>
          <p:cNvPr id="5" name="num-1-0.5-2.2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"/>
          <p:cNvSpPr txBox="1"/>
          <p:nvPr/>
        </p:nvSpPr>
        <p:spPr>
          <a:xfrm>
            <a:off x="1005840" y="19933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격리 (Isolation)</a:t>
            </a:r>
            <a:endParaRPr lang="en-US" sz="1500" dirty="0"/>
          </a:p>
        </p:txBody>
      </p:sp>
      <p:sp>
        <p:nvSpPr>
          <p:cNvPr id="7" name="text"/>
          <p:cNvSpPr txBox="1"/>
          <p:nvPr/>
        </p:nvSpPr>
        <p:spPr>
          <a:xfrm>
            <a:off x="1005840" y="230428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2"/>
                </a:solidFill>
              </a:rPr>
              <a:t>새 기능·실험을 main 과 분리해서 개발합니다. 실패해도 main 은 안전합니다.</a:t>
            </a:r>
            <a:endParaRPr lang="en-US" sz="1250" dirty="0"/>
          </a:p>
        </p:txBody>
      </p:sp>
      <p:sp>
        <p:nvSpPr>
          <p:cNvPr id="8" name="num-2-0.5-3.3"/>
          <p:cNvSpPr/>
          <p:nvPr/>
        </p:nvSpPr>
        <p:spPr>
          <a:xfrm>
            <a:off x="457200" y="303580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1005840" y="3017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병렬 작업</a:t>
            </a:r>
            <a:endParaRPr lang="en-US" sz="1500" dirty="0"/>
          </a:p>
        </p:txBody>
      </p:sp>
      <p:sp>
        <p:nvSpPr>
          <p:cNvPr id="10" name="text"/>
          <p:cNvSpPr txBox="1"/>
          <p:nvPr/>
        </p:nvSpPr>
        <p:spPr>
          <a:xfrm>
            <a:off x="1005840" y="332841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2"/>
                </a:solidFill>
              </a:rPr>
              <a:t>여러 사람이(또는 한 사람이 여러 작업을) 각자의 브랜치에서 동시에 진행합니다.</a:t>
            </a:r>
            <a:endParaRPr lang="en-US" sz="1250" dirty="0"/>
          </a:p>
        </p:txBody>
      </p:sp>
      <p:sp>
        <p:nvSpPr>
          <p:cNvPr id="11" name="num-3-0.5-4.4"/>
          <p:cNvSpPr/>
          <p:nvPr/>
        </p:nvSpPr>
        <p:spPr>
          <a:xfrm>
            <a:off x="457200" y="4059936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1005840" y="4041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병합 (Merge)</a:t>
            </a:r>
            <a:endParaRPr lang="en-US" sz="1500" dirty="0"/>
          </a:p>
        </p:txBody>
      </p:sp>
      <p:sp>
        <p:nvSpPr>
          <p:cNvPr id="13" name="text"/>
          <p:cNvSpPr txBox="1"/>
          <p:nvPr/>
        </p:nvSpPr>
        <p:spPr>
          <a:xfrm>
            <a:off x="1005840" y="435254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2"/>
                </a:solidFill>
              </a:rPr>
              <a:t>완성되고 검토된 작업만 main 으로 합칩니다.</a:t>
            </a:r>
            <a:endParaRPr lang="en-US" sz="1250" dirty="0"/>
          </a:p>
        </p:txBody>
      </p:sp>
      <p:sp>
        <p:nvSpPr>
          <p:cNvPr id="14" name="graph-card"/>
          <p:cNvSpPr/>
          <p:nvPr/>
        </p:nvSpPr>
        <p:spPr>
          <a:xfrm>
            <a:off x="5623560" y="1874520"/>
            <a:ext cx="6108192" cy="31546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"/>
          <p:cNvSpPr txBox="1"/>
          <p:nvPr/>
        </p:nvSpPr>
        <p:spPr>
          <a:xfrm>
            <a:off x="589788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Repository</a:t>
            </a:r>
            <a:endParaRPr lang="en-US" sz="1300" dirty="0"/>
          </a:p>
        </p:txBody>
      </p:sp>
      <p:sp>
        <p:nvSpPr>
          <p:cNvPr id="16" name="edge"/>
          <p:cNvSpPr/>
          <p:nvPr/>
        </p:nvSpPr>
        <p:spPr>
          <a:xfrm>
            <a:off x="6263640" y="2971800"/>
            <a:ext cx="10972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7" name="edge"/>
          <p:cNvSpPr/>
          <p:nvPr/>
        </p:nvSpPr>
        <p:spPr>
          <a:xfrm>
            <a:off x="7360920" y="2971800"/>
            <a:ext cx="10972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8" name="edge"/>
          <p:cNvSpPr/>
          <p:nvPr/>
        </p:nvSpPr>
        <p:spPr>
          <a:xfrm>
            <a:off x="8458200" y="2971800"/>
            <a:ext cx="2194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9" name="edge"/>
          <p:cNvSpPr/>
          <p:nvPr/>
        </p:nvSpPr>
        <p:spPr>
          <a:xfrm>
            <a:off x="7360920" y="2971800"/>
            <a:ext cx="914" cy="11887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20" name="edge"/>
          <p:cNvSpPr/>
          <p:nvPr/>
        </p:nvSpPr>
        <p:spPr>
          <a:xfrm>
            <a:off x="7360920" y="4160520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21" name="edge"/>
          <p:cNvSpPr/>
          <p:nvPr/>
        </p:nvSpPr>
        <p:spPr>
          <a:xfrm>
            <a:off x="8458200" y="4160520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22" name="edge"/>
          <p:cNvSpPr/>
          <p:nvPr/>
        </p:nvSpPr>
        <p:spPr>
          <a:xfrm>
            <a:off x="9555480" y="4160520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23" name="edge"/>
          <p:cNvSpPr/>
          <p:nvPr/>
        </p:nvSpPr>
        <p:spPr>
          <a:xfrm>
            <a:off x="10652760" y="2971800"/>
            <a:ext cx="914" cy="11887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24" name="commit-a"/>
          <p:cNvSpPr/>
          <p:nvPr/>
        </p:nvSpPr>
        <p:spPr>
          <a:xfrm>
            <a:off x="6071616" y="27797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25" name="commit-b"/>
          <p:cNvSpPr/>
          <p:nvPr/>
        </p:nvSpPr>
        <p:spPr>
          <a:xfrm>
            <a:off x="7168896" y="27797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26" name="commit-c"/>
          <p:cNvSpPr/>
          <p:nvPr/>
        </p:nvSpPr>
        <p:spPr>
          <a:xfrm>
            <a:off x="8266176" y="27797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7" name="commit-m"/>
          <p:cNvSpPr/>
          <p:nvPr/>
        </p:nvSpPr>
        <p:spPr>
          <a:xfrm>
            <a:off x="10460736" y="27797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M</a:t>
            </a:r>
            <a:endParaRPr lang="en-US" sz="950" dirty="0"/>
          </a:p>
        </p:txBody>
      </p:sp>
      <p:sp>
        <p:nvSpPr>
          <p:cNvPr id="28" name="commit-f1"/>
          <p:cNvSpPr/>
          <p:nvPr/>
        </p:nvSpPr>
        <p:spPr>
          <a:xfrm>
            <a:off x="8266176" y="39684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F1</a:t>
            </a:r>
            <a:endParaRPr lang="en-US" sz="950" dirty="0"/>
          </a:p>
        </p:txBody>
      </p:sp>
      <p:sp>
        <p:nvSpPr>
          <p:cNvPr id="29" name="commit-f2"/>
          <p:cNvSpPr/>
          <p:nvPr/>
        </p:nvSpPr>
        <p:spPr>
          <a:xfrm>
            <a:off x="9363456" y="39684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F2</a:t>
            </a:r>
            <a:endParaRPr lang="en-US" sz="950" dirty="0"/>
          </a:p>
        </p:txBody>
      </p:sp>
      <p:sp>
        <p:nvSpPr>
          <p:cNvPr id="30" name="tag-main"/>
          <p:cNvSpPr/>
          <p:nvPr/>
        </p:nvSpPr>
        <p:spPr>
          <a:xfrm>
            <a:off x="10323576" y="232257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31" name="tag-arrow"/>
          <p:cNvSpPr/>
          <p:nvPr/>
        </p:nvSpPr>
        <p:spPr>
          <a:xfrm>
            <a:off x="10652760" y="257860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tag-feature"/>
          <p:cNvSpPr/>
          <p:nvPr/>
        </p:nvSpPr>
        <p:spPr>
          <a:xfrm>
            <a:off x="9082278" y="4553712"/>
            <a:ext cx="946404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33" name="tag-arrow"/>
          <p:cNvSpPr/>
          <p:nvPr/>
        </p:nvSpPr>
        <p:spPr>
          <a:xfrm>
            <a:off x="9555480" y="435254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34" name="text"/>
          <p:cNvSpPr txBox="1"/>
          <p:nvPr/>
        </p:nvSpPr>
        <p:spPr>
          <a:xfrm>
            <a:off x="745236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← branch (분기)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964692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merge (병합) →</a:t>
            </a:r>
          </a:p>
        </p:txBody>
      </p:sp>
      <p:sp>
        <p:nvSpPr>
          <p:cNvPr id="36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7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Git의 브랜치는 파일을 통째로 복사하는 것이 아니라 </a:t>
            </a:r>
            <a:r>
              <a:rPr lang="en-US" sz="1250" b="1" dirty="0">
                <a:solidFill>
                  <a:schemeClr val="tx1"/>
                </a:solidFill>
              </a:rPr>
              <a:t>커밋 하나를 가리키는 가벼운 포인터</a:t>
            </a:r>
            <a:r>
              <a:rPr lang="en-US" sz="1250" dirty="0">
                <a:solidFill>
                  <a:schemeClr val="tx1"/>
                </a:solidFill>
              </a:rPr>
              <a:t>입니다. 그래서 만들고 지우는 비용이 거의 없습니다.</a:t>
            </a:r>
            <a:endParaRPr lang="en-US" sz="12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브랜치와 HEAD — 이름표와 현재 위치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브랜치는 커밋에 붙인 </a:t>
            </a:r>
            <a:r>
              <a:rPr lang="en-US" sz="1400" b="1" dirty="0">
                <a:solidFill>
                  <a:schemeClr val="tx2"/>
                </a:solidFill>
              </a:rPr>
              <a:t>이름표</a:t>
            </a:r>
            <a:r>
              <a:rPr lang="en-US" sz="1400" dirty="0">
                <a:solidFill>
                  <a:schemeClr val="tx2"/>
                </a:solidFill>
              </a:rPr>
              <a:t>,  HEAD 는 "지금 내가 있는 브랜치"를 알려주는 </a:t>
            </a:r>
            <a:r>
              <a:rPr lang="en-US" sz="1400" b="1" dirty="0">
                <a:solidFill>
                  <a:schemeClr val="tx2"/>
                </a:solidFill>
              </a:rPr>
              <a:t>현재 위치 표시</a:t>
            </a:r>
            <a:r>
              <a:rPr lang="en-US" sz="1400" dirty="0">
                <a:solidFill>
                  <a:schemeClr val="tx2"/>
                </a:solidFill>
              </a:rPr>
              <a:t>입니다.</a:t>
            </a:r>
            <a:endParaRPr lang="en-US" sz="1400" dirty="0"/>
          </a:p>
        </p:txBody>
      </p:sp>
      <p:sp>
        <p:nvSpPr>
          <p:cNvPr id="5" name="graph-card"/>
          <p:cNvSpPr/>
          <p:nvPr/>
        </p:nvSpPr>
        <p:spPr>
          <a:xfrm>
            <a:off x="457200" y="1874520"/>
            <a:ext cx="6675120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edge"/>
          <p:cNvSpPr/>
          <p:nvPr/>
        </p:nvSpPr>
        <p:spPr>
          <a:xfrm>
            <a:off x="1280160" y="3703320"/>
            <a:ext cx="15544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7" name="edge"/>
          <p:cNvSpPr/>
          <p:nvPr/>
        </p:nvSpPr>
        <p:spPr>
          <a:xfrm>
            <a:off x="2834640" y="3703320"/>
            <a:ext cx="15544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8" name="edge"/>
          <p:cNvSpPr/>
          <p:nvPr/>
        </p:nvSpPr>
        <p:spPr>
          <a:xfrm>
            <a:off x="4389120" y="3703320"/>
            <a:ext cx="1645920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9" name="commit-a"/>
          <p:cNvSpPr/>
          <p:nvPr/>
        </p:nvSpPr>
        <p:spPr>
          <a:xfrm>
            <a:off x="1088136" y="35112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0" name="commit-b"/>
          <p:cNvSpPr/>
          <p:nvPr/>
        </p:nvSpPr>
        <p:spPr>
          <a:xfrm>
            <a:off x="2642616" y="35112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1" name="commit-c"/>
          <p:cNvSpPr/>
          <p:nvPr/>
        </p:nvSpPr>
        <p:spPr>
          <a:xfrm>
            <a:off x="4197096" y="35112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2" name="commit-d"/>
          <p:cNvSpPr/>
          <p:nvPr/>
        </p:nvSpPr>
        <p:spPr>
          <a:xfrm>
            <a:off x="5843016" y="3511296"/>
            <a:ext cx="384048" cy="38404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/>
                </a:solidFill>
              </a:rPr>
              <a:t>C4</a:t>
            </a:r>
            <a:endParaRPr lang="en-US" sz="950" dirty="0"/>
          </a:p>
        </p:txBody>
      </p:sp>
      <p:sp>
        <p:nvSpPr>
          <p:cNvPr id="13" name="cap-d"/>
          <p:cNvSpPr txBox="1"/>
          <p:nvPr/>
        </p:nvSpPr>
        <p:spPr>
          <a:xfrm>
            <a:off x="5212080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</a:rPr>
              <a:t>다음 커밋</a:t>
            </a:r>
            <a:endParaRPr lang="en-US" sz="950" dirty="0"/>
          </a:p>
        </p:txBody>
      </p:sp>
      <p:sp>
        <p:nvSpPr>
          <p:cNvPr id="14" name="tag-main"/>
          <p:cNvSpPr/>
          <p:nvPr/>
        </p:nvSpPr>
        <p:spPr>
          <a:xfrm>
            <a:off x="4059936" y="305409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5" name="tag-arrow"/>
          <p:cNvSpPr/>
          <p:nvPr/>
        </p:nvSpPr>
        <p:spPr>
          <a:xfrm>
            <a:off x="4389120" y="331012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tag-HEAD"/>
          <p:cNvSpPr/>
          <p:nvPr/>
        </p:nvSpPr>
        <p:spPr>
          <a:xfrm>
            <a:off x="4059936" y="267004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17" name="tag-arrow"/>
          <p:cNvSpPr/>
          <p:nvPr/>
        </p:nvSpPr>
        <p:spPr>
          <a:xfrm>
            <a:off x="4389120" y="2926080"/>
            <a:ext cx="914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text"/>
          <p:cNvSpPr txBox="1"/>
          <p:nvPr/>
        </p:nvSpPr>
        <p:spPr>
          <a:xfrm>
            <a:off x="731520" y="44805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새로 커밋하면 main 과 HEAD 가 함께 C4 로 이동합니다</a:t>
            </a:r>
            <a:endParaRPr lang="en-US" sz="1150" dirty="0"/>
          </a:p>
        </p:txBody>
      </p:sp>
      <p:sp>
        <p:nvSpPr>
          <p:cNvPr id="19" name="concept-card"/>
          <p:cNvSpPr/>
          <p:nvPr/>
        </p:nvSpPr>
        <p:spPr>
          <a:xfrm>
            <a:off x="7406640" y="1874520"/>
            <a:ext cx="4325112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"/>
          <p:cNvSpPr txBox="1"/>
          <p:nvPr/>
        </p:nvSpPr>
        <p:spPr>
          <a:xfrm>
            <a:off x="7635240" y="2029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브랜치 (main, devel …)</a:t>
            </a:r>
            <a:endParaRPr lang="en-US" sz="1400" dirty="0"/>
          </a:p>
        </p:txBody>
      </p:sp>
      <p:sp>
        <p:nvSpPr>
          <p:cNvPr id="21" name="bullets"/>
          <p:cNvSpPr txBox="1"/>
          <p:nvPr/>
        </p:nvSpPr>
        <p:spPr>
          <a:xfrm>
            <a:off x="763524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특정 커밋에 붙은 </a:t>
            </a:r>
            <a:r>
              <a:rPr lang="en-US" sz="1250" b="1" dirty="0">
                <a:solidFill>
                  <a:schemeClr val="tx1"/>
                </a:solidFill>
              </a:rPr>
              <a:t>이름표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커밋하면 새 커밋으로 자동 이동</a:t>
            </a:r>
            <a:endParaRPr lang="en-US" sz="1250" dirty="0"/>
          </a:p>
        </p:txBody>
      </p:sp>
      <p:sp>
        <p:nvSpPr>
          <p:cNvPr id="22" name="text"/>
          <p:cNvSpPr txBox="1"/>
          <p:nvPr/>
        </p:nvSpPr>
        <p:spPr>
          <a:xfrm>
            <a:off x="7635240" y="3291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HEAD</a:t>
            </a:r>
            <a:endParaRPr lang="en-US" sz="1400" dirty="0"/>
          </a:p>
        </p:txBody>
      </p:sp>
      <p:sp>
        <p:nvSpPr>
          <p:cNvPr id="23" name="bullets"/>
          <p:cNvSpPr txBox="1"/>
          <p:nvPr/>
        </p:nvSpPr>
        <p:spPr>
          <a:xfrm>
            <a:off x="7635240" y="363931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 err="1" smtClean="0">
                <a:solidFill>
                  <a:schemeClr val="tx1"/>
                </a:solidFill>
              </a:rPr>
              <a:t>지금</a:t>
            </a:r>
            <a:r>
              <a:rPr lang="en-US" sz="1250" dirty="0" smtClean="0">
                <a:solidFill>
                  <a:schemeClr val="tx1"/>
                </a:solidFill>
              </a:rPr>
              <a:t> </a:t>
            </a:r>
            <a:r>
              <a:rPr lang="en-US" sz="1250" dirty="0">
                <a:solidFill>
                  <a:schemeClr val="tx1"/>
                </a:solidFill>
              </a:rPr>
              <a:t>작업 중인 브랜치를 가리킴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브랜치를 전환하면 HEAD 도 이동</a:t>
            </a:r>
            <a:endParaRPr lang="en-US" sz="1250" dirty="0"/>
          </a:p>
        </p:txBody>
      </p:sp>
      <p:sp>
        <p:nvSpPr>
          <p:cNvPr id="24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5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새 커밋은 항상 </a:t>
            </a:r>
            <a:r>
              <a:rPr lang="en-US" sz="1250" b="1" dirty="0">
                <a:solidFill>
                  <a:schemeClr val="tx1"/>
                </a:solidFill>
              </a:rPr>
              <a:t>HEAD 가 가리키는 브랜치</a:t>
            </a:r>
            <a:r>
              <a:rPr lang="en-US" sz="1250" dirty="0">
                <a:solidFill>
                  <a:schemeClr val="tx1"/>
                </a:solidFill>
              </a:rPr>
              <a:t>에 쌓입니다. 이것만 기억하면 브랜치가 쉬워집니다.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.3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1.3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준비 — 커밋 3개 만들기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새 저장소를 만들고 README.md 에 커밋 3개를 쌓아 브랜치 실습의 출발점을 만듭니다.</a:t>
            </a:r>
            <a:endParaRPr lang="en-US" sz="1400" dirty="0"/>
          </a:p>
        </p:txBody>
      </p:sp>
      <p:sp>
        <p:nvSpPr>
          <p:cNvPr id="5" name="code-branch-lab 저장소 준비"/>
          <p:cNvSpPr/>
          <p:nvPr/>
        </p:nvSpPr>
        <p:spPr>
          <a:xfrm>
            <a:off x="457200" y="1874520"/>
            <a:ext cx="6400800" cy="3146298"/>
          </a:xfrm>
          <a:prstGeom prst="roundRect">
            <a:avLst>
              <a:gd name="adj" fmla="val 17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476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branch-lab 저장소 준비</a:t>
            </a:r>
            <a:endParaRPr lang="en-US" sz="850" dirty="0"/>
          </a:p>
        </p:txBody>
      </p:sp>
      <p:sp>
        <p:nvSpPr>
          <p:cNvPr id="10" name="code-body-branch-lab 저장소 준비"/>
          <p:cNvSpPr txBox="1"/>
          <p:nvPr/>
        </p:nvSpPr>
        <p:spPr>
          <a:xfrm>
            <a:off x="685800" y="2258568"/>
            <a:ext cx="5989320" cy="2670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branch-lab &amp;&amp; cd branch-lab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"My email is me@example.com" &gt; README.md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README.md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"Commit 1"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"Line 2" &gt;&gt; README.md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-am "Commit 2"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"Line 3" &gt;&gt; README.md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-am "Commit 3"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44fdf4c (HEAD -&gt; main) Commit 3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51f6827 Commit 2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fbed70e Commit 1</a:t>
            </a:r>
            <a:endParaRPr lang="en-US" sz="1150" dirty="0"/>
          </a:p>
        </p:txBody>
      </p:sp>
      <p:sp>
        <p:nvSpPr>
          <p:cNvPr id="11" name="graph-card"/>
          <p:cNvSpPr/>
          <p:nvPr/>
        </p:nvSpPr>
        <p:spPr>
          <a:xfrm>
            <a:off x="7178040" y="1874520"/>
            <a:ext cx="4553712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edge"/>
          <p:cNvSpPr/>
          <p:nvPr/>
        </p:nvSpPr>
        <p:spPr>
          <a:xfrm>
            <a:off x="7818120" y="3246120"/>
            <a:ext cx="14630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3" name="edge"/>
          <p:cNvSpPr/>
          <p:nvPr/>
        </p:nvSpPr>
        <p:spPr>
          <a:xfrm>
            <a:off x="9281160" y="3246120"/>
            <a:ext cx="14630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4" name="commit-a"/>
          <p:cNvSpPr/>
          <p:nvPr/>
        </p:nvSpPr>
        <p:spPr>
          <a:xfrm>
            <a:off x="762609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5" name="commit-b"/>
          <p:cNvSpPr/>
          <p:nvPr/>
        </p:nvSpPr>
        <p:spPr>
          <a:xfrm>
            <a:off x="908913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6" name="commit-c"/>
          <p:cNvSpPr/>
          <p:nvPr/>
        </p:nvSpPr>
        <p:spPr>
          <a:xfrm>
            <a:off x="1055217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7" name="tag-main"/>
          <p:cNvSpPr/>
          <p:nvPr/>
        </p:nvSpPr>
        <p:spPr>
          <a:xfrm>
            <a:off x="10415016" y="259689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8" name="tag-arrow"/>
          <p:cNvSpPr/>
          <p:nvPr/>
        </p:nvSpPr>
        <p:spPr>
          <a:xfrm>
            <a:off x="10744200" y="285292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tag-HEAD"/>
          <p:cNvSpPr/>
          <p:nvPr/>
        </p:nvSpPr>
        <p:spPr>
          <a:xfrm>
            <a:off x="10415016" y="221284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20" name="tag-arrow"/>
          <p:cNvSpPr/>
          <p:nvPr/>
        </p:nvSpPr>
        <p:spPr>
          <a:xfrm>
            <a:off x="10744200" y="2468880"/>
            <a:ext cx="914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callout-tip"/>
          <p:cNvSpPr/>
          <p:nvPr/>
        </p:nvSpPr>
        <p:spPr>
          <a:xfrm>
            <a:off x="7178040" y="4160520"/>
            <a:ext cx="4553712" cy="100584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22" name="callout-text-tip"/>
          <p:cNvSpPr txBox="1"/>
          <p:nvPr/>
        </p:nvSpPr>
        <p:spPr>
          <a:xfrm>
            <a:off x="7406640" y="416052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-am 옵션  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-am</a:t>
            </a:r>
            <a:r>
              <a:rPr lang="en-US" sz="1250" dirty="0">
                <a:solidFill>
                  <a:schemeClr val="tx1"/>
                </a:solidFill>
              </a:rPr>
              <a:t> 은 이미 추적 중인(tracked) 파일의 add 와 commit 을 한 번에 처리합니다. </a:t>
            </a:r>
            <a:r>
              <a:rPr lang="en-US" sz="1250" b="1" dirty="0">
                <a:solidFill>
                  <a:schemeClr val="tx1"/>
                </a:solidFill>
              </a:rPr>
              <a:t>새 파일(untracked)은 포함되지 않으니</a:t>
            </a:r>
            <a:r>
              <a:rPr lang="en-US" sz="1250" dirty="0">
                <a:solidFill>
                  <a:schemeClr val="tx1"/>
                </a:solidFill>
              </a:rPr>
              <a:t> 먼저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250" dirty="0">
                <a:solidFill>
                  <a:schemeClr val="tx1"/>
                </a:solidFill>
              </a:rPr>
              <a:t> 하세요.</a:t>
            </a:r>
            <a:endParaRPr lang="en-US" sz="1250" dirty="0"/>
          </a:p>
        </p:txBody>
      </p:sp>
      <p:sp>
        <p:nvSpPr>
          <p:cNvPr id="23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4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커밋이 C1 → C2 → C3 순서로 쌓이고, </a:t>
            </a:r>
            <a:r>
              <a:rPr lang="en-US" sz="1250" b="1" dirty="0">
                <a:solidFill>
                  <a:schemeClr val="tx1"/>
                </a:solidFill>
              </a:rPr>
              <a:t>main 과 HEAD 가 마지막 커밋 C3</a:t>
            </a:r>
            <a:r>
              <a:rPr lang="en-US" sz="1250" dirty="0">
                <a:solidFill>
                  <a:schemeClr val="tx1"/>
                </a:solidFill>
              </a:rPr>
              <a:t> 를 가리킵니다.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branch — 브랜치 만들기 · 목록 보기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&lt;이름&gt;</a:t>
            </a:r>
            <a:r>
              <a:rPr lang="en-US" sz="1400" dirty="0">
                <a:solidFill>
                  <a:schemeClr val="tx2"/>
                </a:solidFill>
              </a:rPr>
              <a:t> 은 현재 커밋을 가리키는 새 브랜치를 만듭니다 (전환은 하지 않음).</a:t>
            </a:r>
            <a:endParaRPr lang="en-US" sz="1400" dirty="0"/>
          </a:p>
        </p:txBody>
      </p:sp>
      <p:sp>
        <p:nvSpPr>
          <p:cNvPr id="5" name="code-git branch"/>
          <p:cNvSpPr/>
          <p:nvPr/>
        </p:nvSpPr>
        <p:spPr>
          <a:xfrm>
            <a:off x="457200" y="1874520"/>
            <a:ext cx="6035040" cy="1411224"/>
          </a:xfrm>
          <a:prstGeom prst="roundRect">
            <a:avLst>
              <a:gd name="adj" fmla="val 388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850" dirty="0"/>
          </a:p>
        </p:txBody>
      </p:sp>
      <p:sp>
        <p:nvSpPr>
          <p:cNvPr id="10" name="code-body-git branch"/>
          <p:cNvSpPr txBox="1"/>
          <p:nvPr/>
        </p:nvSpPr>
        <p:spPr>
          <a:xfrm>
            <a:off x="685800" y="2258568"/>
            <a:ext cx="5623560" cy="93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devel</a:t>
            </a: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새 브랜치 생성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</a:t>
            </a: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로컬 브랜치 목록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devel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main</a:t>
            </a: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# * = 현재 브랜치</a:t>
            </a:r>
            <a:endParaRPr lang="en-US" sz="1150" dirty="0"/>
          </a:p>
        </p:txBody>
      </p:sp>
      <p:sp>
        <p:nvSpPr>
          <p:cNvPr id="11" name="graph-card"/>
          <p:cNvSpPr/>
          <p:nvPr/>
        </p:nvSpPr>
        <p:spPr>
          <a:xfrm>
            <a:off x="6812280" y="1874520"/>
            <a:ext cx="4919472" cy="3108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edge"/>
          <p:cNvSpPr/>
          <p:nvPr/>
        </p:nvSpPr>
        <p:spPr>
          <a:xfrm>
            <a:off x="7452360" y="3246120"/>
            <a:ext cx="14630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3" name="edge"/>
          <p:cNvSpPr/>
          <p:nvPr/>
        </p:nvSpPr>
        <p:spPr>
          <a:xfrm>
            <a:off x="8915400" y="3246120"/>
            <a:ext cx="14630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4" name="commit-a"/>
          <p:cNvSpPr/>
          <p:nvPr/>
        </p:nvSpPr>
        <p:spPr>
          <a:xfrm>
            <a:off x="726033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5" name="commit-b"/>
          <p:cNvSpPr/>
          <p:nvPr/>
        </p:nvSpPr>
        <p:spPr>
          <a:xfrm>
            <a:off x="872337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6" name="commit-c"/>
          <p:cNvSpPr/>
          <p:nvPr/>
        </p:nvSpPr>
        <p:spPr>
          <a:xfrm>
            <a:off x="1018641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7" name="tag-main"/>
          <p:cNvSpPr/>
          <p:nvPr/>
        </p:nvSpPr>
        <p:spPr>
          <a:xfrm>
            <a:off x="10049256" y="259689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8" name="tag-arrow"/>
          <p:cNvSpPr/>
          <p:nvPr/>
        </p:nvSpPr>
        <p:spPr>
          <a:xfrm>
            <a:off x="10378440" y="285292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tag-HEAD"/>
          <p:cNvSpPr/>
          <p:nvPr/>
        </p:nvSpPr>
        <p:spPr>
          <a:xfrm>
            <a:off x="10049256" y="221284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20" name="tag-arrow"/>
          <p:cNvSpPr/>
          <p:nvPr/>
        </p:nvSpPr>
        <p:spPr>
          <a:xfrm>
            <a:off x="10378440" y="2468880"/>
            <a:ext cx="914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tag-devel"/>
          <p:cNvSpPr/>
          <p:nvPr/>
        </p:nvSpPr>
        <p:spPr>
          <a:xfrm>
            <a:off x="10001250" y="3639312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22" name="tag-arrow"/>
          <p:cNvSpPr/>
          <p:nvPr/>
        </p:nvSpPr>
        <p:spPr>
          <a:xfrm>
            <a:off x="10378440" y="343814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23" name="text"/>
          <p:cNvSpPr txBox="1"/>
          <p:nvPr/>
        </p:nvSpPr>
        <p:spPr>
          <a:xfrm>
            <a:off x="7040880" y="4434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두 브랜치가 같은 커밋(C3)을 가리킴</a:t>
            </a:r>
            <a:endParaRPr lang="en-US" sz="1100" dirty="0"/>
          </a:p>
        </p:txBody>
      </p:sp>
      <p:sp>
        <p:nvSpPr>
          <p:cNvPr id="24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5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새 브랜치를 만들어도 </a:t>
            </a:r>
            <a:r>
              <a:rPr lang="en-US" sz="1250" b="1" dirty="0">
                <a:solidFill>
                  <a:schemeClr val="tx1"/>
                </a:solidFill>
              </a:rPr>
              <a:t>HEAD 는 여전히 main</a:t>
            </a:r>
            <a:r>
              <a:rPr lang="en-US" sz="1250" dirty="0">
                <a:solidFill>
                  <a:schemeClr val="tx1"/>
                </a:solidFill>
              </a:rPr>
              <a:t> 을 가리킵니다. 브랜치를 만드는 것과 그 브랜치로 옮겨가는 것은 별개의 동작입니다.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switch — 브랜치 전환하기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브랜치를 옮겨 다닐 때는 전용 명령 </a:t>
            </a:r>
            <a:r>
              <a:rPr lang="en-US" sz="1400" b="1" dirty="0">
                <a:solidFill>
                  <a:schemeClr val="tx2"/>
                </a:solidFill>
              </a:rPr>
              <a:t>switch</a:t>
            </a:r>
            <a:r>
              <a:rPr lang="en-US" sz="1400" dirty="0">
                <a:solidFill>
                  <a:schemeClr val="tx2"/>
                </a:solidFill>
              </a:rPr>
              <a:t> 를 사용합니다.</a:t>
            </a:r>
            <a:endParaRPr lang="en-US" sz="1400" dirty="0"/>
          </a:p>
        </p:txBody>
      </p:sp>
      <p:sp>
        <p:nvSpPr>
          <p:cNvPr id="5" name="code-브랜치 전환"/>
          <p:cNvSpPr/>
          <p:nvPr/>
        </p:nvSpPr>
        <p:spPr>
          <a:xfrm>
            <a:off x="457200" y="1874520"/>
            <a:ext cx="5120640" cy="1604010"/>
          </a:xfrm>
          <a:prstGeom prst="roundRect">
            <a:avLst>
              <a:gd name="adj" fmla="val 342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476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브랜치 전환</a:t>
            </a:r>
            <a:endParaRPr lang="en-US" sz="850" dirty="0"/>
          </a:p>
        </p:txBody>
      </p:sp>
      <p:sp>
        <p:nvSpPr>
          <p:cNvPr id="10" name="code-body-브랜치 전환"/>
          <p:cNvSpPr txBox="1"/>
          <p:nvPr/>
        </p:nvSpPr>
        <p:spPr>
          <a:xfrm>
            <a:off x="685800" y="2258568"/>
            <a:ext cx="4709160" cy="1128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devel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Switched to branch 'devel'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만들면서 바로 전환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-c feature/login</a:t>
            </a:r>
            <a:endParaRPr lang="en-US" sz="115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874520"/>
          <a:ext cx="5879592" cy="17007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하려는 일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예전 명령 (checkout)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이 강의 (switch)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브랜치 전환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checkout devel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devel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생성 + 전환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checkout -b devel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-c devel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callout-tip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3" name="callout-text-tip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최신 팁   </a:t>
            </a:r>
            <a:r>
              <a:rPr lang="en-US" sz="1250" dirty="0">
                <a:solidFill>
                  <a:schemeClr val="tx1"/>
                </a:solidFill>
              </a:rPr>
              <a:t>인터넷 자료에 자주 나오는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r>
              <a:rPr lang="en-US" sz="1250" dirty="0">
                <a:solidFill>
                  <a:schemeClr val="tx1"/>
                </a:solidFill>
              </a:rPr>
              <a:t> 은 예전 명령입니다. 여전히 동작하지만 하는 일이 많아 헷갈리기 쉬워, 이 강의에서는 </a:t>
            </a:r>
            <a:r>
              <a:rPr lang="en-US" sz="1250" b="1" dirty="0">
                <a:solidFill>
                  <a:schemeClr val="tx1"/>
                </a:solidFill>
              </a:rPr>
              <a:t>switch</a:t>
            </a:r>
            <a:r>
              <a:rPr lang="en-US" sz="1250" dirty="0">
                <a:solidFill>
                  <a:schemeClr val="tx1"/>
                </a:solidFill>
              </a:rPr>
              <a:t> 를 사용합니다.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.3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2.3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devel 브랜치에서 작업하고 커밋하기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devel 로 전환한 뒤 새 파일을 추가해 커밋합니다.</a:t>
            </a:r>
            <a:endParaRPr lang="en-US" sz="1400" dirty="0"/>
          </a:p>
        </p:txBody>
      </p:sp>
      <p:sp>
        <p:nvSpPr>
          <p:cNvPr id="5" name="code-devel 에서 커밋"/>
          <p:cNvSpPr/>
          <p:nvPr/>
        </p:nvSpPr>
        <p:spPr>
          <a:xfrm>
            <a:off x="457200" y="1874520"/>
            <a:ext cx="6035040" cy="2182368"/>
          </a:xfrm>
          <a:prstGeom prst="roundRect">
            <a:avLst>
              <a:gd name="adj" fmla="val 25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 에서 커밋</a:t>
            </a:r>
            <a:endParaRPr lang="en-US" sz="850" dirty="0"/>
          </a:p>
        </p:txBody>
      </p:sp>
      <p:sp>
        <p:nvSpPr>
          <p:cNvPr id="10" name="code-body-devel 에서 커밋"/>
          <p:cNvSpPr txBox="1"/>
          <p:nvPr/>
        </p:nvSpPr>
        <p:spPr>
          <a:xfrm>
            <a:off x="685800" y="2258568"/>
            <a:ext cx="562356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devel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"login feature" &gt; login.txt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login.txt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"Commit 4: add login"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[devel c9b88d9] Commit 4: add login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devel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to commit, working tree clean</a:t>
            </a:r>
            <a:endParaRPr lang="en-US" sz="1150" dirty="0"/>
          </a:p>
        </p:txBody>
      </p:sp>
      <p:sp>
        <p:nvSpPr>
          <p:cNvPr id="11" name="graph-card"/>
          <p:cNvSpPr/>
          <p:nvPr/>
        </p:nvSpPr>
        <p:spPr>
          <a:xfrm>
            <a:off x="6812280" y="1874520"/>
            <a:ext cx="4919472" cy="3108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edge"/>
          <p:cNvSpPr/>
          <p:nvPr/>
        </p:nvSpPr>
        <p:spPr>
          <a:xfrm>
            <a:off x="7269480" y="329184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3" name="edge"/>
          <p:cNvSpPr/>
          <p:nvPr/>
        </p:nvSpPr>
        <p:spPr>
          <a:xfrm>
            <a:off x="8321040" y="329184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4" name="edge"/>
          <p:cNvSpPr/>
          <p:nvPr/>
        </p:nvSpPr>
        <p:spPr>
          <a:xfrm>
            <a:off x="9372600" y="3291840"/>
            <a:ext cx="128016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5" name="commit-a"/>
          <p:cNvSpPr/>
          <p:nvPr/>
        </p:nvSpPr>
        <p:spPr>
          <a:xfrm>
            <a:off x="7077456" y="30998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6" name="commit-b"/>
          <p:cNvSpPr/>
          <p:nvPr/>
        </p:nvSpPr>
        <p:spPr>
          <a:xfrm>
            <a:off x="8129016" y="30998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7" name="commit-c"/>
          <p:cNvSpPr/>
          <p:nvPr/>
        </p:nvSpPr>
        <p:spPr>
          <a:xfrm>
            <a:off x="9180576" y="30998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8" name="commit-d"/>
          <p:cNvSpPr/>
          <p:nvPr/>
        </p:nvSpPr>
        <p:spPr>
          <a:xfrm>
            <a:off x="10460736" y="30998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19" name="tag-main"/>
          <p:cNvSpPr/>
          <p:nvPr/>
        </p:nvSpPr>
        <p:spPr>
          <a:xfrm>
            <a:off x="9043416" y="368503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0" name="tag-arrow"/>
          <p:cNvSpPr/>
          <p:nvPr/>
        </p:nvSpPr>
        <p:spPr>
          <a:xfrm>
            <a:off x="9372600" y="348386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1" name="tag-devel"/>
          <p:cNvSpPr/>
          <p:nvPr/>
        </p:nvSpPr>
        <p:spPr>
          <a:xfrm>
            <a:off x="10275570" y="2642616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22" name="tag-arrow"/>
          <p:cNvSpPr/>
          <p:nvPr/>
        </p:nvSpPr>
        <p:spPr>
          <a:xfrm>
            <a:off x="10652760" y="2898648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tag-HEAD"/>
          <p:cNvSpPr/>
          <p:nvPr/>
        </p:nvSpPr>
        <p:spPr>
          <a:xfrm>
            <a:off x="10323576" y="225856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24" name="tag-arrow"/>
          <p:cNvSpPr/>
          <p:nvPr/>
        </p:nvSpPr>
        <p:spPr>
          <a:xfrm>
            <a:off x="10652760" y="2514600"/>
            <a:ext cx="914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6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커밋은 </a:t>
            </a:r>
            <a:r>
              <a:rPr lang="en-US" sz="1250" b="1" dirty="0">
                <a:solidFill>
                  <a:schemeClr val="tx1"/>
                </a:solidFill>
              </a:rPr>
              <a:t>HEAD 가 가리키는 브랜치(devel)</a:t>
            </a:r>
            <a:r>
              <a:rPr lang="en-US" sz="1250" dirty="0">
                <a:solidFill>
                  <a:schemeClr val="tx1"/>
                </a:solidFill>
              </a:rPr>
              <a:t> 에만 쌓입니다. main 은 Commit 3 에 그대로 머물러 있습니다.</a:t>
            </a:r>
            <a:endParaRPr lang="en-US" sz="12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.4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2.4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main 으로 돌아와 커밋하기 — 이력이 갈라짐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브랜치를 전환하면 작업 디렉터리의 파일도 그 브랜치의 최신 커밋 상태로 바뀝니다.</a:t>
            </a:r>
            <a:endParaRPr lang="en-US" sz="1400" dirty="0"/>
          </a:p>
        </p:txBody>
      </p:sp>
      <p:sp>
        <p:nvSpPr>
          <p:cNvPr id="5" name="code-main 에서 커밋"/>
          <p:cNvSpPr/>
          <p:nvPr/>
        </p:nvSpPr>
        <p:spPr>
          <a:xfrm>
            <a:off x="457200" y="1874520"/>
            <a:ext cx="6035040" cy="1796796"/>
          </a:xfrm>
          <a:prstGeom prst="roundRect">
            <a:avLst>
              <a:gd name="adj" fmla="val 30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에서 커밋</a:t>
            </a:r>
            <a:endParaRPr lang="en-US" sz="850" dirty="0"/>
          </a:p>
        </p:txBody>
      </p:sp>
      <p:sp>
        <p:nvSpPr>
          <p:cNvPr id="10" name="code-body-main 에서 커밋"/>
          <p:cNvSpPr txBox="1"/>
          <p:nvPr/>
        </p:nvSpPr>
        <p:spPr>
          <a:xfrm>
            <a:off x="685800" y="2258568"/>
            <a:ext cx="5623560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# login.txt 가 없음!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"Line 4 (main)" &gt;&gt; README.md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-am "Commit 5"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6464eb8] Commit 5</a:t>
            </a:r>
            <a:endParaRPr lang="en-US" sz="1150" dirty="0"/>
          </a:p>
        </p:txBody>
      </p:sp>
      <p:sp>
        <p:nvSpPr>
          <p:cNvPr id="11" name="graph-card"/>
          <p:cNvSpPr/>
          <p:nvPr/>
        </p:nvSpPr>
        <p:spPr>
          <a:xfrm>
            <a:off x="6812280" y="1874520"/>
            <a:ext cx="4919472" cy="3108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edge"/>
          <p:cNvSpPr/>
          <p:nvPr/>
        </p:nvSpPr>
        <p:spPr>
          <a:xfrm>
            <a:off x="7269480" y="292608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3" name="edge"/>
          <p:cNvSpPr/>
          <p:nvPr/>
        </p:nvSpPr>
        <p:spPr>
          <a:xfrm>
            <a:off x="8321040" y="292608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4" name="edge"/>
          <p:cNvSpPr/>
          <p:nvPr/>
        </p:nvSpPr>
        <p:spPr>
          <a:xfrm>
            <a:off x="9372600" y="2926080"/>
            <a:ext cx="12801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5" name="edge"/>
          <p:cNvSpPr/>
          <p:nvPr/>
        </p:nvSpPr>
        <p:spPr>
          <a:xfrm>
            <a:off x="9372600" y="2926080"/>
            <a:ext cx="914" cy="114300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6" name="edge"/>
          <p:cNvSpPr/>
          <p:nvPr/>
        </p:nvSpPr>
        <p:spPr>
          <a:xfrm>
            <a:off x="9372600" y="4069080"/>
            <a:ext cx="128016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7" name="commit-a"/>
          <p:cNvSpPr/>
          <p:nvPr/>
        </p:nvSpPr>
        <p:spPr>
          <a:xfrm>
            <a:off x="7077456" y="2734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8" name="commit-b"/>
          <p:cNvSpPr/>
          <p:nvPr/>
        </p:nvSpPr>
        <p:spPr>
          <a:xfrm>
            <a:off x="8129016" y="2734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9" name="commit-c"/>
          <p:cNvSpPr/>
          <p:nvPr/>
        </p:nvSpPr>
        <p:spPr>
          <a:xfrm>
            <a:off x="9180576" y="2734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0" name="commit-e"/>
          <p:cNvSpPr/>
          <p:nvPr/>
        </p:nvSpPr>
        <p:spPr>
          <a:xfrm>
            <a:off x="10460736" y="2734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C5</a:t>
            </a:r>
            <a:endParaRPr lang="en-US" sz="950" dirty="0"/>
          </a:p>
        </p:txBody>
      </p:sp>
      <p:sp>
        <p:nvSpPr>
          <p:cNvPr id="21" name="commit-d"/>
          <p:cNvSpPr/>
          <p:nvPr/>
        </p:nvSpPr>
        <p:spPr>
          <a:xfrm>
            <a:off x="10460736" y="38770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22" name="tag-main"/>
          <p:cNvSpPr/>
          <p:nvPr/>
        </p:nvSpPr>
        <p:spPr>
          <a:xfrm>
            <a:off x="10323576" y="227685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3" name="tag-arrow"/>
          <p:cNvSpPr/>
          <p:nvPr/>
        </p:nvSpPr>
        <p:spPr>
          <a:xfrm>
            <a:off x="10652760" y="253288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ag-HEAD"/>
          <p:cNvSpPr/>
          <p:nvPr/>
        </p:nvSpPr>
        <p:spPr>
          <a:xfrm>
            <a:off x="10323576" y="189280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25" name="tag-arrow"/>
          <p:cNvSpPr/>
          <p:nvPr/>
        </p:nvSpPr>
        <p:spPr>
          <a:xfrm>
            <a:off x="10652760" y="2148840"/>
            <a:ext cx="914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tag-devel"/>
          <p:cNvSpPr/>
          <p:nvPr/>
        </p:nvSpPr>
        <p:spPr>
          <a:xfrm>
            <a:off x="10275570" y="4462272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27" name="tag-arrow"/>
          <p:cNvSpPr/>
          <p:nvPr/>
        </p:nvSpPr>
        <p:spPr>
          <a:xfrm>
            <a:off x="10652760" y="426110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28" name="callout-warn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3">
              <a:alpha val="14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9" name="callout-text-warn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주의   </a:t>
            </a:r>
            <a:r>
              <a:rPr lang="en-US" sz="1250" dirty="0">
                <a:solidFill>
                  <a:schemeClr val="tx1"/>
                </a:solidFill>
              </a:rPr>
              <a:t>커밋하지 않은 수정이 있는 채로 전환하면, 전환이 거부되거나 수정 내용이 다른 브랜치로 따라옵니다. 전환 전에 </a:t>
            </a:r>
            <a:r>
              <a:rPr lang="en-US" sz="1250" b="1" dirty="0">
                <a:solidFill>
                  <a:schemeClr val="tx1"/>
                </a:solidFill>
              </a:rPr>
              <a:t>커밋</a:t>
            </a:r>
            <a:r>
              <a:rPr lang="en-US" sz="1250" dirty="0">
                <a:solidFill>
                  <a:schemeClr val="tx1"/>
                </a:solidFill>
              </a:rPr>
              <a:t>하거나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r>
              <a:rPr lang="en-US" sz="1250" dirty="0">
                <a:solidFill>
                  <a:schemeClr val="tx1"/>
                </a:solidFill>
              </a:rPr>
              <a:t>(7장)로 </a:t>
            </a:r>
            <a:r>
              <a:rPr lang="en-US" sz="1250" b="1" dirty="0">
                <a:solidFill>
                  <a:schemeClr val="tx1"/>
                </a:solidFill>
              </a:rPr>
              <a:t>임시 저장</a:t>
            </a:r>
            <a:r>
              <a:rPr lang="en-US" sz="1250" dirty="0">
                <a:solidFill>
                  <a:schemeClr val="tx1"/>
                </a:solidFill>
              </a:rPr>
              <a:t>하세요.</a:t>
            </a:r>
            <a:endParaRPr lang="en-US" sz="12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.5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2.5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브랜치 이력을 그래프로 보기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 --all</a:t>
            </a:r>
            <a:r>
              <a:rPr lang="en-US" sz="1400" dirty="0">
                <a:solidFill>
                  <a:schemeClr val="tx2"/>
                </a:solidFill>
              </a:rPr>
              <a:t> 로 모든 브랜치의 흐름을 터미널에서 한눈에 확인합니다.</a:t>
            </a:r>
            <a:endParaRPr lang="en-US" sz="1400" dirty="0"/>
          </a:p>
        </p:txBody>
      </p:sp>
      <p:sp>
        <p:nvSpPr>
          <p:cNvPr id="5" name="code-git log --graph"/>
          <p:cNvSpPr/>
          <p:nvPr/>
        </p:nvSpPr>
        <p:spPr>
          <a:xfrm>
            <a:off x="457200" y="1874520"/>
            <a:ext cx="6035040" cy="1989582"/>
          </a:xfrm>
          <a:prstGeom prst="roundRect">
            <a:avLst>
              <a:gd name="adj" fmla="val 275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--graph</a:t>
            </a:r>
            <a:endParaRPr lang="en-US" sz="850" dirty="0"/>
          </a:p>
        </p:txBody>
      </p:sp>
      <p:sp>
        <p:nvSpPr>
          <p:cNvPr id="10" name="code-body-git log --graph"/>
          <p:cNvSpPr txBox="1"/>
          <p:nvPr/>
        </p:nvSpPr>
        <p:spPr>
          <a:xfrm>
            <a:off x="685800" y="2258568"/>
            <a:ext cx="5623560" cy="151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--graph --all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6464eb8 (HEAD -&gt; main) Commit 5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* c9b88d9 (devel) Commit 4: add login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|/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44fdf4c Commit 3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51f6827 Commit 2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fbed70e Commit 1</a:t>
            </a:r>
            <a:endParaRPr lang="en-US" sz="1150" dirty="0"/>
          </a:p>
        </p:txBody>
      </p:sp>
      <p:sp>
        <p:nvSpPr>
          <p:cNvPr id="11" name="legend-card"/>
          <p:cNvSpPr/>
          <p:nvPr/>
        </p:nvSpPr>
        <p:spPr>
          <a:xfrm>
            <a:off x="6812280" y="1874520"/>
            <a:ext cx="4919472" cy="2697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"/>
          <p:cNvSpPr txBox="1"/>
          <p:nvPr/>
        </p:nvSpPr>
        <p:spPr>
          <a:xfrm>
            <a:off x="704088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그래프 읽는 법</a:t>
            </a:r>
            <a:endParaRPr lang="en-US" sz="1400" dirty="0"/>
          </a:p>
        </p:txBody>
      </p:sp>
      <p:sp>
        <p:nvSpPr>
          <p:cNvPr id="13" name="bullets"/>
          <p:cNvSpPr txBox="1"/>
          <p:nvPr/>
        </p:nvSpPr>
        <p:spPr>
          <a:xfrm>
            <a:off x="7040880" y="237744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chemeClr val="tx1"/>
                </a:solidFill>
              </a:rPr>
              <a:t>  커밋 하나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50" dirty="0">
                <a:solidFill>
                  <a:schemeClr val="tx1"/>
                </a:solidFill>
              </a:rPr>
              <a:t>  브랜치의 흐름(선)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|/</a:t>
            </a:r>
            <a:r>
              <a:rPr lang="en-US" sz="1250" dirty="0">
                <a:solidFill>
                  <a:schemeClr val="tx1"/>
                </a:solidFill>
              </a:rPr>
              <a:t>  브랜치가 갈라진 지점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(HEAD -&gt; main)</a:t>
            </a:r>
            <a:r>
              <a:rPr lang="en-US" sz="1250" dirty="0">
                <a:solidFill>
                  <a:schemeClr val="tx1"/>
                </a:solidFill>
              </a:rPr>
              <a:t>  현재 위치한 브랜치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(devel)</a:t>
            </a:r>
            <a:r>
              <a:rPr lang="en-US" sz="1250" dirty="0">
                <a:solidFill>
                  <a:schemeClr val="tx1"/>
                </a:solidFill>
              </a:rPr>
              <a:t>  그 커밋을 가리키는 다른 브랜치</a:t>
            </a:r>
            <a:endParaRPr lang="en-US" sz="1250" dirty="0"/>
          </a:p>
        </p:txBody>
      </p:sp>
      <p:sp>
        <p:nvSpPr>
          <p:cNvPr id="14" name="callout-tip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5" name="callout-text-tip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최신 팁   </a:t>
            </a:r>
            <a:r>
              <a:rPr lang="en-US" sz="1250" dirty="0">
                <a:solidFill>
                  <a:schemeClr val="tx1"/>
                </a:solidFill>
              </a:rPr>
              <a:t>VS Code 의 Source Control 그래프, GitHub Desktop 같은 GUI 도구에서도 같은 그래프를 볼 수 있습니다. 명령어 출력과 비교하며 익혀 보세요.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3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병합(Merge)의 두 가지 방식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devel</a:t>
            </a:r>
            <a:r>
              <a:rPr lang="en-US" sz="1400" dirty="0">
                <a:solidFill>
                  <a:schemeClr val="tx2"/>
                </a:solidFill>
              </a:rPr>
              <a:t> 은 "devel 의 변경을 현재 브랜치(main)로 합친다"는 뜻입니다. 이력 모양에 따라 방식이 달라집니다.</a:t>
            </a:r>
            <a:endParaRPr lang="en-US" sz="1400" dirty="0"/>
          </a:p>
        </p:txBody>
      </p:sp>
      <p:sp>
        <p:nvSpPr>
          <p:cNvPr id="5" name="ff-row"/>
          <p:cNvSpPr/>
          <p:nvPr/>
        </p:nvSpPr>
        <p:spPr>
          <a:xfrm>
            <a:off x="457200" y="1828800"/>
            <a:ext cx="11274552" cy="1463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"/>
          <p:cNvSpPr txBox="1"/>
          <p:nvPr/>
        </p:nvSpPr>
        <p:spPr>
          <a:xfrm>
            <a:off x="68580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① Fast-forward 병합</a:t>
            </a:r>
            <a:endParaRPr lang="en-US" sz="1600" dirty="0"/>
          </a:p>
        </p:txBody>
      </p:sp>
      <p:sp>
        <p:nvSpPr>
          <p:cNvPr id="7" name="text"/>
          <p:cNvSpPr txBox="1"/>
          <p:nvPr/>
        </p:nvSpPr>
        <p:spPr>
          <a:xfrm>
            <a:off x="685800" y="2331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이력이 </a:t>
            </a:r>
            <a:r>
              <a:rPr lang="en-US" sz="1150" b="1" dirty="0">
                <a:solidFill>
                  <a:schemeClr val="tx2"/>
                </a:solidFill>
              </a:rPr>
              <a:t>일직선</a:t>
            </a:r>
            <a:r>
              <a:rPr lang="en-US" sz="1150" dirty="0">
                <a:solidFill>
                  <a:schemeClr val="tx2"/>
                </a:solidFill>
              </a:rPr>
              <a:t>일 때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main 포인터만 앞으로 이동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새 커밋이 생기지 않음</a:t>
            </a:r>
            <a:endParaRPr lang="en-US" sz="1150" dirty="0"/>
          </a:p>
        </p:txBody>
      </p:sp>
      <p:sp>
        <p:nvSpPr>
          <p:cNvPr id="8" name="edge"/>
          <p:cNvSpPr/>
          <p:nvPr/>
        </p:nvSpPr>
        <p:spPr>
          <a:xfrm>
            <a:off x="4251960" y="2606040"/>
            <a:ext cx="9144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9" name="edge"/>
          <p:cNvSpPr/>
          <p:nvPr/>
        </p:nvSpPr>
        <p:spPr>
          <a:xfrm>
            <a:off x="5166360" y="2606040"/>
            <a:ext cx="91440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0" name="commit-a"/>
          <p:cNvSpPr/>
          <p:nvPr/>
        </p:nvSpPr>
        <p:spPr>
          <a:xfrm>
            <a:off x="4059936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1" name="commit-b"/>
          <p:cNvSpPr/>
          <p:nvPr/>
        </p:nvSpPr>
        <p:spPr>
          <a:xfrm>
            <a:off x="4974336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2" name="commit-c"/>
          <p:cNvSpPr/>
          <p:nvPr/>
        </p:nvSpPr>
        <p:spPr>
          <a:xfrm>
            <a:off x="5888736" y="24140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13" name="tag-main"/>
          <p:cNvSpPr/>
          <p:nvPr/>
        </p:nvSpPr>
        <p:spPr>
          <a:xfrm>
            <a:off x="4837176" y="299923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4" name="tag-arrow"/>
          <p:cNvSpPr/>
          <p:nvPr/>
        </p:nvSpPr>
        <p:spPr>
          <a:xfrm>
            <a:off x="5166360" y="279806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15" name="tag-devel"/>
          <p:cNvSpPr/>
          <p:nvPr/>
        </p:nvSpPr>
        <p:spPr>
          <a:xfrm>
            <a:off x="5703570" y="1956816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16" name="tag-arrow"/>
          <p:cNvSpPr/>
          <p:nvPr/>
        </p:nvSpPr>
        <p:spPr>
          <a:xfrm>
            <a:off x="6080760" y="2212848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text"/>
          <p:cNvSpPr txBox="1"/>
          <p:nvPr/>
        </p:nvSpPr>
        <p:spPr>
          <a:xfrm>
            <a:off x="3931920" y="30358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tx2"/>
                </a:solidFill>
              </a:rPr>
              <a:t>Before</a:t>
            </a:r>
            <a:endParaRPr lang="en-US" sz="1050" dirty="0"/>
          </a:p>
        </p:txBody>
      </p:sp>
      <p:sp>
        <p:nvSpPr>
          <p:cNvPr id="18" name="merge-arrow"/>
          <p:cNvSpPr/>
          <p:nvPr/>
        </p:nvSpPr>
        <p:spPr>
          <a:xfrm>
            <a:off x="6446520" y="2606040"/>
            <a:ext cx="64008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"/>
          <p:cNvSpPr txBox="1"/>
          <p:nvPr/>
        </p:nvSpPr>
        <p:spPr>
          <a:xfrm>
            <a:off x="6400800" y="23134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merge</a:t>
            </a:r>
            <a:endParaRPr lang="en-US" sz="1000" dirty="0"/>
          </a:p>
        </p:txBody>
      </p:sp>
      <p:sp>
        <p:nvSpPr>
          <p:cNvPr id="20" name="edge"/>
          <p:cNvSpPr/>
          <p:nvPr/>
        </p:nvSpPr>
        <p:spPr>
          <a:xfrm>
            <a:off x="7726680" y="2606040"/>
            <a:ext cx="9144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1" name="edge"/>
          <p:cNvSpPr/>
          <p:nvPr/>
        </p:nvSpPr>
        <p:spPr>
          <a:xfrm>
            <a:off x="8641080" y="2606040"/>
            <a:ext cx="9144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2" name="commit-a"/>
          <p:cNvSpPr/>
          <p:nvPr/>
        </p:nvSpPr>
        <p:spPr>
          <a:xfrm>
            <a:off x="7534656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23" name="commit-b"/>
          <p:cNvSpPr/>
          <p:nvPr/>
        </p:nvSpPr>
        <p:spPr>
          <a:xfrm>
            <a:off x="8449056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4" name="commit-c"/>
          <p:cNvSpPr/>
          <p:nvPr/>
        </p:nvSpPr>
        <p:spPr>
          <a:xfrm>
            <a:off x="9363456" y="24140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25" name="tag-main"/>
          <p:cNvSpPr/>
          <p:nvPr/>
        </p:nvSpPr>
        <p:spPr>
          <a:xfrm>
            <a:off x="9226296" y="299923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6" name="tag-arrow"/>
          <p:cNvSpPr/>
          <p:nvPr/>
        </p:nvSpPr>
        <p:spPr>
          <a:xfrm>
            <a:off x="9555480" y="279806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7" name="tag-devel"/>
          <p:cNvSpPr/>
          <p:nvPr/>
        </p:nvSpPr>
        <p:spPr>
          <a:xfrm>
            <a:off x="9178290" y="1956816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28" name="tag-arrow"/>
          <p:cNvSpPr/>
          <p:nvPr/>
        </p:nvSpPr>
        <p:spPr>
          <a:xfrm>
            <a:off x="9555480" y="2212848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text"/>
          <p:cNvSpPr txBox="1"/>
          <p:nvPr/>
        </p:nvSpPr>
        <p:spPr>
          <a:xfrm>
            <a:off x="7406640" y="30358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tx2"/>
                </a:solidFill>
              </a:rPr>
              <a:t>After</a:t>
            </a:r>
            <a:endParaRPr lang="en-US" sz="1050" dirty="0"/>
          </a:p>
        </p:txBody>
      </p:sp>
      <p:sp>
        <p:nvSpPr>
          <p:cNvPr id="30" name="text"/>
          <p:cNvSpPr txBox="1"/>
          <p:nvPr/>
        </p:nvSpPr>
        <p:spPr>
          <a:xfrm>
            <a:off x="10012680" y="2395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accent1"/>
                </a:solidFill>
              </a:rPr>
              <a:t>main 이 C4 로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accent1"/>
                </a:solidFill>
              </a:rPr>
              <a:t>이동만 함</a:t>
            </a:r>
            <a:endParaRPr lang="en-US" sz="1050" dirty="0"/>
          </a:p>
        </p:txBody>
      </p:sp>
      <p:sp>
        <p:nvSpPr>
          <p:cNvPr id="31" name="3way-row"/>
          <p:cNvSpPr/>
          <p:nvPr/>
        </p:nvSpPr>
        <p:spPr>
          <a:xfrm>
            <a:off x="457200" y="3401568"/>
            <a:ext cx="11274552" cy="197510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"/>
          <p:cNvSpPr txBox="1"/>
          <p:nvPr/>
        </p:nvSpPr>
        <p:spPr>
          <a:xfrm>
            <a:off x="685800" y="3538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② 3-way 병합</a:t>
            </a:r>
            <a:endParaRPr lang="en-US" sz="1600" dirty="0"/>
          </a:p>
        </p:txBody>
      </p:sp>
      <p:sp>
        <p:nvSpPr>
          <p:cNvPr id="33" name="text"/>
          <p:cNvSpPr txBox="1"/>
          <p:nvPr/>
        </p:nvSpPr>
        <p:spPr>
          <a:xfrm>
            <a:off x="685800" y="390448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이력이 </a:t>
            </a:r>
            <a:r>
              <a:rPr lang="en-US" sz="1150" b="1" dirty="0">
                <a:solidFill>
                  <a:schemeClr val="tx2"/>
                </a:solidFill>
              </a:rPr>
              <a:t>갈라졌을</a:t>
            </a:r>
            <a:r>
              <a:rPr lang="en-US" sz="1150" dirty="0">
                <a:solidFill>
                  <a:schemeClr val="tx2"/>
                </a:solidFill>
              </a:rPr>
              <a:t> 때
공통 조상(C3) · main 끝(C5) · devel 끝(C4)
</a:t>
            </a:r>
            <a:r>
              <a:rPr lang="en-US" sz="1150" b="1" dirty="0">
                <a:solidFill>
                  <a:schemeClr val="tx2"/>
                </a:solidFill>
              </a:rPr>
              <a:t>세 커밋을 비교</a:t>
            </a:r>
            <a:r>
              <a:rPr lang="en-US" sz="1150" dirty="0">
                <a:solidFill>
                  <a:schemeClr val="tx2"/>
                </a:solidFill>
              </a:rPr>
              <a:t>해 합친 뒤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병합 커밋 M 을 새로 만듦</a:t>
            </a:r>
            <a:endParaRPr lang="en-US" sz="1150" dirty="0"/>
          </a:p>
        </p:txBody>
      </p:sp>
      <p:sp>
        <p:nvSpPr>
          <p:cNvPr id="34" name="edge"/>
          <p:cNvSpPr/>
          <p:nvPr/>
        </p:nvSpPr>
        <p:spPr>
          <a:xfrm>
            <a:off x="4480560" y="4187952"/>
            <a:ext cx="10972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35" name="edge"/>
          <p:cNvSpPr/>
          <p:nvPr/>
        </p:nvSpPr>
        <p:spPr>
          <a:xfrm>
            <a:off x="4480560" y="4187952"/>
            <a:ext cx="914" cy="530352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36" name="edge"/>
          <p:cNvSpPr/>
          <p:nvPr/>
        </p:nvSpPr>
        <p:spPr>
          <a:xfrm>
            <a:off x="4480560" y="4718304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37" name="commit-base"/>
          <p:cNvSpPr/>
          <p:nvPr/>
        </p:nvSpPr>
        <p:spPr>
          <a:xfrm>
            <a:off x="4288536" y="3995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38" name="commit-ours"/>
          <p:cNvSpPr/>
          <p:nvPr/>
        </p:nvSpPr>
        <p:spPr>
          <a:xfrm>
            <a:off x="5385816" y="3995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C5</a:t>
            </a:r>
            <a:endParaRPr lang="en-US" sz="950" dirty="0"/>
          </a:p>
        </p:txBody>
      </p:sp>
      <p:sp>
        <p:nvSpPr>
          <p:cNvPr id="39" name="commit-theirs"/>
          <p:cNvSpPr/>
          <p:nvPr/>
        </p:nvSpPr>
        <p:spPr>
          <a:xfrm>
            <a:off x="5385816" y="4526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40" name="tag-devel"/>
          <p:cNvSpPr/>
          <p:nvPr/>
        </p:nvSpPr>
        <p:spPr>
          <a:xfrm>
            <a:off x="5200650" y="5111496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41" name="tag-arrow"/>
          <p:cNvSpPr/>
          <p:nvPr/>
        </p:nvSpPr>
        <p:spPr>
          <a:xfrm>
            <a:off x="5577840" y="4910328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42" name="base-ring"/>
          <p:cNvSpPr/>
          <p:nvPr/>
        </p:nvSpPr>
        <p:spPr>
          <a:xfrm>
            <a:off x="4178808" y="3886200"/>
            <a:ext cx="603504" cy="603504"/>
          </a:xfrm>
          <a:prstGeom prst="ellipse">
            <a:avLst/>
          </a:prstGeom>
          <a:solidFill>
            <a:srgbClr val="FFFFFF">
              <a:alpha val="0"/>
            </a:srgbClr>
          </a:solidFill>
          <a:ln w="22225">
            <a:solidFill>
              <a:schemeClr val="accent3"/>
            </a:solidFill>
            <a:prstDash val="dash"/>
          </a:ln>
        </p:spPr>
      </p:sp>
      <p:sp>
        <p:nvSpPr>
          <p:cNvPr id="43" name="text"/>
          <p:cNvSpPr txBox="1"/>
          <p:nvPr/>
        </p:nvSpPr>
        <p:spPr>
          <a:xfrm>
            <a:off x="3931920" y="36210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공통 조상</a:t>
            </a:r>
            <a:endParaRPr lang="en-US" sz="1000" dirty="0"/>
          </a:p>
        </p:txBody>
      </p:sp>
      <p:sp>
        <p:nvSpPr>
          <p:cNvPr id="44" name="text"/>
          <p:cNvSpPr txBox="1"/>
          <p:nvPr/>
        </p:nvSpPr>
        <p:spPr>
          <a:xfrm>
            <a:off x="5852160" y="4069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accent1"/>
                </a:solidFill>
              </a:rPr>
              <a:t>main</a:t>
            </a:r>
            <a:endParaRPr lang="en-US" sz="1050" dirty="0"/>
          </a:p>
        </p:txBody>
      </p:sp>
      <p:sp>
        <p:nvSpPr>
          <p:cNvPr id="45" name="text"/>
          <p:cNvSpPr txBox="1"/>
          <p:nvPr/>
        </p:nvSpPr>
        <p:spPr>
          <a:xfrm>
            <a:off x="3931920" y="5047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tx2"/>
                </a:solidFill>
              </a:rPr>
              <a:t>Before</a:t>
            </a:r>
            <a:endParaRPr lang="en-US" sz="1050" dirty="0"/>
          </a:p>
        </p:txBody>
      </p:sp>
      <p:sp>
        <p:nvSpPr>
          <p:cNvPr id="46" name="merge-arrow"/>
          <p:cNvSpPr/>
          <p:nvPr/>
        </p:nvSpPr>
        <p:spPr>
          <a:xfrm>
            <a:off x="6446520" y="4187952"/>
            <a:ext cx="64008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7" name="text"/>
          <p:cNvSpPr txBox="1"/>
          <p:nvPr/>
        </p:nvSpPr>
        <p:spPr>
          <a:xfrm>
            <a:off x="6400800" y="38953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merge</a:t>
            </a:r>
            <a:endParaRPr lang="en-US" sz="1000" dirty="0"/>
          </a:p>
        </p:txBody>
      </p:sp>
      <p:sp>
        <p:nvSpPr>
          <p:cNvPr id="48" name="edge"/>
          <p:cNvSpPr/>
          <p:nvPr/>
        </p:nvSpPr>
        <p:spPr>
          <a:xfrm>
            <a:off x="7726680" y="4187952"/>
            <a:ext cx="10058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49" name="edge"/>
          <p:cNvSpPr/>
          <p:nvPr/>
        </p:nvSpPr>
        <p:spPr>
          <a:xfrm>
            <a:off x="7726680" y="4187952"/>
            <a:ext cx="914" cy="530352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50" name="edge"/>
          <p:cNvSpPr/>
          <p:nvPr/>
        </p:nvSpPr>
        <p:spPr>
          <a:xfrm>
            <a:off x="7726680" y="4718304"/>
            <a:ext cx="100584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51" name="edge"/>
          <p:cNvSpPr/>
          <p:nvPr/>
        </p:nvSpPr>
        <p:spPr>
          <a:xfrm>
            <a:off x="8732520" y="4187952"/>
            <a:ext cx="10972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52" name="edge"/>
          <p:cNvSpPr/>
          <p:nvPr/>
        </p:nvSpPr>
        <p:spPr>
          <a:xfrm>
            <a:off x="8732520" y="4718304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53" name="edge"/>
          <p:cNvSpPr/>
          <p:nvPr/>
        </p:nvSpPr>
        <p:spPr>
          <a:xfrm>
            <a:off x="9829800" y="4187952"/>
            <a:ext cx="914" cy="530352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54" name="commit-base"/>
          <p:cNvSpPr/>
          <p:nvPr/>
        </p:nvSpPr>
        <p:spPr>
          <a:xfrm>
            <a:off x="7534656" y="3995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55" name="commit-ours"/>
          <p:cNvSpPr/>
          <p:nvPr/>
        </p:nvSpPr>
        <p:spPr>
          <a:xfrm>
            <a:off x="8540496" y="3995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C5</a:t>
            </a:r>
            <a:endParaRPr lang="en-US" sz="950" dirty="0"/>
          </a:p>
        </p:txBody>
      </p:sp>
      <p:sp>
        <p:nvSpPr>
          <p:cNvPr id="56" name="commit-theirs"/>
          <p:cNvSpPr/>
          <p:nvPr/>
        </p:nvSpPr>
        <p:spPr>
          <a:xfrm>
            <a:off x="8540496" y="4526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57" name="commit-m"/>
          <p:cNvSpPr/>
          <p:nvPr/>
        </p:nvSpPr>
        <p:spPr>
          <a:xfrm>
            <a:off x="9610344" y="3968496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M</a:t>
            </a:r>
            <a:endParaRPr lang="en-US" sz="950" dirty="0"/>
          </a:p>
        </p:txBody>
      </p:sp>
      <p:sp>
        <p:nvSpPr>
          <p:cNvPr id="58" name="tag-devel"/>
          <p:cNvSpPr/>
          <p:nvPr/>
        </p:nvSpPr>
        <p:spPr>
          <a:xfrm>
            <a:off x="8355330" y="5111496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59" name="tag-arrow"/>
          <p:cNvSpPr/>
          <p:nvPr/>
        </p:nvSpPr>
        <p:spPr>
          <a:xfrm>
            <a:off x="8732520" y="4910328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60" name="base-ring"/>
          <p:cNvSpPr/>
          <p:nvPr/>
        </p:nvSpPr>
        <p:spPr>
          <a:xfrm>
            <a:off x="7424928" y="3886200"/>
            <a:ext cx="603504" cy="603504"/>
          </a:xfrm>
          <a:prstGeom prst="ellipse">
            <a:avLst/>
          </a:prstGeom>
          <a:solidFill>
            <a:srgbClr val="FFFFFF">
              <a:alpha val="0"/>
            </a:srgbClr>
          </a:solidFill>
          <a:ln w="22225">
            <a:solidFill>
              <a:schemeClr val="accent3"/>
            </a:solidFill>
            <a:prstDash val="dash"/>
          </a:ln>
        </p:spPr>
      </p:sp>
      <p:sp>
        <p:nvSpPr>
          <p:cNvPr id="61" name="text"/>
          <p:cNvSpPr txBox="1"/>
          <p:nvPr/>
        </p:nvSpPr>
        <p:spPr>
          <a:xfrm>
            <a:off x="7178040" y="36210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공통 조상</a:t>
            </a:r>
            <a:endParaRPr lang="en-US" sz="1000" dirty="0"/>
          </a:p>
        </p:txBody>
      </p:sp>
      <p:sp>
        <p:nvSpPr>
          <p:cNvPr id="62" name="text"/>
          <p:cNvSpPr txBox="1"/>
          <p:nvPr/>
        </p:nvSpPr>
        <p:spPr>
          <a:xfrm>
            <a:off x="10131552" y="4069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accent1"/>
                </a:solidFill>
              </a:rPr>
              <a:t>main</a:t>
            </a:r>
            <a:endParaRPr lang="en-US" sz="1050" dirty="0"/>
          </a:p>
        </p:txBody>
      </p:sp>
      <p:sp>
        <p:nvSpPr>
          <p:cNvPr id="63" name="text"/>
          <p:cNvSpPr txBox="1"/>
          <p:nvPr/>
        </p:nvSpPr>
        <p:spPr>
          <a:xfrm>
            <a:off x="10131552" y="4343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병합 커밋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(부모: C5, C4)</a:t>
            </a:r>
            <a:endParaRPr lang="en-US" sz="1000" dirty="0"/>
          </a:p>
        </p:txBody>
      </p:sp>
      <p:sp>
        <p:nvSpPr>
          <p:cNvPr id="64" name="text"/>
          <p:cNvSpPr txBox="1"/>
          <p:nvPr/>
        </p:nvSpPr>
        <p:spPr>
          <a:xfrm>
            <a:off x="7406640" y="5047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tx2"/>
                </a:solidFill>
              </a:rPr>
              <a:t>After</a:t>
            </a:r>
            <a:endParaRPr lang="en-US" sz="1050" dirty="0"/>
          </a:p>
        </p:txBody>
      </p:sp>
      <p:sp>
        <p:nvSpPr>
          <p:cNvPr id="65" name="callout-key"/>
          <p:cNvSpPr/>
          <p:nvPr/>
        </p:nvSpPr>
        <p:spPr>
          <a:xfrm>
            <a:off x="457200" y="5486400"/>
            <a:ext cx="11274552" cy="54864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66" name="callout-text-key"/>
          <p:cNvSpPr txBox="1"/>
          <p:nvPr/>
        </p:nvSpPr>
        <p:spPr>
          <a:xfrm>
            <a:off x="685800" y="54864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b="1" dirty="0">
                <a:solidFill>
                  <a:schemeClr val="tx1"/>
                </a:solidFill>
              </a:rPr>
              <a:t>공통 조상</a:t>
            </a:r>
            <a:r>
              <a:rPr lang="en-US" sz="1250" dirty="0">
                <a:solidFill>
                  <a:schemeClr val="tx1"/>
                </a:solidFill>
              </a:rPr>
              <a:t> = 두 브랜치가 갈라지기 직전의 마지막 공통 커밋(C3). 병합 전에는 받는 쪽으로 먼저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r>
              <a:rPr lang="en-US" sz="1250" dirty="0">
                <a:solidFill>
                  <a:schemeClr val="tx1"/>
                </a:solidFill>
              </a:rPr>
              <a:t> 하세요.</a:t>
            </a:r>
            <a:endParaRPr lang="en-US" sz="125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3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Fast-forward 병합 vs --no-ff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main 에는 새 커밋이 없고 devel 만 앞서 나간 경우(일직선), 기본 병합은 main 이름표만 앞으로 옮깁니다.</a:t>
            </a:r>
            <a:endParaRPr lang="en-US" sz="1400" dirty="0"/>
          </a:p>
        </p:txBody>
      </p:sp>
      <p:sp>
        <p:nvSpPr>
          <p:cNvPr id="5" name="code-기본: fast-forward"/>
          <p:cNvSpPr/>
          <p:nvPr/>
        </p:nvSpPr>
        <p:spPr>
          <a:xfrm>
            <a:off x="457200" y="1828800"/>
            <a:ext cx="54864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196596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196596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196596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01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기본: fast-forward</a:t>
            </a:r>
            <a:endParaRPr lang="en-US" sz="850" dirty="0"/>
          </a:p>
        </p:txBody>
      </p:sp>
      <p:sp>
        <p:nvSpPr>
          <p:cNvPr id="10" name="code-body-기본: fast-forward"/>
          <p:cNvSpPr txBox="1"/>
          <p:nvPr/>
        </p:nvSpPr>
        <p:spPr>
          <a:xfrm>
            <a:off x="685800" y="221284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devel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Updating 44fdf4c..c9b88d9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Fast-forward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새 커밋 없음</a:t>
            </a:r>
            <a:endParaRPr lang="en-US" sz="1100" dirty="0"/>
          </a:p>
        </p:txBody>
      </p:sp>
      <p:sp>
        <p:nvSpPr>
          <p:cNvPr id="11" name="code---no-ff: 병합 커밋을 강제로 생성"/>
          <p:cNvSpPr/>
          <p:nvPr/>
        </p:nvSpPr>
        <p:spPr>
          <a:xfrm>
            <a:off x="6245352" y="1828800"/>
            <a:ext cx="54864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code-dot"/>
          <p:cNvSpPr/>
          <p:nvPr/>
        </p:nvSpPr>
        <p:spPr>
          <a:xfrm>
            <a:off x="6409944" y="196596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13" name="code-dot"/>
          <p:cNvSpPr/>
          <p:nvPr/>
        </p:nvSpPr>
        <p:spPr>
          <a:xfrm>
            <a:off x="6574536" y="196596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code-dot"/>
          <p:cNvSpPr/>
          <p:nvPr/>
        </p:nvSpPr>
        <p:spPr>
          <a:xfrm>
            <a:off x="6739128" y="196596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15" name="code-title"/>
          <p:cNvSpPr txBox="1"/>
          <p:nvPr/>
        </p:nvSpPr>
        <p:spPr>
          <a:xfrm>
            <a:off x="6958584" y="1901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--no-ff: 병합 커밋을 강제로 생성</a:t>
            </a:r>
            <a:endParaRPr lang="en-US" sz="850" dirty="0"/>
          </a:p>
        </p:txBody>
      </p:sp>
      <p:sp>
        <p:nvSpPr>
          <p:cNvPr id="16" name="code-body---no-ff: 병합 커밋을 강제로 생성"/>
          <p:cNvSpPr txBox="1"/>
          <p:nvPr/>
        </p:nvSpPr>
        <p:spPr>
          <a:xfrm>
            <a:off x="6473952" y="221284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--no-ff devel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made by the 'ort' strategy.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커밋 메시지 편집기가 열리면 저장 후 종료</a:t>
            </a:r>
            <a:endParaRPr lang="en-US" sz="1100" dirty="0"/>
          </a:p>
        </p:txBody>
      </p:sp>
      <p:sp>
        <p:nvSpPr>
          <p:cNvPr id="17" name="ffpanel-0"/>
          <p:cNvSpPr/>
          <p:nvPr/>
        </p:nvSpPr>
        <p:spPr>
          <a:xfrm>
            <a:off x="457200" y="3383280"/>
            <a:ext cx="3611880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"/>
          <p:cNvSpPr txBox="1"/>
          <p:nvPr/>
        </p:nvSpPr>
        <p:spPr>
          <a:xfrm>
            <a:off x="64008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Before</a:t>
            </a:r>
            <a:endParaRPr lang="en-US" sz="1200" dirty="0"/>
          </a:p>
        </p:txBody>
      </p:sp>
      <p:sp>
        <p:nvSpPr>
          <p:cNvPr id="19" name="ffpanel-1"/>
          <p:cNvSpPr/>
          <p:nvPr/>
        </p:nvSpPr>
        <p:spPr>
          <a:xfrm>
            <a:off x="4288536" y="3383280"/>
            <a:ext cx="3611880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"/>
          <p:cNvSpPr txBox="1"/>
          <p:nvPr/>
        </p:nvSpPr>
        <p:spPr>
          <a:xfrm>
            <a:off x="4471416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After — 기본 (fast-forward)</a:t>
            </a:r>
            <a:endParaRPr lang="en-US" sz="1200" dirty="0"/>
          </a:p>
        </p:txBody>
      </p:sp>
      <p:sp>
        <p:nvSpPr>
          <p:cNvPr id="21" name="ffpanel-2"/>
          <p:cNvSpPr/>
          <p:nvPr/>
        </p:nvSpPr>
        <p:spPr>
          <a:xfrm>
            <a:off x="8119872" y="3383280"/>
            <a:ext cx="3611880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"/>
          <p:cNvSpPr txBox="1"/>
          <p:nvPr/>
        </p:nvSpPr>
        <p:spPr>
          <a:xfrm>
            <a:off x="8302752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After — --no-ff</a:t>
            </a:r>
            <a:endParaRPr lang="en-US" sz="1200" dirty="0"/>
          </a:p>
        </p:txBody>
      </p:sp>
      <p:sp>
        <p:nvSpPr>
          <p:cNvPr id="23" name="edge"/>
          <p:cNvSpPr/>
          <p:nvPr/>
        </p:nvSpPr>
        <p:spPr>
          <a:xfrm>
            <a:off x="1005840" y="406908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4" name="edge"/>
          <p:cNvSpPr/>
          <p:nvPr/>
        </p:nvSpPr>
        <p:spPr>
          <a:xfrm>
            <a:off x="2057400" y="4069080"/>
            <a:ext cx="105156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25" name="commit-a"/>
          <p:cNvSpPr/>
          <p:nvPr/>
        </p:nvSpPr>
        <p:spPr>
          <a:xfrm>
            <a:off x="813816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26" name="commit-b"/>
          <p:cNvSpPr/>
          <p:nvPr/>
        </p:nvSpPr>
        <p:spPr>
          <a:xfrm>
            <a:off x="1865376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7" name="commit-c"/>
          <p:cNvSpPr/>
          <p:nvPr/>
        </p:nvSpPr>
        <p:spPr>
          <a:xfrm>
            <a:off x="2916936" y="38770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28" name="tag-main"/>
          <p:cNvSpPr/>
          <p:nvPr/>
        </p:nvSpPr>
        <p:spPr>
          <a:xfrm>
            <a:off x="1728216" y="446227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9" name="tag-arrow"/>
          <p:cNvSpPr/>
          <p:nvPr/>
        </p:nvSpPr>
        <p:spPr>
          <a:xfrm>
            <a:off x="2057400" y="426110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30" name="tag-devel"/>
          <p:cNvSpPr/>
          <p:nvPr/>
        </p:nvSpPr>
        <p:spPr>
          <a:xfrm>
            <a:off x="2731770" y="4462272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31" name="tag-arrow"/>
          <p:cNvSpPr/>
          <p:nvPr/>
        </p:nvSpPr>
        <p:spPr>
          <a:xfrm>
            <a:off x="3108960" y="426110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32" name="edge"/>
          <p:cNvSpPr/>
          <p:nvPr/>
        </p:nvSpPr>
        <p:spPr>
          <a:xfrm>
            <a:off x="4837176" y="406908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33" name="edge"/>
          <p:cNvSpPr/>
          <p:nvPr/>
        </p:nvSpPr>
        <p:spPr>
          <a:xfrm>
            <a:off x="5888736" y="406908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34" name="commit-a"/>
          <p:cNvSpPr/>
          <p:nvPr/>
        </p:nvSpPr>
        <p:spPr>
          <a:xfrm>
            <a:off x="4645152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35" name="commit-b"/>
          <p:cNvSpPr/>
          <p:nvPr/>
        </p:nvSpPr>
        <p:spPr>
          <a:xfrm>
            <a:off x="5696712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36" name="commit-c"/>
          <p:cNvSpPr/>
          <p:nvPr/>
        </p:nvSpPr>
        <p:spPr>
          <a:xfrm>
            <a:off x="6748272" y="38770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37" name="tag-devel"/>
          <p:cNvSpPr/>
          <p:nvPr/>
        </p:nvSpPr>
        <p:spPr>
          <a:xfrm>
            <a:off x="6563106" y="4462272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38" name="tag-arrow"/>
          <p:cNvSpPr/>
          <p:nvPr/>
        </p:nvSpPr>
        <p:spPr>
          <a:xfrm>
            <a:off x="6940296" y="426110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39" name="tag-main"/>
          <p:cNvSpPr/>
          <p:nvPr/>
        </p:nvSpPr>
        <p:spPr>
          <a:xfrm>
            <a:off x="6611112" y="4846320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40" name="tag-arrow"/>
          <p:cNvSpPr/>
          <p:nvPr/>
        </p:nvSpPr>
        <p:spPr>
          <a:xfrm>
            <a:off x="6940296" y="4718304"/>
            <a:ext cx="914" cy="128016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41" name="text"/>
          <p:cNvSpPr txBox="1"/>
          <p:nvPr/>
        </p:nvSpPr>
        <p:spPr>
          <a:xfrm>
            <a:off x="4471416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tx2"/>
                </a:solidFill>
              </a:rPr>
              <a:t>일직선 유지,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tx2"/>
                </a:solidFill>
              </a:rPr>
              <a:t>새 커밋 없음</a:t>
            </a:r>
            <a:endParaRPr lang="en-US" sz="1050" dirty="0"/>
          </a:p>
        </p:txBody>
      </p:sp>
      <p:sp>
        <p:nvSpPr>
          <p:cNvPr id="42" name="edge"/>
          <p:cNvSpPr/>
          <p:nvPr/>
        </p:nvSpPr>
        <p:spPr>
          <a:xfrm>
            <a:off x="8668512" y="4069080"/>
            <a:ext cx="21488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43" name="edge"/>
          <p:cNvSpPr/>
          <p:nvPr/>
        </p:nvSpPr>
        <p:spPr>
          <a:xfrm>
            <a:off x="8668512" y="4069080"/>
            <a:ext cx="914" cy="5486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44" name="edge"/>
          <p:cNvSpPr/>
          <p:nvPr/>
        </p:nvSpPr>
        <p:spPr>
          <a:xfrm>
            <a:off x="8668512" y="4617720"/>
            <a:ext cx="105156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45" name="edge"/>
          <p:cNvSpPr/>
          <p:nvPr/>
        </p:nvSpPr>
        <p:spPr>
          <a:xfrm>
            <a:off x="9720072" y="4617720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46" name="edge"/>
          <p:cNvSpPr/>
          <p:nvPr/>
        </p:nvSpPr>
        <p:spPr>
          <a:xfrm>
            <a:off x="10817352" y="4069080"/>
            <a:ext cx="914" cy="5486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47" name="commit-b"/>
          <p:cNvSpPr/>
          <p:nvPr/>
        </p:nvSpPr>
        <p:spPr>
          <a:xfrm>
            <a:off x="8476488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48" name="commit-c"/>
          <p:cNvSpPr/>
          <p:nvPr/>
        </p:nvSpPr>
        <p:spPr>
          <a:xfrm>
            <a:off x="9528048" y="44256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49" name="commit-m"/>
          <p:cNvSpPr/>
          <p:nvPr/>
        </p:nvSpPr>
        <p:spPr>
          <a:xfrm>
            <a:off x="10597896" y="384962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M</a:t>
            </a:r>
            <a:endParaRPr lang="en-US" sz="950" dirty="0"/>
          </a:p>
        </p:txBody>
      </p:sp>
      <p:sp>
        <p:nvSpPr>
          <p:cNvPr id="50" name="tag-devel"/>
          <p:cNvSpPr/>
          <p:nvPr/>
        </p:nvSpPr>
        <p:spPr>
          <a:xfrm>
            <a:off x="9342882" y="5010912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51" name="tag-arrow"/>
          <p:cNvSpPr/>
          <p:nvPr/>
        </p:nvSpPr>
        <p:spPr>
          <a:xfrm>
            <a:off x="9720072" y="480974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52" name="text"/>
          <p:cNvSpPr txBox="1"/>
          <p:nvPr/>
        </p:nvSpPr>
        <p:spPr>
          <a:xfrm>
            <a:off x="11091672" y="39502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accent1"/>
                </a:solidFill>
              </a:rPr>
              <a:t>main</a:t>
            </a:r>
            <a:endParaRPr lang="en-US" sz="1050" dirty="0"/>
          </a:p>
        </p:txBody>
      </p:sp>
      <p:sp>
        <p:nvSpPr>
          <p:cNvPr id="53" name="text"/>
          <p:cNvSpPr txBox="1"/>
          <p:nvPr/>
        </p:nvSpPr>
        <p:spPr>
          <a:xfrm>
            <a:off x="10314432" y="3520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새 병합 커밋</a:t>
            </a:r>
            <a:endParaRPr lang="en-US" sz="1000" dirty="0"/>
          </a:p>
        </p:txBody>
      </p:sp>
      <p:sp>
        <p:nvSpPr>
          <p:cNvPr id="54" name="callout-tip"/>
          <p:cNvSpPr/>
          <p:nvPr/>
        </p:nvSpPr>
        <p:spPr>
          <a:xfrm>
            <a:off x="457200" y="5440680"/>
            <a:ext cx="11274552" cy="59436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55" name="callout-text-tip"/>
          <p:cNvSpPr txBox="1"/>
          <p:nvPr/>
        </p:nvSpPr>
        <p:spPr>
          <a:xfrm>
            <a:off x="685800" y="544068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병합 커밋 M   </a:t>
            </a:r>
            <a:r>
              <a:rPr lang="en-US" sz="1250" dirty="0">
                <a:solidFill>
                  <a:schemeClr val="tx1"/>
                </a:solidFill>
              </a:rPr>
              <a:t>C4 가 아니라 </a:t>
            </a:r>
            <a:r>
              <a:rPr lang="en-US" sz="1250" b="1" dirty="0">
                <a:solidFill>
                  <a:schemeClr val="tx1"/>
                </a:solidFill>
              </a:rPr>
              <a:t>새로 생긴 커밋</a:t>
            </a:r>
            <a:r>
              <a:rPr lang="en-US" sz="1250" dirty="0">
                <a:solidFill>
                  <a:schemeClr val="tx1"/>
                </a:solidFill>
              </a:rPr>
              <a:t>입니다. 부모가 2개(C3, C4)이고 파일 내용은 C4 와 같아, "devel 을 여기서 병합했다"는 흔적만 이력에 남깁니다. GitHub PR 의 기본 병합도 이 방식입니다.</a:t>
            </a:r>
            <a:endParaRPr lang="en-US" sz="12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3.3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3.3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3-way 병합 — 병합 커밋 만들기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합치는 대상은 </a:t>
            </a:r>
            <a:r>
              <a:rPr lang="en-US" sz="1400" b="1" dirty="0">
                <a:solidFill>
                  <a:schemeClr val="tx2"/>
                </a:solidFill>
              </a:rPr>
              <a:t>C5(main)와 C4(devel)</a:t>
            </a:r>
            <a:r>
              <a:rPr lang="en-US" sz="1400" dirty="0">
                <a:solidFill>
                  <a:schemeClr val="tx2"/>
                </a:solidFill>
              </a:rPr>
              <a:t> 입니다. 공통 조상 C3 는 "각자 무엇을 바꿨는지" 알아내는 </a:t>
            </a:r>
            <a:r>
              <a:rPr lang="en-US" sz="1400" b="1" dirty="0">
                <a:solidFill>
                  <a:schemeClr val="tx2"/>
                </a:solidFill>
              </a:rPr>
              <a:t>기준</a:t>
            </a:r>
            <a:r>
              <a:rPr lang="en-US" sz="1400" dirty="0">
                <a:solidFill>
                  <a:schemeClr val="tx2"/>
                </a:solidFill>
              </a:rPr>
              <a:t>입니다.</a:t>
            </a:r>
            <a:endParaRPr lang="en-US" sz="1400" dirty="0"/>
          </a:p>
        </p:txBody>
      </p:sp>
      <p:sp>
        <p:nvSpPr>
          <p:cNvPr id="5" name="code-3-way merge"/>
          <p:cNvSpPr/>
          <p:nvPr/>
        </p:nvSpPr>
        <p:spPr>
          <a:xfrm>
            <a:off x="457200" y="1874520"/>
            <a:ext cx="576072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476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3-way merge</a:t>
            </a:r>
            <a:endParaRPr lang="en-US" sz="850" dirty="0"/>
          </a:p>
        </p:txBody>
      </p:sp>
      <p:sp>
        <p:nvSpPr>
          <p:cNvPr id="10" name="code-body-3-way merge"/>
          <p:cNvSpPr txBox="1"/>
          <p:nvPr/>
        </p:nvSpPr>
        <p:spPr>
          <a:xfrm>
            <a:off x="685800" y="2258568"/>
            <a:ext cx="5349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devel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made by the 'ort' strategy.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login.txt | 1 +</a:t>
            </a:r>
            <a:endParaRPr lang="en-US" sz="1150" dirty="0"/>
          </a:p>
        </p:txBody>
      </p:sp>
      <p:sp>
        <p:nvSpPr>
          <p:cNvPr id="11" name="text"/>
          <p:cNvSpPr txBox="1"/>
          <p:nvPr/>
        </p:nvSpPr>
        <p:spPr>
          <a:xfrm>
            <a:off x="457200" y="3383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/>
                </a:solidFill>
              </a:rPr>
              <a:t>Git 의 판단 방법 (README 의 한 줄을 예로)</a:t>
            </a:r>
            <a:endParaRPr lang="en-US" sz="125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5760720" cy="13898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C3 (기준)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C5 (main)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C4 (devel)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병합 결과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main 만 바꿈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devel 만 바꿈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둘 다 바꿈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충돌!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3way-card"/>
          <p:cNvSpPr/>
          <p:nvPr/>
        </p:nvSpPr>
        <p:spPr>
          <a:xfrm>
            <a:off x="6492240" y="1874520"/>
            <a:ext cx="5239512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edge"/>
          <p:cNvSpPr/>
          <p:nvPr/>
        </p:nvSpPr>
        <p:spPr>
          <a:xfrm>
            <a:off x="7223760" y="2880360"/>
            <a:ext cx="15544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5" name="edge"/>
          <p:cNvSpPr/>
          <p:nvPr/>
        </p:nvSpPr>
        <p:spPr>
          <a:xfrm>
            <a:off x="7223760" y="2880360"/>
            <a:ext cx="914" cy="12344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6" name="edge"/>
          <p:cNvSpPr/>
          <p:nvPr/>
        </p:nvSpPr>
        <p:spPr>
          <a:xfrm>
            <a:off x="7223760" y="4114800"/>
            <a:ext cx="15544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7" name="edge"/>
          <p:cNvSpPr/>
          <p:nvPr/>
        </p:nvSpPr>
        <p:spPr>
          <a:xfrm>
            <a:off x="8778240" y="2880360"/>
            <a:ext cx="18288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8" name="edge"/>
          <p:cNvSpPr/>
          <p:nvPr/>
        </p:nvSpPr>
        <p:spPr>
          <a:xfrm>
            <a:off x="8778240" y="4114800"/>
            <a:ext cx="182880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9" name="edge"/>
          <p:cNvSpPr/>
          <p:nvPr/>
        </p:nvSpPr>
        <p:spPr>
          <a:xfrm>
            <a:off x="10607040" y="2880360"/>
            <a:ext cx="914" cy="12344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20" name="commit-base"/>
          <p:cNvSpPr/>
          <p:nvPr/>
        </p:nvSpPr>
        <p:spPr>
          <a:xfrm>
            <a:off x="7031736" y="2688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1" name="commit-ours"/>
          <p:cNvSpPr/>
          <p:nvPr/>
        </p:nvSpPr>
        <p:spPr>
          <a:xfrm>
            <a:off x="8586216" y="2688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C5</a:t>
            </a:r>
            <a:endParaRPr lang="en-US" sz="950" dirty="0"/>
          </a:p>
        </p:txBody>
      </p:sp>
      <p:sp>
        <p:nvSpPr>
          <p:cNvPr id="22" name="cap-ours"/>
          <p:cNvSpPr txBox="1"/>
          <p:nvPr/>
        </p:nvSpPr>
        <p:spPr>
          <a:xfrm>
            <a:off x="7955280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</a:rPr>
              <a:t>main 의 끝</a:t>
            </a:r>
            <a:endParaRPr lang="en-US" sz="950" dirty="0"/>
          </a:p>
        </p:txBody>
      </p:sp>
      <p:sp>
        <p:nvSpPr>
          <p:cNvPr id="23" name="commit-theirs"/>
          <p:cNvSpPr/>
          <p:nvPr/>
        </p:nvSpPr>
        <p:spPr>
          <a:xfrm>
            <a:off x="8586216" y="39227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24" name="cap-theirs"/>
          <p:cNvSpPr txBox="1"/>
          <p:nvPr/>
        </p:nvSpPr>
        <p:spPr>
          <a:xfrm>
            <a:off x="7955280" y="4361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</a:rPr>
              <a:t>devel 의 끝</a:t>
            </a:r>
            <a:endParaRPr lang="en-US" sz="950" dirty="0"/>
          </a:p>
        </p:txBody>
      </p:sp>
      <p:sp>
        <p:nvSpPr>
          <p:cNvPr id="25" name="commit-m"/>
          <p:cNvSpPr/>
          <p:nvPr/>
        </p:nvSpPr>
        <p:spPr>
          <a:xfrm>
            <a:off x="10369296" y="264261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M</a:t>
            </a:r>
            <a:endParaRPr lang="en-US" sz="950" dirty="0"/>
          </a:p>
        </p:txBody>
      </p:sp>
      <p:sp>
        <p:nvSpPr>
          <p:cNvPr id="26" name="tag-main"/>
          <p:cNvSpPr/>
          <p:nvPr/>
        </p:nvSpPr>
        <p:spPr>
          <a:xfrm>
            <a:off x="10277856" y="223113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7" name="tag-arrow"/>
          <p:cNvSpPr/>
          <p:nvPr/>
        </p:nvSpPr>
        <p:spPr>
          <a:xfrm>
            <a:off x="10607040" y="248716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base-ring"/>
          <p:cNvSpPr/>
          <p:nvPr/>
        </p:nvSpPr>
        <p:spPr>
          <a:xfrm>
            <a:off x="6922008" y="2578608"/>
            <a:ext cx="603504" cy="603504"/>
          </a:xfrm>
          <a:prstGeom prst="ellipse">
            <a:avLst/>
          </a:prstGeom>
          <a:solidFill>
            <a:srgbClr val="FFFFFF">
              <a:alpha val="0"/>
            </a:srgbClr>
          </a:solidFill>
          <a:ln w="22225">
            <a:solidFill>
              <a:schemeClr val="accent3"/>
            </a:solidFill>
            <a:prstDash val="dash"/>
          </a:ln>
        </p:spPr>
      </p:sp>
      <p:sp>
        <p:nvSpPr>
          <p:cNvPr id="29" name="text"/>
          <p:cNvSpPr txBox="1"/>
          <p:nvPr/>
        </p:nvSpPr>
        <p:spPr>
          <a:xfrm>
            <a:off x="6720840" y="2057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3"/>
                </a:solidFill>
              </a:rPr>
              <a:t>공통 조상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chemeClr val="accent3"/>
                </a:solidFill>
              </a:rPr>
              <a:t>(기준)</a:t>
            </a:r>
            <a:endParaRPr lang="en-US" sz="1050" dirty="0"/>
          </a:p>
        </p:txBody>
      </p:sp>
      <p:sp>
        <p:nvSpPr>
          <p:cNvPr id="30" name="text"/>
          <p:cNvSpPr txBox="1"/>
          <p:nvPr/>
        </p:nvSpPr>
        <p:spPr>
          <a:xfrm>
            <a:off x="9875520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2"/>
                </a:solidFill>
              </a:rPr>
              <a:t>병합 커밋 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2"/>
                </a:solidFill>
              </a:rPr>
              <a:t>(부모: C5, C4)</a:t>
            </a:r>
            <a:endParaRPr lang="en-US" sz="1050" dirty="0"/>
          </a:p>
        </p:txBody>
      </p:sp>
      <p:sp>
        <p:nvSpPr>
          <p:cNvPr id="31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2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한쪽만 바꾼 부분은 Git 이 </a:t>
            </a:r>
            <a:r>
              <a:rPr lang="en-US" sz="1250" b="1" dirty="0">
                <a:solidFill>
                  <a:schemeClr val="tx1"/>
                </a:solidFill>
              </a:rPr>
              <a:t>자동으로</a:t>
            </a:r>
            <a:r>
              <a:rPr lang="en-US" sz="1250" dirty="0">
                <a:solidFill>
                  <a:schemeClr val="tx1"/>
                </a:solidFill>
              </a:rPr>
              <a:t> 합칩니다. 같은 줄을 양쪽이 다르게 바꾼 경우에만 </a:t>
            </a:r>
            <a:r>
              <a:rPr lang="en-US" sz="1250" b="1" dirty="0">
                <a:solidFill>
                  <a:schemeClr val="tx1"/>
                </a:solidFill>
              </a:rPr>
              <a:t>충돌</a:t>
            </a:r>
            <a:r>
              <a:rPr lang="en-US" sz="1250" dirty="0">
                <a:solidFill>
                  <a:schemeClr val="tx1"/>
                </a:solidFill>
              </a:rPr>
              <a:t>이 납니다 (4장).</a:t>
            </a:r>
            <a:endParaRPr lang="en-US" sz="12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병합 충돌(Merge Conflict)은 언제 생기나?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두 브랜치가 </a:t>
            </a:r>
            <a:r>
              <a:rPr lang="en-US" sz="1400" b="1" dirty="0">
                <a:solidFill>
                  <a:schemeClr val="tx2"/>
                </a:solidFill>
              </a:rPr>
              <a:t>같은 파일의 같은 줄</a:t>
            </a:r>
            <a:r>
              <a:rPr lang="en-US" sz="1400" dirty="0">
                <a:solidFill>
                  <a:schemeClr val="tx2"/>
                </a:solidFill>
              </a:rPr>
              <a:t>을 서로 다르게 고치면, Git 은 어느 쪽이 맞는지 스스로 판단할 수 없습니다.</a:t>
            </a:r>
            <a:endParaRPr lang="en-US" sz="1400" dirty="0"/>
          </a:p>
        </p:txBody>
      </p:sp>
      <p:sp>
        <p:nvSpPr>
          <p:cNvPr id="5" name="conflict-card"/>
          <p:cNvSpPr/>
          <p:nvPr/>
        </p:nvSpPr>
        <p:spPr>
          <a:xfrm>
            <a:off x="457200" y="1874520"/>
            <a:ext cx="4754880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badge-main"/>
          <p:cNvSpPr/>
          <p:nvPr/>
        </p:nvSpPr>
        <p:spPr>
          <a:xfrm>
            <a:off x="731520" y="2258568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main</a:t>
            </a:r>
            <a:endParaRPr lang="en-US" sz="1000" dirty="0"/>
          </a:p>
        </p:txBody>
      </p:sp>
      <p:sp>
        <p:nvSpPr>
          <p:cNvPr id="7" name="conf-main"/>
          <p:cNvSpPr/>
          <p:nvPr/>
        </p:nvSpPr>
        <p:spPr>
          <a:xfrm>
            <a:off x="1691640" y="2148840"/>
            <a:ext cx="3246120" cy="50292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email is abc@abc.com</a:t>
            </a:r>
            <a:endParaRPr lang="en-US" sz="1150" dirty="0"/>
          </a:p>
        </p:txBody>
      </p:sp>
      <p:sp>
        <p:nvSpPr>
          <p:cNvPr id="8" name="badge-devel"/>
          <p:cNvSpPr/>
          <p:nvPr/>
        </p:nvSpPr>
        <p:spPr>
          <a:xfrm>
            <a:off x="731520" y="3355848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devel</a:t>
            </a:r>
            <a:endParaRPr lang="en-US" sz="1000" dirty="0"/>
          </a:p>
        </p:txBody>
      </p:sp>
      <p:sp>
        <p:nvSpPr>
          <p:cNvPr id="9" name="conf-devel"/>
          <p:cNvSpPr/>
          <p:nvPr/>
        </p:nvSpPr>
        <p:spPr>
          <a:xfrm>
            <a:off x="1691640" y="3246120"/>
            <a:ext cx="3246120" cy="50292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email is xyz@xyz.com</a:t>
            </a:r>
            <a:endParaRPr lang="en-US" sz="1150" dirty="0"/>
          </a:p>
        </p:txBody>
      </p:sp>
      <p:sp>
        <p:nvSpPr>
          <p:cNvPr id="10" name="conf-arrow"/>
          <p:cNvSpPr/>
          <p:nvPr/>
        </p:nvSpPr>
        <p:spPr>
          <a:xfrm>
            <a:off x="3291840" y="3794760"/>
            <a:ext cx="914" cy="411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conf-result"/>
          <p:cNvSpPr/>
          <p:nvPr/>
        </p:nvSpPr>
        <p:spPr>
          <a:xfrm>
            <a:off x="1691640" y="4297680"/>
            <a:ext cx="32461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README.md  →  CONFLICT!</a:t>
            </a:r>
            <a:endParaRPr lang="en-US" sz="1200" dirty="0"/>
          </a:p>
        </p:txBody>
      </p:sp>
      <p:sp>
        <p:nvSpPr>
          <p:cNvPr id="12" name="code-충돌 발생"/>
          <p:cNvSpPr/>
          <p:nvPr/>
        </p:nvSpPr>
        <p:spPr>
          <a:xfrm>
            <a:off x="5486400" y="1874520"/>
            <a:ext cx="6245352" cy="2224278"/>
          </a:xfrm>
          <a:prstGeom prst="roundRect">
            <a:avLst>
              <a:gd name="adj" fmla="val 24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code-dot"/>
          <p:cNvSpPr/>
          <p:nvPr/>
        </p:nvSpPr>
        <p:spPr>
          <a:xfrm>
            <a:off x="56509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14" name="code-dot"/>
          <p:cNvSpPr/>
          <p:nvPr/>
        </p:nvSpPr>
        <p:spPr>
          <a:xfrm>
            <a:off x="58155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code-dot"/>
          <p:cNvSpPr/>
          <p:nvPr/>
        </p:nvSpPr>
        <p:spPr>
          <a:xfrm>
            <a:off x="59801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16" name="code-title"/>
          <p:cNvSpPr txBox="1"/>
          <p:nvPr/>
        </p:nvSpPr>
        <p:spPr>
          <a:xfrm>
            <a:off x="6199632" y="1947672"/>
            <a:ext cx="5330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충돌 발생</a:t>
            </a:r>
            <a:endParaRPr lang="en-US" sz="850" dirty="0"/>
          </a:p>
        </p:txBody>
      </p:sp>
      <p:sp>
        <p:nvSpPr>
          <p:cNvPr id="17" name="code-body-충돌 발생"/>
          <p:cNvSpPr txBox="1"/>
          <p:nvPr/>
        </p:nvSpPr>
        <p:spPr>
          <a:xfrm>
            <a:off x="5715000" y="2258568"/>
            <a:ext cx="5833872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devel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Auto-merging README.md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E56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(content): Merge conflict in README.md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E56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 merge failed; fix conflicts and then commit the result.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have unmerged paths.</a:t>
            </a: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병합이 멈춘 상태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Unmerged paths: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E56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both modified:   README.md</a:t>
            </a:r>
            <a:endParaRPr lang="en-US" sz="1050" dirty="0"/>
          </a:p>
        </p:txBody>
      </p:sp>
      <p:sp>
        <p:nvSpPr>
          <p:cNvPr id="18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충돌은 오류가 아니라 </a:t>
            </a:r>
            <a:r>
              <a:rPr lang="en-US" sz="1250" b="1" dirty="0">
                <a:solidFill>
                  <a:schemeClr val="tx1"/>
                </a:solidFill>
              </a:rPr>
              <a:t>"사람의 판단이 필요하다"는 신호</a:t>
            </a:r>
            <a:r>
              <a:rPr lang="en-US" sz="1250" dirty="0">
                <a:solidFill>
                  <a:schemeClr val="tx1"/>
                </a:solidFill>
              </a:rPr>
              <a:t>입니다. Git 은 병합을 일시 정지하고 여러분이 해결할 때까지 기다립니다.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충돌 마커(Conflict Marker) 읽는 법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Git 은 충돌한 파일 안에 양쪽 내용을 모두 넣고, 마커로 구역을 표시해 둡니다.</a:t>
            </a:r>
            <a:endParaRPr lang="en-US" sz="1400" dirty="0"/>
          </a:p>
        </p:txBody>
      </p:sp>
      <p:sp>
        <p:nvSpPr>
          <p:cNvPr id="5" name="code-README.md (충돌 상태)"/>
          <p:cNvSpPr/>
          <p:nvPr/>
        </p:nvSpPr>
        <p:spPr>
          <a:xfrm>
            <a:off x="457200" y="1874520"/>
            <a:ext cx="6035040" cy="164592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(충돌 상태)</a:t>
            </a:r>
            <a:endParaRPr lang="en-US" sz="850" dirty="0"/>
          </a:p>
        </p:txBody>
      </p:sp>
      <p:sp>
        <p:nvSpPr>
          <p:cNvPr id="10" name="code-body-README.md (충돌 상태)"/>
          <p:cNvSpPr txBox="1"/>
          <p:nvPr/>
        </p:nvSpPr>
        <p:spPr>
          <a:xfrm>
            <a:off x="685800" y="2258568"/>
            <a:ext cx="5623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200" dirty="0">
                <a:solidFill>
                  <a:srgbClr val="E2E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the README. My email is abc@abc.com</a:t>
            </a:r>
            <a:endParaRPr lang="en-US" sz="12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200" dirty="0">
                <a:solidFill>
                  <a:srgbClr val="E2E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the README. My email is xyz@xyz.com</a:t>
            </a:r>
            <a:endParaRPr lang="en-US" sz="12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devel</a:t>
            </a:r>
            <a:endParaRPr lang="en-US" sz="1200" dirty="0"/>
          </a:p>
        </p:txBody>
      </p:sp>
      <p:sp>
        <p:nvSpPr>
          <p:cNvPr id="11" name="marker-card"/>
          <p:cNvSpPr/>
          <p:nvPr/>
        </p:nvSpPr>
        <p:spPr>
          <a:xfrm>
            <a:off x="6812280" y="1874520"/>
            <a:ext cx="4919472" cy="14173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"/>
          <p:cNvSpPr txBox="1"/>
          <p:nvPr/>
        </p:nvSpPr>
        <p:spPr>
          <a:xfrm>
            <a:off x="7040880" y="20116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 ~ =======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현재 브랜치(main, 받는 쪽)의 내용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 ~ &gt;&gt;&gt;&gt;&gt;&gt;&gt; devel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병합하려는 브랜치(devel)의 내용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해결 방법은 세 가지 중 하나</a:t>
            </a:r>
            <a:endParaRPr lang="en-US" sz="1300" dirty="0"/>
          </a:p>
        </p:txBody>
      </p:sp>
      <p:sp>
        <p:nvSpPr>
          <p:cNvPr id="14" name="opt-0"/>
          <p:cNvSpPr/>
          <p:nvPr/>
        </p:nvSpPr>
        <p:spPr>
          <a:xfrm>
            <a:off x="457200" y="4023360"/>
            <a:ext cx="3630168" cy="1051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num-1-0.8-4.6"/>
          <p:cNvSpPr/>
          <p:nvPr/>
        </p:nvSpPr>
        <p:spPr>
          <a:xfrm>
            <a:off x="685800" y="4224528"/>
            <a:ext cx="329184" cy="32918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"/>
          <p:cNvSpPr txBox="1"/>
          <p:nvPr/>
        </p:nvSpPr>
        <p:spPr>
          <a:xfrm>
            <a:off x="118872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내 것 유지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1188720" y="4498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abc@abc.com 만 남김</a:t>
            </a:r>
            <a:endParaRPr lang="en-US" sz="1150" dirty="0"/>
          </a:p>
        </p:txBody>
      </p:sp>
      <p:sp>
        <p:nvSpPr>
          <p:cNvPr id="18" name="opt-1"/>
          <p:cNvSpPr/>
          <p:nvPr/>
        </p:nvSpPr>
        <p:spPr>
          <a:xfrm>
            <a:off x="4279392" y="4023360"/>
            <a:ext cx="3630168" cy="1051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num-2-4.9-4.6"/>
          <p:cNvSpPr/>
          <p:nvPr/>
        </p:nvSpPr>
        <p:spPr>
          <a:xfrm>
            <a:off x="4507992" y="4224528"/>
            <a:ext cx="329184" cy="32918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"/>
          <p:cNvSpPr txBox="1"/>
          <p:nvPr/>
        </p:nvSpPr>
        <p:spPr>
          <a:xfrm>
            <a:off x="5010912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상대 것 채택</a:t>
            </a:r>
            <a:endParaRPr lang="en-US" sz="1300" dirty="0"/>
          </a:p>
        </p:txBody>
      </p:sp>
      <p:sp>
        <p:nvSpPr>
          <p:cNvPr id="21" name="text"/>
          <p:cNvSpPr txBox="1"/>
          <p:nvPr/>
        </p:nvSpPr>
        <p:spPr>
          <a:xfrm>
            <a:off x="5010912" y="4498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xyz@xyz.com 만 남김</a:t>
            </a:r>
            <a:endParaRPr lang="en-US" sz="1150" dirty="0"/>
          </a:p>
        </p:txBody>
      </p:sp>
      <p:sp>
        <p:nvSpPr>
          <p:cNvPr id="22" name="opt-2"/>
          <p:cNvSpPr/>
          <p:nvPr/>
        </p:nvSpPr>
        <p:spPr>
          <a:xfrm>
            <a:off x="8101584" y="4023360"/>
            <a:ext cx="3630168" cy="1051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num-3-9.1-4.6"/>
          <p:cNvSpPr/>
          <p:nvPr/>
        </p:nvSpPr>
        <p:spPr>
          <a:xfrm>
            <a:off x="8330184" y="4224528"/>
            <a:ext cx="329184" cy="32918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"/>
          <p:cNvSpPr txBox="1"/>
          <p:nvPr/>
        </p:nvSpPr>
        <p:spPr>
          <a:xfrm>
            <a:off x="8833104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직접 조합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8833104" y="4498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두 내용을 합쳐 새로 작성</a:t>
            </a:r>
            <a:endParaRPr lang="en-US" sz="1150" dirty="0"/>
          </a:p>
        </p:txBody>
      </p:sp>
      <p:sp>
        <p:nvSpPr>
          <p:cNvPr id="26" name="callout-warn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3">
              <a:alpha val="14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7" name="callout-text-warn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주의   </a:t>
            </a:r>
            <a:r>
              <a:rPr lang="en-US" sz="1250" dirty="0">
                <a:solidFill>
                  <a:schemeClr val="tx1"/>
                </a:solidFill>
              </a:rPr>
              <a:t>마커 줄(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</a:t>
            </a:r>
            <a:r>
              <a:rPr lang="en-US" sz="1250" dirty="0">
                <a:solidFill>
                  <a:schemeClr val="tx1"/>
                </a:solidFill>
              </a:rPr>
              <a:t>,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r>
              <a:rPr lang="en-US" sz="1250" dirty="0">
                <a:solidFill>
                  <a:schemeClr val="tx1"/>
                </a:solidFill>
              </a:rPr>
              <a:t>,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</a:t>
            </a:r>
            <a:r>
              <a:rPr lang="en-US" sz="1250" dirty="0">
                <a:solidFill>
                  <a:schemeClr val="tx1"/>
                </a:solidFill>
              </a:rPr>
              <a:t>)을 </a:t>
            </a:r>
            <a:r>
              <a:rPr lang="en-US" sz="1250" b="1" dirty="0">
                <a:solidFill>
                  <a:schemeClr val="tx1"/>
                </a:solidFill>
              </a:rPr>
              <a:t>하나도 남기지 말고 모두 지워야</a:t>
            </a:r>
            <a:r>
              <a:rPr lang="en-US" sz="1250" dirty="0">
                <a:solidFill>
                  <a:schemeClr val="tx1"/>
                </a:solidFill>
              </a:rPr>
              <a:t> 합니다. 남긴 채 커밋하면 그대로 코드에 들어가 빌드 오류가 납니다.</a:t>
            </a:r>
            <a:endParaRPr lang="en-US" sz="12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.3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4.3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충돌 해결 4단계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확인 → 수정 → 표시 → 완료.  해결이 어렵다면 언제든 병합 이전 상태로 되돌릴 수 있습니다.</a:t>
            </a:r>
            <a:endParaRPr lang="en-US" sz="1400" dirty="0"/>
          </a:p>
        </p:txBody>
      </p:sp>
      <p:sp>
        <p:nvSpPr>
          <p:cNvPr id="5" name="step-0"/>
          <p:cNvSpPr/>
          <p:nvPr/>
        </p:nvSpPr>
        <p:spPr>
          <a:xfrm>
            <a:off x="457200" y="1874520"/>
            <a:ext cx="26060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num-1-0.7-2.2"/>
          <p:cNvSpPr/>
          <p:nvPr/>
        </p:nvSpPr>
        <p:spPr>
          <a:xfrm>
            <a:off x="658368" y="202996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118872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확인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658368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658368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충돌 파일 찾기</a:t>
            </a:r>
            <a:endParaRPr lang="en-US" sz="1100" dirty="0"/>
          </a:p>
        </p:txBody>
      </p:sp>
      <p:sp>
        <p:nvSpPr>
          <p:cNvPr id="10" name="step-arrow"/>
          <p:cNvSpPr/>
          <p:nvPr/>
        </p:nvSpPr>
        <p:spPr>
          <a:xfrm>
            <a:off x="3090672" y="2542032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tep-1"/>
          <p:cNvSpPr/>
          <p:nvPr/>
        </p:nvSpPr>
        <p:spPr>
          <a:xfrm>
            <a:off x="3337560" y="1874520"/>
            <a:ext cx="26060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num-2-3.9-2.2"/>
          <p:cNvSpPr/>
          <p:nvPr/>
        </p:nvSpPr>
        <p:spPr>
          <a:xfrm>
            <a:off x="3538728" y="202996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406908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수정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3538728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파일 편집</a:t>
            </a:r>
            <a:endParaRPr lang="en-US" sz="1200" dirty="0"/>
          </a:p>
        </p:txBody>
      </p:sp>
      <p:sp>
        <p:nvSpPr>
          <p:cNvPr id="15" name="text"/>
          <p:cNvSpPr txBox="1"/>
          <p:nvPr/>
        </p:nvSpPr>
        <p:spPr>
          <a:xfrm>
            <a:off x="3538728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마커 삭제·내용 결정</a:t>
            </a:r>
            <a:endParaRPr lang="en-US" sz="1100" dirty="0"/>
          </a:p>
        </p:txBody>
      </p:sp>
      <p:sp>
        <p:nvSpPr>
          <p:cNvPr id="16" name="step-arrow"/>
          <p:cNvSpPr/>
          <p:nvPr/>
        </p:nvSpPr>
        <p:spPr>
          <a:xfrm>
            <a:off x="5971032" y="2542032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tep-2"/>
          <p:cNvSpPr/>
          <p:nvPr/>
        </p:nvSpPr>
        <p:spPr>
          <a:xfrm>
            <a:off x="6217920" y="1874520"/>
            <a:ext cx="26060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num-3-7.0-2.2"/>
          <p:cNvSpPr/>
          <p:nvPr/>
        </p:nvSpPr>
        <p:spPr>
          <a:xfrm>
            <a:off x="6419088" y="202996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"/>
          <p:cNvSpPr txBox="1"/>
          <p:nvPr/>
        </p:nvSpPr>
        <p:spPr>
          <a:xfrm>
            <a:off x="694944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표시</a:t>
            </a:r>
            <a:endParaRPr lang="en-US" sz="1500" dirty="0"/>
          </a:p>
        </p:txBody>
      </p:sp>
      <p:sp>
        <p:nvSpPr>
          <p:cNvPr id="20" name="text"/>
          <p:cNvSpPr txBox="1"/>
          <p:nvPr/>
        </p:nvSpPr>
        <p:spPr>
          <a:xfrm>
            <a:off x="6419088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200" dirty="0"/>
          </a:p>
        </p:txBody>
      </p:sp>
      <p:sp>
        <p:nvSpPr>
          <p:cNvPr id="21" name="text"/>
          <p:cNvSpPr txBox="1"/>
          <p:nvPr/>
        </p:nvSpPr>
        <p:spPr>
          <a:xfrm>
            <a:off x="6419088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"해결했음"을 알림</a:t>
            </a:r>
            <a:endParaRPr lang="en-US" sz="1100" dirty="0"/>
          </a:p>
        </p:txBody>
      </p:sp>
      <p:sp>
        <p:nvSpPr>
          <p:cNvPr id="22" name="step-arrow"/>
          <p:cNvSpPr/>
          <p:nvPr/>
        </p:nvSpPr>
        <p:spPr>
          <a:xfrm>
            <a:off x="8851392" y="2542032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tep-3"/>
          <p:cNvSpPr/>
          <p:nvPr/>
        </p:nvSpPr>
        <p:spPr>
          <a:xfrm>
            <a:off x="9098280" y="1874520"/>
            <a:ext cx="26060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num-4-10.2-2.2"/>
          <p:cNvSpPr/>
          <p:nvPr/>
        </p:nvSpPr>
        <p:spPr>
          <a:xfrm>
            <a:off x="9299448" y="202996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982980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완료</a:t>
            </a:r>
            <a:endParaRPr lang="en-US" sz="1500" dirty="0"/>
          </a:p>
        </p:txBody>
      </p:sp>
      <p:sp>
        <p:nvSpPr>
          <p:cNvPr id="26" name="text"/>
          <p:cNvSpPr txBox="1"/>
          <p:nvPr/>
        </p:nvSpPr>
        <p:spPr>
          <a:xfrm>
            <a:off x="9299448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27" name="text"/>
          <p:cNvSpPr txBox="1"/>
          <p:nvPr/>
        </p:nvSpPr>
        <p:spPr>
          <a:xfrm>
            <a:off x="9299448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병합 커밋 생성</a:t>
            </a:r>
            <a:endParaRPr lang="en-US" sz="1100" dirty="0"/>
          </a:p>
        </p:txBody>
      </p:sp>
      <p:sp>
        <p:nvSpPr>
          <p:cNvPr id="28" name="code-충돌 해결 / 취소"/>
          <p:cNvSpPr/>
          <p:nvPr/>
        </p:nvSpPr>
        <p:spPr>
          <a:xfrm>
            <a:off x="457200" y="3429000"/>
            <a:ext cx="6675120" cy="1746504"/>
          </a:xfrm>
          <a:prstGeom prst="roundRect">
            <a:avLst>
              <a:gd name="adj" fmla="val 314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code-dot"/>
          <p:cNvSpPr/>
          <p:nvPr/>
        </p:nvSpPr>
        <p:spPr>
          <a:xfrm>
            <a:off x="621792" y="356616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30" name="code-dot"/>
          <p:cNvSpPr/>
          <p:nvPr/>
        </p:nvSpPr>
        <p:spPr>
          <a:xfrm>
            <a:off x="786384" y="356616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1" name="code-dot"/>
          <p:cNvSpPr/>
          <p:nvPr/>
        </p:nvSpPr>
        <p:spPr>
          <a:xfrm>
            <a:off x="950976" y="356616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32" name="code-title"/>
          <p:cNvSpPr txBox="1"/>
          <p:nvPr/>
        </p:nvSpPr>
        <p:spPr>
          <a:xfrm>
            <a:off x="1170432" y="350215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충돌 해결 / 취소</a:t>
            </a:r>
            <a:endParaRPr lang="en-US" sz="850" dirty="0"/>
          </a:p>
        </p:txBody>
      </p:sp>
      <p:sp>
        <p:nvSpPr>
          <p:cNvPr id="33" name="code-body-충돌 해결 / 취소"/>
          <p:cNvSpPr txBox="1"/>
          <p:nvPr/>
        </p:nvSpPr>
        <p:spPr>
          <a:xfrm>
            <a:off x="685800" y="3813048"/>
            <a:ext cx="6263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vi README.md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원하는 내용으로 고치고 마커 삭제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README.md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해결 완료 표시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병합 메시지가 자동으로 채워짐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병합을 포기하고 병합 전 상태로 돌아가기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--abort</a:t>
            </a:r>
            <a:endParaRPr lang="en-US" sz="1100" dirty="0"/>
          </a:p>
        </p:txBody>
      </p:sp>
      <p:sp>
        <p:nvSpPr>
          <p:cNvPr id="34" name="callout-tip"/>
          <p:cNvSpPr/>
          <p:nvPr/>
        </p:nvSpPr>
        <p:spPr>
          <a:xfrm>
            <a:off x="7406640" y="3429000"/>
            <a:ext cx="4325112" cy="1664208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35" name="callout-text-tip"/>
          <p:cNvSpPr txBox="1"/>
          <p:nvPr/>
        </p:nvSpPr>
        <p:spPr>
          <a:xfrm>
            <a:off x="7635240" y="3429000"/>
            <a:ext cx="38679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최신 팁   </a:t>
            </a:r>
            <a:r>
              <a:rPr lang="en-US" sz="1250" dirty="0">
                <a:solidFill>
                  <a:schemeClr val="tx1"/>
                </a:solidFill>
              </a:rPr>
              <a:t>VS Code 는 충돌 구역 위에 </a:t>
            </a:r>
            <a:r>
              <a:rPr lang="en-US" sz="1250" b="1" dirty="0">
                <a:solidFill>
                  <a:schemeClr val="tx1"/>
                </a:solidFill>
              </a:rPr>
              <a:t>Accept Current / Accept Incoming / Accept Both</a:t>
            </a:r>
            <a:r>
              <a:rPr lang="en-US" sz="1250" dirty="0">
                <a:solidFill>
                  <a:schemeClr val="tx1"/>
                </a:solidFill>
              </a:rPr>
              <a:t> 버튼과 3-way </a:t>
            </a:r>
            <a:r>
              <a:rPr lang="en-US" sz="1250" b="1" dirty="0">
                <a:solidFill>
                  <a:schemeClr val="tx1"/>
                </a:solidFill>
              </a:rPr>
              <a:t>Merge Editor</a:t>
            </a:r>
            <a:r>
              <a:rPr lang="en-US" sz="1250" dirty="0">
                <a:solidFill>
                  <a:schemeClr val="tx1"/>
                </a:solidFill>
              </a:rPr>
              <a:t> 를 제공해, 클릭만으로 해결할 수 있습니다.</a:t>
            </a:r>
            <a:endParaRPr lang="en-US" sz="1250" dirty="0"/>
          </a:p>
        </p:txBody>
      </p:sp>
      <p:sp>
        <p:nvSpPr>
          <p:cNvPr id="36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7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250" dirty="0">
                <a:solidFill>
                  <a:schemeClr val="tx1"/>
                </a:solidFill>
              </a:rPr>
              <a:t> 는 "스테이징"이면서 동시에 </a:t>
            </a:r>
            <a:r>
              <a:rPr lang="en-US" sz="1250" b="1" dirty="0">
                <a:solidFill>
                  <a:schemeClr val="tx1"/>
                </a:solidFill>
              </a:rPr>
              <a:t>"이 파일의 충돌을 해결했다"는 표시</a:t>
            </a:r>
            <a:r>
              <a:rPr lang="en-US" sz="1250" dirty="0">
                <a:solidFill>
                  <a:schemeClr val="tx1"/>
                </a:solidFill>
              </a:rPr>
              <a:t>입니다. 모든 충돌 파일을 add 해야 커밋할 수 있습니다.</a:t>
            </a:r>
            <a:endParaRPr lang="en-US" sz="12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5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병합된 브랜치 정리하기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역할을 다한 브랜치는 지워서 목록을 깔끔하게 유지합니다.</a:t>
            </a:r>
            <a:endParaRPr lang="en-US" sz="1400" dirty="0"/>
          </a:p>
        </p:txBody>
      </p:sp>
      <p:sp>
        <p:nvSpPr>
          <p:cNvPr id="5" name="code-git branch -d"/>
          <p:cNvSpPr/>
          <p:nvPr/>
        </p:nvSpPr>
        <p:spPr>
          <a:xfrm>
            <a:off x="457200" y="1874520"/>
            <a:ext cx="6035040" cy="2299716"/>
          </a:xfrm>
          <a:prstGeom prst="roundRect">
            <a:avLst>
              <a:gd name="adj" fmla="val 23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</a:t>
            </a:r>
            <a:endParaRPr lang="en-US" sz="850" dirty="0"/>
          </a:p>
        </p:txBody>
      </p:sp>
      <p:sp>
        <p:nvSpPr>
          <p:cNvPr id="10" name="code-body-git branch -d"/>
          <p:cNvSpPr txBox="1"/>
          <p:nvPr/>
        </p:nvSpPr>
        <p:spPr>
          <a:xfrm>
            <a:off x="685800" y="2258568"/>
            <a:ext cx="562356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--merged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현재 브랜치에 병합 완료된 목록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devel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main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-d devel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branch devel (was c9b88d9).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-d experiment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E56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the branch 'experiment' is not fully merged.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-D experiment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강제 삭제 (주의!)</a:t>
            </a:r>
            <a:endParaRPr lang="en-US" sz="1100" dirty="0"/>
          </a:p>
        </p:txBody>
      </p:sp>
      <p:sp>
        <p:nvSpPr>
          <p:cNvPr id="11" name="del-card"/>
          <p:cNvSpPr/>
          <p:nvPr/>
        </p:nvSpPr>
        <p:spPr>
          <a:xfrm>
            <a:off x="6812280" y="1874520"/>
            <a:ext cx="4919472" cy="31546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"/>
          <p:cNvSpPr txBox="1"/>
          <p:nvPr/>
        </p:nvSpPr>
        <p:spPr>
          <a:xfrm>
            <a:off x="70408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-d  vs  -D</a:t>
            </a:r>
            <a:endParaRPr lang="en-US" sz="15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468880"/>
          <a:ext cx="4480560" cy="1371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옵션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안전 삭제 — 병합되지 않은 브랜치는 거부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강제 삭제 — 병합 여부와 상관없이 삭제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"/>
          <p:cNvSpPr txBox="1"/>
          <p:nvPr/>
        </p:nvSpPr>
        <p:spPr>
          <a:xfrm>
            <a:off x="7040880" y="40233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--no-merged</a:t>
            </a:r>
            <a:r>
              <a:rPr lang="en-US" sz="1150" dirty="0">
                <a:solidFill>
                  <a:schemeClr val="tx2"/>
                </a:solidFill>
              </a:rPr>
              <a:t> 로 아직 병합되지 않은 브랜치를 먼저 확인하면, 지우면 안 되는 브랜치를 알 수 있습니다.</a:t>
            </a:r>
            <a:endParaRPr lang="en-US" sz="1150" dirty="0"/>
          </a:p>
        </p:txBody>
      </p:sp>
      <p:sp>
        <p:nvSpPr>
          <p:cNvPr id="15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6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브랜치를 지워도 </a:t>
            </a:r>
            <a:r>
              <a:rPr lang="en-US" sz="1250" b="1" dirty="0">
                <a:solidFill>
                  <a:schemeClr val="tx1"/>
                </a:solidFill>
              </a:rPr>
              <a:t>이미 병합된 커밋은 main 이력에 그대로 남습니다.</a:t>
            </a:r>
            <a:r>
              <a:rPr lang="en-US" sz="1250" dirty="0">
                <a:solidFill>
                  <a:schemeClr val="tx1"/>
                </a:solidFill>
              </a:rPr>
              <a:t> 지워지는 것은 "포인터(이름표)" 뿐입니다.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5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브랜치도 GitHub 에 올릴 수 있다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지금까지는 main 만 push 했지만, 다른 브랜치도 같은 방법으로 올리고 받을 수 있습니다.</a:t>
            </a:r>
            <a:endParaRPr lang="en-US" sz="1400" dirty="0"/>
          </a:p>
        </p:txBody>
      </p:sp>
      <p:sp>
        <p:nvSpPr>
          <p:cNvPr id="5" name="step-0"/>
          <p:cNvSpPr/>
          <p:nvPr/>
        </p:nvSpPr>
        <p:spPr>
          <a:xfrm>
            <a:off x="457200" y="1828800"/>
            <a:ext cx="363016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num-1-0.8-2.2"/>
          <p:cNvSpPr/>
          <p:nvPr/>
        </p:nvSpPr>
        <p:spPr>
          <a:xfrm>
            <a:off x="685800" y="1993392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07008" y="1993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올리기</a:t>
            </a:r>
            <a:endParaRPr lang="en-US" sz="1600" dirty="0"/>
          </a:p>
        </p:txBody>
      </p:sp>
      <p:sp>
        <p:nvSpPr>
          <p:cNvPr id="8" name="badge-Alice"/>
          <p:cNvSpPr/>
          <p:nvPr/>
        </p:nvSpPr>
        <p:spPr>
          <a:xfrm>
            <a:off x="2880360" y="2048256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Alice</a:t>
            </a:r>
            <a:endParaRPr lang="en-US" sz="1000" dirty="0"/>
          </a:p>
        </p:txBody>
      </p:sp>
      <p:sp>
        <p:nvSpPr>
          <p:cNvPr id="9" name="text"/>
          <p:cNvSpPr txBox="1"/>
          <p:nvPr/>
        </p:nvSpPr>
        <p:spPr>
          <a:xfrm>
            <a:off x="68580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main 을 올릴 때와 똑같은 명령, </a:t>
            </a:r>
            <a:r>
              <a:rPr lang="en-US" sz="1200" b="1" dirty="0">
                <a:solidFill>
                  <a:schemeClr val="tx2"/>
                </a:solidFill>
              </a:rPr>
              <a:t>브랜치 이름만</a:t>
            </a:r>
            <a:r>
              <a:rPr lang="en-US" sz="1200" dirty="0">
                <a:solidFill>
                  <a:schemeClr val="tx2"/>
                </a:solidFill>
              </a:rPr>
              <a:t> 바뀝니다.</a:t>
            </a:r>
            <a:endParaRPr lang="en-US" sz="1200" dirty="0"/>
          </a:p>
        </p:txBody>
      </p:sp>
      <p:sp>
        <p:nvSpPr>
          <p:cNvPr id="10" name="step-arrow"/>
          <p:cNvSpPr/>
          <p:nvPr/>
        </p:nvSpPr>
        <p:spPr>
          <a:xfrm>
            <a:off x="4114800" y="2880360"/>
            <a:ext cx="146304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tep-1"/>
          <p:cNvSpPr/>
          <p:nvPr/>
        </p:nvSpPr>
        <p:spPr>
          <a:xfrm>
            <a:off x="4279392" y="1828800"/>
            <a:ext cx="363016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num-2-4.9-2.2"/>
          <p:cNvSpPr/>
          <p:nvPr/>
        </p:nvSpPr>
        <p:spPr>
          <a:xfrm>
            <a:off x="4507992" y="1993392"/>
            <a:ext cx="384048" cy="3840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5029200" y="1993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확인</a:t>
            </a:r>
            <a:endParaRPr lang="en-US" sz="1600" dirty="0"/>
          </a:p>
        </p:txBody>
      </p:sp>
      <p:sp>
        <p:nvSpPr>
          <p:cNvPr id="14" name="badge-GitHub"/>
          <p:cNvSpPr/>
          <p:nvPr/>
        </p:nvSpPr>
        <p:spPr>
          <a:xfrm>
            <a:off x="6702552" y="2048256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GitHub</a:t>
            </a:r>
            <a:endParaRPr lang="en-US" sz="1000" dirty="0"/>
          </a:p>
        </p:txBody>
      </p:sp>
      <p:sp>
        <p:nvSpPr>
          <p:cNvPr id="15" name="text"/>
          <p:cNvSpPr txBox="1"/>
          <p:nvPr/>
        </p:nvSpPr>
        <p:spPr>
          <a:xfrm>
            <a:off x="4507992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저장소 화면의 브랜치 메뉴에 devel 이 새로 보입니다.</a:t>
            </a:r>
            <a:endParaRPr lang="en-US" sz="1200" dirty="0"/>
          </a:p>
        </p:txBody>
      </p:sp>
      <p:sp>
        <p:nvSpPr>
          <p:cNvPr id="16" name="step-arrow"/>
          <p:cNvSpPr/>
          <p:nvPr/>
        </p:nvSpPr>
        <p:spPr>
          <a:xfrm>
            <a:off x="7936992" y="2880360"/>
            <a:ext cx="146304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tep-2"/>
          <p:cNvSpPr/>
          <p:nvPr/>
        </p:nvSpPr>
        <p:spPr>
          <a:xfrm>
            <a:off x="8101584" y="1828800"/>
            <a:ext cx="363016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num-3-9.1-2.2"/>
          <p:cNvSpPr/>
          <p:nvPr/>
        </p:nvSpPr>
        <p:spPr>
          <a:xfrm>
            <a:off x="8330184" y="1993392"/>
            <a:ext cx="384048" cy="38404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"/>
          <p:cNvSpPr txBox="1"/>
          <p:nvPr/>
        </p:nvSpPr>
        <p:spPr>
          <a:xfrm>
            <a:off x="8851392" y="1993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받기</a:t>
            </a:r>
            <a:endParaRPr lang="en-US" sz="1600" dirty="0"/>
          </a:p>
        </p:txBody>
      </p:sp>
      <p:sp>
        <p:nvSpPr>
          <p:cNvPr id="20" name="badge-Bob"/>
          <p:cNvSpPr/>
          <p:nvPr/>
        </p:nvSpPr>
        <p:spPr>
          <a:xfrm>
            <a:off x="10524744" y="2048256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Bob</a:t>
            </a:r>
            <a:endParaRPr lang="en-US" sz="1000" dirty="0"/>
          </a:p>
        </p:txBody>
      </p:sp>
      <p:sp>
        <p:nvSpPr>
          <p:cNvPr id="21" name="text"/>
          <p:cNvSpPr txBox="1"/>
          <p:nvPr/>
        </p:nvSpPr>
        <p:spPr>
          <a:xfrm>
            <a:off x="8330184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fetch 로 GitHub 의 새 브랜치 소식을 받고, switch 로 devel 에 들어갑니다.</a:t>
            </a:r>
            <a:endParaRPr lang="en-US" sz="1200" dirty="0"/>
          </a:p>
        </p:txBody>
      </p:sp>
      <p:sp>
        <p:nvSpPr>
          <p:cNvPr id="22" name="cmd-box"/>
          <p:cNvSpPr/>
          <p:nvPr/>
        </p:nvSpPr>
        <p:spPr>
          <a:xfrm>
            <a:off x="685800" y="3246120"/>
            <a:ext cx="3172968" cy="4572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cmd-text"/>
          <p:cNvSpPr txBox="1"/>
          <p:nvPr/>
        </p:nvSpPr>
        <p:spPr>
          <a:xfrm>
            <a:off x="850392" y="3337560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devel</a:t>
            </a:r>
            <a:endParaRPr lang="en-US" sz="1200" dirty="0"/>
          </a:p>
        </p:txBody>
      </p:sp>
      <p:sp>
        <p:nvSpPr>
          <p:cNvPr id="24" name="gh-dropdown"/>
          <p:cNvSpPr/>
          <p:nvPr/>
        </p:nvSpPr>
        <p:spPr>
          <a:xfrm>
            <a:off x="4507992" y="3108960"/>
            <a:ext cx="1600200" cy="292608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branch:  main  ▾</a:t>
            </a:r>
            <a:endParaRPr lang="en-US" sz="1050" dirty="0"/>
          </a:p>
        </p:txBody>
      </p:sp>
      <p:sp>
        <p:nvSpPr>
          <p:cNvPr id="25" name="gh-list"/>
          <p:cNvSpPr/>
          <p:nvPr/>
        </p:nvSpPr>
        <p:spPr>
          <a:xfrm>
            <a:off x="4507992" y="3419856"/>
            <a:ext cx="265176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main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devel   ← 새로 생김</a:t>
            </a:r>
            <a:endParaRPr lang="en-US" sz="1050" dirty="0"/>
          </a:p>
        </p:txBody>
      </p:sp>
      <p:sp>
        <p:nvSpPr>
          <p:cNvPr id="26" name="cmd-box"/>
          <p:cNvSpPr/>
          <p:nvPr/>
        </p:nvSpPr>
        <p:spPr>
          <a:xfrm>
            <a:off x="8330184" y="3108960"/>
            <a:ext cx="3172968" cy="73152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cmd-text"/>
          <p:cNvSpPr txBox="1"/>
          <p:nvPr/>
        </p:nvSpPr>
        <p:spPr>
          <a:xfrm>
            <a:off x="8494776" y="3200400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fetch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devel</a:t>
            </a:r>
            <a:endParaRPr lang="en-US" sz="1200" dirty="0"/>
          </a:p>
        </p:txBody>
      </p:sp>
      <p:sp>
        <p:nvSpPr>
          <p:cNvPr id="28" name="when-혼자 작업할 때"/>
          <p:cNvSpPr/>
          <p:nvPr/>
        </p:nvSpPr>
        <p:spPr>
          <a:xfrm>
            <a:off x="457200" y="4114800"/>
            <a:ext cx="5559552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"/>
          <p:cNvSpPr txBox="1"/>
          <p:nvPr/>
        </p:nvSpPr>
        <p:spPr>
          <a:xfrm>
            <a:off x="685800" y="4206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4"/>
                </a:solidFill>
              </a:rPr>
              <a:t>혼자 작업할 때</a:t>
            </a:r>
            <a:endParaRPr lang="en-US" sz="1400" dirty="0"/>
          </a:p>
        </p:txBody>
      </p:sp>
      <p:sp>
        <p:nvSpPr>
          <p:cNvPr id="30" name="text"/>
          <p:cNvSpPr txBox="1"/>
          <p:nvPr/>
        </p:nvSpPr>
        <p:spPr>
          <a:xfrm>
            <a:off x="685800" y="45262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보통 </a:t>
            </a:r>
            <a:r>
              <a:rPr lang="en-US" sz="1200" b="1" dirty="0">
                <a:solidFill>
                  <a:schemeClr val="tx1"/>
                </a:solidFill>
              </a:rPr>
              <a:t>main 만 push</a:t>
            </a:r>
            <a:r>
              <a:rPr lang="en-US" sz="1200" dirty="0">
                <a:solidFill>
                  <a:schemeClr val="tx1"/>
                </a:solidFill>
              </a:rPr>
              <a:t> 해도 충분합니다.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브랜치는 내 PC 안에서만 쓰고, 병합한 뒤 main 을 올립니다.</a:t>
            </a:r>
            <a:endParaRPr lang="en-US" sz="1200" dirty="0"/>
          </a:p>
        </p:txBody>
      </p:sp>
      <p:sp>
        <p:nvSpPr>
          <p:cNvPr id="31" name="when-팀으로 작업할 때"/>
          <p:cNvSpPr/>
          <p:nvPr/>
        </p:nvSpPr>
        <p:spPr>
          <a:xfrm>
            <a:off x="6172200" y="4114800"/>
            <a:ext cx="5559552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"/>
          <p:cNvSpPr txBox="1"/>
          <p:nvPr/>
        </p:nvSpPr>
        <p:spPr>
          <a:xfrm>
            <a:off x="6400800" y="4206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팀으로 작업할 때</a:t>
            </a:r>
            <a:endParaRPr lang="en-US" sz="1400" dirty="0"/>
          </a:p>
        </p:txBody>
      </p:sp>
      <p:sp>
        <p:nvSpPr>
          <p:cNvPr id="33" name="text"/>
          <p:cNvSpPr txBox="1"/>
          <p:nvPr/>
        </p:nvSpPr>
        <p:spPr>
          <a:xfrm>
            <a:off x="6400800" y="45262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기능 브랜치를 push 하면 동료가 확인 · 리뷰할 수 있습니다.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→ 다음 시간 Pull Request 의 출발점입니다.</a:t>
            </a:r>
            <a:endParaRPr lang="en-US" sz="1200" dirty="0"/>
          </a:p>
        </p:txBody>
      </p:sp>
      <p:sp>
        <p:nvSpPr>
          <p:cNvPr id="34" name="callout-tip"/>
          <p:cNvSpPr/>
          <p:nvPr/>
        </p:nvSpPr>
        <p:spPr>
          <a:xfrm>
            <a:off x="457200" y="5376672"/>
            <a:ext cx="11274552" cy="59436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35" name="callout-text-tip"/>
          <p:cNvSpPr txBox="1"/>
          <p:nvPr/>
        </p:nvSpPr>
        <p:spPr>
          <a:xfrm>
            <a:off x="685800" y="5376672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삭제   </a:t>
            </a:r>
            <a:r>
              <a:rPr lang="en-US" sz="1250" dirty="0">
                <a:solidFill>
                  <a:schemeClr val="tx1"/>
                </a:solidFill>
              </a:rPr>
              <a:t>GitHub 의 브랜치를 지우려면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--delete devel</a:t>
            </a:r>
            <a:r>
              <a:rPr lang="en-US" sz="1250" dirty="0">
                <a:solidFill>
                  <a:schemeClr val="tx1"/>
                </a:solidFill>
              </a:rPr>
              <a:t> (내 PC 의 devel 은 그대로 남습니다).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commit --amend — 직전 커밋 고치기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커밋 메시지에 오타가 있거나 파일을 빠뜨렸을 때, 새 커밋을 만들지 않고 직전 커밋을 고칩니다.</a:t>
            </a:r>
            <a:endParaRPr lang="en-US" sz="1400" dirty="0"/>
          </a:p>
        </p:txBody>
      </p:sp>
      <p:sp>
        <p:nvSpPr>
          <p:cNvPr id="5" name="code-amend"/>
          <p:cNvSpPr/>
          <p:nvPr/>
        </p:nvSpPr>
        <p:spPr>
          <a:xfrm>
            <a:off x="457200" y="1874520"/>
            <a:ext cx="6400800" cy="1989582"/>
          </a:xfrm>
          <a:prstGeom prst="roundRect">
            <a:avLst>
              <a:gd name="adj" fmla="val 275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9" name="code-title"/>
          <p:cNvSpPr txBox="1"/>
          <p:nvPr/>
        </p:nvSpPr>
        <p:spPr>
          <a:xfrm>
            <a:off x="1170432" y="19476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amend</a:t>
            </a:r>
            <a:endParaRPr lang="en-US" sz="850" dirty="0"/>
          </a:p>
        </p:txBody>
      </p:sp>
      <p:sp>
        <p:nvSpPr>
          <p:cNvPr id="10" name="code-body-amend"/>
          <p:cNvSpPr txBox="1"/>
          <p:nvPr/>
        </p:nvSpPr>
        <p:spPr>
          <a:xfrm>
            <a:off x="685800" y="2258568"/>
            <a:ext cx="5989320" cy="151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"added login menu"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앗, login.css 를 빠뜨렸다!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login.css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--amend -m "Add login menu with styles"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메시지는 그대로 두고 파일만 추가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--amend --no-edit</a:t>
            </a:r>
            <a:endParaRPr lang="en-US" sz="1150" dirty="0"/>
          </a:p>
        </p:txBody>
      </p:sp>
      <p:sp>
        <p:nvSpPr>
          <p:cNvPr id="11" name="amend-card"/>
          <p:cNvSpPr/>
          <p:nvPr/>
        </p:nvSpPr>
        <p:spPr>
          <a:xfrm>
            <a:off x="7178040" y="1874520"/>
            <a:ext cx="4553712" cy="31546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edge"/>
          <p:cNvSpPr/>
          <p:nvPr/>
        </p:nvSpPr>
        <p:spPr>
          <a:xfrm>
            <a:off x="7772400" y="2743200"/>
            <a:ext cx="1554480" cy="914"/>
          </a:xfrm>
          <a:prstGeom prst="line">
            <a:avLst/>
          </a:prstGeom>
          <a:noFill/>
          <a:ln w="19050">
            <a:solidFill>
              <a:schemeClr val="accent1">
                <a:alpha val="40000"/>
              </a:schemeClr>
            </a:solidFill>
            <a:prstDash val="dash"/>
          </a:ln>
        </p:spPr>
      </p:sp>
      <p:sp>
        <p:nvSpPr>
          <p:cNvPr id="13" name="edge"/>
          <p:cNvSpPr/>
          <p:nvPr/>
        </p:nvSpPr>
        <p:spPr>
          <a:xfrm>
            <a:off x="7772400" y="2743200"/>
            <a:ext cx="914" cy="10972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4" name="edge"/>
          <p:cNvSpPr/>
          <p:nvPr/>
        </p:nvSpPr>
        <p:spPr>
          <a:xfrm>
            <a:off x="7772400" y="3840480"/>
            <a:ext cx="15544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5" name="commit-a"/>
          <p:cNvSpPr/>
          <p:nvPr/>
        </p:nvSpPr>
        <p:spPr>
          <a:xfrm>
            <a:off x="7580376" y="25511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6" name="commit-b"/>
          <p:cNvSpPr/>
          <p:nvPr/>
        </p:nvSpPr>
        <p:spPr>
          <a:xfrm>
            <a:off x="9134856" y="2551176"/>
            <a:ext cx="384048" cy="384048"/>
          </a:xfrm>
          <a:prstGeom prst="ellipse">
            <a:avLst/>
          </a:prstGeom>
          <a:solidFill>
            <a:schemeClr val="accent1">
              <a:alpha val="35000"/>
            </a:schemeClr>
          </a:solidFill>
          <a:ln w="12700">
            <a:solidFill>
              <a:schemeClr val="accent1">
                <a:alpha val="35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17" name="commit-c"/>
          <p:cNvSpPr/>
          <p:nvPr/>
        </p:nvSpPr>
        <p:spPr>
          <a:xfrm>
            <a:off x="9134856" y="36484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C4'</a:t>
            </a:r>
            <a:endParaRPr lang="en-US" sz="950" dirty="0"/>
          </a:p>
        </p:txBody>
      </p:sp>
      <p:sp>
        <p:nvSpPr>
          <p:cNvPr id="18" name="tag-main"/>
          <p:cNvSpPr/>
          <p:nvPr/>
        </p:nvSpPr>
        <p:spPr>
          <a:xfrm>
            <a:off x="8997696" y="423367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9" name="tag-arrow"/>
          <p:cNvSpPr/>
          <p:nvPr/>
        </p:nvSpPr>
        <p:spPr>
          <a:xfrm>
            <a:off x="9326880" y="403250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0" name="text"/>
          <p:cNvSpPr txBox="1"/>
          <p:nvPr/>
        </p:nvSpPr>
        <p:spPr>
          <a:xfrm>
            <a:off x="964692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tx2"/>
                </a:solidFill>
              </a:rPr>
              <a:t>기존 커밋 (버려짐)</a:t>
            </a:r>
            <a:endParaRPr lang="en-US" sz="1050" dirty="0"/>
          </a:p>
        </p:txBody>
      </p:sp>
      <p:sp>
        <p:nvSpPr>
          <p:cNvPr id="21" name="text"/>
          <p:cNvSpPr txBox="1"/>
          <p:nvPr/>
        </p:nvSpPr>
        <p:spPr>
          <a:xfrm>
            <a:off x="96469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accent1"/>
                </a:solidFill>
              </a:rPr>
              <a:t>새 커밋 (해시 변경)</a:t>
            </a:r>
            <a:endParaRPr lang="en-US" sz="1050" dirty="0"/>
          </a:p>
        </p:txBody>
      </p:sp>
      <p:sp>
        <p:nvSpPr>
          <p:cNvPr id="22" name="callout-warn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3">
              <a:alpha val="14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3" name="callout-text-warn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주의   </a:t>
            </a:r>
            <a:r>
              <a:rPr lang="en-US" sz="1250" dirty="0">
                <a:solidFill>
                  <a:schemeClr val="tx1"/>
                </a:solidFill>
              </a:rPr>
              <a:t>amend 는 기존 커밋을 </a:t>
            </a:r>
            <a:r>
              <a:rPr lang="en-US" sz="1250" b="1" dirty="0">
                <a:solidFill>
                  <a:schemeClr val="tx1"/>
                </a:solidFill>
              </a:rPr>
              <a:t>해시가 다른 새 커밋으로 교체</a:t>
            </a:r>
            <a:r>
              <a:rPr lang="en-US" sz="1250" dirty="0">
                <a:solidFill>
                  <a:schemeClr val="tx1"/>
                </a:solidFill>
              </a:rPr>
              <a:t>합니다. 이미 push 해서 공유한 커밋에는 사용하지 마세요 — 동료의 이력과 어긋나 push 가 거부됩니다.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되돌리기 명령 한눈에 보기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"무엇을 되돌리고 싶은가"에 따라 사용할 명령이 다릅니다.</a:t>
            </a:r>
            <a:endParaRPr lang="en-US" sz="14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74552" cy="263347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명령어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작업 디렉터리의 수정을 취소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restore &lt;file&gt;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마지막 커밋 상태로 복원 (수정 내용 삭제, 복구 불가)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스테이징만 취소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restore --staged &lt;file&gt;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수정 내용은 그대로 유지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직전 커밋의 메시지·파일 수정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 --amend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직전 커밋을 새 커밋으로 교체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로컬 커밋 취소 (이력 삭제)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reset &lt;commit&gt;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브랜치 포인터를 과거 커밋으로 이동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공유된 커밋 취소 (이력 유지)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revert &lt;commit&gt;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변경을 반대로 적용한 새 커밋 추가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7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판단 기준   </a:t>
            </a:r>
            <a:r>
              <a:rPr lang="en-US" sz="1250" b="1" dirty="0">
                <a:solidFill>
                  <a:schemeClr val="tx1"/>
                </a:solidFill>
              </a:rPr>
              <a:t>"이미 push 해서 다른 사람과 공유했는가?"</a:t>
            </a:r>
            <a:r>
              <a:rPr lang="en-US" sz="1250" dirty="0">
                <a:solidFill>
                  <a:schemeClr val="tx1"/>
                </a:solidFill>
              </a:rPr>
              <a:t>  공유했다면 →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</a:t>
            </a:r>
            <a:r>
              <a:rPr lang="en-US" sz="1250" dirty="0">
                <a:solidFill>
                  <a:schemeClr val="tx1"/>
                </a:solidFill>
              </a:rPr>
              <a:t>.  아직 내 컴퓨터에만 있다면 →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amend</a:t>
            </a:r>
            <a:r>
              <a:rPr lang="en-US" sz="1250" dirty="0">
                <a:solidFill>
                  <a:schemeClr val="tx1"/>
                </a:solidFill>
              </a:rPr>
              <a:t> /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r>
              <a:rPr lang="en-US" sz="1250" dirty="0">
                <a:solidFill>
                  <a:schemeClr val="tx1"/>
                </a:solidFill>
              </a:rPr>
              <a:t> 도 괜찮습니다.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.3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6.3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reset 의 세 가지 모드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&lt;commit&gt;</a:t>
            </a:r>
            <a:r>
              <a:rPr lang="en-US" sz="1400" dirty="0">
                <a:solidFill>
                  <a:schemeClr val="tx2"/>
                </a:solidFill>
              </a:rPr>
              <a:t> 은 현재 브랜치를 지정한 커밋으로 되돌립니다. 모드에 따라 어디까지 되돌릴지가 달라집니다.</a:t>
            </a:r>
            <a:endParaRPr lang="en-US" sz="1400" dirty="0"/>
          </a:p>
        </p:txBody>
      </p:sp>
      <p:sp>
        <p:nvSpPr>
          <p:cNvPr id="5" name="text"/>
          <p:cNvSpPr txBox="1"/>
          <p:nvPr/>
        </p:nvSpPr>
        <p:spPr>
          <a:xfrm>
            <a:off x="25146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</a:rPr>
              <a:t>작업 디렉터리</a:t>
            </a:r>
            <a:endParaRPr lang="en-US" sz="1150" dirty="0"/>
          </a:p>
        </p:txBody>
      </p:sp>
      <p:sp>
        <p:nvSpPr>
          <p:cNvPr id="6" name="text"/>
          <p:cNvSpPr txBox="1"/>
          <p:nvPr/>
        </p:nvSpPr>
        <p:spPr>
          <a:xfrm>
            <a:off x="41148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</a:rPr>
              <a:t>스테이징 영역</a:t>
            </a:r>
            <a:endParaRPr lang="en-US" sz="1150" dirty="0"/>
          </a:p>
        </p:txBody>
      </p:sp>
      <p:sp>
        <p:nvSpPr>
          <p:cNvPr id="7" name="text"/>
          <p:cNvSpPr txBox="1"/>
          <p:nvPr/>
        </p:nvSpPr>
        <p:spPr>
          <a:xfrm>
            <a:off x="57150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</a:rPr>
              <a:t>브랜치 (HEAD)</a:t>
            </a:r>
            <a:endParaRPr lang="en-US" sz="1150" dirty="0"/>
          </a:p>
        </p:txBody>
      </p:sp>
      <p:sp>
        <p:nvSpPr>
          <p:cNvPr id="8" name="text"/>
          <p:cNvSpPr txBox="1"/>
          <p:nvPr/>
        </p:nvSpPr>
        <p:spPr>
          <a:xfrm>
            <a:off x="457200" y="2395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--soft</a:t>
            </a:r>
            <a:endParaRPr lang="en-US" sz="1300" dirty="0"/>
          </a:p>
        </p:txBody>
      </p:sp>
      <p:sp>
        <p:nvSpPr>
          <p:cNvPr id="9" name="cell-0-0"/>
          <p:cNvSpPr/>
          <p:nvPr/>
        </p:nvSpPr>
        <p:spPr>
          <a:xfrm>
            <a:off x="2514600" y="2258568"/>
            <a:ext cx="150876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유지</a:t>
            </a:r>
            <a:endParaRPr lang="en-US" sz="1200" dirty="0"/>
          </a:p>
        </p:txBody>
      </p:sp>
      <p:sp>
        <p:nvSpPr>
          <p:cNvPr id="10" name="cell-0-1"/>
          <p:cNvSpPr/>
          <p:nvPr/>
        </p:nvSpPr>
        <p:spPr>
          <a:xfrm>
            <a:off x="4114800" y="2258568"/>
            <a:ext cx="150876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유지</a:t>
            </a:r>
            <a:endParaRPr lang="en-US" sz="1200" dirty="0"/>
          </a:p>
        </p:txBody>
      </p:sp>
      <p:sp>
        <p:nvSpPr>
          <p:cNvPr id="11" name="cell-0-2"/>
          <p:cNvSpPr/>
          <p:nvPr/>
        </p:nvSpPr>
        <p:spPr>
          <a:xfrm>
            <a:off x="5715000" y="2258568"/>
            <a:ext cx="1508760" cy="548640"/>
          </a:xfrm>
          <a:prstGeom prst="rect">
            <a:avLst/>
          </a:prstGeom>
          <a:solidFill>
            <a:schemeClr val="accent2">
              <a:alpha val="80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12" name="text"/>
          <p:cNvSpPr txBox="1"/>
          <p:nvPr/>
        </p:nvSpPr>
        <p:spPr>
          <a:xfrm>
            <a:off x="7498080" y="2304288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커밋만 취소. 변경 내용은 staged 상태로 남음 → 커밋 다시 하기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457200" y="30540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--mixed</a:t>
            </a:r>
            <a:r>
              <a:rPr lang="en-US" sz="1300" dirty="0">
                <a:solidFill>
                  <a:schemeClr val="tx1"/>
                </a:solidFill>
              </a:rPr>
              <a:t>  (기본값)</a:t>
            </a:r>
            <a:endParaRPr lang="en-US" sz="1300" dirty="0"/>
          </a:p>
        </p:txBody>
      </p:sp>
      <p:sp>
        <p:nvSpPr>
          <p:cNvPr id="14" name="cell-1-0"/>
          <p:cNvSpPr/>
          <p:nvPr/>
        </p:nvSpPr>
        <p:spPr>
          <a:xfrm>
            <a:off x="2514600" y="2916936"/>
            <a:ext cx="150876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유지</a:t>
            </a:r>
            <a:endParaRPr lang="en-US" sz="1200" dirty="0"/>
          </a:p>
        </p:txBody>
      </p:sp>
      <p:sp>
        <p:nvSpPr>
          <p:cNvPr id="15" name="cell-1-1"/>
          <p:cNvSpPr/>
          <p:nvPr/>
        </p:nvSpPr>
        <p:spPr>
          <a:xfrm>
            <a:off x="4114800" y="2916936"/>
            <a:ext cx="1508760" cy="548640"/>
          </a:xfrm>
          <a:prstGeom prst="rect">
            <a:avLst/>
          </a:prstGeom>
          <a:solidFill>
            <a:schemeClr val="accent2">
              <a:alpha val="80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16" name="cell-1-2"/>
          <p:cNvSpPr/>
          <p:nvPr/>
        </p:nvSpPr>
        <p:spPr>
          <a:xfrm>
            <a:off x="5715000" y="2916936"/>
            <a:ext cx="1508760" cy="548640"/>
          </a:xfrm>
          <a:prstGeom prst="rect">
            <a:avLst/>
          </a:prstGeom>
          <a:solidFill>
            <a:schemeClr val="accent2">
              <a:alpha val="80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7498080" y="2962656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커밋 + 스테이징 취소. 파일 수정 내용은 남음</a:t>
            </a:r>
            <a:endParaRPr lang="en-US" sz="1200" dirty="0"/>
          </a:p>
        </p:txBody>
      </p:sp>
      <p:sp>
        <p:nvSpPr>
          <p:cNvPr id="18" name="text"/>
          <p:cNvSpPr txBox="1"/>
          <p:nvPr/>
        </p:nvSpPr>
        <p:spPr>
          <a:xfrm>
            <a:off x="457200" y="37124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--hard</a:t>
            </a:r>
            <a:endParaRPr lang="en-US" sz="1300" dirty="0"/>
          </a:p>
        </p:txBody>
      </p:sp>
      <p:sp>
        <p:nvSpPr>
          <p:cNvPr id="19" name="cell-2-0"/>
          <p:cNvSpPr/>
          <p:nvPr/>
        </p:nvSpPr>
        <p:spPr>
          <a:xfrm>
            <a:off x="2514600" y="3575304"/>
            <a:ext cx="1508760" cy="548640"/>
          </a:xfrm>
          <a:prstGeom prst="rect">
            <a:avLst/>
          </a:prstGeom>
          <a:solidFill>
            <a:schemeClr val="accent1">
              <a:alpha val="85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20" name="cell-2-1"/>
          <p:cNvSpPr/>
          <p:nvPr/>
        </p:nvSpPr>
        <p:spPr>
          <a:xfrm>
            <a:off x="4114800" y="3575304"/>
            <a:ext cx="1508760" cy="548640"/>
          </a:xfrm>
          <a:prstGeom prst="rect">
            <a:avLst/>
          </a:prstGeom>
          <a:solidFill>
            <a:schemeClr val="accent1">
              <a:alpha val="85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21" name="cell-2-2"/>
          <p:cNvSpPr/>
          <p:nvPr/>
        </p:nvSpPr>
        <p:spPr>
          <a:xfrm>
            <a:off x="5715000" y="3575304"/>
            <a:ext cx="1508760" cy="548640"/>
          </a:xfrm>
          <a:prstGeom prst="rect">
            <a:avLst/>
          </a:prstGeom>
          <a:solidFill>
            <a:schemeClr val="accent1">
              <a:alpha val="85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22" name="text"/>
          <p:cNvSpPr txBox="1"/>
          <p:nvPr/>
        </p:nvSpPr>
        <p:spPr>
          <a:xfrm>
            <a:off x="7498080" y="3621024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1"/>
                </a:solidFill>
              </a:rPr>
              <a:t>모두 취소. 수정한 내용까지 삭제됨 ⚠</a:t>
            </a:r>
            <a:endParaRPr lang="en-US" sz="1200" dirty="0"/>
          </a:p>
        </p:txBody>
      </p:sp>
      <p:sp>
        <p:nvSpPr>
          <p:cNvPr id="23" name="code-reset"/>
          <p:cNvSpPr/>
          <p:nvPr/>
        </p:nvSpPr>
        <p:spPr>
          <a:xfrm>
            <a:off x="457200" y="4315968"/>
            <a:ext cx="6949440" cy="896112"/>
          </a:xfrm>
          <a:prstGeom prst="roundRect">
            <a:avLst>
              <a:gd name="adj" fmla="val 61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code-dot"/>
          <p:cNvSpPr/>
          <p:nvPr/>
        </p:nvSpPr>
        <p:spPr>
          <a:xfrm>
            <a:off x="621792" y="4453128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25" name="code-dot"/>
          <p:cNvSpPr/>
          <p:nvPr/>
        </p:nvSpPr>
        <p:spPr>
          <a:xfrm>
            <a:off x="786384" y="4453128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6" name="code-dot"/>
          <p:cNvSpPr/>
          <p:nvPr/>
        </p:nvSpPr>
        <p:spPr>
          <a:xfrm>
            <a:off x="950976" y="4453128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27" name="code-title"/>
          <p:cNvSpPr txBox="1"/>
          <p:nvPr/>
        </p:nvSpPr>
        <p:spPr>
          <a:xfrm>
            <a:off x="1170432" y="438912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endParaRPr lang="en-US" sz="850" dirty="0"/>
          </a:p>
        </p:txBody>
      </p:sp>
      <p:sp>
        <p:nvSpPr>
          <p:cNvPr id="28" name="code-body-reset"/>
          <p:cNvSpPr txBox="1"/>
          <p:nvPr/>
        </p:nvSpPr>
        <p:spPr>
          <a:xfrm>
            <a:off x="685800" y="4700016"/>
            <a:ext cx="6537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reset --soft HEAD~1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HEAD~1 = 한 커밋 전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reset HEAD~2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--mixed, 두 커밋 전으로</a:t>
            </a:r>
            <a:endParaRPr lang="en-US" sz="1100" dirty="0"/>
          </a:p>
        </p:txBody>
      </p:sp>
      <p:sp>
        <p:nvSpPr>
          <p:cNvPr id="29" name="callout-warn"/>
          <p:cNvSpPr/>
          <p:nvPr/>
        </p:nvSpPr>
        <p:spPr>
          <a:xfrm>
            <a:off x="7680960" y="4315968"/>
            <a:ext cx="4050792" cy="896112"/>
          </a:xfrm>
          <a:prstGeom prst="rect">
            <a:avLst/>
          </a:prstGeom>
          <a:solidFill>
            <a:schemeClr val="accent3">
              <a:alpha val="14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30" name="callout-text-warn"/>
          <p:cNvSpPr txBox="1"/>
          <p:nvPr/>
        </p:nvSpPr>
        <p:spPr>
          <a:xfrm>
            <a:off x="7909560" y="4315968"/>
            <a:ext cx="3593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주의  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--hard</a:t>
            </a:r>
            <a:r>
              <a:rPr lang="en-US" sz="1250" dirty="0">
                <a:solidFill>
                  <a:schemeClr val="tx1"/>
                </a:solidFill>
              </a:rPr>
              <a:t> 는 커밋하지 않은 수정 내용을 </a:t>
            </a:r>
            <a:r>
              <a:rPr lang="en-US" sz="1250" b="1" dirty="0">
                <a:solidFill>
                  <a:schemeClr val="tx1"/>
                </a:solidFill>
              </a:rPr>
              <a:t>영구히 삭제</a:t>
            </a:r>
            <a:r>
              <a:rPr lang="en-US" sz="1250" dirty="0">
                <a:solidFill>
                  <a:schemeClr val="tx1"/>
                </a:solidFill>
              </a:rPr>
              <a:t>합니다. 실행 전에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r>
              <a:rPr lang="en-US" sz="1250" dirty="0">
                <a:solidFill>
                  <a:schemeClr val="tx1"/>
                </a:solidFill>
              </a:rPr>
              <a:t> 로 꼭 확인하세요.</a:t>
            </a:r>
            <a:endParaRPr lang="en-US" sz="1250" dirty="0"/>
          </a:p>
        </p:txBody>
      </p:sp>
      <p:sp>
        <p:nvSpPr>
          <p:cNvPr id="31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2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reset 은 커밋을 "지우는" 것처럼 보이지만, 실제로는 </a:t>
            </a:r>
            <a:r>
              <a:rPr lang="en-US" sz="1250" b="1" dirty="0">
                <a:solidFill>
                  <a:schemeClr val="tx1"/>
                </a:solidFill>
              </a:rPr>
              <a:t>브랜치 포인터를 과거로 옮기는 것</a:t>
            </a:r>
            <a:r>
              <a:rPr lang="en-US" sz="1250" dirty="0">
                <a:solidFill>
                  <a:schemeClr val="tx1"/>
                </a:solidFill>
              </a:rPr>
              <a:t>입니다. 처음에는 수정 내용이 남는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--soft</a:t>
            </a:r>
            <a:r>
              <a:rPr lang="en-US" sz="1250" dirty="0">
                <a:solidFill>
                  <a:schemeClr val="tx1"/>
                </a:solidFill>
              </a:rPr>
              <a:t> 부터 연습하세요.</a:t>
            </a:r>
            <a:endParaRPr lang="en-US" sz="12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.4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6.4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revert — 이력을 남기며 되돌리기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실수한 커밋을 지우는 대신, 그 커밋을 </a:t>
            </a:r>
            <a:r>
              <a:rPr lang="en-US" sz="1400" b="1" dirty="0">
                <a:solidFill>
                  <a:schemeClr val="tx2"/>
                </a:solidFill>
              </a:rPr>
              <a:t>반대로 고친 새 커밋</a:t>
            </a:r>
            <a:r>
              <a:rPr lang="en-US" sz="1400" dirty="0">
                <a:solidFill>
                  <a:schemeClr val="tx2"/>
                </a:solidFill>
              </a:rPr>
              <a:t>을 하나 더 만듭니다.</a:t>
            </a:r>
            <a:endParaRPr lang="en-US" sz="1400" dirty="0"/>
          </a:p>
        </p:txBody>
      </p:sp>
      <p:sp>
        <p:nvSpPr>
          <p:cNvPr id="5" name="revert-card"/>
          <p:cNvSpPr/>
          <p:nvPr/>
        </p:nvSpPr>
        <p:spPr>
          <a:xfrm>
            <a:off x="457200" y="1783080"/>
            <a:ext cx="11274552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edge"/>
          <p:cNvSpPr/>
          <p:nvPr/>
        </p:nvSpPr>
        <p:spPr>
          <a:xfrm>
            <a:off x="1783080" y="2542032"/>
            <a:ext cx="27432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7" name="edge"/>
          <p:cNvSpPr/>
          <p:nvPr/>
        </p:nvSpPr>
        <p:spPr>
          <a:xfrm>
            <a:off x="4526280" y="2542032"/>
            <a:ext cx="27432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8" name="edge"/>
          <p:cNvSpPr/>
          <p:nvPr/>
        </p:nvSpPr>
        <p:spPr>
          <a:xfrm>
            <a:off x="7269480" y="2542032"/>
            <a:ext cx="27432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9" name="commit-C1"/>
          <p:cNvSpPr/>
          <p:nvPr/>
        </p:nvSpPr>
        <p:spPr>
          <a:xfrm>
            <a:off x="1545336" y="230428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C1</a:t>
            </a:r>
            <a:endParaRPr lang="en-US" sz="1100" dirty="0"/>
          </a:p>
        </p:txBody>
      </p:sp>
      <p:sp>
        <p:nvSpPr>
          <p:cNvPr id="10" name="commit-C2"/>
          <p:cNvSpPr/>
          <p:nvPr/>
        </p:nvSpPr>
        <p:spPr>
          <a:xfrm>
            <a:off x="4288536" y="230428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C2</a:t>
            </a:r>
            <a:endParaRPr lang="en-US" sz="1100" dirty="0"/>
          </a:p>
        </p:txBody>
      </p:sp>
      <p:sp>
        <p:nvSpPr>
          <p:cNvPr id="11" name="commit-C3"/>
          <p:cNvSpPr/>
          <p:nvPr/>
        </p:nvSpPr>
        <p:spPr>
          <a:xfrm>
            <a:off x="7031736" y="2304288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C3</a:t>
            </a:r>
            <a:endParaRPr lang="en-US" sz="1100" dirty="0"/>
          </a:p>
        </p:txBody>
      </p:sp>
      <p:sp>
        <p:nvSpPr>
          <p:cNvPr id="12" name="commit-C4"/>
          <p:cNvSpPr/>
          <p:nvPr/>
        </p:nvSpPr>
        <p:spPr>
          <a:xfrm>
            <a:off x="9774936" y="2304288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C4</a:t>
            </a:r>
            <a:endParaRPr lang="en-US" sz="1100" dirty="0"/>
          </a:p>
        </p:txBody>
      </p:sp>
      <p:sp>
        <p:nvSpPr>
          <p:cNvPr id="13" name="tag-main"/>
          <p:cNvSpPr/>
          <p:nvPr/>
        </p:nvSpPr>
        <p:spPr>
          <a:xfrm>
            <a:off x="9683496" y="184708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4" name="tag-arrow"/>
          <p:cNvSpPr/>
          <p:nvPr/>
        </p:nvSpPr>
        <p:spPr>
          <a:xfrm>
            <a:off x="10012680" y="2103120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file-C1"/>
          <p:cNvSpPr/>
          <p:nvPr/>
        </p:nvSpPr>
        <p:spPr>
          <a:xfrm>
            <a:off x="594360" y="2907792"/>
            <a:ext cx="2377440" cy="960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lIns="88900" tIns="88900" rIns="88900" bIns="889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Commit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</a:t>
            </a:r>
            <a:endParaRPr lang="en-US" sz="1100" dirty="0"/>
          </a:p>
        </p:txBody>
      </p:sp>
      <p:sp>
        <p:nvSpPr>
          <p:cNvPr id="16" name="file-C2"/>
          <p:cNvSpPr/>
          <p:nvPr/>
        </p:nvSpPr>
        <p:spPr>
          <a:xfrm>
            <a:off x="3337560" y="2907792"/>
            <a:ext cx="2377440" cy="960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lIns="88900" tIns="88900" rIns="88900" bIns="889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Commit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2</a:t>
            </a:r>
            <a:endParaRPr lang="en-US" sz="1100" dirty="0"/>
          </a:p>
        </p:txBody>
      </p:sp>
      <p:sp>
        <p:nvSpPr>
          <p:cNvPr id="17" name="file-C3"/>
          <p:cNvSpPr/>
          <p:nvPr/>
        </p:nvSpPr>
        <p:spPr>
          <a:xfrm>
            <a:off x="6080760" y="2907792"/>
            <a:ext cx="2377440" cy="96012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/>
            </a:solidFill>
          </a:ln>
        </p:spPr>
        <p:txBody>
          <a:bodyPr wrap="square" lIns="88900" tIns="88900" rIns="88900" bIns="889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Commit 3  (실수!)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bug line</a:t>
            </a:r>
            <a:endParaRPr lang="en-US" sz="1100" dirty="0"/>
          </a:p>
        </p:txBody>
      </p:sp>
      <p:sp>
        <p:nvSpPr>
          <p:cNvPr id="18" name="file-C4"/>
          <p:cNvSpPr/>
          <p:nvPr/>
        </p:nvSpPr>
        <p:spPr>
          <a:xfrm>
            <a:off x="8823960" y="2907792"/>
            <a:ext cx="2377440" cy="96012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4"/>
            </a:solidFill>
          </a:ln>
        </p:spPr>
        <p:txBody>
          <a:bodyPr wrap="square" lIns="88900" tIns="88900" rIns="88900" bIns="889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Revert "Commit 3"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bug line</a:t>
            </a:r>
            <a:endParaRPr lang="en-US" sz="1100" dirty="0"/>
          </a:p>
        </p:txBody>
      </p:sp>
      <p:sp>
        <p:nvSpPr>
          <p:cNvPr id="19" name="text"/>
          <p:cNvSpPr txBox="1"/>
          <p:nvPr/>
        </p:nvSpPr>
        <p:spPr>
          <a:xfrm>
            <a:off x="685800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tx2"/>
                </a:solidFill>
              </a:rPr>
              <a:t>아래 상자 = 각 커밋 시점의 README.md 내용</a:t>
            </a:r>
            <a:endParaRPr lang="en-US" sz="1050" dirty="0"/>
          </a:p>
        </p:txBody>
      </p:sp>
      <p:sp>
        <p:nvSpPr>
          <p:cNvPr id="20" name="text"/>
          <p:cNvSpPr txBox="1"/>
          <p:nvPr/>
        </p:nvSpPr>
        <p:spPr>
          <a:xfrm>
            <a:off x="685800" y="39502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→ C4 의 파일 내용은 C2 와 같아지지만,  </a:t>
            </a:r>
            <a:r>
              <a:rPr lang="en-US" sz="1200" b="1" dirty="0">
                <a:solidFill>
                  <a:schemeClr val="tx1"/>
                </a:solidFill>
              </a:rPr>
              <a:t>C3 는 이력에서 지워지지 않고 그대로 남습니다.</a:t>
            </a:r>
            <a:endParaRPr lang="en-US" sz="1200" dirty="0"/>
          </a:p>
        </p:txBody>
      </p:sp>
      <p:sp>
        <p:nvSpPr>
          <p:cNvPr id="21" name="code-revert"/>
          <p:cNvSpPr/>
          <p:nvPr/>
        </p:nvSpPr>
        <p:spPr>
          <a:xfrm>
            <a:off x="457200" y="4462272"/>
            <a:ext cx="6583680" cy="150876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code-dot"/>
          <p:cNvSpPr/>
          <p:nvPr/>
        </p:nvSpPr>
        <p:spPr>
          <a:xfrm>
            <a:off x="621792" y="4599432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23" name="code-dot"/>
          <p:cNvSpPr/>
          <p:nvPr/>
        </p:nvSpPr>
        <p:spPr>
          <a:xfrm>
            <a:off x="786384" y="4599432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4" name="code-dot"/>
          <p:cNvSpPr/>
          <p:nvPr/>
        </p:nvSpPr>
        <p:spPr>
          <a:xfrm>
            <a:off x="950976" y="4599432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25" name="code-title"/>
          <p:cNvSpPr txBox="1"/>
          <p:nvPr/>
        </p:nvSpPr>
        <p:spPr>
          <a:xfrm>
            <a:off x="1170432" y="453542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</a:t>
            </a:r>
            <a:endParaRPr lang="en-US" sz="850" dirty="0"/>
          </a:p>
        </p:txBody>
      </p:sp>
      <p:sp>
        <p:nvSpPr>
          <p:cNvPr id="26" name="code-body-revert"/>
          <p:cNvSpPr txBox="1"/>
          <p:nvPr/>
        </p:nvSpPr>
        <p:spPr>
          <a:xfrm>
            <a:off x="685800" y="4846320"/>
            <a:ext cx="6172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revert HEAD</a:t>
            </a: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가장 최근 커밋(C3)을 되돌림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7a1d2e3] Revert "Commit 3"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7a1d2e3 (HEAD -&gt; main) Revert "Commit 3"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44fdf4c Commit 3</a:t>
            </a: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그대로 남아 있음</a:t>
            </a:r>
            <a:endParaRPr lang="en-US" sz="1050" dirty="0"/>
          </a:p>
        </p:txBody>
      </p:sp>
      <p:sp>
        <p:nvSpPr>
          <p:cNvPr id="27" name="callout-key"/>
          <p:cNvSpPr/>
          <p:nvPr/>
        </p:nvSpPr>
        <p:spPr>
          <a:xfrm>
            <a:off x="7269480" y="4462272"/>
            <a:ext cx="4462272" cy="150876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8" name="callout-text-key"/>
          <p:cNvSpPr txBox="1"/>
          <p:nvPr/>
        </p:nvSpPr>
        <p:spPr>
          <a:xfrm>
            <a:off x="7498080" y="4462272"/>
            <a:ext cx="4005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revert 는 커밋을 </a:t>
            </a:r>
            <a:r>
              <a:rPr lang="en-US" sz="1250" b="1" dirty="0">
                <a:solidFill>
                  <a:schemeClr val="tx1"/>
                </a:solidFill>
              </a:rPr>
              <a:t>지우지 않고</a:t>
            </a:r>
            <a:r>
              <a:rPr lang="en-US" sz="1250" dirty="0">
                <a:solidFill>
                  <a:schemeClr val="tx1"/>
                </a:solidFill>
              </a:rPr>
              <a:t>, 반대로 고친 새 커밋을 </a:t>
            </a:r>
            <a:r>
              <a:rPr lang="en-US" sz="1250" b="1" dirty="0">
                <a:solidFill>
                  <a:schemeClr val="tx1"/>
                </a:solidFill>
              </a:rPr>
              <a:t>추가</a:t>
            </a:r>
            <a:r>
              <a:rPr lang="en-US" sz="1250" dirty="0">
                <a:solidFill>
                  <a:schemeClr val="tx1"/>
                </a:solidFill>
              </a:rPr>
              <a:t>합니다. 이력이 바뀌지 않으므로 이미 push 한 main 에서도 안전하게 쓸 수 있습니다.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.5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6.5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reset vs revert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같은 "되돌리기"지만 이력을 다루는 방식이 정반대입니다.</a:t>
            </a:r>
            <a:endParaRPr lang="en-US" sz="1400" dirty="0"/>
          </a:p>
        </p:txBody>
      </p:sp>
      <p:sp>
        <p:nvSpPr>
          <p:cNvPr id="5" name="cmp-git reset"/>
          <p:cNvSpPr/>
          <p:nvPr/>
        </p:nvSpPr>
        <p:spPr>
          <a:xfrm>
            <a:off x="457200" y="1874520"/>
            <a:ext cx="5559552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"/>
          <p:cNvSpPr txBox="1"/>
          <p:nvPr/>
        </p:nvSpPr>
        <p:spPr>
          <a:xfrm>
            <a:off x="731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git reset</a:t>
            </a:r>
            <a:endParaRPr lang="en-US" sz="1800" dirty="0"/>
          </a:p>
        </p:txBody>
      </p:sp>
      <p:sp>
        <p:nvSpPr>
          <p:cNvPr id="7" name="text"/>
          <p:cNvSpPr txBox="1"/>
          <p:nvPr/>
        </p:nvSpPr>
        <p:spPr>
          <a:xfrm>
            <a:off x="73152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이력을 지움 (과거로 이동)</a:t>
            </a:r>
            <a:endParaRPr lang="en-US" sz="1200" dirty="0"/>
          </a:p>
        </p:txBody>
      </p:sp>
      <p:sp>
        <p:nvSpPr>
          <p:cNvPr id="8" name="edge"/>
          <p:cNvSpPr/>
          <p:nvPr/>
        </p:nvSpPr>
        <p:spPr>
          <a:xfrm>
            <a:off x="1097280" y="3108960"/>
            <a:ext cx="118872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9" name="edge"/>
          <p:cNvSpPr/>
          <p:nvPr/>
        </p:nvSpPr>
        <p:spPr>
          <a:xfrm>
            <a:off x="2286000" y="3108960"/>
            <a:ext cx="1188720" cy="914"/>
          </a:xfrm>
          <a:prstGeom prst="line">
            <a:avLst/>
          </a:prstGeom>
          <a:noFill/>
          <a:ln w="19050">
            <a:solidFill>
              <a:schemeClr val="accent1">
                <a:alpha val="40000"/>
              </a:schemeClr>
            </a:solidFill>
            <a:prstDash val="dash"/>
          </a:ln>
        </p:spPr>
      </p:sp>
      <p:sp>
        <p:nvSpPr>
          <p:cNvPr id="10" name="commit-a"/>
          <p:cNvSpPr/>
          <p:nvPr/>
        </p:nvSpPr>
        <p:spPr>
          <a:xfrm>
            <a:off x="905256" y="2916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1" name="commit-b"/>
          <p:cNvSpPr/>
          <p:nvPr/>
        </p:nvSpPr>
        <p:spPr>
          <a:xfrm>
            <a:off x="2093976" y="2916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2" name="commit-c"/>
          <p:cNvSpPr/>
          <p:nvPr/>
        </p:nvSpPr>
        <p:spPr>
          <a:xfrm>
            <a:off x="3282696" y="2916936"/>
            <a:ext cx="384048" cy="384048"/>
          </a:xfrm>
          <a:prstGeom prst="ellipse">
            <a:avLst/>
          </a:prstGeom>
          <a:solidFill>
            <a:schemeClr val="accent1">
              <a:alpha val="35000"/>
            </a:schemeClr>
          </a:solidFill>
          <a:ln w="12700">
            <a:solidFill>
              <a:schemeClr val="accent1">
                <a:alpha val="35000"/>
              </a:schemeClr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3" name="tag-main"/>
          <p:cNvSpPr/>
          <p:nvPr/>
        </p:nvSpPr>
        <p:spPr>
          <a:xfrm>
            <a:off x="1956816" y="350215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4" name="tag-arrow"/>
          <p:cNvSpPr/>
          <p:nvPr/>
        </p:nvSpPr>
        <p:spPr>
          <a:xfrm>
            <a:off x="2286000" y="330098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15" name="bullets"/>
          <p:cNvSpPr txBox="1"/>
          <p:nvPr/>
        </p:nvSpPr>
        <p:spPr>
          <a:xfrm>
            <a:off x="731520" y="40233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아직 push 하지 않은 내 커밋을 정리할 때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커밋이 이력에서 사라짐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공유한 뒤에 쓰면 동료의 이력과 어긋남</a:t>
            </a:r>
            <a:endParaRPr lang="en-US" sz="1200" dirty="0"/>
          </a:p>
        </p:txBody>
      </p:sp>
      <p:sp>
        <p:nvSpPr>
          <p:cNvPr id="16" name="cmp-git revert"/>
          <p:cNvSpPr/>
          <p:nvPr/>
        </p:nvSpPr>
        <p:spPr>
          <a:xfrm>
            <a:off x="6172200" y="1874520"/>
            <a:ext cx="5559552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"/>
          <p:cNvSpPr txBox="1"/>
          <p:nvPr/>
        </p:nvSpPr>
        <p:spPr>
          <a:xfrm>
            <a:off x="6446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4"/>
                </a:solidFill>
              </a:rPr>
              <a:t>git revert</a:t>
            </a:r>
            <a:endParaRPr lang="en-US" sz="1800" dirty="0"/>
          </a:p>
        </p:txBody>
      </p:sp>
      <p:sp>
        <p:nvSpPr>
          <p:cNvPr id="18" name="text"/>
          <p:cNvSpPr txBox="1"/>
          <p:nvPr/>
        </p:nvSpPr>
        <p:spPr>
          <a:xfrm>
            <a:off x="644652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이력을 추가 (반대 커밋)</a:t>
            </a:r>
            <a:endParaRPr lang="en-US" sz="1200" dirty="0"/>
          </a:p>
        </p:txBody>
      </p:sp>
      <p:sp>
        <p:nvSpPr>
          <p:cNvPr id="19" name="edge"/>
          <p:cNvSpPr/>
          <p:nvPr/>
        </p:nvSpPr>
        <p:spPr>
          <a:xfrm>
            <a:off x="6812280" y="3108960"/>
            <a:ext cx="118872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0" name="edge"/>
          <p:cNvSpPr/>
          <p:nvPr/>
        </p:nvSpPr>
        <p:spPr>
          <a:xfrm>
            <a:off x="8001000" y="3108960"/>
            <a:ext cx="118872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1" name="edge"/>
          <p:cNvSpPr/>
          <p:nvPr/>
        </p:nvSpPr>
        <p:spPr>
          <a:xfrm>
            <a:off x="9189720" y="3108960"/>
            <a:ext cx="118872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2" name="commit-a"/>
          <p:cNvSpPr/>
          <p:nvPr/>
        </p:nvSpPr>
        <p:spPr>
          <a:xfrm>
            <a:off x="6620256" y="2916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23" name="commit-b"/>
          <p:cNvSpPr/>
          <p:nvPr/>
        </p:nvSpPr>
        <p:spPr>
          <a:xfrm>
            <a:off x="7808976" y="2916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24" name="commit-c"/>
          <p:cNvSpPr/>
          <p:nvPr/>
        </p:nvSpPr>
        <p:spPr>
          <a:xfrm>
            <a:off x="8997696" y="2916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5" name="commit-d"/>
          <p:cNvSpPr/>
          <p:nvPr/>
        </p:nvSpPr>
        <p:spPr>
          <a:xfrm>
            <a:off x="10186416" y="291693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C3'</a:t>
            </a:r>
            <a:endParaRPr lang="en-US" sz="950" dirty="0"/>
          </a:p>
        </p:txBody>
      </p:sp>
      <p:sp>
        <p:nvSpPr>
          <p:cNvPr id="26" name="tag-main"/>
          <p:cNvSpPr/>
          <p:nvPr/>
        </p:nvSpPr>
        <p:spPr>
          <a:xfrm>
            <a:off x="10049256" y="350215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7" name="tag-arrow"/>
          <p:cNvSpPr/>
          <p:nvPr/>
        </p:nvSpPr>
        <p:spPr>
          <a:xfrm>
            <a:off x="10378440" y="330098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8" name="bullets"/>
          <p:cNvSpPr txBox="1"/>
          <p:nvPr/>
        </p:nvSpPr>
        <p:spPr>
          <a:xfrm>
            <a:off x="6446520" y="40233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이미 push 한 커밋을 되돌릴 때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되돌린 기록이 새 커밋으로 남음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동료에게 안전</a:t>
            </a:r>
            <a:endParaRPr lang="en-US" sz="1200" dirty="0"/>
          </a:p>
        </p:txBody>
      </p:sp>
      <p:sp>
        <p:nvSpPr>
          <p:cNvPr id="29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0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기억하기   </a:t>
            </a:r>
            <a:r>
              <a:rPr lang="en-US" sz="1250" b="1" dirty="0">
                <a:solidFill>
                  <a:schemeClr val="tx1"/>
                </a:solidFill>
              </a:rPr>
              <a:t>push 하기 전</a:t>
            </a:r>
            <a:r>
              <a:rPr lang="en-US" sz="1250" dirty="0">
                <a:solidFill>
                  <a:schemeClr val="tx1"/>
                </a:solidFill>
              </a:rPr>
              <a:t>이면 reset,  </a:t>
            </a:r>
            <a:r>
              <a:rPr lang="en-US" sz="1250" b="1" dirty="0">
                <a:solidFill>
                  <a:schemeClr val="tx1"/>
                </a:solidFill>
              </a:rPr>
              <a:t>push 한 후</a:t>
            </a:r>
            <a:r>
              <a:rPr lang="en-US" sz="1250" dirty="0">
                <a:solidFill>
                  <a:schemeClr val="tx1"/>
                </a:solidFill>
              </a:rPr>
              <a:t>면 revert.  공유된 이력은 지우지 말고, 되돌리는 커밋을 덧붙입니다.</a:t>
            </a:r>
            <a:endParaRPr lang="en-US" sz="12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7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stash — 하던 작업 잠시 치워두기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"긴급 버그 수정 요청!" — 그런데 지금 작업은 커밋하기엔 아직 미완성일 때 사용합니다.</a:t>
            </a:r>
            <a:endParaRPr lang="en-US" sz="1400" dirty="0"/>
          </a:p>
        </p:txBody>
      </p:sp>
      <p:sp>
        <p:nvSpPr>
          <p:cNvPr id="5" name="flow-0"/>
          <p:cNvSpPr/>
          <p:nvPr/>
        </p:nvSpPr>
        <p:spPr>
          <a:xfrm>
            <a:off x="457200" y="1874520"/>
            <a:ext cx="260604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"/>
          <p:cNvSpPr txBox="1"/>
          <p:nvPr/>
        </p:nvSpPr>
        <p:spPr>
          <a:xfrm>
            <a:off x="64008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작업 중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64008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devel 에서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로그인 화면 수정</a:t>
            </a:r>
            <a:endParaRPr lang="en-US" sz="1150" dirty="0"/>
          </a:p>
        </p:txBody>
      </p:sp>
      <p:sp>
        <p:nvSpPr>
          <p:cNvPr id="8" name="flow-arrow"/>
          <p:cNvSpPr/>
          <p:nvPr/>
        </p:nvSpPr>
        <p:spPr>
          <a:xfrm>
            <a:off x="3090672" y="2468880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low-1"/>
          <p:cNvSpPr/>
          <p:nvPr/>
        </p:nvSpPr>
        <p:spPr>
          <a:xfrm>
            <a:off x="3337560" y="1874520"/>
            <a:ext cx="260604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"/>
          <p:cNvSpPr txBox="1"/>
          <p:nvPr/>
        </p:nvSpPr>
        <p:spPr>
          <a:xfrm>
            <a:off x="352044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stash</a:t>
            </a:r>
            <a:endParaRPr lang="en-US" sz="1400" dirty="0"/>
          </a:p>
        </p:txBody>
      </p:sp>
      <p:sp>
        <p:nvSpPr>
          <p:cNvPr id="11" name="text"/>
          <p:cNvSpPr txBox="1"/>
          <p:nvPr/>
        </p:nvSpPr>
        <p:spPr>
          <a:xfrm>
            <a:off x="352044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수정 내용을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임시 보관함에</a:t>
            </a:r>
            <a:endParaRPr lang="en-US" sz="1150" dirty="0"/>
          </a:p>
        </p:txBody>
      </p:sp>
      <p:sp>
        <p:nvSpPr>
          <p:cNvPr id="12" name="flow-arrow"/>
          <p:cNvSpPr/>
          <p:nvPr/>
        </p:nvSpPr>
        <p:spPr>
          <a:xfrm>
            <a:off x="5971032" y="2468880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flow-2"/>
          <p:cNvSpPr/>
          <p:nvPr/>
        </p:nvSpPr>
        <p:spPr>
          <a:xfrm>
            <a:off x="6217920" y="1874520"/>
            <a:ext cx="260604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"/>
          <p:cNvSpPr txBox="1"/>
          <p:nvPr/>
        </p:nvSpPr>
        <p:spPr>
          <a:xfrm>
            <a:off x="640080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긴급 수정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640080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main 으로 전환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버그 수정 &amp; 커밋</a:t>
            </a:r>
            <a:endParaRPr lang="en-US" sz="1150" dirty="0"/>
          </a:p>
        </p:txBody>
      </p:sp>
      <p:sp>
        <p:nvSpPr>
          <p:cNvPr id="16" name="flow-arrow"/>
          <p:cNvSpPr/>
          <p:nvPr/>
        </p:nvSpPr>
        <p:spPr>
          <a:xfrm>
            <a:off x="8851392" y="2468880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flow-3"/>
          <p:cNvSpPr/>
          <p:nvPr/>
        </p:nvSpPr>
        <p:spPr>
          <a:xfrm>
            <a:off x="9098280" y="1874520"/>
            <a:ext cx="260604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"/>
          <p:cNvSpPr txBox="1"/>
          <p:nvPr/>
        </p:nvSpPr>
        <p:spPr>
          <a:xfrm>
            <a:off x="928116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stash pop</a:t>
            </a:r>
            <a:endParaRPr lang="en-US" sz="1400" dirty="0"/>
          </a:p>
        </p:txBody>
      </p:sp>
      <p:sp>
        <p:nvSpPr>
          <p:cNvPr id="19" name="text"/>
          <p:cNvSpPr txBox="1"/>
          <p:nvPr/>
        </p:nvSpPr>
        <p:spPr>
          <a:xfrm>
            <a:off x="928116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devel 로 돌아와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작업 내용 복원</a:t>
            </a:r>
            <a:endParaRPr lang="en-US" sz="1150" dirty="0"/>
          </a:p>
        </p:txBody>
      </p:sp>
      <p:sp>
        <p:nvSpPr>
          <p:cNvPr id="20" name="code-stash"/>
          <p:cNvSpPr/>
          <p:nvPr/>
        </p:nvSpPr>
        <p:spPr>
          <a:xfrm>
            <a:off x="457200" y="3291840"/>
            <a:ext cx="6949440" cy="1907438"/>
          </a:xfrm>
          <a:prstGeom prst="roundRect">
            <a:avLst>
              <a:gd name="adj" fmla="val 287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code-dot"/>
          <p:cNvSpPr/>
          <p:nvPr/>
        </p:nvSpPr>
        <p:spPr>
          <a:xfrm>
            <a:off x="621792" y="342900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22" name="code-dot"/>
          <p:cNvSpPr/>
          <p:nvPr/>
        </p:nvSpPr>
        <p:spPr>
          <a:xfrm>
            <a:off x="786384" y="342900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code-dot"/>
          <p:cNvSpPr/>
          <p:nvPr/>
        </p:nvSpPr>
        <p:spPr>
          <a:xfrm>
            <a:off x="950976" y="342900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</p:sp>
      <p:sp>
        <p:nvSpPr>
          <p:cNvPr id="24" name="code-title"/>
          <p:cNvSpPr txBox="1"/>
          <p:nvPr/>
        </p:nvSpPr>
        <p:spPr>
          <a:xfrm>
            <a:off x="1170432" y="33649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stash</a:t>
            </a:r>
            <a:endParaRPr lang="en-US" sz="850" dirty="0"/>
          </a:p>
        </p:txBody>
      </p:sp>
      <p:sp>
        <p:nvSpPr>
          <p:cNvPr id="25" name="code-body-stash"/>
          <p:cNvSpPr txBox="1"/>
          <p:nvPr/>
        </p:nvSpPr>
        <p:spPr>
          <a:xfrm>
            <a:off x="685800" y="3675888"/>
            <a:ext cx="6537960" cy="143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</a:t>
            </a:r>
            <a:r>
              <a:rPr lang="en-US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</a:t>
            </a:r>
            <a:r>
              <a:rPr lang="ko-KR" altLang="en-US" sz="1080" dirty="0" smtClean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변경 내용 보관</a:t>
            </a:r>
            <a:endParaRPr lang="en-US" sz="1080" dirty="0"/>
          </a:p>
          <a:p>
            <a:pPr marL="0" indent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r>
              <a:rPr lang="en-US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깨끗한 상태로 전환</a:t>
            </a:r>
            <a:endParaRPr lang="en-US" sz="1080" dirty="0"/>
          </a:p>
          <a:p>
            <a:pPr marL="0" indent="0">
              <a:lnSpc>
                <a:spcPts val="1426"/>
              </a:lnSpc>
              <a:buNone/>
            </a:pPr>
            <a:r>
              <a:rPr lang="en-US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... 긴급 수정 후 커밋 ...</a:t>
            </a:r>
            <a:endParaRPr lang="en-US" sz="1080" dirty="0"/>
          </a:p>
          <a:p>
            <a:pPr>
              <a:lnSpc>
                <a:spcPts val="1426"/>
              </a:lnSpc>
            </a:pPr>
            <a:r>
              <a:rPr lang="en-US" sz="1080" b="1" dirty="0" smtClean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80" b="1" dirty="0" err="1" smtClean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080" b="1" dirty="0" smtClean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</a:t>
            </a:r>
            <a:r>
              <a:rPr lang="en-US" sz="1080" b="1" dirty="0" err="1" smtClean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r>
              <a:rPr lang="en-US" sz="1080" b="1" dirty="0" smtClean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ko-KR" altLang="ko-KR" sz="1080" dirty="0" smtClean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ko-KR" altLang="ko-KR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원래 </a:t>
            </a:r>
            <a:r>
              <a:rPr lang="ko-KR" altLang="ko-KR" sz="1080" dirty="0" err="1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브랜치로</a:t>
            </a:r>
            <a:r>
              <a:rPr lang="ko-KR" altLang="ko-KR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ko-KR" altLang="ko-KR" sz="1080" dirty="0" smtClean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복귀</a:t>
            </a:r>
            <a:endParaRPr lang="en-US" sz="1080" dirty="0" smtClean="0"/>
          </a:p>
          <a:p>
            <a:pPr>
              <a:lnSpc>
                <a:spcPts val="1426"/>
              </a:lnSpc>
            </a:pPr>
            <a:r>
              <a:rPr lang="en-US" sz="1080" b="1" dirty="0" smtClean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</a:t>
            </a:r>
            <a:r>
              <a:rPr lang="en-US" sz="1080" b="1" dirty="0" smtClean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            </a:t>
            </a:r>
            <a:r>
              <a:rPr lang="ko-KR" altLang="ko-KR" sz="1080" dirty="0" smtClean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ko-KR" altLang="ko-KR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보관함 목록 </a:t>
            </a:r>
            <a:r>
              <a:rPr lang="ko-KR" altLang="ko-KR" sz="1080" dirty="0" smtClean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확인</a:t>
            </a:r>
            <a:endParaRPr lang="en-US" sz="1080" dirty="0"/>
          </a:p>
          <a:p>
            <a:pPr marL="0" indent="0">
              <a:lnSpc>
                <a:spcPts val="1426"/>
              </a:lnSpc>
              <a:buNone/>
            </a:pPr>
            <a:r>
              <a:rPr lang="en-US" sz="108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stash@{0}: WIP on devel: ...</a:t>
            </a:r>
            <a:endParaRPr lang="en-US" sz="1080" dirty="0"/>
          </a:p>
          <a:p>
            <a:pPr marL="0" indent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pop</a:t>
            </a:r>
            <a:r>
              <a:rPr lang="en-US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꺼내서 적용 + 목록에서 제거</a:t>
            </a:r>
            <a:endParaRPr lang="en-US" sz="1080" dirty="0"/>
          </a:p>
        </p:txBody>
      </p:sp>
      <p:sp>
        <p:nvSpPr>
          <p:cNvPr id="26" name="stash-card"/>
          <p:cNvSpPr/>
          <p:nvPr/>
        </p:nvSpPr>
        <p:spPr>
          <a:xfrm>
            <a:off x="7680960" y="3291840"/>
            <a:ext cx="4050792" cy="1828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"/>
          <p:cNvSpPr txBox="1"/>
          <p:nvPr/>
        </p:nvSpPr>
        <p:spPr>
          <a:xfrm>
            <a:off x="790956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기억할 명령 3개</a:t>
            </a:r>
            <a:endParaRPr lang="en-US" sz="1400" dirty="0"/>
          </a:p>
        </p:txBody>
      </p:sp>
      <p:sp>
        <p:nvSpPr>
          <p:cNvPr id="28" name="bullets"/>
          <p:cNvSpPr txBox="1"/>
          <p:nvPr/>
        </p:nvSpPr>
        <p:spPr>
          <a:xfrm>
            <a:off x="7909560" y="37947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r>
              <a:rPr lang="en-US" sz="1250" dirty="0">
                <a:solidFill>
                  <a:schemeClr val="tx1"/>
                </a:solidFill>
              </a:rPr>
              <a:t>  하던 작업 치워두기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list</a:t>
            </a:r>
            <a:r>
              <a:rPr lang="en-US" sz="1250" dirty="0">
                <a:solidFill>
                  <a:schemeClr val="tx1"/>
                </a:solidFill>
              </a:rPr>
              <a:t>  보관 목록 보기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r>
              <a:rPr lang="en-US" sz="1250" dirty="0">
                <a:solidFill>
                  <a:schemeClr val="tx1"/>
                </a:solidFill>
              </a:rPr>
              <a:t>  다시 꺼내기</a:t>
            </a:r>
            <a:endParaRPr lang="en-US" sz="1250" dirty="0"/>
          </a:p>
        </p:txBody>
      </p:sp>
      <p:sp>
        <p:nvSpPr>
          <p:cNvPr id="29" name="callout-tip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30" name="callout-text-tip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최신 팁   </a:t>
            </a:r>
            <a:r>
              <a:rPr lang="en-US" sz="1250" dirty="0">
                <a:solidFill>
                  <a:schemeClr val="tx1"/>
                </a:solidFill>
              </a:rPr>
              <a:t>메시지를 붙일 때는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push -m "..."</a:t>
            </a:r>
            <a:r>
              <a:rPr lang="en-US" sz="1250" dirty="0">
                <a:solidFill>
                  <a:schemeClr val="tx1"/>
                </a:solidFill>
              </a:rPr>
              <a:t> 를 사용하세요.</a:t>
            </a:r>
            <a:endParaRPr lang="en-US" sz="12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8"/>
          <p:cNvSpPr/>
          <p:nvPr/>
        </p:nvSpPr>
        <p:spPr>
          <a:xfrm>
            <a:off x="457200" y="329184"/>
            <a:ext cx="6858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실습: 브랜치 만들고 충돌 해결하기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branch-lab 저장소에서 아래 순서대로 진행하고, 단계마다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 --all</a:t>
            </a:r>
            <a:r>
              <a:rPr lang="en-US" sz="1400" dirty="0">
                <a:solidFill>
                  <a:schemeClr val="tx2"/>
                </a:solidFill>
              </a:rPr>
              <a:t> 로 그래프를 확인하세요.</a:t>
            </a:r>
            <a:endParaRPr lang="en-US" sz="1400" dirty="0"/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74552" cy="42245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실습 내용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준비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branch-lab 저장소 생성 → README.md 로 Commit 1~3 작성 (1.3)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브랜치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-c devel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login.txt 추가 → Commit 4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분기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main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README.md 수정 → Commit 5 → 그래프에서 갈라진 이력 확인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3-way 병합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main 에서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merge devel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병합 커밋(부모 2개) 확인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충돌 만들기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main·devel 각각에서 README.md 의 이메일 줄을 다르게 수정하고 커밋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충돌 해결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merge devel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마커 수정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add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 (한 번은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merge --abort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도 체험)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되돌리기 (revert)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revert HEAD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로 마지막 커밋 취소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log --oneline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으로 Revert 커밋이 추가된 것 확인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되돌리기 (reset)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새로 커밋 하나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reset --soft HEAD~1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로 커밋만 취소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status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로 staged 상태 확인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임시 저장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devel 에서 README.md 수정 중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stash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main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다시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devel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stash pop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정리 &amp; 공유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branch -d devel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GitHub 저장소 연결 후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push -u origin main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정리하기</a:t>
            </a:r>
            <a:endParaRPr lang="en-US" sz="3200" dirty="0"/>
          </a:p>
        </p:txBody>
      </p:sp>
      <p:sp>
        <p:nvSpPr>
          <p:cNvPr id="3" name="num-1-0.5-1.8"/>
          <p:cNvSpPr/>
          <p:nvPr/>
        </p:nvSpPr>
        <p:spPr>
          <a:xfrm>
            <a:off x="457200" y="1618488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" name="sum-1"/>
          <p:cNvSpPr txBox="1"/>
          <p:nvPr/>
        </p:nvSpPr>
        <p:spPr>
          <a:xfrm>
            <a:off x="1005840" y="154533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브랜치는 커밋을 가리키는 가벼운 포인터이고, HEAD 는 지금 작업 중인 브랜치를 가리킵니다.</a:t>
            </a:r>
            <a:endParaRPr lang="en-US" sz="1500" dirty="0"/>
          </a:p>
        </p:txBody>
      </p:sp>
      <p:sp>
        <p:nvSpPr>
          <p:cNvPr id="5" name="num-2-0.5-2.6"/>
          <p:cNvSpPr/>
          <p:nvPr/>
        </p:nvSpPr>
        <p:spPr>
          <a:xfrm>
            <a:off x="457200" y="2331720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sum-2"/>
          <p:cNvSpPr txBox="1"/>
          <p:nvPr/>
        </p:nvSpPr>
        <p:spPr>
          <a:xfrm>
            <a:off x="1005840" y="22585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</a:t>
            </a:r>
            <a:r>
              <a:rPr lang="en-US" sz="1500" dirty="0">
                <a:solidFill>
                  <a:schemeClr val="bg1"/>
                </a:solidFill>
              </a:rPr>
              <a:t> 로 만들고 전환하며, </a:t>
            </a: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 --all</a:t>
            </a:r>
            <a:r>
              <a:rPr lang="en-US" sz="1500" dirty="0">
                <a:solidFill>
                  <a:schemeClr val="bg1"/>
                </a:solidFill>
              </a:rPr>
              <a:t> 로 흐름을 확인합니다.</a:t>
            </a:r>
            <a:endParaRPr lang="en-US" sz="1500" dirty="0"/>
          </a:p>
        </p:txBody>
      </p:sp>
      <p:sp>
        <p:nvSpPr>
          <p:cNvPr id="7" name="num-3-0.5-3.3"/>
          <p:cNvSpPr/>
          <p:nvPr/>
        </p:nvSpPr>
        <p:spPr>
          <a:xfrm>
            <a:off x="457200" y="3044952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sum-3"/>
          <p:cNvSpPr txBox="1"/>
          <p:nvPr/>
        </p:nvSpPr>
        <p:spPr>
          <a:xfrm>
            <a:off x="1005840" y="2971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</a:t>
            </a:r>
            <a:r>
              <a:rPr lang="en-US" sz="1500" dirty="0">
                <a:solidFill>
                  <a:schemeClr val="bg1"/>
                </a:solidFill>
              </a:rPr>
              <a:t> 는 일직선이면 fast-forward, 갈라졌으면 3-way 병합(병합 커밋)으로 합칩니다.</a:t>
            </a:r>
            <a:endParaRPr lang="en-US" sz="1500" dirty="0"/>
          </a:p>
        </p:txBody>
      </p:sp>
      <p:sp>
        <p:nvSpPr>
          <p:cNvPr id="9" name="num-4-0.5-4.1"/>
          <p:cNvSpPr/>
          <p:nvPr/>
        </p:nvSpPr>
        <p:spPr>
          <a:xfrm>
            <a:off x="457200" y="3758184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sum-4"/>
          <p:cNvSpPr txBox="1"/>
          <p:nvPr/>
        </p:nvSpPr>
        <p:spPr>
          <a:xfrm>
            <a:off x="1005840" y="36850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충돌은 마커 수정 → </a:t>
            </a: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500" dirty="0">
                <a:solidFill>
                  <a:schemeClr val="bg1"/>
                </a:solidFill>
              </a:rPr>
              <a:t> → </a:t>
            </a: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r>
              <a:rPr lang="en-US" sz="1500" dirty="0">
                <a:solidFill>
                  <a:schemeClr val="bg1"/>
                </a:solidFill>
              </a:rPr>
              <a:t> 으로 해결하고, 포기할 땐 </a:t>
            </a: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--abort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  <a:endParaRPr lang="en-US" sz="1500" dirty="0"/>
          </a:p>
        </p:txBody>
      </p:sp>
      <p:sp>
        <p:nvSpPr>
          <p:cNvPr id="11" name="num-5-0.5-4.9"/>
          <p:cNvSpPr/>
          <p:nvPr/>
        </p:nvSpPr>
        <p:spPr>
          <a:xfrm>
            <a:off x="457200" y="4471416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2" name="sum-5"/>
          <p:cNvSpPr txBox="1"/>
          <p:nvPr/>
        </p:nvSpPr>
        <p:spPr>
          <a:xfrm>
            <a:off x="1005840" y="439826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공유 전 커밋은 amend / reset, 공유된 커밋은 revert 로 되돌리고, 하던 작업은 stash 로 임시 보관합니다.</a:t>
            </a:r>
            <a:endParaRPr lang="en-US" sz="1500" dirty="0"/>
          </a:p>
        </p:txBody>
      </p:sp>
      <p:sp>
        <p:nvSpPr>
          <p:cNvPr id="13" name="num-6-0.5-5.7"/>
          <p:cNvSpPr/>
          <p:nvPr/>
        </p:nvSpPr>
        <p:spPr>
          <a:xfrm>
            <a:off x="457200" y="5184648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4" name="sum-6"/>
          <p:cNvSpPr txBox="1"/>
          <p:nvPr/>
        </p:nvSpPr>
        <p:spPr>
          <a:xfrm>
            <a:off x="1005840" y="51114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다음 시간에는 fetch · pull, Pull Request, 협업 워크플로우(GitHub Flow)를 다룹니다.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 Course 2026">
  <a:themeElements>
    <a:clrScheme name="Git Course 2026">
      <a:dk1>
        <a:srgbClr val="1B1F24"/>
      </a:dk1>
      <a:lt1>
        <a:srgbClr val="FFFFFF"/>
      </a:lt1>
      <a:dk2>
        <a:srgbClr val="6B7280"/>
      </a:dk2>
      <a:lt2>
        <a:srgbClr val="F6F7F8"/>
      </a:lt2>
      <a:accent1>
        <a:srgbClr val="E0492B"/>
      </a:accent1>
      <a:accent2>
        <a:srgbClr val="0757BA"/>
      </a:accent2>
      <a:accent3>
        <a:srgbClr val="C67C1E"/>
      </a:accent3>
      <a:accent4>
        <a:srgbClr val="2E9E5B"/>
      </a:accent4>
      <a:accent5>
        <a:srgbClr val="E2E5E9"/>
      </a:accent5>
      <a:accent6>
        <a:srgbClr val="262B33"/>
      </a:accent6>
      <a:hlink>
        <a:srgbClr val="0757BA"/>
      </a:hlink>
      <a:folHlink>
        <a:srgbClr val="5B6470"/>
      </a:folHlink>
    </a:clrScheme>
    <a:fontScheme name="Git Course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3242</Words>
  <Application>Microsoft Office PowerPoint</Application>
  <PresentationFormat>와이드스크린</PresentationFormat>
  <Paragraphs>652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Arial</vt:lpstr>
      <vt:lpstr>Calibri</vt:lpstr>
      <vt:lpstr>Courier New</vt:lpstr>
      <vt:lpstr>Git Course 2026</vt:lpstr>
      <vt:lpstr>Git &amp; GitHub —  브랜치와 병합</vt:lpstr>
      <vt:lpstr>목차</vt:lpstr>
      <vt:lpstr>브랜치(Branch)란?</vt:lpstr>
      <vt:lpstr>브랜치와 HEAD — 이름표와 현재 위치</vt:lpstr>
      <vt:lpstr>실습 준비 — 커밋 3개 만들기</vt:lpstr>
      <vt:lpstr>git branch — 브랜치 만들기 · 목록 보기</vt:lpstr>
      <vt:lpstr>git switch — 브랜치 전환하기</vt:lpstr>
      <vt:lpstr>devel 브랜치에서 작업하고 커밋하기</vt:lpstr>
      <vt:lpstr>main 으로 돌아와 커밋하기 — 이력이 갈라짐</vt:lpstr>
      <vt:lpstr>브랜치 이력을 그래프로 보기</vt:lpstr>
      <vt:lpstr>병합(Merge)의 두 가지 방식</vt:lpstr>
      <vt:lpstr>Fast-forward 병합 vs --no-ff</vt:lpstr>
      <vt:lpstr>3-way 병합 — 병합 커밋 만들기</vt:lpstr>
      <vt:lpstr>병합 충돌(Merge Conflict)은 언제 생기나?</vt:lpstr>
      <vt:lpstr>충돌 마커(Conflict Marker) 읽는 법</vt:lpstr>
      <vt:lpstr>충돌 해결 4단계</vt:lpstr>
      <vt:lpstr>병합된 브랜치 정리하기</vt:lpstr>
      <vt:lpstr>브랜치도 GitHub 에 올릴 수 있다</vt:lpstr>
      <vt:lpstr>git commit --amend — 직전 커밋 고치기</vt:lpstr>
      <vt:lpstr>되돌리기 명령 한눈에 보기</vt:lpstr>
      <vt:lpstr>git reset 의 세 가지 모드</vt:lpstr>
      <vt:lpstr>git revert — 이력을 남기며 되돌리기</vt:lpstr>
      <vt:lpstr>reset vs revert</vt:lpstr>
      <vt:lpstr>git stash — 하던 작업 잠시 치워두기</vt:lpstr>
      <vt:lpstr>실습: 브랜치 만들고 충돌 해결하기</vt:lpstr>
      <vt:lpstr>정리하기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Branch</dc:title>
  <dc:subject>PptxGenJS Presentation</dc:subject>
  <dc:creator>Git &amp; GitHub 강의</dc:creator>
  <cp:lastModifiedBy>Hansung</cp:lastModifiedBy>
  <cp:revision>3</cp:revision>
  <dcterms:created xsi:type="dcterms:W3CDTF">2026-10-04T09:28:15Z</dcterms:created>
  <dcterms:modified xsi:type="dcterms:W3CDTF">2026-10-08T09:10:13Z</dcterms:modified>
</cp:coreProperties>
</file>