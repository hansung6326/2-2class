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84" r:id="rId7"/>
    <p:sldId id="285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6" r:id="rId18"/>
    <p:sldId id="273" r:id="rId19"/>
    <p:sldId id="274" r:id="rId20"/>
    <p:sldId id="275" r:id="rId21"/>
    <p:sldId id="276" r:id="rId22"/>
    <p:sldId id="287" r:id="rId23"/>
    <p:sldId id="277" r:id="rId24"/>
    <p:sldId id="278" r:id="rId25"/>
    <p:sldId id="282" r:id="rId26"/>
    <p:sldId id="283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15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8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04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72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93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500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7" name="Shape 5"/>
          <p:cNvSpPr/>
          <p:nvPr/>
        </p:nvSpPr>
        <p:spPr>
          <a:xfrm>
            <a:off x="9710928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8" name="Shape 6"/>
          <p:cNvSpPr/>
          <p:nvPr/>
        </p:nvSpPr>
        <p:spPr>
          <a:xfrm>
            <a:off x="9710928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9" name="Shape 7"/>
          <p:cNvSpPr/>
          <p:nvPr/>
        </p:nvSpPr>
        <p:spPr>
          <a:xfrm>
            <a:off x="9710928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0" name="Shape 8"/>
          <p:cNvSpPr/>
          <p:nvPr/>
        </p:nvSpPr>
        <p:spPr>
          <a:xfrm>
            <a:off x="10003536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1" name="Shape 9"/>
          <p:cNvSpPr/>
          <p:nvPr/>
        </p:nvSpPr>
        <p:spPr>
          <a:xfrm>
            <a:off x="10003536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03536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3536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96144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96144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96144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96144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88752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88752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88752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88752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81360" y="4480560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81360" y="4773168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81360" y="5065776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81360" y="5358384"/>
            <a:ext cx="45720" cy="45720"/>
          </a:xfrm>
          <a:prstGeom prst="ellipse">
            <a:avLst/>
          </a:prstGeom>
          <a:solidFill>
            <a:srgbClr val="262B33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19659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GIT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468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— 기초</a:t>
            </a:r>
            <a:endParaRPr lang="en-US" sz="46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5204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0A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 시스템(VCS)의 이해와 Git 기본 워크플로우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640080" cy="457200"/>
          </a:xfrm>
          <a:prstGeom prst="roundRect">
            <a:avLst>
              <a:gd name="adj" fmla="val 18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45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(Version Control System)란?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67712"/>
            <a:ext cx="640080" cy="457200"/>
          </a:xfrm>
          <a:prstGeom prst="roundRect">
            <a:avLst>
              <a:gd name="adj" fmla="val 18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677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2677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소개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89504"/>
            <a:ext cx="640080" cy="457200"/>
          </a:xfrm>
          <a:prstGeom prst="roundRect">
            <a:avLst>
              <a:gd name="adj" fmla="val 18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895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895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설치와 기본 설정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640080" cy="457200"/>
          </a:xfrm>
          <a:prstGeom prst="roundRect">
            <a:avLst>
              <a:gd name="adj" fmla="val 18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5112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1129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기본 워크플로우 (add · commit · log)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33088"/>
            <a:ext cx="640080" cy="457200"/>
          </a:xfrm>
          <a:prstGeom prst="roundRect">
            <a:avLst>
              <a:gd name="adj" fmla="val 18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133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1330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.gitignore로 특정 파일 제외하기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640080" cy="457200"/>
          </a:xfrm>
          <a:prstGeom prst="roundRect">
            <a:avLst>
              <a:gd name="adj" fmla="val 18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754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757547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나만의 첫 Git 저장소 만들기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(Version Control System)란?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 코드의 모든 </a:t>
            </a:r>
            <a:r>
              <a:rPr lang="en-US" sz="14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</a:t>
            </a:r>
            <a:r>
              <a:rPr lang="en-US" sz="1450" u="sng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</a:t>
            </a:r>
            <a:r>
              <a:rPr lang="en-US" sz="14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</a:t>
            </a: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</a:t>
            </a: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(Repository)</a:t>
            </a:r>
            <a:r>
              <a:rPr lang="ko-KR" alt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</a:t>
            </a: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기록하고 관리하는 시스템입니다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파일이 바뀔 때마다의 기록을 "커밋(commit)"이라는 단위로 로그에 남깁니다.</a:t>
            </a:r>
            <a:endParaRPr lang="en-US" sz="14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덕분에 </a:t>
            </a:r>
            <a:r>
              <a:rPr lang="en-US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원하는</a:t>
            </a: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시점의</a:t>
            </a: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파일 상태로 언제든 되돌아갈 수 </a:t>
            </a:r>
            <a:r>
              <a:rPr lang="en-US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</a:t>
            </a: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ct val="135000"/>
              </a:lnSpc>
              <a:buSzPct val="100000"/>
              <a:buFontTx/>
              <a:buChar char="•"/>
            </a:pP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(branch)를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만들면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코드에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영향을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주지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않고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기능을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독립적으로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개발할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 </a:t>
            </a:r>
            <a:r>
              <a:rPr lang="en-US" altLang="ko-KR" sz="14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</a:t>
            </a:r>
            <a:r>
              <a:rPr lang="en-US" altLang="ko-KR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altLang="ko-KR" sz="1450" dirty="0"/>
          </a:p>
        </p:txBody>
      </p:sp>
      <p:sp>
        <p:nvSpPr>
          <p:cNvPr id="23" name="Shape 21"/>
          <p:cNvSpPr/>
          <p:nvPr/>
        </p:nvSpPr>
        <p:spPr>
          <a:xfrm>
            <a:off x="457200" y="525780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FBE9E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5257800"/>
            <a:ext cx="10863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점이 하나의 커밋(commit)입니다.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브랜치는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독립적인 작업 흐름을 만들고, 필요할 때 다시 </a:t>
            </a: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main으로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병합될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(merge) 수 </a:t>
            </a: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있습니다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Shape 7"/>
          <p:cNvSpPr/>
          <p:nvPr/>
        </p:nvSpPr>
        <p:spPr>
          <a:xfrm>
            <a:off x="1188720" y="4297680"/>
            <a:ext cx="9326880" cy="0"/>
          </a:xfrm>
          <a:prstGeom prst="line">
            <a:avLst/>
          </a:prstGeom>
          <a:noFill/>
          <a:ln w="38100">
            <a:solidFill>
              <a:srgbClr val="262B33"/>
            </a:solidFill>
            <a:prstDash val="solid"/>
          </a:ln>
        </p:spPr>
      </p:sp>
      <p:sp>
        <p:nvSpPr>
          <p:cNvPr id="26" name="Shape 8"/>
          <p:cNvSpPr/>
          <p:nvPr/>
        </p:nvSpPr>
        <p:spPr>
          <a:xfrm>
            <a:off x="1545336" y="419709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9"/>
          <p:cNvSpPr/>
          <p:nvPr/>
        </p:nvSpPr>
        <p:spPr>
          <a:xfrm>
            <a:off x="3191256" y="419709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10"/>
          <p:cNvSpPr/>
          <p:nvPr/>
        </p:nvSpPr>
        <p:spPr>
          <a:xfrm>
            <a:off x="4837176" y="419709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11"/>
          <p:cNvSpPr/>
          <p:nvPr/>
        </p:nvSpPr>
        <p:spPr>
          <a:xfrm>
            <a:off x="8129016" y="419709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12"/>
          <p:cNvSpPr/>
          <p:nvPr/>
        </p:nvSpPr>
        <p:spPr>
          <a:xfrm>
            <a:off x="9957816" y="4197096"/>
            <a:ext cx="201168" cy="201168"/>
          </a:xfrm>
          <a:prstGeom prst="ellipse">
            <a:avLst/>
          </a:prstGeom>
          <a:solidFill>
            <a:srgbClr val="E04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13"/>
          <p:cNvSpPr txBox="1"/>
          <p:nvPr/>
        </p:nvSpPr>
        <p:spPr>
          <a:xfrm>
            <a:off x="118872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branch</a:t>
            </a:r>
            <a:endParaRPr lang="en-US" sz="1200" dirty="0"/>
          </a:p>
        </p:txBody>
      </p:sp>
      <p:sp>
        <p:nvSpPr>
          <p:cNvPr id="33" name="Shape 15"/>
          <p:cNvSpPr/>
          <p:nvPr/>
        </p:nvSpPr>
        <p:spPr>
          <a:xfrm>
            <a:off x="3291840" y="3429000"/>
            <a:ext cx="4754880" cy="0"/>
          </a:xfrm>
          <a:prstGeom prst="line">
            <a:avLst/>
          </a:prstGeom>
          <a:noFill/>
          <a:ln w="38100">
            <a:solidFill>
              <a:srgbClr val="0969DA"/>
            </a:solidFill>
            <a:prstDash val="solid"/>
          </a:ln>
        </p:spPr>
      </p:sp>
      <p:sp>
        <p:nvSpPr>
          <p:cNvPr id="34" name="Shape 16"/>
          <p:cNvSpPr/>
          <p:nvPr/>
        </p:nvSpPr>
        <p:spPr>
          <a:xfrm>
            <a:off x="8046720" y="3429000"/>
            <a:ext cx="150380" cy="768096"/>
          </a:xfrm>
          <a:prstGeom prst="line">
            <a:avLst/>
          </a:prstGeom>
          <a:noFill/>
          <a:ln w="31750">
            <a:solidFill>
              <a:srgbClr val="0969DA"/>
            </a:solidFill>
            <a:prstDash val="dash"/>
            <a:tailEnd type="triangle" w="med" len="med"/>
          </a:ln>
        </p:spPr>
      </p:sp>
      <p:sp>
        <p:nvSpPr>
          <p:cNvPr id="35" name="Shape 17"/>
          <p:cNvSpPr/>
          <p:nvPr/>
        </p:nvSpPr>
        <p:spPr>
          <a:xfrm>
            <a:off x="4014216" y="3328416"/>
            <a:ext cx="201168" cy="201168"/>
          </a:xfrm>
          <a:prstGeom prst="ellipse">
            <a:avLst/>
          </a:prstGeom>
          <a:solidFill>
            <a:srgbClr val="0969D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18"/>
          <p:cNvSpPr/>
          <p:nvPr/>
        </p:nvSpPr>
        <p:spPr>
          <a:xfrm>
            <a:off x="4928616" y="3328416"/>
            <a:ext cx="201168" cy="201168"/>
          </a:xfrm>
          <a:prstGeom prst="ellipse">
            <a:avLst/>
          </a:prstGeom>
          <a:solidFill>
            <a:srgbClr val="0969D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19"/>
          <p:cNvSpPr txBox="1"/>
          <p:nvPr/>
        </p:nvSpPr>
        <p:spPr>
          <a:xfrm>
            <a:off x="32918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branch</a:t>
            </a:r>
            <a:endParaRPr lang="en-US" sz="1200" dirty="0"/>
          </a:p>
        </p:txBody>
      </p:sp>
      <p:sp>
        <p:nvSpPr>
          <p:cNvPr id="38" name="Text 20"/>
          <p:cNvSpPr txBox="1"/>
          <p:nvPr/>
        </p:nvSpPr>
        <p:spPr>
          <a:xfrm>
            <a:off x="4584840" y="4498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400" dirty="0"/>
          </a:p>
        </p:txBody>
      </p:sp>
      <p:sp>
        <p:nvSpPr>
          <p:cNvPr id="39" name="Text 23"/>
          <p:cNvSpPr txBox="1"/>
          <p:nvPr/>
        </p:nvSpPr>
        <p:spPr>
          <a:xfrm>
            <a:off x="3441840" y="37261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branch (main에서 분기)</a:t>
            </a:r>
            <a:endParaRPr lang="en-US" sz="1100" dirty="0"/>
          </a:p>
        </p:txBody>
      </p:sp>
      <p:sp>
        <p:nvSpPr>
          <p:cNvPr id="40" name="Text 24"/>
          <p:cNvSpPr txBox="1"/>
          <p:nvPr/>
        </p:nvSpPr>
        <p:spPr>
          <a:xfrm>
            <a:off x="8320000" y="3726180"/>
            <a:ext cx="16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1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r>
              <a:rPr lang="en-US" altLang="ko-KR" sz="110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(main으로 병합) </a:t>
            </a:r>
            <a:endParaRPr lang="en-US" sz="1100" dirty="0"/>
          </a:p>
        </p:txBody>
      </p:sp>
      <p:sp>
        <p:nvSpPr>
          <p:cNvPr id="41" name="Shape 16"/>
          <p:cNvSpPr/>
          <p:nvPr/>
        </p:nvSpPr>
        <p:spPr>
          <a:xfrm flipH="1" flipV="1">
            <a:off x="3291459" y="3428617"/>
            <a:ext cx="0" cy="768096"/>
          </a:xfrm>
          <a:prstGeom prst="line">
            <a:avLst/>
          </a:prstGeom>
          <a:noFill/>
          <a:ln w="31750">
            <a:solidFill>
              <a:srgbClr val="0969DA"/>
            </a:solidFill>
            <a:prstDash val="dash"/>
            <a:tailEnd type="triangle" w="med" len="me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없이 작업한다면?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 관리 없이 파일을 관리하면 이렇게 되기 쉽습니다.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없이 (파일 여러 개)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4892040" cy="548640"/>
          </a:xfrm>
          <a:prstGeom prst="roundRect">
            <a:avLst>
              <a:gd name="adj" fmla="val 15000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report_final.docx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4892040" cy="548640"/>
          </a:xfrm>
          <a:prstGeom prst="roundRect">
            <a:avLst>
              <a:gd name="adj" fmla="val 15000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703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report_final_v2.docx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4892040" cy="548640"/>
          </a:xfrm>
          <a:prstGeom prst="roundRect">
            <a:avLst>
              <a:gd name="adj" fmla="val 15000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report_final_REALLY_final.docx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49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파일이 최신인지, 무엇이 왜 바뀌었는지 알기 어렵습니다.</a:t>
            </a:r>
            <a:endParaRPr lang="en-US" sz="1200" dirty="0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CC5EE4DB-DB1A-4D0D-9CAF-BB13144DD032}"/>
              </a:ext>
            </a:extLst>
          </p:cNvPr>
          <p:cNvSpPr/>
          <p:nvPr/>
        </p:nvSpPr>
        <p:spPr>
          <a:xfrm>
            <a:off x="6172200" y="210312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BE2AF526-3F7C-444C-BDFD-5A9BA762042B}"/>
              </a:ext>
            </a:extLst>
          </p:cNvPr>
          <p:cNvSpPr txBox="1"/>
          <p:nvPr/>
        </p:nvSpPr>
        <p:spPr>
          <a:xfrm>
            <a:off x="64465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사용 시 (파일 1개 + 커밋 이력)</a:t>
            </a:r>
            <a:endParaRPr lang="en-US" sz="150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98D8A782-2042-4134-98AC-E223FEDA5492}"/>
              </a:ext>
            </a:extLst>
          </p:cNvPr>
          <p:cNvSpPr/>
          <p:nvPr/>
        </p:nvSpPr>
        <p:spPr>
          <a:xfrm>
            <a:off x="6446520" y="2926080"/>
            <a:ext cx="4892040" cy="502920"/>
          </a:xfrm>
          <a:prstGeom prst="roundRect">
            <a:avLst>
              <a:gd name="adj" fmla="val 16364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94F2D364-7329-4472-924D-11280F97B0C3}"/>
              </a:ext>
            </a:extLst>
          </p:cNvPr>
          <p:cNvSpPr txBox="1"/>
          <p:nvPr/>
        </p:nvSpPr>
        <p:spPr>
          <a:xfrm>
            <a:off x="662940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report.docx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(최신 버전, v3)</a:t>
            </a:r>
            <a:endParaRPr lang="en-US" sz="1300" dirty="0"/>
          </a:p>
        </p:txBody>
      </p:sp>
      <p:sp>
        <p:nvSpPr>
          <p:cNvPr id="52" name="Shape 40">
            <a:extLst>
              <a:ext uri="{FF2B5EF4-FFF2-40B4-BE49-F238E27FC236}">
                <a16:creationId xmlns:a16="http://schemas.microsoft.com/office/drawing/2014/main" id="{B994F681-DB9E-4B49-92F2-9EE13858BF09}"/>
              </a:ext>
            </a:extLst>
          </p:cNvPr>
          <p:cNvSpPr/>
          <p:nvPr/>
        </p:nvSpPr>
        <p:spPr>
          <a:xfrm>
            <a:off x="6446520" y="3614999"/>
            <a:ext cx="4892040" cy="1748171"/>
          </a:xfrm>
          <a:prstGeom prst="roundRect">
            <a:avLst>
              <a:gd name="adj" fmla="val 6000"/>
            </a:avLst>
          </a:prstGeom>
          <a:solidFill>
            <a:srgbClr val="EEF1F5"/>
          </a:solidFill>
          <a:ln w="12700">
            <a:solidFill>
              <a:srgbClr val="E2E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E4F56799-3BB3-4EAA-BD74-64A10D1D2216}"/>
              </a:ext>
            </a:extLst>
          </p:cNvPr>
          <p:cNvSpPr txBox="1"/>
          <p:nvPr/>
        </p:nvSpPr>
        <p:spPr>
          <a:xfrm>
            <a:off x="6629400" y="3787565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</a:t>
            </a:r>
            <a:endParaRPr lang="en-US" sz="1200" dirty="0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09A02E40-2FCA-47E0-AAB4-16F611D5AED8}"/>
              </a:ext>
            </a:extLst>
          </p:cNvPr>
          <p:cNvSpPr txBox="1"/>
          <p:nvPr/>
        </p:nvSpPr>
        <p:spPr>
          <a:xfrm>
            <a:off x="7196328" y="378756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"결론 챕터 보강"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8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결론 문단 2개 추가</a:t>
            </a:r>
            <a:endParaRPr lang="en-US" sz="105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1D185FEC-2DA9-4B5E-AAE1-67099073EB08}"/>
              </a:ext>
            </a:extLst>
          </p:cNvPr>
          <p:cNvSpPr txBox="1"/>
          <p:nvPr/>
        </p:nvSpPr>
        <p:spPr>
          <a:xfrm>
            <a:off x="6629400" y="4319397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200" dirty="0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2DB17CD2-8649-4E5C-A900-929A4E411527}"/>
              </a:ext>
            </a:extLst>
          </p:cNvPr>
          <p:cNvSpPr txBox="1"/>
          <p:nvPr/>
        </p:nvSpPr>
        <p:spPr>
          <a:xfrm>
            <a:off x="7196328" y="431939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"표 3개 추가"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8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비교표, 매출표, 일정표 삽입</a:t>
            </a:r>
            <a:endParaRPr lang="en-US" sz="105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89BB5FB4-BD2C-4877-B3E0-C18D40C78D21}"/>
              </a:ext>
            </a:extLst>
          </p:cNvPr>
          <p:cNvSpPr txBox="1"/>
          <p:nvPr/>
        </p:nvSpPr>
        <p:spPr>
          <a:xfrm>
            <a:off x="6629400" y="48935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E04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20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83A7E30B-4505-4D60-B838-570E8C193983}"/>
              </a:ext>
            </a:extLst>
          </p:cNvPr>
          <p:cNvSpPr txBox="1"/>
          <p:nvPr/>
        </p:nvSpPr>
        <p:spPr>
          <a:xfrm>
            <a:off x="7196328" y="489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"초안 작성"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F88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전체 내용 최초 작성</a:t>
            </a:r>
            <a:endParaRPr lang="en-US" sz="1050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CE9BB2C7-5FAB-494B-A03E-FCC7AFF75743}"/>
              </a:ext>
            </a:extLst>
          </p:cNvPr>
          <p:cNvSpPr txBox="1"/>
          <p:nvPr/>
        </p:nvSpPr>
        <p:spPr>
          <a:xfrm>
            <a:off x="6446520" y="536317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파일은 단 </a:t>
            </a:r>
            <a:r>
              <a:rPr lang="en-US" altLang="ko-KR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개만 유지하고</a:t>
            </a:r>
            <a:r>
              <a:rPr lang="en-US" altLang="ko-KR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</a:t>
            </a:r>
            <a:r>
              <a:rPr lang="ko-KR" alt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메시지와 </a:t>
            </a:r>
            <a:r>
              <a:rPr lang="ko-KR" altLang="en-US" sz="12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버전별</a:t>
            </a:r>
            <a:r>
              <a:rPr lang="ko-KR" alt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스냅샷(전체 내용)은 </a:t>
            </a:r>
            <a:r>
              <a:rPr lang="en-US" altLang="ko-KR" sz="12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ko-KR" alt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별도로 기록합니다</a:t>
            </a: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77F5B4BE-63B8-41F1-8248-984E547FF255}"/>
              </a:ext>
            </a:extLst>
          </p:cNvPr>
          <p:cNvSpPr txBox="1"/>
          <p:nvPr/>
        </p:nvSpPr>
        <p:spPr>
          <a:xfrm>
            <a:off x="6629400" y="36195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</a:t>
            </a:r>
            <a:endParaRPr lang="en-US" sz="900" dirty="0"/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76D3D77F-B66B-44D2-B60D-F0F7F6A282F6}"/>
              </a:ext>
            </a:extLst>
          </p:cNvPr>
          <p:cNvSpPr txBox="1"/>
          <p:nvPr/>
        </p:nvSpPr>
        <p:spPr>
          <a:xfrm>
            <a:off x="7196328" y="36195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메시지 (</a:t>
            </a:r>
            <a:r>
              <a:rPr lang="en-US" sz="9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요약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VCS를 사용하는가?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2194560"/>
            <a:ext cx="731520" cy="7315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00200" y="2103120"/>
            <a:ext cx="9692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874520" y="22402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63347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변경 실수나 디스크 손상에 대비한 백업 역할을 합니다.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94360" y="3566160"/>
            <a:ext cx="731520" cy="7315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00200" y="3474720"/>
            <a:ext cx="9692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874520" y="36118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 관리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00507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과거 </a:t>
            </a:r>
            <a:r>
              <a:rPr lang="en-US" sz="128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버전을</a:t>
            </a: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8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아카이브로</a:t>
            </a: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보관 — 필요하면 특정 시점으로 되돌릴 수 있습니다.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94360" y="4937760"/>
            <a:ext cx="731520" cy="731520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937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00200" y="4846320"/>
            <a:ext cx="96926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874520" y="49834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537667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사람이 동시에 작업해도 변경 사항을 안전하게 통합할 수 있는 프로젝트 관리 도구입니다.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중앙집중형 VCS (Centralized)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CVS, Subversion(SVN)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1784985"/>
            <a:ext cx="1371600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1784985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서버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13785"/>
            <a:ext cx="1280160" cy="777240"/>
          </a:xfrm>
          <a:prstGeom prst="roundRect">
            <a:avLst>
              <a:gd name="adj" fmla="val 10588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613785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1097280" y="2699385"/>
            <a:ext cx="5074920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85616" y="3613785"/>
            <a:ext cx="1280160" cy="777240"/>
          </a:xfrm>
          <a:prstGeom prst="roundRect">
            <a:avLst>
              <a:gd name="adj" fmla="val 10588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85616" y="3613785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4425696" y="2699385"/>
            <a:ext cx="1746504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23176" y="3613785"/>
            <a:ext cx="1280160" cy="777240"/>
          </a:xfrm>
          <a:prstGeom prst="roundRect">
            <a:avLst>
              <a:gd name="adj" fmla="val 10588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23176" y="3613785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6172200" y="2699385"/>
            <a:ext cx="1591056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51592" y="3613785"/>
            <a:ext cx="1280160" cy="777240"/>
          </a:xfrm>
          <a:prstGeom prst="roundRect">
            <a:avLst>
              <a:gd name="adj" fmla="val 10588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51592" y="3613785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 flipV="1">
            <a:off x="6172200" y="2699385"/>
            <a:ext cx="4919472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89831"/>
              </p:ext>
            </p:extLst>
          </p:nvPr>
        </p:nvGraphicFramePr>
        <p:xfrm>
          <a:off x="457200" y="4665345"/>
          <a:ext cx="11274552" cy="1463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6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특징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6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하나의 중앙 서버가 모든 버전 정보를 보관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클라이언트는 필요할 때 서버에서 파일을 내려받음(checkout)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서버가 다운되면 아무도 협업을 진행할 수 없음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07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분산형 VCS (Distributed)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Git, Mercurial — 오늘날 사실상 표준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0" y="219456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1B1F24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0233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(전체 사본)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V="1">
            <a:off x="1325880" y="3108960"/>
            <a:ext cx="4754880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39312" y="402336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39312" y="40233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(전체 사본)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4507992" y="3108960"/>
            <a:ext cx="1572768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812280" y="402336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40233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(전체 사본)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6080760" y="3108960"/>
            <a:ext cx="1600200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94392" y="4023360"/>
            <a:ext cx="1737360" cy="1051560"/>
          </a:xfrm>
          <a:prstGeom prst="roundRect">
            <a:avLst>
              <a:gd name="adj" fmla="val 7826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94392" y="40233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(전체 사본)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 flipV="1">
            <a:off x="6080760" y="3108960"/>
            <a:ext cx="4782312" cy="9144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BE9E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5394960"/>
            <a:ext cx="10863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 err="1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사용자가 전체 버전 이력이 담긴 저장소를 통째로 복사해 갖고 있습니다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서버가 잠시 멈춰도 로컬에서 </a:t>
            </a:r>
            <a:r>
              <a:rPr lang="ko-KR" alt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 등 대부분의 작업을 계속할 수 있고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원격 저장소와 다시 동기화해 자신의 변경 사항을 공유할 수 있습니다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50052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소개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66751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22860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286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2005년, 리누스 토르발스(Linus Torvalds)가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리눅스</a:t>
            </a: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커널 개발을 지원하기 위해 설계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 버전 관리 시스템 (Distributed VCS)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14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https://git-scm.com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29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5029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GitLab 등 대부분의 코드 호스팅 플랫폼이 Git 기반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640" y="2011680"/>
            <a:ext cx="4325112" cy="4114800"/>
          </a:xfrm>
          <a:prstGeom prst="roundRect">
            <a:avLst>
              <a:gd name="adj" fmla="val 2000"/>
            </a:avLst>
          </a:prstGeom>
          <a:solidFill>
            <a:srgbClr val="1B1F24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3200400"/>
            <a:ext cx="4325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0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4663440"/>
            <a:ext cx="3959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stupid content tracker"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Linus Torvalds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Git의 저장 방식: Snapshot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Git은 변경 사항이 아니라, 매 커밋마다 전체 상태의 "스냅샷"을 저장합니다.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8031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2" name="Shape 6"/>
          <p:cNvSpPr/>
          <p:nvPr/>
        </p:nvSpPr>
        <p:spPr>
          <a:xfrm>
            <a:off x="457200" y="2148840"/>
            <a:ext cx="5440680" cy="3900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93" name="Text 7"/>
          <p:cNvSpPr txBox="1"/>
          <p:nvPr/>
        </p:nvSpPr>
        <p:spPr>
          <a:xfrm>
            <a:off x="73152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Snapshot 방식</a:t>
            </a:r>
            <a:endParaRPr lang="en-US" sz="1450" dirty="0"/>
          </a:p>
        </p:txBody>
      </p:sp>
      <p:sp>
        <p:nvSpPr>
          <p:cNvPr id="94" name="Shape 8"/>
          <p:cNvSpPr/>
          <p:nvPr/>
        </p:nvSpPr>
        <p:spPr>
          <a:xfrm>
            <a:off x="731520" y="2834640"/>
            <a:ext cx="1463040" cy="548640"/>
          </a:xfrm>
          <a:prstGeom prst="roundRect">
            <a:avLst>
              <a:gd name="adj" fmla="val 15000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95" name="Text 9"/>
          <p:cNvSpPr txBox="1"/>
          <p:nvPr/>
        </p:nvSpPr>
        <p:spPr>
          <a:xfrm>
            <a:off x="73152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1</a:t>
            </a:r>
            <a:endParaRPr lang="en-US" sz="1100" dirty="0"/>
          </a:p>
        </p:txBody>
      </p:sp>
      <p:sp>
        <p:nvSpPr>
          <p:cNvPr id="96" name="Shape 10"/>
          <p:cNvSpPr/>
          <p:nvPr/>
        </p:nvSpPr>
        <p:spPr>
          <a:xfrm>
            <a:off x="2377440" y="2834640"/>
            <a:ext cx="640080" cy="54864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97" name="Text 11"/>
          <p:cNvSpPr txBox="1"/>
          <p:nvPr/>
        </p:nvSpPr>
        <p:spPr>
          <a:xfrm>
            <a:off x="2377440" y="2834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98" name="Shape 12"/>
          <p:cNvSpPr/>
          <p:nvPr/>
        </p:nvSpPr>
        <p:spPr>
          <a:xfrm>
            <a:off x="3154680" y="2834640"/>
            <a:ext cx="640080" cy="54864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99" name="Text 13"/>
          <p:cNvSpPr txBox="1"/>
          <p:nvPr/>
        </p:nvSpPr>
        <p:spPr>
          <a:xfrm>
            <a:off x="3154680" y="2834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00" name="Shape 14"/>
          <p:cNvSpPr/>
          <p:nvPr/>
        </p:nvSpPr>
        <p:spPr>
          <a:xfrm>
            <a:off x="3931920" y="2834640"/>
            <a:ext cx="640080" cy="54864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1" name="Text 15"/>
          <p:cNvSpPr txBox="1"/>
          <p:nvPr/>
        </p:nvSpPr>
        <p:spPr>
          <a:xfrm>
            <a:off x="3931920" y="2834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02" name="Shape 16"/>
          <p:cNvSpPr/>
          <p:nvPr/>
        </p:nvSpPr>
        <p:spPr>
          <a:xfrm>
            <a:off x="731520" y="3611880"/>
            <a:ext cx="1463040" cy="548640"/>
          </a:xfrm>
          <a:prstGeom prst="roundRect">
            <a:avLst>
              <a:gd name="adj" fmla="val 15000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3" name="Text 17"/>
          <p:cNvSpPr txBox="1"/>
          <p:nvPr/>
        </p:nvSpPr>
        <p:spPr>
          <a:xfrm>
            <a:off x="731520" y="3611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2</a:t>
            </a:r>
            <a:endParaRPr lang="en-US" sz="1100" dirty="0"/>
          </a:p>
        </p:txBody>
      </p:sp>
      <p:sp>
        <p:nvSpPr>
          <p:cNvPr id="104" name="Shape 18"/>
          <p:cNvSpPr/>
          <p:nvPr/>
        </p:nvSpPr>
        <p:spPr>
          <a:xfrm>
            <a:off x="2377440" y="3611880"/>
            <a:ext cx="640080" cy="54864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5" name="Text 19"/>
          <p:cNvSpPr txBox="1"/>
          <p:nvPr/>
        </p:nvSpPr>
        <p:spPr>
          <a:xfrm>
            <a:off x="2377440" y="3611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06" name="Shape 20"/>
          <p:cNvSpPr/>
          <p:nvPr/>
        </p:nvSpPr>
        <p:spPr>
          <a:xfrm>
            <a:off x="3154680" y="3611880"/>
            <a:ext cx="640080" cy="548640"/>
          </a:xfrm>
          <a:prstGeom prst="roundRect">
            <a:avLst>
              <a:gd name="adj" fmla="val 15000"/>
            </a:avLst>
          </a:prstGeom>
          <a:solidFill>
            <a:srgbClr val="E0492B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7" name="Text 21"/>
          <p:cNvSpPr txBox="1"/>
          <p:nvPr/>
        </p:nvSpPr>
        <p:spPr>
          <a:xfrm>
            <a:off x="3154680" y="3611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B'</a:t>
            </a:r>
            <a:endParaRPr lang="en-US" sz="1200" dirty="0"/>
          </a:p>
        </p:txBody>
      </p:sp>
      <p:sp>
        <p:nvSpPr>
          <p:cNvPr id="108" name="Shape 22"/>
          <p:cNvSpPr/>
          <p:nvPr/>
        </p:nvSpPr>
        <p:spPr>
          <a:xfrm>
            <a:off x="3931920" y="3611880"/>
            <a:ext cx="640080" cy="54864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9" name="Text 23"/>
          <p:cNvSpPr txBox="1"/>
          <p:nvPr/>
        </p:nvSpPr>
        <p:spPr>
          <a:xfrm>
            <a:off x="3931920" y="3611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10" name="Shape 24"/>
          <p:cNvSpPr/>
          <p:nvPr/>
        </p:nvSpPr>
        <p:spPr>
          <a:xfrm>
            <a:off x="731520" y="4389120"/>
            <a:ext cx="1463040" cy="548640"/>
          </a:xfrm>
          <a:prstGeom prst="roundRect">
            <a:avLst>
              <a:gd name="adj" fmla="val 15000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1" name="Text 25"/>
          <p:cNvSpPr txBox="1"/>
          <p:nvPr/>
        </p:nvSpPr>
        <p:spPr>
          <a:xfrm>
            <a:off x="731520" y="4389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3</a:t>
            </a:r>
            <a:endParaRPr lang="en-US" sz="1100" dirty="0"/>
          </a:p>
        </p:txBody>
      </p:sp>
      <p:sp>
        <p:nvSpPr>
          <p:cNvPr id="112" name="Shape 26"/>
          <p:cNvSpPr/>
          <p:nvPr/>
        </p:nvSpPr>
        <p:spPr>
          <a:xfrm>
            <a:off x="2377440" y="4389120"/>
            <a:ext cx="640080" cy="54864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3" name="Text 27"/>
          <p:cNvSpPr txBox="1"/>
          <p:nvPr/>
        </p:nvSpPr>
        <p:spPr>
          <a:xfrm>
            <a:off x="2377440" y="4389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14" name="Shape 28"/>
          <p:cNvSpPr/>
          <p:nvPr/>
        </p:nvSpPr>
        <p:spPr>
          <a:xfrm>
            <a:off x="3154680" y="4389120"/>
            <a:ext cx="640080" cy="54864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5" name="Text 29"/>
          <p:cNvSpPr txBox="1"/>
          <p:nvPr/>
        </p:nvSpPr>
        <p:spPr>
          <a:xfrm>
            <a:off x="3154680" y="4389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B'</a:t>
            </a:r>
            <a:endParaRPr lang="en-US" sz="1200" dirty="0"/>
          </a:p>
        </p:txBody>
      </p:sp>
      <p:sp>
        <p:nvSpPr>
          <p:cNvPr id="116" name="Shape 30"/>
          <p:cNvSpPr/>
          <p:nvPr/>
        </p:nvSpPr>
        <p:spPr>
          <a:xfrm>
            <a:off x="3931920" y="4389120"/>
            <a:ext cx="640080" cy="548640"/>
          </a:xfrm>
          <a:prstGeom prst="roundRect">
            <a:avLst>
              <a:gd name="adj" fmla="val 15000"/>
            </a:avLst>
          </a:prstGeom>
          <a:solidFill>
            <a:srgbClr val="E0492B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7" name="Text 31"/>
          <p:cNvSpPr txBox="1"/>
          <p:nvPr/>
        </p:nvSpPr>
        <p:spPr>
          <a:xfrm>
            <a:off x="3931920" y="4389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C'</a:t>
            </a:r>
            <a:endParaRPr lang="en-US" sz="1200" dirty="0"/>
          </a:p>
        </p:txBody>
      </p:sp>
      <p:sp>
        <p:nvSpPr>
          <p:cNvPr id="118" name="Text 32"/>
          <p:cNvSpPr txBox="1"/>
          <p:nvPr/>
        </p:nvSpPr>
        <p:spPr>
          <a:xfrm>
            <a:off x="731520" y="5166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커밋에서 바뀐 파일만 새로 저장되고, 나머지는 이전 스냅샷에 대한 링크만 남깁니다.</a:t>
            </a:r>
            <a:endParaRPr lang="en-US" sz="1100" dirty="0"/>
          </a:p>
        </p:txBody>
      </p:sp>
      <p:sp>
        <p:nvSpPr>
          <p:cNvPr id="119" name="Shape 33"/>
          <p:cNvSpPr/>
          <p:nvPr/>
        </p:nvSpPr>
        <p:spPr>
          <a:xfrm>
            <a:off x="6245352" y="2148840"/>
            <a:ext cx="5440680" cy="3900000"/>
          </a:xfrm>
          <a:prstGeom prst="roundRect">
            <a:avLst>
              <a:gd name="adj" fmla="val 2308"/>
            </a:avLst>
          </a:prstGeom>
          <a:solidFill>
            <a:srgbClr val="F6F7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0" name="Text 34"/>
          <p:cNvSpPr txBox="1"/>
          <p:nvPr/>
        </p:nvSpPr>
        <p:spPr>
          <a:xfrm>
            <a:off x="6519672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· Subversion — Delta 방식</a:t>
            </a:r>
            <a:endParaRPr lang="en-US" sz="1450" dirty="0"/>
          </a:p>
        </p:txBody>
      </p:sp>
      <p:sp>
        <p:nvSpPr>
          <p:cNvPr id="121" name="Text 35"/>
          <p:cNvSpPr txBox="1"/>
          <p:nvPr/>
        </p:nvSpPr>
        <p:spPr>
          <a:xfrm>
            <a:off x="6519672" y="4846320"/>
            <a:ext cx="4937760" cy="88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"기준본 + 변경분(delta)"의 연속으로 취급합니다.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버전을 보려면 델타를 순서대로 적용(재구성)해야 합니다.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병합(merge) 작업이 상대적으로 느릴 수 있습니다.</a:t>
            </a:r>
            <a:endParaRPr lang="en-US" sz="1250" dirty="0"/>
          </a:p>
        </p:txBody>
      </p:sp>
      <p:sp>
        <p:nvSpPr>
          <p:cNvPr id="122" name="Shape CVS r1 label"/>
          <p:cNvSpPr/>
          <p:nvPr/>
        </p:nvSpPr>
        <p:spPr>
          <a:xfrm>
            <a:off x="6519672" y="283464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3" name="Text CVS r1 label"/>
          <p:cNvSpPr txBox="1"/>
          <p:nvPr/>
        </p:nvSpPr>
        <p:spPr>
          <a:xfrm>
            <a:off x="6519672" y="2834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버전</a:t>
            </a:r>
            <a:r>
              <a:rPr lang="en-US" sz="1100" b="1" dirty="0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1(</a:t>
            </a:r>
            <a:r>
              <a:rPr lang="ko-KR" altLang="en-US" sz="1100" b="1" dirty="0" err="1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기준본</a:t>
            </a:r>
            <a:r>
              <a:rPr lang="en-US" altLang="ko-KR" sz="1100" b="1" dirty="0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4" name="Shape CVS r1 box"/>
          <p:cNvSpPr/>
          <p:nvPr/>
        </p:nvSpPr>
        <p:spPr>
          <a:xfrm>
            <a:off x="8165592" y="2834640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5" name="Text CVS r1 box"/>
          <p:cNvSpPr txBox="1"/>
          <p:nvPr/>
        </p:nvSpPr>
        <p:spPr>
          <a:xfrm>
            <a:off x="8165592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50" dirty="0"/>
          </a:p>
        </p:txBody>
      </p:sp>
      <p:sp>
        <p:nvSpPr>
          <p:cNvPr id="126" name="Shape CVS r1 box"/>
          <p:cNvSpPr/>
          <p:nvPr/>
        </p:nvSpPr>
        <p:spPr>
          <a:xfrm>
            <a:off x="8942832" y="2834640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7" name="Text CVS r1 box"/>
          <p:cNvSpPr txBox="1"/>
          <p:nvPr/>
        </p:nvSpPr>
        <p:spPr>
          <a:xfrm>
            <a:off x="8942832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50" dirty="0"/>
          </a:p>
        </p:txBody>
      </p:sp>
      <p:sp>
        <p:nvSpPr>
          <p:cNvPr id="128" name="Shape CVS r1 box"/>
          <p:cNvSpPr/>
          <p:nvPr/>
        </p:nvSpPr>
        <p:spPr>
          <a:xfrm>
            <a:off x="9720072" y="2834640"/>
            <a:ext cx="640080" cy="457200"/>
          </a:xfrm>
          <a:prstGeom prst="roundRect">
            <a:avLst>
              <a:gd name="adj" fmla="val 15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29" name="Text CVS r1 box"/>
          <p:cNvSpPr txBox="1"/>
          <p:nvPr/>
        </p:nvSpPr>
        <p:spPr>
          <a:xfrm>
            <a:off x="9720072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50" dirty="0"/>
          </a:p>
        </p:txBody>
      </p:sp>
      <p:sp>
        <p:nvSpPr>
          <p:cNvPr id="130" name="Shape CVS r2 label"/>
          <p:cNvSpPr/>
          <p:nvPr/>
        </p:nvSpPr>
        <p:spPr>
          <a:xfrm>
            <a:off x="6519672" y="347472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1" name="Text CVS r2 label"/>
          <p:cNvSpPr txBox="1"/>
          <p:nvPr/>
        </p:nvSpPr>
        <p:spPr>
          <a:xfrm>
            <a:off x="6519672" y="3474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버전 2</a:t>
            </a:r>
            <a:endParaRPr lang="en-US" sz="1100" dirty="0"/>
          </a:p>
        </p:txBody>
      </p:sp>
      <p:sp>
        <p:nvSpPr>
          <p:cNvPr id="132" name="Shape CVS r2 deltaB"/>
          <p:cNvSpPr/>
          <p:nvPr/>
        </p:nvSpPr>
        <p:spPr>
          <a:xfrm>
            <a:off x="9052872" y="3543300"/>
            <a:ext cx="420000" cy="320040"/>
          </a:xfrm>
          <a:prstGeom prst="roundRect">
            <a:avLst>
              <a:gd name="adj" fmla="val 20000"/>
            </a:avLst>
          </a:prstGeom>
          <a:solidFill>
            <a:srgbClr val="E0492B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3" name="Text CVS r2 deltaB"/>
          <p:cNvSpPr txBox="1"/>
          <p:nvPr/>
        </p:nvSpPr>
        <p:spPr>
          <a:xfrm>
            <a:off x="9052872" y="3543300"/>
            <a:ext cx="42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ΔB</a:t>
            </a:r>
            <a:endParaRPr lang="en-US" sz="1000" dirty="0"/>
          </a:p>
        </p:txBody>
      </p:sp>
      <p:sp>
        <p:nvSpPr>
          <p:cNvPr id="134" name="Shape CVS r3 label"/>
          <p:cNvSpPr/>
          <p:nvPr/>
        </p:nvSpPr>
        <p:spPr>
          <a:xfrm>
            <a:off x="6519672" y="411480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5" name="Text CVS r3 label"/>
          <p:cNvSpPr txBox="1"/>
          <p:nvPr/>
        </p:nvSpPr>
        <p:spPr>
          <a:xfrm>
            <a:off x="6519672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버전 3</a:t>
            </a:r>
            <a:endParaRPr lang="en-US" sz="1100" dirty="0"/>
          </a:p>
        </p:txBody>
      </p:sp>
      <p:sp>
        <p:nvSpPr>
          <p:cNvPr id="136" name="Shape CVS r3 deltaC"/>
          <p:cNvSpPr/>
          <p:nvPr/>
        </p:nvSpPr>
        <p:spPr>
          <a:xfrm>
            <a:off x="9830112" y="4183380"/>
            <a:ext cx="420000" cy="320040"/>
          </a:xfrm>
          <a:prstGeom prst="roundRect">
            <a:avLst>
              <a:gd name="adj" fmla="val 20000"/>
            </a:avLst>
          </a:prstGeom>
          <a:solidFill>
            <a:srgbClr val="E0492B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7" name="Text CVS r3 deltaC"/>
          <p:cNvSpPr txBox="1"/>
          <p:nvPr/>
        </p:nvSpPr>
        <p:spPr>
          <a:xfrm>
            <a:off x="9830112" y="4183380"/>
            <a:ext cx="42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설치하기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사이트: https://git-scm.com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3291840"/>
          </a:xfrm>
          <a:prstGeom prst="roundRect">
            <a:avLst>
              <a:gd name="adj" fmla="val 2222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설치 및 버전 확인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107624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Amazon Linux 2023 / RHEL 계열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dnf install -y git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Ubuntu / Debian 계열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apt-get install -y git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macOS (Homebrew)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git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2.43.0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4864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BF0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5486400"/>
            <a:ext cx="10863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6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사용자는 git-scm.com 설치 프로그램에 포함된 "Git Bash"를 사용하거나, WSL2(Windows Subsystem for Linux)를 설치해 리눅스와 동일한 환경에서 실습할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기본 설정 (git config)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커밋을 남기기 전에, 내 이름과 이메일을 먼저 등록합니다.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2606040"/>
          </a:xfrm>
          <a:prstGeom prst="roundRect">
            <a:avLst>
              <a:gd name="adj" fmla="val 2807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107624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"Hong Gildong"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user.email "gildong@example.com"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init.defaultBranch main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새 저장소의 기본 브랜치 이름을 main으로 지정 (최신 관례)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--list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설정된 값 전체 확인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FBE9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800600"/>
            <a:ext cx="10863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설정은 &lt;사용자 홈 디렉터리&gt;/.gitconfig 파일에 저장됩니다.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 없이 특정 저장소에서만 다르게 설정하고 싶다면 그 저장소 폴더 안에서 --global 없이 실행합니다.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E3F0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577840"/>
            <a:ext cx="10863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변경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GitHub은 2020년부터 기본 브랜치 이름을 master 대신 main으로 사용합니다. 이 강의에서도 main을 기준으로 설명합니다.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기본 워크플로우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파일은 4단계 공간을 거치며 관리됩니다 — 이번 시간에는 앞의 3단계를 다룹니다.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5" name="Shape 6"/>
          <p:cNvSpPr/>
          <p:nvPr/>
        </p:nvSpPr>
        <p:spPr>
          <a:xfrm>
            <a:off x="457200" y="2368296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6" name="Text 7"/>
          <p:cNvSpPr txBox="1"/>
          <p:nvPr/>
        </p:nvSpPr>
        <p:spPr>
          <a:xfrm>
            <a:off x="457200" y="2368296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디렉터리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250" dirty="0"/>
          </a:p>
        </p:txBody>
      </p:sp>
      <p:sp>
        <p:nvSpPr>
          <p:cNvPr id="27" name="Shape 8"/>
          <p:cNvSpPr/>
          <p:nvPr/>
        </p:nvSpPr>
        <p:spPr>
          <a:xfrm>
            <a:off x="2834640" y="2962656"/>
            <a:ext cx="58826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Text 9"/>
          <p:cNvSpPr txBox="1"/>
          <p:nvPr/>
        </p:nvSpPr>
        <p:spPr>
          <a:xfrm>
            <a:off x="2651760" y="1984248"/>
            <a:ext cx="95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200" dirty="0"/>
          </a:p>
        </p:txBody>
      </p:sp>
      <p:sp>
        <p:nvSpPr>
          <p:cNvPr id="29" name="Shape 10"/>
          <p:cNvSpPr/>
          <p:nvPr/>
        </p:nvSpPr>
        <p:spPr>
          <a:xfrm>
            <a:off x="3422904" y="2368296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30" name="Text 11"/>
          <p:cNvSpPr txBox="1"/>
          <p:nvPr/>
        </p:nvSpPr>
        <p:spPr>
          <a:xfrm>
            <a:off x="3422904" y="2368296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 영역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250" dirty="0"/>
          </a:p>
        </p:txBody>
      </p:sp>
      <p:sp>
        <p:nvSpPr>
          <p:cNvPr id="31" name="Shape 12"/>
          <p:cNvSpPr/>
          <p:nvPr/>
        </p:nvSpPr>
        <p:spPr>
          <a:xfrm>
            <a:off x="5800344" y="2962656"/>
            <a:ext cx="58826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Text 13"/>
          <p:cNvSpPr txBox="1"/>
          <p:nvPr/>
        </p:nvSpPr>
        <p:spPr>
          <a:xfrm>
            <a:off x="5617464" y="1984248"/>
            <a:ext cx="95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33" name="Shape 14"/>
          <p:cNvSpPr/>
          <p:nvPr/>
        </p:nvSpPr>
        <p:spPr>
          <a:xfrm>
            <a:off x="6388608" y="2368296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E0492B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34" name="Text 15"/>
          <p:cNvSpPr txBox="1"/>
          <p:nvPr/>
        </p:nvSpPr>
        <p:spPr>
          <a:xfrm>
            <a:off x="6388608" y="2368296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저장소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lang="en-US" sz="1250" dirty="0"/>
          </a:p>
        </p:txBody>
      </p:sp>
      <p:sp>
        <p:nvSpPr>
          <p:cNvPr id="35" name="Shape 16"/>
          <p:cNvSpPr/>
          <p:nvPr/>
        </p:nvSpPr>
        <p:spPr>
          <a:xfrm>
            <a:off x="8766048" y="2962656"/>
            <a:ext cx="58826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Text 17"/>
          <p:cNvSpPr txBox="1"/>
          <p:nvPr/>
        </p:nvSpPr>
        <p:spPr>
          <a:xfrm>
            <a:off x="8583168" y="1984248"/>
            <a:ext cx="954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37" name="Shape 18"/>
          <p:cNvSpPr/>
          <p:nvPr/>
        </p:nvSpPr>
        <p:spPr>
          <a:xfrm>
            <a:off x="9354312" y="2368296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0969DA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38" name="Text 19"/>
          <p:cNvSpPr txBox="1"/>
          <p:nvPr/>
        </p:nvSpPr>
        <p:spPr>
          <a:xfrm>
            <a:off x="9354312" y="2368296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 저장소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Repository</a:t>
            </a:r>
            <a:endParaRPr lang="en-US" sz="1250" dirty="0"/>
          </a:p>
        </p:txBody>
      </p:sp>
      <p:sp>
        <p:nvSpPr>
          <p:cNvPr id="39" name="Text 20"/>
          <p:cNvSpPr txBox="1"/>
          <p:nvPr/>
        </p:nvSpPr>
        <p:spPr>
          <a:xfrm>
            <a:off x="9354312" y="3648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시간(원격 저장소 편)에서 다룸</a:t>
            </a:r>
            <a:endParaRPr lang="en-US" sz="950" dirty="0"/>
          </a:p>
        </p:txBody>
      </p:sp>
      <p:sp>
        <p:nvSpPr>
          <p:cNvPr id="40" name="Shape 21"/>
          <p:cNvSpPr/>
          <p:nvPr/>
        </p:nvSpPr>
        <p:spPr>
          <a:xfrm>
            <a:off x="457200" y="5138536"/>
            <a:ext cx="11274552" cy="1015376"/>
          </a:xfrm>
          <a:prstGeom prst="roundRect">
            <a:avLst>
              <a:gd name="adj" fmla="val 5714"/>
            </a:avLst>
          </a:prstGeom>
          <a:solidFill>
            <a:srgbClr val="FBE9E5"/>
          </a:solidFill>
          <a:ln/>
        </p:spPr>
      </p:sp>
      <p:sp>
        <p:nvSpPr>
          <p:cNvPr id="41" name="Text 22"/>
          <p:cNvSpPr txBox="1"/>
          <p:nvPr/>
        </p:nvSpPr>
        <p:spPr>
          <a:xfrm>
            <a:off x="685800" y="5138536"/>
            <a:ext cx="10863072" cy="101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시간 범위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"파일을 고치고(작업 디렉터리) → 담아서(스테이징) → 저장한다(로컬 저장소)"는 흐름을 반복해서 익힙니다.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저장소로 보내는 git push는 다음 주 "Git RemoteRepo"에서 다룹니다.</a:t>
            </a:r>
            <a:endParaRPr lang="en-US" sz="1250" dirty="0"/>
          </a:p>
        </p:txBody>
      </p:sp>
      <p:sp>
        <p:nvSpPr>
          <p:cNvPr id="42" name="Shape Staging Card"/>
          <p:cNvSpPr/>
          <p:nvPr/>
        </p:nvSpPr>
        <p:spPr>
          <a:xfrm>
            <a:off x="457200" y="4105656"/>
            <a:ext cx="11274552" cy="85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43" name="Text Staging Explain"/>
          <p:cNvSpPr txBox="1"/>
          <p:nvPr/>
        </p:nvSpPr>
        <p:spPr>
          <a:xfrm>
            <a:off x="685800" y="4105656"/>
            <a:ext cx="10863072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 영역이란?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커밋에 담을 변경 사항을 미리 골라 담아두는 임시 공간입니다. 작업 디렉토리의 </a:t>
            </a: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변경을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한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꺼</a:t>
            </a: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번에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커밋하지 않고 원하는 파일만 골라 담을 수 있어, 더 정확하고 의미 있는 단위로 커밋을 나눌 수 있게 해줍니다.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Git으로 관리되는 프로젝트 시작하기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프로젝트를 시작하는 방법은 크게 두 가지입니다.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304288"/>
            <a:ext cx="512064" cy="51206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새 프로젝트 시작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91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디렉터리에서 git init으로 새 저장소를 만듭니다.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9048" y="210312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0216" y="2304288"/>
            <a:ext cx="512064" cy="512064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0216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2880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기존 프로젝트 복제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3291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GitHub·Bitbucket 등 GIT 호스트에서 이미 있는 프로젝트를 내려받습니다.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" y="43068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3068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7552" y="43068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454456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hello-git &amp;&amp; cd hello-git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9048" y="4160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430682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30682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9400" y="430682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4544568"/>
            <a:ext cx="4882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&lt;remote-url&gt;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76072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E3F0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5760720"/>
            <a:ext cx="10863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시간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①번 방법(새 프로젝트 시작)을 기준으로 실습합니다. ②번 clone은 다음 주 원격 저장소 편에서 자세히 다룹니다.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작업 디렉터리 준비하기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hello-git 프로젝트에 파일 2개를 준비합니다.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5852160" cy="3017520"/>
          </a:xfrm>
          <a:prstGeom prst="roundRect">
            <a:avLst>
              <a:gd name="adj" fmla="val 2424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Hello.java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5340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Hello.java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Hello {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"Hello, world from GIT!");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2011680"/>
            <a:ext cx="5102352" cy="1463040"/>
          </a:xfrm>
          <a:prstGeom prst="roundRect">
            <a:avLst>
              <a:gd name="adj" fmla="val 500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939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69768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71597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52360" y="210312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85432" y="2395728"/>
            <a:ext cx="4590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README.md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README file for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Hello-world project.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3703320"/>
            <a:ext cx="5102352" cy="1325880"/>
          </a:xfrm>
          <a:prstGeom prst="roundRect">
            <a:avLst>
              <a:gd name="adj" fmla="val 5517"/>
            </a:avLst>
          </a:prstGeom>
          <a:solidFill>
            <a:srgbClr val="FBE9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703320"/>
            <a:ext cx="46908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README.md는 프로젝트를 소개하는 문서로, 관례적으로 저장소 최상위에 둡니다. GitHub에서는 저장소 첫 화면에 자동으로 표시됩니다.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git init — 빈 저장소 만들기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루트 디렉터리에서 git init을 실행합니다.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1554480"/>
          </a:xfrm>
          <a:prstGeom prst="roundRect">
            <a:avLst>
              <a:gd name="adj" fmla="val 470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1076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hello-git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repository in /home/ec2-user/hello-git/.git/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94106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394106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987552" y="394106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388620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숨김 폴더 .git 확인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4178808"/>
            <a:ext cx="10762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-a</a:t>
            </a:r>
            <a:endParaRPr lang="en-US" sz="13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 ..  .git  Hello.java  README.md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76072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FBE9E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760720"/>
            <a:ext cx="10863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.git이라는 숨김 디렉터리가 생성됩니다 — 이 폴더 안에 모든 커밋 이력과 설정이 저장됩니다. 이 폴더를 지우면 Git 이력이 전부 사라집니다.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작업 순환: Edit → Stage → Commit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2359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614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디렉터리에서 파일을 수정합니다.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2880360"/>
            <a:ext cx="56235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02836" y="219456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402836" y="2359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31436" y="27614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변경한 파일을 스테이징 </a:t>
            </a:r>
            <a:r>
              <a:rPr lang="en-US" sz="1100" dirty="0" err="1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영역에</a:t>
            </a:r>
            <a:r>
              <a:rPr lang="en-US" sz="1100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스냅샷으로</a:t>
            </a:r>
            <a:r>
              <a:rPr lang="en-US" sz="1100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담습니다.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86116" y="2880360"/>
            <a:ext cx="562356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48472" y="219456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0492B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48472" y="23591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2" y="27614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 영역의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내용을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저장소에 영구 기록으로 저장합니다.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17595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02836" y="3617595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3617595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1274552" cy="2011680"/>
          </a:xfrm>
          <a:prstGeom prst="roundRect">
            <a:avLst>
              <a:gd name="adj" fmla="val 3636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" y="448970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23" name="Shape 21"/>
          <p:cNvSpPr/>
          <p:nvPr/>
        </p:nvSpPr>
        <p:spPr>
          <a:xfrm>
            <a:off x="804672" y="448970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448970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3232" y="4735915"/>
            <a:ext cx="10762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vi Hello.java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MODIFY — 파일 내용 수정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Hello.java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STAGE — 변경사항을 스테이징 영역에 담기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“Create Hello Project"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COMMIT — 로컬 저장소에 영구 기록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상태 생명주기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트리의 파일은 untracked 또는 tracked 상태이며, tracked는 다시 Modified · Staged · Committed 세 상태로 나뉩니다.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56716" y="228600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262B33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56716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6716" y="28163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만든 파일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(Git이 아직 추적 안 함)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99916" y="2880360"/>
            <a:ext cx="8229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762756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22876" y="228600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22876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22876" y="28163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실행됨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(커밋 대기 중)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66076" y="2880360"/>
            <a:ext cx="8229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328916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89036" y="228600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E0492B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89036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89036" y="28163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완료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(로컬 저장소에 기록됨)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533084"/>
              </p:ext>
            </p:extLst>
          </p:nvPr>
        </p:nvGraphicFramePr>
        <p:xfrm>
          <a:off x="457200" y="4617720"/>
          <a:ext cx="11274552" cy="153619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6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명령어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6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untracked / staged / modified 등 현재 상태를 확인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 &lt;file&gt;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파일 변경사항을 스테이징 영역에 추가 (untracked·modified → staged)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commit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스테이징 영역의 모든 변경사항을 로컬 저장소에 커밋 (staged → committed)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" name="Divider"/>
          <p:cNvSpPr/>
          <p:nvPr/>
        </p:nvSpPr>
        <p:spPr>
          <a:xfrm>
            <a:off x="4300000" y="2200000"/>
            <a:ext cx="0" cy="2350000"/>
          </a:xfrm>
          <a:prstGeom prst="line">
            <a:avLst/>
          </a:prstGeom>
          <a:noFill/>
          <a:ln w="12700">
            <a:solidFill>
              <a:srgbClr val="9CA3AF"/>
            </a:solidFill>
            <a:prstDash val="dash"/>
          </a:ln>
        </p:spPr>
      </p:sp>
      <p:sp>
        <p:nvSpPr>
          <p:cNvPr id="91" name="Arrow Commit-Modified"/>
          <p:cNvSpPr/>
          <p:nvPr/>
        </p:nvSpPr>
        <p:spPr>
          <a:xfrm>
            <a:off x="9660636" y="3474720"/>
            <a:ext cx="0" cy="250000"/>
          </a:xfrm>
          <a:prstGeom prst="line">
            <a:avLst/>
          </a:prstGeom>
          <a:noFill/>
          <a:ln w="25400">
            <a:solidFill>
              <a:srgbClr val="0969DA"/>
            </a:solidFill>
            <a:prstDash val="solid"/>
            <a:tailEnd type="triangle"/>
          </a:ln>
        </p:spPr>
      </p:sp>
      <p:sp>
        <p:nvSpPr>
          <p:cNvPr id="92" name="Label Modified Arrow"/>
          <p:cNvSpPr txBox="1"/>
          <p:nvPr/>
        </p:nvSpPr>
        <p:spPr>
          <a:xfrm>
            <a:off x="9740636" y="3514720"/>
            <a:ext cx="13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수정</a:t>
            </a:r>
            <a:endParaRPr lang="en-US" sz="1000" dirty="0"/>
          </a:p>
        </p:txBody>
      </p:sp>
      <p:sp>
        <p:nvSpPr>
          <p:cNvPr id="93" name="Modified Box"/>
          <p:cNvSpPr/>
          <p:nvPr/>
        </p:nvSpPr>
        <p:spPr>
          <a:xfrm>
            <a:off x="8289036" y="3724720"/>
            <a:ext cx="2743200" cy="650000"/>
          </a:xfrm>
          <a:prstGeom prst="roundRect">
            <a:avLst>
              <a:gd name="adj" fmla="val 6923"/>
            </a:avLst>
          </a:prstGeom>
          <a:solidFill>
            <a:srgbClr val="F6F7F8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94" name="Modified Title"/>
          <p:cNvSpPr txBox="1"/>
          <p:nvPr/>
        </p:nvSpPr>
        <p:spPr>
          <a:xfrm>
            <a:off x="8289036" y="3784720"/>
            <a:ext cx="274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1400" dirty="0"/>
          </a:p>
        </p:txBody>
      </p:sp>
      <p:sp>
        <p:nvSpPr>
          <p:cNvPr id="95" name="Modified Body"/>
          <p:cNvSpPr txBox="1"/>
          <p:nvPr/>
        </p:nvSpPr>
        <p:spPr>
          <a:xfrm>
            <a:off x="8289036" y="4084720"/>
            <a:ext cx="274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편집됨 (아직 스테이징 안 됨)</a:t>
            </a:r>
            <a:endParaRPr lang="en-US" sz="1200" dirty="0"/>
          </a:p>
        </p:txBody>
      </p:sp>
      <p:sp>
        <p:nvSpPr>
          <p:cNvPr id="98" name="Arrow Modified-Staged H"/>
          <p:cNvSpPr/>
          <p:nvPr/>
        </p:nvSpPr>
        <p:spPr>
          <a:xfrm>
            <a:off x="6094476" y="4049720"/>
            <a:ext cx="2194560" cy="0"/>
          </a:xfrm>
          <a:prstGeom prst="line">
            <a:avLst/>
          </a:prstGeom>
          <a:noFill/>
          <a:ln w="25400">
            <a:solidFill>
              <a:srgbClr val="0969DA"/>
            </a:solidFill>
            <a:prstDash val="solid"/>
          </a:ln>
        </p:spPr>
      </p:sp>
      <p:sp>
        <p:nvSpPr>
          <p:cNvPr id="99" name="Arrow Modified-Staged V"/>
          <p:cNvSpPr/>
          <p:nvPr/>
        </p:nvSpPr>
        <p:spPr>
          <a:xfrm>
            <a:off x="6094476" y="3474720"/>
            <a:ext cx="0" cy="575000"/>
          </a:xfrm>
          <a:prstGeom prst="line">
            <a:avLst/>
          </a:prstGeom>
          <a:noFill/>
          <a:ln w="25400">
            <a:solidFill>
              <a:srgbClr val="0969DA"/>
            </a:solidFill>
            <a:prstDash val="solid"/>
            <a:headEnd type="triangle"/>
          </a:ln>
        </p:spPr>
      </p:sp>
      <p:sp>
        <p:nvSpPr>
          <p:cNvPr id="100" name="Label GitAdd2"/>
          <p:cNvSpPr txBox="1"/>
          <p:nvPr/>
        </p:nvSpPr>
        <p:spPr>
          <a:xfrm>
            <a:off x="6643116" y="3700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13025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— 변경사항 스테이징하기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git status로 현재 상태를 확인한 뒤, git add로 추적을 시작합니다.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3063240"/>
          </a:xfrm>
          <a:prstGeom prst="roundRect">
            <a:avLst>
              <a:gd name="adj" fmla="val 2388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1076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Hello.java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Hello.java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파일 하나만 스테이징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디렉터리(하위 포함) 전체를 스테이징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*.java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와일드카드로 특정 확장자만 스테이징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FBF0D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521208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 err="1">
                <a:solidFill>
                  <a:srgbClr val="C6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되돌리기</a:t>
            </a:r>
            <a:r>
              <a:rPr lang="en-US" sz="1250" b="1" dirty="0">
                <a:solidFill>
                  <a:srgbClr val="C6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(Staging </a:t>
            </a:r>
            <a:r>
              <a:rPr lang="ko-KR" altLang="en-US" sz="1250" b="1" dirty="0">
                <a:solidFill>
                  <a:srgbClr val="C6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</a:t>
            </a:r>
            <a:r>
              <a:rPr lang="en-US" altLang="ko-KR" sz="1250" b="1" dirty="0">
                <a:solidFill>
                  <a:srgbClr val="C6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250" b="1" dirty="0">
                <a:solidFill>
                  <a:srgbClr val="C6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실수로 </a:t>
            </a:r>
            <a:r>
              <a:rPr lang="ko-KR" alt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스테이징했다면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restore --staged &lt;file&gt;  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명령어로 </a:t>
            </a:r>
            <a:r>
              <a:rPr lang="ko-KR" alt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스테이징만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취소할 수 있습니다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디렉터리의 작성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내용은 삭제되지 않고 그대로 유지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943600"/>
            <a:ext cx="11274552" cy="411480"/>
          </a:xfrm>
          <a:prstGeom prst="roundRect">
            <a:avLst>
              <a:gd name="adj" fmla="val 17778"/>
            </a:avLst>
          </a:prstGeom>
          <a:solidFill>
            <a:srgbClr val="FBE9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943600"/>
            <a:ext cx="10863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이후에도 아직 커밋 전이라 "향후 커밋할 변경 사항(Changes to be committed)"으로만 표시됩니다.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— 커밋하기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 영역에 담긴 모든 변경사항을 하나의 커밋으로 저장합니다.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10762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"Initial commit: add Hello.java and README"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(root-commit) a1b2c3d] Initial commit: add Hello.java and README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files changed, 10 insertions(+)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11274552" cy="704088"/>
          </a:xfrm>
          <a:prstGeom prst="roundRect">
            <a:avLst>
              <a:gd name="adj" fmla="val 8000"/>
            </a:avLst>
          </a:prstGeom>
          <a:solidFill>
            <a:srgbClr val="FBE9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160520"/>
            <a:ext cx="108630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 옵션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 뒤에 커밋 메시지를 바로 적습니다. -m을 생략하면 vi 같은 편집기가 열려 메시지를 따로 작성해야 합니다.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048250"/>
            <a:ext cx="11274552" cy="1216152"/>
          </a:xfrm>
          <a:prstGeom prst="roundRect">
            <a:avLst>
              <a:gd name="adj" fmla="val 8000"/>
            </a:avLst>
          </a:prstGeom>
          <a:solidFill>
            <a:srgbClr val="E3F0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048250"/>
            <a:ext cx="1086307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ko-KR" sz="1250" b="1" dirty="0" err="1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</a:t>
            </a:r>
            <a:r>
              <a:rPr lang="en-US" altLang="ko-KR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b="1" dirty="0" err="1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r>
              <a:rPr lang="en-US" altLang="ko-KR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bug"처럼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모호하게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쓰지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말고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"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왜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바꿨는지"를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짧고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명확하게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적는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습관을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들이면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나중에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log를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볼 때 큰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도움이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됩니다</a:t>
            </a:r>
            <a:r>
              <a:rPr lang="en-US" altLang="ko-KR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altLang="ko-KR" sz="125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endParaRPr lang="en-US" altLang="ko-KR" sz="1150" b="1" dirty="0">
              <a:solidFill>
                <a:srgbClr val="B83A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50" b="1" dirty="0" err="1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</a:t>
            </a:r>
            <a:r>
              <a:rPr lang="en-US" altLang="ko-KR" sz="11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예  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 bug"</a:t>
            </a:r>
            <a:endParaRPr lang="en-US" altLang="ko-KR" sz="1150" dirty="0"/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50" b="1" dirty="0" err="1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</a:t>
            </a:r>
            <a:r>
              <a:rPr lang="en-US" altLang="ko-KR" sz="11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예  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"fix: </a:t>
            </a:r>
            <a:r>
              <a:rPr lang="en-US" altLang="ko-KR" sz="1150" dirty="0" err="1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로그인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sz="1150" dirty="0" err="1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실패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시 </a:t>
            </a:r>
            <a:r>
              <a:rPr lang="en-US" altLang="ko-KR" sz="1150" dirty="0" err="1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에러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sz="1150" dirty="0" err="1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메시지가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sz="1150" dirty="0" err="1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표시되지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sz="1150" dirty="0" err="1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않던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sz="1150" dirty="0" err="1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문제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altLang="ko-KR" sz="1150" dirty="0" err="1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수정</a:t>
            </a:r>
            <a:r>
              <a:rPr lang="en-US" altLang="ko-KR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altLang="ko-KR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— 커밋 이력 보기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</a:t>
            </a:r>
            <a:r>
              <a:rPr lang="ko-KR" altLang="en-US" sz="14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커밋은</a:t>
            </a:r>
            <a:r>
              <a:rPr lang="ko-KR" alt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고유한 </a:t>
            </a:r>
            <a:r>
              <a:rPr lang="ko-KR" altLang="en-US" sz="14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해시값</a:t>
            </a:r>
            <a:r>
              <a:rPr lang="en-US" altLang="ko-KR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ko-KR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 </a:t>
            </a:r>
            <a:r>
              <a:rPr lang="ko-KR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시 </a:t>
            </a:r>
            <a:r>
              <a:rPr lang="en-US" altLang="ko-KR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r>
              <a:rPr lang="ko-KR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자리</a:t>
            </a:r>
            <a:r>
              <a:rPr lang="en-US" altLang="ko-KR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SHA-256 </a:t>
            </a:r>
            <a:r>
              <a:rPr lang="ko-KR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시 </a:t>
            </a:r>
            <a:r>
              <a:rPr lang="en-US" altLang="ko-KR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r>
              <a:rPr lang="ko-KR" alt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자리</a:t>
            </a:r>
            <a:r>
              <a:rPr lang="en-US" altLang="ko-KR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식별되며</a:t>
            </a:r>
            <a:r>
              <a:rPr lang="en-US" altLang="ko-KR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식별 시에는 보통 앞 </a:t>
            </a:r>
            <a:r>
              <a:rPr lang="en-US" altLang="ko-KR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ko-KR" alt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자리만 </a:t>
            </a:r>
            <a:r>
              <a:rPr lang="ko-KR" altLang="en-US" sz="14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단축형으로</a:t>
            </a:r>
            <a:r>
              <a:rPr lang="ko-KR" alt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사용합니다</a:t>
            </a:r>
            <a:r>
              <a:rPr lang="en-US" altLang="ko-KR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2468880"/>
          </a:xfrm>
          <a:prstGeom prst="roundRect">
            <a:avLst>
              <a:gd name="adj" fmla="val 2963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10762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</a:t>
            </a:r>
            <a:r>
              <a:rPr lang="en-US" sz="1250" dirty="0">
                <a:solidFill>
                  <a:srgbClr val="F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</a:t>
            </a: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4e5f6... (HEAD -&gt; main)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Author: Hong Gildong &lt;gildong@example.com&gt;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  Mon Sep 8 10:00:00 2025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 commit: add Hello.java and README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480974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80974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7" name="Shape 15"/>
          <p:cNvSpPr/>
          <p:nvPr/>
        </p:nvSpPr>
        <p:spPr>
          <a:xfrm>
            <a:off x="987552" y="480974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475488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 줄씩 요약해서 보기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047488"/>
            <a:ext cx="10762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 Initial commit: add Hello.java and README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943600"/>
            <a:ext cx="11274552" cy="365760"/>
          </a:xfrm>
          <a:prstGeom prst="roundRect">
            <a:avLst>
              <a:gd name="adj" fmla="val 20000"/>
            </a:avLst>
          </a:prstGeom>
          <a:solidFill>
            <a:srgbClr val="E3F0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943600"/>
            <a:ext cx="1086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팁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--oneline --graph --all 을 쓰면 여러 브랜치의 이력을 그래프로 함께 볼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· git diff — 변경 확인하기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21031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395728"/>
            <a:ext cx="53400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main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not staged for commit: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modified:   Hello.java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unstaged / staged / committed 상태를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한눈에 보여줌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2011680"/>
            <a:ext cx="5102352" cy="2743200"/>
          </a:xfrm>
          <a:prstGeom prst="roundRect">
            <a:avLst>
              <a:gd name="adj" fmla="val 2667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939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68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6" name="Shape 14"/>
          <p:cNvSpPr/>
          <p:nvPr/>
        </p:nvSpPr>
        <p:spPr>
          <a:xfrm>
            <a:off x="71597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2103120"/>
            <a:ext cx="3822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85432" y="2395728"/>
            <a:ext cx="45902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diff</a:t>
            </a:r>
            <a:endParaRPr lang="en-US" sz="12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E5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System.out.println("Hello!");</a:t>
            </a:r>
            <a:endParaRPr lang="en-US" sz="12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00" dirty="0">
                <a:solidFill>
                  <a:srgbClr val="9AD6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System.out.println("Hi!");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BE9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937760"/>
            <a:ext cx="10863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쓰나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커밋하기 전, "지금 무엇이 바뀌었는지"를 확인하는 습관을 들이면 실수를 크게 줄일 수 있습니다.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status는 어떤 파일이 바뀌었는지, git diff는 그 파일에서 정확히 어떤 줄이 바뀌었는지(- 삭제된 줄, + 추가된 줄)를 보여줍니다.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 — 변경 확인하기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93776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FBE9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937760"/>
            <a:ext cx="10863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대상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diff는 무엇과 무엇을 비교하는지에 따라 결과가 달라집니다.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diff(기본)는 작업 디렉터리 ↔ 스테이징 영역을,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--cached는 스테이징 영역 ↔ HEAD를,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HEAD는 작업 디렉터리 ↔ HEAD(마지막 커밋) 전체를 비교합니다.</a:t>
            </a:r>
            <a:endParaRPr lang="en-US" sz="1250" dirty="0"/>
          </a:p>
        </p:txBody>
      </p:sp>
      <p:sp>
        <p:nvSpPr>
          <p:cNvPr id="101" name="Box WorkingDir"/>
          <p:cNvSpPr/>
          <p:nvPr/>
        </p:nvSpPr>
        <p:spPr>
          <a:xfrm>
            <a:off x="1156716" y="246432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02" name="Box Staging"/>
          <p:cNvSpPr/>
          <p:nvPr/>
        </p:nvSpPr>
        <p:spPr>
          <a:xfrm>
            <a:off x="4722876" y="246432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FBE9E5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3" name="Box HEAD"/>
          <p:cNvSpPr/>
          <p:nvPr/>
        </p:nvSpPr>
        <p:spPr>
          <a:xfrm>
            <a:off x="8289036" y="2464320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E0492B"/>
          </a:solidFill>
          <a:ln w="12700">
            <a:solidFill>
              <a:srgbClr val="E0492B"/>
            </a:solidFill>
            <a:prstDash val="solid"/>
          </a:ln>
        </p:spPr>
      </p:sp>
      <p:sp>
        <p:nvSpPr>
          <p:cNvPr id="104" name="Title WorkingDir"/>
          <p:cNvSpPr txBox="1"/>
          <p:nvPr/>
        </p:nvSpPr>
        <p:spPr>
          <a:xfrm>
            <a:off x="1156716" y="260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디렉터리</a:t>
            </a:r>
            <a:endParaRPr lang="en-US" sz="1500" dirty="0"/>
          </a:p>
        </p:txBody>
      </p:sp>
      <p:sp>
        <p:nvSpPr>
          <p:cNvPr id="105" name="Title Staging"/>
          <p:cNvSpPr txBox="1"/>
          <p:nvPr/>
        </p:nvSpPr>
        <p:spPr>
          <a:xfrm>
            <a:off x="4722876" y="260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스테이징 영역</a:t>
            </a:r>
            <a:endParaRPr lang="en-US" sz="1500" dirty="0"/>
          </a:p>
        </p:txBody>
      </p:sp>
      <p:sp>
        <p:nvSpPr>
          <p:cNvPr id="106" name="Title HEAD"/>
          <p:cNvSpPr txBox="1"/>
          <p:nvPr/>
        </p:nvSpPr>
        <p:spPr>
          <a:xfrm>
            <a:off x="8289036" y="2601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커밋</a:t>
            </a:r>
            <a:endParaRPr lang="en-US" sz="1500" dirty="0"/>
          </a:p>
        </p:txBody>
      </p:sp>
      <p:sp>
        <p:nvSpPr>
          <p:cNvPr id="107" name="Body WorkingDir"/>
          <p:cNvSpPr txBox="1"/>
          <p:nvPr/>
        </p:nvSpPr>
        <p:spPr>
          <a:xfrm>
            <a:off x="1156716" y="29946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(Working Directory)</a:t>
            </a:r>
            <a:endParaRPr lang="en-US" sz="1050" dirty="0"/>
          </a:p>
        </p:txBody>
      </p:sp>
      <p:sp>
        <p:nvSpPr>
          <p:cNvPr id="108" name="Body Staging"/>
          <p:cNvSpPr txBox="1"/>
          <p:nvPr/>
        </p:nvSpPr>
        <p:spPr>
          <a:xfrm>
            <a:off x="4722876" y="29946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(Staging Area)</a:t>
            </a:r>
            <a:endParaRPr lang="en-US" sz="1050" dirty="0"/>
          </a:p>
        </p:txBody>
      </p:sp>
      <p:sp>
        <p:nvSpPr>
          <p:cNvPr id="109" name="Body HEAD"/>
          <p:cNvSpPr txBox="1"/>
          <p:nvPr/>
        </p:nvSpPr>
        <p:spPr>
          <a:xfrm>
            <a:off x="8289036" y="299467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(가장 최근 커밋)</a:t>
            </a:r>
            <a:endParaRPr lang="en-US" sz="1050" dirty="0"/>
          </a:p>
        </p:txBody>
      </p:sp>
      <p:sp>
        <p:nvSpPr>
          <p:cNvPr id="110" name="Label GitDiff"/>
          <p:cNvSpPr txBox="1"/>
          <p:nvPr/>
        </p:nvSpPr>
        <p:spPr>
          <a:xfrm>
            <a:off x="3762756" y="2100000"/>
            <a:ext cx="1437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200" dirty="0"/>
          </a:p>
        </p:txBody>
      </p:sp>
      <p:sp>
        <p:nvSpPr>
          <p:cNvPr id="111" name="Arrow GitDiff"/>
          <p:cNvSpPr/>
          <p:nvPr/>
        </p:nvSpPr>
        <p:spPr>
          <a:xfrm>
            <a:off x="3899916" y="3058680"/>
            <a:ext cx="8229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2" name="Label GitDiffCached"/>
          <p:cNvSpPr txBox="1"/>
          <p:nvPr/>
        </p:nvSpPr>
        <p:spPr>
          <a:xfrm>
            <a:off x="7127556" y="2100000"/>
            <a:ext cx="1965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--cached</a:t>
            </a:r>
            <a:endParaRPr lang="en-US" sz="1200" dirty="0"/>
          </a:p>
        </p:txBody>
      </p:sp>
      <p:sp>
        <p:nvSpPr>
          <p:cNvPr id="113" name="Arrow GitDiffCached"/>
          <p:cNvSpPr/>
          <p:nvPr/>
        </p:nvSpPr>
        <p:spPr>
          <a:xfrm>
            <a:off x="7466076" y="3058680"/>
            <a:ext cx="8229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4" name="Caption Unstaged"/>
          <p:cNvSpPr txBox="1"/>
          <p:nvPr/>
        </p:nvSpPr>
        <p:spPr>
          <a:xfrm>
            <a:off x="3408676" y="3567632"/>
            <a:ext cx="2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커밋되지 않은 변경 (unstaged)</a:t>
            </a:r>
            <a:endParaRPr lang="en-US" sz="1200" dirty="0"/>
          </a:p>
        </p:txBody>
      </p:sp>
      <p:sp>
        <p:nvSpPr>
          <p:cNvPr id="115" name="Caption Staged"/>
          <p:cNvSpPr txBox="1"/>
          <p:nvPr/>
        </p:nvSpPr>
        <p:spPr>
          <a:xfrm>
            <a:off x="6877556" y="3567632"/>
            <a:ext cx="2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예정인 변경 (staged)</a:t>
            </a:r>
            <a:endParaRPr lang="en-US" sz="1200" dirty="0"/>
          </a:p>
        </p:txBody>
      </p:sp>
      <p:sp>
        <p:nvSpPr>
          <p:cNvPr id="116" name="Arrow GitDiffHEAD Vert Right"/>
          <p:cNvSpPr/>
          <p:nvPr/>
        </p:nvSpPr>
        <p:spPr>
          <a:xfrm>
            <a:off x="9660636" y="3653039"/>
            <a:ext cx="0" cy="783543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17" name="Arrow GitDiffHEAD Bar"/>
          <p:cNvSpPr/>
          <p:nvPr/>
        </p:nvSpPr>
        <p:spPr>
          <a:xfrm>
            <a:off x="2528316" y="4436583"/>
            <a:ext cx="7132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18" name="Arrow GitDiffHEAD Vert Left"/>
          <p:cNvSpPr/>
          <p:nvPr/>
        </p:nvSpPr>
        <p:spPr>
          <a:xfrm>
            <a:off x="2528316" y="3653039"/>
            <a:ext cx="0" cy="783543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triangle"/>
          </a:ln>
        </p:spPr>
      </p:sp>
      <p:sp>
        <p:nvSpPr>
          <p:cNvPr id="119" name="Label GitDiffHEAD"/>
          <p:cNvSpPr txBox="1"/>
          <p:nvPr/>
        </p:nvSpPr>
        <p:spPr>
          <a:xfrm>
            <a:off x="5094476" y="4436583"/>
            <a:ext cx="20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HEAD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14188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— 특정 파일 무시하기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산출물처럼 추적할 필요 없는 파일을 Git이 아예 무시하도록 지정합니다.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107624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Java 클래스 파일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*.class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 파일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*.exe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정규식도 사용 가능: [oa]는 o 또는 a와 매치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*.[oa]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 디렉터리 전체 (끝에 / 표시)</a:t>
            </a:r>
            <a:endParaRPr lang="en-US" sz="12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6F7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temp/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66928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FBE9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566928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루트에 .gitignore 파일을 만들어 목록을 적으면, 이미 무시 대상인 파일은 git status의 "Untracked files" 목록에서 사라집니다.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쉽게 만들기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언어·프레임워크별 표준 .gitignore를 직접 손으로 안 써도 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759964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9428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gitignore.io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5432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언어/도구 이름을 </a:t>
            </a: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입력하면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 err="1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.gitignore 내용을 즉시 생성해주는 웹 서비스입니다.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144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https://www.toptal.com/developers/gitignore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9048" y="2759964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B1F24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73368" y="29428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3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공식 템플릿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335432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GitHub이 직접 관리하는 언어별 .gitignore 모음으로,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저장소 생성 시 바로 선택할 수 있습니다.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43144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https://github.com/github/gitignore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9943" y="534924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E3F0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8543" y="5349240"/>
            <a:ext cx="10863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75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IntelliJ, VS Code 등 대부분의 IDE도 프로젝트 생성 시 .gitignore를 자동으로 만들어줍니다.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4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86384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나만의 첫 Git 저장소 만들기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Edit/Stage/Commit  순서로 직접 진행합니다.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1274552" cy="2103120"/>
          </a:xfrm>
          <a:prstGeom prst="roundRect">
            <a:avLst>
              <a:gd name="adj" fmla="val 3478"/>
            </a:avLst>
          </a:prstGeom>
          <a:solidFill>
            <a:srgbClr val="1B1F24"/>
          </a:solidFill>
          <a:ln/>
          <a:effectLst>
            <a:outerShdw blurRad="101600" dist="38100" dir="5400000" algn="bl" rotWithShape="0">
              <a:srgbClr val="1B1F2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157984"/>
            <a:ext cx="109728" cy="109728"/>
          </a:xfrm>
          <a:prstGeom prst="ellipse">
            <a:avLst/>
          </a:prstGeom>
          <a:solidFill>
            <a:srgbClr val="E5605A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2157984"/>
            <a:ext cx="109728" cy="10972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157984"/>
            <a:ext cx="109728" cy="109728"/>
          </a:xfrm>
          <a:prstGeom prst="ellipse">
            <a:avLst/>
          </a:prstGeom>
          <a:solidFill>
            <a:srgbClr val="3FBF6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2103120"/>
            <a:ext cx="9994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사전 준비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10762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Git 설치 확인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dnf install -y git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--version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9AA1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실습용 Java 환경 준비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F0A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dnf install -y java-17-amazon-corretto-devel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906092"/>
              </p:ext>
            </p:extLst>
          </p:nvPr>
        </p:nvGraphicFramePr>
        <p:xfrm>
          <a:off x="457200" y="4297680"/>
          <a:ext cx="11274552" cy="197510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4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6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6F7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실습 내용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설정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config로 사용자 정보 및 기본 브랜치(main) 설정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시작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init으로 hello-git 저장소 생성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작업 순환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Hello.java 작성 → git add → git commit 반복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status, git log --oneline 으로 상태·이력 점검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무시 설정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.gitignore로 *.class 등 빌드 산출물 제외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637429"/>
            <a:ext cx="292608" cy="29260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5488" y="163742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508760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VCS는 코드 변경 이력을 기록해 백업·되돌리기·협업을 가능하게 합니다. Git은 분산형 VCS로, 매 커밋마다 스냅샷을 저장합니다.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75488" y="2297103"/>
            <a:ext cx="292608" cy="29260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" y="22971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68434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config로 사용자 정보를, git init으로 새 저장소를 만듭니다.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75488" y="2956778"/>
            <a:ext cx="292608" cy="29260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" y="29567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828109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파일은 Working Directory → (</a:t>
            </a:r>
            <a:r>
              <a:rPr lang="en-US" sz="14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</a:t>
            </a: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Staging Area → (</a:t>
            </a:r>
            <a:r>
              <a:rPr lang="en-US" sz="145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Local Repository 순서로 이동합니다.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5488" y="3616452"/>
            <a:ext cx="292608" cy="29260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" y="36164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487783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status/git log/git diff로 현재 상태와 변경 내역, 이력을 확인합니다.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5488" y="4276126"/>
            <a:ext cx="292608" cy="29260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" y="42761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147457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.gitignore로 추적할 필요 없는 파일을 제외합니다.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75488" y="4935801"/>
            <a:ext cx="292608" cy="292608"/>
          </a:xfrm>
          <a:prstGeom prst="ellipse">
            <a:avLst/>
          </a:prstGeom>
          <a:solidFill>
            <a:srgbClr val="E049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" y="493580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0119" y="4824766"/>
            <a:ext cx="10774375" cy="659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시간(Git RemoteRepo)에서는 GitHub과 </a:t>
            </a:r>
            <a:r>
              <a:rPr lang="en-US" sz="1450" dirty="0" err="1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연결해</a:t>
            </a:r>
            <a:r>
              <a:rPr lang="en-US" sz="1450" dirty="0">
                <a:solidFill>
                  <a:srgbClr val="F6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push/pull 다룹니다.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Basics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2552</Words>
  <Application>Microsoft Office PowerPoint</Application>
  <PresentationFormat>와이드스크린</PresentationFormat>
  <Paragraphs>492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25</cp:revision>
  <dcterms:created xsi:type="dcterms:W3CDTF">2026-09-13T09:53:34Z</dcterms:created>
  <dcterms:modified xsi:type="dcterms:W3CDTF">2026-09-22T03:25:58Z</dcterms:modified>
</cp:coreProperties>
</file>