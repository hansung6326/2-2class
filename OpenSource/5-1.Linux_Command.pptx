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90" r:id="rId6"/>
    <p:sldId id="261" r:id="rId7"/>
    <p:sldId id="262" r:id="rId8"/>
    <p:sldId id="263" r:id="rId9"/>
    <p:sldId id="264" r:id="rId10"/>
    <p:sldId id="265" r:id="rId11"/>
    <p:sldId id="284" r:id="rId12"/>
    <p:sldId id="267" r:id="rId13"/>
    <p:sldId id="268" r:id="rId14"/>
    <p:sldId id="269" r:id="rId15"/>
    <p:sldId id="270" r:id="rId16"/>
    <p:sldId id="271" r:id="rId17"/>
    <p:sldId id="291" r:id="rId18"/>
    <p:sldId id="273" r:id="rId19"/>
    <p:sldId id="274" r:id="rId20"/>
    <p:sldId id="275" r:id="rId21"/>
    <p:sldId id="286" r:id="rId22"/>
    <p:sldId id="296" r:id="rId23"/>
    <p:sldId id="292" r:id="rId24"/>
    <p:sldId id="293" r:id="rId25"/>
    <p:sldId id="294" r:id="rId26"/>
    <p:sldId id="295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10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</a:t>
            </a:r>
            <a:r>
              <a:rPr lang="ko-KR" altLang="en-US" dirty="0"/>
              <a:t>을 받아서 </a:t>
            </a:r>
            <a:r>
              <a:rPr lang="en-US" altLang="ko-KR" dirty="0"/>
              <a:t>output</a:t>
            </a:r>
            <a:r>
              <a:rPr lang="ko-KR" altLang="en-US" dirty="0"/>
              <a:t>으로 내는 것이 기본적인 프로세스의 원리</a:t>
            </a:r>
            <a:r>
              <a:rPr lang="en-US" altLang="ko-KR" dirty="0"/>
              <a:t>. </a:t>
            </a:r>
            <a:r>
              <a:rPr lang="ko-KR" altLang="en-US" dirty="0"/>
              <a:t>하나의 프로그램에 여러 개의 프로세스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61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윈도우의 파일 시스템</a:t>
            </a:r>
            <a:r>
              <a:rPr lang="en-US" altLang="ko-KR" dirty="0"/>
              <a:t>(</a:t>
            </a:r>
            <a:r>
              <a:rPr lang="en-US" altLang="ko-KR" dirty="0" err="1"/>
              <a:t>ntfs</a:t>
            </a:r>
            <a:r>
              <a:rPr lang="en-US" altLang="ko-KR" dirty="0"/>
              <a:t>), </a:t>
            </a:r>
            <a:r>
              <a:rPr lang="ko-KR" altLang="en-US" dirty="0"/>
              <a:t>리눅스 파일 시스템</a:t>
            </a:r>
            <a:r>
              <a:rPr lang="en-US" altLang="ko-KR" dirty="0"/>
              <a:t>(ext4,</a:t>
            </a:r>
            <a:r>
              <a:rPr lang="ko-KR" altLang="en-US" dirty="0"/>
              <a:t> </a:t>
            </a:r>
            <a:r>
              <a:rPr lang="en-US" altLang="ko-KR"/>
              <a:t>XFS)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2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8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83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8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45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8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067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418320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18320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418320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710928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710928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710928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710928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003536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03536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003536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003536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296144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296144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296144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296144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588752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588752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588752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588752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81360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881360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881360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881360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19659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LINUX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E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명령어로 리눅스 시스템을 자유자재로 다루기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기본 구조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명령어를 실행하려면, 명령어 이름과 인자를 커맨드라인에 입력합니다.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4780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4780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4780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71576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 -l  /etc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8368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이름 (command)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 프로그램의 이름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60520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61688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6168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3484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(options / flags)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34840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방식을 바꾸는 </a:t>
            </a:r>
            <a:r>
              <a:rPr lang="en-US" sz="14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시작하는 값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91272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092440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0924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65592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인자 (arguments)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65592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작업할 대상(파일·경로 등)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도움말 보기: man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리눅스의 HELP에 해당하는 것이 man (manual)입니다.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&lt;명령어&gt; 로 해당 명령어의 도움말을 확인합니다.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출력은 한 </a:t>
            </a:r>
            <a:r>
              <a:rPr lang="en-US" sz="15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페이지씩</a:t>
            </a: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보여집니다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1792" y="37581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4672" y="37581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87552" y="37581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80160" y="3703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995928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25780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54864" cy="91440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페이지가 없는 명령어는 --help 옵션으로 간단한 사용법을 확인할 수 있습니다 (예: ls --help)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1965960"/>
            <a:ext cx="5102352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페이지 탐색 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278892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0372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페이지로 이동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356616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03720" y="3566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</a:t>
            </a:r>
            <a:r>
              <a:rPr lang="ko-KR" alt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혹은</a:t>
            </a: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5820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페이지로 이동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03720" y="434340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903720" y="4343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종료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51206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903720" y="5120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/검색어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5120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내 검색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상승: sudo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권한이 필요한 작업은 sudo를 앞에 붙여 실행합니다.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864" cy="868680"/>
          </a:xfrm>
          <a:prstGeom prst="roundRect">
            <a:avLst/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10863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EC2의 기본 사용자(ec2-user 등)는 root 비밀번호가 없고 sudo 그룹에 속해 있어, sudo로만 관리자 권한을 사용할 수 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199" y="3383280"/>
            <a:ext cx="7556269" cy="2169622"/>
          </a:xfrm>
          <a:prstGeom prst="roundRect">
            <a:avLst>
              <a:gd name="adj" fmla="val 390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" y="35295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35295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87552" y="35295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사용 예시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1" y="3767328"/>
            <a:ext cx="5812259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install httpd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관리자 권한으로 httpd 설치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root </a:t>
            </a:r>
            <a:r>
              <a:rPr lang="ko-KR" alt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사용자로</a:t>
            </a: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전환 (비밀번호 없이 가능)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입출력 스트림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프로세스는 세 가지 표준 스트림을 통해 터미널과 데이터를 주고받습니다.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16712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2606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입력을 받는 곳 — 기본값은 터미널(키보드)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40156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stdout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결과를 출력하는 곳 — 기본값은 터미널(화면)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63600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617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stderr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50749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오류 메시지를 출력하는 곳 — 기본값은 터미널(화면)</a:t>
            </a:r>
            <a:endParaRPr lang="en-US" sz="1250" dirty="0"/>
          </a:p>
        </p:txBody>
      </p:sp>
      <p:sp>
        <p:nvSpPr>
          <p:cNvPr id="34" name="Shape 6"/>
          <p:cNvSpPr/>
          <p:nvPr/>
        </p:nvSpPr>
        <p:spPr>
          <a:xfrm>
            <a:off x="6949440" y="2103120"/>
            <a:ext cx="4754880" cy="3931920"/>
          </a:xfrm>
          <a:prstGeom prst="roundRect">
            <a:avLst>
              <a:gd name="adj" fmla="val 2093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7"/>
          <p:cNvSpPr/>
          <p:nvPr/>
        </p:nvSpPr>
        <p:spPr>
          <a:xfrm>
            <a:off x="7178040" y="2267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</p:txBody>
      </p:sp>
      <p:sp>
        <p:nvSpPr>
          <p:cNvPr id="36" name="Shape 8"/>
          <p:cNvSpPr/>
          <p:nvPr/>
        </p:nvSpPr>
        <p:spPr>
          <a:xfrm>
            <a:off x="8321040" y="274320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9"/>
          <p:cNvSpPr/>
          <p:nvPr/>
        </p:nvSpPr>
        <p:spPr>
          <a:xfrm>
            <a:off x="832104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Keyboard</a:t>
            </a:r>
            <a:endParaRPr lang="en-US" sz="1500" dirty="0"/>
          </a:p>
        </p:txBody>
      </p:sp>
      <p:sp>
        <p:nvSpPr>
          <p:cNvPr id="38" name="Shape 10"/>
          <p:cNvSpPr/>
          <p:nvPr/>
        </p:nvSpPr>
        <p:spPr>
          <a:xfrm>
            <a:off x="8321040" y="489204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1"/>
          <p:cNvSpPr/>
          <p:nvPr/>
        </p:nvSpPr>
        <p:spPr>
          <a:xfrm>
            <a:off x="8321040" y="4892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Display</a:t>
            </a:r>
            <a:endParaRPr lang="en-US" sz="1500" dirty="0"/>
          </a:p>
        </p:txBody>
      </p:sp>
      <p:sp>
        <p:nvSpPr>
          <p:cNvPr id="40" name="Shape 12"/>
          <p:cNvSpPr/>
          <p:nvPr/>
        </p:nvSpPr>
        <p:spPr>
          <a:xfrm flipH="1">
            <a:off x="7057505" y="3154680"/>
            <a:ext cx="1263535" cy="566928"/>
          </a:xfrm>
          <a:prstGeom prst="line">
            <a:avLst/>
          </a:prstGeom>
          <a:noFill/>
          <a:ln w="25400">
            <a:solidFill>
              <a:srgbClr val="8FE3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3"/>
          <p:cNvSpPr/>
          <p:nvPr/>
        </p:nvSpPr>
        <p:spPr>
          <a:xfrm>
            <a:off x="7132320" y="4069080"/>
            <a:ext cx="1188720" cy="987552"/>
          </a:xfrm>
          <a:prstGeom prst="line">
            <a:avLst/>
          </a:prstGeom>
          <a:noFill/>
          <a:ln w="25400">
            <a:solidFill>
              <a:srgbClr val="1FAF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14"/>
          <p:cNvSpPr/>
          <p:nvPr/>
        </p:nvSpPr>
        <p:spPr>
          <a:xfrm>
            <a:off x="7132320" y="4069080"/>
            <a:ext cx="1188720" cy="1481328"/>
          </a:xfrm>
          <a:prstGeom prst="line">
            <a:avLst/>
          </a:prstGeom>
          <a:noFill/>
          <a:ln w="25400">
            <a:solidFill>
              <a:srgbClr val="E8A0A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15"/>
          <p:cNvSpPr/>
          <p:nvPr/>
        </p:nvSpPr>
        <p:spPr>
          <a:xfrm>
            <a:off x="5760720" y="3383280"/>
            <a:ext cx="1371600" cy="1371600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6"/>
          <p:cNvSpPr/>
          <p:nvPr/>
        </p:nvSpPr>
        <p:spPr>
          <a:xfrm>
            <a:off x="576072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45" name="Text 17"/>
          <p:cNvSpPr/>
          <p:nvPr/>
        </p:nvSpPr>
        <p:spPr>
          <a:xfrm>
            <a:off x="7498080" y="3194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</a:t>
            </a:r>
            <a:endParaRPr lang="en-US" sz="1100" dirty="0"/>
          </a:p>
        </p:txBody>
      </p:sp>
      <p:sp>
        <p:nvSpPr>
          <p:cNvPr id="46" name="Text 18"/>
          <p:cNvSpPr/>
          <p:nvPr/>
        </p:nvSpPr>
        <p:spPr>
          <a:xfrm>
            <a:off x="7498080" y="4197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AF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100" dirty="0"/>
          </a:p>
        </p:txBody>
      </p:sp>
      <p:sp>
        <p:nvSpPr>
          <p:cNvPr id="47" name="Text 19"/>
          <p:cNvSpPr/>
          <p:nvPr/>
        </p:nvSpPr>
        <p:spPr>
          <a:xfrm>
            <a:off x="7498080" y="4919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610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리다이렉션 (&gt;, 2&gt;)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명령어의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출력을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파일로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보낼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"&gt;"로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(1&gt;과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altLang="ko-KR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74552" cy="3977640"/>
          </a:xfrm>
          <a:prstGeom prst="roundRect">
            <a:avLst>
              <a:gd name="adj" fmla="val 1839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203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203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203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리다이렉션 예제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441448"/>
            <a:ext cx="107624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&gt; output.txt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표준출력을 output.txt로 저장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HelloWorld.java 2&gt; error.txt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HelloWorld.java를 컴파일하고, 에러 메시지만 error.txt에 저장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HelloWorld.java &gt; output.txt 2&gt; error.txt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표준출력은 output.txt, 표준에러는 error.txt로 각각 분리 저장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리다이렉션과 파이프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 리다이렉션 ( &lt; 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&lt; input.txt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input.txt를 입력으로 받아 줄 수를 출력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74552" cy="2240280"/>
          </a:xfrm>
          <a:prstGeom prst="roundRect">
            <a:avLst>
              <a:gd name="adj" fmla="val 3265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1792" y="394106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04672" y="394106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87552" y="394106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80160" y="388620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파이프 ( | ) — 한 명령의 출력을 다른 명령의 입력으로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4178808"/>
            <a:ext cx="10762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-ef | grep httpd | wc -l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ps 결과 → grep으로 "httpd" 포함 줄만 추림 → wc로 그 줄 수를 셈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결과: httpd 관련 프로세스 개수 출력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명령어: pwd · who · whoami · which · su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기본 명령어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53400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/home/ec2-user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ec2-user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which whoami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/usr/bin/whoami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66760" y="20116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작업 디렉터리(print working directory) 출력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629400" y="2798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66760" y="2798064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로그인한 사용자 이름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62940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358444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명령어의 전체 경로 표시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6629400" y="4370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66760" y="4370832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시스템에 로그인한 모든 사용자 목록 표시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6629400" y="5157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 - &lt;계정명&gt;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66760" y="515721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전환. exit로 이전 계정 복귀 (예: su - root)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구조 기호와 이동 (cd)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4552" cy="285292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루트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최상위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./script.sh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위치 기준 상위(부모)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홈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~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바로 이전 디렉터리 (cd 전용)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-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1792" y="52212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7"/>
          <p:cNvSpPr/>
          <p:nvPr/>
        </p:nvSpPr>
        <p:spPr>
          <a:xfrm>
            <a:off x="804672" y="52212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87552" y="52212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280160" y="516636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예시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13232" y="5458968"/>
            <a:ext cx="10762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 &amp;&amp; pwd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/home/ec2-user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명령어: cp · mv · touch · rm · mkdir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파일·디렉터리 다루기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fromfile tofile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fromfile을 tofile로 복사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fromfile tofile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fromfile을 tofile로 이동/이름변경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sample.txt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빈 파일 생성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sample.txt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삭제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-r somedir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somedir 안의 모든 파일·디렉터리까지 재귀적으로 삭제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newdir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새 디렉터리 생성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rmdir olddir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비어 있는 디렉터리만 삭제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링크: 심볼릭 링크 vs 하드 링크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1226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1226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1226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심볼릭 링크 생성 (symlink가 이미 있으면 실패)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50008"/>
            <a:ext cx="10762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ln -s /path/file /path/symlink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2980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심볼릭 </a:t>
            </a:r>
            <a:r>
              <a:rPr lang="en-US" sz="1400" b="1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</a:t>
            </a: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(=soft link)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88820" y="4544568"/>
            <a:ext cx="2377440" cy="502920"/>
          </a:xfrm>
          <a:prstGeom prst="roundRect">
            <a:avLst>
              <a:gd name="adj" fmla="val 16364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988820" y="4544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(inode)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645920" y="3904488"/>
            <a:ext cx="1056132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794760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FBEEDD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9476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symlink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경로(path)만 참조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파일의 "경로"를 가리키는 바로가기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원본을 삭제하면 경로가 끊어져 symlink가 깨짐 (broken link)</a:t>
            </a:r>
          </a:p>
          <a:p>
            <a:pPr marL="342900" indent="-342900">
              <a:lnSpc>
                <a:spcPct val="125000"/>
              </a:lnSpc>
              <a:buSzPct val="100000"/>
              <a:buFontTx/>
              <a:buChar char="•"/>
            </a:pP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디렉터리에도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있고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파일시스템의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파일도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가리킬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45352" y="2834640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73952" y="2980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 링크 (hard link)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19672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19672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6972" y="4544568"/>
            <a:ext cx="2377440" cy="502920"/>
          </a:xfrm>
          <a:prstGeom prst="roundRect">
            <a:avLst>
              <a:gd name="adj" fmla="val 16364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776972" y="4544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(inode)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34072" y="3904488"/>
            <a:ext cx="1056132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9582912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582912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하드링크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(hardlink)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H="1">
            <a:off x="9582912" y="3904488"/>
            <a:ext cx="914400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308592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동일하게 직접 참조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19672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원본과 하드링크 모두 같은 데이터(inode)를 직접 가리킴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원본을 삭제해도 하드링크 이름이 남아있으면 </a:t>
            </a:r>
            <a:r>
              <a:rPr lang="en-US" sz="11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</a:t>
            </a: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유지됨</a:t>
            </a:r>
            <a:endParaRPr lang="en-US" sz="1150" dirty="0">
              <a:solidFill>
                <a:srgbClr val="1B202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5000"/>
              </a:lnSpc>
              <a:buSzPct val="100000"/>
              <a:buFontTx/>
              <a:buChar char="•"/>
            </a:pP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디렉터리에는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없고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파일시스템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안에서만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altLang="ko-KR" sz="1100" dirty="0"/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37" name="Shape 17"/>
          <p:cNvSpPr/>
          <p:nvPr/>
        </p:nvSpPr>
        <p:spPr>
          <a:xfrm flipH="1" flipV="1">
            <a:off x="2546604" y="3632662"/>
            <a:ext cx="1216152" cy="665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239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 보기: cat · more · less · head · tail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보기 명령어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내용을 표준출력으로 그대로 출력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more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 페이지씩 보기, 스페이스바로 다음 페이지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less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more과 유사하지만 위아래 모두 이동 가능 (f/b, j/k, /검색, q종료)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파일의 처음 10줄 표시 (head -n N: N줄)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-f /var/log/messages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끝부분을 실시간으로 계속 보여줌 (로그 모니터링에 유용)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ls와 파일 권한 개요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-al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-a: 숨김 파일 포함, -l: 상세 정보(long format)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drwxr-xr-x  2 ec2-user ec2-user  4096  Sep 10 10:00 .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 1 ec2-user ec2-user   220  Sep 10 10:00 sample.txt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54864" cy="123444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10863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맨 앞 10글자가 파일 종류(d=디렉터리, -=파일)와 권한(rwx)을 나타냅니다 — 다음 슬라이드에서 자세히 설명합니다.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상세: User · Group · Other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파일·디렉터리는 소유자(User) · 그룹(Group) · 그 외(Other) 각각에 대해 rwx 권한을 가집니다.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73736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83464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3464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1376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151376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33425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3425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3425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3153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3153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3153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2881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2881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2881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45552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845552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02843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02843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02843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2571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12571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12571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22299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22299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22299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457200" y="44348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권한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457200" y="4745736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  <a:buSzPct val="100000"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(r)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내용을 화면에서 확인 (cat, less 등)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(w)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내용을 수정 · 삭제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(x)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프로그램 · 스크립트로 실행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6245352" y="44348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권한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6245352" y="4745736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  <a:buSzPct val="100000"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(r)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ls로 디렉터리 안의 파일 목록을 확인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(w)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안에 파일 · 폴더를 생성 · 삭제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(x)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뿐만 아니라, 그 디렉터리를 통과할 수 있는 권한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4"/>
          <p:cNvSpPr/>
          <p:nvPr/>
        </p:nvSpPr>
        <p:spPr>
          <a:xfrm>
            <a:off x="457200" y="5943600"/>
            <a:ext cx="54864" cy="457200"/>
          </a:xfrm>
          <a:prstGeom prst="roundRect">
            <a:avLst/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5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디렉터리는 read(목록 보기)와 execute(통과 · 접근)가 서로 다른 권한입니다 — x 없이 r만 있으면 목록은 보여도 안에 들어가거나 파일을 열 수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— 권한 변경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파일·디렉터리의 접근 권한을 변경합니다.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852160" cy="2331720"/>
          </a:xfrm>
          <a:prstGeom prst="roundRect">
            <a:avLst>
              <a:gd name="adj" fmla="val 313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예시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53400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a+x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소유자·그룹·기타 모두에게 실행 권한 부여 (a=all)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u-rx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소유자(u)의 읽기·실행 권한 제거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5852160" cy="1600200"/>
          </a:xfrm>
          <a:prstGeom prst="roundRect">
            <a:avLst>
              <a:gd name="adj" fmla="val 457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792" y="46725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4672" y="46725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87552" y="46725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80160" y="46177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숫자 모드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4910328"/>
            <a:ext cx="5340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664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숫자 모드: 소유자·그룹은 읽기+쓰기(6), 기타는 읽기만(4)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2011680"/>
            <a:ext cx="5102352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0372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r>
              <a:rPr lang="en-US" sz="1600" b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r>
              <a:rPr lang="en-US" sz="16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6 6 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27889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278892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092440" y="2788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27889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744200" y="278892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74420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3794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379476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92440" y="3794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01200" y="37947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744200" y="379476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74420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4800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92440" y="480060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092440" y="4800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9601200" y="48006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744200" y="480060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744200" y="4800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· chgrp — 소유자 변경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chmod가 "권한"을 바꾼다면, chown/chgrp는 파일의 "소유자·그룹" 자체를 바꿉니다.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606040"/>
          </a:xfrm>
          <a:prstGeom prst="roundRect">
            <a:avLst>
              <a:gd name="adj" fmla="val 280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 · chgrp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ec2-user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소유자를 ec2-user로 변경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ec2-user:webteam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소유자와 그룹을 동시에 변경 (사용자:그룹)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chgrp webteam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그룹만 webteam으로 변경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54864" cy="960120"/>
          </a:xfrm>
          <a:prstGeom prst="roundRect">
            <a:avLst/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892040"/>
            <a:ext cx="10863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소유자·그룹 변경은 관리자 권한(sudo)이 필요한 경우가 대부분입니다.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파일 검색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안에서 조건에 맞는 파일을 검색합니다.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679192"/>
          </a:xfrm>
          <a:prstGeom prst="roundRect">
            <a:avLst>
              <a:gd name="adj" fmla="val 307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예시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-name "*.java"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디렉터리 이하에서 이름이 .java로 끝나는 파일 검색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/var/log -type f -mtime -1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/var/log에서 최근 1일 이내 수정된 일반 파일 검색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-size +100M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위치 이하에서 100MB보다 큰 파일 검색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5414080"/>
            <a:ext cx="3607857" cy="384048"/>
          </a:xfrm>
          <a:prstGeom prst="rect">
            <a:avLst/>
          </a:prstGeom>
          <a:solidFill>
            <a:srgbClr val="E4F5E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5"/>
          <p:cNvSpPr/>
          <p:nvPr/>
        </p:nvSpPr>
        <p:spPr>
          <a:xfrm>
            <a:off x="457200" y="5414080"/>
            <a:ext cx="36078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-1  (0~24시간)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065057" y="5414080"/>
            <a:ext cx="3833348" cy="384048"/>
          </a:xfrm>
          <a:prstGeom prst="rect">
            <a:avLst/>
          </a:prstGeom>
          <a:solidFill>
            <a:srgbClr val="262E3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065057" y="5414080"/>
            <a:ext cx="3833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1  (24~48시간)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98404" y="5414080"/>
            <a:ext cx="3833348" cy="384048"/>
          </a:xfrm>
          <a:prstGeom prst="rect">
            <a:avLst/>
          </a:prstGeom>
          <a:solidFill>
            <a:srgbClr val="FBEED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898404" y="5414080"/>
            <a:ext cx="3833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+1  (48시간~)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70320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— 패턴 검색 기본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[옵션] 패턴 [파일...]  </a:t>
            </a:r>
            <a:r>
              <a:rPr lang="en-US" sz="13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ko-KR" altLang="en-US" sz="13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파일에서 </a:t>
            </a:r>
            <a:r>
              <a:rPr lang="en-US" sz="13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13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패턴이 포함된 줄을 찾아 출력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74552" cy="3063240"/>
          </a:xfrm>
          <a:prstGeom prst="roundRect">
            <a:avLst>
              <a:gd name="adj" fmla="val 238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1792" y="31638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4672" y="31638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87552" y="31638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80160" y="310896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access.log에서 IP 검색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401568"/>
            <a:ext cx="1076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"192.168.1.1" access.log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[26/Aug/2024:12:30:45 +0000] "GET /page1 HTTP/1.1" 200 1234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[26/Aug/2024:14:20:10 +0000] "POST /submit HTTP/1.1" 302 8765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192.168.1.1이 포함된 로그 줄만 출력됨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옵션 활용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자주 쓰는 grep 옵션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-r: 현재 디렉터리와 모든 하위 디렉터리를 재귀적으로 검색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-rn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-n: 매칭된 줄의 라인 번호까지 함께 표시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-ir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-i: 대소문자 구분 없이 검색 (Hello, HELLO도 매칭)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"t[wo]o"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정규식 사용: t 다음 w 또는 o, 그 다음 o → "two", "too" 매칭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xargs + grep 파이프라인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조합 예시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-name "*.java" | xargs grep -i "hello"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34640" y="3840480"/>
            <a:ext cx="1705356" cy="0"/>
          </a:xfrm>
          <a:prstGeom prst="line">
            <a:avLst/>
          </a:prstGeom>
          <a:noFill/>
          <a:ln w="31750">
            <a:solidFill>
              <a:srgbClr val="1FAF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39996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39996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xargs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17436" y="3840480"/>
            <a:ext cx="1705356" cy="0"/>
          </a:xfrm>
          <a:prstGeom prst="line">
            <a:avLst/>
          </a:prstGeom>
          <a:noFill/>
          <a:ln w="31750">
            <a:solidFill>
              <a:srgbClr val="1FAF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622792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22792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.java 파일 목록을 찾음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65676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파일명들을 </a:t>
            </a:r>
            <a:r>
              <a:rPr lang="en-US" sz="110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받아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-i hello &lt;file1&gt; &lt;file2&gt; ... 형태로 실행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48472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.java </a:t>
            </a:r>
            <a:r>
              <a:rPr lang="en-US" sz="110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파일에서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"hello"(대소문자 무시)를 검색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8788" y="53949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54864" cy="77724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" y="5394960"/>
            <a:ext cx="10863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-ir "hello" .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비슷하지만, find로 검색 대상을 더 정교하게 지정할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처리 도구 더 보기: sed · awk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grep이 "찾기"에 특화되어 있다면, sed와 awk는 텍스트를 찾아서 바꾸거나 가공하는 데 사용합니다.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852160" cy="2697480"/>
          </a:xfrm>
          <a:prstGeom prst="roundRect">
            <a:avLst>
              <a:gd name="adj" fmla="val 271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— Stream EDitor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53400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 bar foo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's/foo/bar/g'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 bar bar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화면에 출력만 함 (file.txt 내용은 그대로)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-i 's/foo/bar/g'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-i: file.txt 자체를 bar bar bar로 덮어씀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54864" cy="123444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sed는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기본적으로 원본을 열어 고치지 않고, 한 줄씩 읽으며 바뀐 결과를 화면에 출력합니다. -i 옵션을 주면 그 결과로 원본 파일 자체를 덮어쓰므로, 실수에 대비해 sed -i.bak 처럼 백업 확장자를 함께 쓰는 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것이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안전합니다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file.txt.bak</a:t>
            </a:r>
            <a:r>
              <a:rPr lang="ko-KR" alt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원본</a:t>
            </a:r>
            <a:r>
              <a:rPr lang="en-US" altLang="ko-KR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2011680"/>
            <a:ext cx="5102352" cy="1965960"/>
          </a:xfrm>
          <a:prstGeom prst="roundRect">
            <a:avLst>
              <a:gd name="adj" fmla="val 372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7939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9768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1597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52360" y="210312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awk — 필드 기반 처리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85432" y="2395728"/>
            <a:ext cx="4590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access.log</a:t>
            </a:r>
            <a:endParaRPr lang="en-US" sz="1050" dirty="0"/>
          </a:p>
          <a:p>
            <a:pPr>
              <a:lnSpc>
                <a:spcPct val="128000"/>
              </a:lnSpc>
            </a:pPr>
            <a:r>
              <a:rPr lang="en-US" altLang="ko-KR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[26/Aug/2024:12:30:45 +0000] "GET /page1 HTTP/1.1" 200 1234</a:t>
            </a:r>
            <a:endParaRPr lang="en-US" altLang="ko-KR" sz="1050" dirty="0"/>
          </a:p>
          <a:p>
            <a:pPr marL="0" indent="0" algn="l">
              <a:lnSpc>
                <a:spcPct val="128000"/>
              </a:lnSpc>
              <a:buNone/>
            </a:pP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$1}' access.log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공백 기준으로 나눈 첫 번째 필드(IP) 출력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4114800"/>
            <a:ext cx="51023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0" y="4251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필드(field) 분해 — 위 access.log 기준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4617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26680" y="4617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 (IP)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858000" y="49469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$6~8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6680" y="49469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/page1 HTTP/1.1" (요청)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858000" y="5276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52760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(상태 코드)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858000" y="56052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26680" y="5605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필드 (여기서는 1234, 응답 크기)</a:t>
            </a:r>
            <a:endParaRPr lang="en-US" sz="1080" dirty="0"/>
          </a:p>
        </p:txBody>
      </p:sp>
    </p:spTree>
    <p:extLst>
      <p:ext uri="{BB962C8B-B14F-4D97-AF65-F5344CB8AC3E}">
        <p14:creationId xmlns:p14="http://schemas.microsoft.com/office/powerpoint/2010/main" val="2360874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압축과 해제: tar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509760" y="24688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36608" y="2148840"/>
            <a:ext cx="1609344" cy="384048"/>
          </a:xfrm>
          <a:prstGeom prst="roundRect">
            <a:avLst>
              <a:gd name="adj" fmla="val 14286"/>
            </a:avLst>
          </a:prstGeom>
          <a:solidFill>
            <a:srgbClr val="E7A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948672" y="2313432"/>
            <a:ext cx="585216" cy="128016"/>
          </a:xfrm>
          <a:prstGeom prst="rect">
            <a:avLst/>
          </a:prstGeom>
          <a:solidFill>
            <a:srgbClr val="C87F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3268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.tar.gz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" y="229514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229514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87552" y="229514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80160" y="2240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압축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532888"/>
            <a:ext cx="5340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-czvf archive.tar.gz </a:t>
            </a: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/path/directory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아카이브 생성      </a:t>
            </a: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-z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gzip으로 압축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상황 표시   </a:t>
            </a: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지정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" y="52212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4672" y="52212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87552" y="52212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80160" y="516636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압축 해제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5458968"/>
            <a:ext cx="7626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-xzvf archive.tar.gz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-x: 압축 해제(extract)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62647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스크립트 작성하기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셸이 직접 실행하도록 만든 프로그램(스크립트)입니다.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sample.sh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target_dir="/path/to/directory"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output_file="archive.tar.gz"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"$target_dir" -type f -name "*.txt" | xargs tar -czvf "$output_file"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864" cy="77724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10863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일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target_dir 안(하위 디렉터리 포함)에 있는 모든 .txt 파일만 골라 archive.tar.gz라는 압축 파일 하나로 묶습니다 — .jpg, .log 같은 다른 확장자 파일은 무시됩니다.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1792" y="49469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4672" y="49469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87552" y="49469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80160" y="489204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" y="518464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a+x sample.sh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 권한 부여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./sample.sh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48992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다운로드 &amp; 웹 통신: wget · curl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wget은 다운로드 전용 도구이고, curl은 다양한 프로토콜과 통신하는 범용 클라이언트입니다 — 다운로드는 curl 기능의 일부일 뿐입니다.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13232" y="2176272"/>
            <a:ext cx="585216" cy="585216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1323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112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wget — 다운로드 전용 도구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59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HTTP·HTTPS·FTP에서 파일을 받아 저장하는 데 특화 — 기본 동작 자체가 곧 다운로드입니다.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45352" y="196596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01384" y="2176272"/>
            <a:ext cx="585216" cy="585216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01384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51192" y="2112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— 범용 통신 클라이언트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51192" y="2459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URL의 약자 — HTTP·FTP·SMTP 등 다양한 프로토콜로 데이터를 주고받음. 다운로드는 -O로 켜는 기능 중 하나일 뿐입니다.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80160" y="3291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wget — 저장이 기본값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3584448"/>
            <a:ext cx="5340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wget https://example.com/file.png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웹에서 파일을 그대로 다운로드해 저장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옵션 없이 실행해도 동작은 "다운로드" 하나뿐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3200400"/>
            <a:ext cx="5102352" cy="2606040"/>
          </a:xfrm>
          <a:prstGeom prst="roundRect">
            <a:avLst>
              <a:gd name="adj" fmla="val 280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7939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9768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1597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52360" y="329184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— 저장은 옵션(-O)일 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85432" y="3584448"/>
            <a:ext cx="45902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-O https://.../file.png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-O: 파일로 저장 (다운로드 모드로 전환)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https://example.com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응답 헤더만 확인 — 파일을 받지 않고 "접속"만 함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-d '{"name":"kim"}' \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https://api.example.com/users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서버로 데이터 전송 — 다운로드와 반대 방향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5943600"/>
            <a:ext cx="54864" cy="457200"/>
          </a:xfrm>
          <a:prstGeom prst="roundRect">
            <a:avLst/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등 최신 배포판에는 curl이 기본 설치되어 있으나, wget은 별도로 dnf install wget이 필요할 수 있습니다.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3471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환경 설정: .bash_profile · .bashrc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.bash_profile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로그인할 때 한 번 실행되며, 로그인 세션의 초기 설정을 구성합니다.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73952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3952" y="23957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셸(터미널)을 열 때마다 실행되며, alias·PATH 등 개인화 설정에 사용됩니다.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로그인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(세션 시작)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터미널 창 / 서브셸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(열 때마다 반복)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3246120"/>
            <a:ext cx="3063240" cy="594360"/>
          </a:xfrm>
          <a:prstGeom prst="roundRect">
            <a:avLst>
              <a:gd name="adj" fmla="val 13846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1188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.bash_profile 실행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(세션당 1회)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794760"/>
            <a:ext cx="3502152" cy="685800"/>
          </a:xfrm>
          <a:prstGeom prst="roundRect">
            <a:avLst>
              <a:gd name="adj" fmla="val 12000"/>
            </a:avLst>
          </a:prstGeom>
          <a:solidFill>
            <a:srgbClr val="1FAF7D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0" y="379476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 실행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543300"/>
            <a:ext cx="411480" cy="0"/>
          </a:xfrm>
          <a:prstGeom prst="line">
            <a:avLst/>
          </a:prstGeom>
          <a:noFill/>
          <a:ln w="22225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75120" y="3543300"/>
            <a:ext cx="640080" cy="457200"/>
          </a:xfrm>
          <a:prstGeom prst="line">
            <a:avLst/>
          </a:prstGeom>
          <a:noFill/>
          <a:ln w="25400">
            <a:solidFill>
              <a:srgbClr val="168F6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20840" y="32506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내부에서 source ~/.bashrc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4640580"/>
            <a:ext cx="4114800" cy="0"/>
          </a:xfrm>
          <a:prstGeom prst="line">
            <a:avLst/>
          </a:prstGeom>
          <a:noFill/>
          <a:ln w="22225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54864" cy="91440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5800" y="5212080"/>
            <a:ext cx="10863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로그인할 때는 .bash_profile → .bashrc 순서로 둘 다 실행되지만, 이후 새 터미널·서브셸에서는 .bashrc만 실행됩니다. (.bash_profile 안의 if [ -f ~/.bashrc ]; then . ~/.bashrc; fi 코드가 이 연결을 담당)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256285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· PATH · 환경변수 커스터마이징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 커스터마이징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552297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your own aliases here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ll='ls -alF'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myalias='echo This is my alias!'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Additional paths to be added to PATH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! [[ "$PATH" =~ "/opt/myapp/bin:" ]]; then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PATH="/opt/myapp/bin:$PATH"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PATH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011680"/>
            <a:ext cx="50109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9494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환경변수란?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69748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PATH처럼 셸과 프로그램이 참조하는 이름-값 쌍의 설정 정보입니다.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export로 지정하면 이후 실행되는 자식 프로세스에도 값이 전달됩니다.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명령으로 전체 목록을 확인할 수 있습니다.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97745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637429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75488" y="163742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508760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명령어는 이름 + 옵션 + 인자 구조이며, man으로 사용법을 확인하고 관리자 작업은 sudo로 실행합니다.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5488" y="2297103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22971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168434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입출력(stdin/stdout/stderr)을 &gt;, &lt;, | 로 자유롭게 연결·저장할 수 있습니다.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75488" y="2956778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" y="29567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828109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cp/mv/rm/mkdir 등으로 파일을 다루고, ln -s(심볼릭)와 ln(하드) 링크의 차이를 구분합니다.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5488" y="3616452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" y="36164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487783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chmod로 권한을, chown/chgrp로 소유자·그룹을 관리합니다.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5488" y="4276126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5488" y="42761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147457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find·grep·sed·awk·xargs를 조합하면 대량의 텍스트/파일을 강력하게 처리할 수 있습니다.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5488" y="4935801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493580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807131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tar로 압축하고, 셸 스크립트로 반복 작업을 자동화하며, curl/wget으로 파일을 내려받습니다.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75488" y="5595475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5488" y="55954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466806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.bash_profile · .bashrc · 환경변수로 나만의 작업 환경을 구성합니다.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2866</Words>
  <Application>Microsoft Office PowerPoint</Application>
  <PresentationFormat>와이드스크린</PresentationFormat>
  <Paragraphs>500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태호 안</cp:lastModifiedBy>
  <cp:revision>19</cp:revision>
  <dcterms:created xsi:type="dcterms:W3CDTF">2026-09-12T06:18:56Z</dcterms:created>
  <dcterms:modified xsi:type="dcterms:W3CDTF">2026-09-28T05:05:40Z</dcterms:modified>
</cp:coreProperties>
</file>