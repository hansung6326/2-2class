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75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697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68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1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17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배포하지 않고 집에서 개인적으로 사용하는 것은 의무사항이 없음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640080" y="19659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E1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2강 · 라이선스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23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Source Software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자유에는 조건이 있다 — 저작권 위에서 지켜야 할 규칙들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55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라이선스란 무엇인가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93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저작권·특허와 어떻게 다른가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96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현황과 새로운 리스크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35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무엇이 쓰이고, AI는 무엇을 바꿨나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준수사항과 의무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776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지켜야 할 것들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197096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79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라이선스 살펴보기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GPL, LGPL, MPL, BSD, Apache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038344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 적용하기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5458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비교, 양립성, 이중 라이선스, 관리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라이선스란 무엇인가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라이선스란 무엇인가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저작권·특허와 헷갈리기 쉽지만, 셋은 서로 다른 권리입니다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(Copyright)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창작과 동시에 자동으로 발생하는 권리.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저작물을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보호하고, 타인이 쓰려면 저작자의 허락이 필요.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80560" y="216712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(Patent)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62432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발명에 대해 별도로 출원해 인정받는 독점권. 제품·기술에 대한 배타적 권리를 부여.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92440" y="216712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(License)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262432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저작권자가 사용자에게 내리는 '사용 허가'.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조건 아래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사용·수정·배포의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허용.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05840" y="4434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저작권자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(Licensor)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4434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13816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(Licensee)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4572000"/>
            <a:ext cx="4206240" cy="0"/>
          </a:xfrm>
          <a:prstGeom prst="line">
            <a:avLst/>
          </a:prstGeom>
          <a:noFill/>
          <a:ln w="22225">
            <a:solidFill>
              <a:srgbClr val="6D3FD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94760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·  수정 · 배포의 자유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5029200"/>
            <a:ext cx="4206240" cy="0"/>
          </a:xfrm>
          <a:prstGeom prst="line">
            <a:avLst/>
          </a:prstGeom>
          <a:noFill/>
          <a:ln w="22225">
            <a:solidFill>
              <a:srgbClr val="0E9A57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9476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범위 · 의무사항 준수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라이선스가 명시되지 않은 프로젝트를 사용하는 것은 위험합니다 — 법적 문제가 발생할 수 있습니다.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15768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현황과 새 리스크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오늘날, 어떤 라이선스가 쓰이나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 약 2,000여 종의 OSS 라이선스가 있지만, 실무는 소수가 지배합니다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오픈소스 컴포넌트 중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 라이선스 비중 (2024년)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80560" y="21762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altLang="ko-KR" sz="1100" dirty="0"/>
              <a:t>MIT </a:t>
            </a:r>
            <a:r>
              <a:rPr lang="ko-KR" altLang="en-US" sz="1100" dirty="0"/>
              <a:t>라이선스 코드를 포함한 </a:t>
            </a:r>
            <a:endParaRPr lang="en-US" altLang="ko-KR" sz="1100" dirty="0"/>
          </a:p>
          <a:p>
            <a:pPr>
              <a:lnSpc>
                <a:spcPct val="125000"/>
              </a:lnSpc>
            </a:pPr>
            <a:r>
              <a:rPr lang="ko-KR" altLang="en-US" sz="1100" dirty="0"/>
              <a:t>상용 코드베이스의 비율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92440" y="21762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92440" y="2880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Copyleft(GPL 계열)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비중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과거 40%대에서 지속 하락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가장 널리 쓰이는 라이선스 1위 자리를 유지하고, </a:t>
            </a: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2.0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Kubernetes 등 클라우드 네이티브 진영에서 강세입니다.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계열은 Linux 커널 등 시스템 소프트웨어에 집중되며 비중이 꾸준히 줄고 있습니다.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Black Duck OSSRA 2025·2026, Open Source Initiative(OSI) 2025 라이선스 랭킹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15768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현황과 새 리스크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코딩 도구가 불러온 새로운 리스크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세탁(License Laundering)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30133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상용 코드베이스의 라이선스 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8056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7614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 코드의 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IP·라이선스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Risk를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검토하는 기업 비율 — 나머지 절반 가까이는 검토 없이 사용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9244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2,675건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92440" y="27614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코드베이스에서 발견된 라이선스 충돌 건수 (최대 사례)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Copilot, Cursor 같은 AI 코딩 도구는 GPL 등 카피레프트 코드를 포함한 방대한 공개 저장소로 학습됩니다. 코드를 생성할 때 그 코드가 어떤 라이선스에서 유래했는지 정보가 남지 않기 때문에, 개발자는 자신도 모르게 카피레프트 코드를 라이선스 표시 없이 프로젝트에 끌어오게 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Black Duck 2026 OSSRA(Open Source Security and Risk Analysis) 리포트  ·  </a:t>
            </a: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 "검증자로서의 개발자" 메시지와 연결됩니다 — AI가 짜준 코드일수록 출처 확인이 중요합니다.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준수사항과 의무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준수사항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OSS라면 라이선스 종류와 무관하게 지켜야 하는 세 가지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문구 유지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소스에 담긴 저작권 문구를 그대로 유지해야 합니다. 소스를 수정했다면, 기존 라이선스 아래에 수정 사실·일자·수정자의 저작권 문구를 추가로 명시합니다.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0" y="2267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상표권 보호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34290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제품명은 상표권(trademark)으로 보호됩니다. 동일한 이름을 자신의 제품·서비스명으로 사용하면 상표권 침해가 될 수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92440" y="2267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9244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92440" y="28346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양립성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92440" y="34290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라이선스의 코드를 결합할 때, 두 라이선스의 요구사항이 상충하지 않는지 확인해야 합니다. 상충하면 결합된 프로그램을 배포하는 것 자체가 불가능해질 수 있습니다.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준수사항과 의무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라이선스에 따라 달라지는 의무사항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셋을 요구하는 라이선스도, 일부만 요구하는 라이선스도 있습니다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여부 명시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"본 SW는 오픈소스 OO를 사용하였습니다"를 매뉴얼 등에 고지.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2907792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altLang="ko-KR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GPL·LGPL·MPL — </a:t>
            </a:r>
            <a:r>
              <a:rPr lang="ko-KR" alt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소스를 어디서 구할 수 </a:t>
            </a:r>
            <a:r>
              <a:rPr lang="ko-KR" altLang="en-US" sz="1000" b="1" dirty="0" err="1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있는지까지</a:t>
            </a:r>
            <a:r>
              <a:rPr lang="ko-KR" alt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구체적으로 고지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altLang="ko-KR" sz="100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MIT·BSD·Apache</a:t>
            </a:r>
            <a:r>
              <a:rPr lang="en-US" altLang="ko-KR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</a:t>
            </a:r>
            <a:r>
              <a:rPr lang="ko-KR" alt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코드에 저작권 문구 유지로 충분한 경우가 많음</a:t>
            </a:r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공개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수정·추가한 부분의 소스코드를 공개해야 하는 경우가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703320"/>
            <a:ext cx="2907792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80560" y="3840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라이선스: GPL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43891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범위는 라이선스마다 상이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9244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조항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92440" y="27432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Patent Grant — 저작권자의 특허권도 함께 무상 제공.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3703320"/>
            <a:ext cx="2907792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092440" y="3840479"/>
            <a:ext cx="2907792" cy="102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Patent Retaliation —</a:t>
            </a:r>
            <a:r>
              <a:rPr lang="ko-KR" alt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특허소송을 걸면 라이선스가 자동 종료되고 로열티가 부과되는 등 보복 조항이 적용됩니다</a:t>
            </a:r>
            <a:r>
              <a:rPr lang="en-US" altLang="ko-KR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준수사항과 의무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스펙트럼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Permissive에서 Strong Copyleft까지, 자유의 정도가 다릅니다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27120" cy="457200"/>
          </a:xfrm>
          <a:prstGeom prst="roundRect">
            <a:avLst>
              <a:gd name="adj" fmla="val 12000"/>
            </a:avLst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67200" y="2286000"/>
            <a:ext cx="3627120" cy="457200"/>
          </a:xfrm>
          <a:prstGeom prst="rect">
            <a:avLst/>
          </a:prstGeom>
          <a:solidFill>
            <a:srgbClr val="6D3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894320" y="2286000"/>
            <a:ext cx="3627120" cy="457200"/>
          </a:xfrm>
          <a:prstGeom prst="roundRect">
            <a:avLst>
              <a:gd name="adj" fmla="val 12000"/>
            </a:avLst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2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 (자유로움)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94320" y="1920240"/>
            <a:ext cx="362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Restrictive (제약이 강함)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 Me Credit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9044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BSD, MIT, Apache License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27024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수정해도 소스공개 의무 없음.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표시만 유지하면 자유롭게 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306324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80560" y="32461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 Me Fixes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Weak Copyleft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39044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LGPL, MPL, EPL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427024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수정한 부분만 공개 의무.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연결·결합된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나머지 코드는 자유롭게 배포 가능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63840" y="306324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092440" y="32461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 Me Everything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Strong Copyleft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92440" y="39044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GPL, Affero GPL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92440" y="427024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결합된 전체 프로그램의 소스코드를 동일 라이선스로 공개해야 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Copyright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저작물을 보호하고 사용자가 저작자의 허락을 받도록 하는 개념이고,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 err="1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Copyleft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자유로운 사용·배포를 허용하되 변경된 소스코드도 동일 라이선스로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공개하도록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함으로써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파생물이 계속 자유롭게 유지되도록 합니다.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대표 라이선스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— 가장 강력한 Copyleft 라이선스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Software Foundation(FSF)이 만든, 가장 제약이 강한 라이선스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v2.0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SW를 </a:t>
            </a:r>
            <a:r>
              <a:rPr lang="en-US" sz="1100" u="sng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하거나 라이브러리를 </a:t>
            </a:r>
            <a:r>
              <a:rPr lang="en-US" sz="1100" u="sng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(정적·동적 모두)하면, 개발된 SW 전체를 공개하고 GPL로 배포해야 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내부적으로만 사용(배포하지 않음)하는 경우에는 공개 의무 없음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2277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기업 입장에서는 영업 비밀(성능 개선, 핵심 기능)까지 공개해야 하므로 사업 전략과 상충될 수 있음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4709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48006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사례: Linux Kernel, MariaDB, WordPress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v3.0 — v2 대비 달라진 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6060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altLang="ko-KR" sz="1100" dirty="0" err="1"/>
              <a:t>Tivoization</a:t>
            </a:r>
            <a:r>
              <a:rPr lang="en-US" altLang="ko-KR" sz="1100" dirty="0"/>
              <a:t> </a:t>
            </a:r>
            <a:r>
              <a:rPr lang="ko-KR" altLang="en-US" sz="1100" dirty="0"/>
              <a:t>금지 조항 추가 </a:t>
            </a:r>
            <a:r>
              <a:rPr lang="en-US" altLang="ko-KR" sz="1100" dirty="0"/>
              <a:t>— </a:t>
            </a:r>
            <a:r>
              <a:rPr lang="ko-KR" altLang="en-US" sz="1100" dirty="0"/>
              <a:t>소스코드만 주는 걸로 끝나지 않고</a:t>
            </a:r>
            <a:r>
              <a:rPr lang="en-US" altLang="ko-KR" sz="1100" dirty="0"/>
              <a:t>, </a:t>
            </a:r>
            <a:r>
              <a:rPr lang="ko-KR" altLang="en-US" sz="1100" dirty="0"/>
              <a:t>사용자가 그 코드를 고쳐서 만든 프로그램을 실제 기기에 설치해 실행할 수 있게 해줘야 함 </a:t>
            </a:r>
            <a:r>
              <a:rPr lang="en-US" altLang="ko-KR" sz="1100" dirty="0"/>
              <a:t>(</a:t>
            </a:r>
            <a:r>
              <a:rPr lang="ko-KR" altLang="en-US" sz="1100" dirty="0"/>
              <a:t>제조사가 몰래 </a:t>
            </a:r>
            <a:r>
              <a:rPr lang="ko-KR" altLang="en-US" sz="1100" dirty="0" err="1"/>
              <a:t>잠금장치를</a:t>
            </a:r>
            <a:r>
              <a:rPr lang="ko-KR" altLang="en-US" sz="1100" dirty="0"/>
              <a:t> 걸어 수정판 실행을 막는 걸 금지</a:t>
            </a:r>
            <a:r>
              <a:rPr lang="en-US" altLang="ko-KR" sz="1100" dirty="0"/>
              <a:t>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26440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특허 조항 추가 — Patent Grant, Patent Retaliation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92277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호환성 조항 추가 — Apache License 2.0과도 양립 가능해짐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480060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37960" y="4800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커널은 지금도 GPLv2만 사용합니다 — 토발즈가 Tivoization 금지 조항에 반대해 v3로 전환하지 않았습니다.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대표 라이선스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LGPL · MPL — 절충형 Copyleft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GPL만큼 강하지 않게, 기업이 받아들이기 쉽게 만든 라이선스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LGPL 2.1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Lesser General Public License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Mozilla Public License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Netscape 브라우저의 소스코드를 공개하기 위해 개발된 라이선스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34930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MPL 코드를 수정하면, 수정한 코드(파일 단위)만 공개하고 MPL로 배포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40599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다른 라이선스의 코드와 결합 가능 — 결합된 부분은 MPL이 아닌 다른 라이선스로 배포 허용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462686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Patent Grant · Patent Retaliation 특허 조항 포함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7"/>
          <p:cNvSpPr/>
          <p:nvPr/>
        </p:nvSpPr>
        <p:spPr>
          <a:xfrm>
            <a:off x="914400" y="2926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FSF가 공개SW 확산을 장려하기 위해 전략적으로 만든 라이선스</a:t>
            </a:r>
            <a:endParaRPr lang="en-US" sz="1100" dirty="0"/>
          </a:p>
        </p:txBody>
      </p:sp>
      <p:sp>
        <p:nvSpPr>
          <p:cNvPr id="23" name="Text 8"/>
          <p:cNvSpPr/>
          <p:nvPr/>
        </p:nvSpPr>
        <p:spPr>
          <a:xfrm>
            <a:off x="914400" y="34015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동적 링크(Dynamic Linking) — 실행 시점에 LGPL 라이브러리를 불러오면, 응용프로그램 자체의 소스코드는 공개 의무가 없음</a:t>
            </a:r>
            <a:endParaRPr lang="en-US" sz="1030" dirty="0"/>
          </a:p>
        </p:txBody>
      </p:sp>
      <p:sp>
        <p:nvSpPr>
          <p:cNvPr id="24" name="Text 9"/>
          <p:cNvSpPr/>
          <p:nvPr/>
        </p:nvSpPr>
        <p:spPr>
          <a:xfrm>
            <a:off x="914400" y="41879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정적 링크(Static Linking) — 라이브러리를 프로그램에 컴파일해 넣는 경우, 사용자가 다른 버전으로 재링크할 수 있도록 오브젝트 파일 등을 제공해야 함</a:t>
            </a:r>
            <a:endParaRPr lang="en-US" sz="1030" dirty="0"/>
          </a:p>
        </p:txBody>
      </p:sp>
      <p:sp>
        <p:nvSpPr>
          <p:cNvPr id="25" name="Text 10"/>
          <p:cNvSpPr/>
          <p:nvPr/>
        </p:nvSpPr>
        <p:spPr>
          <a:xfrm>
            <a:off x="914400" y="5074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그래서 기업 입장에서는 GPL보다 LGPL을 선호하는 경우가 많음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대표 라이선스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 · Apache — 대표적인 Permissive 라이선스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공개 의무가 없어, 상용 소프트웨어에서 널리 쓰입니다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 License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Berkeley Software Distribution License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소스코드 공개 의무가 없는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대표적인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(미국 정부 재원으로 개발)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누구든 BSD 기반 코드로 새 프로그램을 개발한 뒤, 소스코드를 공개하지 않고 판매할 수 있음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24281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상용 소프트웨어에서 제약 없이 사용 가능 — MIT 라이선스와 유사한 권리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License 2.0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Software Foundation(ASF)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아파치 웹 서버를 포함한 ASF의 모든 SW에 적용되는 라이선스. 'Apache' 명칭에 대한 상표권을 침해해서는 안 됨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355080" y="34930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Patent Grant — 기여자가 자신이 기여한 부분에 대해 가진 특허권을 사용자에게 무상으로 실시 허락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355080" y="40599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Patent Retaliation — 사용자가 이 코드로 특허 소송을 걸면, 그 순간 부여받은 특허 라이선스가 자동 종료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355080" y="462686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GPL 2.0과는 비양립, GPL 3.0과는 양립 가능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80295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한눈에 비교하기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관점에서 무엇이 허용되고, </a:t>
            </a:r>
            <a:r>
              <a:rPr lang="en-US" sz="135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</a:t>
            </a: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요구되는가</a:t>
            </a: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6007" y="2020824"/>
            <a:ext cx="178308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66007" y="202082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9087" y="2020824"/>
            <a:ext cx="1298448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49087" y="20208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7535" y="2020824"/>
            <a:ext cx="160020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47535" y="2020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취득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47735" y="2020824"/>
            <a:ext cx="160020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47735" y="2020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수정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47935" y="2020824"/>
            <a:ext cx="1207008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47935" y="202082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허용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54943" y="2020824"/>
            <a:ext cx="160020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54943" y="2020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저작물 공개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55143" y="2020824"/>
            <a:ext cx="141732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355143" y="202082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독점SW와 결합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72463" y="2020824"/>
            <a:ext cx="1289304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772463" y="2020824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조항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6007" y="2587752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6007" y="25877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GPL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49087" y="2587752"/>
            <a:ext cx="129844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049087" y="25877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47535" y="2587752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347535" y="2587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47735" y="2587752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47735" y="2587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47935" y="2587752"/>
            <a:ext cx="120700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47935" y="258775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54943" y="2587752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754943" y="2587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55143" y="2587752"/>
            <a:ext cx="141732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355143" y="25877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772463" y="2587752"/>
            <a:ext cx="1289304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772463" y="2587752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6007" y="3154680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66007" y="31546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LGPL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049087" y="3154680"/>
            <a:ext cx="12984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049087" y="31546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347535" y="315468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347535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47735" y="315468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947735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47935" y="3154680"/>
            <a:ext cx="120700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547935" y="315468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54943" y="315468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754943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355143" y="315468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9355143" y="3154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772463" y="3154680"/>
            <a:ext cx="12893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0772463" y="315468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66007" y="3721608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266007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49087" y="3721608"/>
            <a:ext cx="129844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049087" y="372160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347535" y="3721608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3347535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947735" y="3721608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947735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547935" y="3721608"/>
            <a:ext cx="120700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547935" y="3721608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754943" y="3721608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754943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9355143" y="3721608"/>
            <a:ext cx="141732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9355143" y="3721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0772463" y="3721608"/>
            <a:ext cx="1289304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10772463" y="372160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66007" y="4288536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266007" y="42885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 License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049087" y="4288536"/>
            <a:ext cx="12984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2049087" y="428853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347535" y="428853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3347535" y="4288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947735" y="428853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947735" y="4288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547935" y="4288536"/>
            <a:ext cx="120700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6547935" y="428853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7754943" y="428853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7754943" y="4288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9355143" y="4288536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9355143" y="4288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10772463" y="4288536"/>
            <a:ext cx="12893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10772463" y="4288536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266007" y="4855464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266007" y="48554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License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049087" y="4855464"/>
            <a:ext cx="129844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2049087" y="485546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3347535" y="4855464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3347535" y="4855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4947735" y="4855464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947735" y="4855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6547935" y="4855464"/>
            <a:ext cx="120700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6547935" y="485546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7754943" y="4855464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7754943" y="4855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9355143" y="4855464"/>
            <a:ext cx="141732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9355143" y="4855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772463" y="4855464"/>
            <a:ext cx="1289304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0772463" y="4855464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640080" y="55961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특허 조항은 버전에 따라 다릅니다 — GPLv2·LGPLv2.1은 명시적 특허 조항이 없고, GPLv3·LGPLv3부터 </a:t>
            </a:r>
            <a:r>
              <a:rPr lang="en-US" sz="1000" i="1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추가되었습니다</a:t>
            </a: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2차 저작물 공개 의무가 있는 GPL만 독점(폐쇄형) SW와의 결합이 불가능합니다.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84321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양립성 (Compatibility)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공개해야 하는 '범위'가 다르면, 결합 자체가 불가능해질 수 있습니다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 — 파일 단위 공개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고친 파일만 공개하면 충분. 같은 프로그램에 있는 다른 파일은 비공개(상용) 라이선스를 써도 무방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— 전체 프로그램 공개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4505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결합된 프로그램 전체를 GPL로 공개해야 함. '일부만 공개'는 허용되지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83524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4206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— MPL 코드(A) + GPL 코드(B)를 결합해 'A+B' 프로그램을 배포하려는 경우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32164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8321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(MPL)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83216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0" y="3832164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6D3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38321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(GPL)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383216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3832164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17720" y="3832164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A+B 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78644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GPL(B)의 요구를 지키려면 A도 GPL로 공개해야 하는데, </a:t>
            </a:r>
            <a:r>
              <a:rPr lang="en-US" sz="103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애초에 MPL로만 공개하기로 허락된 코드라 GPL로 재배포할 권한이 없습니다.</a:t>
            </a:r>
            <a:r>
              <a:rPr lang="en-US" sz="103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결국 'A+B'는 배포 자체가 불가능해집니다.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14400" y="46094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한쪽 요구를 만족하면 반드시 다른 쪽을 어기게 되는 구조 — 이게 '양립 불가능'입니다.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145573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14400" y="5264445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License 2.0  ↔  GPLv3  —  양립 가능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584485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GPLv3에서 호환성 조항이 추가되며 결합·배포가 가능해졌습니다.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5145573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55080" y="526444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 1.1  ↔  GPLv3  —  양립 불가능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5584485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2012년 나온 MPL 2.0은 GPL·LGPL과 결합해 재배포하는 것을 명시적으로 허용하는 조항을 추가해, 이 문제를 해결했습니다.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Text 17"/>
          <p:cNvSpPr/>
          <p:nvPr/>
        </p:nvSpPr>
        <p:spPr>
          <a:xfrm>
            <a:off x="685800" y="610818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 라이선스(Apache, BSD, MIT 등)를 쓰는 경우, 일반적으로 양립성 문제를 크게 고려하지 않아도 되는 경우가 많습니다. 다만 최종 판단은 법적 전문가와 상담하는 것이 바람직합니다.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23188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이중(Dual) 라이선스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코드에 두 가지 라이선스를 걸어, 사용자가 유리한 쪽을 고를 수 있게 합니다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'GPL or MIT' 형식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소스코드를 GPL로 가져오거나, MIT로 가져올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43000" y="3337560"/>
            <a:ext cx="4251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SW를 개발 중이라면 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소스코드 공개 의무가 없는 MIT를 선택해 사용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커뮤니티에 계속 기여하고 싶다면 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GPL을 선택해 파생물도 오픈소스로 유지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'GPL or Commercial' 형식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Commercial 라이선스를 구입하면, GPL의 소스코드 공개 등 의무사항 없이 상용 SW에 포함할 수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611880"/>
            <a:ext cx="49377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사례 — MySQL
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2.0으로 배포되지만, 상용 SW에 MySQL을 포함하려면 상용 라이선스를 구입하도록 하고 있습니다.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실무 관리 (Governance)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기업은 어떻게 수백 개의 오픈소스 라이선스를 관리할까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사용할 OSS 판단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27248" y="235458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29584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양립성 검토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0" y="235458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54496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4496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목록 작성 · 저장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77072" y="235458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14816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79408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79408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공개 · 사용여부 고지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외주업체가 개발한 코드에도 동일한 절차를 적용해야 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48098" y="3890772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22418" y="40736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시 벌어지는 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22418" y="443941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FSF, SFLC(Software Freedom Law Center), KOSS Law Center 같은 단체가 라이선스 위반을 모니터링하고, 시정을 요구합니다. 기업이 거부하거나 시정이 미흡하면 소송으로 이어질 수 있습니다.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SW 라이선스 가이드(NIPA)의 FAQ 중 실무에서 가장 자주 나오는 4가지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그냥 쓰기만 해도 의무가 생기나요?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배포하지 않는다면 대부분의 라이선스에서 의무가 발생하지 않습니다. 수정 후 배포할 때 비로소 라이선스에 따른 소스 공개 의무가 생깁니다.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09360" y="21762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상용 SW에 활용하려면 어떤 라이선스가 유리한가요?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67004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소스공개 의무가 없는 BSD·MIT 같은 Permissive 라이선스가 유리합니다.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4096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기업 도입 전 가장 먼저 확인할 것은?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저작물의 소스 공개 의무가 있는 라이선스(GPL, LGPL, AGPL, EPL 등)인지부터 확인해야 합니다. 대체 불가하다면 공개를 감수하거나 상용 라이선스를 구매합니다.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4096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'소스 공개'는 정확히 무엇을 뜻하나요?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45902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공개SW를 이용한 2차 저작물의 소스코드를 공개하는 것입니다. 공개 범위는 라이선스마다 다릅니다 — GPL은 링크된 코드까지, LGPL은 링크된 코드는 제외.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라이선스는 자유를 막는 규칙이 아니라,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자유가 계속 이어지도록 지키는 약속입니다.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E1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「공개 SW 라이선스 가이드」, 정보통신산업진흥원(NIPA)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「Open Source Software and GitHub」, 이민석, 국민대학교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「기업이 알아야 할 오픈소스 라이선스」, Black Duck Software Korea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8097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Black Duck, 「2026 Open Source Security and Risk Analysis(OSSRA)」 Report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Open Source Initiative, opensource.org — 2025 License Usage Ranking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2058</Words>
  <Application>Microsoft Office PowerPoint</Application>
  <PresentationFormat>와이드스크린</PresentationFormat>
  <Paragraphs>329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태호 안</cp:lastModifiedBy>
  <cp:revision>12</cp:revision>
  <dcterms:created xsi:type="dcterms:W3CDTF">2026-08-21T09:02:29Z</dcterms:created>
  <dcterms:modified xsi:type="dcterms:W3CDTF">2026-09-14T04:49:08Z</dcterms:modified>
</cp:coreProperties>
</file>