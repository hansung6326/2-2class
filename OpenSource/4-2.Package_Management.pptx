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77" r:id="rId10"/>
    <p:sldId id="278" r:id="rId11"/>
    <p:sldId id="265" r:id="rId12"/>
    <p:sldId id="279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8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65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82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03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09728" cy="109728"/>
          </a:xfrm>
          <a:prstGeom prst="ellipse">
            <a:avLst/>
          </a:prstGeom>
          <a:solidFill>
            <a:srgbClr val="FF990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1234440"/>
            <a:ext cx="146304" cy="146304"/>
          </a:xfrm>
          <a:prstGeom prst="ellipse">
            <a:avLst/>
          </a:prstGeom>
          <a:solidFill>
            <a:srgbClr val="0972D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04120" y="1874520"/>
            <a:ext cx="82296" cy="82296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1965960"/>
            <a:ext cx="182880" cy="182880"/>
          </a:xfrm>
          <a:prstGeom prst="ellipse">
            <a:avLst/>
          </a:prstGeom>
          <a:solidFill>
            <a:srgbClr val="0972D3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2514600"/>
            <a:ext cx="100584" cy="100584"/>
          </a:xfrm>
          <a:prstGeom prst="ellipse">
            <a:avLst/>
          </a:prstGeom>
          <a:solidFill>
            <a:srgbClr val="FF990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35640" y="2880360"/>
            <a:ext cx="128016" cy="128016"/>
          </a:xfrm>
          <a:prstGeom prst="ellipse">
            <a:avLst/>
          </a:prstGeom>
          <a:solidFill>
            <a:srgbClr val="0972D3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418320" y="3337560"/>
            <a:ext cx="73152" cy="73152"/>
          </a:xfrm>
          <a:prstGeom prst="ellipse">
            <a:avLst/>
          </a:prstGeom>
          <a:solidFill>
            <a:srgbClr val="FF9900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3657600"/>
            <a:ext cx="91440" cy="91440"/>
          </a:xfrm>
          <a:prstGeom prst="ellipse">
            <a:avLst/>
          </a:prstGeom>
          <a:solidFill>
            <a:srgbClr val="0972D3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0" y="685800"/>
            <a:ext cx="777240" cy="5486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234440"/>
            <a:ext cx="365760" cy="7315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685800"/>
            <a:ext cx="137160" cy="11887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04120" y="1874520"/>
            <a:ext cx="0" cy="64008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46920" y="2514600"/>
            <a:ext cx="1188720" cy="36576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35640" y="2880360"/>
            <a:ext cx="502920" cy="7772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1965960"/>
            <a:ext cx="0" cy="91440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80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RPM과 DNF로 소프트웨어 패키지를 설치·업데이트·삭제하기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39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111858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2000"/>
              </a:spcAft>
              <a:buSzPct val="100000"/>
              <a:buChar char="●"/>
            </a:pPr>
            <a:r>
              <a:rPr 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패키지(package)란 하나의 소프트웨어 애플리케이션을 구성하는 파일과 메타데이터의 묶음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2000"/>
              </a:spcAft>
              <a:buSzPct val="100000"/>
              <a:buChar char="●"/>
            </a:pPr>
            <a:r>
              <a:rPr 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설치·유지보수·배포를 쉽게 하도록 각 리눅스 배포판에 맞는 형식으로 포장되어 있음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520440"/>
            <a:ext cx="11185855" cy="2331720"/>
          </a:xfrm>
          <a:prstGeom prst="roundRect">
            <a:avLst>
              <a:gd name="adj" fmla="val 3529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3739896"/>
            <a:ext cx="1362456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373989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예시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35812" y="416052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972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5812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20060" y="416052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972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0060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mysql-server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04308" y="416052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972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4308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openssh-server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88556" y="416052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972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88556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72804" y="416052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972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2804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 Tools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패키지의 설치·업데이트·삭제를 도와주는 패키지 관리 도구를 학습</a:t>
            </a:r>
            <a:endParaRPr lang="en-US" sz="16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과정은 Red Hat 계열의 RPM(Red Hat Package Manager)과 DNF(Dandified YUM)에 초점을 둠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배포판 계열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47472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74720"/>
            <a:ext cx="29260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 계열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(RHEL·Fedora·CentOS)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57200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572000"/>
            <a:ext cx="29260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Debian 계열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(Debian·Ubuntu)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9476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포맷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347472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3474720"/>
            <a:ext cx="29260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.rpm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94760" y="457200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4572000"/>
            <a:ext cx="29260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도구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347472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3474720"/>
            <a:ext cx="29260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 → yum → dnf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86600" y="457200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4572000"/>
            <a:ext cx="29260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dpkg → apt / apt-get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29000" y="3954780"/>
            <a:ext cx="365760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20840" y="3954780"/>
            <a:ext cx="365760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29000" y="5052060"/>
            <a:ext cx="365760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20840" y="5052060"/>
            <a:ext cx="365760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 (Red Hat Package Manager)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 패키지(.rpm)를 설치·관리하기 위해 만들어진 기본 도구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패키지에는 소프트웨어 파일뿐 아니라 메타데이터가 함께 포함됨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11185855" cy="1783080"/>
          </a:xfrm>
          <a:prstGeom prst="roundRect">
            <a:avLst>
              <a:gd name="adj" fmla="val 4615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3099816"/>
            <a:ext cx="836676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3099816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" y="3483864"/>
            <a:ext cx="1074694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번호(version), 패키지에 포함된 파일 목록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설명(description), 패키저(packager) 정보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패키지와의 의존성(dependencies) 정보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892040"/>
            <a:ext cx="11185855" cy="1051560"/>
          </a:xfrm>
          <a:prstGeom prst="roundRect">
            <a:avLst>
              <a:gd name="adj" fmla="val 7826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5111496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5111496"/>
            <a:ext cx="626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2376" y="5495544"/>
            <a:ext cx="10746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 패키지는 배포자가 GPG 키로 전자 서명하여 무결성과 출처를 보장합니다.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pic>
        <p:nvPicPr>
          <p:cNvPr id="16" name="Picture 11" descr="centos package manager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111" y="841248"/>
            <a:ext cx="1800225" cy="154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 명령어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99953"/>
            <a:ext cx="11185855" cy="155448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919409"/>
            <a:ext cx="52120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919409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2303457"/>
            <a:ext cx="107469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-i : install (설치)      -U : upgrade (업그레이드)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-e : erase (삭제)      -q : query (조회)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-v : verbose (상세 출력)      -h : hash (진행률 #표시)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5410048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3383280"/>
            <a:ext cx="541004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3502152"/>
            <a:ext cx="5410048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34655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34655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4655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383280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· upgrade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" y="3719779"/>
            <a:ext cx="5080864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 -Uvh mypkg-2.7-5.x86_64.rpm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 -ivh mypkg-2.7-5.x86_64.rpm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설치(install) / 업그레이드(upgrade)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8728" y="3383280"/>
            <a:ext cx="5410048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8728" y="3383280"/>
            <a:ext cx="541004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19" name="Shape 17"/>
          <p:cNvSpPr/>
          <p:nvPr/>
        </p:nvSpPr>
        <p:spPr>
          <a:xfrm>
            <a:off x="6278728" y="3502152"/>
            <a:ext cx="5410048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20" name="Shape 18"/>
          <p:cNvSpPr/>
          <p:nvPr/>
        </p:nvSpPr>
        <p:spPr>
          <a:xfrm>
            <a:off x="6397600" y="34655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4760" y="34655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1920" y="34655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23" name="Text 21"/>
          <p:cNvSpPr/>
          <p:nvPr/>
        </p:nvSpPr>
        <p:spPr>
          <a:xfrm>
            <a:off x="6278728" y="3383280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erase · query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3320" y="3719779"/>
            <a:ext cx="5080864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 -e mypkg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 -q mypkg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삭제(erase) / 존재 여부 조회(query)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11185855" cy="914400"/>
          </a:xfrm>
          <a:prstGeom prst="roundRect">
            <a:avLst>
              <a:gd name="adj" fmla="val 9000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" y="5248656"/>
            <a:ext cx="941832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524865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 규칙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2376" y="5632704"/>
            <a:ext cx="107469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mypkg-2.7-5.x86_64.rpm → 이름(mypkg) · 버전(2.7) · 릴리스(5) · 아키텍처(x86_64)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RPM의 단점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매우 원시적인(primitive) </a:t>
            </a:r>
            <a:r>
              <a:rPr lang="en-US" sz="17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— 저수준 설치/삭제만 담당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 의존성(dependency)을 사용자가 직접 해결해야 함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11185855" cy="2788920"/>
          </a:xfrm>
          <a:prstGeom prst="roundRect">
            <a:avLst>
              <a:gd name="adj" fmla="val 2623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301752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313639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309981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309981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309981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01752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 error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354019"/>
            <a:ext cx="10856671" cy="23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 -ivh mypkg-2.7-5.x86_64.rpm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Failed dependencies: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libssl.so.10()(64bit) </a:t>
            </a: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needed by mypkg-2.7-5.x86_64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libcurl</a:t>
            </a: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7.29 is needed by mypkg-2.7-5.x86_64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필요한 라이브러리를 사용자가 하나씩 직접 설치해야 함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이 문제를 해결하기 위해 등장한 것이 YUM, 오늘날엔 후속인 DNF를 사용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(Dandified YUM)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RPM을 기반으로 더 쉽고 편리한 패키지 관리를 제공하는 도구</a:t>
            </a:r>
            <a:endParaRPr lang="en-US" sz="16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 공식 저장소는 물론 서드파티 저장소에서도 패키지를 설치·삭제·조회·관리</a:t>
            </a:r>
            <a:endParaRPr lang="en-US" sz="16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저장소(repository) 정보는 /etc/yum.repos.d/ 에 저장됨 (하위 호환을 위해 경로명은 yum 시절 그대로 사용)</a:t>
            </a:r>
            <a:endParaRPr lang="en-US" sz="16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설치·업데이트·삭제 시 의존성을 자동으로 해결함</a:t>
            </a:r>
            <a:endParaRPr lang="en-US" sz="1650" dirty="0"/>
          </a:p>
        </p:txBody>
      </p:sp>
      <p:sp>
        <p:nvSpPr>
          <p:cNvPr id="20" name="Shape 20"/>
          <p:cNvSpPr/>
          <p:nvPr/>
        </p:nvSpPr>
        <p:spPr>
          <a:xfrm>
            <a:off x="1618651" y="3850000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1618651" y="3850000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2"/>
          <p:cNvSpPr/>
          <p:nvPr/>
        </p:nvSpPr>
        <p:spPr>
          <a:xfrm>
            <a:off x="502920" y="4250000"/>
            <a:ext cx="2571463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정보</a:t>
            </a:r>
            <a:endParaRPr lang="en-US" sz="1100" dirty="0"/>
          </a:p>
        </p:txBody>
      </p:sp>
      <p:sp>
        <p:nvSpPr>
          <p:cNvPr id="23" name="Text 23"/>
          <p:cNvSpPr/>
          <p:nvPr/>
        </p:nvSpPr>
        <p:spPr>
          <a:xfrm>
            <a:off x="502920" y="4490000"/>
            <a:ext cx="2571463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/etc/yum.repos.d/</a:t>
            </a:r>
            <a:endParaRPr lang="en-US" sz="850" dirty="0"/>
          </a:p>
        </p:txBody>
      </p:sp>
      <p:sp>
        <p:nvSpPr>
          <p:cNvPr id="24" name="Shape 24"/>
          <p:cNvSpPr/>
          <p:nvPr/>
        </p:nvSpPr>
        <p:spPr>
          <a:xfrm>
            <a:off x="4490114" y="3850000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25" name="Text 25"/>
          <p:cNvSpPr/>
          <p:nvPr/>
        </p:nvSpPr>
        <p:spPr>
          <a:xfrm>
            <a:off x="4490114" y="3850000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6"/>
          <p:cNvSpPr/>
          <p:nvPr/>
        </p:nvSpPr>
        <p:spPr>
          <a:xfrm>
            <a:off x="3374383" y="4250000"/>
            <a:ext cx="2571463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</a:t>
            </a:r>
            <a:endParaRPr lang="en-US" sz="1100" dirty="0"/>
          </a:p>
        </p:txBody>
      </p:sp>
      <p:sp>
        <p:nvSpPr>
          <p:cNvPr id="27" name="Text 27"/>
          <p:cNvSpPr/>
          <p:nvPr/>
        </p:nvSpPr>
        <p:spPr>
          <a:xfrm>
            <a:off x="3374383" y="4490000"/>
            <a:ext cx="2571463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· 서드파티 저장소</a:t>
            </a:r>
            <a:endParaRPr lang="en-US" sz="850" dirty="0"/>
          </a:p>
        </p:txBody>
      </p:sp>
      <p:sp>
        <p:nvSpPr>
          <p:cNvPr id="28" name="Shape 28"/>
          <p:cNvSpPr/>
          <p:nvPr/>
        </p:nvSpPr>
        <p:spPr>
          <a:xfrm>
            <a:off x="7361577" y="3850000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29" name="Text 29"/>
          <p:cNvSpPr/>
          <p:nvPr/>
        </p:nvSpPr>
        <p:spPr>
          <a:xfrm>
            <a:off x="7361577" y="3850000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30"/>
          <p:cNvSpPr/>
          <p:nvPr/>
        </p:nvSpPr>
        <p:spPr>
          <a:xfrm>
            <a:off x="6245846" y="4250000"/>
            <a:ext cx="2571463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다운로드</a:t>
            </a:r>
            <a:endParaRPr lang="en-US" sz="1100" dirty="0"/>
          </a:p>
        </p:txBody>
      </p:sp>
      <p:sp>
        <p:nvSpPr>
          <p:cNvPr id="31" name="Text 31"/>
          <p:cNvSpPr/>
          <p:nvPr/>
        </p:nvSpPr>
        <p:spPr>
          <a:xfrm>
            <a:off x="6245846" y="4490000"/>
            <a:ext cx="2571463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+ 의존 패키지</a:t>
            </a:r>
            <a:endParaRPr lang="en-US" sz="850" dirty="0"/>
          </a:p>
        </p:txBody>
      </p:sp>
      <p:sp>
        <p:nvSpPr>
          <p:cNvPr id="32" name="Shape 32"/>
          <p:cNvSpPr/>
          <p:nvPr/>
        </p:nvSpPr>
        <p:spPr>
          <a:xfrm>
            <a:off x="10233040" y="3850000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33" name="Text 33"/>
          <p:cNvSpPr/>
          <p:nvPr/>
        </p:nvSpPr>
        <p:spPr>
          <a:xfrm>
            <a:off x="10233040" y="3850000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4"/>
          <p:cNvSpPr/>
          <p:nvPr/>
        </p:nvSpPr>
        <p:spPr>
          <a:xfrm>
            <a:off x="9117309" y="4250000"/>
            <a:ext cx="2571463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</a:t>
            </a:r>
            <a:endParaRPr lang="en-US" sz="1100" dirty="0"/>
          </a:p>
        </p:txBody>
      </p:sp>
      <p:sp>
        <p:nvSpPr>
          <p:cNvPr id="35" name="Text 35"/>
          <p:cNvSpPr/>
          <p:nvPr/>
        </p:nvSpPr>
        <p:spPr>
          <a:xfrm>
            <a:off x="9117309" y="4490000"/>
            <a:ext cx="2571463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rpm으로 시스템 반영</a:t>
            </a:r>
            <a:endParaRPr lang="en-US" sz="850" dirty="0"/>
          </a:p>
        </p:txBody>
      </p:sp>
      <p:sp>
        <p:nvSpPr>
          <p:cNvPr id="36" name="Shape 36"/>
          <p:cNvSpPr/>
          <p:nvPr/>
        </p:nvSpPr>
        <p:spPr>
          <a:xfrm>
            <a:off x="1978651" y="4020000"/>
            <a:ext cx="2491463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</p:sp>
      <p:sp>
        <p:nvSpPr>
          <p:cNvPr id="37" name="Shape 37"/>
          <p:cNvSpPr/>
          <p:nvPr/>
        </p:nvSpPr>
        <p:spPr>
          <a:xfrm>
            <a:off x="4850114" y="4020000"/>
            <a:ext cx="2491463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</p:sp>
      <p:sp>
        <p:nvSpPr>
          <p:cNvPr id="38" name="Shape 38"/>
          <p:cNvSpPr/>
          <p:nvPr/>
        </p:nvSpPr>
        <p:spPr>
          <a:xfrm>
            <a:off x="7721577" y="4020000"/>
            <a:ext cx="2491463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02920" y="4892040"/>
            <a:ext cx="11185855" cy="1188720"/>
          </a:xfrm>
          <a:prstGeom prst="roundRect">
            <a:avLst>
              <a:gd name="adj" fmla="val 6923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5111496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5111496"/>
            <a:ext cx="626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" y="5495544"/>
            <a:ext cx="10746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YUM은 DNF의 이전 세대 도구입니다. RHEL 7·CentOS 7 등 구버전 시스템은 여전히 yum 명령을 사용하며, 명령 문법은 dnf와 거의 동일하게 호환됩니다.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56714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동작 흐름 (예: httpd 설치)</a:t>
            </a:r>
            <a:endParaRPr lang="en-US" sz="2800" dirty="0"/>
          </a:p>
        </p:txBody>
      </p:sp>
      <p:sp>
        <p:nvSpPr>
          <p:cNvPr id="300" name="Shape 300"/>
          <p:cNvSpPr/>
          <p:nvPr/>
        </p:nvSpPr>
        <p:spPr>
          <a:xfrm>
            <a:off x="502920" y="1508176"/>
            <a:ext cx="11185855" cy="1600000"/>
          </a:xfrm>
          <a:prstGeom prst="roundRect">
            <a:avLst>
              <a:gd name="adj" fmla="val 3500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301" name="Shape 301"/>
          <p:cNvSpPr/>
          <p:nvPr/>
        </p:nvSpPr>
        <p:spPr>
          <a:xfrm>
            <a:off x="722920" y="1588176"/>
            <a:ext cx="1650000" cy="2800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02" name="Text 302"/>
          <p:cNvSpPr/>
          <p:nvPr/>
        </p:nvSpPr>
        <p:spPr>
          <a:xfrm>
            <a:off x="722920" y="1588176"/>
            <a:ext cx="16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인스턴스</a:t>
            </a:r>
            <a:endParaRPr lang="en-US" sz="1050" dirty="0"/>
          </a:p>
        </p:txBody>
      </p:sp>
      <p:sp>
        <p:nvSpPr>
          <p:cNvPr id="303" name="Shape 303"/>
          <p:cNvSpPr/>
          <p:nvPr/>
        </p:nvSpPr>
        <p:spPr>
          <a:xfrm>
            <a:off x="1737896" y="1908176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304" name="Text 304"/>
          <p:cNvSpPr/>
          <p:nvPr/>
        </p:nvSpPr>
        <p:spPr>
          <a:xfrm>
            <a:off x="1737896" y="1908176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305" name="Text 305"/>
          <p:cNvSpPr/>
          <p:nvPr/>
        </p:nvSpPr>
        <p:spPr>
          <a:xfrm>
            <a:off x="1034644" y="2308176"/>
            <a:ext cx="174650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명령</a:t>
            </a:r>
            <a:endParaRPr lang="en-US" sz="1150" dirty="0"/>
          </a:p>
        </p:txBody>
      </p:sp>
      <p:sp>
        <p:nvSpPr>
          <p:cNvPr id="306" name="Text 306"/>
          <p:cNvSpPr/>
          <p:nvPr/>
        </p:nvSpPr>
        <p:spPr>
          <a:xfrm>
            <a:off x="884644" y="2548176"/>
            <a:ext cx="204650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install httpd</a:t>
            </a:r>
            <a:endParaRPr lang="en-US" sz="900" dirty="0"/>
          </a:p>
        </p:txBody>
      </p:sp>
      <p:sp>
        <p:nvSpPr>
          <p:cNvPr id="307" name="Shape 307"/>
          <p:cNvSpPr/>
          <p:nvPr/>
        </p:nvSpPr>
        <p:spPr>
          <a:xfrm>
            <a:off x="2097896" y="2078176"/>
            <a:ext cx="1713976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</p:sp>
      <p:sp>
        <p:nvSpPr>
          <p:cNvPr id="308" name="Shape 308"/>
          <p:cNvSpPr/>
          <p:nvPr/>
        </p:nvSpPr>
        <p:spPr>
          <a:xfrm>
            <a:off x="3831872" y="1908176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309" name="Text 309"/>
          <p:cNvSpPr/>
          <p:nvPr/>
        </p:nvSpPr>
        <p:spPr>
          <a:xfrm>
            <a:off x="3831872" y="1908176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310" name="Text 310"/>
          <p:cNvSpPr/>
          <p:nvPr/>
        </p:nvSpPr>
        <p:spPr>
          <a:xfrm>
            <a:off x="3128620" y="2308176"/>
            <a:ext cx="174650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조회</a:t>
            </a:r>
            <a:endParaRPr lang="en-US" sz="1150" dirty="0"/>
          </a:p>
        </p:txBody>
      </p:sp>
      <p:sp>
        <p:nvSpPr>
          <p:cNvPr id="311" name="Text 311"/>
          <p:cNvSpPr/>
          <p:nvPr/>
        </p:nvSpPr>
        <p:spPr>
          <a:xfrm>
            <a:off x="2978620" y="2548176"/>
            <a:ext cx="204650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메타데이터 요청</a:t>
            </a:r>
            <a:endParaRPr lang="en-US" sz="900" dirty="0"/>
          </a:p>
        </p:txBody>
      </p:sp>
      <p:sp>
        <p:nvSpPr>
          <p:cNvPr id="312" name="Shape 312"/>
          <p:cNvSpPr/>
          <p:nvPr/>
        </p:nvSpPr>
        <p:spPr>
          <a:xfrm>
            <a:off x="4191872" y="2078176"/>
            <a:ext cx="1713976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</p:sp>
      <p:sp>
        <p:nvSpPr>
          <p:cNvPr id="313" name="Shape 313"/>
          <p:cNvSpPr/>
          <p:nvPr/>
        </p:nvSpPr>
        <p:spPr>
          <a:xfrm>
            <a:off x="5925848" y="1908176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314" name="Text 314"/>
          <p:cNvSpPr/>
          <p:nvPr/>
        </p:nvSpPr>
        <p:spPr>
          <a:xfrm>
            <a:off x="5925848" y="1908176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315" name="Text 315"/>
          <p:cNvSpPr/>
          <p:nvPr/>
        </p:nvSpPr>
        <p:spPr>
          <a:xfrm>
            <a:off x="5222596" y="2308176"/>
            <a:ext cx="174650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의존성 해결</a:t>
            </a:r>
            <a:endParaRPr lang="en-US" sz="1150" dirty="0"/>
          </a:p>
        </p:txBody>
      </p:sp>
      <p:sp>
        <p:nvSpPr>
          <p:cNvPr id="316" name="Text 316"/>
          <p:cNvSpPr/>
          <p:nvPr/>
        </p:nvSpPr>
        <p:spPr>
          <a:xfrm>
            <a:off x="5072596" y="2548176"/>
            <a:ext cx="204650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 확인 → apr, apr-util 필요</a:t>
            </a:r>
            <a:endParaRPr lang="en-US" sz="900" dirty="0"/>
          </a:p>
        </p:txBody>
      </p:sp>
      <p:sp>
        <p:nvSpPr>
          <p:cNvPr id="317" name="Shape 317"/>
          <p:cNvSpPr/>
          <p:nvPr/>
        </p:nvSpPr>
        <p:spPr>
          <a:xfrm>
            <a:off x="6285848" y="2078176"/>
            <a:ext cx="1713976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</p:sp>
      <p:sp>
        <p:nvSpPr>
          <p:cNvPr id="318" name="Shape 318"/>
          <p:cNvSpPr/>
          <p:nvPr/>
        </p:nvSpPr>
        <p:spPr>
          <a:xfrm>
            <a:off x="8019824" y="1908176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319" name="Text 319"/>
          <p:cNvSpPr/>
          <p:nvPr/>
        </p:nvSpPr>
        <p:spPr>
          <a:xfrm>
            <a:off x="8019824" y="1908176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20" name="Text 320"/>
          <p:cNvSpPr/>
          <p:nvPr/>
        </p:nvSpPr>
        <p:spPr>
          <a:xfrm>
            <a:off x="7316572" y="2308176"/>
            <a:ext cx="174650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</a:t>
            </a:r>
            <a:endParaRPr lang="en-US" sz="1150" dirty="0"/>
          </a:p>
        </p:txBody>
      </p:sp>
      <p:sp>
        <p:nvSpPr>
          <p:cNvPr id="321" name="Text 321"/>
          <p:cNvSpPr/>
          <p:nvPr/>
        </p:nvSpPr>
        <p:spPr>
          <a:xfrm>
            <a:off x="7166572" y="2548176"/>
            <a:ext cx="204650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+ apr + apr-util</a:t>
            </a:r>
            <a:endParaRPr lang="en-US" sz="900" dirty="0"/>
          </a:p>
        </p:txBody>
      </p:sp>
      <p:sp>
        <p:nvSpPr>
          <p:cNvPr id="322" name="Shape 322"/>
          <p:cNvSpPr/>
          <p:nvPr/>
        </p:nvSpPr>
        <p:spPr>
          <a:xfrm>
            <a:off x="8379824" y="2078176"/>
            <a:ext cx="1713976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</p:sp>
      <p:sp>
        <p:nvSpPr>
          <p:cNvPr id="323" name="Shape 323"/>
          <p:cNvSpPr/>
          <p:nvPr/>
        </p:nvSpPr>
        <p:spPr>
          <a:xfrm>
            <a:off x="10113800" y="1908176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324" name="Text 324"/>
          <p:cNvSpPr/>
          <p:nvPr/>
        </p:nvSpPr>
        <p:spPr>
          <a:xfrm>
            <a:off x="10113800" y="1908176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25" name="Text 325"/>
          <p:cNvSpPr/>
          <p:nvPr/>
        </p:nvSpPr>
        <p:spPr>
          <a:xfrm>
            <a:off x="9410548" y="2308176"/>
            <a:ext cx="174650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완료</a:t>
            </a:r>
            <a:endParaRPr lang="en-US" sz="1150" dirty="0"/>
          </a:p>
        </p:txBody>
      </p:sp>
      <p:sp>
        <p:nvSpPr>
          <p:cNvPr id="326" name="Text 326"/>
          <p:cNvSpPr/>
          <p:nvPr/>
        </p:nvSpPr>
        <p:spPr>
          <a:xfrm>
            <a:off x="9260548" y="2548176"/>
            <a:ext cx="204650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rpm으로 3개 패키지 설치</a:t>
            </a:r>
            <a:endParaRPr lang="en-US" sz="900" dirty="0"/>
          </a:p>
        </p:txBody>
      </p:sp>
      <p:sp>
        <p:nvSpPr>
          <p:cNvPr id="327" name="Shape 327"/>
          <p:cNvSpPr/>
          <p:nvPr/>
        </p:nvSpPr>
        <p:spPr>
          <a:xfrm>
            <a:off x="502920" y="3258176"/>
            <a:ext cx="11185855" cy="950000"/>
          </a:xfrm>
          <a:prstGeom prst="roundRect">
            <a:avLst>
              <a:gd name="adj" fmla="val 5000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328" name="Shape 328"/>
          <p:cNvSpPr/>
          <p:nvPr/>
        </p:nvSpPr>
        <p:spPr>
          <a:xfrm>
            <a:off x="722920" y="3338176"/>
            <a:ext cx="1950000" cy="280000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329" name="Text 329"/>
          <p:cNvSpPr/>
          <p:nvPr/>
        </p:nvSpPr>
        <p:spPr>
          <a:xfrm>
            <a:off x="722920" y="3338176"/>
            <a:ext cx="19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(Repository)</a:t>
            </a:r>
            <a:endParaRPr lang="en-US" sz="1050" dirty="0"/>
          </a:p>
        </p:txBody>
      </p:sp>
      <p:sp>
        <p:nvSpPr>
          <p:cNvPr id="330" name="Text 330"/>
          <p:cNvSpPr/>
          <p:nvPr/>
        </p:nvSpPr>
        <p:spPr>
          <a:xfrm>
            <a:off x="2822920" y="3338176"/>
            <a:ext cx="60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메타데이터에 각 패키지의 의존 관계가 기록되어 있음</a:t>
            </a:r>
            <a:endParaRPr lang="en-US" sz="950" dirty="0"/>
          </a:p>
        </p:txBody>
      </p:sp>
      <p:sp>
        <p:nvSpPr>
          <p:cNvPr id="331" name="Shape 331"/>
          <p:cNvSpPr/>
          <p:nvPr/>
        </p:nvSpPr>
        <p:spPr>
          <a:xfrm>
            <a:off x="2195847" y="3688176"/>
            <a:ext cx="2400000" cy="460000"/>
          </a:xfrm>
          <a:prstGeom prst="roundRect">
            <a:avLst>
              <a:gd name="adj" fmla="val 10000"/>
            </a:avLst>
          </a:prstGeom>
          <a:solidFill>
            <a:srgbClr val="FFF8EC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332" name="Text 332"/>
          <p:cNvSpPr/>
          <p:nvPr/>
        </p:nvSpPr>
        <p:spPr>
          <a:xfrm>
            <a:off x="2195847" y="3738176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</a:t>
            </a:r>
            <a:endParaRPr lang="en-US" sz="1150" dirty="0"/>
          </a:p>
        </p:txBody>
      </p:sp>
      <p:sp>
        <p:nvSpPr>
          <p:cNvPr id="333" name="Text 333"/>
          <p:cNvSpPr/>
          <p:nvPr/>
        </p:nvSpPr>
        <p:spPr>
          <a:xfrm>
            <a:off x="2195847" y="3948176"/>
            <a:ext cx="24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요청한 패키지</a:t>
            </a:r>
            <a:endParaRPr lang="en-US" sz="800" dirty="0"/>
          </a:p>
        </p:txBody>
      </p:sp>
      <p:sp>
        <p:nvSpPr>
          <p:cNvPr id="334" name="Shape 334"/>
          <p:cNvSpPr/>
          <p:nvPr/>
        </p:nvSpPr>
        <p:spPr>
          <a:xfrm>
            <a:off x="4895847" y="3688176"/>
            <a:ext cx="2400000" cy="4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35" name="Text 335"/>
          <p:cNvSpPr/>
          <p:nvPr/>
        </p:nvSpPr>
        <p:spPr>
          <a:xfrm>
            <a:off x="4895847" y="3738176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apr</a:t>
            </a:r>
            <a:endParaRPr lang="en-US" sz="1150" dirty="0"/>
          </a:p>
        </p:txBody>
      </p:sp>
      <p:sp>
        <p:nvSpPr>
          <p:cNvPr id="336" name="Text 336"/>
          <p:cNvSpPr/>
          <p:nvPr/>
        </p:nvSpPr>
        <p:spPr>
          <a:xfrm>
            <a:off x="4895847" y="3948176"/>
            <a:ext cx="24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 패키지 (자동 설치)</a:t>
            </a:r>
            <a:endParaRPr lang="en-US" sz="800" dirty="0"/>
          </a:p>
        </p:txBody>
      </p:sp>
      <p:sp>
        <p:nvSpPr>
          <p:cNvPr id="337" name="Shape 337"/>
          <p:cNvSpPr/>
          <p:nvPr/>
        </p:nvSpPr>
        <p:spPr>
          <a:xfrm>
            <a:off x="7595847" y="3688176"/>
            <a:ext cx="2400000" cy="4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38" name="Text 338"/>
          <p:cNvSpPr/>
          <p:nvPr/>
        </p:nvSpPr>
        <p:spPr>
          <a:xfrm>
            <a:off x="7595847" y="3738176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apr-util</a:t>
            </a:r>
            <a:endParaRPr lang="en-US" sz="1150" dirty="0"/>
          </a:p>
        </p:txBody>
      </p:sp>
      <p:sp>
        <p:nvSpPr>
          <p:cNvPr id="339" name="Text 339"/>
          <p:cNvSpPr/>
          <p:nvPr/>
        </p:nvSpPr>
        <p:spPr>
          <a:xfrm>
            <a:off x="7595847" y="3948176"/>
            <a:ext cx="24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 패키지 (자동 설치)</a:t>
            </a:r>
            <a:endParaRPr lang="en-US" sz="800" dirty="0"/>
          </a:p>
        </p:txBody>
      </p:sp>
      <p:sp>
        <p:nvSpPr>
          <p:cNvPr id="340" name="Shape 340"/>
          <p:cNvSpPr/>
          <p:nvPr/>
        </p:nvSpPr>
        <p:spPr>
          <a:xfrm>
            <a:off x="3395847" y="3638176"/>
            <a:ext cx="2700000" cy="50000"/>
          </a:xfrm>
          <a:prstGeom prst="line">
            <a:avLst/>
          </a:prstGeom>
          <a:noFill/>
          <a:ln w="12700">
            <a:solidFill>
              <a:srgbClr val="FF9900"/>
            </a:solidFill>
            <a:prstDash val="dash"/>
            <a:tailEnd type="oval" w="sm" len="sm"/>
          </a:ln>
        </p:spPr>
      </p:sp>
      <p:sp>
        <p:nvSpPr>
          <p:cNvPr id="341" name="Shape 341"/>
          <p:cNvSpPr/>
          <p:nvPr/>
        </p:nvSpPr>
        <p:spPr>
          <a:xfrm>
            <a:off x="3395847" y="3638176"/>
            <a:ext cx="5400000" cy="50000"/>
          </a:xfrm>
          <a:prstGeom prst="line">
            <a:avLst/>
          </a:prstGeom>
          <a:noFill/>
          <a:ln w="12700">
            <a:solidFill>
              <a:srgbClr val="FF9900"/>
            </a:solidFill>
            <a:prstDash val="dash"/>
            <a:tailEnd type="oval" w="sm" len="sm"/>
          </a:ln>
        </p:spPr>
      </p:sp>
      <p:sp>
        <p:nvSpPr>
          <p:cNvPr id="342" name="Shape 342"/>
          <p:cNvSpPr/>
          <p:nvPr/>
        </p:nvSpPr>
        <p:spPr>
          <a:xfrm>
            <a:off x="4001872" y="2808176"/>
            <a:ext cx="0" cy="450000"/>
          </a:xfrm>
          <a:prstGeom prst="line">
            <a:avLst/>
          </a:prstGeom>
          <a:noFill/>
          <a:ln w="19050">
            <a:solidFill>
              <a:srgbClr val="0972D3"/>
            </a:solidFill>
            <a:prstDash val="solid"/>
            <a:headEnd type="triangle"/>
            <a:tailEnd type="triangle"/>
          </a:ln>
        </p:spPr>
      </p:sp>
      <p:sp>
        <p:nvSpPr>
          <p:cNvPr id="343" name="Shape 343"/>
          <p:cNvSpPr/>
          <p:nvPr/>
        </p:nvSpPr>
        <p:spPr>
          <a:xfrm>
            <a:off x="8189824" y="2808176"/>
            <a:ext cx="0" cy="450000"/>
          </a:xfrm>
          <a:prstGeom prst="line">
            <a:avLst/>
          </a:prstGeom>
          <a:noFill/>
          <a:ln w="19050">
            <a:solidFill>
              <a:srgbClr val="0972D3"/>
            </a:solidFill>
            <a:prstDash val="solid"/>
            <a:headEnd type="triangl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02920" y="4434840"/>
            <a:ext cx="11185855" cy="1645920"/>
          </a:xfrm>
          <a:prstGeom prst="roundRect">
            <a:avLst>
              <a:gd name="adj" fmla="val 5000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4654296"/>
            <a:ext cx="52120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" y="465429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2376" y="5038344"/>
            <a:ext cx="107469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저장소(repository): 네트워크로 접근 가능한 패키지들의 모음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DNF는 저장소 메타데이터를 참고해 필요한 의존 패키지까지 자동으로 함께 다운로드·설치함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74061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설정 파일 예시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/etc/yum.repos.d/ 안에는 .repo 확장자의 텍스트 파일들이 있고, 파일마다 저장소 하나의 정보를 저장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EC2(Amazon Linux 2023)에는 기본적으로 amazonlinux.repo 파일이 AWS 공식 저장소 주소를 지정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11185855" cy="2788920"/>
          </a:xfrm>
          <a:prstGeom prst="roundRect">
            <a:avLst>
              <a:gd name="adj" fmla="val 2623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301752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313639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309981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309981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309981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01752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amazonlinux.repo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354019"/>
            <a:ext cx="10856671" cy="23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/etc/yum.repos.d/amazonlinux.repo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[amazonlinux]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name=Amazon Linux 2023 repository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mirrorlist=https://cdn.amazonlinux.com/al2023/core/mirrors/...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gpgcheck=1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enabled=1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name=설명 · mirrorlist=서버 주소 · gpgcheck=</a:t>
            </a:r>
            <a:r>
              <a:rPr lang="en-US" sz="1250" dirty="0" err="1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서명</a:t>
            </a: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 err="1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검증</a:t>
            </a: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ko-KR" alt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여부</a:t>
            </a: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enabled=사용 여부(1/0)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1353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3113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Checking for Updates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check-update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</a:t>
            </a:r>
            <a:r>
              <a:rPr lang="en-US" sz="16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시스템에</a:t>
            </a: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설치된 패키지 중 업데이트가 가능한 항목을 확인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5855" cy="3246120"/>
          </a:xfrm>
          <a:prstGeom prst="roundRect">
            <a:avLst>
              <a:gd name="adj" fmla="val 2254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4688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5877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5511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25511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5511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check-update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805379"/>
            <a:ext cx="10856671" cy="281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check-update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name          Version              Repo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httpd.x86_64          2.4.62-1.amzn2023.0.1   amazonlinux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git.x86_64            2.47.1-1.amzn2023.0.1   </a:t>
            </a:r>
            <a:r>
              <a:rPr lang="en-US" sz="1250" dirty="0" err="1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amazonlinux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kpatch-runtime.x86_64 0.9.9-2.amzn2023      </a:t>
            </a:r>
            <a:r>
              <a:rPr lang="en-US" sz="1250" dirty="0" err="1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kernel-livepatch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5852160"/>
            <a:ext cx="11185855" cy="502920"/>
          </a:xfrm>
          <a:prstGeom prst="roundRect">
            <a:avLst>
              <a:gd name="adj" fmla="val 16364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6071616"/>
            <a:ext cx="10746943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amazonlinux → AL2023 기본 저장소  ·  kernel-livepatch → 라이브패치 전용 저장소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설치된 패키지 업데이트하기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ko-KR" alt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</a:t>
            </a:r>
            <a:r>
              <a:rPr lang="en-US" sz="16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시스템에</a:t>
            </a: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설치된 모든 패키지를 최신 버전으로 업데이트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23160"/>
            <a:ext cx="11185855" cy="128016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42316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54203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50545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250545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50545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2316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all packages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759659"/>
            <a:ext cx="10856671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6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update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11185855" cy="512064"/>
          </a:xfrm>
          <a:prstGeom prst="roundRect">
            <a:avLst>
              <a:gd name="adj" fmla="val 14286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23360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6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이 명령은 관리자 권한(superuser)이 </a:t>
            </a:r>
            <a:r>
              <a:rPr lang="en-US" sz="1300" b="1" dirty="0" err="1">
                <a:solidFill>
                  <a:srgbClr val="B86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필요합니다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4838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Displaying Package Info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info package_name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지정한 패키지의 상세 정보를 표시 — 설치되어 있으면 로컬에 설치된 버전 정보를, 설치되어 있지 않으면 저장소에서 설치 가능한 버전 정보를 표시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5855" cy="3291840"/>
          </a:xfrm>
          <a:prstGeom prst="roundRect">
            <a:avLst>
              <a:gd name="adj" fmla="val 2222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4688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5877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5511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25511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5511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info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805379"/>
            <a:ext cx="10856671" cy="285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info httpd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: httpd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     : 2.4.62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     : 1.amzn2023.0.1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        : 1.7 M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        : @amazonlinux (설치됨)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     : Apache HTTP Server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Updating 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update package_name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지정한 패키지 하나만 최신 버전으로 업데이트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5855" cy="3291840"/>
          </a:xfrm>
          <a:prstGeom prst="roundRect">
            <a:avLst>
              <a:gd name="adj" fmla="val 2222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4688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5877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5511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25511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5511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single package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805379"/>
            <a:ext cx="10856671" cy="285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update httpd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Resolving dependencies...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httpd.x86_64 0:2.4.57-1.amzn2023.0.1 will be updated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httpd.x86_64 0:2.4.62-1.amzn2023.0.1 will be an update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Complete!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619756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2619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4) Listing 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list (1)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79"/>
            <a:ext cx="11185855" cy="3468543"/>
          </a:xfrm>
          <a:prstGeom prst="roundRect">
            <a:avLst>
              <a:gd name="adj" fmla="val 2388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830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019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865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1865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1865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830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2119578"/>
            <a:ext cx="10856671" cy="313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available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저장소에서 설치 가능한 모든 </a:t>
            </a:r>
            <a:r>
              <a:rPr lang="en-US" sz="1200" dirty="0" err="1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패키지</a:t>
            </a:r>
            <a:r>
              <a:rPr lang="en-US" sz="12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목록</a:t>
            </a:r>
            <a:endParaRPr lang="en-US" sz="1200" dirty="0">
              <a:solidFill>
                <a:srgbClr val="5D729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32000"/>
              </a:lnSpc>
              <a:buNone/>
            </a:pP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installed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현재 시스템에 설치된 패키지 목록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installed | wc -l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설치된 패키지의 총 개수 세기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installed | grep nginx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nginx 설치 여부 확인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5532964"/>
            <a:ext cx="11185855" cy="456356"/>
          </a:xfrm>
          <a:prstGeom prst="roundRect">
            <a:avLst>
              <a:gd name="adj" fmla="val 8571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5631719"/>
            <a:ext cx="10746943" cy="373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list installed → 설치된 패키지 목록  ·  dnf list available → 설치 가능한 패키지 목록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list (2)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패키지 이름(package-name)과 일치하는 패키지(설치 여부 무관)를 조회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5855" cy="2011680"/>
          </a:xfrm>
          <a:prstGeom prst="roundRect">
            <a:avLst>
              <a:gd name="adj" fmla="val 3636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4688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5877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5511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25511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5511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&lt;package&gt;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805379"/>
            <a:ext cx="10856671" cy="157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nginx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mysql*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와일드카드(*)로 이름이 비슷한 패키지도 함께 조회 가능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86664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2866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5) Searching 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search package_name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저장소에서 package-name과 관련된 패키지를 검색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37744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49631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45973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245973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45973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7744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search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713939"/>
            <a:ext cx="1085667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search nginx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5410048" cy="2423160"/>
          </a:xfrm>
          <a:prstGeom prst="roundRect">
            <a:avLst>
              <a:gd name="adj" fmla="val 3396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3739896"/>
            <a:ext cx="1362456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373989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search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2376" y="4123944"/>
            <a:ext cx="497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u="sng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</a:t>
            </a: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패키지 이름과 요약(summary)에서 검색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패키지 이름을 모르거나 정보가 일부만 있을 때 유용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78728" y="3520440"/>
            <a:ext cx="5410048" cy="2423160"/>
          </a:xfrm>
          <a:prstGeom prst="roundRect">
            <a:avLst>
              <a:gd name="adj" fmla="val 3396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8184" y="3739896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98184" y="373989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list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8184" y="4123944"/>
            <a:ext cx="497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u="sng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이름(또는 이름 패턴)</a:t>
            </a: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으로만 조회 — 요약/설명 텍스트는 </a:t>
            </a:r>
            <a:r>
              <a:rPr lang="en-US" sz="13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검색하지</a:t>
            </a: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990088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6) Installing 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install package_name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830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019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865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1865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1865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830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로컬 패키지 설치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2119579"/>
            <a:ext cx="1085667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/path/to/vim-enhanced-9.1.785-1.amzn2023.0.1.x86_64.rpm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로컬 RPM 패키지 설치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9260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0449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3008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3008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3008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9260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원격 저장소에서 설치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7512" y="3262579"/>
            <a:ext cx="1085667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-y install [package-name]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원격 저장소에서 설치, -y 는 모든 프롬프트에 자동으로 yes 응답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06908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0690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41879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" y="4151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758952" y="4151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26" name="Shape 24"/>
          <p:cNvSpPr/>
          <p:nvPr/>
        </p:nvSpPr>
        <p:spPr>
          <a:xfrm>
            <a:off x="896112" y="4151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0690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대체 버전 추가 설치 (AL2023 예시)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" y="4405579"/>
            <a:ext cx="1085667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gcc14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AL2023 기본 GCC 11과 별도로 GCC 14를 추가 설치 (gcc14 명령으로 사용)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7) Removing 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remove package_name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지정한 패키지와, 그 패키지가 있어야 동작하는(그 패키지에 의존하는) 다른 패키지들을 함께 제거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5855" cy="128016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4688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5877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5511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25511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5511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remove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805379"/>
            <a:ext cx="10856671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6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remove [package-name]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Install Apache HTTP Server (1)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304288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066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Check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5054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패키지 설치 여부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7071055" cy="1481328"/>
          </a:xfrm>
          <a:prstGeom prst="roundRect">
            <a:avLst>
              <a:gd name="adj" fmla="val 4938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82312" y="1881835"/>
            <a:ext cx="6741871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installed | grep httpd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913632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Installation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43000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패키지 설치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3392424"/>
            <a:ext cx="7071055" cy="1481328"/>
          </a:xfrm>
          <a:prstGeom prst="roundRect">
            <a:avLst>
              <a:gd name="adj" fmla="val 4938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82312" y="3491179"/>
            <a:ext cx="6741871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httpd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522976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5522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52852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 Startup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43000" y="57241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서비스 시작 및 상태 확인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5001768"/>
            <a:ext cx="7071055" cy="1481328"/>
          </a:xfrm>
          <a:prstGeom prst="roundRect">
            <a:avLst>
              <a:gd name="adj" fmla="val 4938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82312" y="5100523"/>
            <a:ext cx="6741871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start httpd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status httpd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Install Apache HTTP Server (2)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Removal: httpd 패키지 제거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5855" cy="128016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4688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5877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5511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25511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5511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httpd 제거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805379"/>
            <a:ext cx="10856671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6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remove httpd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206240"/>
            <a:ext cx="11185855" cy="1463040"/>
          </a:xfrm>
          <a:prstGeom prst="roundRect">
            <a:avLst>
              <a:gd name="adj" fmla="val 5625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4425696"/>
            <a:ext cx="52120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442569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2376" y="4809744"/>
            <a:ext cx="107469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확인 → 설치 → 서비스 시작/상태 확인 → (필요 시) 제거의 흐름을 기억하세요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Apache 웹 서버를 </a:t>
            </a:r>
            <a:r>
              <a:rPr lang="en-US" sz="13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</a:t>
            </a: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</a:t>
            </a:r>
            <a:r>
              <a:rPr lang="en-US" altLang="ko-KR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13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구동하고</a:t>
            </a: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EC2 보안 그룹에서 접속을 허용하는 실습을 진행합니다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1460</Words>
  <Application>Microsoft Office PowerPoint</Application>
  <PresentationFormat>와이드스크린</PresentationFormat>
  <Paragraphs>288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12</cp:revision>
  <dcterms:created xsi:type="dcterms:W3CDTF">2026-08-24T12:21:22Z</dcterms:created>
  <dcterms:modified xsi:type="dcterms:W3CDTF">2026-09-11T01:53:08Z</dcterms:modified>
</cp:coreProperties>
</file>